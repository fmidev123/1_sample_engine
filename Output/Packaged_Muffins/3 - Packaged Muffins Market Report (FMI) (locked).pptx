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539" r:id="rId291"/>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48" r:id="rId300"/>
    <p:sldId id="540" r:id="rId292"/>
    <p:sldId id="541" r:id="rId293"/>
    <p:sldId id="542" r:id="rId294"/>
    <p:sldId id="543" r:id="rId295"/>
    <p:sldId id="544" r:id="rId296"/>
    <p:sldId id="545" r:id="rId297"/>
    <p:sldId id="546" r:id="rId298"/>
    <p:sldId id="547" r:id="rId299"/>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33.xml"/><Relationship Id="rId19" Type="http://schemas.openxmlformats.org/officeDocument/2006/relationships/slide" Target="slides/slide34.xml"/><Relationship Id="rId20" Type="http://schemas.openxmlformats.org/officeDocument/2006/relationships/slide" Target="slides/slide35.xml"/><Relationship Id="rId21" Type="http://schemas.openxmlformats.org/officeDocument/2006/relationships/slide" Target="slides/slide36.xml"/><Relationship Id="rId22" Type="http://schemas.openxmlformats.org/officeDocument/2006/relationships/slide" Target="slides/slide37.xml"/><Relationship Id="rId23" Type="http://schemas.openxmlformats.org/officeDocument/2006/relationships/slide" Target="slides/slide38.xml"/><Relationship Id="rId24" Type="http://schemas.openxmlformats.org/officeDocument/2006/relationships/slide" Target="slides/slide39.xml"/><Relationship Id="rId25" Type="http://schemas.openxmlformats.org/officeDocument/2006/relationships/slide" Target="slides/slide40.xml"/><Relationship Id="rId26" Type="http://schemas.openxmlformats.org/officeDocument/2006/relationships/slide" Target="slides/slide41.xml"/><Relationship Id="rId27" Type="http://schemas.openxmlformats.org/officeDocument/2006/relationships/slide" Target="slides/slide42.xml"/><Relationship Id="rId28" Type="http://schemas.openxmlformats.org/officeDocument/2006/relationships/slide" Target="slides/slide43.xml"/><Relationship Id="rId29" Type="http://schemas.openxmlformats.org/officeDocument/2006/relationships/slide" Target="slides/slide44.xml"/><Relationship Id="rId30" Type="http://schemas.openxmlformats.org/officeDocument/2006/relationships/slide" Target="slides/slide45.xml"/><Relationship Id="rId31" Type="http://schemas.openxmlformats.org/officeDocument/2006/relationships/slide" Target="slides/slide46.xml"/><Relationship Id="rId32" Type="http://schemas.openxmlformats.org/officeDocument/2006/relationships/slide" Target="slides/slide47.xml"/><Relationship Id="rId33" Type="http://schemas.openxmlformats.org/officeDocument/2006/relationships/slide" Target="slides/slide48.xml"/><Relationship Id="rId34" Type="http://schemas.openxmlformats.org/officeDocument/2006/relationships/slide" Target="slides/slide49.xml"/><Relationship Id="rId35" Type="http://schemas.openxmlformats.org/officeDocument/2006/relationships/slide" Target="slides/slide50.xml"/><Relationship Id="rId36" Type="http://schemas.openxmlformats.org/officeDocument/2006/relationships/slide" Target="slides/slide51.xml"/><Relationship Id="rId37" Type="http://schemas.openxmlformats.org/officeDocument/2006/relationships/slide" Target="slides/slide52.xml"/><Relationship Id="rId38" Type="http://schemas.openxmlformats.org/officeDocument/2006/relationships/slide" Target="slides/slide53.xml"/><Relationship Id="rId39" Type="http://schemas.openxmlformats.org/officeDocument/2006/relationships/slide" Target="slides/slide54.xml"/><Relationship Id="rId40" Type="http://schemas.openxmlformats.org/officeDocument/2006/relationships/slide" Target="slides/slide55.xml"/><Relationship Id="rId41" Type="http://schemas.openxmlformats.org/officeDocument/2006/relationships/slide" Target="slides/slide56.xml"/><Relationship Id="rId42" Type="http://schemas.openxmlformats.org/officeDocument/2006/relationships/slide" Target="slides/slide57.xml"/><Relationship Id="rId43" Type="http://schemas.openxmlformats.org/officeDocument/2006/relationships/slide" Target="slides/slide58.xml"/><Relationship Id="rId44" Type="http://schemas.openxmlformats.org/officeDocument/2006/relationships/slide" Target="slides/slide59.xml"/><Relationship Id="rId45" Type="http://schemas.openxmlformats.org/officeDocument/2006/relationships/slide" Target="slides/slide60.xml"/><Relationship Id="rId46" Type="http://schemas.openxmlformats.org/officeDocument/2006/relationships/slide" Target="slides/slide61.xml"/><Relationship Id="rId47" Type="http://schemas.openxmlformats.org/officeDocument/2006/relationships/slide" Target="slides/slide62.xml"/><Relationship Id="rId48" Type="http://schemas.openxmlformats.org/officeDocument/2006/relationships/slide" Target="slides/slide63.xml"/><Relationship Id="rId49" Type="http://schemas.openxmlformats.org/officeDocument/2006/relationships/slide" Target="slides/slide64.xml"/><Relationship Id="rId50" Type="http://schemas.openxmlformats.org/officeDocument/2006/relationships/slide" Target="slides/slide65.xml"/><Relationship Id="rId51" Type="http://schemas.openxmlformats.org/officeDocument/2006/relationships/slide" Target="slides/slide66.xml"/><Relationship Id="rId52" Type="http://schemas.openxmlformats.org/officeDocument/2006/relationships/slide" Target="slides/slide67.xml"/><Relationship Id="rId53" Type="http://schemas.openxmlformats.org/officeDocument/2006/relationships/slide" Target="slides/slide68.xml"/><Relationship Id="rId54" Type="http://schemas.openxmlformats.org/officeDocument/2006/relationships/slide" Target="slides/slide69.xml"/><Relationship Id="rId55" Type="http://schemas.openxmlformats.org/officeDocument/2006/relationships/slide" Target="slides/slide70.xml"/><Relationship Id="rId56" Type="http://schemas.openxmlformats.org/officeDocument/2006/relationships/slide" Target="slides/slide71.xml"/><Relationship Id="rId57" Type="http://schemas.openxmlformats.org/officeDocument/2006/relationships/slide" Target="slides/slide72.xml"/><Relationship Id="rId58" Type="http://schemas.openxmlformats.org/officeDocument/2006/relationships/slide" Target="slides/slide73.xml"/><Relationship Id="rId59" Type="http://schemas.openxmlformats.org/officeDocument/2006/relationships/slide" Target="slides/slide74.xml"/><Relationship Id="rId60" Type="http://schemas.openxmlformats.org/officeDocument/2006/relationships/slide" Target="slides/slide75.xml"/><Relationship Id="rId61" Type="http://schemas.openxmlformats.org/officeDocument/2006/relationships/slide" Target="slides/slide76.xml"/><Relationship Id="rId62" Type="http://schemas.openxmlformats.org/officeDocument/2006/relationships/slide" Target="slides/slide77.xml"/><Relationship Id="rId63" Type="http://schemas.openxmlformats.org/officeDocument/2006/relationships/slide" Target="slides/slide78.xml"/><Relationship Id="rId64" Type="http://schemas.openxmlformats.org/officeDocument/2006/relationships/slide" Target="slides/slide79.xml"/><Relationship Id="rId65" Type="http://schemas.openxmlformats.org/officeDocument/2006/relationships/slide" Target="slides/slide80.xml"/><Relationship Id="rId66" Type="http://schemas.openxmlformats.org/officeDocument/2006/relationships/slide" Target="slides/slide81.xml"/><Relationship Id="rId67" Type="http://schemas.openxmlformats.org/officeDocument/2006/relationships/slide" Target="slides/slide82.xml"/><Relationship Id="rId68" Type="http://schemas.openxmlformats.org/officeDocument/2006/relationships/slide" Target="slides/slide83.xml"/><Relationship Id="rId69" Type="http://schemas.openxmlformats.org/officeDocument/2006/relationships/slide" Target="slides/slide84.xml"/><Relationship Id="rId70" Type="http://schemas.openxmlformats.org/officeDocument/2006/relationships/slide" Target="slides/slide85.xml"/><Relationship Id="rId71" Type="http://schemas.openxmlformats.org/officeDocument/2006/relationships/slide" Target="slides/slide86.xml"/><Relationship Id="rId72" Type="http://schemas.openxmlformats.org/officeDocument/2006/relationships/slide" Target="slides/slide87.xml"/><Relationship Id="rId73" Type="http://schemas.openxmlformats.org/officeDocument/2006/relationships/slide" Target="slides/slide88.xml"/><Relationship Id="rId74" Type="http://schemas.openxmlformats.org/officeDocument/2006/relationships/slide" Target="slides/slide89.xml"/><Relationship Id="rId75" Type="http://schemas.openxmlformats.org/officeDocument/2006/relationships/slide" Target="slides/slide90.xml"/><Relationship Id="rId76" Type="http://schemas.openxmlformats.org/officeDocument/2006/relationships/slide" Target="slides/slide91.xml"/><Relationship Id="rId77" Type="http://schemas.openxmlformats.org/officeDocument/2006/relationships/slide" Target="slides/slide92.xml"/><Relationship Id="rId78" Type="http://schemas.openxmlformats.org/officeDocument/2006/relationships/slide" Target="slides/slide93.xml"/><Relationship Id="rId79" Type="http://schemas.openxmlformats.org/officeDocument/2006/relationships/slide" Target="slides/slide94.xml"/><Relationship Id="rId80" Type="http://schemas.openxmlformats.org/officeDocument/2006/relationships/slide" Target="slides/slide95.xml"/><Relationship Id="rId81" Type="http://schemas.openxmlformats.org/officeDocument/2006/relationships/slide" Target="slides/slide96.xml"/><Relationship Id="rId82" Type="http://schemas.openxmlformats.org/officeDocument/2006/relationships/slide" Target="slides/slide97.xml"/><Relationship Id="rId83" Type="http://schemas.openxmlformats.org/officeDocument/2006/relationships/slide" Target="slides/slide98.xml"/><Relationship Id="rId84" Type="http://schemas.openxmlformats.org/officeDocument/2006/relationships/slide" Target="slides/slide99.xml"/><Relationship Id="rId85" Type="http://schemas.openxmlformats.org/officeDocument/2006/relationships/slide" Target="slides/slide100.xml"/><Relationship Id="rId86" Type="http://schemas.openxmlformats.org/officeDocument/2006/relationships/slide" Target="slides/slide101.xml"/><Relationship Id="rId87" Type="http://schemas.openxmlformats.org/officeDocument/2006/relationships/slide" Target="slides/slide102.xml"/><Relationship Id="rId88" Type="http://schemas.openxmlformats.org/officeDocument/2006/relationships/slide" Target="slides/slide103.xml"/><Relationship Id="rId89" Type="http://schemas.openxmlformats.org/officeDocument/2006/relationships/slide" Target="slides/slide104.xml"/><Relationship Id="rId90" Type="http://schemas.openxmlformats.org/officeDocument/2006/relationships/slide" Target="slides/slide105.xml"/><Relationship Id="rId91" Type="http://schemas.openxmlformats.org/officeDocument/2006/relationships/slide" Target="slides/slide106.xml"/><Relationship Id="rId92" Type="http://schemas.openxmlformats.org/officeDocument/2006/relationships/slide" Target="slides/slide107.xml"/><Relationship Id="rId93" Type="http://schemas.openxmlformats.org/officeDocument/2006/relationships/slide" Target="slides/slide108.xml"/><Relationship Id="rId94" Type="http://schemas.openxmlformats.org/officeDocument/2006/relationships/slide" Target="slides/slide109.xml"/><Relationship Id="rId95" Type="http://schemas.openxmlformats.org/officeDocument/2006/relationships/slide" Target="slides/slide110.xml"/><Relationship Id="rId96" Type="http://schemas.openxmlformats.org/officeDocument/2006/relationships/slide" Target="slides/slide111.xml"/><Relationship Id="rId97" Type="http://schemas.openxmlformats.org/officeDocument/2006/relationships/slide" Target="slides/slide112.xml"/><Relationship Id="rId98" Type="http://schemas.openxmlformats.org/officeDocument/2006/relationships/slide" Target="slides/slide113.xml"/><Relationship Id="rId99" Type="http://schemas.openxmlformats.org/officeDocument/2006/relationships/slide" Target="slides/slide114.xml"/><Relationship Id="rId100" Type="http://schemas.openxmlformats.org/officeDocument/2006/relationships/slide" Target="slides/slide115.xml"/><Relationship Id="rId101" Type="http://schemas.openxmlformats.org/officeDocument/2006/relationships/slide" Target="slides/slide116.xml"/><Relationship Id="rId102" Type="http://schemas.openxmlformats.org/officeDocument/2006/relationships/slide" Target="slides/slide117.xml"/><Relationship Id="rId103" Type="http://schemas.openxmlformats.org/officeDocument/2006/relationships/slide" Target="slides/slide118.xml"/><Relationship Id="rId104" Type="http://schemas.openxmlformats.org/officeDocument/2006/relationships/slide" Target="slides/slide119.xml"/><Relationship Id="rId105" Type="http://schemas.openxmlformats.org/officeDocument/2006/relationships/slide" Target="slides/slide120.xml"/><Relationship Id="rId106" Type="http://schemas.openxmlformats.org/officeDocument/2006/relationships/slide" Target="slides/slide121.xml"/><Relationship Id="rId107" Type="http://schemas.openxmlformats.org/officeDocument/2006/relationships/slide" Target="slides/slide122.xml"/><Relationship Id="rId108" Type="http://schemas.openxmlformats.org/officeDocument/2006/relationships/slide" Target="slides/slide123.xml"/><Relationship Id="rId109" Type="http://schemas.openxmlformats.org/officeDocument/2006/relationships/slide" Target="slides/slide124.xml"/><Relationship Id="rId110" Type="http://schemas.openxmlformats.org/officeDocument/2006/relationships/slide" Target="slides/slide125.xml"/><Relationship Id="rId111" Type="http://schemas.openxmlformats.org/officeDocument/2006/relationships/slide" Target="slides/slide126.xml"/><Relationship Id="rId112" Type="http://schemas.openxmlformats.org/officeDocument/2006/relationships/slide" Target="slides/slide127.xml"/><Relationship Id="rId113" Type="http://schemas.openxmlformats.org/officeDocument/2006/relationships/slide" Target="slides/slide128.xml"/><Relationship Id="rId114" Type="http://schemas.openxmlformats.org/officeDocument/2006/relationships/slide" Target="slides/slide129.xml"/><Relationship Id="rId115" Type="http://schemas.openxmlformats.org/officeDocument/2006/relationships/slide" Target="slides/slide130.xml"/><Relationship Id="rId116" Type="http://schemas.openxmlformats.org/officeDocument/2006/relationships/slide" Target="slides/slide131.xml"/><Relationship Id="rId117" Type="http://schemas.openxmlformats.org/officeDocument/2006/relationships/slide" Target="slides/slide132.xml"/><Relationship Id="rId118" Type="http://schemas.openxmlformats.org/officeDocument/2006/relationships/slide" Target="slides/slide133.xml"/><Relationship Id="rId119" Type="http://schemas.openxmlformats.org/officeDocument/2006/relationships/slide" Target="slides/slide134.xml"/><Relationship Id="rId120" Type="http://schemas.openxmlformats.org/officeDocument/2006/relationships/slide" Target="slides/slide135.xml"/><Relationship Id="rId121" Type="http://schemas.openxmlformats.org/officeDocument/2006/relationships/slide" Target="slides/slide136.xml"/><Relationship Id="rId122" Type="http://schemas.openxmlformats.org/officeDocument/2006/relationships/slide" Target="slides/slide137.xml"/><Relationship Id="rId123" Type="http://schemas.openxmlformats.org/officeDocument/2006/relationships/slide" Target="slides/slide138.xml"/><Relationship Id="rId124" Type="http://schemas.openxmlformats.org/officeDocument/2006/relationships/slide" Target="slides/slide139.xml"/><Relationship Id="rId125" Type="http://schemas.openxmlformats.org/officeDocument/2006/relationships/slide" Target="slides/slide140.xml"/><Relationship Id="rId126" Type="http://schemas.openxmlformats.org/officeDocument/2006/relationships/slide" Target="slides/slide141.xml"/><Relationship Id="rId127" Type="http://schemas.openxmlformats.org/officeDocument/2006/relationships/slide" Target="slides/slide142.xml"/><Relationship Id="rId128" Type="http://schemas.openxmlformats.org/officeDocument/2006/relationships/slide" Target="slides/slide143.xml"/><Relationship Id="rId129" Type="http://schemas.openxmlformats.org/officeDocument/2006/relationships/slide" Target="slides/slide144.xml"/><Relationship Id="rId130" Type="http://schemas.openxmlformats.org/officeDocument/2006/relationships/slide" Target="slides/slide145.xml"/><Relationship Id="rId131" Type="http://schemas.openxmlformats.org/officeDocument/2006/relationships/slide" Target="slides/slide146.xml"/><Relationship Id="rId132" Type="http://schemas.openxmlformats.org/officeDocument/2006/relationships/slide" Target="slides/slide147.xml"/><Relationship Id="rId133" Type="http://schemas.openxmlformats.org/officeDocument/2006/relationships/slide" Target="slides/slide148.xml"/><Relationship Id="rId134" Type="http://schemas.openxmlformats.org/officeDocument/2006/relationships/slide" Target="slides/slide149.xml"/><Relationship Id="rId135" Type="http://schemas.openxmlformats.org/officeDocument/2006/relationships/slide" Target="slides/slide150.xml"/><Relationship Id="rId136" Type="http://schemas.openxmlformats.org/officeDocument/2006/relationships/slide" Target="slides/slide151.xml"/><Relationship Id="rId137" Type="http://schemas.openxmlformats.org/officeDocument/2006/relationships/slide" Target="slides/slide152.xml"/><Relationship Id="rId138" Type="http://schemas.openxmlformats.org/officeDocument/2006/relationships/slide" Target="slides/slide153.xml"/><Relationship Id="rId139" Type="http://schemas.openxmlformats.org/officeDocument/2006/relationships/slide" Target="slides/slide154.xml"/><Relationship Id="rId140" Type="http://schemas.openxmlformats.org/officeDocument/2006/relationships/slide" Target="slides/slide155.xml"/><Relationship Id="rId141" Type="http://schemas.openxmlformats.org/officeDocument/2006/relationships/slide" Target="slides/slide156.xml"/><Relationship Id="rId142" Type="http://schemas.openxmlformats.org/officeDocument/2006/relationships/slide" Target="slides/slide157.xml"/><Relationship Id="rId143" Type="http://schemas.openxmlformats.org/officeDocument/2006/relationships/slide" Target="slides/slide158.xml"/><Relationship Id="rId144" Type="http://schemas.openxmlformats.org/officeDocument/2006/relationships/slide" Target="slides/slide159.xml"/><Relationship Id="rId145" Type="http://schemas.openxmlformats.org/officeDocument/2006/relationships/slide" Target="slides/slide160.xml"/><Relationship Id="rId146" Type="http://schemas.openxmlformats.org/officeDocument/2006/relationships/slide" Target="slides/slide161.xml"/><Relationship Id="rId147" Type="http://schemas.openxmlformats.org/officeDocument/2006/relationships/slide" Target="slides/slide162.xml"/><Relationship Id="rId148" Type="http://schemas.openxmlformats.org/officeDocument/2006/relationships/slide" Target="slides/slide163.xml"/><Relationship Id="rId149" Type="http://schemas.openxmlformats.org/officeDocument/2006/relationships/slide" Target="slides/slide164.xml"/><Relationship Id="rId150" Type="http://schemas.openxmlformats.org/officeDocument/2006/relationships/slide" Target="slides/slide165.xml"/><Relationship Id="rId151" Type="http://schemas.openxmlformats.org/officeDocument/2006/relationships/slide" Target="slides/slide166.xml"/><Relationship Id="rId152" Type="http://schemas.openxmlformats.org/officeDocument/2006/relationships/slide" Target="slides/slide167.xml"/><Relationship Id="rId153" Type="http://schemas.openxmlformats.org/officeDocument/2006/relationships/slide" Target="slides/slide168.xml"/><Relationship Id="rId154" Type="http://schemas.openxmlformats.org/officeDocument/2006/relationships/slide" Target="slides/slide169.xml"/><Relationship Id="rId155" Type="http://schemas.openxmlformats.org/officeDocument/2006/relationships/slide" Target="slides/slide170.xml"/><Relationship Id="rId156" Type="http://schemas.openxmlformats.org/officeDocument/2006/relationships/slide" Target="slides/slide171.xml"/><Relationship Id="rId157" Type="http://schemas.openxmlformats.org/officeDocument/2006/relationships/slide" Target="slides/slide172.xml"/><Relationship Id="rId158" Type="http://schemas.openxmlformats.org/officeDocument/2006/relationships/slide" Target="slides/slide173.xml"/><Relationship Id="rId159" Type="http://schemas.openxmlformats.org/officeDocument/2006/relationships/slide" Target="slides/slide174.xml"/><Relationship Id="rId160" Type="http://schemas.openxmlformats.org/officeDocument/2006/relationships/slide" Target="slides/slide175.xml"/><Relationship Id="rId161" Type="http://schemas.openxmlformats.org/officeDocument/2006/relationships/slide" Target="slides/slide176.xml"/><Relationship Id="rId162" Type="http://schemas.openxmlformats.org/officeDocument/2006/relationships/slide" Target="slides/slide177.xml"/><Relationship Id="rId163" Type="http://schemas.openxmlformats.org/officeDocument/2006/relationships/slide" Target="slides/slide178.xml"/><Relationship Id="rId164" Type="http://schemas.openxmlformats.org/officeDocument/2006/relationships/slide" Target="slides/slide179.xml"/><Relationship Id="rId165" Type="http://schemas.openxmlformats.org/officeDocument/2006/relationships/slide" Target="slides/slide180.xml"/><Relationship Id="rId166" Type="http://schemas.openxmlformats.org/officeDocument/2006/relationships/slide" Target="slides/slide181.xml"/><Relationship Id="rId167" Type="http://schemas.openxmlformats.org/officeDocument/2006/relationships/slide" Target="slides/slide182.xml"/><Relationship Id="rId168" Type="http://schemas.openxmlformats.org/officeDocument/2006/relationships/slide" Target="slides/slide183.xml"/><Relationship Id="rId169" Type="http://schemas.openxmlformats.org/officeDocument/2006/relationships/slide" Target="slides/slide184.xml"/><Relationship Id="rId170" Type="http://schemas.openxmlformats.org/officeDocument/2006/relationships/slide" Target="slides/slide185.xml"/><Relationship Id="rId171" Type="http://schemas.openxmlformats.org/officeDocument/2006/relationships/slide" Target="slides/slide186.xml"/><Relationship Id="rId172" Type="http://schemas.openxmlformats.org/officeDocument/2006/relationships/slide" Target="slides/slide187.xml"/><Relationship Id="rId173" Type="http://schemas.openxmlformats.org/officeDocument/2006/relationships/slide" Target="slides/slide188.xml"/><Relationship Id="rId174" Type="http://schemas.openxmlformats.org/officeDocument/2006/relationships/slide" Target="slides/slide189.xml"/><Relationship Id="rId175" Type="http://schemas.openxmlformats.org/officeDocument/2006/relationships/slide" Target="slides/slide190.xml"/><Relationship Id="rId176" Type="http://schemas.openxmlformats.org/officeDocument/2006/relationships/slide" Target="slides/slide191.xml"/><Relationship Id="rId177" Type="http://schemas.openxmlformats.org/officeDocument/2006/relationships/slide" Target="slides/slide192.xml"/><Relationship Id="rId178" Type="http://schemas.openxmlformats.org/officeDocument/2006/relationships/slide" Target="slides/slide193.xml"/><Relationship Id="rId179" Type="http://schemas.openxmlformats.org/officeDocument/2006/relationships/slide" Target="slides/slide194.xml"/><Relationship Id="rId180" Type="http://schemas.openxmlformats.org/officeDocument/2006/relationships/slide" Target="slides/slide195.xml"/><Relationship Id="rId181" Type="http://schemas.openxmlformats.org/officeDocument/2006/relationships/slide" Target="slides/slide196.xml"/><Relationship Id="rId182" Type="http://schemas.openxmlformats.org/officeDocument/2006/relationships/slide" Target="slides/slide197.xml"/><Relationship Id="rId183" Type="http://schemas.openxmlformats.org/officeDocument/2006/relationships/slide" Target="slides/slide198.xml"/><Relationship Id="rId184" Type="http://schemas.openxmlformats.org/officeDocument/2006/relationships/slide" Target="slides/slide199.xml"/><Relationship Id="rId185" Type="http://schemas.openxmlformats.org/officeDocument/2006/relationships/slide" Target="slides/slide200.xml"/><Relationship Id="rId186" Type="http://schemas.openxmlformats.org/officeDocument/2006/relationships/slide" Target="slides/slide201.xml"/><Relationship Id="rId187" Type="http://schemas.openxmlformats.org/officeDocument/2006/relationships/slide" Target="slides/slide202.xml"/><Relationship Id="rId188" Type="http://schemas.openxmlformats.org/officeDocument/2006/relationships/slide" Target="slides/slide203.xml"/><Relationship Id="rId189" Type="http://schemas.openxmlformats.org/officeDocument/2006/relationships/slide" Target="slides/slide204.xml"/><Relationship Id="rId190" Type="http://schemas.openxmlformats.org/officeDocument/2006/relationships/slide" Target="slides/slide205.xml"/><Relationship Id="rId191" Type="http://schemas.openxmlformats.org/officeDocument/2006/relationships/slide" Target="slides/slide206.xml"/><Relationship Id="rId192" Type="http://schemas.openxmlformats.org/officeDocument/2006/relationships/slide" Target="slides/slide207.xml"/><Relationship Id="rId193" Type="http://schemas.openxmlformats.org/officeDocument/2006/relationships/slide" Target="slides/slide208.xml"/><Relationship Id="rId194" Type="http://schemas.openxmlformats.org/officeDocument/2006/relationships/slide" Target="slides/slide209.xml"/><Relationship Id="rId195" Type="http://schemas.openxmlformats.org/officeDocument/2006/relationships/slide" Target="slides/slide210.xml"/><Relationship Id="rId196" Type="http://schemas.openxmlformats.org/officeDocument/2006/relationships/slide" Target="slides/slide211.xml"/><Relationship Id="rId197" Type="http://schemas.openxmlformats.org/officeDocument/2006/relationships/slide" Target="slides/slide212.xml"/><Relationship Id="rId198" Type="http://schemas.openxmlformats.org/officeDocument/2006/relationships/slide" Target="slides/slide213.xml"/><Relationship Id="rId199" Type="http://schemas.openxmlformats.org/officeDocument/2006/relationships/slide" Target="slides/slide214.xml"/><Relationship Id="rId200" Type="http://schemas.openxmlformats.org/officeDocument/2006/relationships/slide" Target="slides/slide215.xml"/><Relationship Id="rId201" Type="http://schemas.openxmlformats.org/officeDocument/2006/relationships/slide" Target="slides/slide216.xml"/><Relationship Id="rId202" Type="http://schemas.openxmlformats.org/officeDocument/2006/relationships/slide" Target="slides/slide217.xml"/><Relationship Id="rId203" Type="http://schemas.openxmlformats.org/officeDocument/2006/relationships/slide" Target="slides/slide218.xml"/><Relationship Id="rId204" Type="http://schemas.openxmlformats.org/officeDocument/2006/relationships/slide" Target="slides/slide219.xml"/><Relationship Id="rId205" Type="http://schemas.openxmlformats.org/officeDocument/2006/relationships/slide" Target="slides/slide220.xml"/><Relationship Id="rId206" Type="http://schemas.openxmlformats.org/officeDocument/2006/relationships/slide" Target="slides/slide221.xml"/><Relationship Id="rId207" Type="http://schemas.openxmlformats.org/officeDocument/2006/relationships/slide" Target="slides/slide222.xml"/><Relationship Id="rId208" Type="http://schemas.openxmlformats.org/officeDocument/2006/relationships/slide" Target="slides/slide223.xml"/><Relationship Id="rId209" Type="http://schemas.openxmlformats.org/officeDocument/2006/relationships/slide" Target="slides/slide224.xml"/><Relationship Id="rId210" Type="http://schemas.openxmlformats.org/officeDocument/2006/relationships/slide" Target="slides/slide225.xml"/><Relationship Id="rId211" Type="http://schemas.openxmlformats.org/officeDocument/2006/relationships/slide" Target="slides/slide226.xml"/><Relationship Id="rId212" Type="http://schemas.openxmlformats.org/officeDocument/2006/relationships/slide" Target="slides/slide227.xml"/><Relationship Id="rId213" Type="http://schemas.openxmlformats.org/officeDocument/2006/relationships/slide" Target="slides/slide228.xml"/><Relationship Id="rId214" Type="http://schemas.openxmlformats.org/officeDocument/2006/relationships/slide" Target="slides/slide229.xml"/><Relationship Id="rId215" Type="http://schemas.openxmlformats.org/officeDocument/2006/relationships/slide" Target="slides/slide230.xml"/><Relationship Id="rId216" Type="http://schemas.openxmlformats.org/officeDocument/2006/relationships/slide" Target="slides/slide231.xml"/><Relationship Id="rId217" Type="http://schemas.openxmlformats.org/officeDocument/2006/relationships/slide" Target="slides/slide232.xml"/><Relationship Id="rId218" Type="http://schemas.openxmlformats.org/officeDocument/2006/relationships/slide" Target="slides/slide233.xml"/><Relationship Id="rId219" Type="http://schemas.openxmlformats.org/officeDocument/2006/relationships/slide" Target="slides/slide234.xml"/><Relationship Id="rId220" Type="http://schemas.openxmlformats.org/officeDocument/2006/relationships/slide" Target="slides/slide235.xml"/><Relationship Id="rId221" Type="http://schemas.openxmlformats.org/officeDocument/2006/relationships/slide" Target="slides/slide236.xml"/><Relationship Id="rId222" Type="http://schemas.openxmlformats.org/officeDocument/2006/relationships/slide" Target="slides/slide237.xml"/><Relationship Id="rId223" Type="http://schemas.openxmlformats.org/officeDocument/2006/relationships/slide" Target="slides/slide238.xml"/><Relationship Id="rId224" Type="http://schemas.openxmlformats.org/officeDocument/2006/relationships/slide" Target="slides/slide239.xml"/><Relationship Id="rId225" Type="http://schemas.openxmlformats.org/officeDocument/2006/relationships/slide" Target="slides/slide240.xml"/><Relationship Id="rId226" Type="http://schemas.openxmlformats.org/officeDocument/2006/relationships/slide" Target="slides/slide241.xml"/><Relationship Id="rId227" Type="http://schemas.openxmlformats.org/officeDocument/2006/relationships/slide" Target="slides/slide242.xml"/><Relationship Id="rId228" Type="http://schemas.openxmlformats.org/officeDocument/2006/relationships/slide" Target="slides/slide243.xml"/><Relationship Id="rId229" Type="http://schemas.openxmlformats.org/officeDocument/2006/relationships/slide" Target="slides/slide244.xml"/><Relationship Id="rId230" Type="http://schemas.openxmlformats.org/officeDocument/2006/relationships/slide" Target="slides/slide245.xml"/><Relationship Id="rId231" Type="http://schemas.openxmlformats.org/officeDocument/2006/relationships/slide" Target="slides/slide246.xml"/><Relationship Id="rId232" Type="http://schemas.openxmlformats.org/officeDocument/2006/relationships/slide" Target="slides/slide247.xml"/><Relationship Id="rId233" Type="http://schemas.openxmlformats.org/officeDocument/2006/relationships/slide" Target="slides/slide248.xml"/><Relationship Id="rId234" Type="http://schemas.openxmlformats.org/officeDocument/2006/relationships/slide" Target="slides/slide249.xml"/><Relationship Id="rId235" Type="http://schemas.openxmlformats.org/officeDocument/2006/relationships/slide" Target="slides/slide250.xml"/><Relationship Id="rId236" Type="http://schemas.openxmlformats.org/officeDocument/2006/relationships/slide" Target="slides/slide251.xml"/><Relationship Id="rId237" Type="http://schemas.openxmlformats.org/officeDocument/2006/relationships/slide" Target="slides/slide252.xml"/><Relationship Id="rId238" Type="http://schemas.openxmlformats.org/officeDocument/2006/relationships/slide" Target="slides/slide253.xml"/><Relationship Id="rId239" Type="http://schemas.openxmlformats.org/officeDocument/2006/relationships/slide" Target="slides/slide254.xml"/><Relationship Id="rId240" Type="http://schemas.openxmlformats.org/officeDocument/2006/relationships/slide" Target="slides/slide255.xml"/><Relationship Id="rId241" Type="http://schemas.openxmlformats.org/officeDocument/2006/relationships/slide" Target="slides/slide256.xml"/><Relationship Id="rId242" Type="http://schemas.openxmlformats.org/officeDocument/2006/relationships/slide" Target="slides/slide257.xml"/><Relationship Id="rId243" Type="http://schemas.openxmlformats.org/officeDocument/2006/relationships/slide" Target="slides/slide258.xml"/><Relationship Id="rId244" Type="http://schemas.openxmlformats.org/officeDocument/2006/relationships/slide" Target="slides/slide259.xml"/><Relationship Id="rId245" Type="http://schemas.openxmlformats.org/officeDocument/2006/relationships/slide" Target="slides/slide260.xml"/><Relationship Id="rId246" Type="http://schemas.openxmlformats.org/officeDocument/2006/relationships/slide" Target="slides/slide261.xml"/><Relationship Id="rId247" Type="http://schemas.openxmlformats.org/officeDocument/2006/relationships/slide" Target="slides/slide262.xml"/><Relationship Id="rId248" Type="http://schemas.openxmlformats.org/officeDocument/2006/relationships/slide" Target="slides/slide263.xml"/><Relationship Id="rId249" Type="http://schemas.openxmlformats.org/officeDocument/2006/relationships/slide" Target="slides/slide264.xml"/><Relationship Id="rId250" Type="http://schemas.openxmlformats.org/officeDocument/2006/relationships/slide" Target="slides/slide265.xml"/><Relationship Id="rId251" Type="http://schemas.openxmlformats.org/officeDocument/2006/relationships/slide" Target="slides/slide266.xml"/><Relationship Id="rId252" Type="http://schemas.openxmlformats.org/officeDocument/2006/relationships/slide" Target="slides/slide267.xml"/><Relationship Id="rId253" Type="http://schemas.openxmlformats.org/officeDocument/2006/relationships/slide" Target="slides/slide268.xml"/><Relationship Id="rId254" Type="http://schemas.openxmlformats.org/officeDocument/2006/relationships/slide" Target="slides/slide269.xml"/><Relationship Id="rId255" Type="http://schemas.openxmlformats.org/officeDocument/2006/relationships/slide" Target="slides/slide270.xml"/><Relationship Id="rId256" Type="http://schemas.openxmlformats.org/officeDocument/2006/relationships/slide" Target="slides/slide271.xml"/><Relationship Id="rId257" Type="http://schemas.openxmlformats.org/officeDocument/2006/relationships/slide" Target="slides/slide272.xml"/><Relationship Id="rId258" Type="http://schemas.openxmlformats.org/officeDocument/2006/relationships/slide" Target="slides/slide273.xml"/><Relationship Id="rId259" Type="http://schemas.openxmlformats.org/officeDocument/2006/relationships/slide" Target="slides/slide274.xml"/><Relationship Id="rId260" Type="http://schemas.openxmlformats.org/officeDocument/2006/relationships/slide" Target="slides/slide275.xml"/><Relationship Id="rId261" Type="http://schemas.openxmlformats.org/officeDocument/2006/relationships/slide" Target="slides/slide276.xml"/><Relationship Id="rId262" Type="http://schemas.openxmlformats.org/officeDocument/2006/relationships/slide" Target="slides/slide277.xml"/><Relationship Id="rId263" Type="http://schemas.openxmlformats.org/officeDocument/2006/relationships/slide" Target="slides/slide278.xml"/><Relationship Id="rId264" Type="http://schemas.openxmlformats.org/officeDocument/2006/relationships/slide" Target="slides/slide279.xml"/><Relationship Id="rId265" Type="http://schemas.openxmlformats.org/officeDocument/2006/relationships/slide" Target="slides/slide280.xml"/><Relationship Id="rId266" Type="http://schemas.openxmlformats.org/officeDocument/2006/relationships/slide" Target="slides/slide281.xml"/><Relationship Id="rId267" Type="http://schemas.openxmlformats.org/officeDocument/2006/relationships/slide" Target="slides/slide282.xml"/><Relationship Id="rId268" Type="http://schemas.openxmlformats.org/officeDocument/2006/relationships/slide" Target="slides/slide283.xml"/><Relationship Id="rId269" Type="http://schemas.openxmlformats.org/officeDocument/2006/relationships/slide" Target="slides/slide284.xml"/><Relationship Id="rId270" Type="http://schemas.openxmlformats.org/officeDocument/2006/relationships/slide" Target="slides/slide285.xml"/><Relationship Id="rId271" Type="http://schemas.openxmlformats.org/officeDocument/2006/relationships/slide" Target="slides/slide286.xml"/><Relationship Id="rId272" Type="http://schemas.openxmlformats.org/officeDocument/2006/relationships/slide" Target="slides/slide287.xml"/><Relationship Id="rId273" Type="http://schemas.openxmlformats.org/officeDocument/2006/relationships/slide" Target="slides/slide288.xml"/><Relationship Id="rId274" Type="http://schemas.openxmlformats.org/officeDocument/2006/relationships/slide" Target="slides/slide289.xml"/><Relationship Id="rId275" Type="http://schemas.openxmlformats.org/officeDocument/2006/relationships/slide" Target="slides/slide290.xml"/><Relationship Id="rId276" Type="http://schemas.openxmlformats.org/officeDocument/2006/relationships/slide" Target="slides/slide291.xml"/><Relationship Id="rId277" Type="http://schemas.openxmlformats.org/officeDocument/2006/relationships/slide" Target="slides/slide292.xml"/><Relationship Id="rId278" Type="http://schemas.openxmlformats.org/officeDocument/2006/relationships/slide" Target="slides/slide293.xml"/><Relationship Id="rId279" Type="http://schemas.openxmlformats.org/officeDocument/2006/relationships/slide" Target="slides/slide12.xml"/><Relationship Id="rId280" Type="http://schemas.openxmlformats.org/officeDocument/2006/relationships/slide" Target="slides/slide13.xml"/><Relationship Id="rId281" Type="http://schemas.openxmlformats.org/officeDocument/2006/relationships/slide" Target="slides/slide14.xml"/><Relationship Id="rId282" Type="http://schemas.openxmlformats.org/officeDocument/2006/relationships/slide" Target="slides/slide15.xml"/><Relationship Id="rId283" Type="http://schemas.openxmlformats.org/officeDocument/2006/relationships/slide" Target="slides/slide16.xml"/><Relationship Id="rId284" Type="http://schemas.openxmlformats.org/officeDocument/2006/relationships/slide" Target="slides/slide17.xml"/><Relationship Id="rId285" Type="http://schemas.openxmlformats.org/officeDocument/2006/relationships/slide" Target="slides/slide18.xml"/><Relationship Id="rId286" Type="http://schemas.openxmlformats.org/officeDocument/2006/relationships/slide" Target="slides/slide19.xml"/><Relationship Id="rId287" Type="http://schemas.openxmlformats.org/officeDocument/2006/relationships/slide" Target="slides/slide20.xml"/><Relationship Id="rId288" Type="http://schemas.openxmlformats.org/officeDocument/2006/relationships/slide" Target="slides/slide21.xml"/><Relationship Id="rId289" Type="http://schemas.openxmlformats.org/officeDocument/2006/relationships/slide" Target="slides/slide22.xml"/><Relationship Id="rId290" Type="http://schemas.openxmlformats.org/officeDocument/2006/relationships/slide" Target="slides/slide23.xml"/><Relationship Id="rId291" Type="http://schemas.openxmlformats.org/officeDocument/2006/relationships/slide" Target="slides/slide11.xml"/><Relationship Id="rId292" Type="http://schemas.openxmlformats.org/officeDocument/2006/relationships/slide" Target="slides/slide25.xml"/><Relationship Id="rId293" Type="http://schemas.openxmlformats.org/officeDocument/2006/relationships/slide" Target="slides/slide26.xml"/><Relationship Id="rId294" Type="http://schemas.openxmlformats.org/officeDocument/2006/relationships/slide" Target="slides/slide27.xml"/><Relationship Id="rId295" Type="http://schemas.openxmlformats.org/officeDocument/2006/relationships/slide" Target="slides/slide28.xml"/><Relationship Id="rId296" Type="http://schemas.openxmlformats.org/officeDocument/2006/relationships/slide" Target="slides/slide29.xml"/><Relationship Id="rId297" Type="http://schemas.openxmlformats.org/officeDocument/2006/relationships/slide" Target="slides/slide30.xml"/><Relationship Id="rId298" Type="http://schemas.openxmlformats.org/officeDocument/2006/relationships/slide" Target="slides/slide31.xml"/><Relationship Id="rId299" Type="http://schemas.openxmlformats.org/officeDocument/2006/relationships/slide" Target="slides/slide32.xml"/><Relationship Id="rId300" Type="http://schemas.openxmlformats.org/officeDocument/2006/relationships/slide" Target="slides/slide24.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s>
</file>

<file path=ppt/charts/_rels/chart8.xml.rels><?xml version='1.0' encoding='UTF-8' standalone='yes'?>
<Relationships xmlns="http://schemas.openxmlformats.org/package/2006/relationships"><Relationship Id="rId2" Type="http://schemas.openxmlformats.org/officeDocument/2006/relationships/image" Target="../media/image45.png"/><Relationship Id="rId3" Type="http://schemas.openxmlformats.org/officeDocument/2006/relationships/image" Target="../media/image46.png"/><Relationship Id="rId4" Type="http://schemas.openxmlformats.org/officeDocument/2006/relationships/image" Target="../media/image47.png"/><Relationship Id="rId5" Type="http://schemas.openxmlformats.org/officeDocument/2006/relationships/image" Target="../media/image48.png"/><Relationship Id="rId6" Type="http://schemas.openxmlformats.org/officeDocument/2006/relationships/image" Target="../media/image49.png"/><Relationship Id="rId7" Type="http://schemas.openxmlformats.org/officeDocument/2006/relationships/image" Target="../media/image50.png"/><Relationship Id="rId8" Type="http://schemas.openxmlformats.org/officeDocument/2006/relationships/image" Target="../media/image51.png"/><Relationship Id="rId9" Type="http://schemas.openxmlformats.org/officeDocument/2006/relationships/image" Target="../media/image52.png"/><Relationship Id="rId10" Type="http://schemas.openxmlformats.org/officeDocument/2006/relationships/image" Target="../media/image53.png"/><Relationship Id="rId11" Type="http://schemas.openxmlformats.org/officeDocument/2006/relationships/image" Target="../media/image54.png"/></Relationships>
</file>

<file path=ppt/charts/_rels/chart9.xml.rels><?xml version='1.0' encoding='UTF-8' standalone='yes'?>
<Relationships xmlns="http://schemas.openxmlformats.org/package/2006/relationships"><Relationship Id="rId2" Type="http://schemas.openxmlformats.org/officeDocument/2006/relationships/image" Target="../media/image55.png"/><Relationship Id="rId3" Type="http://schemas.openxmlformats.org/officeDocument/2006/relationships/image" Target="../media/image56.png"/></Relationships>
</file>

<file path=ppt/charts/_rels/chart11.xml.rels><?xml version='1.0' encoding='UTF-8' standalone='yes'?>
<Relationships xmlns="http://schemas.openxmlformats.org/package/2006/relationships"><Relationship Id="rId2" Type="http://schemas.openxmlformats.org/officeDocument/2006/relationships/image" Target="../media/image75.png"/><Relationship Id="rId3" Type="http://schemas.openxmlformats.org/officeDocument/2006/relationships/image" Target="../media/image76.png"/><Relationship Id="rId4" Type="http://schemas.openxmlformats.org/officeDocument/2006/relationships/image" Target="../media/image77.png"/><Relationship Id="rId5" Type="http://schemas.openxmlformats.org/officeDocument/2006/relationships/image" Target="../media/image78.png"/><Relationship Id="rId6" Type="http://schemas.openxmlformats.org/officeDocument/2006/relationships/image" Target="../media/image79.png"/><Relationship Id="rId7" Type="http://schemas.openxmlformats.org/officeDocument/2006/relationships/image" Target="../media/image80.png"/><Relationship Id="rId8" Type="http://schemas.openxmlformats.org/officeDocument/2006/relationships/image" Target="../media/image81.png"/><Relationship Id="rId9" Type="http://schemas.openxmlformats.org/officeDocument/2006/relationships/image" Target="../media/image82.png"/><Relationship Id="rId10" Type="http://schemas.openxmlformats.org/officeDocument/2006/relationships/image" Target="../media/image83.png"/><Relationship Id="rId11" Type="http://schemas.openxmlformats.org/officeDocument/2006/relationships/image" Target="../media/image84.png"/></Relationships>
</file>

<file path=ppt/charts/_rels/chart12.xml.rels><?xml version='1.0' encoding='UTF-8' standalone='yes'?>
<Relationships xmlns="http://schemas.openxmlformats.org/package/2006/relationships"><Relationship Id="rId2" Type="http://schemas.openxmlformats.org/officeDocument/2006/relationships/image" Target="../media/image86.png"/><Relationship Id="rId3" Type="http://schemas.openxmlformats.org/officeDocument/2006/relationships/image" Target="../media/image87.png"/><Relationship Id="rId4" Type="http://schemas.openxmlformats.org/officeDocument/2006/relationships/image" Target="../media/image88.png"/><Relationship Id="rId5" Type="http://schemas.openxmlformats.org/officeDocument/2006/relationships/image" Target="../media/image89.png"/><Relationship Id="rId6" Type="http://schemas.openxmlformats.org/officeDocument/2006/relationships/image" Target="../media/image90.png"/><Relationship Id="rId7" Type="http://schemas.openxmlformats.org/officeDocument/2006/relationships/image" Target="../media/image91.png"/><Relationship Id="rId8" Type="http://schemas.openxmlformats.org/officeDocument/2006/relationships/image" Target="../media/image92.png"/><Relationship Id="rId9" Type="http://schemas.openxmlformats.org/officeDocument/2006/relationships/image" Target="../media/image93.png"/><Relationship Id="rId10" Type="http://schemas.openxmlformats.org/officeDocument/2006/relationships/image" Target="../media/image94.png"/><Relationship Id="rId11" Type="http://schemas.openxmlformats.org/officeDocument/2006/relationships/image" Target="../media/image95.png"/><Relationship Id="rId12" Type="http://schemas.openxmlformats.org/officeDocument/2006/relationships/image" Target="../media/image96.png"/></Relationships>
</file>

<file path=ppt/charts/_rels/chart13.xml.rels><?xml version='1.0' encoding='UTF-8' standalone='yes'?>
<Relationships xmlns="http://schemas.openxmlformats.org/package/2006/relationships"><Relationship Id="rId2" Type="http://schemas.openxmlformats.org/officeDocument/2006/relationships/image" Target="../media/image100.png"/></Relationships>
</file>

<file path=ppt/charts/_rels/chart14.xml.rels><?xml version='1.0' encoding='UTF-8' standalone='yes'?>
<Relationships xmlns="http://schemas.openxmlformats.org/package/2006/relationships"><Relationship Id="rId2" Type="http://schemas.openxmlformats.org/officeDocument/2006/relationships/image" Target="../media/image101.png"/></Relationships>
</file>

<file path=ppt/charts/_rels/chart15.xml.rels><?xml version='1.0' encoding='UTF-8' standalone='yes'?>
<Relationships xmlns="http://schemas.openxmlformats.org/package/2006/relationships"><Relationship Id="rId2" Type="http://schemas.openxmlformats.org/officeDocument/2006/relationships/image" Target="../media/image108.png"/><Relationship Id="rId3" Type="http://schemas.openxmlformats.org/officeDocument/2006/relationships/image" Target="../media/image109.png"/><Relationship Id="rId4" Type="http://schemas.openxmlformats.org/officeDocument/2006/relationships/image" Target="../media/image110.png"/><Relationship Id="rId5" Type="http://schemas.openxmlformats.org/officeDocument/2006/relationships/image" Target="../media/image111.png"/><Relationship Id="rId6" Type="http://schemas.openxmlformats.org/officeDocument/2006/relationships/image" Target="../media/image112.png"/><Relationship Id="rId7" Type="http://schemas.openxmlformats.org/officeDocument/2006/relationships/image" Target="../media/image113.png"/><Relationship Id="rId8" Type="http://schemas.openxmlformats.org/officeDocument/2006/relationships/image" Target="../media/image114.png"/><Relationship Id="rId9" Type="http://schemas.openxmlformats.org/officeDocument/2006/relationships/image" Target="../media/image115.png"/><Relationship Id="rId10" Type="http://schemas.openxmlformats.org/officeDocument/2006/relationships/image" Target="../media/image116.png"/><Relationship Id="rId11" Type="http://schemas.openxmlformats.org/officeDocument/2006/relationships/image" Target="../media/image117.png"/></Relationships>
</file>

<file path=ppt/charts/_rels/chart19.xml.rels><?xml version='1.0' encoding='UTF-8' standalone='yes'?>
<Relationships xmlns="http://schemas.openxmlformats.org/package/2006/relationships"><Relationship Id="rId2" Type="http://schemas.openxmlformats.org/officeDocument/2006/relationships/image" Target="../media/image118.png"/><Relationship Id="rId3" Type="http://schemas.openxmlformats.org/officeDocument/2006/relationships/image" Target="../media/image119.png"/><Relationship Id="rId4" Type="http://schemas.openxmlformats.org/officeDocument/2006/relationships/image" Target="../media/image120.png"/><Relationship Id="rId5" Type="http://schemas.openxmlformats.org/officeDocument/2006/relationships/image" Target="../media/image121.png"/><Relationship Id="rId6" Type="http://schemas.openxmlformats.org/officeDocument/2006/relationships/image" Target="../media/image122.png"/><Relationship Id="rId7" Type="http://schemas.openxmlformats.org/officeDocument/2006/relationships/image" Target="../media/image123.png"/></Relationships>
</file>

<file path=ppt/charts/_rels/chart20.xml.rels><?xml version='1.0' encoding='UTF-8' standalone='yes'?>
<Relationships xmlns="http://schemas.openxmlformats.org/package/2006/relationships"><Relationship Id="rId2" Type="http://schemas.openxmlformats.org/officeDocument/2006/relationships/image" Target="../media/image130.png"/><Relationship Id="rId3" Type="http://schemas.openxmlformats.org/officeDocument/2006/relationships/image" Target="../media/image131.png"/><Relationship Id="rId4" Type="http://schemas.openxmlformats.org/officeDocument/2006/relationships/image" Target="../media/image132.png"/><Relationship Id="rId5" Type="http://schemas.openxmlformats.org/officeDocument/2006/relationships/image" Target="../media/image133.png"/><Relationship Id="rId6" Type="http://schemas.openxmlformats.org/officeDocument/2006/relationships/image" Target="../media/image134.png"/><Relationship Id="rId7" Type="http://schemas.openxmlformats.org/officeDocument/2006/relationships/image" Target="../media/image135.png"/><Relationship Id="rId8" Type="http://schemas.openxmlformats.org/officeDocument/2006/relationships/image" Target="../media/image136.png"/><Relationship Id="rId9" Type="http://schemas.openxmlformats.org/officeDocument/2006/relationships/image" Target="../media/image137.png"/><Relationship Id="rId10" Type="http://schemas.openxmlformats.org/officeDocument/2006/relationships/image" Target="../media/image138.png"/><Relationship Id="rId11" Type="http://schemas.openxmlformats.org/officeDocument/2006/relationships/image" Target="../media/image139.png"/><Relationship Id="rId12" Type="http://schemas.openxmlformats.org/officeDocument/2006/relationships/image" Target="../media/image140.png"/><Relationship Id="rId13" Type="http://schemas.openxmlformats.org/officeDocument/2006/relationships/image" Target="../media/image141.png"/></Relationships>
</file>

<file path=ppt/charts/_rels/chart24.xml.rels><?xml version='1.0' encoding='UTF-8' standalone='yes'?>
<Relationships xmlns="http://schemas.openxmlformats.org/package/2006/relationships"><Relationship Id="rId2" Type="http://schemas.openxmlformats.org/officeDocument/2006/relationships/image" Target="../media/image142.png"/><Relationship Id="rId3" Type="http://schemas.openxmlformats.org/officeDocument/2006/relationships/image" Target="../media/image143.png"/><Relationship Id="rId4" Type="http://schemas.openxmlformats.org/officeDocument/2006/relationships/image" Target="../media/image144.png"/><Relationship Id="rId5" Type="http://schemas.openxmlformats.org/officeDocument/2006/relationships/image" Target="../media/image145.png"/><Relationship Id="rId6" Type="http://schemas.openxmlformats.org/officeDocument/2006/relationships/image" Target="../media/image146.png"/><Relationship Id="rId7" Type="http://schemas.openxmlformats.org/officeDocument/2006/relationships/image" Target="../media/image147.png"/></Relationships>
</file>

<file path=ppt/charts/_rels/chart25.xml.rels><?xml version='1.0' encoding='UTF-8' standalone='yes'?>
<Relationships xmlns="http://schemas.openxmlformats.org/package/2006/relationships"><Relationship Id="rId2" Type="http://schemas.openxmlformats.org/officeDocument/2006/relationships/image" Target="../media/image169.png"/><Relationship Id="rId3" Type="http://schemas.openxmlformats.org/officeDocument/2006/relationships/image" Target="../media/image170.png"/><Relationship Id="rId4" Type="http://schemas.openxmlformats.org/officeDocument/2006/relationships/image" Target="../media/image171.png"/><Relationship Id="rId5" Type="http://schemas.openxmlformats.org/officeDocument/2006/relationships/image" Target="../media/image172.png"/><Relationship Id="rId6" Type="http://schemas.openxmlformats.org/officeDocument/2006/relationships/image" Target="../media/image173.png"/><Relationship Id="rId7" Type="http://schemas.openxmlformats.org/officeDocument/2006/relationships/image" Target="../media/image174.png"/><Relationship Id="rId8" Type="http://schemas.openxmlformats.org/officeDocument/2006/relationships/image" Target="../media/image175.png"/><Relationship Id="rId9" Type="http://schemas.openxmlformats.org/officeDocument/2006/relationships/image" Target="../media/image176.png"/><Relationship Id="rId10" Type="http://schemas.openxmlformats.org/officeDocument/2006/relationships/image" Target="../media/image177.png"/><Relationship Id="rId11" Type="http://schemas.openxmlformats.org/officeDocument/2006/relationships/image" Target="../media/image178.png"/><Relationship Id="rId12" Type="http://schemas.openxmlformats.org/officeDocument/2006/relationships/image" Target="../media/image179.png"/><Relationship Id="rId13" Type="http://schemas.openxmlformats.org/officeDocument/2006/relationships/image" Target="../media/image180.png"/><Relationship Id="rId14" Type="http://schemas.openxmlformats.org/officeDocument/2006/relationships/image" Target="../media/image181.png"/><Relationship Id="rId15" Type="http://schemas.openxmlformats.org/officeDocument/2006/relationships/image" Target="../media/image182.png"/><Relationship Id="rId16" Type="http://schemas.openxmlformats.org/officeDocument/2006/relationships/image" Target="../media/image183.png"/><Relationship Id="rId17" Type="http://schemas.openxmlformats.org/officeDocument/2006/relationships/image" Target="../media/image184.png"/><Relationship Id="rId18" Type="http://schemas.openxmlformats.org/officeDocument/2006/relationships/image" Target="../media/image185.png"/><Relationship Id="rId19" Type="http://schemas.openxmlformats.org/officeDocument/2006/relationships/image" Target="../media/image186.png"/><Relationship Id="rId20" Type="http://schemas.openxmlformats.org/officeDocument/2006/relationships/image" Target="../media/image187.png"/><Relationship Id="rId21" Type="http://schemas.openxmlformats.org/officeDocument/2006/relationships/image" Target="../media/image188.png"/><Relationship Id="rId22" Type="http://schemas.openxmlformats.org/officeDocument/2006/relationships/image" Target="../media/image189.png"/><Relationship Id="rId23" Type="http://schemas.openxmlformats.org/officeDocument/2006/relationships/image" Target="../media/image190.png"/><Relationship Id="rId24" Type="http://schemas.openxmlformats.org/officeDocument/2006/relationships/image" Target="../media/image191.png"/><Relationship Id="rId25" Type="http://schemas.openxmlformats.org/officeDocument/2006/relationships/image" Target="../media/image192.png"/><Relationship Id="rId26" Type="http://schemas.openxmlformats.org/officeDocument/2006/relationships/image" Target="../media/image193.png"/><Relationship Id="rId27" Type="http://schemas.openxmlformats.org/officeDocument/2006/relationships/image" Target="../media/image194.png"/><Relationship Id="rId28" Type="http://schemas.openxmlformats.org/officeDocument/2006/relationships/image" Target="../media/image195.png"/><Relationship Id="rId29" Type="http://schemas.openxmlformats.org/officeDocument/2006/relationships/image" Target="../media/image196.png"/><Relationship Id="rId30" Type="http://schemas.openxmlformats.org/officeDocument/2006/relationships/image" Target="../media/image197.png"/><Relationship Id="rId31" Type="http://schemas.openxmlformats.org/officeDocument/2006/relationships/image" Target="../media/image198.png"/><Relationship Id="rId32" Type="http://schemas.openxmlformats.org/officeDocument/2006/relationships/image" Target="../media/image199.png"/><Relationship Id="rId33" Type="http://schemas.openxmlformats.org/officeDocument/2006/relationships/image" Target="../media/image200.png"/><Relationship Id="rId34" Type="http://schemas.openxmlformats.org/officeDocument/2006/relationships/image" Target="../media/image201.png"/><Relationship Id="rId35" Type="http://schemas.openxmlformats.org/officeDocument/2006/relationships/image" Target="../media/image202.png"/><Relationship Id="rId36" Type="http://schemas.openxmlformats.org/officeDocument/2006/relationships/image" Target="../media/image203.png"/><Relationship Id="rId37" Type="http://schemas.openxmlformats.org/officeDocument/2006/relationships/image" Target="../media/image204.png"/><Relationship Id="rId38" Type="http://schemas.openxmlformats.org/officeDocument/2006/relationships/image" Target="../media/image205.png"/><Relationship Id="rId39" Type="http://schemas.openxmlformats.org/officeDocument/2006/relationships/image" Target="../media/image206.png"/><Relationship Id="rId40" Type="http://schemas.openxmlformats.org/officeDocument/2006/relationships/image" Target="../media/image207.png"/><Relationship Id="rId41" Type="http://schemas.openxmlformats.org/officeDocument/2006/relationships/image" Target="../media/image208.png"/><Relationship Id="rId42" Type="http://schemas.openxmlformats.org/officeDocument/2006/relationships/image" Target="../media/image209.png"/><Relationship Id="rId43" Type="http://schemas.openxmlformats.org/officeDocument/2006/relationships/image" Target="../media/image210.png"/><Relationship Id="rId44" Type="http://schemas.openxmlformats.org/officeDocument/2006/relationships/image" Target="../media/image211.png"/></Relationships>
</file>

<file path=ppt/charts/_rels/chart35.xml.rels><?xml version='1.0' encoding='UTF-8' standalone='yes'?>
<Relationships xmlns="http://schemas.openxmlformats.org/package/2006/relationships"><Relationship Id="rId2" Type="http://schemas.openxmlformats.org/officeDocument/2006/relationships/image" Target="../media/image212.png"/><Relationship Id="rId3" Type="http://schemas.openxmlformats.org/officeDocument/2006/relationships/image" Target="../media/image213.png"/><Relationship Id="rId4" Type="http://schemas.openxmlformats.org/officeDocument/2006/relationships/image" Target="../media/image214.png"/><Relationship Id="rId5" Type="http://schemas.openxmlformats.org/officeDocument/2006/relationships/image" Target="../media/image215.png"/><Relationship Id="rId6" Type="http://schemas.openxmlformats.org/officeDocument/2006/relationships/image" Target="../media/image216.png"/><Relationship Id="rId7" Type="http://schemas.openxmlformats.org/officeDocument/2006/relationships/image" Target="../media/image217.png"/><Relationship Id="rId8" Type="http://schemas.openxmlformats.org/officeDocument/2006/relationships/image" Target="../media/image218.png"/><Relationship Id="rId9" Type="http://schemas.openxmlformats.org/officeDocument/2006/relationships/image" Target="../media/image219.png"/><Relationship Id="rId10" Type="http://schemas.openxmlformats.org/officeDocument/2006/relationships/image" Target="../media/image220.png"/><Relationship Id="rId11" Type="http://schemas.openxmlformats.org/officeDocument/2006/relationships/image" Target="../media/image221.png"/><Relationship Id="rId12" Type="http://schemas.openxmlformats.org/officeDocument/2006/relationships/image" Target="../media/image222.png"/><Relationship Id="rId13" Type="http://schemas.openxmlformats.org/officeDocument/2006/relationships/image" Target="../media/image223.png"/><Relationship Id="rId14" Type="http://schemas.openxmlformats.org/officeDocument/2006/relationships/image" Target="../media/image224.png"/><Relationship Id="rId15" Type="http://schemas.openxmlformats.org/officeDocument/2006/relationships/image" Target="../media/image225.png"/><Relationship Id="rId16" Type="http://schemas.openxmlformats.org/officeDocument/2006/relationships/image" Target="../media/image226.png"/><Relationship Id="rId17" Type="http://schemas.openxmlformats.org/officeDocument/2006/relationships/image" Target="../media/image227.png"/><Relationship Id="rId18" Type="http://schemas.openxmlformats.org/officeDocument/2006/relationships/image" Target="../media/image228.png"/><Relationship Id="rId19" Type="http://schemas.openxmlformats.org/officeDocument/2006/relationships/image" Target="../media/image229.png"/><Relationship Id="rId20" Type="http://schemas.openxmlformats.org/officeDocument/2006/relationships/image" Target="../media/image230.png"/><Relationship Id="rId21" Type="http://schemas.openxmlformats.org/officeDocument/2006/relationships/image" Target="../media/image231.png"/><Relationship Id="rId22" Type="http://schemas.openxmlformats.org/officeDocument/2006/relationships/image" Target="../media/image232.png"/></Relationships>
</file>

<file path=ppt/charts/_rels/chart36.xml.rels><?xml version='1.0' encoding='UTF-8' standalone='yes'?>
<Relationships xmlns="http://schemas.openxmlformats.org/package/2006/relationships"><Relationship Id="rId2" Type="http://schemas.openxmlformats.org/officeDocument/2006/relationships/image" Target="../media/image243.png"/><Relationship Id="rId3" Type="http://schemas.openxmlformats.org/officeDocument/2006/relationships/image" Target="../media/image244.png"/><Relationship Id="rId4" Type="http://schemas.openxmlformats.org/officeDocument/2006/relationships/image" Target="../media/image245.png"/><Relationship Id="rId5" Type="http://schemas.openxmlformats.org/officeDocument/2006/relationships/image" Target="../media/image246.png"/><Relationship Id="rId6" Type="http://schemas.openxmlformats.org/officeDocument/2006/relationships/image" Target="../media/image247.png"/><Relationship Id="rId7" Type="http://schemas.openxmlformats.org/officeDocument/2006/relationships/image" Target="../media/image248.png"/><Relationship Id="rId8" Type="http://schemas.openxmlformats.org/officeDocument/2006/relationships/image" Target="../media/image249.png"/><Relationship Id="rId9" Type="http://schemas.openxmlformats.org/officeDocument/2006/relationships/image" Target="../media/image250.png"/><Relationship Id="rId10" Type="http://schemas.openxmlformats.org/officeDocument/2006/relationships/image" Target="../media/image251.png"/><Relationship Id="rId11" Type="http://schemas.openxmlformats.org/officeDocument/2006/relationships/image" Target="../media/image252.png"/><Relationship Id="rId12" Type="http://schemas.openxmlformats.org/officeDocument/2006/relationships/image" Target="../media/image253.png"/><Relationship Id="rId13" Type="http://schemas.openxmlformats.org/officeDocument/2006/relationships/image" Target="../media/image254.png"/><Relationship Id="rId14" Type="http://schemas.openxmlformats.org/officeDocument/2006/relationships/image" Target="../media/image255.png"/><Relationship Id="rId15" Type="http://schemas.openxmlformats.org/officeDocument/2006/relationships/image" Target="../media/image256.png"/><Relationship Id="rId16" Type="http://schemas.openxmlformats.org/officeDocument/2006/relationships/image" Target="../media/image257.png"/><Relationship Id="rId17" Type="http://schemas.openxmlformats.org/officeDocument/2006/relationships/image" Target="../media/image258.png"/><Relationship Id="rId18" Type="http://schemas.openxmlformats.org/officeDocument/2006/relationships/image" Target="../media/image259.png"/><Relationship Id="rId19" Type="http://schemas.openxmlformats.org/officeDocument/2006/relationships/image" Target="../media/image260.png"/><Relationship Id="rId20" Type="http://schemas.openxmlformats.org/officeDocument/2006/relationships/image" Target="../media/image261.png"/><Relationship Id="rId21" Type="http://schemas.openxmlformats.org/officeDocument/2006/relationships/image" Target="../media/image262.png"/><Relationship Id="rId22" Type="http://schemas.openxmlformats.org/officeDocument/2006/relationships/image" Target="../media/image263.png"/><Relationship Id="rId23" Type="http://schemas.openxmlformats.org/officeDocument/2006/relationships/image" Target="../media/image264.png"/></Relationships>
</file>

<file path=ppt/charts/_rels/chart42.xml.rels><?xml version='1.0' encoding='UTF-8' standalone='yes'?>
<Relationships xmlns="http://schemas.openxmlformats.org/package/2006/relationships"><Relationship Id="rId2" Type="http://schemas.openxmlformats.org/officeDocument/2006/relationships/image" Target="../media/image265.png"/><Relationship Id="rId3" Type="http://schemas.openxmlformats.org/officeDocument/2006/relationships/image" Target="../media/image266.png"/><Relationship Id="rId4" Type="http://schemas.openxmlformats.org/officeDocument/2006/relationships/image" Target="../media/image267.png"/><Relationship Id="rId5" Type="http://schemas.openxmlformats.org/officeDocument/2006/relationships/image" Target="../media/image268.png"/><Relationship Id="rId6" Type="http://schemas.openxmlformats.org/officeDocument/2006/relationships/image" Target="../media/image269.png"/><Relationship Id="rId7" Type="http://schemas.openxmlformats.org/officeDocument/2006/relationships/image" Target="../media/image270.png"/><Relationship Id="rId8" Type="http://schemas.openxmlformats.org/officeDocument/2006/relationships/image" Target="../media/image271.png"/><Relationship Id="rId9" Type="http://schemas.openxmlformats.org/officeDocument/2006/relationships/image" Target="../media/image272.png"/><Relationship Id="rId10" Type="http://schemas.openxmlformats.org/officeDocument/2006/relationships/image" Target="../media/image273.png"/><Relationship Id="rId11" Type="http://schemas.openxmlformats.org/officeDocument/2006/relationships/image" Target="../media/image274.png"/><Relationship Id="rId12" Type="http://schemas.openxmlformats.org/officeDocument/2006/relationships/image" Target="../media/image275.png"/><Relationship Id="rId13" Type="http://schemas.openxmlformats.org/officeDocument/2006/relationships/image" Target="../media/image276.png"/></Relationships>
</file>

<file path=ppt/charts/_rels/chart43.xml.rels><?xml version='1.0' encoding='UTF-8' standalone='yes'?>
<Relationships xmlns="http://schemas.openxmlformats.org/package/2006/relationships"><Relationship Id="rId2" Type="http://schemas.openxmlformats.org/officeDocument/2006/relationships/image" Target="../media/image296.png"/><Relationship Id="rId3" Type="http://schemas.openxmlformats.org/officeDocument/2006/relationships/image" Target="../media/image297.png"/><Relationship Id="rId4" Type="http://schemas.openxmlformats.org/officeDocument/2006/relationships/image" Target="../media/image298.png"/><Relationship Id="rId5" Type="http://schemas.openxmlformats.org/officeDocument/2006/relationships/image" Target="../media/image299.png"/><Relationship Id="rId6" Type="http://schemas.openxmlformats.org/officeDocument/2006/relationships/image" Target="../media/image300.png"/><Relationship Id="rId7" Type="http://schemas.openxmlformats.org/officeDocument/2006/relationships/image" Target="../media/image301.png"/><Relationship Id="rId8" Type="http://schemas.openxmlformats.org/officeDocument/2006/relationships/image" Target="../media/image302.png"/><Relationship Id="rId9" Type="http://schemas.openxmlformats.org/officeDocument/2006/relationships/image" Target="../media/image303.png"/><Relationship Id="rId10" Type="http://schemas.openxmlformats.org/officeDocument/2006/relationships/image" Target="../media/image304.png"/><Relationship Id="rId11" Type="http://schemas.openxmlformats.org/officeDocument/2006/relationships/image" Target="../media/image305.png"/><Relationship Id="rId12" Type="http://schemas.openxmlformats.org/officeDocument/2006/relationships/image" Target="../media/image306.png"/><Relationship Id="rId13" Type="http://schemas.openxmlformats.org/officeDocument/2006/relationships/image" Target="../media/image307.png"/><Relationship Id="rId14" Type="http://schemas.openxmlformats.org/officeDocument/2006/relationships/image" Target="../media/image308.png"/><Relationship Id="rId15" Type="http://schemas.openxmlformats.org/officeDocument/2006/relationships/image" Target="../media/image309.png"/><Relationship Id="rId16" Type="http://schemas.openxmlformats.org/officeDocument/2006/relationships/image" Target="../media/image310.png"/><Relationship Id="rId17" Type="http://schemas.openxmlformats.org/officeDocument/2006/relationships/image" Target="../media/image311.png"/><Relationship Id="rId18" Type="http://schemas.openxmlformats.org/officeDocument/2006/relationships/image" Target="../media/image312.png"/><Relationship Id="rId19" Type="http://schemas.openxmlformats.org/officeDocument/2006/relationships/image" Target="../media/image313.png"/><Relationship Id="rId20" Type="http://schemas.openxmlformats.org/officeDocument/2006/relationships/image" Target="../media/image314.png"/><Relationship Id="rId21" Type="http://schemas.openxmlformats.org/officeDocument/2006/relationships/image" Target="../media/image315.png"/><Relationship Id="rId22" Type="http://schemas.openxmlformats.org/officeDocument/2006/relationships/image" Target="../media/image316.png"/><Relationship Id="rId23" Type="http://schemas.openxmlformats.org/officeDocument/2006/relationships/image" Target="../media/image317.png"/><Relationship Id="rId24" Type="http://schemas.openxmlformats.org/officeDocument/2006/relationships/image" Target="../media/image318.png"/><Relationship Id="rId25" Type="http://schemas.openxmlformats.org/officeDocument/2006/relationships/image" Target="../media/image319.png"/><Relationship Id="rId26" Type="http://schemas.openxmlformats.org/officeDocument/2006/relationships/image" Target="../media/image320.png"/><Relationship Id="rId27" Type="http://schemas.openxmlformats.org/officeDocument/2006/relationships/image" Target="../media/image321.png"/><Relationship Id="rId28" Type="http://schemas.openxmlformats.org/officeDocument/2006/relationships/image" Target="../media/image322.png"/><Relationship Id="rId29" Type="http://schemas.openxmlformats.org/officeDocument/2006/relationships/image" Target="../media/image323.png"/><Relationship Id="rId30" Type="http://schemas.openxmlformats.org/officeDocument/2006/relationships/image" Target="../media/image324.png"/><Relationship Id="rId31" Type="http://schemas.openxmlformats.org/officeDocument/2006/relationships/image" Target="../media/image325.png"/><Relationship Id="rId32" Type="http://schemas.openxmlformats.org/officeDocument/2006/relationships/image" Target="../media/image326.png"/><Relationship Id="rId33" Type="http://schemas.openxmlformats.org/officeDocument/2006/relationships/image" Target="../media/image327.png"/><Relationship Id="rId34" Type="http://schemas.openxmlformats.org/officeDocument/2006/relationships/image" Target="../media/image328.png"/><Relationship Id="rId35" Type="http://schemas.openxmlformats.org/officeDocument/2006/relationships/image" Target="../media/image329.png"/><Relationship Id="rId36" Type="http://schemas.openxmlformats.org/officeDocument/2006/relationships/image" Target="../media/image330.png"/><Relationship Id="rId37" Type="http://schemas.openxmlformats.org/officeDocument/2006/relationships/image" Target="../media/image331.png"/><Relationship Id="rId38" Type="http://schemas.openxmlformats.org/officeDocument/2006/relationships/image" Target="../media/image332.png"/><Relationship Id="rId39" Type="http://schemas.openxmlformats.org/officeDocument/2006/relationships/image" Target="../media/image333.png"/><Relationship Id="rId40" Type="http://schemas.openxmlformats.org/officeDocument/2006/relationships/image" Target="../media/image334.png"/><Relationship Id="rId41" Type="http://schemas.openxmlformats.org/officeDocument/2006/relationships/image" Target="../media/image335.png"/></Relationships>
</file>

<file path=ppt/charts/_rels/chart52.xml.rels><?xml version='1.0' encoding='UTF-8' standalone='yes'?>
<Relationships xmlns="http://schemas.openxmlformats.org/package/2006/relationships"><Relationship Id="rId2" Type="http://schemas.openxmlformats.org/officeDocument/2006/relationships/image" Target="../media/image336.png"/><Relationship Id="rId3" Type="http://schemas.openxmlformats.org/officeDocument/2006/relationships/image" Target="../media/image337.png"/><Relationship Id="rId4" Type="http://schemas.openxmlformats.org/officeDocument/2006/relationships/image" Target="../media/image338.png"/><Relationship Id="rId5" Type="http://schemas.openxmlformats.org/officeDocument/2006/relationships/image" Target="../media/image339.png"/><Relationship Id="rId6" Type="http://schemas.openxmlformats.org/officeDocument/2006/relationships/image" Target="../media/image340.png"/><Relationship Id="rId7" Type="http://schemas.openxmlformats.org/officeDocument/2006/relationships/image" Target="../media/image341.png"/><Relationship Id="rId8" Type="http://schemas.openxmlformats.org/officeDocument/2006/relationships/image" Target="../media/image342.png"/><Relationship Id="rId9" Type="http://schemas.openxmlformats.org/officeDocument/2006/relationships/image" Target="../media/image343.png"/><Relationship Id="rId10" Type="http://schemas.openxmlformats.org/officeDocument/2006/relationships/image" Target="../media/image344.png"/><Relationship Id="rId11" Type="http://schemas.openxmlformats.org/officeDocument/2006/relationships/image" Target="../media/image345.png"/><Relationship Id="rId12" Type="http://schemas.openxmlformats.org/officeDocument/2006/relationships/image" Target="../media/image346.png"/><Relationship Id="rId13" Type="http://schemas.openxmlformats.org/officeDocument/2006/relationships/image" Target="../media/image347.png"/><Relationship Id="rId14" Type="http://schemas.openxmlformats.org/officeDocument/2006/relationships/image" Target="../media/image348.png"/><Relationship Id="rId15" Type="http://schemas.openxmlformats.org/officeDocument/2006/relationships/image" Target="../media/image349.png"/><Relationship Id="rId16" Type="http://schemas.openxmlformats.org/officeDocument/2006/relationships/image" Target="../media/image350.png"/><Relationship Id="rId17" Type="http://schemas.openxmlformats.org/officeDocument/2006/relationships/image" Target="../media/image351.png"/><Relationship Id="rId18" Type="http://schemas.openxmlformats.org/officeDocument/2006/relationships/image" Target="../media/image352.png"/><Relationship Id="rId19" Type="http://schemas.openxmlformats.org/officeDocument/2006/relationships/image" Target="../media/image353.png"/><Relationship Id="rId20" Type="http://schemas.openxmlformats.org/officeDocument/2006/relationships/image" Target="../media/image354.png"/><Relationship Id="rId21" Type="http://schemas.openxmlformats.org/officeDocument/2006/relationships/image" Target="../media/image355.png"/><Relationship Id="rId22" Type="http://schemas.openxmlformats.org/officeDocument/2006/relationships/image" Target="../media/image356.png"/></Relationships>
</file>

<file path=ppt/charts/_rels/chart53.xml.rels><?xml version='1.0' encoding='UTF-8' standalone='yes'?>
<Relationships xmlns="http://schemas.openxmlformats.org/package/2006/relationships"><Relationship Id="rId2" Type="http://schemas.openxmlformats.org/officeDocument/2006/relationships/image" Target="../media/image365.png"/><Relationship Id="rId3" Type="http://schemas.openxmlformats.org/officeDocument/2006/relationships/image" Target="../media/image366.png"/><Relationship Id="rId4" Type="http://schemas.openxmlformats.org/officeDocument/2006/relationships/image" Target="../media/image367.png"/><Relationship Id="rId5" Type="http://schemas.openxmlformats.org/officeDocument/2006/relationships/image" Target="../media/image368.png"/><Relationship Id="rId6" Type="http://schemas.openxmlformats.org/officeDocument/2006/relationships/image" Target="../media/image369.png"/><Relationship Id="rId7" Type="http://schemas.openxmlformats.org/officeDocument/2006/relationships/image" Target="../media/image370.png"/><Relationship Id="rId8" Type="http://schemas.openxmlformats.org/officeDocument/2006/relationships/image" Target="../media/image371.png"/><Relationship Id="rId9" Type="http://schemas.openxmlformats.org/officeDocument/2006/relationships/image" Target="../media/image372.png"/><Relationship Id="rId10" Type="http://schemas.openxmlformats.org/officeDocument/2006/relationships/image" Target="../media/image373.png"/><Relationship Id="rId11" Type="http://schemas.openxmlformats.org/officeDocument/2006/relationships/image" Target="../media/image374.png"/><Relationship Id="rId12" Type="http://schemas.openxmlformats.org/officeDocument/2006/relationships/image" Target="../media/image375.png"/><Relationship Id="rId13" Type="http://schemas.openxmlformats.org/officeDocument/2006/relationships/image" Target="../media/image376.png"/><Relationship Id="rId14" Type="http://schemas.openxmlformats.org/officeDocument/2006/relationships/image" Target="../media/image377.png"/><Relationship Id="rId15" Type="http://schemas.openxmlformats.org/officeDocument/2006/relationships/image" Target="../media/image378.png"/><Relationship Id="rId16" Type="http://schemas.openxmlformats.org/officeDocument/2006/relationships/image" Target="../media/image379.png"/></Relationships>
</file>

<file path=ppt/charts/_rels/chart58.xml.rels><?xml version='1.0' encoding='UTF-8' standalone='yes'?>
<Relationships xmlns="http://schemas.openxmlformats.org/package/2006/relationships"><Relationship Id="rId2" Type="http://schemas.openxmlformats.org/officeDocument/2006/relationships/image" Target="../media/image380.png"/><Relationship Id="rId3" Type="http://schemas.openxmlformats.org/officeDocument/2006/relationships/image" Target="../media/image381.png"/><Relationship Id="rId4" Type="http://schemas.openxmlformats.org/officeDocument/2006/relationships/image" Target="../media/image382.png"/><Relationship Id="rId5" Type="http://schemas.openxmlformats.org/officeDocument/2006/relationships/image" Target="../media/image383.png"/><Relationship Id="rId6" Type="http://schemas.openxmlformats.org/officeDocument/2006/relationships/image" Target="../media/image384.png"/><Relationship Id="rId7" Type="http://schemas.openxmlformats.org/officeDocument/2006/relationships/image" Target="../media/image385.png"/><Relationship Id="rId8" Type="http://schemas.openxmlformats.org/officeDocument/2006/relationships/image" Target="../media/image386.png"/><Relationship Id="rId9" Type="http://schemas.openxmlformats.org/officeDocument/2006/relationships/image" Target="../media/image387.png"/><Relationship Id="rId10" Type="http://schemas.openxmlformats.org/officeDocument/2006/relationships/image" Target="../media/image388.png"/></Relationships>
</file>

<file path=ppt/charts/_rels/chart59.xml.rels><?xml version='1.0' encoding='UTF-8' standalone='yes'?>
<Relationships xmlns="http://schemas.openxmlformats.org/package/2006/relationships"><Relationship Id="rId2" Type="http://schemas.openxmlformats.org/officeDocument/2006/relationships/image" Target="../media/image393.png"/><Relationship Id="rId3" Type="http://schemas.openxmlformats.org/officeDocument/2006/relationships/image" Target="../media/image394.png"/><Relationship Id="rId4" Type="http://schemas.openxmlformats.org/officeDocument/2006/relationships/image" Target="../media/image395.png"/><Relationship Id="rId5" Type="http://schemas.openxmlformats.org/officeDocument/2006/relationships/image" Target="../media/image396.png"/><Relationship Id="rId6" Type="http://schemas.openxmlformats.org/officeDocument/2006/relationships/image" Target="../media/image397.png"/><Relationship Id="rId7" Type="http://schemas.openxmlformats.org/officeDocument/2006/relationships/image" Target="../media/image398.png"/><Relationship Id="rId8" Type="http://schemas.openxmlformats.org/officeDocument/2006/relationships/image" Target="../media/image399.png"/><Relationship Id="rId9" Type="http://schemas.openxmlformats.org/officeDocument/2006/relationships/image" Target="../media/image400.png"/><Relationship Id="rId10" Type="http://schemas.openxmlformats.org/officeDocument/2006/relationships/image" Target="../media/image401.png"/><Relationship Id="rId11" Type="http://schemas.openxmlformats.org/officeDocument/2006/relationships/image" Target="../media/image402.png"/><Relationship Id="rId12" Type="http://schemas.openxmlformats.org/officeDocument/2006/relationships/image" Target="../media/image403.png"/><Relationship Id="rId13" Type="http://schemas.openxmlformats.org/officeDocument/2006/relationships/image" Target="../media/image404.png"/></Relationships>
</file>

<file path=ppt/charts/_rels/chart63.xml.rels><?xml version='1.0' encoding='UTF-8' standalone='yes'?>
<Relationships xmlns="http://schemas.openxmlformats.org/package/2006/relationships"><Relationship Id="rId2" Type="http://schemas.openxmlformats.org/officeDocument/2006/relationships/image" Target="../media/image405.png"/><Relationship Id="rId3" Type="http://schemas.openxmlformats.org/officeDocument/2006/relationships/image" Target="../media/image406.png"/><Relationship Id="rId4" Type="http://schemas.openxmlformats.org/officeDocument/2006/relationships/image" Target="../media/image407.png"/><Relationship Id="rId5" Type="http://schemas.openxmlformats.org/officeDocument/2006/relationships/image" Target="../media/image408.png"/><Relationship Id="rId6" Type="http://schemas.openxmlformats.org/officeDocument/2006/relationships/image" Target="../media/image409.png"/><Relationship Id="rId7" Type="http://schemas.openxmlformats.org/officeDocument/2006/relationships/image" Target="../media/image410.png"/></Relationships>
</file>

<file path=ppt/charts/_rels/chart64.xml.rels><?xml version='1.0' encoding='UTF-8' standalone='yes'?>
<Relationships xmlns="http://schemas.openxmlformats.org/package/2006/relationships"><Relationship Id="rId2" Type="http://schemas.openxmlformats.org/officeDocument/2006/relationships/image" Target="../media/image428.png"/><Relationship Id="rId3" Type="http://schemas.openxmlformats.org/officeDocument/2006/relationships/image" Target="../media/image429.png"/><Relationship Id="rId4" Type="http://schemas.openxmlformats.org/officeDocument/2006/relationships/image" Target="../media/image430.png"/><Relationship Id="rId5" Type="http://schemas.openxmlformats.org/officeDocument/2006/relationships/image" Target="../media/image431.png"/><Relationship Id="rId6" Type="http://schemas.openxmlformats.org/officeDocument/2006/relationships/image" Target="../media/image432.png"/><Relationship Id="rId7" Type="http://schemas.openxmlformats.org/officeDocument/2006/relationships/image" Target="../media/image433.png"/><Relationship Id="rId8" Type="http://schemas.openxmlformats.org/officeDocument/2006/relationships/image" Target="../media/image434.png"/><Relationship Id="rId9" Type="http://schemas.openxmlformats.org/officeDocument/2006/relationships/image" Target="../media/image435.png"/><Relationship Id="rId10" Type="http://schemas.openxmlformats.org/officeDocument/2006/relationships/image" Target="../media/image436.png"/><Relationship Id="rId11" Type="http://schemas.openxmlformats.org/officeDocument/2006/relationships/image" Target="../media/image437.png"/><Relationship Id="rId12" Type="http://schemas.openxmlformats.org/officeDocument/2006/relationships/image" Target="../media/image438.png"/><Relationship Id="rId13" Type="http://schemas.openxmlformats.org/officeDocument/2006/relationships/image" Target="../media/image439.png"/><Relationship Id="rId14" Type="http://schemas.openxmlformats.org/officeDocument/2006/relationships/image" Target="../media/image440.png"/><Relationship Id="rId15" Type="http://schemas.openxmlformats.org/officeDocument/2006/relationships/image" Target="../media/image441.png"/><Relationship Id="rId16" Type="http://schemas.openxmlformats.org/officeDocument/2006/relationships/image" Target="../media/image442.png"/><Relationship Id="rId17" Type="http://schemas.openxmlformats.org/officeDocument/2006/relationships/image" Target="../media/image443.png"/><Relationship Id="rId18" Type="http://schemas.openxmlformats.org/officeDocument/2006/relationships/image" Target="../media/image444.png"/><Relationship Id="rId19" Type="http://schemas.openxmlformats.org/officeDocument/2006/relationships/image" Target="../media/image445.png"/><Relationship Id="rId20" Type="http://schemas.openxmlformats.org/officeDocument/2006/relationships/image" Target="../media/image446.png"/><Relationship Id="rId21" Type="http://schemas.openxmlformats.org/officeDocument/2006/relationships/image" Target="../media/image447.png"/><Relationship Id="rId22" Type="http://schemas.openxmlformats.org/officeDocument/2006/relationships/image" Target="../media/image448.png"/><Relationship Id="rId23" Type="http://schemas.openxmlformats.org/officeDocument/2006/relationships/image" Target="../media/image449.png"/><Relationship Id="rId24" Type="http://schemas.openxmlformats.org/officeDocument/2006/relationships/image" Target="../media/image450.png"/><Relationship Id="rId25" Type="http://schemas.openxmlformats.org/officeDocument/2006/relationships/image" Target="../media/image451.png"/><Relationship Id="rId26" Type="http://schemas.openxmlformats.org/officeDocument/2006/relationships/image" Target="../media/image452.png"/><Relationship Id="rId27" Type="http://schemas.openxmlformats.org/officeDocument/2006/relationships/image" Target="../media/image453.png"/><Relationship Id="rId28" Type="http://schemas.openxmlformats.org/officeDocument/2006/relationships/image" Target="../media/image454.png"/><Relationship Id="rId29" Type="http://schemas.openxmlformats.org/officeDocument/2006/relationships/image" Target="../media/image455.png"/><Relationship Id="rId30" Type="http://schemas.openxmlformats.org/officeDocument/2006/relationships/image" Target="../media/image456.png"/><Relationship Id="rId31" Type="http://schemas.openxmlformats.org/officeDocument/2006/relationships/image" Target="../media/image457.png"/><Relationship Id="rId32" Type="http://schemas.openxmlformats.org/officeDocument/2006/relationships/image" Target="../media/image458.png"/><Relationship Id="rId33" Type="http://schemas.openxmlformats.org/officeDocument/2006/relationships/image" Target="../media/image459.png"/><Relationship Id="rId34" Type="http://schemas.openxmlformats.org/officeDocument/2006/relationships/image" Target="../media/image460.png"/><Relationship Id="rId35" Type="http://schemas.openxmlformats.org/officeDocument/2006/relationships/image" Target="../media/image461.png"/><Relationship Id="rId36" Type="http://schemas.openxmlformats.org/officeDocument/2006/relationships/image" Target="../media/image462.png"/></Relationships>
</file>

<file path=ppt/charts/_rels/chart72.xml.rels><?xml version='1.0' encoding='UTF-8' standalone='yes'?>
<Relationships xmlns="http://schemas.openxmlformats.org/package/2006/relationships"><Relationship Id="rId2" Type="http://schemas.openxmlformats.org/officeDocument/2006/relationships/image" Target="../media/image463.png"/><Relationship Id="rId3" Type="http://schemas.openxmlformats.org/officeDocument/2006/relationships/image" Target="../media/image464.png"/><Relationship Id="rId4" Type="http://schemas.openxmlformats.org/officeDocument/2006/relationships/image" Target="../media/image465.png"/><Relationship Id="rId5" Type="http://schemas.openxmlformats.org/officeDocument/2006/relationships/image" Target="../media/image466.png"/><Relationship Id="rId6" Type="http://schemas.openxmlformats.org/officeDocument/2006/relationships/image" Target="../media/image467.png"/><Relationship Id="rId7" Type="http://schemas.openxmlformats.org/officeDocument/2006/relationships/image" Target="../media/image468.png"/><Relationship Id="rId8" Type="http://schemas.openxmlformats.org/officeDocument/2006/relationships/image" Target="../media/image469.png"/><Relationship Id="rId9" Type="http://schemas.openxmlformats.org/officeDocument/2006/relationships/image" Target="../media/image470.png"/><Relationship Id="rId10" Type="http://schemas.openxmlformats.org/officeDocument/2006/relationships/image" Target="../media/image471.png"/><Relationship Id="rId11" Type="http://schemas.openxmlformats.org/officeDocument/2006/relationships/image" Target="../media/image472.png"/><Relationship Id="rId12" Type="http://schemas.openxmlformats.org/officeDocument/2006/relationships/image" Target="../media/image473.png"/><Relationship Id="rId13" Type="http://schemas.openxmlformats.org/officeDocument/2006/relationships/image" Target="../media/image474.png"/><Relationship Id="rId14" Type="http://schemas.openxmlformats.org/officeDocument/2006/relationships/image" Target="../media/image475.png"/><Relationship Id="rId15" Type="http://schemas.openxmlformats.org/officeDocument/2006/relationships/image" Target="../media/image476.png"/><Relationship Id="rId16" Type="http://schemas.openxmlformats.org/officeDocument/2006/relationships/image" Target="../media/image477.png"/><Relationship Id="rId17" Type="http://schemas.openxmlformats.org/officeDocument/2006/relationships/image" Target="../media/image478.png"/></Relationships>
</file>

<file path=ppt/charts/_rels/chart73.xml.rels><?xml version='1.0' encoding='UTF-8' standalone='yes'?>
<Relationships xmlns="http://schemas.openxmlformats.org/package/2006/relationships"><Relationship Id="rId2" Type="http://schemas.openxmlformats.org/officeDocument/2006/relationships/image" Target="../media/image488.png"/><Relationship Id="rId3" Type="http://schemas.openxmlformats.org/officeDocument/2006/relationships/image" Target="../media/image489.png"/><Relationship Id="rId4" Type="http://schemas.openxmlformats.org/officeDocument/2006/relationships/image" Target="../media/image490.png"/><Relationship Id="rId5" Type="http://schemas.openxmlformats.org/officeDocument/2006/relationships/image" Target="../media/image491.png"/><Relationship Id="rId6" Type="http://schemas.openxmlformats.org/officeDocument/2006/relationships/image" Target="../media/image492.png"/><Relationship Id="rId7" Type="http://schemas.openxmlformats.org/officeDocument/2006/relationships/image" Target="../media/image493.png"/><Relationship Id="rId8" Type="http://schemas.openxmlformats.org/officeDocument/2006/relationships/image" Target="../media/image494.png"/><Relationship Id="rId9" Type="http://schemas.openxmlformats.org/officeDocument/2006/relationships/image" Target="../media/image495.png"/><Relationship Id="rId10" Type="http://schemas.openxmlformats.org/officeDocument/2006/relationships/image" Target="../media/image496.png"/><Relationship Id="rId11" Type="http://schemas.openxmlformats.org/officeDocument/2006/relationships/image" Target="../media/image497.png"/><Relationship Id="rId12" Type="http://schemas.openxmlformats.org/officeDocument/2006/relationships/image" Target="../media/image498.png"/><Relationship Id="rId13" Type="http://schemas.openxmlformats.org/officeDocument/2006/relationships/image" Target="../media/image499.png"/><Relationship Id="rId14" Type="http://schemas.openxmlformats.org/officeDocument/2006/relationships/image" Target="../media/image500.png"/><Relationship Id="rId15" Type="http://schemas.openxmlformats.org/officeDocument/2006/relationships/image" Target="../media/image501.png"/><Relationship Id="rId16" Type="http://schemas.openxmlformats.org/officeDocument/2006/relationships/image" Target="../media/image502.png"/><Relationship Id="rId17" Type="http://schemas.openxmlformats.org/officeDocument/2006/relationships/image" Target="../media/image503.png"/><Relationship Id="rId18" Type="http://schemas.openxmlformats.org/officeDocument/2006/relationships/image" Target="../media/image504.png"/><Relationship Id="rId19" Type="http://schemas.openxmlformats.org/officeDocument/2006/relationships/image" Target="../media/image505.png"/><Relationship Id="rId20" Type="http://schemas.openxmlformats.org/officeDocument/2006/relationships/image" Target="../media/image506.png"/><Relationship Id="rId21" Type="http://schemas.openxmlformats.org/officeDocument/2006/relationships/image" Target="../media/image507.png"/><Relationship Id="rId22" Type="http://schemas.openxmlformats.org/officeDocument/2006/relationships/image" Target="../media/image508.png"/><Relationship Id="rId23" Type="http://schemas.openxmlformats.org/officeDocument/2006/relationships/image" Target="../media/image509.png"/></Relationships>
</file>

<file path=ppt/charts/_rels/chart79.xml.rels><?xml version='1.0' encoding='UTF-8' standalone='yes'?>
<Relationships xmlns="http://schemas.openxmlformats.org/package/2006/relationships"><Relationship Id="rId2" Type="http://schemas.openxmlformats.org/officeDocument/2006/relationships/image" Target="../media/image510.png"/><Relationship Id="rId3" Type="http://schemas.openxmlformats.org/officeDocument/2006/relationships/image" Target="../media/image511.png"/><Relationship Id="rId4" Type="http://schemas.openxmlformats.org/officeDocument/2006/relationships/image" Target="../media/image512.png"/><Relationship Id="rId5" Type="http://schemas.openxmlformats.org/officeDocument/2006/relationships/image" Target="../media/image513.png"/><Relationship Id="rId6" Type="http://schemas.openxmlformats.org/officeDocument/2006/relationships/image" Target="../media/image514.png"/><Relationship Id="rId7" Type="http://schemas.openxmlformats.org/officeDocument/2006/relationships/image" Target="../media/image515.png"/><Relationship Id="rId8" Type="http://schemas.openxmlformats.org/officeDocument/2006/relationships/image" Target="../media/image516.png"/><Relationship Id="rId9" Type="http://schemas.openxmlformats.org/officeDocument/2006/relationships/image" Target="../media/image517.png"/><Relationship Id="rId10" Type="http://schemas.openxmlformats.org/officeDocument/2006/relationships/image" Target="../media/image518.png"/><Relationship Id="rId11" Type="http://schemas.openxmlformats.org/officeDocument/2006/relationships/image" Target="../media/image519.png"/></Relationships>
</file>

<file path=ppt/charts/_rels/chart80.xml.rels><?xml version='1.0' encoding='UTF-8' standalone='yes'?>
<Relationships xmlns="http://schemas.openxmlformats.org/package/2006/relationships"><Relationship Id="rId2" Type="http://schemas.openxmlformats.org/officeDocument/2006/relationships/image" Target="../media/image528.png"/><Relationship Id="rId3" Type="http://schemas.openxmlformats.org/officeDocument/2006/relationships/image" Target="../media/image529.png"/><Relationship Id="rId4" Type="http://schemas.openxmlformats.org/officeDocument/2006/relationships/image" Target="../media/image530.png"/><Relationship Id="rId5" Type="http://schemas.openxmlformats.org/officeDocument/2006/relationships/image" Target="../media/image531.png"/><Relationship Id="rId6" Type="http://schemas.openxmlformats.org/officeDocument/2006/relationships/image" Target="../media/image532.png"/><Relationship Id="rId7" Type="http://schemas.openxmlformats.org/officeDocument/2006/relationships/image" Target="../media/image533.png"/><Relationship Id="rId8" Type="http://schemas.openxmlformats.org/officeDocument/2006/relationships/image" Target="../media/image534.png"/><Relationship Id="rId9" Type="http://schemas.openxmlformats.org/officeDocument/2006/relationships/image" Target="../media/image535.png"/><Relationship Id="rId10" Type="http://schemas.openxmlformats.org/officeDocument/2006/relationships/image" Target="../media/image536.png"/><Relationship Id="rId11" Type="http://schemas.openxmlformats.org/officeDocument/2006/relationships/image" Target="../media/image537.png"/><Relationship Id="rId12" Type="http://schemas.openxmlformats.org/officeDocument/2006/relationships/image" Target="../media/image538.png"/><Relationship Id="rId13" Type="http://schemas.openxmlformats.org/officeDocument/2006/relationships/image" Target="../media/image539.png"/><Relationship Id="rId14" Type="http://schemas.openxmlformats.org/officeDocument/2006/relationships/image" Target="../media/image540.png"/><Relationship Id="rId15" Type="http://schemas.openxmlformats.org/officeDocument/2006/relationships/image" Target="../media/image541.png"/><Relationship Id="rId16" Type="http://schemas.openxmlformats.org/officeDocument/2006/relationships/image" Target="../media/image542.png"/><Relationship Id="rId17" Type="http://schemas.openxmlformats.org/officeDocument/2006/relationships/image" Target="../media/image543.png"/><Relationship Id="rId18" Type="http://schemas.openxmlformats.org/officeDocument/2006/relationships/image" Target="../media/image544.png"/><Relationship Id="rId19" Type="http://schemas.openxmlformats.org/officeDocument/2006/relationships/image" Target="../media/image545.png"/></Relationships>
</file>

<file path=ppt/charts/_rels/chart85.xml.rels><?xml version='1.0' encoding='UTF-8' standalone='yes'?>
<Relationships xmlns="http://schemas.openxmlformats.org/package/2006/relationships"><Relationship Id="rId2" Type="http://schemas.openxmlformats.org/officeDocument/2006/relationships/image" Target="../media/image546.png"/><Relationship Id="rId3" Type="http://schemas.openxmlformats.org/officeDocument/2006/relationships/image" Target="../media/image547.png"/><Relationship Id="rId4" Type="http://schemas.openxmlformats.org/officeDocument/2006/relationships/image" Target="../media/image548.png"/><Relationship Id="rId5" Type="http://schemas.openxmlformats.org/officeDocument/2006/relationships/image" Target="../media/image549.png"/><Relationship Id="rId6" Type="http://schemas.openxmlformats.org/officeDocument/2006/relationships/image" Target="../media/image550.png"/><Relationship Id="rId7" Type="http://schemas.openxmlformats.org/officeDocument/2006/relationships/image" Target="../media/image551.png"/><Relationship Id="rId8" Type="http://schemas.openxmlformats.org/officeDocument/2006/relationships/image" Target="../media/image552.png"/><Relationship Id="rId9" Type="http://schemas.openxmlformats.org/officeDocument/2006/relationships/image" Target="../media/image553.png"/><Relationship Id="rId10" Type="http://schemas.openxmlformats.org/officeDocument/2006/relationships/image" Target="../media/image554.png"/></Relationships>
</file>

<file path=ppt/charts/_rels/chart86.xml.rels><?xml version='1.0' encoding='UTF-8' standalone='yes'?>
<Relationships xmlns="http://schemas.openxmlformats.org/package/2006/relationships"><Relationship Id="rId2" Type="http://schemas.openxmlformats.org/officeDocument/2006/relationships/image" Target="../media/image565.png"/><Relationship Id="rId3" Type="http://schemas.openxmlformats.org/officeDocument/2006/relationships/image" Target="../media/image566.png"/><Relationship Id="rId4" Type="http://schemas.openxmlformats.org/officeDocument/2006/relationships/image" Target="../media/image567.png"/><Relationship Id="rId5" Type="http://schemas.openxmlformats.org/officeDocument/2006/relationships/image" Target="../media/image568.png"/><Relationship Id="rId6" Type="http://schemas.openxmlformats.org/officeDocument/2006/relationships/image" Target="../media/image569.png"/><Relationship Id="rId7" Type="http://schemas.openxmlformats.org/officeDocument/2006/relationships/image" Target="../media/image570.png"/><Relationship Id="rId8" Type="http://schemas.openxmlformats.org/officeDocument/2006/relationships/image" Target="../media/image571.png"/><Relationship Id="rId9" Type="http://schemas.openxmlformats.org/officeDocument/2006/relationships/image" Target="../media/image572.png"/><Relationship Id="rId10" Type="http://schemas.openxmlformats.org/officeDocument/2006/relationships/image" Target="../media/image573.png"/><Relationship Id="rId11" Type="http://schemas.openxmlformats.org/officeDocument/2006/relationships/image" Target="../media/image574.png"/><Relationship Id="rId12" Type="http://schemas.openxmlformats.org/officeDocument/2006/relationships/image" Target="../media/image575.png"/><Relationship Id="rId13" Type="http://schemas.openxmlformats.org/officeDocument/2006/relationships/image" Target="../media/image576.png"/><Relationship Id="rId14" Type="http://schemas.openxmlformats.org/officeDocument/2006/relationships/image" Target="../media/image577.png"/><Relationship Id="rId15" Type="http://schemas.openxmlformats.org/officeDocument/2006/relationships/image" Target="../media/image578.png"/><Relationship Id="rId16" Type="http://schemas.openxmlformats.org/officeDocument/2006/relationships/image" Target="../media/image579.png"/><Relationship Id="rId17" Type="http://schemas.openxmlformats.org/officeDocument/2006/relationships/image" Target="../media/image580.png"/><Relationship Id="rId18" Type="http://schemas.openxmlformats.org/officeDocument/2006/relationships/image" Target="../media/image581.png"/><Relationship Id="rId19" Type="http://schemas.openxmlformats.org/officeDocument/2006/relationships/image" Target="../media/image582.png"/><Relationship Id="rId20" Type="http://schemas.openxmlformats.org/officeDocument/2006/relationships/image" Target="../media/image583.png"/></Relationships>
</file>

<file path=ppt/charts/_rels/chart92.xml.rels><?xml version='1.0' encoding='UTF-8' standalone='yes'?>
<Relationships xmlns="http://schemas.openxmlformats.org/package/2006/relationships"><Relationship Id="rId2" Type="http://schemas.openxmlformats.org/officeDocument/2006/relationships/image" Target="../media/image584.png"/><Relationship Id="rId3" Type="http://schemas.openxmlformats.org/officeDocument/2006/relationships/image" Target="../media/image585.png"/><Relationship Id="rId4" Type="http://schemas.openxmlformats.org/officeDocument/2006/relationships/image" Target="../media/image586.png"/><Relationship Id="rId5" Type="http://schemas.openxmlformats.org/officeDocument/2006/relationships/image" Target="../media/image587.png"/><Relationship Id="rId6" Type="http://schemas.openxmlformats.org/officeDocument/2006/relationships/image" Target="../media/image588.png"/><Relationship Id="rId7" Type="http://schemas.openxmlformats.org/officeDocument/2006/relationships/image" Target="../media/image589.png"/><Relationship Id="rId8" Type="http://schemas.openxmlformats.org/officeDocument/2006/relationships/image" Target="../media/image590.png"/><Relationship Id="rId9" Type="http://schemas.openxmlformats.org/officeDocument/2006/relationships/image" Target="../media/image591.png"/><Relationship Id="rId10" Type="http://schemas.openxmlformats.org/officeDocument/2006/relationships/image" Target="../media/image592.png"/><Relationship Id="rId11" Type="http://schemas.openxmlformats.org/officeDocument/2006/relationships/image" Target="../media/image593.png"/><Relationship Id="rId12" Type="http://schemas.openxmlformats.org/officeDocument/2006/relationships/image" Target="../media/image594.png"/></Relationships>
</file>

<file path=ppt/charts/_rels/chart93.xml.rels><?xml version='1.0' encoding='UTF-8' standalone='yes'?>
<Relationships xmlns="http://schemas.openxmlformats.org/package/2006/relationships"><Relationship Id="rId2" Type="http://schemas.openxmlformats.org/officeDocument/2006/relationships/image" Target="../media/image605.png"/><Relationship Id="rId3" Type="http://schemas.openxmlformats.org/officeDocument/2006/relationships/image" Target="../media/image606.png"/><Relationship Id="rId4" Type="http://schemas.openxmlformats.org/officeDocument/2006/relationships/image" Target="../media/image607.png"/><Relationship Id="rId5" Type="http://schemas.openxmlformats.org/officeDocument/2006/relationships/image" Target="../media/image608.png"/><Relationship Id="rId6" Type="http://schemas.openxmlformats.org/officeDocument/2006/relationships/image" Target="../media/image609.png"/><Relationship Id="rId7" Type="http://schemas.openxmlformats.org/officeDocument/2006/relationships/image" Target="../media/image610.png"/><Relationship Id="rId8" Type="http://schemas.openxmlformats.org/officeDocument/2006/relationships/image" Target="../media/image611.png"/><Relationship Id="rId9" Type="http://schemas.openxmlformats.org/officeDocument/2006/relationships/image" Target="../media/image612.png"/><Relationship Id="rId10" Type="http://schemas.openxmlformats.org/officeDocument/2006/relationships/image" Target="../media/image613.png"/><Relationship Id="rId11" Type="http://schemas.openxmlformats.org/officeDocument/2006/relationships/image" Target="../media/image614.png"/><Relationship Id="rId12" Type="http://schemas.openxmlformats.org/officeDocument/2006/relationships/image" Target="../media/image615.png"/><Relationship Id="rId13" Type="http://schemas.openxmlformats.org/officeDocument/2006/relationships/image" Target="../media/image616.png"/><Relationship Id="rId14" Type="http://schemas.openxmlformats.org/officeDocument/2006/relationships/image" Target="../media/image617.png"/><Relationship Id="rId15" Type="http://schemas.openxmlformats.org/officeDocument/2006/relationships/image" Target="../media/image618.png"/><Relationship Id="rId16" Type="http://schemas.openxmlformats.org/officeDocument/2006/relationships/image" Target="../media/image619.png"/><Relationship Id="rId17" Type="http://schemas.openxmlformats.org/officeDocument/2006/relationships/image" Target="../media/image620.png"/><Relationship Id="rId18" Type="http://schemas.openxmlformats.org/officeDocument/2006/relationships/image" Target="../media/image621.png"/><Relationship Id="rId19" Type="http://schemas.openxmlformats.org/officeDocument/2006/relationships/image" Target="../media/image622.png"/><Relationship Id="rId20" Type="http://schemas.openxmlformats.org/officeDocument/2006/relationships/image" Target="../media/image623.png"/><Relationship Id="rId21" Type="http://schemas.openxmlformats.org/officeDocument/2006/relationships/image" Target="../media/image624.png"/><Relationship Id="rId22" Type="http://schemas.openxmlformats.org/officeDocument/2006/relationships/image" Target="../media/image625.png"/><Relationship Id="rId23" Type="http://schemas.openxmlformats.org/officeDocument/2006/relationships/image" Target="../media/image626.png"/><Relationship Id="rId24" Type="http://schemas.openxmlformats.org/officeDocument/2006/relationships/image" Target="../media/image627.png"/></Relationships>
</file>

<file path=ppt/charts/_rels/chart99.xml.rels><?xml version='1.0' encoding='UTF-8' standalone='yes'?>
<Relationships xmlns="http://schemas.openxmlformats.org/package/2006/relationships"><Relationship Id="rId2" Type="http://schemas.openxmlformats.org/officeDocument/2006/relationships/image" Target="../media/image628.png"/><Relationship Id="rId3" Type="http://schemas.openxmlformats.org/officeDocument/2006/relationships/image" Target="../media/image629.png"/><Relationship Id="rId4" Type="http://schemas.openxmlformats.org/officeDocument/2006/relationships/image" Target="../media/image630.png"/><Relationship Id="rId5" Type="http://schemas.openxmlformats.org/officeDocument/2006/relationships/image" Target="../media/image631.png"/><Relationship Id="rId6" Type="http://schemas.openxmlformats.org/officeDocument/2006/relationships/image" Target="../media/image632.png"/><Relationship Id="rId7" Type="http://schemas.openxmlformats.org/officeDocument/2006/relationships/image" Target="../media/image633.png"/><Relationship Id="rId8" Type="http://schemas.openxmlformats.org/officeDocument/2006/relationships/image" Target="../media/image634.png"/><Relationship Id="rId9" Type="http://schemas.openxmlformats.org/officeDocument/2006/relationships/image" Target="../media/image635.png"/><Relationship Id="rId10" Type="http://schemas.openxmlformats.org/officeDocument/2006/relationships/image" Target="../media/image636.png"/><Relationship Id="rId11" Type="http://schemas.openxmlformats.org/officeDocument/2006/relationships/image" Target="../media/image637.png"/><Relationship Id="rId12" Type="http://schemas.openxmlformats.org/officeDocument/2006/relationships/image" Target="../media/image638.png"/><Relationship Id="rId13" Type="http://schemas.openxmlformats.org/officeDocument/2006/relationships/image" Target="../media/image639.png"/></Relationships>
</file>

<file path=ppt/charts/_rels/chart100.xml.rels><?xml version='1.0' encoding='UTF-8' standalone='yes'?>
<Relationships xmlns="http://schemas.openxmlformats.org/package/2006/relationships"><Relationship Id="rId2" Type="http://schemas.openxmlformats.org/officeDocument/2006/relationships/image" Target="../media/image647.png"/><Relationship Id="rId3" Type="http://schemas.openxmlformats.org/officeDocument/2006/relationships/image" Target="../media/image648.png"/><Relationship Id="rId4" Type="http://schemas.openxmlformats.org/officeDocument/2006/relationships/image" Target="../media/image649.png"/><Relationship Id="rId5" Type="http://schemas.openxmlformats.org/officeDocument/2006/relationships/image" Target="../media/image650.png"/><Relationship Id="rId6" Type="http://schemas.openxmlformats.org/officeDocument/2006/relationships/image" Target="../media/image651.png"/><Relationship Id="rId7" Type="http://schemas.openxmlformats.org/officeDocument/2006/relationships/image" Target="../media/image652.png"/><Relationship Id="rId8" Type="http://schemas.openxmlformats.org/officeDocument/2006/relationships/image" Target="../media/image653.png"/><Relationship Id="rId9" Type="http://schemas.openxmlformats.org/officeDocument/2006/relationships/image" Target="../media/image654.png"/><Relationship Id="rId10" Type="http://schemas.openxmlformats.org/officeDocument/2006/relationships/image" Target="../media/image655.png"/><Relationship Id="rId11" Type="http://schemas.openxmlformats.org/officeDocument/2006/relationships/image" Target="../media/image656.png"/><Relationship Id="rId12" Type="http://schemas.openxmlformats.org/officeDocument/2006/relationships/image" Target="../media/image657.png"/><Relationship Id="rId13" Type="http://schemas.openxmlformats.org/officeDocument/2006/relationships/image" Target="../media/image658.png"/><Relationship Id="rId14" Type="http://schemas.openxmlformats.org/officeDocument/2006/relationships/image" Target="../media/image659.png"/><Relationship Id="rId15" Type="http://schemas.openxmlformats.org/officeDocument/2006/relationships/image" Target="../media/image660.png"/><Relationship Id="rId16" Type="http://schemas.openxmlformats.org/officeDocument/2006/relationships/image" Target="../media/image661.png"/><Relationship Id="rId17" Type="http://schemas.openxmlformats.org/officeDocument/2006/relationships/image" Target="../media/image662.png"/><Relationship Id="rId18" Type="http://schemas.openxmlformats.org/officeDocument/2006/relationships/image" Target="../media/image663.png"/><Relationship Id="rId19" Type="http://schemas.openxmlformats.org/officeDocument/2006/relationships/image" Target="../media/image664.png"/></Relationships>
</file>

<file path=ppt/charts/_rels/chart105.xml.rels><?xml version='1.0' encoding='UTF-8' standalone='yes'?>
<Relationships xmlns="http://schemas.openxmlformats.org/package/2006/relationships"><Relationship Id="rId2" Type="http://schemas.openxmlformats.org/officeDocument/2006/relationships/image" Target="../media/image665.png"/><Relationship Id="rId3" Type="http://schemas.openxmlformats.org/officeDocument/2006/relationships/image" Target="../media/image666.png"/><Relationship Id="rId4" Type="http://schemas.openxmlformats.org/officeDocument/2006/relationships/image" Target="../media/image667.png"/><Relationship Id="rId5" Type="http://schemas.openxmlformats.org/officeDocument/2006/relationships/image" Target="../media/image668.png"/><Relationship Id="rId6" Type="http://schemas.openxmlformats.org/officeDocument/2006/relationships/image" Target="../media/image669.png"/><Relationship Id="rId7" Type="http://schemas.openxmlformats.org/officeDocument/2006/relationships/image" Target="../media/image670.png"/><Relationship Id="rId8" Type="http://schemas.openxmlformats.org/officeDocument/2006/relationships/image" Target="../media/image671.png"/><Relationship Id="rId9" Type="http://schemas.openxmlformats.org/officeDocument/2006/relationships/image" Target="../media/image672.png"/><Relationship Id="rId10" Type="http://schemas.openxmlformats.org/officeDocument/2006/relationships/image" Target="../media/image673.png"/></Relationships>
</file>

<file path=ppt/charts/_rels/chart106.xml.rels><?xml version='1.0' encoding='UTF-8' standalone='yes'?>
<Relationships xmlns="http://schemas.openxmlformats.org/package/2006/relationships"><Relationship Id="rId2" Type="http://schemas.openxmlformats.org/officeDocument/2006/relationships/image" Target="../media/image678.png"/><Relationship Id="rId3" Type="http://schemas.openxmlformats.org/officeDocument/2006/relationships/image" Target="../media/image679.png"/><Relationship Id="rId4" Type="http://schemas.openxmlformats.org/officeDocument/2006/relationships/image" Target="../media/image680.png"/><Relationship Id="rId5" Type="http://schemas.openxmlformats.org/officeDocument/2006/relationships/image" Target="../media/image681.png"/><Relationship Id="rId6" Type="http://schemas.openxmlformats.org/officeDocument/2006/relationships/image" Target="../media/image682.png"/><Relationship Id="rId7" Type="http://schemas.openxmlformats.org/officeDocument/2006/relationships/image" Target="../media/image683.png"/><Relationship Id="rId8" Type="http://schemas.openxmlformats.org/officeDocument/2006/relationships/image" Target="../media/image684.png"/><Relationship Id="rId9" Type="http://schemas.openxmlformats.org/officeDocument/2006/relationships/image" Target="../media/image685.png"/><Relationship Id="rId10" Type="http://schemas.openxmlformats.org/officeDocument/2006/relationships/image" Target="../media/image686.png"/><Relationship Id="rId11" Type="http://schemas.openxmlformats.org/officeDocument/2006/relationships/image" Target="../media/image687.png"/><Relationship Id="rId12" Type="http://schemas.openxmlformats.org/officeDocument/2006/relationships/image" Target="../media/image688.png"/><Relationship Id="rId13" Type="http://schemas.openxmlformats.org/officeDocument/2006/relationships/image" Target="../media/image689.png"/></Relationships>
</file>

<file path=ppt/charts/_rels/chart110.xml.rels><?xml version='1.0' encoding='UTF-8' standalone='yes'?>
<Relationships xmlns="http://schemas.openxmlformats.org/package/2006/relationships"><Relationship Id="rId2" Type="http://schemas.openxmlformats.org/officeDocument/2006/relationships/image" Target="../media/image690.png"/><Relationship Id="rId3" Type="http://schemas.openxmlformats.org/officeDocument/2006/relationships/image" Target="../media/image691.png"/><Relationship Id="rId4" Type="http://schemas.openxmlformats.org/officeDocument/2006/relationships/image" Target="../media/image692.png"/><Relationship Id="rId5" Type="http://schemas.openxmlformats.org/officeDocument/2006/relationships/image" Target="../media/image693.png"/><Relationship Id="rId6" Type="http://schemas.openxmlformats.org/officeDocument/2006/relationships/image" Target="../media/image694.png"/><Relationship Id="rId7" Type="http://schemas.openxmlformats.org/officeDocument/2006/relationships/image" Target="../media/image695.png"/></Relationships>
</file>

<file path=ppt/charts/_rels/chart111.xml.rels><?xml version='1.0' encoding='UTF-8' standalone='yes'?>
<Relationships xmlns="http://schemas.openxmlformats.org/package/2006/relationships"><Relationship Id="rId2" Type="http://schemas.openxmlformats.org/officeDocument/2006/relationships/image" Target="../media/image708.png"/><Relationship Id="rId3" Type="http://schemas.openxmlformats.org/officeDocument/2006/relationships/image" Target="../media/image709.png"/><Relationship Id="rId4" Type="http://schemas.openxmlformats.org/officeDocument/2006/relationships/image" Target="../media/image710.png"/><Relationship Id="rId5" Type="http://schemas.openxmlformats.org/officeDocument/2006/relationships/image" Target="../media/image711.png"/><Relationship Id="rId6" Type="http://schemas.openxmlformats.org/officeDocument/2006/relationships/image" Target="../media/image712.png"/><Relationship Id="rId7" Type="http://schemas.openxmlformats.org/officeDocument/2006/relationships/image" Target="../media/image713.png"/><Relationship Id="rId8" Type="http://schemas.openxmlformats.org/officeDocument/2006/relationships/image" Target="../media/image714.png"/><Relationship Id="rId9" Type="http://schemas.openxmlformats.org/officeDocument/2006/relationships/image" Target="../media/image715.png"/><Relationship Id="rId10" Type="http://schemas.openxmlformats.org/officeDocument/2006/relationships/image" Target="../media/image716.png"/><Relationship Id="rId11" Type="http://schemas.openxmlformats.org/officeDocument/2006/relationships/image" Target="../media/image717.png"/><Relationship Id="rId12" Type="http://schemas.openxmlformats.org/officeDocument/2006/relationships/image" Target="../media/image718.png"/><Relationship Id="rId13" Type="http://schemas.openxmlformats.org/officeDocument/2006/relationships/image" Target="../media/image719.png"/><Relationship Id="rId14" Type="http://schemas.openxmlformats.org/officeDocument/2006/relationships/image" Target="../media/image720.png"/><Relationship Id="rId15" Type="http://schemas.openxmlformats.org/officeDocument/2006/relationships/image" Target="../media/image721.png"/><Relationship Id="rId16" Type="http://schemas.openxmlformats.org/officeDocument/2006/relationships/image" Target="../media/image722.png"/><Relationship Id="rId17" Type="http://schemas.openxmlformats.org/officeDocument/2006/relationships/image" Target="../media/image723.png"/><Relationship Id="rId18" Type="http://schemas.openxmlformats.org/officeDocument/2006/relationships/image" Target="../media/image724.png"/><Relationship Id="rId19" Type="http://schemas.openxmlformats.org/officeDocument/2006/relationships/image" Target="../media/image725.png"/><Relationship Id="rId20" Type="http://schemas.openxmlformats.org/officeDocument/2006/relationships/image" Target="../media/image726.png"/><Relationship Id="rId21" Type="http://schemas.openxmlformats.org/officeDocument/2006/relationships/image" Target="../media/image727.png"/><Relationship Id="rId22" Type="http://schemas.openxmlformats.org/officeDocument/2006/relationships/image" Target="../media/image728.png"/><Relationship Id="rId23" Type="http://schemas.openxmlformats.org/officeDocument/2006/relationships/image" Target="../media/image729.png"/><Relationship Id="rId24" Type="http://schemas.openxmlformats.org/officeDocument/2006/relationships/image" Target="../media/image730.png"/></Relationships>
</file>

<file path=ppt/charts/_rels/chart117.xml.rels><?xml version='1.0' encoding='UTF-8' standalone='yes'?>
<Relationships xmlns="http://schemas.openxmlformats.org/package/2006/relationships"><Relationship Id="rId2" Type="http://schemas.openxmlformats.org/officeDocument/2006/relationships/image" Target="../media/image731.png"/><Relationship Id="rId3" Type="http://schemas.openxmlformats.org/officeDocument/2006/relationships/image" Target="../media/image732.png"/><Relationship Id="rId4" Type="http://schemas.openxmlformats.org/officeDocument/2006/relationships/image" Target="../media/image733.png"/><Relationship Id="rId5" Type="http://schemas.openxmlformats.org/officeDocument/2006/relationships/image" Target="../media/image734.png"/><Relationship Id="rId6" Type="http://schemas.openxmlformats.org/officeDocument/2006/relationships/image" Target="../media/image735.png"/><Relationship Id="rId7" Type="http://schemas.openxmlformats.org/officeDocument/2006/relationships/image" Target="../media/image736.png"/><Relationship Id="rId8" Type="http://schemas.openxmlformats.org/officeDocument/2006/relationships/image" Target="../media/image737.png"/><Relationship Id="rId9" Type="http://schemas.openxmlformats.org/officeDocument/2006/relationships/image" Target="../media/image738.png"/><Relationship Id="rId10" Type="http://schemas.openxmlformats.org/officeDocument/2006/relationships/image" Target="../media/image739.png"/><Relationship Id="rId11" Type="http://schemas.openxmlformats.org/officeDocument/2006/relationships/image" Target="../media/image740.png"/><Relationship Id="rId12" Type="http://schemas.openxmlformats.org/officeDocument/2006/relationships/image" Target="../media/image741.png"/><Relationship Id="rId13" Type="http://schemas.openxmlformats.org/officeDocument/2006/relationships/image" Target="../media/image742.png"/></Relationships>
</file>

<file path=ppt/charts/_rels/chart118.xml.rels><?xml version='1.0' encoding='UTF-8' standalone='yes'?>
<Relationships xmlns="http://schemas.openxmlformats.org/package/2006/relationships"><Relationship Id="rId2" Type="http://schemas.openxmlformats.org/officeDocument/2006/relationships/image" Target="../media/image749.png"/><Relationship Id="rId3" Type="http://schemas.openxmlformats.org/officeDocument/2006/relationships/image" Target="../media/image750.png"/><Relationship Id="rId4" Type="http://schemas.openxmlformats.org/officeDocument/2006/relationships/image" Target="../media/image751.png"/><Relationship Id="rId5" Type="http://schemas.openxmlformats.org/officeDocument/2006/relationships/image" Target="../media/image752.png"/><Relationship Id="rId6" Type="http://schemas.openxmlformats.org/officeDocument/2006/relationships/image" Target="../media/image753.png"/><Relationship Id="rId7" Type="http://schemas.openxmlformats.org/officeDocument/2006/relationships/image" Target="../media/image754.png"/><Relationship Id="rId8" Type="http://schemas.openxmlformats.org/officeDocument/2006/relationships/image" Target="../media/image755.png"/><Relationship Id="rId9" Type="http://schemas.openxmlformats.org/officeDocument/2006/relationships/image" Target="../media/image756.png"/><Relationship Id="rId10" Type="http://schemas.openxmlformats.org/officeDocument/2006/relationships/image" Target="../media/image757.png"/><Relationship Id="rId11" Type="http://schemas.openxmlformats.org/officeDocument/2006/relationships/image" Target="../media/image758.png"/><Relationship Id="rId12" Type="http://schemas.openxmlformats.org/officeDocument/2006/relationships/image" Target="../media/image759.png"/><Relationship Id="rId13" Type="http://schemas.openxmlformats.org/officeDocument/2006/relationships/image" Target="../media/image760.png"/><Relationship Id="rId14" Type="http://schemas.openxmlformats.org/officeDocument/2006/relationships/image" Target="../media/image761.png"/><Relationship Id="rId15" Type="http://schemas.openxmlformats.org/officeDocument/2006/relationships/image" Target="../media/image762.png"/><Relationship Id="rId16" Type="http://schemas.openxmlformats.org/officeDocument/2006/relationships/image" Target="../media/image763.png"/><Relationship Id="rId17" Type="http://schemas.openxmlformats.org/officeDocument/2006/relationships/image" Target="../media/image764.png"/><Relationship Id="rId18" Type="http://schemas.openxmlformats.org/officeDocument/2006/relationships/image" Target="../media/image765.png"/></Relationships>
</file>

<file path=ppt/charts/_rels/chart123.xml.rels><?xml version='1.0' encoding='UTF-8' standalone='yes'?>
<Relationships xmlns="http://schemas.openxmlformats.org/package/2006/relationships"><Relationship Id="rId2" Type="http://schemas.openxmlformats.org/officeDocument/2006/relationships/image" Target="../media/image766.png"/><Relationship Id="rId3" Type="http://schemas.openxmlformats.org/officeDocument/2006/relationships/image" Target="../media/image767.png"/><Relationship Id="rId4" Type="http://schemas.openxmlformats.org/officeDocument/2006/relationships/image" Target="../media/image768.png"/><Relationship Id="rId5" Type="http://schemas.openxmlformats.org/officeDocument/2006/relationships/image" Target="../media/image769.png"/><Relationship Id="rId6" Type="http://schemas.openxmlformats.org/officeDocument/2006/relationships/image" Target="../media/image770.png"/><Relationship Id="rId7" Type="http://schemas.openxmlformats.org/officeDocument/2006/relationships/image" Target="../media/image771.png"/><Relationship Id="rId8" Type="http://schemas.openxmlformats.org/officeDocument/2006/relationships/image" Target="../media/image772.png"/><Relationship Id="rId9" Type="http://schemas.openxmlformats.org/officeDocument/2006/relationships/image" Target="../media/image773.png"/><Relationship Id="rId10" Type="http://schemas.openxmlformats.org/officeDocument/2006/relationships/image" Target="../media/image774.png"/></Relationships>
</file>

<file path=ppt/charts/_rels/chart124.xml.rels><?xml version='1.0' encoding='UTF-8' standalone='yes'?>
<Relationships xmlns="http://schemas.openxmlformats.org/package/2006/relationships"><Relationship Id="rId2" Type="http://schemas.openxmlformats.org/officeDocument/2006/relationships/image" Target="../media/image782.png"/><Relationship Id="rId3" Type="http://schemas.openxmlformats.org/officeDocument/2006/relationships/image" Target="../media/image783.png"/><Relationship Id="rId4" Type="http://schemas.openxmlformats.org/officeDocument/2006/relationships/image" Target="../media/image784.png"/><Relationship Id="rId5" Type="http://schemas.openxmlformats.org/officeDocument/2006/relationships/image" Target="../media/image785.png"/><Relationship Id="rId6" Type="http://schemas.openxmlformats.org/officeDocument/2006/relationships/image" Target="../media/image786.png"/><Relationship Id="rId7" Type="http://schemas.openxmlformats.org/officeDocument/2006/relationships/image" Target="../media/image787.png"/><Relationship Id="rId8" Type="http://schemas.openxmlformats.org/officeDocument/2006/relationships/image" Target="../media/image788.png"/><Relationship Id="rId9" Type="http://schemas.openxmlformats.org/officeDocument/2006/relationships/image" Target="../media/image789.png"/><Relationship Id="rId10" Type="http://schemas.openxmlformats.org/officeDocument/2006/relationships/image" Target="../media/image790.png"/><Relationship Id="rId11" Type="http://schemas.openxmlformats.org/officeDocument/2006/relationships/image" Target="../media/image791.png"/><Relationship Id="rId12" Type="http://schemas.openxmlformats.org/officeDocument/2006/relationships/image" Target="../media/image792.png"/><Relationship Id="rId13" Type="http://schemas.openxmlformats.org/officeDocument/2006/relationships/image" Target="../media/image793.png"/><Relationship Id="rId14" Type="http://schemas.openxmlformats.org/officeDocument/2006/relationships/image" Target="../media/image794.png"/><Relationship Id="rId15" Type="http://schemas.openxmlformats.org/officeDocument/2006/relationships/image" Target="../media/image795.png"/><Relationship Id="rId16" Type="http://schemas.openxmlformats.org/officeDocument/2006/relationships/image" Target="../media/image796.png"/><Relationship Id="rId17" Type="http://schemas.openxmlformats.org/officeDocument/2006/relationships/image" Target="../media/image797.png"/></Relationships>
</file>

<file path=ppt/charts/_rels/chart129.xml.rels><?xml version='1.0' encoding='UTF-8' standalone='yes'?>
<Relationships xmlns="http://schemas.openxmlformats.org/package/2006/relationships"><Relationship Id="rId2" Type="http://schemas.openxmlformats.org/officeDocument/2006/relationships/image" Target="../media/image798.png"/><Relationship Id="rId3" Type="http://schemas.openxmlformats.org/officeDocument/2006/relationships/image" Target="../media/image799.png"/><Relationship Id="rId4" Type="http://schemas.openxmlformats.org/officeDocument/2006/relationships/image" Target="../media/image800.png"/><Relationship Id="rId5" Type="http://schemas.openxmlformats.org/officeDocument/2006/relationships/image" Target="../media/image801.png"/><Relationship Id="rId6" Type="http://schemas.openxmlformats.org/officeDocument/2006/relationships/image" Target="../media/image802.png"/><Relationship Id="rId7" Type="http://schemas.openxmlformats.org/officeDocument/2006/relationships/image" Target="../media/image803.png"/><Relationship Id="rId8" Type="http://schemas.openxmlformats.org/officeDocument/2006/relationships/image" Target="../media/image804.png"/><Relationship Id="rId9" Type="http://schemas.openxmlformats.org/officeDocument/2006/relationships/image" Target="../media/image805.png"/></Relationships>
</file>

<file path=ppt/charts/_rels/chart138.xml.rels><?xml version='1.0' encoding='UTF-8' standalone='yes'?>
<Relationships xmlns="http://schemas.openxmlformats.org/package/2006/relationships"><Relationship Id="rId2" Type="http://schemas.openxmlformats.org/officeDocument/2006/relationships/image" Target="../media/image806.png"/><Relationship Id="rId3" Type="http://schemas.openxmlformats.org/officeDocument/2006/relationships/image" Target="../media/image807.png"/><Relationship Id="rId4" Type="http://schemas.openxmlformats.org/officeDocument/2006/relationships/image" Target="../media/image808.png"/><Relationship Id="rId5" Type="http://schemas.openxmlformats.org/officeDocument/2006/relationships/image" Target="../media/image809.png"/><Relationship Id="rId6" Type="http://schemas.openxmlformats.org/officeDocument/2006/relationships/image" Target="../media/image810.png"/><Relationship Id="rId7" Type="http://schemas.openxmlformats.org/officeDocument/2006/relationships/image" Target="../media/image811.png"/><Relationship Id="rId8" Type="http://schemas.openxmlformats.org/officeDocument/2006/relationships/image" Target="../media/image812.png"/><Relationship Id="rId9" Type="http://schemas.openxmlformats.org/officeDocument/2006/relationships/image" Target="../media/image813.png"/><Relationship Id="rId10" Type="http://schemas.openxmlformats.org/officeDocument/2006/relationships/image" Target="../media/image814.png"/><Relationship Id="rId11" Type="http://schemas.openxmlformats.org/officeDocument/2006/relationships/image" Target="../media/image815.png"/></Relationships>
</file>

<file path=ppt/charts/_rels/chart139.xml.rels><?xml version='1.0' encoding='UTF-8' standalone='yes'?>
<Relationships xmlns="http://schemas.openxmlformats.org/package/2006/relationships"><Relationship Id="rId2" Type="http://schemas.openxmlformats.org/officeDocument/2006/relationships/image" Target="../media/image816.png"/><Relationship Id="rId3" Type="http://schemas.openxmlformats.org/officeDocument/2006/relationships/image" Target="../media/image817.png"/><Relationship Id="rId4" Type="http://schemas.openxmlformats.org/officeDocument/2006/relationships/image" Target="../media/image818.png"/><Relationship Id="rId5" Type="http://schemas.openxmlformats.org/officeDocument/2006/relationships/image" Target="../media/image819.png"/><Relationship Id="rId6" Type="http://schemas.openxmlformats.org/officeDocument/2006/relationships/image" Target="../media/image820.png"/><Relationship Id="rId7" Type="http://schemas.openxmlformats.org/officeDocument/2006/relationships/image" Target="../media/image821.png"/><Relationship Id="rId8" Type="http://schemas.openxmlformats.org/officeDocument/2006/relationships/image" Target="../media/image822.png"/><Relationship Id="rId9" Type="http://schemas.openxmlformats.org/officeDocument/2006/relationships/image" Target="../media/image823.png"/><Relationship Id="rId10" Type="http://schemas.openxmlformats.org/officeDocument/2006/relationships/image" Target="../media/image824.png"/><Relationship Id="rId11" Type="http://schemas.openxmlformats.org/officeDocument/2006/relationships/image" Target="../media/image825.png"/><Relationship Id="rId12" Type="http://schemas.openxmlformats.org/officeDocument/2006/relationships/image" Target="../media/image826.png"/></Relationships>
</file>

<file path=ppt/charts/_rels/chart140.xml.rels><?xml version='1.0' encoding='UTF-8' standalone='yes'?>
<Relationships xmlns="http://schemas.openxmlformats.org/package/2006/relationships"><Relationship Id="rId2" Type="http://schemas.openxmlformats.org/officeDocument/2006/relationships/image" Target="../media/image827.png"/><Relationship Id="rId3" Type="http://schemas.openxmlformats.org/officeDocument/2006/relationships/image" Target="../media/image828.png"/><Relationship Id="rId4" Type="http://schemas.openxmlformats.org/officeDocument/2006/relationships/image" Target="../media/image829.png"/><Relationship Id="rId5" Type="http://schemas.openxmlformats.org/officeDocument/2006/relationships/image" Target="../media/image830.png"/><Relationship Id="rId6" Type="http://schemas.openxmlformats.org/officeDocument/2006/relationships/image" Target="../media/image831.png"/><Relationship Id="rId7" Type="http://schemas.openxmlformats.org/officeDocument/2006/relationships/image" Target="../media/image832.png"/><Relationship Id="rId8" Type="http://schemas.openxmlformats.org/officeDocument/2006/relationships/image" Target="../media/image833.png"/><Relationship Id="rId9" Type="http://schemas.openxmlformats.org/officeDocument/2006/relationships/image" Target="../media/image834.png"/><Relationship Id="rId10" Type="http://schemas.openxmlformats.org/officeDocument/2006/relationships/image" Target="../media/image835.png"/><Relationship Id="rId11" Type="http://schemas.openxmlformats.org/officeDocument/2006/relationships/image" Target="../media/image836.png"/></Relationships>
</file>

<file path=ppt/charts/_rels/chart141.xml.rels><?xml version='1.0' encoding='UTF-8' standalone='yes'?>
<Relationships xmlns="http://schemas.openxmlformats.org/package/2006/relationships"><Relationship Id="rId2" Type="http://schemas.openxmlformats.org/officeDocument/2006/relationships/image" Target="../media/image837.png"/><Relationship Id="rId3" Type="http://schemas.openxmlformats.org/officeDocument/2006/relationships/image" Target="../media/image838.png"/><Relationship Id="rId4" Type="http://schemas.openxmlformats.org/officeDocument/2006/relationships/image" Target="../media/image839.png"/><Relationship Id="rId5" Type="http://schemas.openxmlformats.org/officeDocument/2006/relationships/image" Target="../media/image840.png"/><Relationship Id="rId6" Type="http://schemas.openxmlformats.org/officeDocument/2006/relationships/image" Target="../media/image841.png"/><Relationship Id="rId7" Type="http://schemas.openxmlformats.org/officeDocument/2006/relationships/image" Target="../media/image842.png"/><Relationship Id="rId8" Type="http://schemas.openxmlformats.org/officeDocument/2006/relationships/image" Target="../media/image843.png"/><Relationship Id="rId9" Type="http://schemas.openxmlformats.org/officeDocument/2006/relationships/image" Target="../media/image844.png"/><Relationship Id="rId10" Type="http://schemas.openxmlformats.org/officeDocument/2006/relationships/image" Target="../media/image845.png"/><Relationship Id="rId11" Type="http://schemas.openxmlformats.org/officeDocument/2006/relationships/image" Target="../media/image846.png"/></Relationships>
</file>

<file path=ppt/charts/_rels/chart142.xml.rels><?xml version='1.0' encoding='UTF-8' standalone='yes'?>
<Relationships xmlns="http://schemas.openxmlformats.org/package/2006/relationships"><Relationship Id="rId2" Type="http://schemas.openxmlformats.org/officeDocument/2006/relationships/image" Target="../media/image847.png"/><Relationship Id="rId3" Type="http://schemas.openxmlformats.org/officeDocument/2006/relationships/image" Target="../media/image848.png"/><Relationship Id="rId4" Type="http://schemas.openxmlformats.org/officeDocument/2006/relationships/image" Target="../media/image849.png"/><Relationship Id="rId5" Type="http://schemas.openxmlformats.org/officeDocument/2006/relationships/image" Target="../media/image850.png"/><Relationship Id="rId6" Type="http://schemas.openxmlformats.org/officeDocument/2006/relationships/image" Target="../media/image851.png"/><Relationship Id="rId7" Type="http://schemas.openxmlformats.org/officeDocument/2006/relationships/image" Target="../media/image852.png"/><Relationship Id="rId8" Type="http://schemas.openxmlformats.org/officeDocument/2006/relationships/image" Target="../media/image853.png"/><Relationship Id="rId9" Type="http://schemas.openxmlformats.org/officeDocument/2006/relationships/image" Target="../media/image854.png"/><Relationship Id="rId10" Type="http://schemas.openxmlformats.org/officeDocument/2006/relationships/image" Target="../media/image855.png"/></Relationships>
</file>

<file path=ppt/charts/_rels/chart143.xml.rels><?xml version='1.0' encoding='UTF-8' standalone='yes'?>
<Relationships xmlns="http://schemas.openxmlformats.org/package/2006/relationships"><Relationship Id="rId2" Type="http://schemas.openxmlformats.org/officeDocument/2006/relationships/image" Target="../media/image856.png"/><Relationship Id="rId3" Type="http://schemas.openxmlformats.org/officeDocument/2006/relationships/image" Target="../media/image857.png"/><Relationship Id="rId4" Type="http://schemas.openxmlformats.org/officeDocument/2006/relationships/image" Target="../media/image858.png"/><Relationship Id="rId5" Type="http://schemas.openxmlformats.org/officeDocument/2006/relationships/image" Target="../media/image859.png"/><Relationship Id="rId6" Type="http://schemas.openxmlformats.org/officeDocument/2006/relationships/image" Target="../media/image860.png"/><Relationship Id="rId7" Type="http://schemas.openxmlformats.org/officeDocument/2006/relationships/image" Target="../media/image861.png"/><Relationship Id="rId8" Type="http://schemas.openxmlformats.org/officeDocument/2006/relationships/image" Target="../media/image862.png"/><Relationship Id="rId9" Type="http://schemas.openxmlformats.org/officeDocument/2006/relationships/image" Target="../media/image863.png"/><Relationship Id="rId10" Type="http://schemas.openxmlformats.org/officeDocument/2006/relationships/image" Target="../media/image864.png"/><Relationship Id="rId11" Type="http://schemas.openxmlformats.org/officeDocument/2006/relationships/image" Target="../media/image865.png"/><Relationship Id="rId12" Type="http://schemas.openxmlformats.org/officeDocument/2006/relationships/image" Target="../media/image866.png"/></Relationships>
</file>

<file path=ppt/charts/_rels/chart144.xml.rels><?xml version='1.0' encoding='UTF-8' standalone='yes'?>
<Relationships xmlns="http://schemas.openxmlformats.org/package/2006/relationships"><Relationship Id="rId2" Type="http://schemas.openxmlformats.org/officeDocument/2006/relationships/image" Target="../media/image867.png"/></Relationships>
</file>

<file path=ppt/charts/_rels/chart145.xml.rels><?xml version='1.0' encoding='UTF-8' standalone='yes'?>
<Relationships xmlns="http://schemas.openxmlformats.org/package/2006/relationships"><Relationship Id="rId2" Type="http://schemas.openxmlformats.org/officeDocument/2006/relationships/image" Target="../media/image868.png"/><Relationship Id="rId3" Type="http://schemas.openxmlformats.org/officeDocument/2006/relationships/image" Target="../media/image869.png"/><Relationship Id="rId4" Type="http://schemas.openxmlformats.org/officeDocument/2006/relationships/image" Target="../media/image870.png"/><Relationship Id="rId5" Type="http://schemas.openxmlformats.org/officeDocument/2006/relationships/image" Target="../media/image871.png"/><Relationship Id="rId6" Type="http://schemas.openxmlformats.org/officeDocument/2006/relationships/image" Target="../media/image872.png"/></Relationships>
</file>

<file path=ppt/charts/_rels/chart146.xml.rels><?xml version='1.0' encoding='UTF-8' standalone='yes'?>
<Relationships xmlns="http://schemas.openxmlformats.org/package/2006/relationships"><Relationship Id="rId2" Type="http://schemas.openxmlformats.org/officeDocument/2006/relationships/image" Target="../media/image873.png"/><Relationship Id="rId3" Type="http://schemas.openxmlformats.org/officeDocument/2006/relationships/image" Target="../media/image874.png"/></Relationships>
</file>

<file path=ppt/charts/_rels/chart147.xml.rels><?xml version='1.0' encoding='UTF-8' standalone='yes'?>
<Relationships xmlns="http://schemas.openxmlformats.org/package/2006/relationships"><Relationship Id="rId2" Type="http://schemas.openxmlformats.org/officeDocument/2006/relationships/image" Target="../media/image875.png"/><Relationship Id="rId3" Type="http://schemas.openxmlformats.org/officeDocument/2006/relationships/image" Target="../media/image876.png"/><Relationship Id="rId4" Type="http://schemas.openxmlformats.org/officeDocument/2006/relationships/image" Target="../media/image877.png"/><Relationship Id="rId5" Type="http://schemas.openxmlformats.org/officeDocument/2006/relationships/image" Target="../media/image878.png"/><Relationship Id="rId6" Type="http://schemas.openxmlformats.org/officeDocument/2006/relationships/image" Target="../media/image879.png"/><Relationship Id="rId7" Type="http://schemas.openxmlformats.org/officeDocument/2006/relationships/image" Target="../media/image880.png"/><Relationship Id="rId8" Type="http://schemas.openxmlformats.org/officeDocument/2006/relationships/image" Target="../media/image881.png"/><Relationship Id="rId9" Type="http://schemas.openxmlformats.org/officeDocument/2006/relationships/image" Target="../media/image882.png"/><Relationship Id="rId10" Type="http://schemas.openxmlformats.org/officeDocument/2006/relationships/image" Target="../media/image883.png"/><Relationship Id="rId11" Type="http://schemas.openxmlformats.org/officeDocument/2006/relationships/image" Target="../media/image884.png"/></Relationships>
</file>

<file path=ppt/charts/_rels/chart148.xml.rels><?xml version='1.0' encoding='UTF-8' standalone='yes'?>
<Relationships xmlns="http://schemas.openxmlformats.org/package/2006/relationships"><Relationship Id="rId2" Type="http://schemas.openxmlformats.org/officeDocument/2006/relationships/image" Target="../media/image885.png"/></Relationships>
</file>

<file path=ppt/charts/_rels/chart149.xml.rels><?xml version='1.0' encoding='UTF-8' standalone='yes'?>
<Relationships xmlns="http://schemas.openxmlformats.org/package/2006/relationships"><Relationship Id="rId2" Type="http://schemas.openxmlformats.org/officeDocument/2006/relationships/image" Target="../media/image886.png"/><Relationship Id="rId3" Type="http://schemas.openxmlformats.org/officeDocument/2006/relationships/image" Target="../media/image887.png"/><Relationship Id="rId4" Type="http://schemas.openxmlformats.org/officeDocument/2006/relationships/image" Target="../media/image888.png"/><Relationship Id="rId5" Type="http://schemas.openxmlformats.org/officeDocument/2006/relationships/image" Target="../media/image889.png"/><Relationship Id="rId6" Type="http://schemas.openxmlformats.org/officeDocument/2006/relationships/image" Target="../media/image890.png"/></Relationships>
</file>

<file path=ppt/charts/_rels/chart150.xml.rels><?xml version='1.0' encoding='UTF-8' standalone='yes'?>
<Relationships xmlns="http://schemas.openxmlformats.org/package/2006/relationships"><Relationship Id="rId2" Type="http://schemas.openxmlformats.org/officeDocument/2006/relationships/image" Target="../media/image891.png"/><Relationship Id="rId3" Type="http://schemas.openxmlformats.org/officeDocument/2006/relationships/image" Target="../media/image892.png"/></Relationships>
</file>

<file path=ppt/charts/_rels/chart151.xml.rels><?xml version='1.0' encoding='UTF-8' standalone='yes'?>
<Relationships xmlns="http://schemas.openxmlformats.org/package/2006/relationships"><Relationship Id="rId2" Type="http://schemas.openxmlformats.org/officeDocument/2006/relationships/image" Target="../media/image893.png"/><Relationship Id="rId3" Type="http://schemas.openxmlformats.org/officeDocument/2006/relationships/image" Target="../media/image894.png"/><Relationship Id="rId4" Type="http://schemas.openxmlformats.org/officeDocument/2006/relationships/image" Target="../media/image895.png"/><Relationship Id="rId5" Type="http://schemas.openxmlformats.org/officeDocument/2006/relationships/image" Target="../media/image896.png"/><Relationship Id="rId6" Type="http://schemas.openxmlformats.org/officeDocument/2006/relationships/image" Target="../media/image897.png"/><Relationship Id="rId7" Type="http://schemas.openxmlformats.org/officeDocument/2006/relationships/image" Target="../media/image898.png"/><Relationship Id="rId8" Type="http://schemas.openxmlformats.org/officeDocument/2006/relationships/image" Target="../media/image899.png"/><Relationship Id="rId9" Type="http://schemas.openxmlformats.org/officeDocument/2006/relationships/image" Target="../media/image900.png"/><Relationship Id="rId10" Type="http://schemas.openxmlformats.org/officeDocument/2006/relationships/image" Target="../media/image901.png"/><Relationship Id="rId11" Type="http://schemas.openxmlformats.org/officeDocument/2006/relationships/image" Target="../media/image902.png"/></Relationships>
</file>

<file path=ppt/charts/_rels/chart152.xml.rels><?xml version='1.0' encoding='UTF-8' standalone='yes'?>
<Relationships xmlns="http://schemas.openxmlformats.org/package/2006/relationships"><Relationship Id="rId2" Type="http://schemas.openxmlformats.org/officeDocument/2006/relationships/image" Target="../media/image903.png"/></Relationships>
</file>

<file path=ppt/charts/_rels/chart153.xml.rels><?xml version='1.0' encoding='UTF-8' standalone='yes'?>
<Relationships xmlns="http://schemas.openxmlformats.org/package/2006/relationships"><Relationship Id="rId2" Type="http://schemas.openxmlformats.org/officeDocument/2006/relationships/image" Target="../media/image904.png"/><Relationship Id="rId3" Type="http://schemas.openxmlformats.org/officeDocument/2006/relationships/image" Target="../media/image905.png"/><Relationship Id="rId4" Type="http://schemas.openxmlformats.org/officeDocument/2006/relationships/image" Target="../media/image906.png"/><Relationship Id="rId5" Type="http://schemas.openxmlformats.org/officeDocument/2006/relationships/image" Target="../media/image907.png"/><Relationship Id="rId6" Type="http://schemas.openxmlformats.org/officeDocument/2006/relationships/image" Target="../media/image908.png"/></Relationships>
</file>

<file path=ppt/charts/_rels/chart154.xml.rels><?xml version='1.0' encoding='UTF-8' standalone='yes'?>
<Relationships xmlns="http://schemas.openxmlformats.org/package/2006/relationships"><Relationship Id="rId2" Type="http://schemas.openxmlformats.org/officeDocument/2006/relationships/image" Target="../media/image909.png"/><Relationship Id="rId3" Type="http://schemas.openxmlformats.org/officeDocument/2006/relationships/image" Target="../media/image910.png"/></Relationships>
</file>

<file path=ppt/charts/_rels/chart155.xml.rels><?xml version='1.0' encoding='UTF-8' standalone='yes'?>
<Relationships xmlns="http://schemas.openxmlformats.org/package/2006/relationships"><Relationship Id="rId2" Type="http://schemas.openxmlformats.org/officeDocument/2006/relationships/image" Target="../media/image911.png"/><Relationship Id="rId3" Type="http://schemas.openxmlformats.org/officeDocument/2006/relationships/image" Target="../media/image912.png"/><Relationship Id="rId4" Type="http://schemas.openxmlformats.org/officeDocument/2006/relationships/image" Target="../media/image913.png"/><Relationship Id="rId5" Type="http://schemas.openxmlformats.org/officeDocument/2006/relationships/image" Target="../media/image914.png"/><Relationship Id="rId6" Type="http://schemas.openxmlformats.org/officeDocument/2006/relationships/image" Target="../media/image915.png"/><Relationship Id="rId7" Type="http://schemas.openxmlformats.org/officeDocument/2006/relationships/image" Target="../media/image916.png"/><Relationship Id="rId8" Type="http://schemas.openxmlformats.org/officeDocument/2006/relationships/image" Target="../media/image917.png"/><Relationship Id="rId9" Type="http://schemas.openxmlformats.org/officeDocument/2006/relationships/image" Target="../media/image918.png"/><Relationship Id="rId10" Type="http://schemas.openxmlformats.org/officeDocument/2006/relationships/image" Target="../media/image919.png"/><Relationship Id="rId11" Type="http://schemas.openxmlformats.org/officeDocument/2006/relationships/image" Target="../media/image920.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3.3257257001855445</c:v>
                </c:pt>
                <c:pt idx="1">
                  <c:v>4.198811629149746</c:v>
                </c:pt>
                <c:pt idx="2">
                  <c:v>3.9069663342705896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54243135047766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2240013.0409999997</c:v>
                </c:pt>
                <c:pt idx="2">
                  <c:v>0.0</c:v>
                </c:pt>
                <c:pt idx="3">
                  <c:v>2638109.8030000003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2240013.0409999997</c:v>
                </c:pt>
                <c:pt idx="1">
                  <c:v>398096.76200000057</c:v>
                </c:pt>
                <c:pt idx="2">
                  <c:v>2638109.8030000003</c:v>
                </c:pt>
                <c:pt idx="3">
                  <c:v>1342233.46</c:v>
                </c:pt>
                <c:pt idx="4">
                  <c:v>3980343.2630000003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4.1136781538467115</c:v>
                </c:pt>
                <c:pt idx="1">
                  <c:v>4.9944145569506215</c:v>
                </c:pt>
                <c:pt idx="2">
                  <c:v>4.700011022228323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926272151748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8910.202</c:v>
                </c:pt>
                <c:pt idx="2">
                  <c:v>0.0</c:v>
                </c:pt>
                <c:pt idx="3">
                  <c:v>10900.0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8910.202</c:v>
                </c:pt>
                <c:pt idx="1">
                  <c:v>1989.7980000000007</c:v>
                </c:pt>
                <c:pt idx="2">
                  <c:v>10900.0</c:v>
                </c:pt>
                <c:pt idx="3">
                  <c:v>6845.508999999998</c:v>
                </c:pt>
                <c:pt idx="4">
                  <c:v>17745.509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quot;;&quot;MMMMMMMM&quot;;&quot;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quot;;&quot;MMMMMMMM&quot;;&quot;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8910.202</c:v>
                </c:pt>
                <c:pt idx="1">
                  <c:v>9274.852</c:v>
                </c:pt>
                <c:pt idx="2">
                  <c:v>9655.396999999999</c:v>
                </c:pt>
                <c:pt idx="3">
                  <c:v>10052.589</c:v>
                </c:pt>
                <c:pt idx="4">
                  <c:v>10467.184000000001</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2240013.0409999997</c:v>
                </c:pt>
                <c:pt idx="1">
                  <c:v>2314048.926</c:v>
                </c:pt>
                <c:pt idx="2">
                  <c:v>2390768.506</c:v>
                </c:pt>
                <c:pt idx="3">
                  <c:v>2470277.571</c:v>
                </c:pt>
                <c:pt idx="4">
                  <c:v>2552686.3710000003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35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3528517"/>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M&quot;;&quot;MMMMMMMM&quot;;&quot;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quot;;&quot;MMMMMMMM&quot;;&quot;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quot;;&quot;MMMMMMMM&quot;;&quot;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quot;;&quot;MMMMMMMM&quot;;&quot;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quot;;&quot;MMMMMMMM&quot;;&quot;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quot;;&quot;MMMMMMMM&quot;;&quot;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quot;;&quot;MMMMMMMM&quot;;&quot;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quot;;&quot;MMMMMMMM&quot;;&quot;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quot;;&quot;MMMMMMMM&quot;;&quot;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quot;;&quot;MMMMMMMM&quot;;&quot;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quot;;&quot;MMMMMMMM&quot;;&quot;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10900.0</c:v>
                </c:pt>
                <c:pt idx="1">
                  <c:v>11439.086</c:v>
                </c:pt>
                <c:pt idx="2">
                  <c:v>12006.056</c:v>
                </c:pt>
                <c:pt idx="3">
                  <c:v>12602.421999999999</c:v>
                </c:pt>
                <c:pt idx="4">
                  <c:v>13229.767</c:v>
                </c:pt>
                <c:pt idx="5">
                  <c:v>13889.776999999998</c:v>
                </c:pt>
                <c:pt idx="6">
                  <c:v>14584.228</c:v>
                </c:pt>
                <c:pt idx="7">
                  <c:v>15314.991000000002</c:v>
                </c:pt>
                <c:pt idx="8">
                  <c:v>16084.041000000001</c:v>
                </c:pt>
                <c:pt idx="9">
                  <c:v>16893.478</c:v>
                </c:pt>
                <c:pt idx="10">
                  <c:v>17745.509</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2638109.8030000003</c:v>
                </c:pt>
                <c:pt idx="1">
                  <c:v>2747625.829</c:v>
                </c:pt>
                <c:pt idx="2">
                  <c:v>2861974.708</c:v>
                </c:pt>
                <c:pt idx="3">
                  <c:v>2981382.3720000004</c:v>
                </c:pt>
                <c:pt idx="4">
                  <c:v>3106085.876</c:v>
                </c:pt>
                <c:pt idx="5">
                  <c:v>3236333.938</c:v>
                </c:pt>
                <c:pt idx="6">
                  <c:v>3372387.5530000003</c:v>
                </c:pt>
                <c:pt idx="7">
                  <c:v>3514520.619</c:v>
                </c:pt>
                <c:pt idx="8">
                  <c:v>3663020.605</c:v>
                </c:pt>
                <c:pt idx="9">
                  <c:v>3818189.238</c:v>
                </c:pt>
                <c:pt idx="10">
                  <c:v>3980343.2630000003</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940"/>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5759094"/>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Poland</c:v>
                </c:pt>
                <c:pt idx="1">
                  <c:v>France</c:v>
                </c:pt>
                <c:pt idx="2">
                  <c:v>Australia</c:v>
                </c:pt>
                <c:pt idx="3">
                  <c:v>Rest of MEA</c:v>
                </c:pt>
                <c:pt idx="4">
                  <c:v>Netherlands</c:v>
                </c:pt>
                <c:pt idx="5">
                  <c:v>Germany</c:v>
                </c:pt>
                <c:pt idx="6">
                  <c:v>Saudi Arabia</c:v>
                </c:pt>
                <c:pt idx="7">
                  <c:v>Rest of LATAM</c:v>
                </c:pt>
                <c:pt idx="8">
                  <c:v>India</c:v>
                </c:pt>
              </c:strCache>
            </c:strRef>
          </c:cat>
          <c:val>
            <c:numRef>
              <c:numCache>
                <c:formatCode>General</c:formatCode>
                <c:ptCount val="9"/>
                <c:pt idx="0">
                  <c:v>119.25612142088795</c:v>
                </c:pt>
                <c:pt idx="1">
                  <c:v>122.97427328206352</c:v>
                </c:pt>
                <c:pt idx="2">
                  <c:v>127.3976129653076</c:v>
                </c:pt>
                <c:pt idx="3">
                  <c:v>127.43102803071645</c:v>
                </c:pt>
                <c:pt idx="4">
                  <c:v>127.69086905692264</c:v>
                </c:pt>
                <c:pt idx="5">
                  <c:v>131.04241477228166</c:v>
                </c:pt>
                <c:pt idx="6">
                  <c:v>131.4246376031995</c:v>
                </c:pt>
                <c:pt idx="7">
                  <c:v>133.81794534457742</c:v>
                </c:pt>
                <c:pt idx="8">
                  <c:v>135.41754590509254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UAE</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2.7732196393285005</c:v>
                </c:pt>
                <c:pt idx="1">
                  <c:v>3.0427686239255554</c:v>
                </c:pt>
                <c:pt idx="2">
                  <c:v>3.3640449526835785</c:v>
                </c:pt>
                <c:pt idx="3">
                  <c:v>3.71677255847593</c:v>
                </c:pt>
                <c:pt idx="4">
                  <c:v>6.167459570939138</c:v>
                </c:pt>
                <c:pt idx="5">
                  <c:v>7.168656121845723</c:v>
                </c:pt>
                <c:pt idx="6">
                  <c:v>7.648415917647614</c:v>
                </c:pt>
                <c:pt idx="7">
                  <c:v>9.150773156532262</c:v>
                </c:pt>
                <c:pt idx="8">
                  <c:v>14.278689868058022</c:v>
                </c:pt>
                <c:pt idx="9">
                  <c:v>16.5044995193199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M&quot;;&quot;MMMMMMMM&quot;;&quot;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10235.621</c:v>
                </c:pt>
                <c:pt idx="1">
                  <c:v>7509.888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0.05583517608325135</c:v>
                </c:pt>
                <c:pt idx="1">
                  <c:v>0.05696867431302756</c:v>
                </c:pt>
                <c:pt idx="2">
                  <c:v>0.05797748773752838</c:v>
                </c:pt>
                <c:pt idx="3">
                  <c:v>0.05948881871056332</c:v>
                </c:pt>
                <c:pt idx="4">
                  <c:v>0.06112483448887365</c:v>
                </c:pt>
                <c:pt idx="5">
                  <c:v>0.06288931339989194</c:v>
                </c:pt>
                <c:pt idx="6">
                  <c:v>0.06440064437292689</c:v>
                </c:pt>
                <c:pt idx="7">
                  <c:v>0.06500139843470829</c:v>
                </c:pt>
                <c:pt idx="8">
                  <c:v>0.06500139843470829</c:v>
                </c:pt>
                <c:pt idx="9">
                  <c:v>0.06404170326683109</c:v>
                </c:pt>
                <c:pt idx="10">
                  <c:v>0.06326336781571809</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0.044007582150851154</c:v>
                </c:pt>
                <c:pt idx="1">
                  <c:v>0.04471976916618909</c:v>
                </c:pt>
                <c:pt idx="2">
                  <c:v>0.0457855595248067</c:v>
                </c:pt>
                <c:pt idx="3">
                  <c:v>0.04649276621136604</c:v>
                </c:pt>
                <c:pt idx="4">
                  <c:v>0.04724977618571126</c:v>
                </c:pt>
                <c:pt idx="5">
                  <c:v>0.04888830435386636</c:v>
                </c:pt>
                <c:pt idx="6">
                  <c:v>0.05000887832904842</c:v>
                </c:pt>
                <c:pt idx="7">
                  <c:v>0.051607563866974834</c:v>
                </c:pt>
                <c:pt idx="8">
                  <c:v>0.053290914994137226</c:v>
                </c:pt>
                <c:pt idx="9">
                  <c:v>0.053993141351917975</c:v>
                </c:pt>
                <c:pt idx="10">
                  <c:v>0.054785013627713305</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0.040800227156733704</c:v>
                </c:pt>
                <c:pt idx="1">
                  <c:v>0.04045243322392847</c:v>
                </c:pt>
                <c:pt idx="2">
                  <c:v>0.04005247020120245</c:v>
                </c:pt>
                <c:pt idx="3">
                  <c:v>0.03909603688598805</c:v>
                </c:pt>
                <c:pt idx="4">
                  <c:v>0.038246840033388595</c:v>
                </c:pt>
                <c:pt idx="5">
                  <c:v>0.03721794964883977</c:v>
                </c:pt>
                <c:pt idx="6">
                  <c:v>0.03596299320796754</c:v>
                </c:pt>
                <c:pt idx="7">
                  <c:v>0.034568919193973216</c:v>
                </c:pt>
                <c:pt idx="8">
                  <c:v>0.0347341213120557</c:v>
                </c:pt>
                <c:pt idx="9">
                  <c:v>0.033235709118219804</c:v>
                </c:pt>
                <c:pt idx="10">
                  <c:v>0.03125618198400333</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35.58616854887598</c:v>
                </c:pt>
                <c:pt idx="1">
                  <c:v>32.65375202892395</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25.082456850261742</c:v>
                </c:pt>
                <c:pt idx="1">
                  <c:v>26.581809409134877</c:v>
                </c:pt>
              </c:numCache>
            </c:numRef>
          </c:val>
        </c:ser>
        <c:ser>
          <c:idx val="2"/>
          <c:order val="2"/>
          <c:tx>
            <c:strRef>
              <c:strCache>
                <c:ptCount val="1"/>
                <c:pt idx="0">
                  <c:v>East Asia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12.959205398168944</c:v>
                </c:pt>
                <c:pt idx="1">
                  <c:v>12.804937396676985</c:v>
                </c:pt>
              </c:numCache>
            </c:numRef>
          </c:val>
        </c:ser>
        <c:ser>
          <c:idx val="3"/>
          <c:order val="3"/>
          <c:tx>
            <c:strRef>
              <c:strCache>
                <c:ptCount val="1"/>
                <c:pt idx="0">
                  <c:v>South Asia &amp; Pacific</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11.781534060733712</c:v>
                </c:pt>
                <c:pt idx="1">
                  <c:v>12.784653467712742</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7.792098636919398</c:v>
                </c:pt>
                <c:pt idx="1">
                  <c:v>8.422647114794833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6.798536505040234</c:v>
                </c:pt>
                <c:pt idx="1">
                  <c:v>6.752200582756624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33.0</c:v>
                </c:pt>
                <c:pt idx="1">
                  <c:v>30.166697388054644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27.000009174311927</c:v>
                </c:pt>
                <c:pt idx="1">
                  <c:v>28.49338951055166</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11.999990825688075</c:v>
                </c:pt>
                <c:pt idx="1">
                  <c:v>13.041784262147683</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13.000009174311927</c:v>
                </c:pt>
                <c:pt idx="1">
                  <c:v>12.755469566976075</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7.999990825688073</c:v>
                </c:pt>
                <c:pt idx="1">
                  <c:v>8.60414880181797</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7.000000000000001</c:v>
                </c:pt>
                <c:pt idx="1">
                  <c:v>6.938510470451989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829578.725</c:v>
                </c:pt>
                <c:pt idx="1">
                  <c:v>850339.716</c:v>
                </c:pt>
                <c:pt idx="2">
                  <c:v>871628.714</c:v>
                </c:pt>
                <c:pt idx="3">
                  <c:v>893459.382</c:v>
                </c:pt>
                <c:pt idx="4">
                  <c:v>915845.747</c:v>
                </c:pt>
                <c:pt idx="5">
                  <c:v>938802.201</c:v>
                </c:pt>
                <c:pt idx="6">
                  <c:v>969801.731</c:v>
                </c:pt>
                <c:pt idx="7">
                  <c:v>1001834.583</c:v>
                </c:pt>
                <c:pt idx="8">
                  <c:v>1034935.551</c:v>
                </c:pt>
                <c:pt idx="9">
                  <c:v>1069140.613</c:v>
                </c:pt>
                <c:pt idx="10">
                  <c:v>1104486.97</c:v>
                </c:pt>
                <c:pt idx="11">
                  <c:v>1141013.091</c:v>
                </c:pt>
                <c:pt idx="12">
                  <c:v>1178758.755</c:v>
                </c:pt>
                <c:pt idx="13">
                  <c:v>1217765.098</c:v>
                </c:pt>
                <c:pt idx="14">
                  <c:v>1258074.657</c:v>
                </c:pt>
                <c:pt idx="15">
                  <c:v>1299731.419</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546059.039</c:v>
                </c:pt>
                <c:pt idx="1">
                  <c:v>567303.39</c:v>
                </c:pt>
                <c:pt idx="2">
                  <c:v>589448.544</c:v>
                </c:pt>
                <c:pt idx="3">
                  <c:v>612534.948</c:v>
                </c:pt>
                <c:pt idx="4">
                  <c:v>636604.923</c:v>
                </c:pt>
                <c:pt idx="5">
                  <c:v>661702.753</c:v>
                </c:pt>
                <c:pt idx="6">
                  <c:v>693131.622</c:v>
                </c:pt>
                <c:pt idx="7">
                  <c:v>726140.823</c:v>
                </c:pt>
                <c:pt idx="8">
                  <c:v>760813.17</c:v>
                </c:pt>
                <c:pt idx="9">
                  <c:v>797235.958</c:v>
                </c:pt>
                <c:pt idx="10">
                  <c:v>835501.18</c:v>
                </c:pt>
                <c:pt idx="11">
                  <c:v>875705.805</c:v>
                </c:pt>
                <c:pt idx="12">
                  <c:v>917952.037</c:v>
                </c:pt>
                <c:pt idx="13">
                  <c:v>962347.617</c:v>
                </c:pt>
                <c:pt idx="14">
                  <c:v>1009006.113</c:v>
                </c:pt>
                <c:pt idx="15">
                  <c:v>1058047.26</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291064.227</c:v>
                </c:pt>
                <c:pt idx="1">
                  <c:v>300576.418</c:v>
                </c:pt>
                <c:pt idx="2">
                  <c:v>310403.204</c:v>
                </c:pt>
                <c:pt idx="3">
                  <c:v>320555.1</c:v>
                </c:pt>
                <c:pt idx="4">
                  <c:v>331042.977</c:v>
                </c:pt>
                <c:pt idx="5">
                  <c:v>341878.068</c:v>
                </c:pt>
                <c:pt idx="6">
                  <c:v>355788.001</c:v>
                </c:pt>
                <c:pt idx="7">
                  <c:v>370268.204</c:v>
                </c:pt>
                <c:pt idx="8">
                  <c:v>385342.219</c:v>
                </c:pt>
                <c:pt idx="9">
                  <c:v>401034.564</c:v>
                </c:pt>
                <c:pt idx="10">
                  <c:v>417370.776</c:v>
                </c:pt>
                <c:pt idx="11">
                  <c:v>434377.452</c:v>
                </c:pt>
                <c:pt idx="12">
                  <c:v>452082.3</c:v>
                </c:pt>
                <c:pt idx="13">
                  <c:v>470514.172</c:v>
                </c:pt>
                <c:pt idx="14">
                  <c:v>489703.124</c:v>
                </c:pt>
                <c:pt idx="15">
                  <c:v>509680.463</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253292.923</c:v>
                </c:pt>
                <c:pt idx="1">
                  <c:v>263816.859</c:v>
                </c:pt>
                <c:pt idx="2">
                  <c:v>274808.294</c:v>
                </c:pt>
                <c:pt idx="3">
                  <c:v>286288.929</c:v>
                </c:pt>
                <c:pt idx="4">
                  <c:v>298281.493</c:v>
                </c:pt>
                <c:pt idx="5">
                  <c:v>310809.805</c:v>
                </c:pt>
                <c:pt idx="6">
                  <c:v>326368.02</c:v>
                </c:pt>
                <c:pt idx="7">
                  <c:v>342740.682</c:v>
                </c:pt>
                <c:pt idx="8">
                  <c:v>359971.817</c:v>
                </c:pt>
                <c:pt idx="9">
                  <c:v>378107.892</c:v>
                </c:pt>
                <c:pt idx="10">
                  <c:v>397197.942</c:v>
                </c:pt>
                <c:pt idx="11">
                  <c:v>417293.72</c:v>
                </c:pt>
                <c:pt idx="12">
                  <c:v>438449.85</c:v>
                </c:pt>
                <c:pt idx="13">
                  <c:v>460723.987</c:v>
                </c:pt>
                <c:pt idx="14">
                  <c:v>484176.985</c:v>
                </c:pt>
                <c:pt idx="15">
                  <c:v>508873.093</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167338.713</c:v>
                </c:pt>
                <c:pt idx="1">
                  <c:v>174359.954</c:v>
                </c:pt>
                <c:pt idx="2">
                  <c:v>181679.95</c:v>
                </c:pt>
                <c:pt idx="3">
                  <c:v>189311.58</c:v>
                </c:pt>
                <c:pt idx="4">
                  <c:v>197268.292</c:v>
                </c:pt>
                <c:pt idx="5">
                  <c:v>205564.118</c:v>
                </c:pt>
                <c:pt idx="6">
                  <c:v>215846.788</c:v>
                </c:pt>
                <c:pt idx="7">
                  <c:v>226648.909</c:v>
                </c:pt>
                <c:pt idx="8">
                  <c:v>237996.978</c:v>
                </c:pt>
                <c:pt idx="9">
                  <c:v>249918.847</c:v>
                </c:pt>
                <c:pt idx="10">
                  <c:v>262443.808</c:v>
                </c:pt>
                <c:pt idx="11">
                  <c:v>275602.66</c:v>
                </c:pt>
                <c:pt idx="12">
                  <c:v>289427.787</c:v>
                </c:pt>
                <c:pt idx="13">
                  <c:v>303953.249</c:v>
                </c:pt>
                <c:pt idx="14">
                  <c:v>319214.855</c:v>
                </c:pt>
                <c:pt idx="15">
                  <c:v>335250.267</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152679.414</c:v>
                </c:pt>
                <c:pt idx="1">
                  <c:v>157652.589</c:v>
                </c:pt>
                <c:pt idx="2">
                  <c:v>162799.8</c:v>
                </c:pt>
                <c:pt idx="3">
                  <c:v>168127.632</c:v>
                </c:pt>
                <c:pt idx="4">
                  <c:v>173642.939</c:v>
                </c:pt>
                <c:pt idx="5">
                  <c:v>179352.858</c:v>
                </c:pt>
                <c:pt idx="6">
                  <c:v>186689.667</c:v>
                </c:pt>
                <c:pt idx="7">
                  <c:v>194341.507</c:v>
                </c:pt>
                <c:pt idx="8">
                  <c:v>202322.637</c:v>
                </c:pt>
                <c:pt idx="9">
                  <c:v>210648.002</c:v>
                </c:pt>
                <c:pt idx="10">
                  <c:v>219333.262</c:v>
                </c:pt>
                <c:pt idx="11">
                  <c:v>228394.825</c:v>
                </c:pt>
                <c:pt idx="12">
                  <c:v>237849.89</c:v>
                </c:pt>
                <c:pt idx="13">
                  <c:v>247716.482</c:v>
                </c:pt>
                <c:pt idx="14">
                  <c:v>258013.504</c:v>
                </c:pt>
                <c:pt idx="15">
                  <c:v>268760.761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3065.726</c:v>
                </c:pt>
                <c:pt idx="1">
                  <c:v>3165.233</c:v>
                </c:pt>
                <c:pt idx="2">
                  <c:v>3268.003</c:v>
                </c:pt>
                <c:pt idx="3">
                  <c:v>3374.146</c:v>
                </c:pt>
                <c:pt idx="4">
                  <c:v>3483.774</c:v>
                </c:pt>
                <c:pt idx="5">
                  <c:v>3597.0</c:v>
                </c:pt>
                <c:pt idx="6">
                  <c:v>3742.722</c:v>
                </c:pt>
                <c:pt idx="7">
                  <c:v>3894.387</c:v>
                </c:pt>
                <c:pt idx="8">
                  <c:v>4052.241</c:v>
                </c:pt>
                <c:pt idx="9">
                  <c:v>4216.537</c:v>
                </c:pt>
                <c:pt idx="10">
                  <c:v>4387.542</c:v>
                </c:pt>
                <c:pt idx="11">
                  <c:v>4565.529</c:v>
                </c:pt>
                <c:pt idx="12">
                  <c:v>4750.786</c:v>
                </c:pt>
                <c:pt idx="13">
                  <c:v>4943.613</c:v>
                </c:pt>
                <c:pt idx="14">
                  <c:v>5144.321</c:v>
                </c:pt>
                <c:pt idx="15">
                  <c:v>5353.234</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2342.875</c:v>
                </c:pt>
                <c:pt idx="1">
                  <c:v>2451.597</c:v>
                </c:pt>
                <c:pt idx="2">
                  <c:v>2565.686</c:v>
                </c:pt>
                <c:pt idx="3">
                  <c:v>2685.419</c:v>
                </c:pt>
                <c:pt idx="4">
                  <c:v>2811.088</c:v>
                </c:pt>
                <c:pt idx="5">
                  <c:v>2943.001</c:v>
                </c:pt>
                <c:pt idx="6">
                  <c:v>3105.025</c:v>
                </c:pt>
                <c:pt idx="7">
                  <c:v>3276.359</c:v>
                </c:pt>
                <c:pt idx="8">
                  <c:v>3457.56</c:v>
                </c:pt>
                <c:pt idx="9">
                  <c:v>3649.214</c:v>
                </c:pt>
                <c:pt idx="10">
                  <c:v>3851.941</c:v>
                </c:pt>
                <c:pt idx="11">
                  <c:v>4066.408</c:v>
                </c:pt>
                <c:pt idx="12">
                  <c:v>4293.309</c:v>
                </c:pt>
                <c:pt idx="13">
                  <c:v>4533.39</c:v>
                </c:pt>
                <c:pt idx="14">
                  <c:v>4787.442</c:v>
                </c:pt>
                <c:pt idx="15">
                  <c:v>5056.297</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1165.472</c:v>
                </c:pt>
                <c:pt idx="1">
                  <c:v>1211.894</c:v>
                </c:pt>
                <c:pt idx="2">
                  <c:v>1260.181</c:v>
                </c:pt>
                <c:pt idx="3">
                  <c:v>1310.408</c:v>
                </c:pt>
                <c:pt idx="4">
                  <c:v>1362.653</c:v>
                </c:pt>
                <c:pt idx="5">
                  <c:v>1417.001</c:v>
                </c:pt>
                <c:pt idx="6">
                  <c:v>1484.868</c:v>
                </c:pt>
                <c:pt idx="7">
                  <c:v>1556.006</c:v>
                </c:pt>
                <c:pt idx="8">
                  <c:v>1630.571</c:v>
                </c:pt>
                <c:pt idx="9">
                  <c:v>1708.73</c:v>
                </c:pt>
                <c:pt idx="10">
                  <c:v>1790.657</c:v>
                </c:pt>
                <c:pt idx="11">
                  <c:v>1876.535</c:v>
                </c:pt>
                <c:pt idx="12">
                  <c:v>1966.555</c:v>
                </c:pt>
                <c:pt idx="13">
                  <c:v>2060.917</c:v>
                </c:pt>
                <c:pt idx="14">
                  <c:v>2159.833</c:v>
                </c:pt>
                <c:pt idx="15">
                  <c:v>2263.523</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1025.065</c:v>
                </c:pt>
                <c:pt idx="1">
                  <c:v>1076.053</c:v>
                </c:pt>
                <c:pt idx="2">
                  <c:v>1129.694</c:v>
                </c:pt>
                <c:pt idx="3">
                  <c:v>1186.133</c:v>
                </c:pt>
                <c:pt idx="4">
                  <c:v>1245.514</c:v>
                </c:pt>
                <c:pt idx="5">
                  <c:v>1307.999</c:v>
                </c:pt>
                <c:pt idx="6">
                  <c:v>1384.22</c:v>
                </c:pt>
                <c:pt idx="7">
                  <c:v>1465.025</c:v>
                </c:pt>
                <c:pt idx="8">
                  <c:v>1550.696</c:v>
                </c:pt>
                <c:pt idx="9">
                  <c:v>1641.528</c:v>
                </c:pt>
                <c:pt idx="10">
                  <c:v>1737.848</c:v>
                </c:pt>
                <c:pt idx="11">
                  <c:v>1839.989</c:v>
                </c:pt>
                <c:pt idx="12">
                  <c:v>1948.315</c:v>
                </c:pt>
                <c:pt idx="13">
                  <c:v>2063.203</c:v>
                </c:pt>
                <c:pt idx="14">
                  <c:v>2185.064</c:v>
                </c:pt>
                <c:pt idx="15">
                  <c:v>2314.331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685.04</c:v>
                </c:pt>
                <c:pt idx="1">
                  <c:v>718.882</c:v>
                </c:pt>
                <c:pt idx="2">
                  <c:v>754.41</c:v>
                </c:pt>
                <c:pt idx="3">
                  <c:v>791.714</c:v>
                </c:pt>
                <c:pt idx="4">
                  <c:v>830.878</c:v>
                </c:pt>
                <c:pt idx="5">
                  <c:v>871.999</c:v>
                </c:pt>
                <c:pt idx="6">
                  <c:v>922.153</c:v>
                </c:pt>
                <c:pt idx="7">
                  <c:v>975.211</c:v>
                </c:pt>
                <c:pt idx="8">
                  <c:v>1031.343</c:v>
                </c:pt>
                <c:pt idx="9">
                  <c:v>1090.731</c:v>
                </c:pt>
                <c:pt idx="10">
                  <c:v>1153.561</c:v>
                </c:pt>
                <c:pt idx="11">
                  <c:v>1220.038</c:v>
                </c:pt>
                <c:pt idx="12">
                  <c:v>1290.373</c:v>
                </c:pt>
                <c:pt idx="13">
                  <c:v>1364.792</c:v>
                </c:pt>
                <c:pt idx="14">
                  <c:v>1443.534</c:v>
                </c:pt>
                <c:pt idx="15">
                  <c:v>1526.85</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626.024</c:v>
                </c:pt>
                <c:pt idx="1">
                  <c:v>651.193</c:v>
                </c:pt>
                <c:pt idx="2">
                  <c:v>677.423</c:v>
                </c:pt>
                <c:pt idx="3">
                  <c:v>704.769</c:v>
                </c:pt>
                <c:pt idx="4">
                  <c:v>733.277</c:v>
                </c:pt>
                <c:pt idx="5">
                  <c:v>763.0</c:v>
                </c:pt>
                <c:pt idx="6">
                  <c:v>800.098</c:v>
                </c:pt>
                <c:pt idx="7">
                  <c:v>839.068</c:v>
                </c:pt>
                <c:pt idx="8">
                  <c:v>880.011</c:v>
                </c:pt>
                <c:pt idx="9">
                  <c:v>923.027</c:v>
                </c:pt>
                <c:pt idx="10">
                  <c:v>968.228</c:v>
                </c:pt>
                <c:pt idx="11">
                  <c:v>1015.729</c:v>
                </c:pt>
                <c:pt idx="12">
                  <c:v>1065.653</c:v>
                </c:pt>
                <c:pt idx="13">
                  <c:v>1118.126</c:v>
                </c:pt>
                <c:pt idx="14">
                  <c:v>1173.284</c:v>
                </c:pt>
                <c:pt idx="15">
                  <c:v>1231.274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57.58620745666684</c:v>
                </c:pt>
                <c:pt idx="1">
                  <c:v>55.98159609653863</c:v>
                </c:pt>
                <c:pt idx="2">
                  <c:v>57.08861805247837</c:v>
                </c:pt>
                <c:pt idx="3">
                  <c:v>58.14302275690038</c:v>
                </c:pt>
                <c:pt idx="4">
                  <c:v>58.31039988355114</c:v>
                </c:pt>
                <c:pt idx="5">
                  <c:v>57.640652360797226</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42.41379254333317</c:v>
                </c:pt>
                <c:pt idx="1">
                  <c:v>44.018403903461376</c:v>
                </c:pt>
                <c:pt idx="2">
                  <c:v>42.91138194752163</c:v>
                </c:pt>
                <c:pt idx="3">
                  <c:v>41.85697724309962</c:v>
                </c:pt>
                <c:pt idx="4">
                  <c:v>41.68960011644885</c:v>
                </c:pt>
                <c:pt idx="5">
                  <c:v>42.359347639202774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c:v>
                </c:pt>
              </c:strCache>
            </c:strRef>
          </c:tx>
          <c:spPr>
            <a:solidFill>
              <a:srgbClr val="3D85C6"/>
            </a:solidFill>
          </c:spPr>
          <c:invertIfNegative val="0"/>
          <c:xVal>
            <c:numRef>
              <c:numCache>
                <c:formatCode>General</c:formatCode>
                <c:ptCount val="1"/>
                <c:pt idx="0">
                  <c:v>107.99974077981456</c:v>
                </c:pt>
              </c:numCache>
            </c:numRef>
          </c:xVal>
          <c:yVal>
            <c:numRef>
              <c:numCache>
                <c:formatCode>General</c:formatCode>
                <c:ptCount val="1"/>
                <c:pt idx="0">
                  <c:v>111.06077064220183</c:v>
                </c:pt>
              </c:numCache>
            </c:numRef>
          </c:yVal>
          <c:bubbleSize>
            <c:numRef>
              <c:numCache>
                <c:formatCode>General</c:formatCode>
                <c:ptCount val="1"/>
                <c:pt idx="0">
                  <c:v>10235.621</c:v>
                </c:pt>
              </c:numCache>
            </c:numRef>
          </c:bubbleSize>
          <c:bubble3D val="0"/>
        </c:ser>
        <c:ser>
          <c:idx val="1"/>
          <c:order val="1"/>
          <c:tx>
            <c:strRef>
              <c:strCache>
                <c:ptCount val="1"/>
                <c:pt idx="0">
                  <c:v>Savoury muffins</c:v>
                </c:pt>
              </c:strCache>
            </c:strRef>
          </c:tx>
          <c:spPr>
            <a:solidFill>
              <a:srgbClr val="9E7E0A"/>
            </a:solidFill>
          </c:spPr>
          <c:invertIfNegative val="0"/>
          <c:xVal>
            <c:numRef>
              <c:numCache>
                <c:formatCode>General</c:formatCode>
                <c:ptCount val="1"/>
                <c:pt idx="0">
                  <c:v>89.6096270615963</c:v>
                </c:pt>
              </c:numCache>
            </c:numRef>
          </c:xVal>
          <c:yVal>
            <c:numRef>
              <c:numCache>
                <c:formatCode>General</c:formatCode>
                <c:ptCount val="1"/>
                <c:pt idx="0">
                  <c:v>88.93922935779817</c:v>
                </c:pt>
              </c:numCache>
            </c:numRef>
          </c:yVal>
          <c:bubbleSize>
            <c:numRef>
              <c:numCache>
                <c:formatCode>General</c:formatCode>
                <c:ptCount val="1"/>
                <c:pt idx="0">
                  <c:v>7509.888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6052.812</c:v>
                </c:pt>
                <c:pt idx="2">
                  <c:v>6718.45</c:v>
                </c:pt>
                <c:pt idx="3">
                  <c:v>7459.991</c:v>
                </c:pt>
                <c:pt idx="4">
                  <c:v>8286.444</c:v>
                </c:pt>
                <c:pt idx="5">
                  <c:v>9207.875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6052.812</c:v>
                </c:pt>
                <c:pt idx="1">
                  <c:v>665.6379999999999</c:v>
                </c:pt>
                <c:pt idx="2">
                  <c:v>741.5410000000002</c:v>
                </c:pt>
                <c:pt idx="3">
                  <c:v>826.4529999999995</c:v>
                </c:pt>
                <c:pt idx="4">
                  <c:v>921.4310000000005</c:v>
                </c:pt>
                <c:pt idx="5">
                  <c:v>1027.7459999999992</c:v>
                </c:pt>
                <c:pt idx="6">
                  <c:v>10235.621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4847.188</c:v>
                </c:pt>
                <c:pt idx="2">
                  <c:v>5287.606</c:v>
                </c:pt>
                <c:pt idx="3">
                  <c:v>5769.776</c:v>
                </c:pt>
                <c:pt idx="4">
                  <c:v>6297.784</c:v>
                </c:pt>
                <c:pt idx="5">
                  <c:v>6876.166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4847.188</c:v>
                </c:pt>
                <c:pt idx="1">
                  <c:v>440.41799999999967</c:v>
                </c:pt>
                <c:pt idx="2">
                  <c:v>482.1700000000001</c:v>
                </c:pt>
                <c:pt idx="3">
                  <c:v>528.0079999999998</c:v>
                </c:pt>
                <c:pt idx="4">
                  <c:v>578.3820000000005</c:v>
                </c:pt>
                <c:pt idx="5">
                  <c:v>633.7219999999998</c:v>
                </c:pt>
                <c:pt idx="6">
                  <c:v>7509.888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54.46273833073594</c:v>
                </c:pt>
                <c:pt idx="1">
                  <c:v>55.530385321100916</c:v>
                </c:pt>
                <c:pt idx="2">
                  <c:v>57.68006429119615</c:v>
                </c:pt>
              </c:numCache>
            </c:numRef>
          </c:val>
        </c:ser>
        <c:ser>
          <c:idx val="1"/>
          <c:order val="1"/>
          <c:tx>
            <c:strRef>
              <c:strCache>
                <c:ptCount val="1"/>
                <c:pt idx="0">
                  <c:v>Savoury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45.53726166926407</c:v>
                </c:pt>
                <c:pt idx="1">
                  <c:v>44.469614678899084</c:v>
                </c:pt>
                <c:pt idx="2">
                  <c:v>42.31993570880385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54.17518765116457</c:v>
                </c:pt>
                <c:pt idx="1">
                  <c:v>56.39715754658285</c:v>
                </c:pt>
                <c:pt idx="2">
                  <c:v>53.5493564677717</c:v>
                </c:pt>
                <c:pt idx="3">
                  <c:v>53.41271408454538</c:v>
                </c:pt>
                <c:pt idx="4">
                  <c:v>54.363895158848464</c:v>
                </c:pt>
                <c:pt idx="5">
                  <c:v>54.74483274969859</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45.824812348835444</c:v>
                </c:pt>
                <c:pt idx="1">
                  <c:v>43.60284245341717</c:v>
                </c:pt>
                <c:pt idx="2">
                  <c:v>46.4506435322283</c:v>
                </c:pt>
                <c:pt idx="3">
                  <c:v>46.587285915454615</c:v>
                </c:pt>
                <c:pt idx="4">
                  <c:v>45.63610484115153</c:v>
                </c:pt>
                <c:pt idx="5">
                  <c:v>45.2551672503014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Sweet Muffins Flavours</c:v>
                </c:pt>
              </c:strCache>
            </c:strRef>
          </c:tx>
          <c:spPr>
            <a:solidFill>
              <a:srgbClr val="3D85C6"/>
            </a:solidFill>
          </c:spPr>
          <c:invertIfNegative val="0"/>
          <c:xVal>
            <c:numRef>
              <c:numCache>
                <c:formatCode>General</c:formatCode>
                <c:ptCount val="1"/>
                <c:pt idx="0">
                  <c:v>88.32587040978127</c:v>
                </c:pt>
              </c:numCache>
            </c:numRef>
          </c:xVal>
          <c:yVal>
            <c:numRef>
              <c:numCache>
                <c:formatCode>General</c:formatCode>
                <c:ptCount val="1"/>
                <c:pt idx="0">
                  <c:v>115.05746788990825</c:v>
                </c:pt>
              </c:numCache>
            </c:numRef>
          </c:yVal>
          <c:bubbleSize>
            <c:numRef>
              <c:numCache>
                <c:formatCode>General</c:formatCode>
                <c:ptCount val="1"/>
                <c:pt idx="0">
                  <c:v>9655.813</c:v>
                </c:pt>
              </c:numCache>
            </c:numRef>
          </c:bubbleSize>
          <c:bubble3D val="0"/>
        </c:ser>
        <c:ser>
          <c:idx val="1"/>
          <c:order val="1"/>
          <c:tx>
            <c:strRef>
              <c:strCache>
                <c:ptCount val="1"/>
                <c:pt idx="0">
                  <c:v>Savoury Muffins Flavours</c:v>
                </c:pt>
              </c:strCache>
            </c:strRef>
          </c:tx>
          <c:spPr>
            <a:solidFill>
              <a:srgbClr val="9E7E0A"/>
            </a:solidFill>
          </c:spPr>
          <c:invertIfNegative val="0"/>
          <c:xVal>
            <c:numRef>
              <c:numCache>
                <c:formatCode>General</c:formatCode>
                <c:ptCount val="1"/>
                <c:pt idx="0">
                  <c:v>114.93688503525155</c:v>
                </c:pt>
              </c:numCache>
            </c:numRef>
          </c:xVal>
          <c:yVal>
            <c:numRef>
              <c:numCache>
                <c:formatCode>General</c:formatCode>
                <c:ptCount val="1"/>
                <c:pt idx="0">
                  <c:v>84.94253211009175</c:v>
                </c:pt>
              </c:numCache>
            </c:numRef>
          </c:yVal>
          <c:bubbleSize>
            <c:numRef>
              <c:numCache>
                <c:formatCode>General</c:formatCode>
                <c:ptCount val="1"/>
                <c:pt idx="0">
                  <c:v>8089.696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6270.632</c:v>
                </c:pt>
                <c:pt idx="2">
                  <c:v>6833.23</c:v>
                </c:pt>
                <c:pt idx="3">
                  <c:v>7447.88</c:v>
                </c:pt>
                <c:pt idx="4">
                  <c:v>8119.483</c:v>
                </c:pt>
                <c:pt idx="5">
                  <c:v>8853.508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6270.632</c:v>
                </c:pt>
                <c:pt idx="1">
                  <c:v>562.598</c:v>
                </c:pt>
                <c:pt idx="2">
                  <c:v>614.6500000000005</c:v>
                </c:pt>
                <c:pt idx="3">
                  <c:v>671.6030000000001</c:v>
                </c:pt>
                <c:pt idx="4">
                  <c:v>734.0249999999996</c:v>
                </c:pt>
                <c:pt idx="5">
                  <c:v>802.3050000000003</c:v>
                </c:pt>
                <c:pt idx="6">
                  <c:v>9655.813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4629.368</c:v>
                </c:pt>
                <c:pt idx="2">
                  <c:v>5172.826</c:v>
                </c:pt>
                <c:pt idx="3">
                  <c:v>5781.887</c:v>
                </c:pt>
                <c:pt idx="4">
                  <c:v>6464.745</c:v>
                </c:pt>
                <c:pt idx="5">
                  <c:v>7230.532999999999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4629.368</c:v>
                </c:pt>
                <c:pt idx="1">
                  <c:v>543.4579999999996</c:v>
                </c:pt>
                <c:pt idx="2">
                  <c:v>609.0609999999997</c:v>
                </c:pt>
                <c:pt idx="3">
                  <c:v>682.8580000000002</c:v>
                </c:pt>
                <c:pt idx="4">
                  <c:v>765.7879999999996</c:v>
                </c:pt>
                <c:pt idx="5">
                  <c:v>859.1630000000005</c:v>
                </c:pt>
                <c:pt idx="6">
                  <c:v>8089.696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59.044183285631455</c:v>
                </c:pt>
                <c:pt idx="1">
                  <c:v>57.528733944954126</c:v>
                </c:pt>
                <c:pt idx="2">
                  <c:v>54.41271366180593</c:v>
                </c:pt>
              </c:numCache>
            </c:numRef>
          </c:val>
        </c:ser>
        <c:ser>
          <c:idx val="1"/>
          <c:order val="1"/>
          <c:tx>
            <c:strRef>
              <c:strCache>
                <c:ptCount val="1"/>
                <c:pt idx="0">
                  <c:v>Savoury Muffins Flavours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40.95581671436854</c:v>
                </c:pt>
                <c:pt idx="1">
                  <c:v>42.471266055045874</c:v>
                </c:pt>
                <c:pt idx="2">
                  <c:v>45.587286338194076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Wheat-based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16.85230095007285</c:v>
                </c:pt>
                <c:pt idx="1">
                  <c:v>16.39800897272162</c:v>
                </c:pt>
                <c:pt idx="2">
                  <c:v>16.816793997675305</c:v>
                </c:pt>
                <c:pt idx="3">
                  <c:v>15.237621584812198</c:v>
                </c:pt>
                <c:pt idx="4">
                  <c:v>17.012806011988616</c:v>
                </c:pt>
                <c:pt idx="5">
                  <c:v>17.71004219131837</c:v>
                </c:pt>
              </c:numCache>
            </c:numRef>
          </c:val>
        </c:ser>
        <c:ser>
          <c:idx val="1"/>
          <c:order val="1"/>
          <c:tx>
            <c:strRef>
              <c:strCache>
                <c:ptCount val="1"/>
                <c:pt idx="0">
                  <c:v>Oat-based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22.11863484488424</c:v>
                </c:pt>
                <c:pt idx="1">
                  <c:v>20.31450371680257</c:v>
                </c:pt>
                <c:pt idx="2">
                  <c:v>22.351529010308266</c:v>
                </c:pt>
                <c:pt idx="3">
                  <c:v>22.673420526277358</c:v>
                </c:pt>
                <c:pt idx="4">
                  <c:v>20.115392746905496</c:v>
                </c:pt>
                <c:pt idx="5">
                  <c:v>23.222934024554128</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17.204618955650812</c:v>
                </c:pt>
                <c:pt idx="1">
                  <c:v>19.274322952483875</c:v>
                </c:pt>
                <c:pt idx="2">
                  <c:v>17.22014753108318</c:v>
                </c:pt>
                <c:pt idx="3">
                  <c:v>16.454301480643867</c:v>
                </c:pt>
                <c:pt idx="4">
                  <c:v>16.979184569260866</c:v>
                </c:pt>
                <c:pt idx="5">
                  <c:v>15.50868129433535</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14.023523602382573</c:v>
                </c:pt>
                <c:pt idx="1">
                  <c:v>15.299931230965717</c:v>
                </c:pt>
                <c:pt idx="2">
                  <c:v>14.327797862005376</c:v>
                </c:pt>
                <c:pt idx="3">
                  <c:v>16.096401076596216</c:v>
                </c:pt>
                <c:pt idx="4">
                  <c:v>16.71525624384802</c:v>
                </c:pt>
                <c:pt idx="5">
                  <c:v>14.067963403056918</c:v>
                </c:pt>
              </c:numCache>
            </c:numRef>
          </c:val>
        </c:ser>
        <c:ser>
          <c:idx val="4"/>
          <c:order val="4"/>
          <c:tx>
            <c:strRef>
              <c:strCache>
                <c:ptCount val="1"/>
                <c:pt idx="0">
                  <c:v>Millet-based</c:v>
                </c:pt>
              </c:strCache>
            </c:strRef>
          </c:tx>
          <c:spPr>
            <a:solidFill>
              <a:srgbClr val="A35313"/>
            </a:solidFill>
            <a:ln>
              <a:noFill/>
            </a:ln>
          </c:spPr>
          <c:dLbls>
            <c:dLbl>
              <c:idx val="0"/>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7.600176727519625</c:v>
                </c:pt>
                <c:pt idx="1">
                  <c:v>6.6822543144382225</c:v>
                </c:pt>
                <c:pt idx="2">
                  <c:v>9.005210019955618</c:v>
                </c:pt>
                <c:pt idx="3">
                  <c:v>7.809038551529578</c:v>
                </c:pt>
                <c:pt idx="4">
                  <c:v>8.52730763244327</c:v>
                </c:pt>
                <c:pt idx="5">
                  <c:v>7.946691663394501</c:v>
                </c:pt>
              </c:numCache>
            </c:numRef>
          </c:val>
        </c:ser>
        <c:ser>
          <c:idx val="5"/>
          <c:order val="5"/>
          <c:tx>
            <c:strRef>
              <c:strCache>
                <c:ptCount val="1"/>
                <c:pt idx="0">
                  <c:v>Almond and other nut flour-based</c:v>
                </c:pt>
              </c:strCache>
            </c:strRef>
          </c:tx>
          <c:spPr>
            <a:solidFill>
              <a:srgbClr val="808080"/>
            </a:solidFill>
            <a:ln>
              <a:noFill/>
            </a:ln>
          </c:spPr>
          <c:dLbls>
            <c:dLbl>
              <c:idx val="0"/>
              <c:numFmt formatCode="&quot;MMM&quot;;&quot;MMM&quot;;&quot;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3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2.364136658452952</c:v>
                </c:pt>
                <c:pt idx="1">
                  <c:v>2.4911418934407443</c:v>
                </c:pt>
                <c:pt idx="2">
                  <c:v>2.642031912200583</c:v>
                </c:pt>
                <c:pt idx="3">
                  <c:v>2.3958111436955214</c:v>
                </c:pt>
                <c:pt idx="4">
                  <c:v>2.8112865996597907</c:v>
                </c:pt>
                <c:pt idx="5">
                  <c:v>3.062728063073649</c:v>
                </c:pt>
              </c:numCache>
            </c:numRef>
          </c:val>
        </c:ser>
        <c:ser>
          <c:idx val="6"/>
          <c:order val="6"/>
          <c:tx>
            <c:strRef>
              <c:strCache>
                <c:ptCount val="1"/>
                <c:pt idx="0">
                  <c:v>Other single-flour bases</c:v>
                </c:pt>
              </c:strCache>
            </c:strRef>
          </c:tx>
          <c:spPr>
            <a:solidFill>
              <a:srgbClr val="0E72A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13.981372139751183</c:v>
                </c:pt>
                <c:pt idx="1">
                  <c:v>13.177260372662673</c:v>
                </c:pt>
                <c:pt idx="2">
                  <c:v>12.00827206085381</c:v>
                </c:pt>
                <c:pt idx="3">
                  <c:v>13.394756411248002</c:v>
                </c:pt>
                <c:pt idx="4">
                  <c:v>12.427315879585397</c:v>
                </c:pt>
                <c:pt idx="5">
                  <c:v>13.318808779888942</c:v>
                </c:pt>
              </c:numCache>
            </c:numRef>
          </c:val>
        </c:ser>
        <c:ser>
          <c:idx val="7"/>
          <c:order val="7"/>
          <c:tx>
            <c:strRef>
              <c:strCache>
                <c:ptCount val="1"/>
                <c:pt idx="0">
                  <c:v>Multigrain and blended flour bases</c:v>
                </c:pt>
              </c:strCache>
            </c:strRef>
          </c:tx>
          <c:spPr>
            <a:solidFill>
              <a:srgbClr val="A86F00"/>
            </a:solidFill>
            <a:ln>
              <a:noFill/>
            </a:ln>
          </c:spPr>
          <c:dLbls>
            <c:dLbl>
              <c:idx val="0"/>
              <c:numFmt formatCode="&quot;MMM&quot;;&quot;MMM&quot;;&quot;MMM&quot;" sourceLinked="0"/>
              <c:spPr>
                <a:blipFill>
                  <a:blip r:embed="rId4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4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4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4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4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5.855236121285757</c:v>
                </c:pt>
                <c:pt idx="1">
                  <c:v>6.3625765464845925</c:v>
                </c:pt>
                <c:pt idx="2">
                  <c:v>5.628217605917854</c:v>
                </c:pt>
                <c:pt idx="3">
                  <c:v>5.93864922519726</c:v>
                </c:pt>
                <c:pt idx="4">
                  <c:v>5.4114503163085566</c:v>
                </c:pt>
                <c:pt idx="5">
                  <c:v>5.162150580378141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Wheat-based</c:v>
                </c:pt>
              </c:strCache>
            </c:strRef>
          </c:tx>
          <c:spPr>
            <a:solidFill>
              <a:srgbClr val="3D85C6"/>
            </a:solidFill>
          </c:spPr>
          <c:invertIfNegative val="0"/>
          <c:xVal>
            <c:numRef>
              <c:numCache>
                <c:formatCode>General</c:formatCode>
                <c:ptCount val="1"/>
                <c:pt idx="0">
                  <c:v>102.71025982099815</c:v>
                </c:pt>
              </c:numCache>
            </c:numRef>
          </c:xVal>
          <c:yVal>
            <c:numRef>
              <c:numCache>
                <c:formatCode>General</c:formatCode>
                <c:ptCount val="1"/>
                <c:pt idx="0">
                  <c:v>133.4896880733945</c:v>
                </c:pt>
              </c:numCache>
            </c:numRef>
          </c:yVal>
          <c:bubbleSize>
            <c:numRef>
              <c:numCache>
                <c:formatCode>General</c:formatCode>
                <c:ptCount val="1"/>
                <c:pt idx="0">
                  <c:v>2999.45</c:v>
                </c:pt>
              </c:numCache>
            </c:numRef>
          </c:bubbleSize>
          <c:bubble3D val="0"/>
        </c:ser>
        <c:ser>
          <c:idx val="1"/>
          <c:order val="1"/>
          <c:tx>
            <c:strRef>
              <c:strCache>
                <c:ptCount val="1"/>
                <c:pt idx="0">
                  <c:v>Oat-based</c:v>
                </c:pt>
              </c:strCache>
            </c:strRef>
          </c:tx>
          <c:spPr>
            <a:solidFill>
              <a:srgbClr val="9E7E0A"/>
            </a:solidFill>
          </c:spPr>
          <c:invertIfNegative val="0"/>
          <c:xVal>
            <c:numRef>
              <c:numCache>
                <c:formatCode>General</c:formatCode>
                <c:ptCount val="1"/>
                <c:pt idx="0">
                  <c:v>134.00924223017014</c:v>
                </c:pt>
              </c:numCache>
            </c:numRef>
          </c:xVal>
          <c:yVal>
            <c:numRef>
              <c:numCache>
                <c:formatCode>General</c:formatCode>
                <c:ptCount val="1"/>
                <c:pt idx="0">
                  <c:v>148.73174311926604</c:v>
                </c:pt>
              </c:numCache>
            </c:numRef>
          </c:yVal>
          <c:bubbleSize>
            <c:numRef>
              <c:numCache>
                <c:formatCode>General</c:formatCode>
                <c:ptCount val="1"/>
                <c:pt idx="0">
                  <c:v>3873.455</c:v>
                </c:pt>
              </c:numCache>
            </c:numRef>
          </c:bubbleSize>
          <c:bubble3D val="0"/>
        </c:ser>
        <c:ser>
          <c:idx val="2"/>
          <c:order val="2"/>
          <c:tx>
            <c:strRef>
              <c:strCache>
                <c:ptCount val="1"/>
                <c:pt idx="0">
                  <c:v>Rice-based</c:v>
                </c:pt>
              </c:strCache>
            </c:strRef>
          </c:tx>
          <c:spPr>
            <a:solidFill>
              <a:srgbClr val="008189"/>
            </a:solidFill>
          </c:spPr>
          <c:invertIfNegative val="0"/>
          <c:xVal>
            <c:numRef>
              <c:numCache>
                <c:formatCode>General</c:formatCode>
                <c:ptCount val="1"/>
                <c:pt idx="0">
                  <c:v>73.0082838727054</c:v>
                </c:pt>
              </c:numCache>
            </c:numRef>
          </c:xVal>
          <c:yVal>
            <c:numRef>
              <c:numCache>
                <c:formatCode>General</c:formatCode>
                <c:ptCount val="1"/>
                <c:pt idx="0">
                  <c:v>152.1298348623853</c:v>
                </c:pt>
              </c:numCache>
            </c:numRef>
          </c:yVal>
          <c:bubbleSize>
            <c:numRef>
              <c:numCache>
                <c:formatCode>General</c:formatCode>
                <c:ptCount val="1"/>
                <c:pt idx="0">
                  <c:v>2965.449</c:v>
                </c:pt>
              </c:numCache>
            </c:numRef>
          </c:bubbleSize>
          <c:bubble3D val="0"/>
        </c:ser>
        <c:ser>
          <c:idx val="3"/>
          <c:order val="3"/>
          <c:tx>
            <c:strRef>
              <c:strCache>
                <c:ptCount val="1"/>
                <c:pt idx="0">
                  <c:v>Corn-based</c:v>
                </c:pt>
              </c:strCache>
            </c:strRef>
          </c:tx>
          <c:spPr>
            <a:solidFill>
              <a:srgbClr val="40315E"/>
            </a:solidFill>
          </c:spPr>
          <c:invertIfNegative val="0"/>
          <c:xVal>
            <c:numRef>
              <c:numCache>
                <c:formatCode>General</c:formatCode>
                <c:ptCount val="1"/>
                <c:pt idx="0">
                  <c:v>83.84179268872505</c:v>
                </c:pt>
              </c:numCache>
            </c:numRef>
          </c:xVal>
          <c:yVal>
            <c:numRef>
              <c:numCache>
                <c:formatCode>General</c:formatCode>
                <c:ptCount val="1"/>
                <c:pt idx="0">
                  <c:v>131.55163302752294</c:v>
                </c:pt>
              </c:numCache>
            </c:numRef>
          </c:yVal>
          <c:bubbleSize>
            <c:numRef>
              <c:numCache>
                <c:formatCode>General</c:formatCode>
                <c:ptCount val="1"/>
                <c:pt idx="0">
                  <c:v>2701.376</c:v>
                </c:pt>
              </c:numCache>
            </c:numRef>
          </c:bubbleSize>
          <c:bubble3D val="0"/>
        </c:ser>
        <c:ser>
          <c:idx val="4"/>
          <c:order val="4"/>
          <c:tx>
            <c:strRef>
              <c:strCache>
                <c:ptCount val="1"/>
                <c:pt idx="0">
                  <c:v>Millet-based</c:v>
                </c:pt>
              </c:strCache>
            </c:strRef>
          </c:tx>
          <c:spPr>
            <a:solidFill>
              <a:srgbClr val="A35313"/>
            </a:solidFill>
          </c:spPr>
          <c:invertIfNegative val="0"/>
          <c:xVal>
            <c:numRef>
              <c:numCache>
                <c:formatCode>General</c:formatCode>
                <c:ptCount val="1"/>
                <c:pt idx="0">
                  <c:v>136.06241881879652</c:v>
                </c:pt>
              </c:numCache>
            </c:numRef>
          </c:xVal>
          <c:yVal>
            <c:numRef>
              <c:numCache>
                <c:formatCode>General</c:formatCode>
                <c:ptCount val="1"/>
                <c:pt idx="0">
                  <c:v>54.64007339449542</c:v>
                </c:pt>
              </c:numCache>
            </c:numRef>
          </c:yVal>
          <c:bubbleSize>
            <c:numRef>
              <c:numCache>
                <c:formatCode>General</c:formatCode>
                <c:ptCount val="1"/>
                <c:pt idx="0">
                  <c:v>1436.74</c:v>
                </c:pt>
              </c:numCache>
            </c:numRef>
          </c:bubbleSize>
          <c:bubble3D val="0"/>
        </c:ser>
        <c:ser>
          <c:idx val="5"/>
          <c:order val="5"/>
          <c:tx>
            <c:strRef>
              <c:strCache>
                <c:ptCount val="1"/>
                <c:pt idx="0">
                  <c:v>Almond and other nut flour-based</c:v>
                </c:pt>
              </c:strCache>
            </c:strRef>
          </c:tx>
          <c:spPr>
            <a:solidFill>
              <a:srgbClr val="808080"/>
            </a:solidFill>
          </c:spPr>
          <c:invertIfNegative val="0"/>
          <c:xVal>
            <c:numRef>
              <c:numCache>
                <c:formatCode>General</c:formatCode>
                <c:ptCount val="1"/>
                <c:pt idx="0">
                  <c:v>102.90525707784496</c:v>
                </c:pt>
              </c:numCache>
            </c:numRef>
          </c:xVal>
          <c:yVal>
            <c:numRef>
              <c:numCache>
                <c:formatCode>General</c:formatCode>
                <c:ptCount val="1"/>
                <c:pt idx="0">
                  <c:v>21.720293577981653</c:v>
                </c:pt>
              </c:numCache>
            </c:numRef>
          </c:yVal>
          <c:bubbleSize>
            <c:numRef>
              <c:numCache>
                <c:formatCode>General</c:formatCode>
                <c:ptCount val="1"/>
                <c:pt idx="0">
                  <c:v>488.497</c:v>
                </c:pt>
              </c:numCache>
            </c:numRef>
          </c:bubbleSize>
          <c:bubble3D val="0"/>
        </c:ser>
        <c:ser>
          <c:idx val="6"/>
          <c:order val="6"/>
          <c:tx>
            <c:strRef>
              <c:strCache>
                <c:ptCount val="1"/>
                <c:pt idx="0">
                  <c:v>Other single-flour bases</c:v>
                </c:pt>
              </c:strCache>
            </c:strRef>
          </c:tx>
          <c:spPr>
            <a:solidFill>
              <a:srgbClr val="0E72AE"/>
            </a:solidFill>
          </c:spPr>
          <c:invertIfNegative val="0"/>
          <c:xVal>
            <c:numRef>
              <c:numCache>
                <c:formatCode>General</c:formatCode>
                <c:ptCount val="1"/>
                <c:pt idx="0">
                  <c:v>114.3047335642003</c:v>
                </c:pt>
              </c:numCache>
            </c:numRef>
          </c:xVal>
          <c:yVal>
            <c:numRef>
              <c:numCache>
                <c:formatCode>General</c:formatCode>
                <c:ptCount val="1"/>
                <c:pt idx="0">
                  <c:v>96.74245871559633</c:v>
                </c:pt>
              </c:numCache>
            </c:numRef>
          </c:yVal>
          <c:bubbleSize>
            <c:numRef>
              <c:numCache>
                <c:formatCode>General</c:formatCode>
                <c:ptCount val="1"/>
                <c:pt idx="0">
                  <c:v>2296.504</c:v>
                </c:pt>
              </c:numCache>
            </c:numRef>
          </c:bubbleSize>
          <c:bubble3D val="0"/>
        </c:ser>
        <c:ser>
          <c:idx val="7"/>
          <c:order val="7"/>
          <c:tx>
            <c:strRef>
              <c:strCache>
                <c:ptCount val="1"/>
                <c:pt idx="0">
                  <c:v>Multigrain and blended flour bases</c:v>
                </c:pt>
              </c:strCache>
            </c:strRef>
          </c:tx>
          <c:spPr>
            <a:solidFill>
              <a:srgbClr val="A86F00"/>
            </a:solidFill>
          </c:spPr>
          <c:invertIfNegative val="0"/>
          <c:xVal>
            <c:numRef>
              <c:numCache>
                <c:formatCode>General</c:formatCode>
                <c:ptCount val="1"/>
                <c:pt idx="0">
                  <c:v>34.12089990755227</c:v>
                </c:pt>
              </c:numCache>
            </c:numRef>
          </c:xVal>
          <c:yVal>
            <c:numRef>
              <c:numCache>
                <c:formatCode>General</c:formatCode>
                <c:ptCount val="1"/>
                <c:pt idx="0">
                  <c:v>60.9942752293578</c:v>
                </c:pt>
              </c:numCache>
            </c:numRef>
          </c:yVal>
          <c:bubbleSize>
            <c:numRef>
              <c:numCache>
                <c:formatCode>General</c:formatCode>
                <c:ptCount val="1"/>
                <c:pt idx="0">
                  <c:v>984.038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1818.797</c:v>
                </c:pt>
                <c:pt idx="2">
                  <c:v>2008.4930000000002</c:v>
                </c:pt>
                <c:pt idx="3">
                  <c:v>2218.904</c:v>
                </c:pt>
                <c:pt idx="4">
                  <c:v>2452.385</c:v>
                </c:pt>
                <c:pt idx="5">
                  <c:v>2711.585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1818.797</c:v>
                </c:pt>
                <c:pt idx="1">
                  <c:v>189.69600000000014</c:v>
                </c:pt>
                <c:pt idx="2">
                  <c:v>210.41099999999983</c:v>
                </c:pt>
                <c:pt idx="3">
                  <c:v>233.48100000000022</c:v>
                </c:pt>
                <c:pt idx="4">
                  <c:v>259.1999999999998</c:v>
                </c:pt>
                <c:pt idx="5">
                  <c:v>287.8649999999998</c:v>
                </c:pt>
                <c:pt idx="6">
                  <c:v>2999.45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2026.47</c:v>
                </c:pt>
                <c:pt idx="2">
                  <c:v>2311.307</c:v>
                </c:pt>
                <c:pt idx="3">
                  <c:v>2633.321</c:v>
                </c:pt>
                <c:pt idx="4">
                  <c:v>2997.294</c:v>
                </c:pt>
                <c:pt idx="5">
                  <c:v>3408.639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2026.47</c:v>
                </c:pt>
                <c:pt idx="1">
                  <c:v>284.83699999999976</c:v>
                </c:pt>
                <c:pt idx="2">
                  <c:v>322.0140000000001</c:v>
                </c:pt>
                <c:pt idx="3">
                  <c:v>363.97299999999996</c:v>
                </c:pt>
                <c:pt idx="4">
                  <c:v>411.34500000000025</c:v>
                </c:pt>
                <c:pt idx="5">
                  <c:v>464.8159999999998</c:v>
                </c:pt>
                <c:pt idx="6">
                  <c:v>3873.455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2072.769</c:v>
                </c:pt>
                <c:pt idx="2">
                  <c:v>2227.013</c:v>
                </c:pt>
                <c:pt idx="3">
                  <c:v>2392.619</c:v>
                </c:pt>
                <c:pt idx="4">
                  <c:v>2570.35</c:v>
                </c:pt>
                <c:pt idx="5">
                  <c:v>2761.009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2072.769</c:v>
                </c:pt>
                <c:pt idx="1">
                  <c:v>154.24400000000014</c:v>
                </c:pt>
                <c:pt idx="2">
                  <c:v>165.60600000000022</c:v>
                </c:pt>
                <c:pt idx="3">
                  <c:v>177.73099999999977</c:v>
                </c:pt>
                <c:pt idx="4">
                  <c:v>190.6590000000001</c:v>
                </c:pt>
                <c:pt idx="5">
                  <c:v>204.44000000000005</c:v>
                </c:pt>
                <c:pt idx="6">
                  <c:v>2965.449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1792.391</c:v>
                </c:pt>
                <c:pt idx="2">
                  <c:v>1944.444</c:v>
                </c:pt>
                <c:pt idx="3">
                  <c:v>2110.051</c:v>
                </c:pt>
                <c:pt idx="4">
                  <c:v>2290.473</c:v>
                </c:pt>
                <c:pt idx="5">
                  <c:v>2487.077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1792.391</c:v>
                </c:pt>
                <c:pt idx="1">
                  <c:v>152.05299999999988</c:v>
                </c:pt>
                <c:pt idx="2">
                  <c:v>165.60699999999997</c:v>
                </c:pt>
                <c:pt idx="3">
                  <c:v>180.42200000000003</c:v>
                </c:pt>
                <c:pt idx="4">
                  <c:v>196.60400000000027</c:v>
                </c:pt>
                <c:pt idx="5">
                  <c:v>214.29899999999998</c:v>
                </c:pt>
                <c:pt idx="6">
                  <c:v>2701.376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744.471</c:v>
                </c:pt>
                <c:pt idx="2">
                  <c:v>850.785</c:v>
                </c:pt>
                <c:pt idx="3">
                  <c:v>971.199</c:v>
                </c:pt>
                <c:pt idx="4">
                  <c:v>1107.559</c:v>
                </c:pt>
                <c:pt idx="5">
                  <c:v>1261.951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744.471</c:v>
                </c:pt>
                <c:pt idx="1">
                  <c:v>106.31399999999996</c:v>
                </c:pt>
                <c:pt idx="2">
                  <c:v>120.41399999999999</c:v>
                </c:pt>
                <c:pt idx="3">
                  <c:v>136.36</c:v>
                </c:pt>
                <c:pt idx="4">
                  <c:v>154.39200000000005</c:v>
                </c:pt>
                <c:pt idx="5">
                  <c:v>174.789</c:v>
                </c:pt>
                <c:pt idx="6">
                  <c:v>1436.74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295.939</c:v>
                </c:pt>
                <c:pt idx="2">
                  <c:v>326.878</c:v>
                </c:pt>
                <c:pt idx="3">
                  <c:v>361.191</c:v>
                </c:pt>
                <c:pt idx="4">
                  <c:v>399.269</c:v>
                </c:pt>
                <c:pt idx="5">
                  <c:v>441.546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295.939</c:v>
                </c:pt>
                <c:pt idx="1">
                  <c:v>30.938999999999965</c:v>
                </c:pt>
                <c:pt idx="2">
                  <c:v>34.31299999999999</c:v>
                </c:pt>
                <c:pt idx="3">
                  <c:v>38.07800000000003</c:v>
                </c:pt>
                <c:pt idx="4">
                  <c:v>42.27699999999999</c:v>
                </c:pt>
                <c:pt idx="5">
                  <c:v>46.95100000000002</c:v>
                </c:pt>
                <c:pt idx="6">
                  <c:v>488.497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1318.116</c:v>
                </c:pt>
                <c:pt idx="2">
                  <c:v>1472.417</c:v>
                </c:pt>
                <c:pt idx="3">
                  <c:v>1645.032</c:v>
                </c:pt>
                <c:pt idx="4">
                  <c:v>1838.196</c:v>
                </c:pt>
                <c:pt idx="5">
                  <c:v>2054.41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1318.116</c:v>
                </c:pt>
                <c:pt idx="1">
                  <c:v>154.30099999999993</c:v>
                </c:pt>
                <c:pt idx="2">
                  <c:v>172.615</c:v>
                </c:pt>
                <c:pt idx="3">
                  <c:v>193.164</c:v>
                </c:pt>
                <c:pt idx="4">
                  <c:v>216.21399999999994</c:v>
                </c:pt>
                <c:pt idx="5">
                  <c:v>242.09400000000005</c:v>
                </c:pt>
                <c:pt idx="6">
                  <c:v>2296.504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831.047</c:v>
                </c:pt>
                <c:pt idx="2">
                  <c:v>864.719</c:v>
                </c:pt>
                <c:pt idx="3">
                  <c:v>897.45</c:v>
                </c:pt>
                <c:pt idx="4">
                  <c:v>928.702</c:v>
                </c:pt>
                <c:pt idx="5">
                  <c:v>957.824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831.047</c:v>
                </c:pt>
                <c:pt idx="1">
                  <c:v>33.672000000000025</c:v>
                </c:pt>
                <c:pt idx="2">
                  <c:v>32.730999999999995</c:v>
                </c:pt>
                <c:pt idx="3">
                  <c:v>31.251999999999953</c:v>
                </c:pt>
                <c:pt idx="4">
                  <c:v>29.121999999999957</c:v>
                </c:pt>
                <c:pt idx="5">
                  <c:v>26.214000000000055</c:v>
                </c:pt>
                <c:pt idx="6">
                  <c:v>984.038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Oat-based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16.913320259181557</c:v>
                </c:pt>
                <c:pt idx="1">
                  <c:v>18.591467889908255</c:v>
                </c:pt>
                <c:pt idx="2">
                  <c:v>21.82780443209603</c:v>
                </c:pt>
              </c:numCache>
            </c:numRef>
          </c:val>
        </c:ser>
        <c:ser>
          <c:idx val="1"/>
          <c:order val="1"/>
          <c:tx>
            <c:strRef>
              <c:strCache>
                <c:ptCount val="1"/>
                <c:pt idx="0">
                  <c:v>Wheat-based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16.580420960153315</c:v>
                </c:pt>
                <c:pt idx="1">
                  <c:v>16.68621100917431</c:v>
                </c:pt>
                <c:pt idx="2">
                  <c:v>16.90258645159178</c:v>
                </c:pt>
              </c:numCache>
            </c:numRef>
          </c:val>
        </c:ser>
        <c:ser>
          <c:idx val="2"/>
          <c:order val="2"/>
          <c:tx>
            <c:strRef>
              <c:strCache>
                <c:ptCount val="1"/>
                <c:pt idx="0">
                  <c:v>Rice-based</c:v>
                </c:pt>
              </c:strCache>
            </c:strRef>
          </c:tx>
          <c:spPr>
            <a:solidFill>
              <a:srgbClr val="008189"/>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20.197690243161716</c:v>
                </c:pt>
                <c:pt idx="1">
                  <c:v>19.016229357798164</c:v>
                </c:pt>
                <c:pt idx="2">
                  <c:v>16.710983043653467</c:v>
                </c:pt>
              </c:numCache>
            </c:numRef>
          </c:val>
        </c:ser>
        <c:ser>
          <c:idx val="3"/>
          <c:order val="3"/>
          <c:tx>
            <c:strRef>
              <c:strCache>
                <c:ptCount val="1"/>
                <c:pt idx="0">
                  <c:v>Corn-based</c:v>
                </c:pt>
              </c:strCache>
            </c:strRef>
          </c:tx>
          <c:spPr>
            <a:solidFill>
              <a:srgbClr val="40315E"/>
            </a:solidFill>
            <a:ln>
              <a:noFill/>
            </a:ln>
          </c:spPr>
          <c:dLbls>
            <c:dLbl>
              <c:idx val="0"/>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17.074786856684057</c:v>
                </c:pt>
                <c:pt idx="1">
                  <c:v>16.443954128440367</c:v>
                </c:pt>
                <c:pt idx="2">
                  <c:v>15.222871319160248</c:v>
                </c:pt>
              </c:numCache>
            </c:numRef>
          </c:val>
        </c:ser>
        <c:ser>
          <c:idx val="4"/>
          <c:order val="4"/>
          <c:tx>
            <c:strRef>
              <c:strCache>
                <c:ptCount val="1"/>
                <c:pt idx="0">
                  <c:v>Other single-flour bases</c:v>
                </c:pt>
              </c:strCache>
            </c:strRef>
          </c:tx>
          <c:spPr>
            <a:solidFill>
              <a:srgbClr val="A35313"/>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11.66160991636329</c:v>
                </c:pt>
                <c:pt idx="1">
                  <c:v>12.092807339449541</c:v>
                </c:pt>
                <c:pt idx="2">
                  <c:v>12.941325041733096</c:v>
                </c:pt>
              </c:numCache>
            </c:numRef>
          </c:val>
        </c:ser>
        <c:ser>
          <c:idx val="5"/>
          <c:order val="5"/>
          <c:tx>
            <c:strRef>
              <c:strCache>
                <c:ptCount val="1"/>
                <c:pt idx="0">
                  <c:v>Millet-based</c:v>
                </c:pt>
              </c:strCache>
            </c:strRef>
          </c:tx>
          <c:spPr>
            <a:solidFill>
              <a:srgbClr val="808080"/>
            </a:solidFill>
            <a:ln>
              <a:noFill/>
            </a:ln>
          </c:spPr>
          <c:dLbls>
            <c:dLbl>
              <c:idx val="0"/>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6.182250413626987</c:v>
                </c:pt>
                <c:pt idx="1">
                  <c:v>6.830009174311927</c:v>
                </c:pt>
                <c:pt idx="2">
                  <c:v>8.096358351851165</c:v>
                </c:pt>
              </c:numCache>
            </c:numRef>
          </c:val>
        </c:ser>
        <c:ser>
          <c:idx val="6"/>
          <c:order val="6"/>
          <c:tx>
            <c:strRef>
              <c:strCache>
                <c:ptCount val="1"/>
                <c:pt idx="0">
                  <c:v>Multigrain and blended flour bases</c:v>
                </c:pt>
              </c:strCache>
            </c:strRef>
          </c:tx>
          <c:spPr>
            <a:solidFill>
              <a:srgbClr val="0E72A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8.693731073661407</c:v>
                </c:pt>
                <c:pt idx="1">
                  <c:v>7.624284403669725</c:v>
                </c:pt>
                <c:pt idx="2">
                  <c:v>5.545279090050334</c:v>
                </c:pt>
              </c:numCache>
            </c:numRef>
          </c:val>
        </c:ser>
        <c:ser>
          <c:idx val="7"/>
          <c:order val="7"/>
          <c:tx>
            <c:strRef>
              <c:strCache>
                <c:ptCount val="1"/>
                <c:pt idx="0">
                  <c:v>Almond and other nut flour-based</c:v>
                </c:pt>
              </c:strCache>
            </c:strRef>
          </c:tx>
          <c:spPr>
            <a:solidFill>
              <a:srgbClr val="A86F00"/>
            </a:solidFill>
            <a:ln>
              <a:noFill/>
            </a:ln>
          </c:spPr>
          <c:dLbls>
            <c:dLbl>
              <c:idx val="0"/>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2.6961902771676782</c:v>
                </c:pt>
                <c:pt idx="1">
                  <c:v>2.7150366972477067</c:v>
                </c:pt>
                <c:pt idx="2">
                  <c:v>2.7527922698638854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17.57090623208157</c:v>
                </c:pt>
                <c:pt idx="1">
                  <c:v>16.844287258080364</c:v>
                </c:pt>
                <c:pt idx="2">
                  <c:v>19.96180290635439</c:v>
                </c:pt>
                <c:pt idx="3">
                  <c:v>17.624747713270054</c:v>
                </c:pt>
                <c:pt idx="4">
                  <c:v>19.143416614965457</c:v>
                </c:pt>
                <c:pt idx="5">
                  <c:v>18.19374979685177</c:v>
                </c:pt>
              </c:numCache>
            </c:numRef>
          </c:val>
        </c:ser>
        <c:ser>
          <c:idx val="1"/>
          <c:order val="1"/>
          <c:tx>
            <c:strRef>
              <c:strCache>
                <c:ptCount val="1"/>
                <c:pt idx="0">
                  <c:v>Gluten-free</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48.347727638202386</c:v>
                </c:pt>
                <c:pt idx="1">
                  <c:v>50.90329763892982</c:v>
                </c:pt>
                <c:pt idx="2">
                  <c:v>45.72915760078426</c:v>
                </c:pt>
                <c:pt idx="3">
                  <c:v>50.66829247847434</c:v>
                </c:pt>
                <c:pt idx="4">
                  <c:v>45.563344083624834</c:v>
                </c:pt>
                <c:pt idx="5">
                  <c:v>47.52706494802955</c:v>
                </c:pt>
              </c:numCache>
            </c:numRef>
          </c:val>
        </c:ser>
        <c:ser>
          <c:idx val="2"/>
          <c:order val="2"/>
          <c:tx>
            <c:strRef>
              <c:strCache>
                <c:ptCount val="1"/>
                <c:pt idx="0">
                  <c:v>Vegan</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5.074093987203499</c:v>
                </c:pt>
                <c:pt idx="1">
                  <c:v>3.8282738972394146</c:v>
                </c:pt>
                <c:pt idx="2">
                  <c:v>4.943090925075646</c:v>
                </c:pt>
                <c:pt idx="3">
                  <c:v>4.959835045203128</c:v>
                </c:pt>
                <c:pt idx="4">
                  <c:v>4.7425022699418165</c:v>
                </c:pt>
                <c:pt idx="5">
                  <c:v>5.03940235005606</c:v>
                </c:pt>
              </c:numCache>
            </c:numRef>
          </c:val>
        </c:ser>
        <c:ser>
          <c:idx val="3"/>
          <c:order val="3"/>
          <c:tx>
            <c:strRef>
              <c:strCache>
                <c:ptCount val="1"/>
                <c:pt idx="0">
                  <c:v>Gluten-free and vegan</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29.00727214251255</c:v>
                </c:pt>
                <c:pt idx="1">
                  <c:v>28.424141205750402</c:v>
                </c:pt>
                <c:pt idx="2">
                  <c:v>29.36594856778571</c:v>
                </c:pt>
                <c:pt idx="3">
                  <c:v>26.747124763052476</c:v>
                </c:pt>
                <c:pt idx="4">
                  <c:v>30.55073703146789</c:v>
                </c:pt>
                <c:pt idx="5">
                  <c:v>29.23978290506262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c:v>
                </c:pt>
              </c:strCache>
            </c:strRef>
          </c:tx>
          <c:spPr>
            <a:solidFill>
              <a:srgbClr val="3D85C6"/>
            </a:solidFill>
          </c:spPr>
          <c:invertIfNegative val="0"/>
          <c:xVal>
            <c:numRef>
              <c:numCache>
                <c:formatCode>General</c:formatCode>
                <c:ptCount val="1"/>
                <c:pt idx="0">
                  <c:v>123.11944327301727</c:v>
                </c:pt>
              </c:numCache>
            </c:numRef>
          </c:xVal>
          <c:yVal>
            <c:numRef>
              <c:numCache>
                <c:formatCode>General</c:formatCode>
                <c:ptCount val="1"/>
                <c:pt idx="0">
                  <c:v>66.17658715596329</c:v>
                </c:pt>
              </c:numCache>
            </c:numRef>
          </c:yVal>
          <c:bubbleSize>
            <c:numRef>
              <c:numCache>
                <c:formatCode>General</c:formatCode>
                <c:ptCount val="1"/>
                <c:pt idx="0">
                  <c:v>3275.17</c:v>
                </c:pt>
              </c:numCache>
            </c:numRef>
          </c:bubbleSize>
          <c:bubble3D val="0"/>
        </c:ser>
        <c:ser>
          <c:idx val="1"/>
          <c:order val="1"/>
          <c:tx>
            <c:strRef>
              <c:strCache>
                <c:ptCount val="1"/>
                <c:pt idx="0">
                  <c:v>Gluten-free</c:v>
                </c:pt>
              </c:strCache>
            </c:strRef>
          </c:tx>
          <c:spPr>
            <a:solidFill>
              <a:srgbClr val="9E7E0A"/>
            </a:solidFill>
          </c:spPr>
          <c:invertIfNegative val="0"/>
          <c:xVal>
            <c:numRef>
              <c:numCache>
                <c:formatCode>General</c:formatCode>
                <c:ptCount val="1"/>
                <c:pt idx="0">
                  <c:v>109.08794041952822</c:v>
                </c:pt>
              </c:numCache>
            </c:numRef>
          </c:xVal>
          <c:yVal>
            <c:numRef>
              <c:numCache>
                <c:formatCode>General</c:formatCode>
                <c:ptCount val="1"/>
                <c:pt idx="0">
                  <c:v>181.96033027522935</c:v>
                </c:pt>
              </c:numCache>
            </c:numRef>
          </c:yVal>
          <c:bubbleSize>
            <c:numRef>
              <c:numCache>
                <c:formatCode>General</c:formatCode>
                <c:ptCount val="1"/>
                <c:pt idx="0">
                  <c:v>8428.285</c:v>
                </c:pt>
              </c:numCache>
            </c:numRef>
          </c:bubbleSize>
          <c:bubble3D val="0"/>
        </c:ser>
        <c:ser>
          <c:idx val="2"/>
          <c:order val="2"/>
          <c:tx>
            <c:strRef>
              <c:strCache>
                <c:ptCount val="1"/>
                <c:pt idx="0">
                  <c:v>Vegan</c:v>
                </c:pt>
              </c:strCache>
            </c:strRef>
          </c:tx>
          <c:spPr>
            <a:solidFill>
              <a:srgbClr val="008189"/>
            </a:solidFill>
          </c:spPr>
          <c:invertIfNegative val="0"/>
          <c:xVal>
            <c:numRef>
              <c:numCache>
                <c:formatCode>General</c:formatCode>
                <c:ptCount val="1"/>
                <c:pt idx="0">
                  <c:v>43.6809565536532</c:v>
                </c:pt>
              </c:numCache>
            </c:numRef>
          </c:xVal>
          <c:yVal>
            <c:numRef>
              <c:numCache>
                <c:formatCode>General</c:formatCode>
                <c:ptCount val="1"/>
                <c:pt idx="0">
                  <c:v>25.349688073394493</c:v>
                </c:pt>
              </c:numCache>
            </c:numRef>
          </c:yVal>
          <c:bubbleSize>
            <c:numRef>
              <c:numCache>
                <c:formatCode>General</c:formatCode>
                <c:ptCount val="1"/>
                <c:pt idx="0">
                  <c:v>857.169</c:v>
                </c:pt>
              </c:numCache>
            </c:numRef>
          </c:bubbleSize>
          <c:bubble3D val="0"/>
        </c:ser>
        <c:ser>
          <c:idx val="3"/>
          <c:order val="3"/>
          <c:tx>
            <c:strRef>
              <c:strCache>
                <c:ptCount val="1"/>
                <c:pt idx="0">
                  <c:v>Gluten-free and vegan</c:v>
                </c:pt>
              </c:strCache>
            </c:strRef>
          </c:tx>
          <c:spPr>
            <a:solidFill>
              <a:srgbClr val="40315E"/>
            </a:solidFill>
          </c:spPr>
          <c:invertIfNegative val="0"/>
          <c:xVal>
            <c:numRef>
              <c:numCache>
                <c:formatCode>General</c:formatCode>
                <c:ptCount val="1"/>
                <c:pt idx="0">
                  <c:v>83.40176873790008</c:v>
                </c:pt>
              </c:numCache>
            </c:numRef>
          </c:xVal>
          <c:yVal>
            <c:numRef>
              <c:numCache>
                <c:formatCode>General</c:formatCode>
                <c:ptCount val="1"/>
                <c:pt idx="0">
                  <c:v>126.51339449541284</c:v>
                </c:pt>
              </c:numCache>
            </c:numRef>
          </c:yVal>
          <c:bubbleSize>
            <c:numRef>
              <c:numCache>
                <c:formatCode>General</c:formatCode>
                <c:ptCount val="1"/>
                <c:pt idx="0">
                  <c:v>5184.885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1803.312</c:v>
                </c:pt>
                <c:pt idx="2">
                  <c:v>2037.598</c:v>
                </c:pt>
                <c:pt idx="3">
                  <c:v>2298.573</c:v>
                </c:pt>
                <c:pt idx="4">
                  <c:v>2589.404</c:v>
                </c:pt>
                <c:pt idx="5">
                  <c:v>2913.618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1803.312</c:v>
                </c:pt>
                <c:pt idx="1">
                  <c:v>234.28600000000006</c:v>
                </c:pt>
                <c:pt idx="2">
                  <c:v>260.9749999999999</c:v>
                </c:pt>
                <c:pt idx="3">
                  <c:v>290.83100000000013</c:v>
                </c:pt>
                <c:pt idx="4">
                  <c:v>324.21399999999994</c:v>
                </c:pt>
                <c:pt idx="5">
                  <c:v>361.55200000000013</c:v>
                </c:pt>
                <c:pt idx="6">
                  <c:v>3275.17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4958.419</c:v>
                </c:pt>
                <c:pt idx="2">
                  <c:v>5515.737</c:v>
                </c:pt>
                <c:pt idx="3">
                  <c:v>6134.021</c:v>
                </c:pt>
                <c:pt idx="4">
                  <c:v>6820.219</c:v>
                </c:pt>
                <c:pt idx="5">
                  <c:v>7582.078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4958.419</c:v>
                </c:pt>
                <c:pt idx="1">
                  <c:v>557.3180000000002</c:v>
                </c:pt>
                <c:pt idx="2">
                  <c:v>618.2839999999997</c:v>
                </c:pt>
                <c:pt idx="3">
                  <c:v>686.1980000000003</c:v>
                </c:pt>
                <c:pt idx="4">
                  <c:v>761.8590000000004</c:v>
                </c:pt>
                <c:pt idx="5">
                  <c:v>846.2069999999994</c:v>
                </c:pt>
                <c:pt idx="6">
                  <c:v>8428.285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690.779</c:v>
                </c:pt>
                <c:pt idx="2">
                  <c:v>720.308</c:v>
                </c:pt>
                <c:pt idx="3">
                  <c:v>751.648</c:v>
                </c:pt>
                <c:pt idx="4">
                  <c:v>784.858</c:v>
                </c:pt>
                <c:pt idx="5">
                  <c:v>820.013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690.779</c:v>
                </c:pt>
                <c:pt idx="1">
                  <c:v>29.528999999999996</c:v>
                </c:pt>
                <c:pt idx="2">
                  <c:v>31.340000000000032</c:v>
                </c:pt>
                <c:pt idx="3">
                  <c:v>33.20999999999992</c:v>
                </c:pt>
                <c:pt idx="4">
                  <c:v>35.155000000000086</c:v>
                </c:pt>
                <c:pt idx="5">
                  <c:v>37.15599999999995</c:v>
                </c:pt>
                <c:pt idx="6">
                  <c:v>857.169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3447.49</c:v>
                </c:pt>
                <c:pt idx="2">
                  <c:v>3732.413</c:v>
                </c:pt>
                <c:pt idx="3">
                  <c:v>4045.525</c:v>
                </c:pt>
                <c:pt idx="4">
                  <c:v>4389.747</c:v>
                </c:pt>
                <c:pt idx="5">
                  <c:v>4768.332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3447.49</c:v>
                </c:pt>
                <c:pt idx="1">
                  <c:v>284.92300000000023</c:v>
                </c:pt>
                <c:pt idx="2">
                  <c:v>313.1120000000001</c:v>
                </c:pt>
                <c:pt idx="3">
                  <c:v>344.2220000000002</c:v>
                </c:pt>
                <c:pt idx="4">
                  <c:v>378.58500000000004</c:v>
                </c:pt>
                <c:pt idx="5">
                  <c:v>416.5529999999999</c:v>
                </c:pt>
                <c:pt idx="6">
                  <c:v>5184.885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(base)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44.225102865232465</c:v>
                </c:pt>
                <c:pt idx="1">
                  <c:v>45.49008256880734</c:v>
                </c:pt>
                <c:pt idx="2">
                  <c:v>47.49531275772365</c:v>
                </c:pt>
              </c:numCache>
            </c:numRef>
          </c:val>
        </c:ser>
        <c:ser>
          <c:idx val="1"/>
          <c:order val="1"/>
          <c:tx>
            <c:strRef>
              <c:strCache>
                <c:ptCount val="1"/>
                <c:pt idx="0">
                  <c:v>and vegan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33.139764957068316</c:v>
                </c:pt>
                <c:pt idx="1">
                  <c:v>31.62834862385321</c:v>
                </c:pt>
                <c:pt idx="2">
                  <c:v>29.218012286939754</c:v>
                </c:pt>
              </c:numCache>
            </c:numRef>
          </c:val>
        </c:ser>
        <c:ser>
          <c:idx val="2"/>
          <c:order val="2"/>
          <c:tx>
            <c:strRef>
              <c:strCache>
                <c:ptCount val="1"/>
                <c:pt idx="0">
                  <c:v>Conventional</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15.353131163580802</c:v>
                </c:pt>
                <c:pt idx="1">
                  <c:v>16.544146788990822</c:v>
                </c:pt>
                <c:pt idx="2">
                  <c:v>18.456331683695293</c:v>
                </c:pt>
              </c:numCache>
            </c:numRef>
          </c:val>
        </c:ser>
        <c:ser>
          <c:idx val="3"/>
          <c:order val="3"/>
          <c:tx>
            <c:strRef>
              <c:strCache>
                <c:ptCount val="1"/>
                <c:pt idx="0">
                  <c:v>Vegan</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7.282001014118424</c:v>
                </c:pt>
                <c:pt idx="1">
                  <c:v>6.337422018348623</c:v>
                </c:pt>
                <c:pt idx="2">
                  <c:v>4.830343271641292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Standard / indulgent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20.04094945560452</c:v>
                </c:pt>
                <c:pt idx="1">
                  <c:v>18.964731309558896</c:v>
                </c:pt>
                <c:pt idx="2">
                  <c:v>16.131446422236486</c:v>
                </c:pt>
                <c:pt idx="3">
                  <c:v>18.17657024859452</c:v>
                </c:pt>
                <c:pt idx="4">
                  <c:v>19.143772606711988</c:v>
                </c:pt>
                <c:pt idx="5">
                  <c:v>18.49700573522473</c:v>
                </c:pt>
              </c:numCache>
            </c:numRef>
          </c:val>
        </c:ser>
        <c:ser>
          <c:idx val="1"/>
          <c:order val="1"/>
          <c:tx>
            <c:strRef>
              <c:strCache>
                <c:ptCount val="1"/>
                <c:pt idx="0">
                  <c:v>Protein-enriched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22.734663446154148</c:v>
                </c:pt>
                <c:pt idx="1">
                  <c:v>23.931492942987198</c:v>
                </c:pt>
                <c:pt idx="2">
                  <c:v>25.542218921566068</c:v>
                </c:pt>
                <c:pt idx="3">
                  <c:v>24.217624877340363</c:v>
                </c:pt>
                <c:pt idx="4">
                  <c:v>21.570311237650795</c:v>
                </c:pt>
                <c:pt idx="5">
                  <c:v>24.465920974125176</c:v>
                </c:pt>
              </c:numCache>
            </c:numRef>
          </c:val>
        </c:ser>
        <c:ser>
          <c:idx val="2"/>
          <c:order val="2"/>
          <c:tx>
            <c:strRef>
              <c:strCache>
                <c:ptCount val="1"/>
                <c:pt idx="0">
                  <c:v>Fibre-enriched</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4.410066321549874</c:v>
                </c:pt>
                <c:pt idx="1">
                  <c:v>3.2760258047614372</c:v>
                </c:pt>
                <c:pt idx="2">
                  <c:v>4.205302972401871</c:v>
                </c:pt>
                <c:pt idx="3">
                  <c:v>4.731345689099787</c:v>
                </c:pt>
                <c:pt idx="4">
                  <c:v>3.5536876097270387</c:v>
                </c:pt>
                <c:pt idx="5">
                  <c:v>3.89082562055012</c:v>
                </c:pt>
              </c:numCache>
            </c:numRef>
          </c:val>
        </c:ser>
        <c:ser>
          <c:idx val="3"/>
          <c:order val="3"/>
          <c:tx>
            <c:strRef>
              <c:strCache>
                <c:ptCount val="1"/>
                <c:pt idx="0">
                  <c:v>Reduced-sugar</c:v>
                </c:pt>
              </c:strCache>
            </c:strRef>
          </c:tx>
          <c:spPr>
            <a:solidFill>
              <a:srgbClr val="40315E"/>
            </a:solidFill>
            <a:ln>
              <a:noFill/>
            </a:ln>
          </c:spPr>
          <c:dLbls>
            <c:dLbl>
              <c:idx val="0"/>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19.921154836372736</c:v>
                </c:pt>
                <c:pt idx="1">
                  <c:v>16.57104496184956</c:v>
                </c:pt>
                <c:pt idx="2">
                  <c:v>19.11069602562024</c:v>
                </c:pt>
                <c:pt idx="3">
                  <c:v>19.07328726962565</c:v>
                </c:pt>
                <c:pt idx="4">
                  <c:v>16.919298846566964</c:v>
                </c:pt>
                <c:pt idx="5">
                  <c:v>20.177522596621035</c:v>
                </c:pt>
              </c:numCache>
            </c:numRef>
          </c:val>
        </c:ser>
        <c:ser>
          <c:idx val="4"/>
          <c:order val="4"/>
          <c:tx>
            <c:strRef>
              <c:strCache>
                <c:ptCount val="1"/>
                <c:pt idx="0">
                  <c:v>No-added-sugar</c:v>
                </c:pt>
              </c:strCache>
            </c:strRef>
          </c:tx>
          <c:spPr>
            <a:solidFill>
              <a:srgbClr val="A35313"/>
            </a:solidFill>
            <a:ln>
              <a:noFill/>
            </a:ln>
          </c:spPr>
          <c:dLbls>
            <c:dLbl>
              <c:idx val="0"/>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7.986849393392535</c:v>
                </c:pt>
                <c:pt idx="1">
                  <c:v>8.816059206863805</c:v>
                </c:pt>
                <c:pt idx="2">
                  <c:v>8.886677979415273</c:v>
                </c:pt>
                <c:pt idx="3">
                  <c:v>8.24523371980931</c:v>
                </c:pt>
                <c:pt idx="4">
                  <c:v>9.288299322607038</c:v>
                </c:pt>
                <c:pt idx="5">
                  <c:v>7.593727455216791</c:v>
                </c:pt>
              </c:numCache>
            </c:numRef>
          </c:val>
        </c:ser>
        <c:ser>
          <c:idx val="5"/>
          <c:order val="5"/>
          <c:tx>
            <c:strRef>
              <c:strCache>
                <c:ptCount val="1"/>
                <c:pt idx="0">
                  <c:v>Reduced-fat</c:v>
                </c:pt>
              </c:strCache>
            </c:strRef>
          </c:tx>
          <c:spPr>
            <a:solidFill>
              <a:srgbClr val="808080"/>
            </a:solidFill>
            <a:ln>
              <a:noFill/>
            </a:ln>
          </c:spPr>
          <c:dLbls>
            <c:dLbl>
              <c:idx val="0"/>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12.917677137663915</c:v>
                </c:pt>
                <c:pt idx="1">
                  <c:v>14.855290303566168</c:v>
                </c:pt>
                <c:pt idx="2">
                  <c:v>13.475409792610899</c:v>
                </c:pt>
                <c:pt idx="3">
                  <c:v>13.693374024718159</c:v>
                </c:pt>
                <c:pt idx="4">
                  <c:v>16.15615142860477</c:v>
                </c:pt>
                <c:pt idx="5">
                  <c:v>14.002021955326446</c:v>
                </c:pt>
              </c:numCache>
            </c:numRef>
          </c:val>
        </c:ser>
        <c:ser>
          <c:idx val="6"/>
          <c:order val="6"/>
          <c:tx>
            <c:strRef>
              <c:strCache>
                <c:ptCount val="1"/>
                <c:pt idx="0">
                  <c:v>Other nutrition-focused formulations</c:v>
                </c:pt>
              </c:strCache>
            </c:strRef>
          </c:tx>
          <c:spPr>
            <a:solidFill>
              <a:srgbClr val="0E72AE"/>
            </a:solidFill>
            <a:ln>
              <a:noFill/>
            </a:ln>
          </c:spPr>
          <c:dLbls>
            <c:dLbl>
              <c:idx val="0"/>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4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4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11.988639409262278</c:v>
                </c:pt>
                <c:pt idx="1">
                  <c:v>13.585355470412944</c:v>
                </c:pt>
                <c:pt idx="2">
                  <c:v>12.648247886149155</c:v>
                </c:pt>
                <c:pt idx="3">
                  <c:v>11.862564170812211</c:v>
                </c:pt>
                <c:pt idx="4">
                  <c:v>13.36847894813141</c:v>
                </c:pt>
                <c:pt idx="5">
                  <c:v>11.372975662935715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Standard / indulgent</c:v>
                </c:pt>
              </c:strCache>
            </c:strRef>
          </c:tx>
          <c:spPr>
            <a:solidFill>
              <a:srgbClr val="3D85C6"/>
            </a:solidFill>
          </c:spPr>
          <c:invertIfNegative val="0"/>
          <c:xVal>
            <c:numRef>
              <c:numCache>
                <c:formatCode>General</c:formatCode>
                <c:ptCount val="1"/>
                <c:pt idx="0">
                  <c:v>92.73917802414121</c:v>
                </c:pt>
              </c:numCache>
            </c:numRef>
          </c:xVal>
          <c:yVal>
            <c:numRef>
              <c:numCache>
                <c:formatCode>General</c:formatCode>
                <c:ptCount val="1"/>
                <c:pt idx="0">
                  <c:v>133.95116513761468</c:v>
                </c:pt>
              </c:numCache>
            </c:numRef>
          </c:yVal>
          <c:bubbleSize>
            <c:numRef>
              <c:numCache>
                <c:formatCode>General</c:formatCode>
                <c:ptCount val="1"/>
                <c:pt idx="0">
                  <c:v>3280.281</c:v>
                </c:pt>
              </c:numCache>
            </c:numRef>
          </c:bubbleSize>
          <c:bubble3D val="0"/>
        </c:ser>
        <c:ser>
          <c:idx val="1"/>
          <c:order val="1"/>
          <c:tx>
            <c:strRef>
              <c:strCache>
                <c:ptCount val="1"/>
                <c:pt idx="0">
                  <c:v>Protein-enriched</c:v>
                </c:pt>
              </c:strCache>
            </c:strRef>
          </c:tx>
          <c:spPr>
            <a:solidFill>
              <a:srgbClr val="9E7E0A"/>
            </a:solidFill>
          </c:spPr>
          <c:invertIfNegative val="0"/>
          <c:xVal>
            <c:numRef>
              <c:numCache>
                <c:formatCode>General</c:formatCode>
                <c:ptCount val="1"/>
                <c:pt idx="0">
                  <c:v>124.62612336779469</c:v>
                </c:pt>
              </c:numCache>
            </c:numRef>
          </c:xVal>
          <c:yVal>
            <c:numRef>
              <c:numCache>
                <c:formatCode>General</c:formatCode>
                <c:ptCount val="1"/>
                <c:pt idx="0">
                  <c:v>146.91188990825688</c:v>
                </c:pt>
              </c:numCache>
            </c:numRef>
          </c:yVal>
          <c:bubbleSize>
            <c:numRef>
              <c:numCache>
                <c:formatCode>General</c:formatCode>
                <c:ptCount val="1"/>
                <c:pt idx="0">
                  <c:v>4184.331</c:v>
                </c:pt>
              </c:numCache>
            </c:numRef>
          </c:bubbleSize>
          <c:bubble3D val="0"/>
        </c:ser>
        <c:ser>
          <c:idx val="2"/>
          <c:order val="2"/>
          <c:tx>
            <c:strRef>
              <c:strCache>
                <c:ptCount val="1"/>
                <c:pt idx="0">
                  <c:v>Fibre-enriched</c:v>
                </c:pt>
              </c:strCache>
            </c:strRef>
          </c:tx>
          <c:spPr>
            <a:solidFill>
              <a:srgbClr val="008189"/>
            </a:solidFill>
          </c:spPr>
          <c:invertIfNegative val="0"/>
          <c:xVal>
            <c:numRef>
              <c:numCache>
                <c:formatCode>General</c:formatCode>
                <c:ptCount val="1"/>
                <c:pt idx="0">
                  <c:v>148.0187284444254</c:v>
                </c:pt>
              </c:numCache>
            </c:numRef>
          </c:xVal>
          <c:yVal>
            <c:numRef>
              <c:numCache>
                <c:formatCode>General</c:formatCode>
                <c:ptCount val="1"/>
                <c:pt idx="0">
                  <c:v>21.935302752293577</c:v>
                </c:pt>
              </c:numCache>
            </c:numRef>
          </c:yVal>
          <c:bubbleSize>
            <c:numRef>
              <c:numCache>
                <c:formatCode>General</c:formatCode>
                <c:ptCount val="1"/>
                <c:pt idx="0">
                  <c:v>696.977</c:v>
                </c:pt>
              </c:numCache>
            </c:numRef>
          </c:bubbleSize>
          <c:bubble3D val="0"/>
        </c:ser>
        <c:ser>
          <c:idx val="3"/>
          <c:order val="3"/>
          <c:tx>
            <c:strRef>
              <c:strCache>
                <c:ptCount val="1"/>
                <c:pt idx="0">
                  <c:v>Reduced-sugar</c:v>
                </c:pt>
              </c:strCache>
            </c:strRef>
          </c:tx>
          <c:spPr>
            <a:solidFill>
              <a:srgbClr val="40315E"/>
            </a:solidFill>
          </c:spPr>
          <c:invertIfNegative val="0"/>
          <c:xVal>
            <c:numRef>
              <c:numCache>
                <c:formatCode>General</c:formatCode>
                <c:ptCount val="1"/>
                <c:pt idx="0">
                  <c:v>118.18928963853594</c:v>
                </c:pt>
              </c:numCache>
            </c:numRef>
          </c:xVal>
          <c:yVal>
            <c:numRef>
              <c:numCache>
                <c:formatCode>General</c:formatCode>
                <c:ptCount val="1"/>
                <c:pt idx="0">
                  <c:v>119.71573394495411</c:v>
                </c:pt>
              </c:numCache>
            </c:numRef>
          </c:yVal>
          <c:bubbleSize>
            <c:numRef>
              <c:numCache>
                <c:formatCode>General</c:formatCode>
                <c:ptCount val="1"/>
                <c:pt idx="0">
                  <c:v>3307.933</c:v>
                </c:pt>
              </c:numCache>
            </c:numRef>
          </c:bubbleSize>
          <c:bubble3D val="0"/>
        </c:ser>
        <c:ser>
          <c:idx val="4"/>
          <c:order val="4"/>
          <c:tx>
            <c:strRef>
              <c:strCache>
                <c:ptCount val="1"/>
                <c:pt idx="0">
                  <c:v>No-added-sugar</c:v>
                </c:pt>
              </c:strCache>
            </c:strRef>
          </c:tx>
          <c:spPr>
            <a:solidFill>
              <a:srgbClr val="A35313"/>
            </a:solidFill>
          </c:spPr>
          <c:invertIfNegative val="0"/>
          <c:xVal>
            <c:numRef>
              <c:numCache>
                <c:formatCode>General</c:formatCode>
                <c:ptCount val="1"/>
                <c:pt idx="0">
                  <c:v>87.55424254938319</c:v>
                </c:pt>
              </c:numCache>
            </c:numRef>
          </c:xVal>
          <c:yVal>
            <c:numRef>
              <c:numCache>
                <c:formatCode>General</c:formatCode>
                <c:ptCount val="1"/>
                <c:pt idx="0">
                  <c:v>62.8347614678899</c:v>
                </c:pt>
              </c:numCache>
            </c:numRef>
          </c:yVal>
          <c:bubbleSize>
            <c:numRef>
              <c:numCache>
                <c:formatCode>General</c:formatCode>
                <c:ptCount val="1"/>
                <c:pt idx="0">
                  <c:v>1501.076</c:v>
                </c:pt>
              </c:numCache>
            </c:numRef>
          </c:bubbleSize>
          <c:bubble3D val="0"/>
        </c:ser>
        <c:ser>
          <c:idx val="5"/>
          <c:order val="5"/>
          <c:tx>
            <c:strRef>
              <c:strCache>
                <c:ptCount val="1"/>
                <c:pt idx="0">
                  <c:v>Reduced-fat</c:v>
                </c:pt>
              </c:strCache>
            </c:strRef>
          </c:tx>
          <c:spPr>
            <a:solidFill>
              <a:srgbClr val="808080"/>
            </a:solidFill>
          </c:spPr>
          <c:invertIfNegative val="0"/>
          <c:xVal>
            <c:numRef>
              <c:numCache>
                <c:formatCode>General</c:formatCode>
                <c:ptCount val="1"/>
                <c:pt idx="0">
                  <c:v>94.76374496425942</c:v>
                </c:pt>
              </c:numCache>
            </c:numRef>
          </c:xVal>
          <c:yVal>
            <c:numRef>
              <c:numCache>
                <c:formatCode>General</c:formatCode>
                <c:ptCount val="1"/>
                <c:pt idx="0">
                  <c:v>104.11022935779815</c:v>
                </c:pt>
              </c:numCache>
            </c:numRef>
          </c:yVal>
          <c:bubbleSize>
            <c:numRef>
              <c:numCache>
                <c:formatCode>General</c:formatCode>
                <c:ptCount val="1"/>
                <c:pt idx="0">
                  <c:v>2574.263</c:v>
                </c:pt>
              </c:numCache>
            </c:numRef>
          </c:bubbleSize>
          <c:bubble3D val="0"/>
        </c:ser>
        <c:ser>
          <c:idx val="6"/>
          <c:order val="6"/>
          <c:tx>
            <c:strRef>
              <c:strCache>
                <c:ptCount val="1"/>
                <c:pt idx="0">
                  <c:v>Other nutrition-focused formulations</c:v>
                </c:pt>
              </c:strCache>
            </c:strRef>
          </c:tx>
          <c:spPr>
            <a:solidFill>
              <a:srgbClr val="0E72AE"/>
            </a:solidFill>
          </c:spPr>
          <c:invertIfNegative val="0"/>
          <c:xVal>
            <c:numRef>
              <c:numCache>
                <c:formatCode>General</c:formatCode>
                <c:ptCount val="1"/>
                <c:pt idx="0">
                  <c:v>49.80094285914397</c:v>
                </c:pt>
              </c:numCache>
            </c:numRef>
          </c:xVal>
          <c:yVal>
            <c:numRef>
              <c:numCache>
                <c:formatCode>General</c:formatCode>
                <c:ptCount val="1"/>
                <c:pt idx="0">
                  <c:v>110.54091743119263</c:v>
                </c:pt>
              </c:numCache>
            </c:numRef>
          </c:yVal>
          <c:bubbleSize>
            <c:numRef>
              <c:numCache>
                <c:formatCode>General</c:formatCode>
                <c:ptCount val="1"/>
                <c:pt idx="0">
                  <c:v>2200.648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8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2085.811</c:v>
                </c:pt>
                <c:pt idx="2">
                  <c:v>2282.78</c:v>
                </c:pt>
                <c:pt idx="3">
                  <c:v>2498.777</c:v>
                </c:pt>
                <c:pt idx="4">
                  <c:v>2735.648</c:v>
                </c:pt>
                <c:pt idx="5">
                  <c:v>2995.408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2085.811</c:v>
                </c:pt>
                <c:pt idx="1">
                  <c:v>196.96900000000005</c:v>
                </c:pt>
                <c:pt idx="2">
                  <c:v>215.99699999999984</c:v>
                </c:pt>
                <c:pt idx="3">
                  <c:v>236.8710000000001</c:v>
                </c:pt>
                <c:pt idx="4">
                  <c:v>259.75999999999976</c:v>
                </c:pt>
                <c:pt idx="5">
                  <c:v>284.87300000000005</c:v>
                </c:pt>
                <c:pt idx="6">
                  <c:v>3280.281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2287.628</c:v>
                </c:pt>
                <c:pt idx="2">
                  <c:v>2578.152</c:v>
                </c:pt>
                <c:pt idx="3">
                  <c:v>2907.291</c:v>
                </c:pt>
                <c:pt idx="4">
                  <c:v>3280.428</c:v>
                </c:pt>
                <c:pt idx="5">
                  <c:v>3703.755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2287.628</c:v>
                </c:pt>
                <c:pt idx="1">
                  <c:v>290.5239999999999</c:v>
                </c:pt>
                <c:pt idx="2">
                  <c:v>329.1390000000001</c:v>
                </c:pt>
                <c:pt idx="3">
                  <c:v>373.1369999999997</c:v>
                </c:pt>
                <c:pt idx="4">
                  <c:v>423.3270000000002</c:v>
                </c:pt>
                <c:pt idx="5">
                  <c:v>480.576</c:v>
                </c:pt>
                <c:pt idx="6">
                  <c:v>4184.331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341.564</c:v>
                </c:pt>
                <c:pt idx="2">
                  <c:v>394.141</c:v>
                </c:pt>
                <c:pt idx="3">
                  <c:v>454.664</c:v>
                </c:pt>
                <c:pt idx="4">
                  <c:v>524.34</c:v>
                </c:pt>
                <c:pt idx="5">
                  <c:v>604.569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341.564</c:v>
                </c:pt>
                <c:pt idx="1">
                  <c:v>52.577</c:v>
                </c:pt>
                <c:pt idx="2">
                  <c:v>60.52299999999997</c:v>
                </c:pt>
                <c:pt idx="3">
                  <c:v>69.67600000000004</c:v>
                </c:pt>
                <c:pt idx="4">
                  <c:v>80.22899999999993</c:v>
                </c:pt>
                <c:pt idx="5">
                  <c:v>92.40800000000002</c:v>
                </c:pt>
                <c:pt idx="6">
                  <c:v>696.977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1864.145</c:v>
                </c:pt>
                <c:pt idx="2">
                  <c:v>2088.042</c:v>
                </c:pt>
                <c:pt idx="3">
                  <c:v>2340.302</c:v>
                </c:pt>
                <c:pt idx="4">
                  <c:v>2624.716</c:v>
                </c:pt>
                <c:pt idx="5">
                  <c:v>2945.613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1864.145</c:v>
                </c:pt>
                <c:pt idx="1">
                  <c:v>223.89699999999993</c:v>
                </c:pt>
                <c:pt idx="2">
                  <c:v>252.26000000000022</c:v>
                </c:pt>
                <c:pt idx="3">
                  <c:v>284.41399999999976</c:v>
                </c:pt>
                <c:pt idx="4">
                  <c:v>320.89699999999993</c:v>
                </c:pt>
                <c:pt idx="5">
                  <c:v>362.32000000000016</c:v>
                </c:pt>
                <c:pt idx="6">
                  <c:v>3307.933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978.427</c:v>
                </c:pt>
                <c:pt idx="2">
                  <c:v>1066.03</c:v>
                </c:pt>
                <c:pt idx="3">
                  <c:v>1161.421</c:v>
                </c:pt>
                <c:pt idx="4">
                  <c:v>1265.256</c:v>
                </c:pt>
                <c:pt idx="5">
                  <c:v>1378.23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978.427</c:v>
                </c:pt>
                <c:pt idx="1">
                  <c:v>87.60299999999995</c:v>
                </c:pt>
                <c:pt idx="2">
                  <c:v>95.39100000000008</c:v>
                </c:pt>
                <c:pt idx="3">
                  <c:v>103.83500000000004</c:v>
                </c:pt>
                <c:pt idx="4">
                  <c:v>112.97399999999993</c:v>
                </c:pt>
                <c:pt idx="5">
                  <c:v>122.846</c:v>
                </c:pt>
                <c:pt idx="6">
                  <c:v>1501.076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1621.145</c:v>
                </c:pt>
                <c:pt idx="2">
                  <c:v>1777.388</c:v>
                </c:pt>
                <c:pt idx="3">
                  <c:v>1949.163</c:v>
                </c:pt>
                <c:pt idx="4">
                  <c:v>2138.053</c:v>
                </c:pt>
                <c:pt idx="5">
                  <c:v>2345.778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1621.145</c:v>
                </c:pt>
                <c:pt idx="1">
                  <c:v>156.24299999999994</c:v>
                </c:pt>
                <c:pt idx="2">
                  <c:v>171.7750000000001</c:v>
                </c:pt>
                <c:pt idx="3">
                  <c:v>188.88999999999987</c:v>
                </c:pt>
                <c:pt idx="4">
                  <c:v>207.7249999999999</c:v>
                </c:pt>
                <c:pt idx="5">
                  <c:v>228.48500000000013</c:v>
                </c:pt>
                <c:pt idx="6">
                  <c:v>2574.263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1721.28</c:v>
                </c:pt>
                <c:pt idx="2">
                  <c:v>1819.523</c:v>
                </c:pt>
                <c:pt idx="3">
                  <c:v>1918.149</c:v>
                </c:pt>
                <c:pt idx="4">
                  <c:v>2015.787</c:v>
                </c:pt>
                <c:pt idx="5">
                  <c:v>2110.688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1721.28</c:v>
                </c:pt>
                <c:pt idx="1">
                  <c:v>98.24299999999994</c:v>
                </c:pt>
                <c:pt idx="2">
                  <c:v>98.62599999999998</c:v>
                </c:pt>
                <c:pt idx="3">
                  <c:v>97.63800000000015</c:v>
                </c:pt>
                <c:pt idx="4">
                  <c:v>94.90100000000007</c:v>
                </c:pt>
                <c:pt idx="5">
                  <c:v>89.96000000000004</c:v>
                </c:pt>
                <c:pt idx="6">
                  <c:v>2200.648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Protein-enriched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19.83386010777309</c:v>
                </c:pt>
                <c:pt idx="1">
                  <c:v>20.987412844036697</c:v>
                </c:pt>
                <c:pt idx="2">
                  <c:v>23.579661761181377</c:v>
                </c:pt>
              </c:numCache>
            </c:numRef>
          </c:val>
        </c:ser>
        <c:ser>
          <c:idx val="1"/>
          <c:order val="1"/>
          <c:tx>
            <c:strRef>
              <c:strCache>
                <c:ptCount val="1"/>
                <c:pt idx="0">
                  <c:v>Reduced-sugar</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16.41477937312757</c:v>
                </c:pt>
                <c:pt idx="1">
                  <c:v>17.10224770642202</c:v>
                </c:pt>
                <c:pt idx="2">
                  <c:v>18.64095867861553</c:v>
                </c:pt>
              </c:numCache>
            </c:numRef>
          </c:val>
        </c:ser>
        <c:ser>
          <c:idx val="2"/>
          <c:order val="2"/>
          <c:tx>
            <c:strRef>
              <c:strCache>
                <c:ptCount val="1"/>
                <c:pt idx="0">
                  <c:v>Standard / indulgent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19.426417044192714</c:v>
                </c:pt>
                <c:pt idx="1">
                  <c:v>19.135880733944955</c:v>
                </c:pt>
                <c:pt idx="2">
                  <c:v>18.485133337116448</c:v>
                </c:pt>
              </c:numCache>
            </c:numRef>
          </c:val>
        </c:ser>
        <c:ser>
          <c:idx val="3"/>
          <c:order val="3"/>
          <c:tx>
            <c:strRef>
              <c:strCache>
                <c:ptCount val="1"/>
                <c:pt idx="0">
                  <c:v>Reduced-fat</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15.036033975436247</c:v>
                </c:pt>
                <c:pt idx="1">
                  <c:v>14.87288990825688</c:v>
                </c:pt>
                <c:pt idx="2">
                  <c:v>14.506560504970581</c:v>
                </c:pt>
              </c:numCache>
            </c:numRef>
          </c:val>
        </c:ser>
        <c:ser>
          <c:idx val="4"/>
          <c:order val="4"/>
          <c:tx>
            <c:strRef>
              <c:strCache>
                <c:ptCount val="1"/>
                <c:pt idx="0">
                  <c:v>Other nutrition-focused formulations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17.30235745497128</c:v>
                </c:pt>
                <c:pt idx="1">
                  <c:v>15.791559633027521</c:v>
                </c:pt>
                <c:pt idx="2">
                  <c:v>12.401154568178347</c:v>
                </c:pt>
              </c:numCache>
            </c:numRef>
          </c:val>
        </c:ser>
        <c:ser>
          <c:idx val="5"/>
          <c:order val="5"/>
          <c:tx>
            <c:strRef>
              <c:strCache>
                <c:ptCount val="1"/>
                <c:pt idx="0">
                  <c:v>No-added-sugar</c:v>
                </c:pt>
              </c:strCache>
            </c:strRef>
          </c:tx>
          <c:spPr>
            <a:solidFill>
              <a:srgbClr val="808080"/>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9.20745680064268</c:v>
                </c:pt>
                <c:pt idx="1">
                  <c:v>8.976394495412844</c:v>
                </c:pt>
                <c:pt idx="2">
                  <c:v>8.458906419646796</c:v>
                </c:pt>
              </c:numCache>
            </c:numRef>
          </c:val>
        </c:ser>
        <c:ser>
          <c:idx val="6"/>
          <c:order val="6"/>
          <c:tx>
            <c:strRef>
              <c:strCache>
                <c:ptCount val="1"/>
                <c:pt idx="0">
                  <c:v>Fibre-enriched</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2.7790952438564243</c:v>
                </c:pt>
                <c:pt idx="1">
                  <c:v>3.1336146788990824</c:v>
                </c:pt>
                <c:pt idx="2">
                  <c:v>3.927624730290914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Organic-certified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16.099665874533205</c:v>
                </c:pt>
                <c:pt idx="1">
                  <c:v>16.90428005370534</c:v>
                </c:pt>
                <c:pt idx="2">
                  <c:v>17.952899086954275</c:v>
                </c:pt>
                <c:pt idx="3">
                  <c:v>16.050729130794167</c:v>
                </c:pt>
                <c:pt idx="4">
                  <c:v>15.606163957536515</c:v>
                </c:pt>
                <c:pt idx="5">
                  <c:v>13.679730794506648</c:v>
                </c:pt>
              </c:numCache>
            </c:numRef>
          </c:val>
        </c:ser>
        <c:ser>
          <c:idx val="1"/>
          <c:order val="1"/>
          <c:tx>
            <c:strRef>
              <c:strCache>
                <c:ptCount val="1"/>
                <c:pt idx="0">
                  <c:v>Conventional / non-organic</c:v>
                </c:pt>
              </c:strCache>
            </c:strRef>
          </c:tx>
          <c:spPr>
            <a:solidFill>
              <a:srgbClr val="9E7E0A"/>
            </a:solidFill>
            <a:ln>
              <a:noFill/>
            </a:ln>
          </c:spPr>
          <c:dLbls>
            <c:dLbl>
              <c:idx val="0"/>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1.5092497689385138</c:v>
                </c:pt>
                <c:pt idx="1">
                  <c:v>1.5781510953924747</c:v>
                </c:pt>
                <c:pt idx="2">
                  <c:v>1.2939563680156994</c:v>
                </c:pt>
                <c:pt idx="3">
                  <c:v>1.724213174347144</c:v>
                </c:pt>
                <c:pt idx="4">
                  <c:v>1.6913761197176513</c:v>
                </c:pt>
                <c:pt idx="5">
                  <c:v>1.510376718073598</c:v>
                </c:pt>
              </c:numCache>
            </c:numRef>
          </c:val>
        </c:ser>
        <c:ser>
          <c:idx val="2"/>
          <c:order val="2"/>
          <c:tx>
            <c:strRef>
              <c:strCache>
                <c:ptCount val="1"/>
                <c:pt idx="0">
                  <c:v>Additional claim mapping</c:v>
                </c:pt>
              </c:strCache>
            </c:strRef>
          </c:tx>
          <c:spPr>
            <a:solidFill>
              <a:srgbClr val="008189"/>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82.39108435652828</c:v>
                </c:pt>
                <c:pt idx="1">
                  <c:v>81.51756885090218</c:v>
                </c:pt>
                <c:pt idx="2">
                  <c:v>80.75314454503003</c:v>
                </c:pt>
                <c:pt idx="3">
                  <c:v>82.22505769485868</c:v>
                </c:pt>
                <c:pt idx="4">
                  <c:v>82.70245992274585</c:v>
                </c:pt>
                <c:pt idx="5">
                  <c:v>84.80989248741975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Organic-certified</c:v>
                </c:pt>
              </c:strCache>
            </c:strRef>
          </c:tx>
          <c:spPr>
            <a:solidFill>
              <a:srgbClr val="3D85C6"/>
            </a:solidFill>
          </c:spPr>
          <c:invertIfNegative val="0"/>
          <c:xVal>
            <c:numRef>
              <c:numCache>
                <c:formatCode>General</c:formatCode>
                <c:ptCount val="1"/>
                <c:pt idx="0">
                  <c:v>67.96817505042651</c:v>
                </c:pt>
              </c:numCache>
            </c:numRef>
          </c:xVal>
          <c:yVal>
            <c:numRef>
              <c:numCache>
                <c:formatCode>General</c:formatCode>
                <c:ptCount val="1"/>
                <c:pt idx="0">
                  <c:v>54.31593577981651</c:v>
                </c:pt>
              </c:numCache>
            </c:numRef>
          </c:yVal>
          <c:bubbleSize>
            <c:numRef>
              <c:numCache>
                <c:formatCode>General</c:formatCode>
                <c:ptCount val="1"/>
                <c:pt idx="0">
                  <c:v>2755.571</c:v>
                </c:pt>
              </c:numCache>
            </c:numRef>
          </c:bubbleSize>
          <c:bubble3D val="0"/>
        </c:ser>
        <c:ser>
          <c:idx val="1"/>
          <c:order val="1"/>
          <c:tx>
            <c:strRef>
              <c:strCache>
                <c:ptCount val="1"/>
                <c:pt idx="0">
                  <c:v>Conventional / non-organic</c:v>
                </c:pt>
              </c:strCache>
            </c:strRef>
          </c:tx>
          <c:spPr>
            <a:solidFill>
              <a:srgbClr val="9E7E0A"/>
            </a:solidFill>
          </c:spPr>
          <c:invertIfNegative val="0"/>
          <c:xVal>
            <c:numRef>
              <c:numCache>
                <c:formatCode>General</c:formatCode>
                <c:ptCount val="1"/>
                <c:pt idx="0">
                  <c:v>61.66954799273161</c:v>
                </c:pt>
              </c:numCache>
            </c:numRef>
          </c:xVal>
          <c:yVal>
            <c:numRef>
              <c:numCache>
                <c:formatCode>General</c:formatCode>
                <c:ptCount val="1"/>
                <c:pt idx="0">
                  <c:v>5.654311926605505</c:v>
                </c:pt>
              </c:numCache>
            </c:numRef>
          </c:yVal>
          <c:bubbleSize>
            <c:numRef>
              <c:numCache>
                <c:formatCode>General</c:formatCode>
                <c:ptCount val="1"/>
                <c:pt idx="0">
                  <c:v>278.247</c:v>
                </c:pt>
              </c:numCache>
            </c:numRef>
          </c:bubbleSize>
          <c:bubble3D val="0"/>
        </c:ser>
        <c:ser>
          <c:idx val="2"/>
          <c:order val="2"/>
          <c:tx>
            <c:strRef>
              <c:strCache>
                <c:ptCount val="1"/>
                <c:pt idx="0">
                  <c:v>Additional claim mapping</c:v>
                </c:pt>
              </c:strCache>
            </c:strRef>
          </c:tx>
          <c:spPr>
            <a:solidFill>
              <a:srgbClr val="008189"/>
            </a:solidFill>
          </c:spPr>
          <c:invertIfNegative val="0"/>
          <c:xVal>
            <c:numRef>
              <c:numCache>
                <c:formatCode>General</c:formatCode>
                <c:ptCount val="1"/>
                <c:pt idx="0">
                  <c:v>107.4824484430546</c:v>
                </c:pt>
              </c:numCache>
            </c:numRef>
          </c:xVal>
          <c:yVal>
            <c:numRef>
              <c:numCache>
                <c:formatCode>General</c:formatCode>
                <c:ptCount val="1"/>
                <c:pt idx="0">
                  <c:v>240.02975229357796</c:v>
                </c:pt>
              </c:numCache>
            </c:numRef>
          </c:yVal>
          <c:bubbleSize>
            <c:numRef>
              <c:numCache>
                <c:formatCode>General</c:formatCode>
                <c:ptCount val="1"/>
                <c:pt idx="0">
                  <c:v>14711.691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1973.479</c:v>
                </c:pt>
                <c:pt idx="2">
                  <c:v>2113.133</c:v>
                </c:pt>
                <c:pt idx="3">
                  <c:v>2261.044</c:v>
                </c:pt>
                <c:pt idx="4">
                  <c:v>2417.372</c:v>
                </c:pt>
                <c:pt idx="5">
                  <c:v>2582.224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1973.479</c:v>
                </c:pt>
                <c:pt idx="1">
                  <c:v>139.65399999999977</c:v>
                </c:pt>
                <c:pt idx="2">
                  <c:v>147.91100000000006</c:v>
                </c:pt>
                <c:pt idx="3">
                  <c:v>156.32799999999997</c:v>
                </c:pt>
                <c:pt idx="4">
                  <c:v>164.85200000000032</c:v>
                </c:pt>
                <c:pt idx="5">
                  <c:v>173.34699999999975</c:v>
                </c:pt>
                <c:pt idx="6">
                  <c:v>2755.571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205.44</c:v>
                </c:pt>
                <c:pt idx="2">
                  <c:v>218.855</c:v>
                </c:pt>
                <c:pt idx="3">
                  <c:v>232.88</c:v>
                </c:pt>
                <c:pt idx="4">
                  <c:v>247.48</c:v>
                </c:pt>
                <c:pt idx="5">
                  <c:v>262.629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205.44</c:v>
                </c:pt>
                <c:pt idx="1">
                  <c:v>13.414999999999992</c:v>
                </c:pt>
                <c:pt idx="2">
                  <c:v>14.025000000000006</c:v>
                </c:pt>
                <c:pt idx="3">
                  <c:v>14.599999999999994</c:v>
                </c:pt>
                <c:pt idx="4">
                  <c:v>15.14900000000003</c:v>
                </c:pt>
                <c:pt idx="5">
                  <c:v>15.617999999999995</c:v>
                </c:pt>
                <c:pt idx="6">
                  <c:v>278.247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8721.081</c:v>
                </c:pt>
                <c:pt idx="2">
                  <c:v>9674.068</c:v>
                </c:pt>
                <c:pt idx="3">
                  <c:v>10735.843</c:v>
                </c:pt>
                <c:pt idx="4">
                  <c:v>11919.376</c:v>
                </c:pt>
                <c:pt idx="5">
                  <c:v>13239.188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8721.081</c:v>
                </c:pt>
                <c:pt idx="1">
                  <c:v>952.9869999999992</c:v>
                </c:pt>
                <c:pt idx="2">
                  <c:v>1061.7750000000015</c:v>
                </c:pt>
                <c:pt idx="3">
                  <c:v>1183.5329999999994</c:v>
                </c:pt>
                <c:pt idx="4">
                  <c:v>1319.812</c:v>
                </c:pt>
                <c:pt idx="5">
                  <c:v>1472.5030000000006</c:v>
                </c:pt>
                <c:pt idx="6">
                  <c:v>14711.691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Additional claim mapping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78.61890224262032</c:v>
                </c:pt>
                <c:pt idx="1">
                  <c:v>80.00991743119266</c:v>
                </c:pt>
                <c:pt idx="2">
                  <c:v>82.90374201157036</c:v>
                </c:pt>
              </c:numCache>
            </c:numRef>
          </c:val>
        </c:ser>
        <c:ser>
          <c:idx val="1"/>
          <c:order val="1"/>
          <c:tx>
            <c:strRef>
              <c:strCache>
                <c:ptCount val="1"/>
                <c:pt idx="0">
                  <c:v>Organic-certified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19.3445670479749</c:v>
                </c:pt>
                <c:pt idx="1">
                  <c:v>18.105311926605506</c:v>
                </c:pt>
                <c:pt idx="2">
                  <c:v>15.528272533630902</c:v>
                </c:pt>
              </c:numCache>
            </c:numRef>
          </c:val>
        </c:ser>
        <c:ser>
          <c:idx val="2"/>
          <c:order val="2"/>
          <c:tx>
            <c:strRef>
              <c:strCache>
                <c:ptCount val="1"/>
                <c:pt idx="0">
                  <c:v>Conventional / non-organic</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2.0365307094047926</c:v>
                </c:pt>
                <c:pt idx="1">
                  <c:v>1.8847706422018349</c:v>
                </c:pt>
                <c:pt idx="2">
                  <c:v>1.5679854547987322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36.21898943695717</c:v>
                </c:pt>
                <c:pt idx="1">
                  <c:v>35.53453187935946</c:v>
                </c:pt>
                <c:pt idx="2">
                  <c:v>37.44905618365706</c:v>
                </c:pt>
                <c:pt idx="3">
                  <c:v>38.515147573964136</c:v>
                </c:pt>
                <c:pt idx="4">
                  <c:v>37.10683925410236</c:v>
                </c:pt>
                <c:pt idx="5">
                  <c:v>35.655101196771895</c:v>
                </c:pt>
              </c:numCache>
            </c:numRef>
          </c:val>
        </c:ser>
        <c:ser>
          <c:idx val="1"/>
          <c:order val="1"/>
          <c:tx>
            <c:strRef>
              <c:strCache>
                <c:ptCount val="1"/>
                <c:pt idx="0">
                  <c:v>Filled muffins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63.78101056304284</c:v>
                </c:pt>
                <c:pt idx="1">
                  <c:v>64.46546812064054</c:v>
                </c:pt>
                <c:pt idx="2">
                  <c:v>62.55094381634293</c:v>
                </c:pt>
                <c:pt idx="3">
                  <c:v>61.48485242603585</c:v>
                </c:pt>
                <c:pt idx="4">
                  <c:v>62.89316074589764</c:v>
                </c:pt>
                <c:pt idx="5">
                  <c:v>64.34489880322812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Unfilled muffins</c:v>
                </c:pt>
              </c:strCache>
            </c:strRef>
          </c:tx>
          <c:spPr>
            <a:solidFill>
              <a:srgbClr val="3D85C6"/>
            </a:solidFill>
          </c:spPr>
          <c:invertIfNegative val="0"/>
          <c:xVal>
            <c:numRef>
              <c:numCache>
                <c:formatCode>General</c:formatCode>
                <c:ptCount val="1"/>
                <c:pt idx="0">
                  <c:v>95.19421257435849</c:v>
                </c:pt>
              </c:numCache>
            </c:numRef>
          </c:xVal>
          <c:yVal>
            <c:numRef>
              <c:numCache>
                <c:formatCode>General</c:formatCode>
                <c:ptCount val="1"/>
                <c:pt idx="0">
                  <c:v>75.09787155963302</c:v>
                </c:pt>
              </c:numCache>
            </c:numRef>
          </c:yVal>
          <c:bubbleSize>
            <c:numRef>
              <c:numCache>
                <c:formatCode>General</c:formatCode>
                <c:ptCount val="1"/>
                <c:pt idx="0">
                  <c:v>6512.483</c:v>
                </c:pt>
              </c:numCache>
            </c:numRef>
          </c:bubbleSize>
          <c:bubble3D val="0"/>
        </c:ser>
        <c:ser>
          <c:idx val="1"/>
          <c:order val="1"/>
          <c:tx>
            <c:strRef>
              <c:strCache>
                <c:ptCount val="1"/>
                <c:pt idx="0">
                  <c:v>Filled muffins</c:v>
                </c:pt>
              </c:strCache>
            </c:strRef>
          </c:tx>
          <c:spPr>
            <a:solidFill>
              <a:srgbClr val="9E7E0A"/>
            </a:solidFill>
          </c:spPr>
          <c:invertIfNegative val="0"/>
          <c:xVal>
            <c:numRef>
              <c:numCache>
                <c:formatCode>General</c:formatCode>
                <c:ptCount val="1"/>
                <c:pt idx="0">
                  <c:v>102.84259429822207</c:v>
                </c:pt>
              </c:numCache>
            </c:numRef>
          </c:xVal>
          <c:yVal>
            <c:numRef>
              <c:numCache>
                <c:formatCode>General</c:formatCode>
                <c:ptCount val="1"/>
                <c:pt idx="0">
                  <c:v>124.90212844036697</c:v>
                </c:pt>
              </c:numCache>
            </c:numRef>
          </c:yVal>
          <c:bubbleSize>
            <c:numRef>
              <c:numCache>
                <c:formatCode>General</c:formatCode>
                <c:ptCount val="1"/>
                <c:pt idx="0">
                  <c:v>11233.026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4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4092.834</c:v>
                </c:pt>
                <c:pt idx="2">
                  <c:v>4488.3060000000005</c:v>
                </c:pt>
                <c:pt idx="3">
                  <c:v>4923.603</c:v>
                </c:pt>
                <c:pt idx="4">
                  <c:v>5402.9</c:v>
                </c:pt>
                <c:pt idx="5">
                  <c:v>5930.817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4092.834</c:v>
                </c:pt>
                <c:pt idx="1">
                  <c:v>395.47200000000066</c:v>
                </c:pt>
                <c:pt idx="2">
                  <c:v>435.29699999999957</c:v>
                </c:pt>
                <c:pt idx="3">
                  <c:v>479.29699999999957</c:v>
                </c:pt>
                <c:pt idx="4">
                  <c:v>527.9170000000004</c:v>
                </c:pt>
                <c:pt idx="5">
                  <c:v>581.6660000000002</c:v>
                </c:pt>
                <c:pt idx="6">
                  <c:v>6512.483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6807.166</c:v>
                </c:pt>
                <c:pt idx="2">
                  <c:v>7517.75</c:v>
                </c:pt>
                <c:pt idx="3">
                  <c:v>8306.164</c:v>
                </c:pt>
                <c:pt idx="4">
                  <c:v>9181.328</c:v>
                </c:pt>
                <c:pt idx="5">
                  <c:v>10153.224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6807.166</c:v>
                </c:pt>
                <c:pt idx="1">
                  <c:v>710.5839999999998</c:v>
                </c:pt>
                <c:pt idx="2">
                  <c:v>788.4140000000007</c:v>
                </c:pt>
                <c:pt idx="3">
                  <c:v>875.1639999999989</c:v>
                </c:pt>
                <c:pt idx="4">
                  <c:v>971.8960000000006</c:v>
                </c:pt>
                <c:pt idx="5">
                  <c:v>1079.8019999999997</c:v>
                </c:pt>
                <c:pt idx="6">
                  <c:v>11233.026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Filled muffins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62.04832393249895</c:v>
                </c:pt>
                <c:pt idx="1">
                  <c:v>62.45106422018348</c:v>
                </c:pt>
                <c:pt idx="2">
                  <c:v>63.30066948206445</c:v>
                </c:pt>
              </c:numCache>
            </c:numRef>
          </c:val>
        </c:ser>
        <c:ser>
          <c:idx val="1"/>
          <c:order val="1"/>
          <c:tx>
            <c:strRef>
              <c:strCache>
                <c:ptCount val="1"/>
                <c:pt idx="0">
                  <c:v>Unfilled muffins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37.95167606750105</c:v>
                </c:pt>
                <c:pt idx="1">
                  <c:v>37.54893577981651</c:v>
                </c:pt>
                <c:pt idx="2">
                  <c:v>36.69933051793556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Untopped</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7.364567106915276</c:v>
                </c:pt>
                <c:pt idx="1">
                  <c:v>6.594491927825262</c:v>
                </c:pt>
                <c:pt idx="2">
                  <c:v>8.24975049955313</c:v>
                </c:pt>
                <c:pt idx="3">
                  <c:v>7.566160588092195</c:v>
                </c:pt>
                <c:pt idx="4">
                  <c:v>6.352850712685589</c:v>
                </c:pt>
                <c:pt idx="5">
                  <c:v>6.9924087009833675</c:v>
                </c:pt>
              </c:numCache>
            </c:numRef>
          </c:val>
        </c:ser>
        <c:ser>
          <c:idx val="1"/>
          <c:order val="1"/>
          <c:tx>
            <c:strRef>
              <c:strCache>
                <c:ptCount val="1"/>
                <c:pt idx="0">
                  <c:v>Crumb / streusel-topped</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4.417944340577321</c:v>
                </c:pt>
                <c:pt idx="1">
                  <c:v>4.618593836984642</c:v>
                </c:pt>
                <c:pt idx="2">
                  <c:v>5.654459883994993</c:v>
                </c:pt>
                <c:pt idx="3">
                  <c:v>4.93127387569021</c:v>
                </c:pt>
                <c:pt idx="4">
                  <c:v>4.330046276949317</c:v>
                </c:pt>
                <c:pt idx="5">
                  <c:v>5.54143532675762</c:v>
                </c:pt>
              </c:numCache>
            </c:numRef>
          </c:val>
        </c:ser>
        <c:ser>
          <c:idx val="2"/>
          <c:order val="2"/>
          <c:tx>
            <c:strRef>
              <c:strCache>
                <c:ptCount val="1"/>
                <c:pt idx="0">
                  <c:v>Sugar-topped</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8.452545899612922</c:v>
                </c:pt>
                <c:pt idx="1">
                  <c:v>8.870812457019353</c:v>
                </c:pt>
                <c:pt idx="2">
                  <c:v>9.310972320581676</c:v>
                </c:pt>
                <c:pt idx="3">
                  <c:v>7.830124558673759</c:v>
                </c:pt>
                <c:pt idx="4">
                  <c:v>8.268303859524075</c:v>
                </c:pt>
                <c:pt idx="5">
                  <c:v>8.891709198589115</c:v>
                </c:pt>
              </c:numCache>
            </c:numRef>
          </c:val>
        </c:ser>
        <c:ser>
          <c:idx val="3"/>
          <c:order val="3"/>
          <c:tx>
            <c:strRef>
              <c:strCache>
                <c:ptCount val="1"/>
                <c:pt idx="0">
                  <c:v>Nut and seed-topped</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34.79802221114066</c:v>
                </c:pt>
                <c:pt idx="1">
                  <c:v>42.820381831876084</c:v>
                </c:pt>
                <c:pt idx="2">
                  <c:v>37.27618407235093</c:v>
                </c:pt>
                <c:pt idx="3">
                  <c:v>36.57290162902368</c:v>
                </c:pt>
                <c:pt idx="4">
                  <c:v>41.751542680344926</c:v>
                </c:pt>
                <c:pt idx="5">
                  <c:v>36.834145490370865</c:v>
                </c:pt>
              </c:numCache>
            </c:numRef>
          </c:val>
        </c:ser>
        <c:ser>
          <c:idx val="4"/>
          <c:order val="4"/>
          <c:tx>
            <c:strRef>
              <c:strCache>
                <c:ptCount val="1"/>
                <c:pt idx="0">
                  <c:v>Glazed / drizzled</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34.58141729623138</c:v>
                </c:pt>
                <c:pt idx="1">
                  <c:v>26.12005108556833</c:v>
                </c:pt>
                <c:pt idx="2">
                  <c:v>27.695897059583668</c:v>
                </c:pt>
                <c:pt idx="3">
                  <c:v>31.088595365140076</c:v>
                </c:pt>
                <c:pt idx="4">
                  <c:v>28.802224236432316</c:v>
                </c:pt>
                <c:pt idx="5">
                  <c:v>32.12962482118286</c:v>
                </c:pt>
              </c:numCache>
            </c:numRef>
          </c:val>
        </c:ser>
        <c:ser>
          <c:idx val="5"/>
          <c:order val="5"/>
          <c:tx>
            <c:strRef>
              <c:strCache>
                <c:ptCount val="1"/>
                <c:pt idx="0">
                  <c:v>Other toppings</c:v>
                </c:pt>
              </c:strCache>
            </c:strRef>
          </c:tx>
          <c:spPr>
            <a:solidFill>
              <a:srgbClr val="808080"/>
            </a:solidFill>
            <a:ln>
              <a:noFill/>
            </a:ln>
          </c:spPr>
          <c:dLbls>
            <c:dLbl>
              <c:idx val="0"/>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10.385503145522442</c:v>
                </c:pt>
                <c:pt idx="1">
                  <c:v>10.975668860726334</c:v>
                </c:pt>
                <c:pt idx="2">
                  <c:v>11.8127361639356</c:v>
                </c:pt>
                <c:pt idx="3">
                  <c:v>12.010943983380077</c:v>
                </c:pt>
                <c:pt idx="4">
                  <c:v>10.495032234063782</c:v>
                </c:pt>
                <c:pt idx="5">
                  <c:v>9.61067646211617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Untopped</c:v>
                </c:pt>
              </c:strCache>
            </c:strRef>
          </c:tx>
          <c:spPr>
            <a:solidFill>
              <a:srgbClr val="3D85C6"/>
            </a:solidFill>
          </c:spPr>
          <c:invertIfNegative val="0"/>
          <c:xVal>
            <c:numRef>
              <c:numCache>
                <c:formatCode>General</c:formatCode>
                <c:ptCount val="1"/>
                <c:pt idx="0">
                  <c:v>39.759596871487105</c:v>
                </c:pt>
              </c:numCache>
            </c:numRef>
          </c:xVal>
          <c:yVal>
            <c:numRef>
              <c:numCache>
                <c:formatCode>General</c:formatCode>
                <c:ptCount val="1"/>
                <c:pt idx="0">
                  <c:v>56.46814678899082</c:v>
                </c:pt>
              </c:numCache>
            </c:numRef>
          </c:yVal>
          <c:bubbleSize>
            <c:numRef>
              <c:numCache>
                <c:formatCode>General</c:formatCode>
                <c:ptCount val="1"/>
                <c:pt idx="0">
                  <c:v>1248.746</c:v>
                </c:pt>
              </c:numCache>
            </c:numRef>
          </c:bubbleSize>
          <c:bubble3D val="0"/>
        </c:ser>
        <c:ser>
          <c:idx val="1"/>
          <c:order val="1"/>
          <c:tx>
            <c:strRef>
              <c:strCache>
                <c:ptCount val="1"/>
                <c:pt idx="0">
                  <c:v>Crumb / streusel-topped</c:v>
                </c:pt>
              </c:strCache>
            </c:strRef>
          </c:tx>
          <c:spPr>
            <a:solidFill>
              <a:srgbClr val="9E7E0A"/>
            </a:solidFill>
          </c:spPr>
          <c:invertIfNegative val="0"/>
          <c:xVal>
            <c:numRef>
              <c:numCache>
                <c:formatCode>General</c:formatCode>
                <c:ptCount val="1"/>
                <c:pt idx="0">
                  <c:v>46.15050211182437</c:v>
                </c:pt>
              </c:numCache>
            </c:numRef>
          </c:xVal>
          <c:yVal>
            <c:numRef>
              <c:numCache>
                <c:formatCode>General</c:formatCode>
                <c:ptCount val="1"/>
                <c:pt idx="0">
                  <c:v>38.68398165137615</c:v>
                </c:pt>
              </c:numCache>
            </c:numRef>
          </c:yVal>
          <c:bubbleSize>
            <c:numRef>
              <c:numCache>
                <c:formatCode>General</c:formatCode>
                <c:ptCount val="1"/>
                <c:pt idx="0">
                  <c:v>882.618</c:v>
                </c:pt>
              </c:numCache>
            </c:numRef>
          </c:bubbleSize>
          <c:bubble3D val="0"/>
        </c:ser>
        <c:ser>
          <c:idx val="2"/>
          <c:order val="2"/>
          <c:tx>
            <c:strRef>
              <c:strCache>
                <c:ptCount val="1"/>
                <c:pt idx="0">
                  <c:v>Sugar-topped</c:v>
                </c:pt>
              </c:strCache>
            </c:strRef>
          </c:tx>
          <c:spPr>
            <a:solidFill>
              <a:srgbClr val="008189"/>
            </a:solidFill>
          </c:spPr>
          <c:invertIfNegative val="0"/>
          <c:xVal>
            <c:numRef>
              <c:numCache>
                <c:formatCode>General</c:formatCode>
                <c:ptCount val="1"/>
                <c:pt idx="0">
                  <c:v>48.945491448183375</c:v>
                </c:pt>
              </c:numCache>
            </c:numRef>
          </c:xVal>
          <c:yVal>
            <c:numRef>
              <c:numCache>
                <c:formatCode>General</c:formatCode>
                <c:ptCount val="1"/>
                <c:pt idx="0">
                  <c:v>65.9574495412844</c:v>
                </c:pt>
              </c:numCache>
            </c:numRef>
          </c:yVal>
          <c:bubbleSize>
            <c:numRef>
              <c:numCache>
                <c:formatCode>General</c:formatCode>
                <c:ptCount val="1"/>
                <c:pt idx="0">
                  <c:v>1525.553</c:v>
                </c:pt>
              </c:numCache>
            </c:numRef>
          </c:bubbleSize>
          <c:bubble3D val="0"/>
        </c:ser>
        <c:ser>
          <c:idx val="3"/>
          <c:order val="3"/>
          <c:tx>
            <c:strRef>
              <c:strCache>
                <c:ptCount val="1"/>
                <c:pt idx="0">
                  <c:v>Nut and seed-topped</c:v>
                </c:pt>
              </c:strCache>
            </c:strRef>
          </c:tx>
          <c:spPr>
            <a:solidFill>
              <a:srgbClr val="40315E"/>
            </a:solidFill>
          </c:spPr>
          <c:invertIfNegative val="0"/>
          <c:xVal>
            <c:numRef>
              <c:numCache>
                <c:formatCode>General</c:formatCode>
                <c:ptCount val="1"/>
                <c:pt idx="0">
                  <c:v>125.76702715783321</c:v>
                </c:pt>
              </c:numCache>
            </c:numRef>
          </c:xVal>
          <c:yVal>
            <c:numRef>
              <c:numCache>
                <c:formatCode>General</c:formatCode>
                <c:ptCount val="1"/>
                <c:pt idx="0">
                  <c:v>205.20302752293577</c:v>
                </c:pt>
              </c:numCache>
            </c:numRef>
          </c:yVal>
          <c:bubbleSize>
            <c:numRef>
              <c:numCache>
                <c:formatCode>General</c:formatCode>
                <c:ptCount val="1"/>
                <c:pt idx="0">
                  <c:v>6855.335</c:v>
                </c:pt>
              </c:numCache>
            </c:numRef>
          </c:bubbleSize>
          <c:bubble3D val="0"/>
        </c:ser>
        <c:ser>
          <c:idx val="4"/>
          <c:order val="4"/>
          <c:tx>
            <c:strRef>
              <c:strCache>
                <c:ptCount val="1"/>
                <c:pt idx="0">
                  <c:v>Glazed / drizzled</c:v>
                </c:pt>
              </c:strCache>
            </c:strRef>
          </c:tx>
          <c:spPr>
            <a:solidFill>
              <a:srgbClr val="A35313"/>
            </a:solidFill>
          </c:spPr>
          <c:invertIfNegative val="0"/>
          <c:xVal>
            <c:numRef>
              <c:numCache>
                <c:formatCode>General</c:formatCode>
                <c:ptCount val="1"/>
                <c:pt idx="0">
                  <c:v>103.94122561523156</c:v>
                </c:pt>
              </c:numCache>
            </c:numRef>
          </c:xVal>
          <c:yVal>
            <c:numRef>
              <c:numCache>
                <c:formatCode>General</c:formatCode>
                <c:ptCount val="1"/>
                <c:pt idx="0">
                  <c:v>177.4447155963303</c:v>
                </c:pt>
              </c:numCache>
            </c:numRef>
          </c:yVal>
          <c:bubbleSize>
            <c:numRef>
              <c:numCache>
                <c:formatCode>General</c:formatCode>
                <c:ptCount val="1"/>
                <c:pt idx="0">
                  <c:v>5347.302</c:v>
                </c:pt>
              </c:numCache>
            </c:numRef>
          </c:bubbleSize>
          <c:bubble3D val="0"/>
        </c:ser>
        <c:ser>
          <c:idx val="5"/>
          <c:order val="5"/>
          <c:tx>
            <c:strRef>
              <c:strCache>
                <c:ptCount val="1"/>
                <c:pt idx="0">
                  <c:v>Other toppings</c:v>
                </c:pt>
              </c:strCache>
            </c:strRef>
          </c:tx>
          <c:spPr>
            <a:solidFill>
              <a:srgbClr val="808080"/>
            </a:solidFill>
          </c:spPr>
          <c:invertIfNegative val="0"/>
          <c:xVal>
            <c:numRef>
              <c:numCache>
                <c:formatCode>General</c:formatCode>
                <c:ptCount val="1"/>
                <c:pt idx="0">
                  <c:v>126.56116117411077</c:v>
                </c:pt>
              </c:numCache>
            </c:numRef>
          </c:xVal>
          <c:yVal>
            <c:numRef>
              <c:numCache>
                <c:formatCode>General</c:formatCode>
                <c:ptCount val="1"/>
                <c:pt idx="0">
                  <c:v>56.24267889908256</c:v>
                </c:pt>
              </c:numCache>
            </c:numRef>
          </c:yVal>
          <c:bubbleSize>
            <c:numRef>
              <c:numCache>
                <c:formatCode>General</c:formatCode>
                <c:ptCount val="1"/>
                <c:pt idx="0">
                  <c:v>1885.955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1025.838</c:v>
                </c:pt>
                <c:pt idx="2">
                  <c:v>1071.744</c:v>
                </c:pt>
                <c:pt idx="3">
                  <c:v>1117.518</c:v>
                </c:pt>
                <c:pt idx="4">
                  <c:v>1162.677</c:v>
                </c:pt>
                <c:pt idx="5">
                  <c:v>1206.649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1025.838</c:v>
                </c:pt>
                <c:pt idx="1">
                  <c:v>45.90599999999995</c:v>
                </c:pt>
                <c:pt idx="2">
                  <c:v>45.774000000000115</c:v>
                </c:pt>
                <c:pt idx="3">
                  <c:v>45.15899999999988</c:v>
                </c:pt>
                <c:pt idx="4">
                  <c:v>43.97199999999998</c:v>
                </c:pt>
                <c:pt idx="5">
                  <c:v>42.09700000000021</c:v>
                </c:pt>
                <c:pt idx="6">
                  <c:v>1248.746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702.759</c:v>
                </c:pt>
                <c:pt idx="2">
                  <c:v>737.861</c:v>
                </c:pt>
                <c:pt idx="3">
                  <c:v>773.626</c:v>
                </c:pt>
                <c:pt idx="4">
                  <c:v>809.846</c:v>
                </c:pt>
                <c:pt idx="5">
                  <c:v>846.279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702.759</c:v>
                </c:pt>
                <c:pt idx="1">
                  <c:v>35.101999999999975</c:v>
                </c:pt>
                <c:pt idx="2">
                  <c:v>35.764999999999986</c:v>
                </c:pt>
                <c:pt idx="3">
                  <c:v>36.22000000000003</c:v>
                </c:pt>
                <c:pt idx="4">
                  <c:v>36.43299999999999</c:v>
                </c:pt>
                <c:pt idx="5">
                  <c:v>36.339000000000055</c:v>
                </c:pt>
                <c:pt idx="6">
                  <c:v>882.618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1198.227</c:v>
                </c:pt>
                <c:pt idx="2">
                  <c:v>1260.926</c:v>
                </c:pt>
                <c:pt idx="3">
                  <c:v>1325.309</c:v>
                </c:pt>
                <c:pt idx="4">
                  <c:v>1391.114</c:v>
                </c:pt>
                <c:pt idx="5">
                  <c:v>1457.998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1198.227</c:v>
                </c:pt>
                <c:pt idx="1">
                  <c:v>62.69899999999984</c:v>
                </c:pt>
                <c:pt idx="2">
                  <c:v>64.38300000000004</c:v>
                </c:pt>
                <c:pt idx="3">
                  <c:v>65.80500000000006</c:v>
                </c:pt>
                <c:pt idx="4">
                  <c:v>66.88400000000001</c:v>
                </c:pt>
                <c:pt idx="5">
                  <c:v>67.55500000000006</c:v>
                </c:pt>
                <c:pt idx="6">
                  <c:v>1525.553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3727.855</c:v>
                </c:pt>
                <c:pt idx="2">
                  <c:v>4214.889</c:v>
                </c:pt>
                <c:pt idx="3">
                  <c:v>4763.015</c:v>
                </c:pt>
                <c:pt idx="4">
                  <c:v>5379.885</c:v>
                </c:pt>
                <c:pt idx="5">
                  <c:v>6074.101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3727.855</c:v>
                </c:pt>
                <c:pt idx="1">
                  <c:v>487.0340000000001</c:v>
                </c:pt>
                <c:pt idx="2">
                  <c:v>548.1260000000002</c:v>
                </c:pt>
                <c:pt idx="3">
                  <c:v>616.8699999999999</c:v>
                </c:pt>
                <c:pt idx="4">
                  <c:v>694.2159999999994</c:v>
                </c:pt>
                <c:pt idx="5">
                  <c:v>781.2340000000004</c:v>
                </c:pt>
                <c:pt idx="6">
                  <c:v>6855.335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3223.579</c:v>
                </c:pt>
                <c:pt idx="2">
                  <c:v>3564.559</c:v>
                </c:pt>
                <c:pt idx="3">
                  <c:v>3942.917</c:v>
                </c:pt>
                <c:pt idx="4">
                  <c:v>4362.897</c:v>
                </c:pt>
                <c:pt idx="5">
                  <c:v>4829.254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3223.579</c:v>
                </c:pt>
                <c:pt idx="1">
                  <c:v>340.98</c:v>
                </c:pt>
                <c:pt idx="2">
                  <c:v>378.3579999999997</c:v>
                </c:pt>
                <c:pt idx="3">
                  <c:v>419.98</c:v>
                </c:pt>
                <c:pt idx="4">
                  <c:v>466.35699999999997</c:v>
                </c:pt>
                <c:pt idx="5">
                  <c:v>518.0479999999998</c:v>
                </c:pt>
                <c:pt idx="6">
                  <c:v>5347.302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1021.742</c:v>
                </c:pt>
                <c:pt idx="2">
                  <c:v>1156.077</c:v>
                </c:pt>
                <c:pt idx="3">
                  <c:v>1307.382</c:v>
                </c:pt>
                <c:pt idx="4">
                  <c:v>1477.809</c:v>
                </c:pt>
                <c:pt idx="5">
                  <c:v>1669.76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1021.742</c:v>
                </c:pt>
                <c:pt idx="1">
                  <c:v>134.33500000000004</c:v>
                </c:pt>
                <c:pt idx="2">
                  <c:v>151.30500000000006</c:v>
                </c:pt>
                <c:pt idx="3">
                  <c:v>170.4269999999999</c:v>
                </c:pt>
                <c:pt idx="4">
                  <c:v>191.95100000000002</c:v>
                </c:pt>
                <c:pt idx="5">
                  <c:v>216.19499999999994</c:v>
                </c:pt>
                <c:pt idx="6">
                  <c:v>1885.955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Nut and seed-topped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31.89185834395225</c:v>
                </c:pt>
                <c:pt idx="1">
                  <c:v>34.20050458715596</c:v>
                </c:pt>
                <c:pt idx="2">
                  <c:v>38.63137991702577</c:v>
                </c:pt>
              </c:numCache>
            </c:numRef>
          </c:val>
        </c:ser>
        <c:ser>
          <c:idx val="1"/>
          <c:order val="1"/>
          <c:tx>
            <c:strRef>
              <c:strCache>
                <c:ptCount val="1"/>
                <c:pt idx="0">
                  <c:v>Glazed / drizzled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29.276867123775652</c:v>
                </c:pt>
                <c:pt idx="1">
                  <c:v>29.57411926605505</c:v>
                </c:pt>
                <c:pt idx="2">
                  <c:v>30.1332692119454</c:v>
                </c:pt>
              </c:numCache>
            </c:numRef>
          </c:val>
        </c:ser>
        <c:ser>
          <c:idx val="2"/>
          <c:order val="2"/>
          <c:tx>
            <c:strRef>
              <c:strCache>
                <c:ptCount val="1"/>
                <c:pt idx="0">
                  <c:v>Other toppings</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8.725402633969466</c:v>
                </c:pt>
                <c:pt idx="1">
                  <c:v>9.37377981651376</c:v>
                </c:pt>
                <c:pt idx="2">
                  <c:v>10.627787571492032</c:v>
                </c:pt>
              </c:numCache>
            </c:numRef>
          </c:val>
        </c:ser>
        <c:ser>
          <c:idx val="3"/>
          <c:order val="3"/>
          <c:tx>
            <c:strRef>
              <c:strCache>
                <c:ptCount val="1"/>
                <c:pt idx="0">
                  <c:v>Sugar-topped</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12.244548440091481</c:v>
                </c:pt>
                <c:pt idx="1">
                  <c:v>10.992908256880735</c:v>
                </c:pt>
                <c:pt idx="2">
                  <c:v>8.596839910311957</c:v>
                </c:pt>
              </c:numCache>
            </c:numRef>
          </c:val>
        </c:ser>
        <c:ser>
          <c:idx val="4"/>
          <c:order val="4"/>
          <c:tx>
            <c:strRef>
              <c:strCache>
                <c:ptCount val="1"/>
                <c:pt idx="0">
                  <c:v>Untopped</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10.64455104384839</c:v>
                </c:pt>
                <c:pt idx="1">
                  <c:v>9.411357798165138</c:v>
                </c:pt>
                <c:pt idx="2">
                  <c:v>7.036969184710341</c:v>
                </c:pt>
              </c:numCache>
            </c:numRef>
          </c:val>
        </c:ser>
        <c:ser>
          <c:idx val="5"/>
          <c:order val="5"/>
          <c:tx>
            <c:strRef>
              <c:strCache>
                <c:ptCount val="1"/>
                <c:pt idx="0">
                  <c:v>Crumb / streusel-topped</c:v>
                </c:pt>
              </c:strCache>
            </c:strRef>
          </c:tx>
          <c:spPr>
            <a:solidFill>
              <a:srgbClr val="808080"/>
            </a:solidFill>
            <a:ln>
              <a:noFill/>
            </a:ln>
          </c:spPr>
          <c:dLbls>
            <c:dLbl>
              <c:idx val="0"/>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7.216772414362772</c:v>
                </c:pt>
                <c:pt idx="1">
                  <c:v>6.447330275229358</c:v>
                </c:pt>
                <c:pt idx="2">
                  <c:v>4.973754204514506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Mini / bite-sized - below 30 g</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7.776335730308609</c:v>
                </c:pt>
                <c:pt idx="1">
                  <c:v>7.4360284245341735</c:v>
                </c:pt>
                <c:pt idx="2">
                  <c:v>8.421120527602326</c:v>
                </c:pt>
                <c:pt idx="3">
                  <c:v>7.138175135708763</c:v>
                </c:pt>
                <c:pt idx="4">
                  <c:v>7.328386762090913</c:v>
                </c:pt>
                <c:pt idx="5">
                  <c:v>5.920346467200948</c:v>
                </c:pt>
              </c:numCache>
            </c:numRef>
          </c:val>
        </c:ser>
        <c:ser>
          <c:idx val="1"/>
          <c:order val="1"/>
          <c:tx>
            <c:strRef>
              <c:strCache>
                <c:ptCount val="1"/>
                <c:pt idx="0">
                  <c:v>Small - 30 g to below 60 g</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23.245678865955107</c:v>
                </c:pt>
                <c:pt idx="1">
                  <c:v>26.295444870157514</c:v>
                </c:pt>
                <c:pt idx="2">
                  <c:v>24.361846555126675</c:v>
                </c:pt>
                <c:pt idx="3">
                  <c:v>21.657187325408508</c:v>
                </c:pt>
                <c:pt idx="4">
                  <c:v>24.036641834923856</c:v>
                </c:pt>
                <c:pt idx="5">
                  <c:v>22.23739892558405</c:v>
                </c:pt>
              </c:numCache>
            </c:numRef>
          </c:val>
        </c:ser>
        <c:ser>
          <c:idx val="2"/>
          <c:order val="2"/>
          <c:tx>
            <c:strRef>
              <c:strCache>
                <c:ptCount val="1"/>
                <c:pt idx="0">
                  <c:v>Standard - 60 g to below 100 g</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40.892928787581</c:v>
                </c:pt>
                <c:pt idx="1">
                  <c:v>42.23152241543047</c:v>
                </c:pt>
                <c:pt idx="2">
                  <c:v>39.771807045919125</c:v>
                </c:pt>
                <c:pt idx="3">
                  <c:v>42.50649539759006</c:v>
                </c:pt>
                <c:pt idx="4">
                  <c:v>42.50403012323049</c:v>
                </c:pt>
                <c:pt idx="5">
                  <c:v>44.29238475284286</c:v>
                </c:pt>
              </c:numCache>
            </c:numRef>
          </c:val>
        </c:ser>
        <c:ser>
          <c:idx val="3"/>
          <c:order val="3"/>
          <c:tx>
            <c:strRef>
              <c:strCache>
                <c:ptCount val="1"/>
                <c:pt idx="0">
                  <c:v>Large / jumbo - 100 g and above</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28.085056616155303</c:v>
                </c:pt>
                <c:pt idx="1">
                  <c:v>24.037004289877856</c:v>
                </c:pt>
                <c:pt idx="2">
                  <c:v>27.44522587135187</c:v>
                </c:pt>
                <c:pt idx="3">
                  <c:v>28.698142141292664</c:v>
                </c:pt>
                <c:pt idx="4">
                  <c:v>26.130941279754726</c:v>
                </c:pt>
                <c:pt idx="5">
                  <c:v>27.54986985437214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Mini / bite-sized - below 30 g</c:v>
                </c:pt>
              </c:strCache>
            </c:strRef>
          </c:tx>
          <c:spPr>
            <a:solidFill>
              <a:srgbClr val="3D85C6"/>
            </a:solidFill>
          </c:spPr>
          <c:invertIfNegative val="0"/>
          <c:xVal>
            <c:numRef>
              <c:numCache>
                <c:formatCode>General</c:formatCode>
                <c:ptCount val="1"/>
                <c:pt idx="0">
                  <c:v>135.79403545366864</c:v>
                </c:pt>
              </c:numCache>
            </c:numRef>
          </c:xVal>
          <c:yVal>
            <c:numRef>
              <c:numCache>
                <c:formatCode>General</c:formatCode>
                <c:ptCount val="1"/>
                <c:pt idx="0">
                  <c:v>23.847999999999995</c:v>
                </c:pt>
              </c:numCache>
            </c:numRef>
          </c:yVal>
          <c:bubbleSize>
            <c:numRef>
              <c:numCache>
                <c:formatCode>General</c:formatCode>
                <c:ptCount val="1"/>
                <c:pt idx="0">
                  <c:v>1252.575</c:v>
                </c:pt>
              </c:numCache>
            </c:numRef>
          </c:bubbleSize>
          <c:bubble3D val="0"/>
        </c:ser>
        <c:ser>
          <c:idx val="1"/>
          <c:order val="1"/>
          <c:tx>
            <c:strRef>
              <c:strCache>
                <c:ptCount val="1"/>
                <c:pt idx="0">
                  <c:v>Small - 30 g to below 60 g</c:v>
                </c:pt>
              </c:strCache>
            </c:strRef>
          </c:tx>
          <c:spPr>
            <a:solidFill>
              <a:srgbClr val="9E7E0A"/>
            </a:solidFill>
          </c:spPr>
          <c:invertIfNegative val="0"/>
          <c:xVal>
            <c:numRef>
              <c:numCache>
                <c:formatCode>General</c:formatCode>
                <c:ptCount val="1"/>
                <c:pt idx="0">
                  <c:v>58.7513888589663</c:v>
                </c:pt>
              </c:numCache>
            </c:numRef>
          </c:xVal>
          <c:yVal>
            <c:numRef>
              <c:numCache>
                <c:formatCode>General</c:formatCode>
                <c:ptCount val="1"/>
                <c:pt idx="0">
                  <c:v>113.94040366972476</c:v>
                </c:pt>
              </c:numCache>
            </c:numRef>
          </c:yVal>
          <c:bubbleSize>
            <c:numRef>
              <c:numCache>
                <c:formatCode>General</c:formatCode>
                <c:ptCount val="1"/>
                <c:pt idx="0">
                  <c:v>4146.149</c:v>
                </c:pt>
              </c:numCache>
            </c:numRef>
          </c:bubbleSize>
          <c:bubble3D val="0"/>
        </c:ser>
        <c:ser>
          <c:idx val="2"/>
          <c:order val="2"/>
          <c:tx>
            <c:strRef>
              <c:strCache>
                <c:ptCount val="1"/>
                <c:pt idx="0">
                  <c:v>Standard - 60 g to below 100 g</c:v>
                </c:pt>
              </c:strCache>
            </c:strRef>
          </c:tx>
          <c:spPr>
            <a:solidFill>
              <a:srgbClr val="008189"/>
            </a:solidFill>
          </c:spPr>
          <c:invertIfNegative val="0"/>
          <c:xVal>
            <c:numRef>
              <c:numCache>
                <c:formatCode>General</c:formatCode>
                <c:ptCount val="1"/>
                <c:pt idx="0">
                  <c:v>99.89370300994264</c:v>
                </c:pt>
              </c:numCache>
            </c:numRef>
          </c:xVal>
          <c:yVal>
            <c:numRef>
              <c:numCache>
                <c:formatCode>General</c:formatCode>
                <c:ptCount val="1"/>
                <c:pt idx="0">
                  <c:v>170.32649541284403</c:v>
                </c:pt>
              </c:numCache>
            </c:numRef>
          </c:yVal>
          <c:bubbleSize>
            <c:numRef>
              <c:numCache>
                <c:formatCode>General</c:formatCode>
                <c:ptCount val="1"/>
                <c:pt idx="0">
                  <c:v>7552.506</c:v>
                </c:pt>
              </c:numCache>
            </c:numRef>
          </c:bubbleSize>
          <c:bubble3D val="0"/>
        </c:ser>
        <c:ser>
          <c:idx val="3"/>
          <c:order val="3"/>
          <c:tx>
            <c:strRef>
              <c:strCache>
                <c:ptCount val="1"/>
                <c:pt idx="0">
                  <c:v>Large / jumbo - 100 g and above</c:v>
                </c:pt>
              </c:strCache>
            </c:strRef>
          </c:tx>
          <c:spPr>
            <a:solidFill>
              <a:srgbClr val="40315E"/>
            </a:solidFill>
          </c:spPr>
          <c:invertIfNegative val="0"/>
          <c:xVal>
            <c:numRef>
              <c:numCache>
                <c:formatCode>General</c:formatCode>
                <c:ptCount val="1"/>
                <c:pt idx="0">
                  <c:v>134.37984596113145</c:v>
                </c:pt>
              </c:numCache>
            </c:numRef>
          </c:xVal>
          <c:yVal>
            <c:numRef>
              <c:numCache>
                <c:formatCode>General</c:formatCode>
                <c:ptCount val="1"/>
                <c:pt idx="0">
                  <c:v>91.88510091743119</c:v>
                </c:pt>
              </c:numCache>
            </c:numRef>
          </c:yVal>
          <c:bubbleSize>
            <c:numRef>
              <c:numCache>
                <c:formatCode>General</c:formatCode>
                <c:ptCount val="1"/>
                <c:pt idx="0">
                  <c:v>4794.279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649.858</c:v>
                </c:pt>
                <c:pt idx="2">
                  <c:v>740.886</c:v>
                </c:pt>
                <c:pt idx="3">
                  <c:v>844.705</c:v>
                </c:pt>
                <c:pt idx="4">
                  <c:v>963.141</c:v>
                </c:pt>
                <c:pt idx="5">
                  <c:v>1098.301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649.858</c:v>
                </c:pt>
                <c:pt idx="1">
                  <c:v>91.02800000000002</c:v>
                </c:pt>
                <c:pt idx="2">
                  <c:v>103.81900000000007</c:v>
                </c:pt>
                <c:pt idx="3">
                  <c:v>118.43599999999992</c:v>
                </c:pt>
                <c:pt idx="4">
                  <c:v>135.15999999999997</c:v>
                </c:pt>
                <c:pt idx="5">
                  <c:v>154.27400000000011</c:v>
                </c:pt>
                <c:pt idx="6">
                  <c:v>1252.575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3104.876</c:v>
                </c:pt>
                <c:pt idx="2">
                  <c:v>3302.679</c:v>
                </c:pt>
                <c:pt idx="3">
                  <c:v>3507.061</c:v>
                </c:pt>
                <c:pt idx="4">
                  <c:v>3716.877</c:v>
                </c:pt>
                <c:pt idx="5">
                  <c:v>3930.58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3104.876</c:v>
                </c:pt>
                <c:pt idx="1">
                  <c:v>197.80299999999988</c:v>
                </c:pt>
                <c:pt idx="2">
                  <c:v>204.38200000000006</c:v>
                </c:pt>
                <c:pt idx="3">
                  <c:v>209.8159999999998</c:v>
                </c:pt>
                <c:pt idx="4">
                  <c:v>213.70299999999997</c:v>
                </c:pt>
                <c:pt idx="5">
                  <c:v>215.56900000000041</c:v>
                </c:pt>
                <c:pt idx="6">
                  <c:v>4146.149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4641.397</c:v>
                </c:pt>
                <c:pt idx="2">
                  <c:v>5111.906</c:v>
                </c:pt>
                <c:pt idx="3">
                  <c:v>5632.394</c:v>
                </c:pt>
                <c:pt idx="4">
                  <c:v>6208.411</c:v>
                </c:pt>
                <c:pt idx="5">
                  <c:v>6846.14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4641.397</c:v>
                </c:pt>
                <c:pt idx="1">
                  <c:v>470.509</c:v>
                </c:pt>
                <c:pt idx="2">
                  <c:v>520.4880000000003</c:v>
                </c:pt>
                <c:pt idx="3">
                  <c:v>576.0169999999998</c:v>
                </c:pt>
                <c:pt idx="4">
                  <c:v>637.7290000000003</c:v>
                </c:pt>
                <c:pt idx="5">
                  <c:v>706.366</c:v>
                </c:pt>
                <c:pt idx="6">
                  <c:v>7552.506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2503.869</c:v>
                </c:pt>
                <c:pt idx="2">
                  <c:v>2850.585</c:v>
                </c:pt>
                <c:pt idx="3">
                  <c:v>3245.607</c:v>
                </c:pt>
                <c:pt idx="4">
                  <c:v>3695.799</c:v>
                </c:pt>
                <c:pt idx="5">
                  <c:v>4209.02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2503.869</c:v>
                </c:pt>
                <c:pt idx="1">
                  <c:v>346.7159999999999</c:v>
                </c:pt>
                <c:pt idx="2">
                  <c:v>395.02199999999993</c:v>
                </c:pt>
                <c:pt idx="3">
                  <c:v>450.192</c:v>
                </c:pt>
                <c:pt idx="4">
                  <c:v>513.2210000000005</c:v>
                </c:pt>
                <c:pt idx="5">
                  <c:v>585.259</c:v>
                </c:pt>
                <c:pt idx="6">
                  <c:v>4794.279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42.590179212547596</c:v>
                </c:pt>
                <c:pt idx="1">
                  <c:v>42.581623853211006</c:v>
                </c:pt>
                <c:pt idx="2">
                  <c:v>42.56009788166685</c:v>
                </c:pt>
              </c:numCache>
            </c:numRef>
          </c:val>
        </c:ser>
        <c:ser>
          <c:idx val="1"/>
          <c:order val="1"/>
          <c:tx>
            <c:strRef>
              <c:strCache>
                <c:ptCount val="1"/>
                <c:pt idx="0">
                  <c:v>Large / jumbo - 100 g and above</c:v>
                </c:pt>
              </c:strCache>
            </c:strRef>
          </c:tx>
          <c:spPr>
            <a:solidFill>
              <a:srgbClr val="9E7E0A"/>
            </a:solidFill>
            <a:ln>
              <a:noFill/>
            </a:ln>
          </c:spPr>
          <c:dLbls>
            <c:dLbl>
              <c:idx val="0"/>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21.117366362737904</c:v>
                </c:pt>
                <c:pt idx="1">
                  <c:v>22.971275229357797</c:v>
                </c:pt>
                <c:pt idx="2">
                  <c:v>27.01685818085015</c:v>
                </c:pt>
              </c:numCache>
            </c:numRef>
          </c:val>
        </c:ser>
        <c:ser>
          <c:idx val="2"/>
          <c:order val="2"/>
          <c:tx>
            <c:strRef>
              <c:strCache>
                <c:ptCount val="1"/>
                <c:pt idx="0">
                  <c:v>Small - 30 g to below 60 g</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30.83187115174269</c:v>
                </c:pt>
                <c:pt idx="1">
                  <c:v>28.485100917431193</c:v>
                </c:pt>
                <c:pt idx="2">
                  <c:v>23.36449746242838</c:v>
                </c:pt>
              </c:numCache>
            </c:numRef>
          </c:val>
        </c:ser>
        <c:ser>
          <c:idx val="3"/>
          <c:order val="3"/>
          <c:tx>
            <c:strRef>
              <c:strCache>
                <c:ptCount val="1"/>
                <c:pt idx="0">
                  <c:v>Mini / bite-sized - below 30 g</c:v>
                </c:pt>
              </c:strCache>
            </c:strRef>
          </c:tx>
          <c:spPr>
            <a:solidFill>
              <a:srgbClr val="40315E"/>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5.460583272971814</c:v>
                </c:pt>
                <c:pt idx="1">
                  <c:v>5.961999999999999</c:v>
                </c:pt>
                <c:pt idx="2">
                  <c:v>7.0585464750546185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Ambient</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14.390947912487393</c:v>
                </c:pt>
                <c:pt idx="1">
                  <c:v>17.925663948652453</c:v>
                </c:pt>
                <c:pt idx="2">
                  <c:v>15.654049020045303</c:v>
                </c:pt>
                <c:pt idx="3">
                  <c:v>14.710298570083536</c:v>
                </c:pt>
                <c:pt idx="4">
                  <c:v>15.055840272040982</c:v>
                </c:pt>
                <c:pt idx="5">
                  <c:v>11.387378171774294</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36.451431606612346</c:v>
                </c:pt>
                <c:pt idx="1">
                  <c:v>31.070373645086292</c:v>
                </c:pt>
                <c:pt idx="2">
                  <c:v>31.474564208095078</c:v>
                </c:pt>
                <c:pt idx="3">
                  <c:v>36.81055129970605</c:v>
                </c:pt>
                <c:pt idx="4">
                  <c:v>34.418508248229884</c:v>
                </c:pt>
                <c:pt idx="5">
                  <c:v>37.6850703705461</c:v>
                </c:pt>
              </c:numCache>
            </c:numRef>
          </c:val>
        </c:ser>
        <c:ser>
          <c:idx val="2"/>
          <c:order val="2"/>
          <c:tx>
            <c:strRef>
              <c:strCache>
                <c:ptCount val="1"/>
                <c:pt idx="0">
                  <c:v>Frozen</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49.15762048090027</c:v>
                </c:pt>
                <c:pt idx="1">
                  <c:v>51.00396240626126</c:v>
                </c:pt>
                <c:pt idx="2">
                  <c:v>52.87138677185962</c:v>
                </c:pt>
                <c:pt idx="3">
                  <c:v>48.479150130210414</c:v>
                </c:pt>
                <c:pt idx="4">
                  <c:v>50.52565147972914</c:v>
                </c:pt>
                <c:pt idx="5">
                  <c:v>50.9275514576796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Ambient</c:v>
                </c:pt>
              </c:strCache>
            </c:strRef>
          </c:tx>
          <c:spPr>
            <a:solidFill>
              <a:srgbClr val="3D85C6"/>
            </a:solidFill>
          </c:spPr>
          <c:invertIfNegative val="0"/>
          <c:xVal>
            <c:numRef>
              <c:numCache>
                <c:formatCode>General</c:formatCode>
                <c:ptCount val="1"/>
                <c:pt idx="0">
                  <c:v>130.82600194522095</c:v>
                </c:pt>
              </c:numCache>
            </c:numRef>
          </c:xVal>
          <c:yVal>
            <c:numRef>
              <c:numCache>
                <c:formatCode>General</c:formatCode>
                <c:ptCount val="1"/>
                <c:pt idx="0">
                  <c:v>36.78024770642202</c:v>
                </c:pt>
              </c:numCache>
            </c:numRef>
          </c:yVal>
          <c:bubbleSize>
            <c:numRef>
              <c:numCache>
                <c:formatCode>General</c:formatCode>
                <c:ptCount val="1"/>
                <c:pt idx="0">
                  <c:v>2516.529</c:v>
                </c:pt>
              </c:numCache>
            </c:numRef>
          </c:bubbleSize>
          <c:bubble3D val="0"/>
        </c:ser>
        <c:ser>
          <c:idx val="1"/>
          <c:order val="1"/>
          <c:tx>
            <c:strRef>
              <c:strCache>
                <c:ptCount val="1"/>
                <c:pt idx="0">
                  <c:v>Chilled</c:v>
                </c:pt>
              </c:strCache>
            </c:strRef>
          </c:tx>
          <c:spPr>
            <a:solidFill>
              <a:srgbClr val="9E7E0A"/>
            </a:solidFill>
          </c:spPr>
          <c:invertIfNegative val="0"/>
          <c:xVal>
            <c:numRef>
              <c:numCache>
                <c:formatCode>General</c:formatCode>
                <c:ptCount val="1"/>
                <c:pt idx="0">
                  <c:v>125.43612358252747</c:v>
                </c:pt>
              </c:numCache>
            </c:numRef>
          </c:xVal>
          <c:yVal>
            <c:numRef>
              <c:numCache>
                <c:formatCode>General</c:formatCode>
                <c:ptCount val="1"/>
                <c:pt idx="0">
                  <c:v>93.61588073394496</c:v>
                </c:pt>
              </c:numCache>
            </c:numRef>
          </c:yVal>
          <c:bubbleSize>
            <c:numRef>
              <c:numCache>
                <c:formatCode>General</c:formatCode>
                <c:ptCount val="1"/>
                <c:pt idx="0">
                  <c:v>6245.239</c:v>
                </c:pt>
              </c:numCache>
            </c:numRef>
          </c:bubbleSize>
          <c:bubble3D val="0"/>
        </c:ser>
        <c:ser>
          <c:idx val="2"/>
          <c:order val="2"/>
          <c:tx>
            <c:strRef>
              <c:strCache>
                <c:ptCount val="1"/>
                <c:pt idx="0">
                  <c:v>Frozen</c:v>
                </c:pt>
              </c:strCache>
            </c:strRef>
          </c:tx>
          <c:spPr>
            <a:solidFill>
              <a:srgbClr val="008189"/>
            </a:solidFill>
          </c:spPr>
          <c:invertIfNegative val="0"/>
          <c:xVal>
            <c:numRef>
              <c:numCache>
                <c:formatCode>General</c:formatCode>
                <c:ptCount val="1"/>
                <c:pt idx="0">
                  <c:v>76.91912402326028</c:v>
                </c:pt>
              </c:numCache>
            </c:numRef>
          </c:xVal>
          <c:yVal>
            <c:numRef>
              <c:numCache>
                <c:formatCode>General</c:formatCode>
                <c:ptCount val="1"/>
                <c:pt idx="0">
                  <c:v>169.60387155963303</c:v>
                </c:pt>
              </c:numCache>
            </c:numRef>
          </c:yVal>
          <c:bubbleSize>
            <c:numRef>
              <c:numCache>
                <c:formatCode>General</c:formatCode>
                <c:ptCount val="1"/>
                <c:pt idx="0">
                  <c:v>8983.741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1336.349</c:v>
                </c:pt>
                <c:pt idx="2">
                  <c:v>1516.529</c:v>
                </c:pt>
                <c:pt idx="3">
                  <c:v>1721.055</c:v>
                </c:pt>
                <c:pt idx="4">
                  <c:v>1953.269</c:v>
                </c:pt>
                <c:pt idx="5">
                  <c:v>2216.983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1336.349</c:v>
                </c:pt>
                <c:pt idx="1">
                  <c:v>180.18000000000006</c:v>
                </c:pt>
                <c:pt idx="2">
                  <c:v>204.52600000000007</c:v>
                </c:pt>
                <c:pt idx="3">
                  <c:v>232.21399999999994</c:v>
                </c:pt>
                <c:pt idx="4">
                  <c:v>263.71400000000017</c:v>
                </c:pt>
                <c:pt idx="5">
                  <c:v>299.5459999999998</c:v>
                </c:pt>
                <c:pt idx="6">
                  <c:v>2516.529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3401.377</c:v>
                </c:pt>
                <c:pt idx="2">
                  <c:v>3839.543</c:v>
                </c:pt>
                <c:pt idx="3">
                  <c:v>4334.853</c:v>
                </c:pt>
                <c:pt idx="4">
                  <c:v>4894.937</c:v>
                </c:pt>
                <c:pt idx="5">
                  <c:v>5528.448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3401.377</c:v>
                </c:pt>
                <c:pt idx="1">
                  <c:v>438.16600000000017</c:v>
                </c:pt>
                <c:pt idx="2">
                  <c:v>495.30999999999995</c:v>
                </c:pt>
                <c:pt idx="3">
                  <c:v>560.0839999999998</c:v>
                </c:pt>
                <c:pt idx="4">
                  <c:v>633.5110000000004</c:v>
                </c:pt>
                <c:pt idx="5">
                  <c:v>716.7909999999993</c:v>
                </c:pt>
                <c:pt idx="6">
                  <c:v>6245.239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6162.274</c:v>
                </c:pt>
                <c:pt idx="2">
                  <c:v>6649.984</c:v>
                </c:pt>
                <c:pt idx="3">
                  <c:v>7173.859</c:v>
                </c:pt>
                <c:pt idx="4">
                  <c:v>7736.022</c:v>
                </c:pt>
                <c:pt idx="5">
                  <c:v>8338.61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6162.274</c:v>
                </c:pt>
                <c:pt idx="1">
                  <c:v>487.71000000000004</c:v>
                </c:pt>
                <c:pt idx="2">
                  <c:v>523.875</c:v>
                </c:pt>
                <c:pt idx="3">
                  <c:v>562.1629999999996</c:v>
                </c:pt>
                <c:pt idx="4">
                  <c:v>602.5880000000006</c:v>
                </c:pt>
                <c:pt idx="5">
                  <c:v>645.1309999999994</c:v>
                </c:pt>
                <c:pt idx="6">
                  <c:v>8983.741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Frozen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59.32589407063947</c:v>
                </c:pt>
                <c:pt idx="1">
                  <c:v>56.53462385321101</c:v>
                </c:pt>
                <c:pt idx="2">
                  <c:v>50.62543430002487</c:v>
                </c:pt>
              </c:numCache>
            </c:numRef>
          </c:val>
        </c:ser>
        <c:ser>
          <c:idx val="1"/>
          <c:order val="1"/>
          <c:tx>
            <c:strRef>
              <c:strCache>
                <c:ptCount val="1"/>
                <c:pt idx="0">
                  <c:v>Chilled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29.315631677037178</c:v>
                </c:pt>
                <c:pt idx="1">
                  <c:v>31.205293577981653</c:v>
                </c:pt>
                <c:pt idx="2">
                  <c:v>35.193349483522844</c:v>
                </c:pt>
              </c:numCache>
            </c:numRef>
          </c:val>
        </c:ser>
        <c:ser>
          <c:idx val="2"/>
          <c:order val="2"/>
          <c:tx>
            <c:strRef>
              <c:strCache>
                <c:ptCount val="1"/>
                <c:pt idx="0">
                  <c:v>Ambient</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11.358474252323349</c:v>
                </c:pt>
                <c:pt idx="1">
                  <c:v>12.260082568807338</c:v>
                </c:pt>
                <c:pt idx="2">
                  <c:v>14.181216216452288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59.18373976872735</c:v>
                </c:pt>
                <c:pt idx="1">
                  <c:v>58.77171955332875</c:v>
                </c:pt>
                <c:pt idx="2">
                  <c:v>62.12444052921043</c:v>
                </c:pt>
                <c:pt idx="3">
                  <c:v>58.53376202453322</c:v>
                </c:pt>
                <c:pt idx="4">
                  <c:v>62.757270785319776</c:v>
                </c:pt>
                <c:pt idx="5">
                  <c:v>57.88749380281153</c:v>
                </c:pt>
              </c:numCache>
            </c:numRef>
          </c:val>
        </c:ser>
        <c:ser>
          <c:idx val="1"/>
          <c:order val="1"/>
          <c:tx>
            <c:strRef>
              <c:strCache>
                <c:ptCount val="1"/>
                <c:pt idx="0">
                  <c:v>8-30 days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11.562332998179121</c:v>
                </c:pt>
                <c:pt idx="1">
                  <c:v>10.352621410092674</c:v>
                </c:pt>
                <c:pt idx="2">
                  <c:v>11.770677832741262</c:v>
                </c:pt>
                <c:pt idx="3">
                  <c:v>11.928155479920548</c:v>
                </c:pt>
                <c:pt idx="4">
                  <c:v>10.897243575683945</c:v>
                </c:pt>
                <c:pt idx="5">
                  <c:v>14.931609565358059</c:v>
                </c:pt>
              </c:numCache>
            </c:numRef>
          </c:val>
        </c:ser>
        <c:ser>
          <c:idx val="2"/>
          <c:order val="2"/>
          <c:tx>
            <c:strRef>
              <c:strCache>
                <c:ptCount val="1"/>
                <c:pt idx="0">
                  <c:v>31-90 days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14.607796477469675</c:v>
                </c:pt>
                <c:pt idx="1">
                  <c:v>16.493237711628517</c:v>
                </c:pt>
                <c:pt idx="2">
                  <c:v>15.054364369171418</c:v>
                </c:pt>
                <c:pt idx="3">
                  <c:v>14.635546946396172</c:v>
                </c:pt>
                <c:pt idx="4">
                  <c:v>14.939866071949492</c:v>
                </c:pt>
                <c:pt idx="5">
                  <c:v>15.25844003830208</c:v>
                </c:pt>
              </c:numCache>
            </c:numRef>
          </c:val>
        </c:ser>
        <c:ser>
          <c:idx val="3"/>
          <c:order val="3"/>
          <c:tx>
            <c:strRef>
              <c:strCache>
                <c:ptCount val="1"/>
                <c:pt idx="0">
                  <c:v>More than 90 days</c:v>
                </c:pt>
              </c:strCache>
            </c:strRef>
          </c:tx>
          <c:spPr>
            <a:solidFill>
              <a:srgbClr val="40315E"/>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14.64613075562385</c:v>
                </c:pt>
                <c:pt idx="1">
                  <c:v>14.382421324950062</c:v>
                </c:pt>
                <c:pt idx="2">
                  <c:v>11.05051726887688</c:v>
                </c:pt>
                <c:pt idx="3">
                  <c:v>14.902535549150056</c:v>
                </c:pt>
                <c:pt idx="4">
                  <c:v>11.405619567046795</c:v>
                </c:pt>
                <c:pt idx="5">
                  <c:v>11.922456593528322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Up to 7 days</c:v>
                </c:pt>
              </c:strCache>
            </c:strRef>
          </c:tx>
          <c:spPr>
            <a:solidFill>
              <a:srgbClr val="3D85C6"/>
            </a:solidFill>
          </c:spPr>
          <c:invertIfNegative val="0"/>
          <c:xVal>
            <c:numRef>
              <c:numCache>
                <c:formatCode>General</c:formatCode>
                <c:ptCount val="1"/>
                <c:pt idx="0">
                  <c:v>105.97279776830366</c:v>
                </c:pt>
              </c:numCache>
            </c:numRef>
          </c:xVal>
          <c:yVal>
            <c:numRef>
              <c:numCache>
                <c:formatCode>General</c:formatCode>
                <c:ptCount val="1"/>
                <c:pt idx="0">
                  <c:v>233.54242201834862</c:v>
                </c:pt>
              </c:numCache>
            </c:numRef>
          </c:yVal>
          <c:bubbleSize>
            <c:numRef>
              <c:numCache>
                <c:formatCode>General</c:formatCode>
                <c:ptCount val="1"/>
                <c:pt idx="0">
                  <c:v>10658.983</c:v>
                </c:pt>
              </c:numCache>
            </c:numRef>
          </c:bubbleSize>
          <c:bubble3D val="0"/>
        </c:ser>
        <c:ser>
          <c:idx val="1"/>
          <c:order val="1"/>
          <c:tx>
            <c:strRef>
              <c:strCache>
                <c:ptCount val="1"/>
                <c:pt idx="0">
                  <c:v>8-30 days</c:v>
                </c:pt>
              </c:strCache>
            </c:strRef>
          </c:tx>
          <c:spPr>
            <a:solidFill>
              <a:srgbClr val="9E7E0A"/>
            </a:solidFill>
          </c:spPr>
          <c:invertIfNegative val="0"/>
          <c:xVal>
            <c:numRef>
              <c:numCache>
                <c:formatCode>General</c:formatCode>
                <c:ptCount val="1"/>
                <c:pt idx="0">
                  <c:v>52.111019884940326</c:v>
                </c:pt>
              </c:numCache>
            </c:numRef>
          </c:xVal>
          <c:yVal>
            <c:numRef>
              <c:numCache>
                <c:formatCode>General</c:formatCode>
                <c:ptCount val="1"/>
                <c:pt idx="0">
                  <c:v>62.249357798165136</c:v>
                </c:pt>
              </c:numCache>
            </c:numRef>
          </c:yVal>
          <c:bubbleSize>
            <c:numRef>
              <c:numCache>
                <c:formatCode>General</c:formatCode>
                <c:ptCount val="1"/>
                <c:pt idx="0">
                  <c:v>2193.243</c:v>
                </c:pt>
              </c:numCache>
            </c:numRef>
          </c:bubbleSize>
          <c:bubble3D val="0"/>
        </c:ser>
        <c:ser>
          <c:idx val="2"/>
          <c:order val="2"/>
          <c:tx>
            <c:strRef>
              <c:strCache>
                <c:ptCount val="1"/>
                <c:pt idx="0">
                  <c:v>31-90 days</c:v>
                </c:pt>
              </c:strCache>
            </c:strRef>
          </c:tx>
          <c:spPr>
            <a:solidFill>
              <a:srgbClr val="008189"/>
            </a:solidFill>
          </c:spPr>
          <c:invertIfNegative val="0"/>
          <c:xVal>
            <c:numRef>
              <c:numCache>
                <c:formatCode>General</c:formatCode>
                <c:ptCount val="1"/>
                <c:pt idx="0">
                  <c:v>126.96584776574942</c:v>
                </c:pt>
              </c:numCache>
            </c:numRef>
          </c:xVal>
          <c:yVal>
            <c:numRef>
              <c:numCache>
                <c:formatCode>General</c:formatCode>
                <c:ptCount val="1"/>
                <c:pt idx="0">
                  <c:v>53.247743119266055</c:v>
                </c:pt>
              </c:numCache>
            </c:numRef>
          </c:yVal>
          <c:bubbleSize>
            <c:numRef>
              <c:numCache>
                <c:formatCode>General</c:formatCode>
                <c:ptCount val="1"/>
                <c:pt idx="0">
                  <c:v>2683.387</c:v>
                </c:pt>
              </c:numCache>
            </c:numRef>
          </c:bubbleSize>
          <c:bubble3D val="0"/>
        </c:ser>
        <c:ser>
          <c:idx val="3"/>
          <c:order val="3"/>
          <c:tx>
            <c:strRef>
              <c:strCache>
                <c:ptCount val="1"/>
                <c:pt idx="0">
                  <c:v>More than 90 days</c:v>
                </c:pt>
              </c:strCache>
            </c:strRef>
          </c:tx>
          <c:spPr>
            <a:solidFill>
              <a:srgbClr val="40315E"/>
            </a:solidFill>
          </c:spPr>
          <c:invertIfNegative val="0"/>
          <c:xVal>
            <c:numRef>
              <c:numCache>
                <c:formatCode>General</c:formatCode>
                <c:ptCount val="1"/>
                <c:pt idx="0">
                  <c:v>95.2180570669929</c:v>
                </c:pt>
              </c:numCache>
            </c:numRef>
          </c:xVal>
          <c:yVal>
            <c:numRef>
              <c:numCache>
                <c:formatCode>General</c:formatCode>
                <c:ptCount val="1"/>
                <c:pt idx="0">
                  <c:v>50.960477064220186</c:v>
                </c:pt>
              </c:numCache>
            </c:numRef>
          </c:yVal>
          <c:bubbleSize>
            <c:numRef>
              <c:numCache>
                <c:formatCode>General</c:formatCode>
                <c:ptCount val="1"/>
                <c:pt idx="0">
                  <c:v>2209.896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6364.031</c:v>
                </c:pt>
                <c:pt idx="2">
                  <c:v>7049.275</c:v>
                </c:pt>
                <c:pt idx="3">
                  <c:v>7811.738</c:v>
                </c:pt>
                <c:pt idx="4">
                  <c:v>8660.501</c:v>
                </c:pt>
                <c:pt idx="5">
                  <c:v>9605.771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6364.031</c:v>
                </c:pt>
                <c:pt idx="1">
                  <c:v>685.2439999999997</c:v>
                </c:pt>
                <c:pt idx="2">
                  <c:v>762.4630000000006</c:v>
                </c:pt>
                <c:pt idx="3">
                  <c:v>848.7629999999999</c:v>
                </c:pt>
                <c:pt idx="4">
                  <c:v>945.2700000000004</c:v>
                </c:pt>
                <c:pt idx="5">
                  <c:v>1053.2119999999995</c:v>
                </c:pt>
                <c:pt idx="6">
                  <c:v>10658.983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1696.295</c:v>
                </c:pt>
                <c:pt idx="2">
                  <c:v>1793.376</c:v>
                </c:pt>
                <c:pt idx="3">
                  <c:v>1892.447</c:v>
                </c:pt>
                <c:pt idx="4">
                  <c:v>1992.788</c:v>
                </c:pt>
                <c:pt idx="5">
                  <c:v>2093.45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1696.295</c:v>
                </c:pt>
                <c:pt idx="1">
                  <c:v>97.0809999999999</c:v>
                </c:pt>
                <c:pt idx="2">
                  <c:v>99.07099999999991</c:v>
                </c:pt>
                <c:pt idx="3">
                  <c:v>100.34100000000012</c:v>
                </c:pt>
                <c:pt idx="4">
                  <c:v>100.66199999999981</c:v>
                </c:pt>
                <c:pt idx="5">
                  <c:v>99.79300000000012</c:v>
                </c:pt>
                <c:pt idx="6">
                  <c:v>2193.243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1451.001</c:v>
                </c:pt>
                <c:pt idx="2">
                  <c:v>1640.377</c:v>
                </c:pt>
                <c:pt idx="3">
                  <c:v>1854.717</c:v>
                </c:pt>
                <c:pt idx="4">
                  <c:v>2097.373</c:v>
                </c:pt>
                <c:pt idx="5">
                  <c:v>2372.144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1451.001</c:v>
                </c:pt>
                <c:pt idx="1">
                  <c:v>189.37599999999998</c:v>
                </c:pt>
                <c:pt idx="2">
                  <c:v>214.34000000000015</c:v>
                </c:pt>
                <c:pt idx="3">
                  <c:v>242.65599999999995</c:v>
                </c:pt>
                <c:pt idx="4">
                  <c:v>274.77099999999973</c:v>
                </c:pt>
                <c:pt idx="5">
                  <c:v>311.2430000000004</c:v>
                </c:pt>
                <c:pt idx="6">
                  <c:v>2683.387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1388.673</c:v>
                </c:pt>
                <c:pt idx="2">
                  <c:v>1523.028</c:v>
                </c:pt>
                <c:pt idx="3">
                  <c:v>1670.865</c:v>
                </c:pt>
                <c:pt idx="4">
                  <c:v>1833.566</c:v>
                </c:pt>
                <c:pt idx="5">
                  <c:v>2012.676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1388.673</c:v>
                </c:pt>
                <c:pt idx="1">
                  <c:v>134.35500000000002</c:v>
                </c:pt>
                <c:pt idx="2">
                  <c:v>147.837</c:v>
                </c:pt>
                <c:pt idx="3">
                  <c:v>162.70100000000002</c:v>
                </c:pt>
                <c:pt idx="4">
                  <c:v>179.1099999999999</c:v>
                </c:pt>
                <c:pt idx="5">
                  <c:v>197.22000000000025</c:v>
                </c:pt>
                <c:pt idx="6">
                  <c:v>2209.896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Up to 7 days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57.578896640053735</c:v>
                </c:pt>
                <c:pt idx="1">
                  <c:v>58.385605504587154</c:v>
                </c:pt>
                <c:pt idx="2">
                  <c:v>60.065805945605725</c:v>
                </c:pt>
              </c:numCache>
            </c:numRef>
          </c:val>
        </c:ser>
        <c:ser>
          <c:idx val="1"/>
          <c:order val="1"/>
          <c:tx>
            <c:strRef>
              <c:strCache>
                <c:ptCount val="1"/>
                <c:pt idx="0">
                  <c:v>31-90 days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12.457181105433975</c:v>
                </c:pt>
                <c:pt idx="1">
                  <c:v>13.311935779816514</c:v>
                </c:pt>
                <c:pt idx="2">
                  <c:v>15.121499191710983</c:v>
                </c:pt>
              </c:numCache>
            </c:numRef>
          </c:val>
        </c:ser>
        <c:ser>
          <c:idx val="2"/>
          <c:order val="2"/>
          <c:tx>
            <c:strRef>
              <c:strCache>
                <c:ptCount val="1"/>
                <c:pt idx="0">
                  <c:v>More than 90 days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12.870628522226546</c:v>
                </c:pt>
                <c:pt idx="1">
                  <c:v>12.740119266055046</c:v>
                </c:pt>
                <c:pt idx="2">
                  <c:v>12.453269162355388</c:v>
                </c:pt>
              </c:numCache>
            </c:numRef>
          </c:val>
        </c:ser>
        <c:ser>
          <c:idx val="3"/>
          <c:order val="3"/>
          <c:tx>
            <c:strRef>
              <c:strCache>
                <c:ptCount val="1"/>
                <c:pt idx="0">
                  <c:v>8-30 days</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17.09329373228576</c:v>
                </c:pt>
                <c:pt idx="1">
                  <c:v>15.562339449541284</c:v>
                </c:pt>
                <c:pt idx="2">
                  <c:v>12.359425700327895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Flexible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13.060374863759</c:v>
                </c:pt>
                <c:pt idx="1">
                  <c:v>10.956217048171071</c:v>
                </c:pt>
                <c:pt idx="2">
                  <c:v>13.431054157611829</c:v>
                </c:pt>
                <c:pt idx="3">
                  <c:v>14.292769703210128</c:v>
                </c:pt>
                <c:pt idx="4">
                  <c:v>13.209469301348395</c:v>
                </c:pt>
                <c:pt idx="5">
                  <c:v>13.622307562120392</c:v>
                </c:pt>
              </c:numCache>
            </c:numRef>
          </c:val>
        </c:ser>
        <c:ser>
          <c:idx val="1"/>
          <c:order val="1"/>
          <c:tx>
            <c:strRef>
              <c:strCache>
                <c:ptCount val="1"/>
                <c:pt idx="0">
                  <c:v>Rigid plastic packs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49.22779170192824</c:v>
                </c:pt>
                <c:pt idx="1">
                  <c:v>49.432229754068835</c:v>
                </c:pt>
                <c:pt idx="2">
                  <c:v>47.59434739563062</c:v>
                </c:pt>
                <c:pt idx="3">
                  <c:v>50.45916076827386</c:v>
                </c:pt>
                <c:pt idx="4">
                  <c:v>48.96276860318925</c:v>
                </c:pt>
                <c:pt idx="5">
                  <c:v>48.7508859130761</c:v>
                </c:pt>
              </c:numCache>
            </c:numRef>
          </c:val>
        </c:ser>
        <c:ser>
          <c:idx val="2"/>
          <c:order val="2"/>
          <c:tx>
            <c:strRef>
              <c:strCache>
                <c:ptCount val="1"/>
                <c:pt idx="0">
                  <c:v>Paperboard packs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32.39457667424147</c:v>
                </c:pt>
                <c:pt idx="1">
                  <c:v>33.7430657890428</c:v>
                </c:pt>
                <c:pt idx="2">
                  <c:v>32.3319003164536</c:v>
                </c:pt>
                <c:pt idx="3">
                  <c:v>29.38469043537852</c:v>
                </c:pt>
                <c:pt idx="4">
                  <c:v>32.47609861525144</c:v>
                </c:pt>
                <c:pt idx="5">
                  <c:v>31.991876312524358</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5.317256760071276</c:v>
                </c:pt>
                <c:pt idx="1">
                  <c:v>5.868487408717294</c:v>
                </c:pt>
                <c:pt idx="2">
                  <c:v>6.642698130303956</c:v>
                </c:pt>
                <c:pt idx="3">
                  <c:v>5.8633790931375</c:v>
                </c:pt>
                <c:pt idx="4">
                  <c:v>5.351663480210913</c:v>
                </c:pt>
                <c:pt idx="5">
                  <c:v>5.634930212279158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Flexible packs</c:v>
                </c:pt>
              </c:strCache>
            </c:strRef>
          </c:tx>
          <c:spPr>
            <a:solidFill>
              <a:srgbClr val="3D85C6"/>
            </a:solidFill>
          </c:spPr>
          <c:invertIfNegative val="0"/>
          <c:xVal>
            <c:numRef>
              <c:numCache>
                <c:formatCode>General</c:formatCode>
                <c:ptCount val="1"/>
                <c:pt idx="0">
                  <c:v>124.40976519919357</c:v>
                </c:pt>
              </c:numCache>
            </c:numRef>
          </c:xVal>
          <c:yVal>
            <c:numRef>
              <c:numCache>
                <c:formatCode>General</c:formatCode>
                <c:ptCount val="1"/>
                <c:pt idx="0">
                  <c:v>47.397247706422</c:v>
                </c:pt>
              </c:numCache>
            </c:numRef>
          </c:yVal>
          <c:bubbleSize>
            <c:numRef>
              <c:numCache>
                <c:formatCode>General</c:formatCode>
                <c:ptCount val="1"/>
                <c:pt idx="0">
                  <c:v>2360.035</c:v>
                </c:pt>
              </c:numCache>
            </c:numRef>
          </c:bubbleSize>
          <c:bubble3D val="0"/>
        </c:ser>
        <c:ser>
          <c:idx val="1"/>
          <c:order val="1"/>
          <c:tx>
            <c:strRef>
              <c:strCache>
                <c:ptCount val="1"/>
                <c:pt idx="0">
                  <c:v>Rigid plastic packs</c:v>
                </c:pt>
              </c:strCache>
            </c:strRef>
          </c:tx>
          <c:spPr>
            <a:solidFill>
              <a:srgbClr val="9E7E0A"/>
            </a:solidFill>
          </c:spPr>
          <c:invertIfNegative val="0"/>
          <c:xVal>
            <c:numRef>
              <c:numCache>
                <c:formatCode>General</c:formatCode>
                <c:ptCount val="1"/>
                <c:pt idx="0">
                  <c:v>105.55742059554625</c:v>
                </c:pt>
              </c:numCache>
            </c:numRef>
          </c:xVal>
          <c:yVal>
            <c:numRef>
              <c:numCache>
                <c:formatCode>General</c:formatCode>
                <c:ptCount val="1"/>
                <c:pt idx="0">
                  <c:v>190.80836697247705</c:v>
                </c:pt>
              </c:numCache>
            </c:numRef>
          </c:yVal>
          <c:bubbleSize>
            <c:numRef>
              <c:numCache>
                <c:formatCode>General</c:formatCode>
                <c:ptCount val="1"/>
                <c:pt idx="0">
                  <c:v>8691.438</c:v>
                </c:pt>
              </c:numCache>
            </c:numRef>
          </c:bubbleSize>
          <c:bubble3D val="0"/>
        </c:ser>
        <c:ser>
          <c:idx val="2"/>
          <c:order val="2"/>
          <c:tx>
            <c:strRef>
              <c:strCache>
                <c:ptCount val="1"/>
                <c:pt idx="0">
                  <c:v>Paperboard packs</c:v>
                </c:pt>
              </c:strCache>
            </c:strRef>
          </c:tx>
          <c:spPr>
            <a:solidFill>
              <a:srgbClr val="008189"/>
            </a:solidFill>
          </c:spPr>
          <c:invertIfNegative val="0"/>
          <c:xVal>
            <c:numRef>
              <c:numCache>
                <c:formatCode>General</c:formatCode>
                <c:ptCount val="1"/>
                <c:pt idx="0">
                  <c:v>73.72602553424416</c:v>
                </c:pt>
              </c:numCache>
            </c:numRef>
          </c:xVal>
          <c:yVal>
            <c:numRef>
              <c:numCache>
                <c:formatCode>General</c:formatCode>
                <c:ptCount val="1"/>
                <c:pt idx="0">
                  <c:v>145.2081100917431</c:v>
                </c:pt>
              </c:numCache>
            </c:numRef>
          </c:yVal>
          <c:bubbleSize>
            <c:numRef>
              <c:numCache>
                <c:formatCode>General</c:formatCode>
                <c:ptCount val="1"/>
                <c:pt idx="0">
                  <c:v>5680.659</c:v>
                </c:pt>
              </c:numCache>
            </c:numRef>
          </c:bubbleSize>
          <c:bubble3D val="0"/>
        </c:ser>
        <c:ser>
          <c:idx val="3"/>
          <c:order val="3"/>
          <c:tx>
            <c:strRef>
              <c:strCache>
                <c:ptCount val="1"/>
                <c:pt idx="0">
                  <c:v>Other packaging formats</c:v>
                </c:pt>
              </c:strCache>
            </c:strRef>
          </c:tx>
          <c:spPr>
            <a:solidFill>
              <a:srgbClr val="40315E"/>
            </a:solidFill>
          </c:spPr>
          <c:invertIfNegative val="0"/>
          <c:xVal>
            <c:numRef>
              <c:numCache>
                <c:formatCode>General</c:formatCode>
                <c:ptCount val="1"/>
                <c:pt idx="0">
                  <c:v>168.36922419998086</c:v>
                </c:pt>
              </c:numCache>
            </c:numRef>
          </c:xVal>
          <c:yVal>
            <c:numRef>
              <c:numCache>
                <c:formatCode>General</c:formatCode>
                <c:ptCount val="1"/>
                <c:pt idx="0">
                  <c:v>16.586275229357796</c:v>
                </c:pt>
              </c:numCache>
            </c:numRef>
          </c:yVal>
          <c:bubbleSize>
            <c:numRef>
              <c:numCache>
                <c:formatCode>General</c:formatCode>
                <c:ptCount val="1"/>
                <c:pt idx="0">
                  <c:v>1013.377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0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1291.5749999999998</c:v>
                </c:pt>
                <c:pt idx="2">
                  <c:v>1454.871</c:v>
                </c:pt>
                <c:pt idx="3">
                  <c:v>1640.019</c:v>
                </c:pt>
                <c:pt idx="4">
                  <c:v>1850.136</c:v>
                </c:pt>
                <c:pt idx="5">
                  <c:v>2088.767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1291.5749999999998</c:v>
                </c:pt>
                <c:pt idx="1">
                  <c:v>163.29600000000028</c:v>
                </c:pt>
                <c:pt idx="2">
                  <c:v>185.1479999999999</c:v>
                </c:pt>
                <c:pt idx="3">
                  <c:v>210.11699999999996</c:v>
                </c:pt>
                <c:pt idx="4">
                  <c:v>238.63099999999986</c:v>
                </c:pt>
                <c:pt idx="5">
                  <c:v>271.26800000000003</c:v>
                </c:pt>
                <c:pt idx="6">
                  <c:v>2360.035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5199.528</c:v>
                </c:pt>
                <c:pt idx="2">
                  <c:v>5755.236000000001</c:v>
                </c:pt>
                <c:pt idx="3">
                  <c:v>6374.112</c:v>
                </c:pt>
                <c:pt idx="4">
                  <c:v>7063.8150000000005</c:v>
                </c:pt>
                <c:pt idx="5">
                  <c:v>7832.998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5199.528</c:v>
                </c:pt>
                <c:pt idx="1">
                  <c:v>555.7080000000005</c:v>
                </c:pt>
                <c:pt idx="2">
                  <c:v>618.8759999999993</c:v>
                </c:pt>
                <c:pt idx="3">
                  <c:v>689.7030000000004</c:v>
                </c:pt>
                <c:pt idx="4">
                  <c:v>769.1829999999991</c:v>
                </c:pt>
                <c:pt idx="5">
                  <c:v>858.4400000000005</c:v>
                </c:pt>
                <c:pt idx="6">
                  <c:v>8691.438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3956.9210000000003</c:v>
                </c:pt>
                <c:pt idx="2">
                  <c:v>4263.307</c:v>
                </c:pt>
                <c:pt idx="3">
                  <c:v>4588.929</c:v>
                </c:pt>
                <c:pt idx="4">
                  <c:v>4933.884</c:v>
                </c:pt>
                <c:pt idx="5">
                  <c:v>5297.999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3956.9210000000003</c:v>
                </c:pt>
                <c:pt idx="1">
                  <c:v>306.3859999999995</c:v>
                </c:pt>
                <c:pt idx="2">
                  <c:v>325.6220000000003</c:v>
                </c:pt>
                <c:pt idx="3">
                  <c:v>344.9549999999999</c:v>
                </c:pt>
                <c:pt idx="4">
                  <c:v>364.1149999999998</c:v>
                </c:pt>
                <c:pt idx="5">
                  <c:v>382.65999999999985</c:v>
                </c:pt>
                <c:pt idx="6">
                  <c:v>5680.659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451.976</c:v>
                </c:pt>
                <c:pt idx="2">
                  <c:v>532.642</c:v>
                </c:pt>
                <c:pt idx="3">
                  <c:v>626.707</c:v>
                </c:pt>
                <c:pt idx="4">
                  <c:v>736.393</c:v>
                </c:pt>
                <c:pt idx="5">
                  <c:v>864.277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451.976</c:v>
                </c:pt>
                <c:pt idx="1">
                  <c:v>80.66600000000005</c:v>
                </c:pt>
                <c:pt idx="2">
                  <c:v>94.06499999999994</c:v>
                </c:pt>
                <c:pt idx="3">
                  <c:v>109.68600000000004</c:v>
                </c:pt>
                <c:pt idx="4">
                  <c:v>127.88400000000001</c:v>
                </c:pt>
                <c:pt idx="5">
                  <c:v>149.0999999999999</c:v>
                </c:pt>
                <c:pt idx="6">
                  <c:v>1013.377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47.15732595063502</c:v>
                </c:pt>
                <c:pt idx="1">
                  <c:v>47.70209174311927</c:v>
                </c:pt>
                <c:pt idx="2">
                  <c:v>48.97824007189651</c:v>
                </c:pt>
              </c:numCache>
            </c:numRef>
          </c:val>
        </c:ser>
        <c:ser>
          <c:idx val="1"/>
          <c:order val="1"/>
          <c:tx>
            <c:strRef>
              <c:strCache>
                <c:ptCount val="1"/>
                <c:pt idx="0">
                  <c:v>Paperboard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38.15809114091914</c:v>
                </c:pt>
                <c:pt idx="1">
                  <c:v>36.30202752293578</c:v>
                </c:pt>
                <c:pt idx="2">
                  <c:v>32.011812115392125</c:v>
                </c:pt>
              </c:numCache>
            </c:numRef>
          </c:val>
        </c:ser>
        <c:ser>
          <c:idx val="2"/>
          <c:order val="2"/>
          <c:tx>
            <c:strRef>
              <c:strCache>
                <c:ptCount val="1"/>
                <c:pt idx="0">
                  <c:v>Flexible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11.218982465268464</c:v>
                </c:pt>
                <c:pt idx="1">
                  <c:v>11.849311926605504</c:v>
                </c:pt>
                <c:pt idx="2">
                  <c:v>13.299336750498394</c:v>
                </c:pt>
              </c:numCache>
            </c:numRef>
          </c:val>
        </c:ser>
        <c:ser>
          <c:idx val="3"/>
          <c:order val="3"/>
          <c:tx>
            <c:strRef>
              <c:strCache>
                <c:ptCount val="1"/>
                <c:pt idx="0">
                  <c:v>Other packaging formats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3.465600443177382</c:v>
                </c:pt>
                <c:pt idx="1">
                  <c:v>4.146568807339449</c:v>
                </c:pt>
                <c:pt idx="2">
                  <c:v>5.710611062212981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Single-muffin 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28.53036773293353</c:v>
                </c:pt>
                <c:pt idx="1">
                  <c:v>26.129678750368402</c:v>
                </c:pt>
                <c:pt idx="2">
                  <c:v>26.151269503336174</c:v>
                </c:pt>
                <c:pt idx="3">
                  <c:v>26.47326592436432</c:v>
                </c:pt>
                <c:pt idx="4">
                  <c:v>25.65308169199713</c:v>
                </c:pt>
                <c:pt idx="5">
                  <c:v>29.15424582598108</c:v>
                </c:pt>
              </c:numCache>
            </c:numRef>
          </c:val>
        </c:ser>
        <c:ser>
          <c:idx val="1"/>
          <c:order val="1"/>
          <c:tx>
            <c:strRef>
              <c:strCache>
                <c:ptCount val="1"/>
                <c:pt idx="0">
                  <c:v>Multipacks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60.390538580364726</c:v>
                </c:pt>
                <c:pt idx="1">
                  <c:v>62.58696008121295</c:v>
                </c:pt>
                <c:pt idx="2">
                  <c:v>61.18643371417034</c:v>
                </c:pt>
                <c:pt idx="3">
                  <c:v>61.85714143741756</c:v>
                </c:pt>
                <c:pt idx="4">
                  <c:v>61.99424203127308</c:v>
                </c:pt>
                <c:pt idx="5">
                  <c:v>58.39219806195658</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11.079093686701741</c:v>
                </c:pt>
                <c:pt idx="1">
                  <c:v>11.283361168418638</c:v>
                </c:pt>
                <c:pt idx="2">
                  <c:v>12.662296782493481</c:v>
                </c:pt>
                <c:pt idx="3">
                  <c:v>11.669592638218129</c:v>
                </c:pt>
                <c:pt idx="4">
                  <c:v>12.352676276729788</c:v>
                </c:pt>
                <c:pt idx="5">
                  <c:v>12.453556112062355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Single-muffin packs</c:v>
                </c:pt>
              </c:strCache>
            </c:strRef>
          </c:tx>
          <c:spPr>
            <a:solidFill>
              <a:srgbClr val="3D85C6"/>
            </a:solidFill>
          </c:spPr>
          <c:invertIfNegative val="0"/>
          <c:xVal>
            <c:numRef>
              <c:numCache>
                <c:formatCode>General</c:formatCode>
                <c:ptCount val="1"/>
                <c:pt idx="0">
                  <c:v>83.78016655210156</c:v>
                </c:pt>
              </c:numCache>
            </c:numRef>
          </c:xVal>
          <c:yVal>
            <c:numRef>
              <c:numCache>
                <c:formatCode>General</c:formatCode>
                <c:ptCount val="1"/>
                <c:pt idx="0">
                  <c:v>87.91354128440368</c:v>
                </c:pt>
              </c:numCache>
            </c:numRef>
          </c:yVal>
          <c:bubbleSize>
            <c:numRef>
              <c:numCache>
                <c:formatCode>General</c:formatCode>
                <c:ptCount val="1"/>
                <c:pt idx="0">
                  <c:v>4812.658</c:v>
                </c:pt>
              </c:numCache>
            </c:numRef>
          </c:bubbleSize>
          <c:bubble3D val="0"/>
        </c:ser>
        <c:ser>
          <c:idx val="1"/>
          <c:order val="1"/>
          <c:tx>
            <c:strRef>
              <c:strCache>
                <c:ptCount val="1"/>
                <c:pt idx="0">
                  <c:v>Multipacks</c:v>
                </c:pt>
              </c:strCache>
            </c:strRef>
          </c:tx>
          <c:spPr>
            <a:solidFill>
              <a:srgbClr val="9E7E0A"/>
            </a:solidFill>
          </c:spPr>
          <c:invertIfNegative val="0"/>
          <c:xVal>
            <c:numRef>
              <c:numCache>
                <c:formatCode>General</c:formatCode>
                <c:ptCount val="1"/>
                <c:pt idx="0">
                  <c:v>118.78130352238708</c:v>
                </c:pt>
              </c:numCache>
            </c:numRef>
          </c:xVal>
          <c:yVal>
            <c:numRef>
              <c:numCache>
                <c:formatCode>General</c:formatCode>
                <c:ptCount val="1"/>
                <c:pt idx="0">
                  <c:v>166.67543119266057</c:v>
                </c:pt>
              </c:numCache>
            </c:numRef>
          </c:yVal>
          <c:bubbleSize>
            <c:numRef>
              <c:numCache>
                <c:formatCode>General</c:formatCode>
                <c:ptCount val="1"/>
                <c:pt idx="0">
                  <c:v>10776.214</c:v>
                </c:pt>
              </c:numCache>
            </c:numRef>
          </c:bubbleSize>
          <c:bubble3D val="0"/>
        </c:ser>
        <c:ser>
          <c:idx val="2"/>
          <c:order val="2"/>
          <c:tx>
            <c:strRef>
              <c:strCache>
                <c:ptCount val="1"/>
                <c:pt idx="0">
                  <c:v>Bulk foodservice packs</c:v>
                </c:pt>
              </c:strCache>
            </c:strRef>
          </c:tx>
          <c:spPr>
            <a:solidFill>
              <a:srgbClr val="008189"/>
            </a:solidFill>
          </c:spPr>
          <c:invertIfNegative val="0"/>
          <c:xVal>
            <c:numRef>
              <c:numCache>
                <c:formatCode>General</c:formatCode>
                <c:ptCount val="1"/>
                <c:pt idx="0">
                  <c:v>54.347359815952004</c:v>
                </c:pt>
              </c:numCache>
            </c:numRef>
          </c:xVal>
          <c:yVal>
            <c:numRef>
              <c:numCache>
                <c:formatCode>General</c:formatCode>
                <c:ptCount val="1"/>
                <c:pt idx="0">
                  <c:v>45.41102752293579</c:v>
                </c:pt>
              </c:numCache>
            </c:numRef>
          </c:yVal>
          <c:bubbleSize>
            <c:numRef>
              <c:numCache>
                <c:formatCode>General</c:formatCode>
                <c:ptCount val="1"/>
                <c:pt idx="0">
                  <c:v>2156.637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3194.192</c:v>
                </c:pt>
                <c:pt idx="2">
                  <c:v>3467.663</c:v>
                </c:pt>
                <c:pt idx="3">
                  <c:v>3764.321</c:v>
                </c:pt>
                <c:pt idx="4">
                  <c:v>4086.025</c:v>
                </c:pt>
                <c:pt idx="5">
                  <c:v>4434.765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3194.192</c:v>
                </c:pt>
                <c:pt idx="1">
                  <c:v>273.471</c:v>
                </c:pt>
                <c:pt idx="2">
                  <c:v>296.6579999999999</c:v>
                </c:pt>
                <c:pt idx="3">
                  <c:v>321.7040000000002</c:v>
                </c:pt>
                <c:pt idx="4">
                  <c:v>348.74000000000024</c:v>
                </c:pt>
                <c:pt idx="5">
                  <c:v>377.89300000000003</c:v>
                </c:pt>
                <c:pt idx="6">
                  <c:v>4812.658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6055.874</c:v>
                </c:pt>
                <c:pt idx="2">
                  <c:v>6789.99</c:v>
                </c:pt>
                <c:pt idx="3">
                  <c:v>7616.267</c:v>
                </c:pt>
                <c:pt idx="4">
                  <c:v>8546.702000000001</c:v>
                </c:pt>
                <c:pt idx="5">
                  <c:v>9594.875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6055.874</c:v>
                </c:pt>
                <c:pt idx="1">
                  <c:v>734.116</c:v>
                </c:pt>
                <c:pt idx="2">
                  <c:v>826.277</c:v>
                </c:pt>
                <c:pt idx="3">
                  <c:v>930.4350000000013</c:v>
                </c:pt>
                <c:pt idx="4">
                  <c:v>1048.1729999999989</c:v>
                </c:pt>
                <c:pt idx="5">
                  <c:v>1181.339</c:v>
                </c:pt>
                <c:pt idx="6">
                  <c:v>10776.214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1649.934</c:v>
                </c:pt>
                <c:pt idx="2">
                  <c:v>1748.403</c:v>
                </c:pt>
                <c:pt idx="3">
                  <c:v>1849.179</c:v>
                </c:pt>
                <c:pt idx="4">
                  <c:v>1951.501</c:v>
                </c:pt>
                <c:pt idx="5">
                  <c:v>2054.401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1649.934</c:v>
                </c:pt>
                <c:pt idx="1">
                  <c:v>98.46900000000005</c:v>
                </c:pt>
                <c:pt idx="2">
                  <c:v>100.77600000000007</c:v>
                </c:pt>
                <c:pt idx="3">
                  <c:v>102.32199999999989</c:v>
                </c:pt>
                <c:pt idx="4">
                  <c:v>102.89999999999986</c:v>
                </c:pt>
                <c:pt idx="5">
                  <c:v>102.23600000000033</c:v>
                </c:pt>
                <c:pt idx="6">
                  <c:v>2156.637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Multipacks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53.14506898945726</c:v>
                </c:pt>
                <c:pt idx="1">
                  <c:v>55.55847706422018</c:v>
                </c:pt>
                <c:pt idx="2">
                  <c:v>60.72642943068017</c:v>
                </c:pt>
              </c:numCache>
            </c:numRef>
          </c:val>
        </c:ser>
        <c:ser>
          <c:idx val="1"/>
          <c:order val="1"/>
          <c:tx>
            <c:strRef>
              <c:strCache>
                <c:ptCount val="1"/>
                <c:pt idx="0">
                  <c:v>Single-muffin packs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30.328515560028823</c:v>
                </c:pt>
                <c:pt idx="1">
                  <c:v>29.304513761467888</c:v>
                </c:pt>
                <c:pt idx="2">
                  <c:v>27.12042804745696</c:v>
                </c:pt>
              </c:numCache>
            </c:numRef>
          </c:val>
        </c:ser>
        <c:ser>
          <c:idx val="2"/>
          <c:order val="2"/>
          <c:tx>
            <c:strRef>
              <c:strCache>
                <c:ptCount val="1"/>
                <c:pt idx="0">
                  <c:v>Bulk foodservice packs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16.526415450513916</c:v>
                </c:pt>
                <c:pt idx="1">
                  <c:v>15.137009174311927</c:v>
                </c:pt>
                <c:pt idx="2">
                  <c:v>12.153142521862856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Individually wrapped muffins within an outer pack</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49.03376502711826</c:v>
                </c:pt>
                <c:pt idx="1">
                  <c:v>49.504731964502085</c:v>
                </c:pt>
                <c:pt idx="2">
                  <c:v>50.32358849457239</c:v>
                </c:pt>
                <c:pt idx="3">
                  <c:v>45.94969345352934</c:v>
                </c:pt>
                <c:pt idx="4">
                  <c:v>44.87900928288033</c:v>
                </c:pt>
                <c:pt idx="5">
                  <c:v>55.47695094217813</c:v>
                </c:pt>
              </c:numCache>
            </c:numRef>
          </c:val>
        </c:ser>
        <c:ser>
          <c:idx val="1"/>
          <c:order val="1"/>
          <c:tx>
            <c:strRef>
              <c:strCache>
                <c:ptCount val="1"/>
                <c:pt idx="0">
                  <c:v>Shared pack without individual wrapping</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50.96623497288175</c:v>
                </c:pt>
                <c:pt idx="1">
                  <c:v>50.49526803549792</c:v>
                </c:pt>
                <c:pt idx="2">
                  <c:v>49.676411505427595</c:v>
                </c:pt>
                <c:pt idx="3">
                  <c:v>54.05030654647066</c:v>
                </c:pt>
                <c:pt idx="4">
                  <c:v>55.12099071711965</c:v>
                </c:pt>
                <c:pt idx="5">
                  <c:v>44.523049057821865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Individually wrapped muffins within an outer pack</c:v>
                </c:pt>
              </c:strCache>
            </c:strRef>
          </c:tx>
          <c:spPr>
            <a:solidFill>
              <a:srgbClr val="3D85C6"/>
            </a:solidFill>
          </c:spPr>
          <c:invertIfNegative val="0"/>
          <c:xVal>
            <c:numRef>
              <c:numCache>
                <c:formatCode>General</c:formatCode>
                <c:ptCount val="1"/>
                <c:pt idx="0">
                  <c:v>103.60035816710888</c:v>
                </c:pt>
              </c:numCache>
            </c:numRef>
          </c:xVal>
          <c:yVal>
            <c:numRef>
              <c:numCache>
                <c:formatCode>General</c:formatCode>
                <c:ptCount val="1"/>
                <c:pt idx="0">
                  <c:v>97.50999999999999</c:v>
                </c:pt>
              </c:numCache>
            </c:numRef>
          </c:yVal>
          <c:bubbleSize>
            <c:numRef>
              <c:numCache>
                <c:formatCode>General</c:formatCode>
                <c:ptCount val="1"/>
                <c:pt idx="0">
                  <c:v>8801.144</c:v>
                </c:pt>
              </c:numCache>
            </c:numRef>
          </c:bubbleSize>
          <c:bubble3D val="0"/>
        </c:ser>
        <c:ser>
          <c:idx val="1"/>
          <c:order val="1"/>
          <c:tx>
            <c:strRef>
              <c:strCache>
                <c:ptCount val="1"/>
                <c:pt idx="0">
                  <c:v>Shared pack without individual wrapping</c:v>
                </c:pt>
              </c:strCache>
            </c:strRef>
          </c:tx>
          <c:spPr>
            <a:solidFill>
              <a:srgbClr val="9E7E0A"/>
            </a:solidFill>
          </c:spPr>
          <c:invertIfNegative val="0"/>
          <c:xVal>
            <c:numRef>
              <c:numCache>
                <c:formatCode>General</c:formatCode>
                <c:ptCount val="1"/>
                <c:pt idx="0">
                  <c:v>96.52228825126711</c:v>
                </c:pt>
              </c:numCache>
            </c:numRef>
          </c:xVal>
          <c:yVal>
            <c:numRef>
              <c:numCache>
                <c:formatCode>General</c:formatCode>
                <c:ptCount val="1"/>
                <c:pt idx="0">
                  <c:v>102.49</c:v>
                </c:pt>
              </c:numCache>
            </c:numRef>
          </c:yVal>
          <c:bubbleSize>
            <c:numRef>
              <c:numCache>
                <c:formatCode>General</c:formatCode>
                <c:ptCount val="1"/>
                <c:pt idx="0">
                  <c:v>8944.365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20.0"/>
          <c:min val="8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5314.295</c:v>
                </c:pt>
                <c:pt idx="2">
                  <c:v>5879.283</c:v>
                </c:pt>
                <c:pt idx="3">
                  <c:v>6503.39</c:v>
                </c:pt>
                <c:pt idx="4">
                  <c:v>7193.31</c:v>
                </c:pt>
                <c:pt idx="5">
                  <c:v>7956.464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5314.295</c:v>
                </c:pt>
                <c:pt idx="1">
                  <c:v>564.9880000000003</c:v>
                </c:pt>
                <c:pt idx="2">
                  <c:v>624.107</c:v>
                </c:pt>
                <c:pt idx="3">
                  <c:v>689.9200000000001</c:v>
                </c:pt>
                <c:pt idx="4">
                  <c:v>763.1539999999995</c:v>
                </c:pt>
                <c:pt idx="5">
                  <c:v>844.6800000000003</c:v>
                </c:pt>
                <c:pt idx="6">
                  <c:v>8801.144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5585.705</c:v>
                </c:pt>
                <c:pt idx="2">
                  <c:v>6126.773</c:v>
                </c:pt>
                <c:pt idx="3">
                  <c:v>6726.377</c:v>
                </c:pt>
                <c:pt idx="4">
                  <c:v>7390.918</c:v>
                </c:pt>
                <c:pt idx="5">
                  <c:v>8127.577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5585.705</c:v>
                </c:pt>
                <c:pt idx="1">
                  <c:v>541.0680000000002</c:v>
                </c:pt>
                <c:pt idx="2">
                  <c:v>599.6040000000003</c:v>
                </c:pt>
                <c:pt idx="3">
                  <c:v>664.5409999999993</c:v>
                </c:pt>
                <c:pt idx="4">
                  <c:v>736.6590000000006</c:v>
                </c:pt>
                <c:pt idx="5">
                  <c:v>816.7879999999996</c:v>
                </c:pt>
                <c:pt idx="6">
                  <c:v>8944.365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Shared pack without individual wrapping</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51.92661176480623</c:v>
                </c:pt>
                <c:pt idx="1">
                  <c:v>51.245</c:v>
                </c:pt>
                <c:pt idx="2">
                  <c:v>50.4035415383126</c:v>
                </c:pt>
              </c:numCache>
            </c:numRef>
          </c:val>
        </c:ser>
        <c:ser>
          <c:idx val="1"/>
          <c:order val="1"/>
          <c:tx>
            <c:strRef>
              <c:strCache>
                <c:ptCount val="1"/>
                <c:pt idx="0">
                  <c:v>Individually wrapped muffins within an outer pack</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48.07338823519377</c:v>
                </c:pt>
                <c:pt idx="1">
                  <c:v>48.754999999999995</c:v>
                </c:pt>
                <c:pt idx="2">
                  <c:v>49.59645846168741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Economy / value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15.264758291005903</c:v>
                </c:pt>
                <c:pt idx="1">
                  <c:v>13.069325735992402</c:v>
                </c:pt>
                <c:pt idx="2">
                  <c:v>15.703617767524339</c:v>
                </c:pt>
                <c:pt idx="3">
                  <c:v>19.392818054115853</c:v>
                </c:pt>
                <c:pt idx="4">
                  <c:v>15.975960272903272</c:v>
                </c:pt>
                <c:pt idx="5">
                  <c:v>15.867361673336156</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29.931112002689897</c:v>
                </c:pt>
                <c:pt idx="1">
                  <c:v>34.263876608704194</c:v>
                </c:pt>
                <c:pt idx="2">
                  <c:v>30.32109680352265</c:v>
                </c:pt>
                <c:pt idx="3">
                  <c:v>28.67878449538981</c:v>
                </c:pt>
                <c:pt idx="4">
                  <c:v>29.90637219293091</c:v>
                </c:pt>
                <c:pt idx="5">
                  <c:v>32.64226820647107</c:v>
                </c:pt>
              </c:numCache>
            </c:numRef>
          </c:val>
        </c:ser>
        <c:ser>
          <c:idx val="2"/>
          <c:order val="2"/>
          <c:tx>
            <c:strRef>
              <c:strCache>
                <c:ptCount val="1"/>
                <c:pt idx="0">
                  <c:v>Premium</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31.334861290013432</c:v>
                </c:pt>
                <c:pt idx="1">
                  <c:v>32.81337393981072</c:v>
                </c:pt>
                <c:pt idx="2">
                  <c:v>29.628680600992347</c:v>
                </c:pt>
                <c:pt idx="3">
                  <c:v>31.154359510372544</c:v>
                </c:pt>
                <c:pt idx="4">
                  <c:v>31.63099398631053</c:v>
                </c:pt>
                <c:pt idx="5">
                  <c:v>31.717275949454105</c:v>
                </c:pt>
              </c:numCache>
            </c:numRef>
          </c:val>
        </c:ser>
        <c:ser>
          <c:idx val="3"/>
          <c:order val="3"/>
          <c:tx>
            <c:strRef>
              <c:strCache>
                <c:ptCount val="1"/>
                <c:pt idx="0">
                  <c:v>Super-premium / speciality</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23.46926841629077</c:v>
                </c:pt>
                <c:pt idx="1">
                  <c:v>19.85342371549268</c:v>
                </c:pt>
                <c:pt idx="2">
                  <c:v>24.34660482796066</c:v>
                </c:pt>
                <c:pt idx="3">
                  <c:v>20.774037940121787</c:v>
                </c:pt>
                <c:pt idx="4">
                  <c:v>22.486673547855276</c:v>
                </c:pt>
                <c:pt idx="5">
                  <c:v>19.77309417073866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Economy / value</c:v>
                </c:pt>
              </c:strCache>
            </c:strRef>
          </c:tx>
          <c:spPr>
            <a:solidFill>
              <a:srgbClr val="3D85C6"/>
            </a:solidFill>
          </c:spPr>
          <c:invertIfNegative val="0"/>
          <c:xVal>
            <c:numRef>
              <c:numCache>
                <c:formatCode>General</c:formatCode>
                <c:ptCount val="1"/>
                <c:pt idx="0">
                  <c:v>41.795492000783966</c:v>
                </c:pt>
              </c:numCache>
            </c:numRef>
          </c:xVal>
          <c:yVal>
            <c:numRef>
              <c:numCache>
                <c:formatCode>General</c:formatCode>
                <c:ptCount val="1"/>
                <c:pt idx="0">
                  <c:v>85.0353394495413</c:v>
                </c:pt>
              </c:numCache>
            </c:numRef>
          </c:yVal>
          <c:bubbleSize>
            <c:numRef>
              <c:numCache>
                <c:formatCode>General</c:formatCode>
                <c:ptCount val="1"/>
                <c:pt idx="0">
                  <c:v>2848.978</c:v>
                </c:pt>
              </c:numCache>
            </c:numRef>
          </c:bubbleSize>
          <c:bubble3D val="0"/>
        </c:ser>
        <c:ser>
          <c:idx val="1"/>
          <c:order val="1"/>
          <c:tx>
            <c:strRef>
              <c:strCache>
                <c:ptCount val="1"/>
                <c:pt idx="0">
                  <c:v>Mid-range</c:v>
                </c:pt>
              </c:strCache>
            </c:strRef>
          </c:tx>
          <c:spPr>
            <a:solidFill>
              <a:srgbClr val="9E7E0A"/>
            </a:solidFill>
          </c:spPr>
          <c:invertIfNegative val="0"/>
          <c:xVal>
            <c:numRef>
              <c:numCache>
                <c:formatCode>General</c:formatCode>
                <c:ptCount val="1"/>
                <c:pt idx="0">
                  <c:v>150.93035664034667</c:v>
                </c:pt>
              </c:numCache>
            </c:numRef>
          </c:xVal>
          <c:yVal>
            <c:numRef>
              <c:numCache>
                <c:formatCode>General</c:formatCode>
                <c:ptCount val="1"/>
                <c:pt idx="0">
                  <c:v>97.60601834862386</c:v>
                </c:pt>
              </c:numCache>
            </c:numRef>
          </c:yVal>
          <c:bubbleSize>
            <c:numRef>
              <c:numCache>
                <c:formatCode>General</c:formatCode>
                <c:ptCount val="1"/>
                <c:pt idx="0">
                  <c:v>5501.311</c:v>
                </c:pt>
              </c:numCache>
            </c:numRef>
          </c:bubbleSize>
          <c:bubble3D val="0"/>
        </c:ser>
        <c:ser>
          <c:idx val="2"/>
          <c:order val="2"/>
          <c:tx>
            <c:strRef>
              <c:strCache>
                <c:ptCount val="1"/>
                <c:pt idx="0">
                  <c:v>Premium</c:v>
                </c:pt>
              </c:strCache>
            </c:strRef>
          </c:tx>
          <c:spPr>
            <a:solidFill>
              <a:srgbClr val="008189"/>
            </a:solidFill>
          </c:spPr>
          <c:invertIfNegative val="0"/>
          <c:xVal>
            <c:numRef>
              <c:numCache>
                <c:formatCode>General</c:formatCode>
                <c:ptCount val="1"/>
                <c:pt idx="0">
                  <c:v>60.643342363194044</c:v>
                </c:pt>
              </c:numCache>
            </c:numRef>
          </c:xVal>
          <c:yVal>
            <c:numRef>
              <c:numCache>
                <c:formatCode>General</c:formatCode>
                <c:ptCount val="1"/>
                <c:pt idx="0">
                  <c:v>151.82785321100917</c:v>
                </c:pt>
              </c:numCache>
            </c:numRef>
          </c:yVal>
          <c:bubbleSize>
            <c:numRef>
              <c:numCache>
                <c:formatCode>General</c:formatCode>
                <c:ptCount val="1"/>
                <c:pt idx="0">
                  <c:v>5575.753</c:v>
                </c:pt>
              </c:numCache>
            </c:numRef>
          </c:bubbleSize>
          <c:bubble3D val="0"/>
        </c:ser>
        <c:ser>
          <c:idx val="3"/>
          <c:order val="3"/>
          <c:tx>
            <c:strRef>
              <c:strCache>
                <c:ptCount val="1"/>
                <c:pt idx="0">
                  <c:v>Super-premium / speciality</c:v>
                </c:pt>
              </c:strCache>
            </c:strRef>
          </c:tx>
          <c:spPr>
            <a:solidFill>
              <a:srgbClr val="40315E"/>
            </a:solidFill>
          </c:spPr>
          <c:invertIfNegative val="0"/>
          <c:xVal>
            <c:numRef>
              <c:numCache>
                <c:formatCode>General</c:formatCode>
                <c:ptCount val="1"/>
                <c:pt idx="0">
                  <c:v>158.16496336581196</c:v>
                </c:pt>
              </c:numCache>
            </c:numRef>
          </c:xVal>
          <c:yVal>
            <c:numRef>
              <c:numCache>
                <c:formatCode>General</c:formatCode>
                <c:ptCount val="1"/>
                <c:pt idx="0">
                  <c:v>65.53078899082568</c:v>
                </c:pt>
              </c:numCache>
            </c:numRef>
          </c:yVal>
          <c:bubbleSize>
            <c:numRef>
              <c:numCache>
                <c:formatCode>General</c:formatCode>
                <c:ptCount val="1"/>
                <c:pt idx="0">
                  <c:v>3819.467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1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2317.213</c:v>
                </c:pt>
                <c:pt idx="2">
                  <c:v>2429.911</c:v>
                </c:pt>
                <c:pt idx="3">
                  <c:v>2541.306</c:v>
                </c:pt>
                <c:pt idx="4">
                  <c:v>2649.724</c:v>
                </c:pt>
                <c:pt idx="5">
                  <c:v>2753.119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2317.213</c:v>
                </c:pt>
                <c:pt idx="1">
                  <c:v>112.69799999999987</c:v>
                </c:pt>
                <c:pt idx="2">
                  <c:v>111.39499999999998</c:v>
                </c:pt>
                <c:pt idx="3">
                  <c:v>108.41800000000012</c:v>
                </c:pt>
                <c:pt idx="4">
                  <c:v>103.39499999999998</c:v>
                </c:pt>
                <c:pt idx="5">
                  <c:v>95.85899999999992</c:v>
                </c:pt>
                <c:pt idx="6">
                  <c:v>2848.978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2659.764</c:v>
                </c:pt>
                <c:pt idx="2">
                  <c:v>3085.432</c:v>
                </c:pt>
                <c:pt idx="3">
                  <c:v>3573.018</c:v>
                </c:pt>
                <c:pt idx="4">
                  <c:v>4131.286</c:v>
                </c:pt>
                <c:pt idx="5">
                  <c:v>4770.244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2659.764</c:v>
                </c:pt>
                <c:pt idx="1">
                  <c:v>425.66799999999967</c:v>
                </c:pt>
                <c:pt idx="2">
                  <c:v>487.58600000000024</c:v>
                </c:pt>
                <c:pt idx="3">
                  <c:v>558.268</c:v>
                </c:pt>
                <c:pt idx="4">
                  <c:v>638.9579999999996</c:v>
                </c:pt>
                <c:pt idx="5">
                  <c:v>731.067</c:v>
                </c:pt>
                <c:pt idx="6">
                  <c:v>5501.311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4137.309</c:v>
                </c:pt>
                <c:pt idx="2">
                  <c:v>4402.756</c:v>
                </c:pt>
                <c:pt idx="3">
                  <c:v>4679.993</c:v>
                </c:pt>
                <c:pt idx="4">
                  <c:v>4968.503</c:v>
                </c:pt>
                <c:pt idx="5">
                  <c:v>5267.466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4137.309</c:v>
                </c:pt>
                <c:pt idx="1">
                  <c:v>265.4470000000001</c:v>
                </c:pt>
                <c:pt idx="2">
                  <c:v>277.2370000000001</c:v>
                </c:pt>
                <c:pt idx="3">
                  <c:v>288.5099999999993</c:v>
                </c:pt>
                <c:pt idx="4">
                  <c:v>298.96300000000065</c:v>
                </c:pt>
                <c:pt idx="5">
                  <c:v>308.28699999999935</c:v>
                </c:pt>
                <c:pt idx="6">
                  <c:v>5575.753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1785.714</c:v>
                </c:pt>
                <c:pt idx="2">
                  <c:v>2087.957</c:v>
                </c:pt>
                <c:pt idx="3">
                  <c:v>2435.45</c:v>
                </c:pt>
                <c:pt idx="4">
                  <c:v>2834.715</c:v>
                </c:pt>
                <c:pt idx="5">
                  <c:v>3293.212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1785.714</c:v>
                </c:pt>
                <c:pt idx="1">
                  <c:v>302.24299999999994</c:v>
                </c:pt>
                <c:pt idx="2">
                  <c:v>347.49299999999994</c:v>
                </c:pt>
                <c:pt idx="3">
                  <c:v>399.2650000000003</c:v>
                </c:pt>
                <c:pt idx="4">
                  <c:v>458.49699999999984</c:v>
                </c:pt>
                <c:pt idx="5">
                  <c:v>526.2550000000001</c:v>
                </c:pt>
                <c:pt idx="6">
                  <c:v>3819.467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Premium</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41.12623933778381</c:v>
                </c:pt>
                <c:pt idx="1">
                  <c:v>37.95696330275229</c:v>
                </c:pt>
                <c:pt idx="2">
                  <c:v>31.420642822924943</c:v>
                </c:pt>
              </c:numCache>
            </c:numRef>
          </c:val>
        </c:ser>
        <c:ser>
          <c:idx val="1"/>
          <c:order val="1"/>
          <c:tx>
            <c:strRef>
              <c:strCache>
                <c:ptCount val="1"/>
                <c:pt idx="0">
                  <c:v>Mid-range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21.204715673112684</c:v>
                </c:pt>
                <c:pt idx="1">
                  <c:v>24.401504587155966</c:v>
                </c:pt>
                <c:pt idx="2">
                  <c:v>31.001145134805657</c:v>
                </c:pt>
              </c:numCache>
            </c:numRef>
          </c:val>
        </c:ser>
        <c:ser>
          <c:idx val="2"/>
          <c:order val="2"/>
          <c:tx>
            <c:strRef>
              <c:strCache>
                <c:ptCount val="1"/>
                <c:pt idx="0">
                  <c:v>Super-premium / speciality</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13.904039437040819</c:v>
                </c:pt>
                <c:pt idx="1">
                  <c:v>16.38269724770642</c:v>
                </c:pt>
                <c:pt idx="2">
                  <c:v>21.52356970994746</c:v>
                </c:pt>
              </c:numCache>
            </c:numRef>
          </c:val>
        </c:ser>
        <c:ser>
          <c:idx val="3"/>
          <c:order val="3"/>
          <c:tx>
            <c:strRef>
              <c:strCache>
                <c:ptCount val="1"/>
                <c:pt idx="0">
                  <c:v>Economy / value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23.76500555206268</c:v>
                </c:pt>
                <c:pt idx="1">
                  <c:v>21.258834862385324</c:v>
                </c:pt>
                <c:pt idx="2">
                  <c:v>16.054642332321944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Manufacturer brands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41.03099716228882</c:v>
                </c:pt>
                <c:pt idx="1">
                  <c:v>42.258768051871506</c:v>
                </c:pt>
                <c:pt idx="2">
                  <c:v>41.19609122593409</c:v>
                </c:pt>
                <c:pt idx="3">
                  <c:v>46.07171575716697</c:v>
                </c:pt>
                <c:pt idx="4">
                  <c:v>42.94977134452346</c:v>
                </c:pt>
                <c:pt idx="5">
                  <c:v>39.132643930752884</c:v>
                </c:pt>
              </c:numCache>
            </c:numRef>
          </c:val>
        </c:ser>
        <c:ser>
          <c:idx val="1"/>
          <c:order val="1"/>
          <c:tx>
            <c:strRef>
              <c:strCache>
                <c:ptCount val="1"/>
                <c:pt idx="0">
                  <c:v>Retailer private labels</c:v>
                </c:pt>
              </c:strCache>
            </c:strRef>
          </c:tx>
          <c:spPr>
            <a:solidFill>
              <a:srgbClr val="9E7E0A"/>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42.925051613207124</c:v>
                </c:pt>
                <c:pt idx="1">
                  <c:v>43.602318498870225</c:v>
                </c:pt>
                <c:pt idx="2">
                  <c:v>45.0341790209333</c:v>
                </c:pt>
                <c:pt idx="3">
                  <c:v>39.36714324787595</c:v>
                </c:pt>
                <c:pt idx="4">
                  <c:v>43.005642271409286</c:v>
                </c:pt>
                <c:pt idx="5">
                  <c:v>44.37297155327041</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16.043951224504045</c:v>
                </c:pt>
                <c:pt idx="1">
                  <c:v>14.138913449258277</c:v>
                </c:pt>
                <c:pt idx="2">
                  <c:v>13.769729753132617</c:v>
                </c:pt>
                <c:pt idx="3">
                  <c:v>14.561140994957073</c:v>
                </c:pt>
                <c:pt idx="4">
                  <c:v>14.044586384067232</c:v>
                </c:pt>
                <c:pt idx="5">
                  <c:v>16.494384515976694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Manufacturer brands</c:v>
                </c:pt>
              </c:strCache>
            </c:strRef>
          </c:tx>
          <c:spPr>
            <a:solidFill>
              <a:srgbClr val="3D85C6"/>
            </a:solidFill>
          </c:spPr>
          <c:invertIfNegative val="0"/>
          <c:xVal>
            <c:numRef>
              <c:numCache>
                <c:formatCode>General</c:formatCode>
                <c:ptCount val="1"/>
                <c:pt idx="0">
                  <c:v>94.03901539728679</c:v>
                </c:pt>
              </c:numCache>
            </c:numRef>
          </c:xVal>
          <c:yVal>
            <c:numRef>
              <c:numCache>
                <c:formatCode>General</c:formatCode>
                <c:ptCount val="1"/>
                <c:pt idx="0">
                  <c:v>128.97836697247706</c:v>
                </c:pt>
              </c:numCache>
            </c:numRef>
          </c:yVal>
          <c:bubbleSize>
            <c:numRef>
              <c:numCache>
                <c:formatCode>General</c:formatCode>
                <c:ptCount val="1"/>
                <c:pt idx="0">
                  <c:v>7415.697</c:v>
                </c:pt>
              </c:numCache>
            </c:numRef>
          </c:bubbleSize>
          <c:bubble3D val="0"/>
        </c:ser>
        <c:ser>
          <c:idx val="1"/>
          <c:order val="1"/>
          <c:tx>
            <c:strRef>
              <c:strCache>
                <c:ptCount val="1"/>
                <c:pt idx="0">
                  <c:v>Retailer private labels</c:v>
                </c:pt>
              </c:strCache>
            </c:strRef>
          </c:tx>
          <c:spPr>
            <a:solidFill>
              <a:srgbClr val="9E7E0A"/>
            </a:solidFill>
          </c:spPr>
          <c:invertIfNegative val="0"/>
          <c:xVal>
            <c:numRef>
              <c:numCache>
                <c:formatCode>General</c:formatCode>
                <c:ptCount val="1"/>
                <c:pt idx="0">
                  <c:v>106.79201786662267</c:v>
                </c:pt>
              </c:numCache>
            </c:numRef>
          </c:xVal>
          <c:yVal>
            <c:numRef>
              <c:numCache>
                <c:formatCode>General</c:formatCode>
                <c:ptCount val="1"/>
                <c:pt idx="0">
                  <c:v>125.62596330275228</c:v>
                </c:pt>
              </c:numCache>
            </c:numRef>
          </c:yVal>
          <c:bubbleSize>
            <c:numRef>
              <c:numCache>
                <c:formatCode>General</c:formatCode>
                <c:ptCount val="1"/>
                <c:pt idx="0">
                  <c:v>7674.594</c:v>
                </c:pt>
              </c:numCache>
            </c:numRef>
          </c:bubbleSize>
          <c:bubble3D val="0"/>
        </c:ser>
        <c:ser>
          <c:idx val="2"/>
          <c:order val="2"/>
          <c:tx>
            <c:strRef>
              <c:strCache>
                <c:ptCount val="1"/>
                <c:pt idx="0">
                  <c:v>Foodservice / operator brands</c:v>
                </c:pt>
              </c:strCache>
            </c:strRef>
          </c:tx>
          <c:spPr>
            <a:solidFill>
              <a:srgbClr val="008189"/>
            </a:solidFill>
          </c:spPr>
          <c:invertIfNegative val="0"/>
          <c:xVal>
            <c:numRef>
              <c:numCache>
                <c:formatCode>General</c:formatCode>
                <c:ptCount val="1"/>
                <c:pt idx="0">
                  <c:v>97.63842296952382</c:v>
                </c:pt>
              </c:numCache>
            </c:numRef>
          </c:xVal>
          <c:yVal>
            <c:numRef>
              <c:numCache>
                <c:formatCode>General</c:formatCode>
                <c:ptCount val="1"/>
                <c:pt idx="0">
                  <c:v>45.395669724770634</c:v>
                </c:pt>
              </c:numCache>
            </c:numRef>
          </c:yVal>
          <c:bubbleSize>
            <c:numRef>
              <c:numCache>
                <c:formatCode>General</c:formatCode>
                <c:ptCount val="1"/>
                <c:pt idx="0">
                  <c:v>2655.218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4686.214</c:v>
                </c:pt>
                <c:pt idx="2">
                  <c:v>5129.111</c:v>
                </c:pt>
                <c:pt idx="3">
                  <c:v>5618.165</c:v>
                </c:pt>
                <c:pt idx="4">
                  <c:v>6158.433</c:v>
                </c:pt>
                <c:pt idx="5">
                  <c:v>6755.514999999999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4686.214</c:v>
                </c:pt>
                <c:pt idx="1">
                  <c:v>442.89699999999993</c:v>
                </c:pt>
                <c:pt idx="2">
                  <c:v>489.0540000000001</c:v>
                </c:pt>
                <c:pt idx="3">
                  <c:v>540.268</c:v>
                </c:pt>
                <c:pt idx="4">
                  <c:v>597.0819999999994</c:v>
                </c:pt>
                <c:pt idx="5">
                  <c:v>660.1820000000007</c:v>
                </c:pt>
                <c:pt idx="6">
                  <c:v>7415.697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4564.41</c:v>
                </c:pt>
                <c:pt idx="2">
                  <c:v>5064.439</c:v>
                </c:pt>
                <c:pt idx="3">
                  <c:v>5618.927</c:v>
                </c:pt>
                <c:pt idx="4">
                  <c:v>6234.037</c:v>
                </c:pt>
                <c:pt idx="5">
                  <c:v>6916.698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4564.41</c:v>
                </c:pt>
                <c:pt idx="1">
                  <c:v>500.02900000000045</c:v>
                </c:pt>
                <c:pt idx="2">
                  <c:v>554.4879999999994</c:v>
                </c:pt>
                <c:pt idx="3">
                  <c:v>615.1100000000006</c:v>
                </c:pt>
                <c:pt idx="4">
                  <c:v>682.6610000000001</c:v>
                </c:pt>
                <c:pt idx="5">
                  <c:v>757.8959999999997</c:v>
                </c:pt>
                <c:pt idx="6">
                  <c:v>7674.594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1649.376</c:v>
                </c:pt>
                <c:pt idx="2">
                  <c:v>1812.506</c:v>
                </c:pt>
                <c:pt idx="3">
                  <c:v>1992.675</c:v>
                </c:pt>
                <c:pt idx="4">
                  <c:v>2191.758</c:v>
                </c:pt>
                <c:pt idx="5">
                  <c:v>2411.828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1649.376</c:v>
                </c:pt>
                <c:pt idx="1">
                  <c:v>163.1300000000001</c:v>
                </c:pt>
                <c:pt idx="2">
                  <c:v>180.16899999999987</c:v>
                </c:pt>
                <c:pt idx="3">
                  <c:v>199.08299999999986</c:v>
                </c:pt>
                <c:pt idx="4">
                  <c:v>220.07000000000016</c:v>
                </c:pt>
                <c:pt idx="5">
                  <c:v>243.38999999999987</c:v>
                </c:pt>
                <c:pt idx="6">
                  <c:v>2655.218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Retailer private labels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41.01884558846141</c:v>
                </c:pt>
                <c:pt idx="1">
                  <c:v>41.87532110091743</c:v>
                </c:pt>
                <c:pt idx="2">
                  <c:v>43.24809167209575</c:v>
                </c:pt>
              </c:numCache>
            </c:numRef>
          </c:val>
        </c:ser>
        <c:ser>
          <c:idx val="1"/>
          <c:order val="1"/>
          <c:tx>
            <c:strRef>
              <c:strCache>
                <c:ptCount val="1"/>
                <c:pt idx="0">
                  <c:v>Manufacturer brands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43.756718422320844</c:v>
                </c:pt>
                <c:pt idx="1">
                  <c:v>42.99278899082569</c:v>
                </c:pt>
                <c:pt idx="2">
                  <c:v>41.78914789088327</c:v>
                </c:pt>
              </c:numCache>
            </c:numRef>
          </c:val>
        </c:ser>
        <c:ser>
          <c:idx val="2"/>
          <c:order val="2"/>
          <c:tx>
            <c:strRef>
              <c:strCache>
                <c:ptCount val="1"/>
                <c:pt idx="0">
                  <c:v>Foodservice / operator brands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15.224435989217755</c:v>
                </c:pt>
                <c:pt idx="1">
                  <c:v>15.131889908256879</c:v>
                </c:pt>
                <c:pt idx="2">
                  <c:v>14.962760437020995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57.561436365910424</c:v>
                </c:pt>
                <c:pt idx="1">
                  <c:v>57.28591544683499</c:v>
                </c:pt>
                <c:pt idx="2">
                  <c:v>58.407623867749514</c:v>
                </c:pt>
                <c:pt idx="3">
                  <c:v>57.90921868997996</c:v>
                </c:pt>
                <c:pt idx="4">
                  <c:v>58.86821917304304</c:v>
                </c:pt>
                <c:pt idx="5">
                  <c:v>57.75661964337818</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38.12092190690293</c:v>
                </c:pt>
                <c:pt idx="1">
                  <c:v>38.639944984772576</c:v>
                </c:pt>
                <c:pt idx="2">
                  <c:v>37.83438471798166</c:v>
                </c:pt>
                <c:pt idx="3">
                  <c:v>38.10798887453869</c:v>
                </c:pt>
                <c:pt idx="4">
                  <c:v>36.75980663319421</c:v>
                </c:pt>
                <c:pt idx="5">
                  <c:v>37.89158105175301</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4.317641727186637</c:v>
                </c:pt>
                <c:pt idx="1">
                  <c:v>4.074139568392442</c:v>
                </c:pt>
                <c:pt idx="2">
                  <c:v>3.757991414268819</c:v>
                </c:pt>
                <c:pt idx="3">
                  <c:v>3.982792435481355</c:v>
                </c:pt>
                <c:pt idx="4">
                  <c:v>4.371974193762748</c:v>
                </c:pt>
                <c:pt idx="5">
                  <c:v>4.351799304868795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Retail</c:v>
                </c:pt>
              </c:strCache>
            </c:strRef>
          </c:tx>
          <c:spPr>
            <a:solidFill>
              <a:srgbClr val="3D85C6"/>
            </a:solidFill>
          </c:spPr>
          <c:invertIfNegative val="0"/>
          <c:xVal>
            <c:numRef>
              <c:numCache>
                <c:formatCode>General</c:formatCode>
                <c:ptCount val="1"/>
                <c:pt idx="0">
                  <c:v>86.52080631920465</c:v>
                </c:pt>
              </c:numCache>
            </c:numRef>
          </c:xVal>
          <c:yVal>
            <c:numRef>
              <c:numCache>
                <c:formatCode>General</c:formatCode>
                <c:ptCount val="1"/>
                <c:pt idx="0">
                  <c:v>185.95144954128443</c:v>
                </c:pt>
              </c:numCache>
            </c:numRef>
          </c:yVal>
          <c:bubbleSize>
            <c:numRef>
              <c:numCache>
                <c:formatCode>General</c:formatCode>
                <c:ptCount val="1"/>
                <c:pt idx="0">
                  <c:v>10314.089</c:v>
                </c:pt>
              </c:numCache>
            </c:numRef>
          </c:bubbleSize>
          <c:bubble3D val="0"/>
        </c:ser>
        <c:ser>
          <c:idx val="1"/>
          <c:order val="1"/>
          <c:tx>
            <c:strRef>
              <c:strCache>
                <c:ptCount val="1"/>
                <c:pt idx="0">
                  <c:v>Foodservice and institutional</c:v>
                </c:pt>
              </c:strCache>
            </c:strRef>
          </c:tx>
          <c:spPr>
            <a:solidFill>
              <a:srgbClr val="9E7E0A"/>
            </a:solidFill>
          </c:spPr>
          <c:invertIfNegative val="0"/>
          <c:xVal>
            <c:numRef>
              <c:numCache>
                <c:formatCode>General</c:formatCode>
                <c:ptCount val="1"/>
                <c:pt idx="0">
                  <c:v>123.31791949480015</c:v>
                </c:pt>
              </c:numCache>
            </c:numRef>
          </c:xVal>
          <c:yVal>
            <c:numRef>
              <c:numCache>
                <c:formatCode>General</c:formatCode>
                <c:ptCount val="1"/>
                <c:pt idx="0">
                  <c:v>101.20783486238531</c:v>
                </c:pt>
              </c:numCache>
            </c:numRef>
          </c:yVal>
          <c:bubbleSize>
            <c:numRef>
              <c:numCache>
                <c:formatCode>General</c:formatCode>
                <c:ptCount val="1"/>
                <c:pt idx="0">
                  <c:v>6684.792</c:v>
                </c:pt>
              </c:numCache>
            </c:numRef>
          </c:bubbleSize>
          <c:bubble3D val="0"/>
        </c:ser>
        <c:ser>
          <c:idx val="2"/>
          <c:order val="2"/>
          <c:tx>
            <c:strRef>
              <c:strCache>
                <c:ptCount val="1"/>
                <c:pt idx="0">
                  <c:v>Vending</c:v>
                </c:pt>
              </c:strCache>
            </c:strRef>
          </c:tx>
          <c:spPr>
            <a:solidFill>
              <a:srgbClr val="008189"/>
            </a:solidFill>
          </c:spPr>
          <c:invertIfNegative val="0"/>
          <c:xVal>
            <c:numRef>
              <c:numCache>
                <c:formatCode>General</c:formatCode>
                <c:ptCount val="1"/>
                <c:pt idx="0">
                  <c:v>96.3958161296475</c:v>
                </c:pt>
              </c:numCache>
            </c:numRef>
          </c:xVal>
          <c:yVal>
            <c:numRef>
              <c:numCache>
                <c:formatCode>General</c:formatCode>
                <c:ptCount val="1"/>
                <c:pt idx="0">
                  <c:v>12.840715596330277</c:v>
                </c:pt>
              </c:numCache>
            </c:numRef>
          </c:yVal>
          <c:bubbleSize>
            <c:numRef>
              <c:numCache>
                <c:formatCode>General</c:formatCode>
                <c:ptCount val="1"/>
                <c:pt idx="0">
                  <c:v>746.628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6756.236</c:v>
                </c:pt>
                <c:pt idx="2">
                  <c:v>7347.257</c:v>
                </c:pt>
                <c:pt idx="3">
                  <c:v>7992.967</c:v>
                </c:pt>
                <c:pt idx="4">
                  <c:v>8698.666</c:v>
                </c:pt>
                <c:pt idx="5">
                  <c:v>9470.232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6756.236</c:v>
                </c:pt>
                <c:pt idx="1">
                  <c:v>591.0209999999997</c:v>
                </c:pt>
                <c:pt idx="2">
                  <c:v>645.71</c:v>
                </c:pt>
                <c:pt idx="3">
                  <c:v>705.6989999999996</c:v>
                </c:pt>
                <c:pt idx="4">
                  <c:v>771.5660000000007</c:v>
                </c:pt>
                <c:pt idx="5">
                  <c:v>843.857</c:v>
                </c:pt>
                <c:pt idx="6">
                  <c:v>10314.089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3677.218</c:v>
                </c:pt>
                <c:pt idx="2">
                  <c:v>4146.699</c:v>
                </c:pt>
                <c:pt idx="3">
                  <c:v>4674.46</c:v>
                </c:pt>
                <c:pt idx="4">
                  <c:v>5267.768</c:v>
                </c:pt>
                <c:pt idx="5">
                  <c:v>5934.8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3677.218</c:v>
                </c:pt>
                <c:pt idx="1">
                  <c:v>469.48099999999977</c:v>
                </c:pt>
                <c:pt idx="2">
                  <c:v>527.7610000000004</c:v>
                </c:pt>
                <c:pt idx="3">
                  <c:v>593.308</c:v>
                </c:pt>
                <c:pt idx="4">
                  <c:v>667.0320000000002</c:v>
                </c:pt>
                <c:pt idx="5">
                  <c:v>749.9920000000002</c:v>
                </c:pt>
                <c:pt idx="6">
                  <c:v>6684.792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466.546</c:v>
                </c:pt>
                <c:pt idx="2">
                  <c:v>512.1</c:v>
                </c:pt>
                <c:pt idx="3">
                  <c:v>562.34</c:v>
                </c:pt>
                <c:pt idx="4">
                  <c:v>617.794</c:v>
                </c:pt>
                <c:pt idx="5">
                  <c:v>679.009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466.546</c:v>
                </c:pt>
                <c:pt idx="1">
                  <c:v>45.55400000000003</c:v>
                </c:pt>
                <c:pt idx="2">
                  <c:v>50.24000000000001</c:v>
                </c:pt>
                <c:pt idx="3">
                  <c:v>55.45399999999995</c:v>
                </c:pt>
                <c:pt idx="4">
                  <c:v>61.21500000000003</c:v>
                </c:pt>
                <c:pt idx="5">
                  <c:v>67.61900000000003</c:v>
                </c:pt>
                <c:pt idx="6">
                  <c:v>746.628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63.98770757385746</c:v>
                </c:pt>
                <c:pt idx="1">
                  <c:v>61.98381651376147</c:v>
                </c:pt>
                <c:pt idx="2">
                  <c:v>58.12224940969571</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31.693972819022516</c:v>
                </c:pt>
                <c:pt idx="1">
                  <c:v>33.73594495412844</c:v>
                </c:pt>
                <c:pt idx="2">
                  <c:v>37.670331124342496</c:v>
                </c:pt>
              </c:numCache>
            </c:numRef>
          </c:val>
        </c:ser>
        <c:ser>
          <c:idx val="2"/>
          <c:order val="2"/>
          <c:tx>
            <c:strRef>
              <c:strCache>
                <c:ptCount val="1"/>
                <c:pt idx="0">
                  <c:v>Vending</c:v>
                </c:pt>
              </c:strCache>
            </c:strRef>
          </c:tx>
          <c:spPr>
            <a:solidFill>
              <a:srgbClr val="008189"/>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4.318319607120018</c:v>
                </c:pt>
                <c:pt idx="1">
                  <c:v>4.280238532110092</c:v>
                </c:pt>
                <c:pt idx="2">
                  <c:v>4.207419465961782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Sweet Muffins Flavours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58.761438689746406</c:v>
                </c:pt>
                <c:pt idx="1">
                  <c:v>55.989422318553004</c:v>
                </c:pt>
              </c:numCache>
            </c:numRef>
          </c:val>
        </c:ser>
        <c:ser>
          <c:idx val="1"/>
          <c:order val="1"/>
          <c:tx>
            <c:strRef>
              <c:strCache>
                <c:ptCount val="1"/>
                <c:pt idx="0">
                  <c:v>Savoury Muffins Flavours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41.238561310253594</c:v>
                </c:pt>
                <c:pt idx="1">
                  <c:v>44.010577681446996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Rigid plastic packs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47.68416729282191</c:v>
                </c:pt>
                <c:pt idx="1">
                  <c:v>47.724495109329375</c:v>
                </c:pt>
              </c:numCache>
            </c:numRef>
          </c:val>
        </c:ser>
        <c:ser>
          <c:idx val="1"/>
          <c:order val="1"/>
          <c:tx>
            <c:strRef>
              <c:strCache>
                <c:ptCount val="1"/>
                <c:pt idx="0">
                  <c:v>Paperboard packs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36.129703020678654</c:v>
                </c:pt>
                <c:pt idx="1">
                  <c:v>36.517193061214044</c:v>
                </c:pt>
              </c:numCache>
            </c:numRef>
          </c:val>
        </c:ser>
        <c:ser>
          <c:idx val="2"/>
          <c:order val="2"/>
          <c:tx>
            <c:strRef>
              <c:strCache>
                <c:ptCount val="1"/>
                <c:pt idx="0">
                  <c:v>Flexible packs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12.429280803699172</c:v>
                </c:pt>
                <c:pt idx="1">
                  <c:v>11.125089433296171</c:v>
                </c:pt>
              </c:numCache>
            </c:numRef>
          </c:val>
        </c:ser>
        <c:ser>
          <c:idx val="3"/>
          <c:order val="3"/>
          <c:tx>
            <c:strRef>
              <c:strCache>
                <c:ptCount val="1"/>
                <c:pt idx="0">
                  <c:v>Other packaging formats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3.756848882800258</c:v>
                </c:pt>
                <c:pt idx="1">
                  <c:v>4.633222396160413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Retail</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40.4317333602079</c:v>
                </c:pt>
                <c:pt idx="1">
                  <c:v>39.898044021381466</c:v>
                </c:pt>
              </c:numCache>
            </c:numRef>
          </c:val>
        </c:ser>
        <c:ser>
          <c:idx val="1"/>
          <c:order val="1"/>
          <c:tx>
            <c:strRef>
              <c:strCache>
                <c:ptCount val="1"/>
                <c:pt idx="0">
                  <c:v>Foodservice and institutional</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33.569945199006746</c:v>
                </c:pt>
                <c:pt idx="1">
                  <c:v>33.94331561172556</c:v>
                </c:pt>
              </c:numCache>
            </c:numRef>
          </c:val>
        </c:ser>
        <c:ser>
          <c:idx val="2"/>
          <c:order val="2"/>
          <c:tx>
            <c:strRef>
              <c:strCache>
                <c:ptCount val="1"/>
                <c:pt idx="0">
                  <c:v>Quick-commerce platforms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9.291221763114981</c:v>
                </c:pt>
                <c:pt idx="1">
                  <c:v>8.917847247580557</c:v>
                </c:pt>
              </c:numCache>
            </c:numRef>
          </c:val>
        </c:ser>
        <c:ser>
          <c:idx val="3"/>
          <c:order val="3"/>
          <c:tx>
            <c:strRef>
              <c:strCache>
                <c:ptCount val="1"/>
                <c:pt idx="0">
                  <c:v>Online marketplaces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5.602901792721067</c:v>
                </c:pt>
                <c:pt idx="1">
                  <c:v>5.519465917366557</c:v>
                </c:pt>
              </c:numCache>
            </c:numRef>
          </c:val>
        </c:ser>
        <c:ser>
          <c:idx val="4"/>
          <c:order val="4"/>
          <c:tx>
            <c:strRef>
              <c:strCache>
                <c:ptCount val="1"/>
                <c:pt idx="0">
                  <c:v>Brand-owned direct-to-consumer websites</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5.203417916637065</c:v>
                </c:pt>
                <c:pt idx="1">
                  <c:v>5.2463798613217145</c:v>
                </c:pt>
              </c:numCache>
            </c:numRef>
          </c:val>
        </c:ser>
        <c:ser>
          <c:idx val="5"/>
          <c:order val="5"/>
          <c:tx>
            <c:strRef>
              <c:strCache>
                <c:ptCount val="1"/>
                <c:pt idx="0">
                  <c:v>Vending</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3.9719898691682043</c:v>
                </c:pt>
                <c:pt idx="1">
                  <c:v>4.665135882851714</c:v>
                </c:pt>
              </c:numCache>
            </c:numRef>
          </c:val>
        </c:ser>
        <c:ser>
          <c:idx val="6"/>
          <c:order val="6"/>
          <c:tx>
            <c:strRef>
              <c:strCache>
                <c:ptCount val="1"/>
                <c:pt idx="0">
                  <c:v>Retailer websites and apps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1.9287900991440339</c:v>
                </c:pt>
                <c:pt idx="1">
                  <c:v>1.8098114577724416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Standard - 60 g to below 100 g</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43.14371568124039</c:v>
                </c:pt>
                <c:pt idx="1">
                  <c:v>41.879683643382506</c:v>
                </c:pt>
              </c:numCache>
            </c:numRef>
          </c:val>
        </c:ser>
        <c:ser>
          <c:idx val="1"/>
          <c:order val="1"/>
          <c:tx>
            <c:strRef>
              <c:strCache>
                <c:ptCount val="1"/>
                <c:pt idx="0">
                  <c:v>Small - 30 g to below 60 g</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27.230087437045793</c:v>
                </c:pt>
                <c:pt idx="1">
                  <c:v>30.052310741815667</c:v>
                </c:pt>
              </c:numCache>
            </c:numRef>
          </c:val>
        </c:ser>
        <c:ser>
          <c:idx val="2"/>
          <c:order val="2"/>
          <c:tx>
            <c:strRef>
              <c:strCache>
                <c:ptCount val="1"/>
                <c:pt idx="0">
                  <c:v>Large / jumbo - 100 g and above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23.72251112375537</c:v>
                </c:pt>
                <c:pt idx="1">
                  <c:v>22.03320770723149</c:v>
                </c:pt>
              </c:numCache>
            </c:numRef>
          </c:val>
        </c:ser>
        <c:ser>
          <c:idx val="3"/>
          <c:order val="3"/>
          <c:tx>
            <c:strRef>
              <c:strCache>
                <c:ptCount val="1"/>
                <c:pt idx="0">
                  <c:v>Mini / bite-sized - below 30 g</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5.90368575795845</c:v>
                </c:pt>
                <c:pt idx="1">
                  <c:v>6.034797907570328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Sweet muffins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4386.0</c:v>
                </c:pt>
                <c:pt idx="1">
                  <c:v>4402.0</c:v>
                </c:pt>
                <c:pt idx="2">
                  <c:v>4424.0</c:v>
                </c:pt>
                <c:pt idx="3">
                  <c:v>4454.0</c:v>
                </c:pt>
                <c:pt idx="4">
                  <c:v>4496.0</c:v>
                </c:pt>
                <c:pt idx="5">
                  <c:v>4550.0</c:v>
                </c:pt>
                <c:pt idx="6">
                  <c:v>4584.0</c:v>
                </c:pt>
                <c:pt idx="7">
                  <c:v>4624.0</c:v>
                </c:pt>
                <c:pt idx="8">
                  <c:v>4666.0</c:v>
                </c:pt>
                <c:pt idx="9">
                  <c:v>4709.0</c:v>
                </c:pt>
                <c:pt idx="10">
                  <c:v>4750.0</c:v>
                </c:pt>
                <c:pt idx="11">
                  <c:v>4785.0</c:v>
                </c:pt>
                <c:pt idx="12">
                  <c:v>4817.0</c:v>
                </c:pt>
                <c:pt idx="13">
                  <c:v>4846.0</c:v>
                </c:pt>
                <c:pt idx="14">
                  <c:v>4872.0</c:v>
                </c:pt>
                <c:pt idx="15">
                  <c:v>4896.0</c:v>
                </c:pt>
              </c:numCache>
            </c:numRef>
          </c:val>
          <c:smooth val="0"/>
        </c:ser>
        <c:ser>
          <c:idx val="1"/>
          <c:order val="1"/>
          <c:tx>
            <c:strRef>
              <c:strCache>
                <c:ptCount val="1"/>
                <c:pt idx="0">
                  <c:v>Savoury muffins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3579.0</c:v>
                </c:pt>
                <c:pt idx="1">
                  <c:v>3591.0</c:v>
                </c:pt>
                <c:pt idx="2">
                  <c:v>3608.0</c:v>
                </c:pt>
                <c:pt idx="3">
                  <c:v>3638.0</c:v>
                </c:pt>
                <c:pt idx="4">
                  <c:v>3670.0</c:v>
                </c:pt>
                <c:pt idx="5">
                  <c:v>3706.0</c:v>
                </c:pt>
                <c:pt idx="6">
                  <c:v>3714.0</c:v>
                </c:pt>
                <c:pt idx="7">
                  <c:v>3725.0</c:v>
                </c:pt>
                <c:pt idx="8">
                  <c:v>3738.0</c:v>
                </c:pt>
                <c:pt idx="9">
                  <c:v>3755.0</c:v>
                </c:pt>
                <c:pt idx="10">
                  <c:v>3779.0</c:v>
                </c:pt>
                <c:pt idx="11">
                  <c:v>3809.0</c:v>
                </c:pt>
                <c:pt idx="12">
                  <c:v>3845.0</c:v>
                </c:pt>
                <c:pt idx="13">
                  <c:v>3883.0</c:v>
                </c:pt>
                <c:pt idx="14">
                  <c:v>3927.0</c:v>
                </c:pt>
                <c:pt idx="15">
                  <c:v>3974.0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0"/>
          <c:min val="35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C55A11"/>
              </a:solidFill>
            </c:spPr>
          </c:dPt>
          <c:cat>
            <c:strRef>
              <c:strCache>
                <c:ptCount val="2"/>
                <c:pt idx="0">
                  <c:v>Savoury muffins</c:v>
                </c:pt>
                <c:pt idx="1">
                  <c:v>Sweet muffins</c:v>
                </c:pt>
              </c:strCache>
            </c:strRef>
          </c:cat>
          <c:val>
            <c:numRef>
              <c:numCache>
                <c:formatCode>General</c:formatCode>
                <c:ptCount val="2"/>
                <c:pt idx="0">
                  <c:v>89.7</c:v>
                </c:pt>
                <c:pt idx="1">
                  <c:v>110.1</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12.0"/>
          <c:min val="87.0"/>
        </c:scaling>
        <c:delete/>
        <c:axPos val="b"/>
        <c:majorTickMark val="out"/>
        <c:minorTickMark val="none"/>
        <c:tickLblPos val="nextTo"/>
        <c:crossAx val="-2068027336"/>
        <c:crosses val="autoZero"/>
      </c:valAx>
    </c:plotArea>
    <c:dispBlanksAs val="gap"/>
  </c:chart>
  <c:txPr>
    <a:bodyPr/>
    <a:lstStyle/>
    <a:p>
      <a:pPr>
        <a:defRPr sz="1800"/>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2"/>
                <c:pt idx="0">
                  <c:v>Savoury muffins</c:v>
                </c:pt>
                <c:pt idx="1">
                  <c:v>Sweet muffins</c:v>
                </c:pt>
              </c:strCache>
            </c:strRef>
          </c:cat>
          <c:val>
            <c:numRef>
              <c:numCache>
                <c:formatCode>General</c:formatCode>
                <c:ptCount val="2"/>
                <c:pt idx="0">
                  <c:v>3068</c:v>
                </c:pt>
                <c:pt idx="1">
                  <c:v>3795</c:v>
                </c:pt>
              </c:numCache>
            </c:numRef>
          </c:val>
        </c:ser>
        <c:ser>
          <c:idx val="1"/>
          <c:order val="1"/>
          <c:tx>
            <c:strRef>
              <c:strCache>
                <c:ptCount val="1"/>
                <c:pt idx="0">
                  <c:v>Range</c:v>
                </c:pt>
              </c:strCache>
            </c:strRef>
          </c:tx>
          <c:spPr>
            <a:solidFill>
              <a:srgbClr val="008189"/>
            </a:solidFill>
          </c:spPr>
          <c:cat>
            <c:strRef>
              <c:strCache>
                <c:ptCount val="2"/>
                <c:pt idx="0">
                  <c:v>Savoury muffins</c:v>
                </c:pt>
                <c:pt idx="1">
                  <c:v>Sweet muffins</c:v>
                </c:pt>
              </c:strCache>
            </c:strRef>
          </c:cat>
          <c:val>
            <c:numRef>
              <c:numCache>
                <c:formatCode>General</c:formatCode>
                <c:ptCount val="2"/>
                <c:pt idx="0">
                  <c:v>1268</c:v>
                </c:pt>
                <c:pt idx="1">
                  <c:v>1575</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6000.0"/>
          <c:min val="200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Europe</c:v>
                </c:pt>
                <c:pt idx="1">
                  <c:v>Middle East &amp; Africa</c:v>
                </c:pt>
                <c:pt idx="2">
                  <c:v>Latin America</c:v>
                </c:pt>
                <c:pt idx="3">
                  <c:v>South Asia &amp; Pacific</c:v>
                </c:pt>
                <c:pt idx="4">
                  <c:v>East Asia</c:v>
                </c:pt>
                <c:pt idx="5">
                  <c:v>North America</c:v>
                </c:pt>
              </c:strCache>
            </c:strRef>
          </c:cat>
          <c:val>
            <c:numRef>
              <c:numCache>
                <c:formatCode>General</c:formatCode>
                <c:ptCount val="6"/>
                <c:pt idx="0">
                  <c:v>96.6</c:v>
                </c:pt>
                <c:pt idx="1">
                  <c:v>92.6</c:v>
                </c:pt>
                <c:pt idx="2">
                  <c:v>92.4</c:v>
                </c:pt>
                <c:pt idx="3">
                  <c:v>91.3</c:v>
                </c:pt>
                <c:pt idx="4">
                  <c:v>90.7</c:v>
                </c:pt>
                <c:pt idx="5">
                  <c:v>82.9</c:v>
                </c:pt>
              </c:numCache>
            </c:numRef>
          </c:val>
        </c:ser>
        <c:ser>
          <c:idx val="1"/>
          <c:order val="1"/>
          <c:tx>
            <c:strRef>
              <c:strCache>
                <c:ptCount val="1"/>
                <c:pt idx="0">
                  <c:v>Range</c:v>
                </c:pt>
              </c:strCache>
            </c:strRef>
          </c:tx>
          <c:spPr>
            <a:solidFill>
              <a:srgbClr val="008189"/>
            </a:solidFill>
          </c:spPr>
          <c:dPt>
            <c:idx val="5"/>
            <c:spPr>
              <a:solidFill>
                <a:srgbClr val="5B7DB1"/>
              </a:solidFill>
            </c:spPr>
          </c:dPt>
          <c:cat>
            <c:strRef>
              <c:strCache>
                <c:ptCount val="6"/>
                <c:pt idx="0">
                  <c:v>Europe</c:v>
                </c:pt>
                <c:pt idx="1">
                  <c:v>Middle East &amp; Africa</c:v>
                </c:pt>
                <c:pt idx="2">
                  <c:v>Latin America</c:v>
                </c:pt>
                <c:pt idx="3">
                  <c:v>South Asia &amp; Pacific</c:v>
                </c:pt>
                <c:pt idx="4">
                  <c:v>East Asia</c:v>
                </c:pt>
                <c:pt idx="5">
                  <c:v>North America</c:v>
                </c:pt>
              </c:strCache>
            </c:strRef>
          </c:cat>
          <c:val>
            <c:numRef>
              <c:numCache>
                <c:formatCode>General</c:formatCode>
                <c:ptCount val="6"/>
                <c:pt idx="0">
                  <c:v>21.8</c:v>
                </c:pt>
                <c:pt idx="1">
                  <c:v>20.5</c:v>
                </c:pt>
                <c:pt idx="2">
                  <c:v>21.0</c:v>
                </c:pt>
                <c:pt idx="3">
                  <c:v>20.8</c:v>
                </c:pt>
                <c:pt idx="4">
                  <c:v>19.1</c:v>
                </c:pt>
                <c:pt idx="5">
                  <c:v>19.5</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0.0"/>
          <c:min val="8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5.0"/>
      </c:valAx>
    </c:plotArea>
    <c:dispBlanksAs val="gap"/>
  </c:chart>
  <c:txPr>
    <a:bodyPr/>
    <a:lstStyle/>
    <a:p>
      <a:pPr>
        <a:defRPr sz="1800"/>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Grupo Bimbo (Bimbo, Marinela, Little Bites, Thomas')</c:v>
                </c:pt>
                <c:pt idx="1">
                  <c:v>McKee Foods Corporation (Little Debbie, Sunbelt Bakery, Drake's, Fieldstone Bakery)</c:v>
                </c:pt>
                <c:pt idx="2">
                  <c:v>Hostess Brands (Hostess)</c:v>
                </c:pt>
                <c:pt idx="3">
                  <c:v>Rich Products Corporation (Rich's)</c:v>
                </c:pt>
                <c:pt idx="4">
                  <c:v>ARYZTA / Aspire Bakeries (Otis Spunkmeyer, Cuisine de France, Hiestand, Delice de France)</c:v>
                </c:pt>
                <c:pt idx="5">
                  <c:v>Europastry (Europastry, Dots)</c:v>
                </c:pt>
                <c:pt idx="6">
                  <c:v>Bridor (Bridor, Evasions)</c:v>
                </c:pt>
                <c:pt idx="7">
                  <c:v>Lantmännen Unibake (Schulstad, Hatting, Vaasan, Pastridor, Euro-Bake)</c:v>
                </c:pt>
                <c:pt idx="8">
                  <c:v>Flowers Foods (Tastykake, Nature's Own, Wonder, Dave's Killer Bread, Canyon Bakehouse)</c:v>
                </c:pt>
                <c:pt idx="9">
                  <c:v>Premier Foods (Mr Kipling)</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1211.1249075040898</c:v>
                </c:pt>
                <c:pt idx="1">
                  <c:v>673.7917098596855</c:v>
                </c:pt>
                <c:pt idx="2">
                  <c:v>848.1119531502166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598.6848779053987"/>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907.3144017368124</c:v>
                </c:pt>
                <c:pt idx="1">
                  <c:v>552.2802562171582</c:v>
                </c:pt>
                <c:pt idx="2">
                  <c:v>297.82873181020454</c:v>
                </c:pt>
                <c:pt idx="3">
                  <c:v>336.5236693038014</c:v>
                </c:pt>
                <c:pt idx="4">
                  <c:v>639.0815114460152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97.6550102925926"/>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1143.4154096020775</c:v>
                </c:pt>
                <c:pt idx="1">
                  <c:v>1589.6131609119143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2768.299404</c:v>
                </c:pt>
                <c:pt idx="1">
                  <c:v>2488.4305254161864</c:v>
                </c:pt>
                <c:pt idx="2">
                  <c:v>1818.5885959387524</c:v>
                </c:pt>
                <c:pt idx="3">
                  <c:v>1165.090741584608</c:v>
                </c:pt>
                <c:pt idx="4">
                  <c:v>924.3399917170238</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907.3144017368124</c:v>
                </c:pt>
                <c:pt idx="1">
                  <c:v>552.2802562171582</c:v>
                </c:pt>
                <c:pt idx="2">
                  <c:v>297.82873181020454</c:v>
                </c:pt>
                <c:pt idx="3">
                  <c:v>336.5236693038014</c:v>
                </c:pt>
                <c:pt idx="4">
                  <c:v>639.0815114460152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543.42323712"/>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480.2057709155283</c:v>
                </c:pt>
                <c:pt idx="1">
                  <c:v>667.5976263594592</c:v>
                </c:pt>
                <c:pt idx="2">
                  <c:v>1244.8538832807953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643.20712593065"/>
          <c:min val="0.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432.4770197367146</c:v>
                </c:pt>
                <c:pt idx="1">
                  <c:v>240.6022936180411</c:v>
                </c:pt>
                <c:pt idx="2">
                  <c:v>302.84979495416013</c:v>
                </c:pt>
                <c:pt idx="3">
                  <c:v>572.11185573378</c:v>
                </c:pt>
                <c:pt idx="4">
                  <c:v>844.6163165130871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14.89353779727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845.6545968005311</c:v>
                </c:pt>
                <c:pt idx="1">
                  <c:v>1547.002683755252</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2928.008985</c:v>
                </c:pt>
                <c:pt idx="1">
                  <c:v>2631.993824959428</c:v>
                </c:pt>
                <c:pt idx="2">
                  <c:v>1923.507168781373</c:v>
                </c:pt>
                <c:pt idx="3">
                  <c:v>1232.307515137566</c:v>
                </c:pt>
                <c:pt idx="4">
                  <c:v>977.6672989314675</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432.4770197367146</c:v>
                </c:pt>
                <c:pt idx="1">
                  <c:v>240.6022936180411</c:v>
                </c:pt>
                <c:pt idx="2">
                  <c:v>302.84979495416013</c:v>
                </c:pt>
                <c:pt idx="3">
                  <c:v>572.11185573378</c:v>
                </c:pt>
                <c:pt idx="4">
                  <c:v>844.6163165130871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747.851500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Retail</c:v>
                </c:pt>
                <c:pt idx="1">
                  <c:v>Foodservice and institutional</c:v>
                </c:pt>
                <c:pt idx="2">
                  <c:v>Vending</c:v>
                </c:pt>
              </c:strCache>
            </c:strRef>
          </c:cat>
          <c:val>
            <c:numRef>
              <c:numCache>
                <c:formatCode>General</c:formatCode>
                <c:ptCount val="3"/>
                <c:pt idx="0">
                  <c:v>308.5250224090556</c:v>
                </c:pt>
                <c:pt idx="1">
                  <c:v>564.4018722043783</c:v>
                </c:pt>
                <c:pt idx="2">
                  <c:v>777.2906082956179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26.023602950215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131.5287288618043</c:v>
                </c:pt>
                <c:pt idx="1">
                  <c:v>182.85550175460835</c:v>
                </c:pt>
                <c:pt idx="2">
                  <c:v>340.9664331489384</c:v>
                </c:pt>
                <c:pt idx="3">
                  <c:v>486.2063223506837</c:v>
                </c:pt>
                <c:pt idx="4">
                  <c:v>508.6605167930171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71.431882166782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Sweet muffins</c:v>
                </c:pt>
                <c:pt idx="1">
                  <c:v>Savoury muffins</c:v>
                </c:pt>
              </c:strCache>
            </c:strRef>
          </c:cat>
          <c:val>
            <c:numRef>
              <c:numCache>
                <c:formatCode>General</c:formatCode>
                <c:ptCount val="2"/>
                <c:pt idx="0">
                  <c:v>708.2154819126263</c:v>
                </c:pt>
                <c:pt idx="1">
                  <c:v>942.0020209964254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3087.7185660000005</c:v>
                </c:pt>
                <c:pt idx="1">
                  <c:v>2775.5571245026695</c:v>
                </c:pt>
                <c:pt idx="2">
                  <c:v>2028.4257416239932</c:v>
                </c:pt>
                <c:pt idx="3">
                  <c:v>1299.5242886905241</c:v>
                </c:pt>
                <c:pt idx="4">
                  <c:v>1030.9946061459111</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Global</c:v>
                </c:pt>
              </c:strCache>
            </c:strRef>
          </c:cat>
          <c:val>
            <c:numRef>
              <c:numCache>
                <c:formatCode>General</c:formatCode>
                <c:ptCount val="5"/>
                <c:pt idx="0">
                  <c:v>131.5287288618043</c:v>
                </c:pt>
                <c:pt idx="1">
                  <c:v>182.85550175460835</c:v>
                </c:pt>
                <c:pt idx="2">
                  <c:v>340.9664331489384</c:v>
                </c:pt>
                <c:pt idx="3">
                  <c:v>486.2063223506837</c:v>
                </c:pt>
                <c:pt idx="4">
                  <c:v>508.6605167930171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952.2797644800007"/>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(1/2)</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Market Segments  (2/2)</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Global Packaged Muffins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Flavour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By Primary Flour Base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Primary Flour Base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By Dietary Formulation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Dietary Formulation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By Nutritional Positioning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Nutritional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By Recipe and Ingredient Claims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Recipe and Ingredient Claims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By Product Structure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Structure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By Surface Finish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Surface Finish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By Individual Muffin Size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Individual Muffin Size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By Storage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Storage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By Shelf Life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Shelf Life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By Packaging Format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Packaging Format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By Pack Configuration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Pack Configuration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By Multipack Wrapping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Multipack Wrapping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By Price Positioning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Price Positioning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By Brand Ownership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Brand Ownership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By Sales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Sales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Flavour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Packaging Format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Sales Channel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Product Type × Individual Muffin Size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Snapshot</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Grupo Bimbo (Bimbo, Marinela, Little Bites, Thomas')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Snapshot</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McKee Foods Corporation (Little Debbie, Sunbelt Bakery, Drake's, Fieldstone Bakery)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Snapshot</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Competitor Company Profiles &amp; Strategic Benchmarking Hostess Brands (Hostess)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(1/12)</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(2/12)</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(3/12)</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(4/12)</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(5/12)</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(6/12)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(7/12)</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(8/12)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(9/12)</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(10/12)</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(11/12)</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Table of Contents  (12/12)</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Packaged Muffins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1.xml"/><Relationship Id="rId7" Type="http://schemas.openxmlformats.org/officeDocument/2006/relationships/slide" Target="slide24.xml"/><Relationship Id="rId8" Type="http://schemas.openxmlformats.org/officeDocument/2006/relationships/slide" Target="slide33.xml"/><Relationship Id="rId9" Type="http://schemas.openxmlformats.org/officeDocument/2006/relationships/slide" Target="slide34.xml"/><Relationship Id="rId10" Type="http://schemas.openxmlformats.org/officeDocument/2006/relationships/slide" Target="slide45.xml"/><Relationship Id="rId11" Type="http://schemas.openxmlformats.org/officeDocument/2006/relationships/slide" Target="slide53.xml"/><Relationship Id="rId12" Type="http://schemas.openxmlformats.org/officeDocument/2006/relationships/slide" Target="slide212.xml"/><Relationship Id="rId13" Type="http://schemas.openxmlformats.org/officeDocument/2006/relationships/slide" Target="slide230.xml"/><Relationship Id="rId14" Type="http://schemas.openxmlformats.org/officeDocument/2006/relationships/slide" Target="slide231.xml"/><Relationship Id="rId15" Type="http://schemas.openxmlformats.org/officeDocument/2006/relationships/slide" Target="slide244.xml"/><Relationship Id="rId16" Type="http://schemas.openxmlformats.org/officeDocument/2006/relationships/slide" Target="slide248.xml"/><Relationship Id="rId17" Type="http://schemas.openxmlformats.org/officeDocument/2006/relationships/slide" Target="slide249.xml"/><Relationship Id="rId18" Type="http://schemas.openxmlformats.org/officeDocument/2006/relationships/slide" Target="slide257.xml"/><Relationship Id="rId19" Type="http://schemas.openxmlformats.org/officeDocument/2006/relationships/slide" Target="slide258.xml"/><Relationship Id="rId20" Type="http://schemas.openxmlformats.org/officeDocument/2006/relationships/slide" Target="slide272.xml"/><Relationship Id="rId21" Type="http://schemas.openxmlformats.org/officeDocument/2006/relationships/slide" Target="slide27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8.xml"/><Relationship Id="rId6"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2.xml"/><Relationship Id="rId6"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 Id="rId4"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5.xml"/><Relationship Id="rId5"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7.xml"/><Relationship Id="rId5" Type="http://schemas.openxmlformats.org/officeDocument/2006/relationships/image" Target="../media/image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xml"/><Relationship Id="rId4" Type="http://schemas.openxmlformats.org/officeDocument/2006/relationships/image" Target="../media/image57.png"/><Relationship Id="rId5" Type="http://schemas.openxmlformats.org/officeDocument/2006/relationships/image" Target="../media/image58.png"/><Relationship Id="rId6" Type="http://schemas.openxmlformats.org/officeDocument/2006/relationships/image" Target="../media/image59.png"/><Relationship Id="rId7" Type="http://schemas.openxmlformats.org/officeDocument/2006/relationships/image" Target="../media/image60.png"/><Relationship Id="rId8" Type="http://schemas.openxmlformats.org/officeDocument/2006/relationships/image" Target="../media/image61.png"/><Relationship Id="rId9" Type="http://schemas.openxmlformats.org/officeDocument/2006/relationships/image" Target="../media/image62.png"/><Relationship Id="rId10" Type="http://schemas.openxmlformats.org/officeDocument/2006/relationships/image" Target="../media/image63.png"/><Relationship Id="rId11" Type="http://schemas.openxmlformats.org/officeDocument/2006/relationships/image" Target="../media/image64.png"/><Relationship Id="rId12" Type="http://schemas.openxmlformats.org/officeDocument/2006/relationships/image" Target="../media/image65.png"/><Relationship Id="rId13" Type="http://schemas.openxmlformats.org/officeDocument/2006/relationships/image" Target="../media/image66.png"/><Relationship Id="rId14" Type="http://schemas.openxmlformats.org/officeDocument/2006/relationships/image" Target="../media/image67.png"/><Relationship Id="rId15" Type="http://schemas.openxmlformats.org/officeDocument/2006/relationships/image" Target="../media/image68.png"/><Relationship Id="rId16" Type="http://schemas.openxmlformats.org/officeDocument/2006/relationships/image" Target="../media/image69.png"/><Relationship Id="rId17" Type="http://schemas.openxmlformats.org/officeDocument/2006/relationships/image" Target="../media/image70.png"/><Relationship Id="rId18" Type="http://schemas.openxmlformats.org/officeDocument/2006/relationships/image" Target="../media/image71.png"/><Relationship Id="rId19" Type="http://schemas.openxmlformats.org/officeDocument/2006/relationships/image" Target="../media/image72.png"/><Relationship Id="rId20" Type="http://schemas.openxmlformats.org/officeDocument/2006/relationships/image" Target="../media/image73.png"/><Relationship Id="rId21" Type="http://schemas.openxmlformats.org/officeDocument/2006/relationships/image" Target="../media/image74.png"/><Relationship Id="rId22"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9.xml"/><Relationship Id="rId5" Type="http://schemas.openxmlformats.org/officeDocument/2006/relationships/image" Target="../media/image2.png"/><Relationship Id="rId6" Type="http://schemas.openxmlformats.org/officeDocument/2006/relationships/image" Target="../media/image85.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20.xml"/><Relationship Id="rId5" Type="http://schemas.openxmlformats.org/officeDocument/2006/relationships/image" Target="../media/image2.png"/><Relationship Id="rId6" Type="http://schemas.openxmlformats.org/officeDocument/2006/relationships/image" Target="../media/image97.png"/><Relationship Id="rId7" Type="http://schemas.openxmlformats.org/officeDocument/2006/relationships/image" Target="../media/image98.png"/><Relationship Id="rId8" Type="http://schemas.openxmlformats.org/officeDocument/2006/relationships/image" Target="../media/image99.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 Id="rId4"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xml"/><Relationship Id="rId4" Type="http://schemas.openxmlformats.org/officeDocument/2006/relationships/image" Target="../media/image102.png"/><Relationship Id="rId5" Type="http://schemas.openxmlformats.org/officeDocument/2006/relationships/image" Target="../media/image103.png"/><Relationship Id="rId6" Type="http://schemas.openxmlformats.org/officeDocument/2006/relationships/image" Target="../media/image104.png"/><Relationship Id="rId7" Type="http://schemas.openxmlformats.org/officeDocument/2006/relationships/image" Target="../media/image105.png"/><Relationship Id="rId8" Type="http://schemas.openxmlformats.org/officeDocument/2006/relationships/image" Target="../media/image106.png"/><Relationship Id="rId9" Type="http://schemas.openxmlformats.org/officeDocument/2006/relationships/image" Target="../media/image107.png"/><Relationship Id="rId10"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6.xml"/><Relationship Id="rId6" Type="http://schemas.openxmlformats.org/officeDocument/2006/relationships/image" Target="../media/image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notesSlide" Target="../notesSlides/notesSlide27.xml"/><Relationship Id="rId6"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 Id="rId4"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xml"/><Relationship Id="rId4" Type="http://schemas.openxmlformats.org/officeDocument/2006/relationships/notesSlide" Target="../notesSlides/notesSlide30.xml"/><Relationship Id="rId5"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 Id="rId4" Type="http://schemas.openxmlformats.org/officeDocument/2006/relationships/image" Target="../media/image124.png"/><Relationship Id="rId5" Type="http://schemas.openxmlformats.org/officeDocument/2006/relationships/image" Target="../media/image125.png"/><Relationship Id="rId6" Type="http://schemas.openxmlformats.org/officeDocument/2006/relationships/image" Target="../media/image126.png"/><Relationship Id="rId7" Type="http://schemas.openxmlformats.org/officeDocument/2006/relationships/image" Target="../media/image127.png"/><Relationship Id="rId8" Type="http://schemas.openxmlformats.org/officeDocument/2006/relationships/image" Target="../media/image128.png"/><Relationship Id="rId9" Type="http://schemas.openxmlformats.org/officeDocument/2006/relationships/image" Target="../media/image129.png"/><Relationship Id="rId10"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chart" Target="../charts/chart21.xml"/><Relationship Id="rId5" Type="http://schemas.openxmlformats.org/officeDocument/2006/relationships/notesSlide" Target="../notesSlides/notesSlide34.xml"/><Relationship Id="rId6"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5.xml"/><Relationship Id="rId6"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148.png"/><Relationship Id="rId5" Type="http://schemas.openxmlformats.org/officeDocument/2006/relationships/image" Target="../media/image149.png"/><Relationship Id="rId6" Type="http://schemas.openxmlformats.org/officeDocument/2006/relationships/image" Target="../media/image150.png"/><Relationship Id="rId7" Type="http://schemas.openxmlformats.org/officeDocument/2006/relationships/image" Target="../media/image151.png"/><Relationship Id="rId8" Type="http://schemas.openxmlformats.org/officeDocument/2006/relationships/image" Target="../media/image152.png"/><Relationship Id="rId9" Type="http://schemas.openxmlformats.org/officeDocument/2006/relationships/image" Target="../media/image153.png"/><Relationship Id="rId10" Type="http://schemas.openxmlformats.org/officeDocument/2006/relationships/image" Target="../media/image154.png"/><Relationship Id="rId11" Type="http://schemas.openxmlformats.org/officeDocument/2006/relationships/image" Target="../media/image155.png"/><Relationship Id="rId12" Type="http://schemas.openxmlformats.org/officeDocument/2006/relationships/image" Target="../media/image156.png"/><Relationship Id="rId13" Type="http://schemas.openxmlformats.org/officeDocument/2006/relationships/image" Target="../media/image157.png"/><Relationship Id="rId14" Type="http://schemas.openxmlformats.org/officeDocument/2006/relationships/image" Target="../media/image158.png"/><Relationship Id="rId15" Type="http://schemas.openxmlformats.org/officeDocument/2006/relationships/image" Target="../media/image85.png"/><Relationship Id="rId16"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 Id="rId4" Type="http://schemas.openxmlformats.org/officeDocument/2006/relationships/image" Target="../media/image159.png"/><Relationship Id="rId5" Type="http://schemas.openxmlformats.org/officeDocument/2006/relationships/image" Target="../media/image160.png"/><Relationship Id="rId6" Type="http://schemas.openxmlformats.org/officeDocument/2006/relationships/image" Target="../media/image129.png"/><Relationship Id="rId7" Type="http://schemas.openxmlformats.org/officeDocument/2006/relationships/image" Target="../media/image161.png"/><Relationship Id="rId8" Type="http://schemas.openxmlformats.org/officeDocument/2006/relationships/image" Target="../media/image162.png"/><Relationship Id="rId9" Type="http://schemas.openxmlformats.org/officeDocument/2006/relationships/image" Target="../media/image163.png"/><Relationship Id="rId10" Type="http://schemas.openxmlformats.org/officeDocument/2006/relationships/image" Target="../media/image164.png"/><Relationship Id="rId11" Type="http://schemas.openxmlformats.org/officeDocument/2006/relationships/image" Target="../media/image165.png"/><Relationship Id="rId12" Type="http://schemas.openxmlformats.org/officeDocument/2006/relationships/image" Target="../media/image166.png"/><Relationship Id="rId13" Type="http://schemas.openxmlformats.org/officeDocument/2006/relationships/image" Target="../media/image167.png"/><Relationship Id="rId14" Type="http://schemas.openxmlformats.org/officeDocument/2006/relationships/image" Target="../media/image168.png"/><Relationship Id="rId15" Type="http://schemas.openxmlformats.org/officeDocument/2006/relationships/image" Target="../media/image156.png"/><Relationship Id="rId16"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chart" Target="../charts/chart26.xml"/><Relationship Id="rId5" Type="http://schemas.openxmlformats.org/officeDocument/2006/relationships/notesSlide" Target="../notesSlides/notesSlide43.xml"/><Relationship Id="rId6"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notesSlide" Target="../notesSlides/notesSlide44.xml"/><Relationship Id="rId8"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chart" Target="../charts/chart33.xml"/><Relationship Id="rId6" Type="http://schemas.openxmlformats.org/officeDocument/2006/relationships/chart" Target="../charts/chart34.xml"/><Relationship Id="rId7" Type="http://schemas.openxmlformats.org/officeDocument/2006/relationships/notesSlide" Target="../notesSlides/notesSlide45.xml"/><Relationship Id="rId8"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8.xml"/><Relationship Id="rId5"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33.png"/><Relationship Id="rId5" Type="http://schemas.openxmlformats.org/officeDocument/2006/relationships/image" Target="../media/image234.png"/><Relationship Id="rId6" Type="http://schemas.openxmlformats.org/officeDocument/2006/relationships/image" Target="../media/image104.png"/><Relationship Id="rId7" Type="http://schemas.openxmlformats.org/officeDocument/2006/relationships/image" Target="../media/image235.png"/><Relationship Id="rId8" Type="http://schemas.openxmlformats.org/officeDocument/2006/relationships/image" Target="../media/image236.png"/><Relationship Id="rId9" Type="http://schemas.openxmlformats.org/officeDocument/2006/relationships/image" Target="../media/image85.png"/><Relationship Id="rId10" Type="http://schemas.openxmlformats.org/officeDocument/2006/relationships/image" Target="../media/image237.png"/><Relationship Id="rId11" Type="http://schemas.openxmlformats.org/officeDocument/2006/relationships/image" Target="../media/image238.png"/><Relationship Id="rId12" Type="http://schemas.openxmlformats.org/officeDocument/2006/relationships/image" Target="../media/image239.png"/><Relationship Id="rId13" Type="http://schemas.openxmlformats.org/officeDocument/2006/relationships/image" Target="../media/image240.png"/><Relationship Id="rId14" Type="http://schemas.openxmlformats.org/officeDocument/2006/relationships/image" Target="../media/image241.png"/><Relationship Id="rId15" Type="http://schemas.openxmlformats.org/officeDocument/2006/relationships/image" Target="../media/image242.png"/><Relationship Id="rId16"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52.xml"/><Relationship Id="rId6"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77.png"/><Relationship Id="rId5" Type="http://schemas.openxmlformats.org/officeDocument/2006/relationships/image" Target="../media/image278.png"/><Relationship Id="rId6" Type="http://schemas.openxmlformats.org/officeDocument/2006/relationships/image" Target="../media/image279.png"/><Relationship Id="rId7" Type="http://schemas.openxmlformats.org/officeDocument/2006/relationships/image" Target="../media/image280.png"/><Relationship Id="rId8" Type="http://schemas.openxmlformats.org/officeDocument/2006/relationships/image" Target="../media/image281.png"/><Relationship Id="rId9" Type="http://schemas.openxmlformats.org/officeDocument/2006/relationships/image" Target="../media/image282.png"/><Relationship Id="rId10" Type="http://schemas.openxmlformats.org/officeDocument/2006/relationships/image" Target="../media/image283.png"/><Relationship Id="rId11" Type="http://schemas.openxmlformats.org/officeDocument/2006/relationships/image" Target="../media/image284.png"/><Relationship Id="rId12" Type="http://schemas.openxmlformats.org/officeDocument/2006/relationships/image" Target="../media/image68.png"/><Relationship Id="rId13" Type="http://schemas.openxmlformats.org/officeDocument/2006/relationships/image" Target="../media/image285.png"/><Relationship Id="rId14" Type="http://schemas.openxmlformats.org/officeDocument/2006/relationships/image" Target="../media/image286.png"/><Relationship Id="rId15" Type="http://schemas.openxmlformats.org/officeDocument/2006/relationships/image" Target="../media/image287.png"/><Relationship Id="rId16"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 Id="rId4" Type="http://schemas.openxmlformats.org/officeDocument/2006/relationships/image" Target="../media/image288.png"/><Relationship Id="rId5" Type="http://schemas.openxmlformats.org/officeDocument/2006/relationships/image" Target="../media/image289.png"/><Relationship Id="rId6" Type="http://schemas.openxmlformats.org/officeDocument/2006/relationships/image" Target="../media/image290.png"/><Relationship Id="rId7" Type="http://schemas.openxmlformats.org/officeDocument/2006/relationships/image" Target="../media/image291.png"/><Relationship Id="rId8" Type="http://schemas.openxmlformats.org/officeDocument/2006/relationships/image" Target="../media/image292.png"/><Relationship Id="rId9" Type="http://schemas.openxmlformats.org/officeDocument/2006/relationships/image" Target="../media/image126.png"/><Relationship Id="rId10" Type="http://schemas.openxmlformats.org/officeDocument/2006/relationships/image" Target="../media/image293.png"/><Relationship Id="rId11" Type="http://schemas.openxmlformats.org/officeDocument/2006/relationships/image" Target="../media/image294.png"/><Relationship Id="rId12" Type="http://schemas.openxmlformats.org/officeDocument/2006/relationships/image" Target="../media/image295.png"/><Relationship Id="rId13"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notesSlide" Target="../notesSlides/notesSlide61.xml"/><Relationship Id="rId6"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chart" Target="../charts/chart46.xml"/><Relationship Id="rId5" Type="http://schemas.openxmlformats.org/officeDocument/2006/relationships/chart" Target="../charts/chart47.xml"/><Relationship Id="rId6" Type="http://schemas.openxmlformats.org/officeDocument/2006/relationships/chart" Target="../charts/chart48.xml"/><Relationship Id="rId7" Type="http://schemas.openxmlformats.org/officeDocument/2006/relationships/notesSlide" Target="../notesSlides/notesSlide62.xml"/><Relationship Id="rId8"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chart" Target="../charts/chart51.xml"/><Relationship Id="rId6" Type="http://schemas.openxmlformats.org/officeDocument/2006/relationships/notesSlide" Target="../notesSlides/notesSlide63.xml"/><Relationship Id="rId7"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6.xml"/><Relationship Id="rId5"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xml"/><Relationship Id="rId4" Type="http://schemas.openxmlformats.org/officeDocument/2006/relationships/image" Target="../media/image357.png"/><Relationship Id="rId5" Type="http://schemas.openxmlformats.org/officeDocument/2006/relationships/image" Target="../media/image358.png"/><Relationship Id="rId6" Type="http://schemas.openxmlformats.org/officeDocument/2006/relationships/image" Target="../media/image104.png"/><Relationship Id="rId7" Type="http://schemas.openxmlformats.org/officeDocument/2006/relationships/image" Target="../media/image359.png"/><Relationship Id="rId8" Type="http://schemas.openxmlformats.org/officeDocument/2006/relationships/image" Target="../media/image360.png"/><Relationship Id="rId9" Type="http://schemas.openxmlformats.org/officeDocument/2006/relationships/image" Target="../media/image361.png"/><Relationship Id="rId10" Type="http://schemas.openxmlformats.org/officeDocument/2006/relationships/image" Target="../media/image362.png"/><Relationship Id="rId11" Type="http://schemas.openxmlformats.org/officeDocument/2006/relationships/image" Target="../media/image363.png"/><Relationship Id="rId12" Type="http://schemas.openxmlformats.org/officeDocument/2006/relationships/image" Target="../media/image364.png"/><Relationship Id="rId13" Type="http://schemas.openxmlformats.org/officeDocument/2006/relationships/image" Target="../media/image2.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70.xml"/><Relationship Id="rId6"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chart" Target="../charts/chart57.xml"/><Relationship Id="rId6" Type="http://schemas.openxmlformats.org/officeDocument/2006/relationships/notesSlide" Target="../notesSlides/notesSlide71.xml"/><Relationship Id="rId7"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 Id="rId4"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notesSlide" Target="../notesSlides/notesSlide74.xml"/><Relationship Id="rId5"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389.png"/><Relationship Id="rId5" Type="http://schemas.openxmlformats.org/officeDocument/2006/relationships/image" Target="../media/image390.png"/><Relationship Id="rId6" Type="http://schemas.openxmlformats.org/officeDocument/2006/relationships/image" Target="../media/image156.png"/><Relationship Id="rId7" Type="http://schemas.openxmlformats.org/officeDocument/2006/relationships/image" Target="../media/image391.png"/><Relationship Id="rId8" Type="http://schemas.openxmlformats.org/officeDocument/2006/relationships/image" Target="../media/image392.png"/><Relationship Id="rId9" Type="http://schemas.openxmlformats.org/officeDocument/2006/relationships/image" Target="../media/image65.png"/><Relationship Id="rId10" Type="http://schemas.openxmlformats.org/officeDocument/2006/relationships/image" Target="../media/image2.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notesSlide" Target="../notesSlides/notesSlide78.xml"/><Relationship Id="rId6" Type="http://schemas.openxmlformats.org/officeDocument/2006/relationships/image" Target="../media/image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1.xml"/><Relationship Id="rId4" Type="http://schemas.openxmlformats.org/officeDocument/2006/relationships/chart" Target="../charts/chart62.xml"/><Relationship Id="rId5" Type="http://schemas.openxmlformats.org/officeDocument/2006/relationships/notesSlide" Target="../notesSlides/notesSlide79.xml"/><Relationship Id="rId6"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 Id="rId4"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82.xml"/><Relationship Id="rId5"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 Id="rId4" Type="http://schemas.openxmlformats.org/officeDocument/2006/relationships/image" Target="../media/image411.png"/><Relationship Id="rId5" Type="http://schemas.openxmlformats.org/officeDocument/2006/relationships/image" Target="../media/image412.png"/><Relationship Id="rId6" Type="http://schemas.openxmlformats.org/officeDocument/2006/relationships/image" Target="../media/image413.png"/><Relationship Id="rId7" Type="http://schemas.openxmlformats.org/officeDocument/2006/relationships/image" Target="../media/image414.png"/><Relationship Id="rId8" Type="http://schemas.openxmlformats.org/officeDocument/2006/relationships/image" Target="../media/image415.png"/><Relationship Id="rId9" Type="http://schemas.openxmlformats.org/officeDocument/2006/relationships/image" Target="../media/image416.png"/><Relationship Id="rId10" Type="http://schemas.openxmlformats.org/officeDocument/2006/relationships/image" Target="../media/image417.png"/><Relationship Id="rId11" Type="http://schemas.openxmlformats.org/officeDocument/2006/relationships/image" Target="../media/image418.png"/><Relationship Id="rId12" Type="http://schemas.openxmlformats.org/officeDocument/2006/relationships/image" Target="../media/image419.png"/><Relationship Id="rId13" Type="http://schemas.openxmlformats.org/officeDocument/2006/relationships/image" Target="../media/image420.png"/><Relationship Id="rId14" Type="http://schemas.openxmlformats.org/officeDocument/2006/relationships/image" Target="../media/image421.png"/><Relationship Id="rId15" Type="http://schemas.openxmlformats.org/officeDocument/2006/relationships/image" Target="../media/image422.png"/><Relationship Id="rId16" Type="http://schemas.openxmlformats.org/officeDocument/2006/relationships/image" Target="../media/image423.png"/><Relationship Id="rId17" Type="http://schemas.openxmlformats.org/officeDocument/2006/relationships/image" Target="../media/image424.png"/><Relationship Id="rId18" Type="http://schemas.openxmlformats.org/officeDocument/2006/relationships/image" Target="../media/image425.png"/><Relationship Id="rId19" Type="http://schemas.openxmlformats.org/officeDocument/2006/relationships/image" Target="../media/image426.png"/><Relationship Id="rId20" Type="http://schemas.openxmlformats.org/officeDocument/2006/relationships/image" Target="../media/image427.png"/><Relationship Id="rId21"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chart" Target="../charts/chart65.xml"/><Relationship Id="rId5" Type="http://schemas.openxmlformats.org/officeDocument/2006/relationships/notesSlide" Target="../notesSlides/notesSlide86.xml"/><Relationship Id="rId6"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chart" Target="../charts/chart68.xml"/><Relationship Id="rId6" Type="http://schemas.openxmlformats.org/officeDocument/2006/relationships/chart" Target="../charts/chart69.xml"/><Relationship Id="rId7" Type="http://schemas.openxmlformats.org/officeDocument/2006/relationships/notesSlide" Target="../notesSlides/notesSlide87.xml"/><Relationship Id="rId8" Type="http://schemas.openxmlformats.org/officeDocument/2006/relationships/image" Target="../media/image2.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notesSlide" Target="../notesSlides/notesSlide88.xml"/><Relationship Id="rId6"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 Id="rId4"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2.xml"/><Relationship Id="rId4" Type="http://schemas.openxmlformats.org/officeDocument/2006/relationships/notesSlide" Target="../notesSlides/notesSlide91.xml"/><Relationship Id="rId5"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2.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479.png"/><Relationship Id="rId5" Type="http://schemas.openxmlformats.org/officeDocument/2006/relationships/image" Target="../media/image480.png"/><Relationship Id="rId6" Type="http://schemas.openxmlformats.org/officeDocument/2006/relationships/image" Target="../media/image99.png"/><Relationship Id="rId7" Type="http://schemas.openxmlformats.org/officeDocument/2006/relationships/image" Target="../media/image481.png"/><Relationship Id="rId8" Type="http://schemas.openxmlformats.org/officeDocument/2006/relationships/image" Target="../media/image482.png"/><Relationship Id="rId9" Type="http://schemas.openxmlformats.org/officeDocument/2006/relationships/image" Target="../media/image483.png"/><Relationship Id="rId10" Type="http://schemas.openxmlformats.org/officeDocument/2006/relationships/image" Target="../media/image484.png"/><Relationship Id="rId11" Type="http://schemas.openxmlformats.org/officeDocument/2006/relationships/image" Target="../media/image485.png"/><Relationship Id="rId12" Type="http://schemas.openxmlformats.org/officeDocument/2006/relationships/image" Target="../media/image153.png"/><Relationship Id="rId13" Type="http://schemas.openxmlformats.org/officeDocument/2006/relationships/image" Target="../media/image486.png"/><Relationship Id="rId14" Type="http://schemas.openxmlformats.org/officeDocument/2006/relationships/image" Target="../media/image487.png"/><Relationship Id="rId15" Type="http://schemas.openxmlformats.org/officeDocument/2006/relationships/image" Target="../media/image166.png"/><Relationship Id="rId16" Type="http://schemas.openxmlformats.org/officeDocument/2006/relationships/image" Target="../media/image2.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notesSlide" Target="../notesSlides/notesSlide95.xml"/><Relationship Id="rId6" Type="http://schemas.openxmlformats.org/officeDocument/2006/relationships/image" Target="../media/image2.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chart" Target="../charts/chart77.xml"/><Relationship Id="rId6" Type="http://schemas.openxmlformats.org/officeDocument/2006/relationships/chart" Target="../charts/chart78.xml"/><Relationship Id="rId7" Type="http://schemas.openxmlformats.org/officeDocument/2006/relationships/notesSlide" Target="../notesSlides/notesSlide96.xml"/><Relationship Id="rId8"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notesSlide" Target="../notesSlides/notesSlide99.xml"/><Relationship Id="rId5"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0.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520.png"/><Relationship Id="rId5" Type="http://schemas.openxmlformats.org/officeDocument/2006/relationships/image" Target="../media/image521.png"/><Relationship Id="rId6" Type="http://schemas.openxmlformats.org/officeDocument/2006/relationships/image" Target="../media/image522.png"/><Relationship Id="rId7" Type="http://schemas.openxmlformats.org/officeDocument/2006/relationships/image" Target="../media/image523.png"/><Relationship Id="rId8" Type="http://schemas.openxmlformats.org/officeDocument/2006/relationships/image" Target="../media/image524.png"/><Relationship Id="rId9" Type="http://schemas.openxmlformats.org/officeDocument/2006/relationships/image" Target="../media/image413.png"/><Relationship Id="rId10" Type="http://schemas.openxmlformats.org/officeDocument/2006/relationships/image" Target="../media/image525.png"/><Relationship Id="rId11" Type="http://schemas.openxmlformats.org/officeDocument/2006/relationships/image" Target="../media/image526.png"/><Relationship Id="rId12" Type="http://schemas.openxmlformats.org/officeDocument/2006/relationships/image" Target="../media/image527.png"/><Relationship Id="rId13"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notesSlide" Target="../notesSlides/notesSlide103.xml"/><Relationship Id="rId6" Type="http://schemas.openxmlformats.org/officeDocument/2006/relationships/image" Target="../media/image2.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chart" Target="../charts/chart84.xml"/><Relationship Id="rId6" Type="http://schemas.openxmlformats.org/officeDocument/2006/relationships/notesSlide" Target="../notesSlides/notesSlide104.xml"/><Relationship Id="rId7"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7.xml"/><Relationship Id="rId5"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555.png"/><Relationship Id="rId5" Type="http://schemas.openxmlformats.org/officeDocument/2006/relationships/image" Target="../media/image556.png"/><Relationship Id="rId6" Type="http://schemas.openxmlformats.org/officeDocument/2006/relationships/image" Target="../media/image557.png"/><Relationship Id="rId7" Type="http://schemas.openxmlformats.org/officeDocument/2006/relationships/image" Target="../media/image558.png"/><Relationship Id="rId8" Type="http://schemas.openxmlformats.org/officeDocument/2006/relationships/image" Target="../media/image559.png"/><Relationship Id="rId9" Type="http://schemas.openxmlformats.org/officeDocument/2006/relationships/image" Target="../media/image560.png"/><Relationship Id="rId10" Type="http://schemas.openxmlformats.org/officeDocument/2006/relationships/image" Target="../media/image561.png"/><Relationship Id="rId11" Type="http://schemas.openxmlformats.org/officeDocument/2006/relationships/image" Target="../media/image562.png"/><Relationship Id="rId12" Type="http://schemas.openxmlformats.org/officeDocument/2006/relationships/image" Target="../media/image413.png"/><Relationship Id="rId13" Type="http://schemas.openxmlformats.org/officeDocument/2006/relationships/image" Target="../media/image563.png"/><Relationship Id="rId14" Type="http://schemas.openxmlformats.org/officeDocument/2006/relationships/image" Target="../media/image564.png"/><Relationship Id="rId15" Type="http://schemas.openxmlformats.org/officeDocument/2006/relationships/image" Target="../media/image65.png"/><Relationship Id="rId16"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chart" Target="../charts/chart87.xml"/><Relationship Id="rId5" Type="http://schemas.openxmlformats.org/officeDocument/2006/relationships/notesSlide" Target="../notesSlides/notesSlide111.xml"/><Relationship Id="rId6"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8.xml"/><Relationship Id="rId4" Type="http://schemas.openxmlformats.org/officeDocument/2006/relationships/chart" Target="../charts/chart89.xml"/><Relationship Id="rId5" Type="http://schemas.openxmlformats.org/officeDocument/2006/relationships/chart" Target="../charts/chart90.xml"/><Relationship Id="rId6" Type="http://schemas.openxmlformats.org/officeDocument/2006/relationships/chart" Target="../charts/chart91.xml"/><Relationship Id="rId7" Type="http://schemas.openxmlformats.org/officeDocument/2006/relationships/notesSlide" Target="../notesSlides/notesSlide112.xml"/><Relationship Id="rId8"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2.xml"/><Relationship Id="rId4" Type="http://schemas.openxmlformats.org/officeDocument/2006/relationships/notesSlide" Target="../notesSlides/notesSlide115.xml"/><Relationship Id="rId5"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 Id="rId4"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 Id="rId4" Type="http://schemas.openxmlformats.org/officeDocument/2006/relationships/image" Target="../media/image595.png"/><Relationship Id="rId5" Type="http://schemas.openxmlformats.org/officeDocument/2006/relationships/image" Target="../media/image596.png"/><Relationship Id="rId6" Type="http://schemas.openxmlformats.org/officeDocument/2006/relationships/image" Target="../media/image557.png"/><Relationship Id="rId7" Type="http://schemas.openxmlformats.org/officeDocument/2006/relationships/image" Target="../media/image597.png"/><Relationship Id="rId8" Type="http://schemas.openxmlformats.org/officeDocument/2006/relationships/image" Target="../media/image598.png"/><Relationship Id="rId9" Type="http://schemas.openxmlformats.org/officeDocument/2006/relationships/image" Target="../media/image599.png"/><Relationship Id="rId10" Type="http://schemas.openxmlformats.org/officeDocument/2006/relationships/image" Target="../media/image600.png"/><Relationship Id="rId11" Type="http://schemas.openxmlformats.org/officeDocument/2006/relationships/image" Target="../media/image601.png"/><Relationship Id="rId12" Type="http://schemas.openxmlformats.org/officeDocument/2006/relationships/image" Target="../media/image279.png"/><Relationship Id="rId13" Type="http://schemas.openxmlformats.org/officeDocument/2006/relationships/image" Target="../media/image602.png"/><Relationship Id="rId14" Type="http://schemas.openxmlformats.org/officeDocument/2006/relationships/image" Target="../media/image603.png"/><Relationship Id="rId15" Type="http://schemas.openxmlformats.org/officeDocument/2006/relationships/image" Target="../media/image604.png"/><Relationship Id="rId16"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chart" Target="../charts/chart94.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0.xml"/><Relationship Id="rId8"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 Id="rId4"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23.xml"/><Relationship Id="rId5"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6.xml"/><Relationship Id="rId4" Type="http://schemas.openxmlformats.org/officeDocument/2006/relationships/image" Target="../media/image640.png"/><Relationship Id="rId5" Type="http://schemas.openxmlformats.org/officeDocument/2006/relationships/image" Target="../media/image641.png"/><Relationship Id="rId6" Type="http://schemas.openxmlformats.org/officeDocument/2006/relationships/image" Target="../media/image68.png"/><Relationship Id="rId7" Type="http://schemas.openxmlformats.org/officeDocument/2006/relationships/image" Target="../media/image642.png"/><Relationship Id="rId8" Type="http://schemas.openxmlformats.org/officeDocument/2006/relationships/image" Target="../media/image643.png"/><Relationship Id="rId9" Type="http://schemas.openxmlformats.org/officeDocument/2006/relationships/image" Target="../media/image85.png"/><Relationship Id="rId10" Type="http://schemas.openxmlformats.org/officeDocument/2006/relationships/image" Target="../media/image644.png"/><Relationship Id="rId11" Type="http://schemas.openxmlformats.org/officeDocument/2006/relationships/image" Target="../media/image645.png"/><Relationship Id="rId12" Type="http://schemas.openxmlformats.org/officeDocument/2006/relationships/image" Target="../media/image646.png"/><Relationship Id="rId13"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27.xml"/><Relationship Id="rId6"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chart" Target="../charts/chart104.xml"/><Relationship Id="rId6" Type="http://schemas.openxmlformats.org/officeDocument/2006/relationships/notesSlide" Target="../notesSlides/notesSlide128.xml"/><Relationship Id="rId7"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 Id="rId4"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31.xml"/><Relationship Id="rId5"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 Id="rId4" Type="http://schemas.openxmlformats.org/officeDocument/2006/relationships/image" Target="../media/image674.png"/><Relationship Id="rId5" Type="http://schemas.openxmlformats.org/officeDocument/2006/relationships/image" Target="../media/image675.png"/><Relationship Id="rId6" Type="http://schemas.openxmlformats.org/officeDocument/2006/relationships/image" Target="../media/image65.png"/><Relationship Id="rId7" Type="http://schemas.openxmlformats.org/officeDocument/2006/relationships/image" Target="../media/image676.png"/><Relationship Id="rId8" Type="http://schemas.openxmlformats.org/officeDocument/2006/relationships/image" Target="../media/image677.png"/><Relationship Id="rId9" Type="http://schemas.openxmlformats.org/officeDocument/2006/relationships/image" Target="../media/image416.png"/><Relationship Id="rId10"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chart" Target="../charts/chart107.xml"/><Relationship Id="rId5" Type="http://schemas.openxmlformats.org/officeDocument/2006/relationships/notesSlide" Target="../notesSlides/notesSlide135.xml"/><Relationship Id="rId6"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chart" Target="../charts/chart109.xml"/><Relationship Id="rId5" Type="http://schemas.openxmlformats.org/officeDocument/2006/relationships/notesSlide" Target="../notesSlides/notesSlide136.xml"/><Relationship Id="rId6"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 Id="rId4"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xml"/><Relationship Id="rId4" Type="http://schemas.openxmlformats.org/officeDocument/2006/relationships/notesSlide" Target="../notesSlides/notesSlide139.xml"/><Relationship Id="rId5"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xml"/><Relationship Id="rId4" Type="http://schemas.openxmlformats.org/officeDocument/2006/relationships/image" Target="../media/image696.png"/><Relationship Id="rId5" Type="http://schemas.openxmlformats.org/officeDocument/2006/relationships/image" Target="../media/image697.png"/><Relationship Id="rId6" Type="http://schemas.openxmlformats.org/officeDocument/2006/relationships/image" Target="../media/image698.png"/><Relationship Id="rId7" Type="http://schemas.openxmlformats.org/officeDocument/2006/relationships/image" Target="../media/image699.png"/><Relationship Id="rId8" Type="http://schemas.openxmlformats.org/officeDocument/2006/relationships/image" Target="../media/image700.png"/><Relationship Id="rId9" Type="http://schemas.openxmlformats.org/officeDocument/2006/relationships/image" Target="../media/image701.png"/><Relationship Id="rId10" Type="http://schemas.openxmlformats.org/officeDocument/2006/relationships/image" Target="../media/image702.png"/><Relationship Id="rId11" Type="http://schemas.openxmlformats.org/officeDocument/2006/relationships/image" Target="../media/image703.png"/><Relationship Id="rId12" Type="http://schemas.openxmlformats.org/officeDocument/2006/relationships/image" Target="../media/image704.png"/><Relationship Id="rId13" Type="http://schemas.openxmlformats.org/officeDocument/2006/relationships/image" Target="../media/image705.png"/><Relationship Id="rId14" Type="http://schemas.openxmlformats.org/officeDocument/2006/relationships/image" Target="../media/image706.png"/><Relationship Id="rId15" Type="http://schemas.openxmlformats.org/officeDocument/2006/relationships/image" Target="../media/image707.png"/><Relationship Id="rId16"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3.xml"/><Relationship Id="rId6"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chart" Target="../charts/chart115.xml"/><Relationship Id="rId6" Type="http://schemas.openxmlformats.org/officeDocument/2006/relationships/chart" Target="../charts/chart116.xml"/><Relationship Id="rId7" Type="http://schemas.openxmlformats.org/officeDocument/2006/relationships/notesSlide" Target="../notesSlides/notesSlide144.xml"/><Relationship Id="rId8"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notesSlide" Target="../notesSlides/notesSlide147.xml"/><Relationship Id="rId5" Type="http://schemas.openxmlformats.org/officeDocument/2006/relationships/image" Target="../media/image2.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xml"/><Relationship Id="rId4" Type="http://schemas.openxmlformats.org/officeDocument/2006/relationships/image" Target="../media/image743.png"/><Relationship Id="rId5" Type="http://schemas.openxmlformats.org/officeDocument/2006/relationships/image" Target="../media/image744.png"/><Relationship Id="rId6" Type="http://schemas.openxmlformats.org/officeDocument/2006/relationships/image" Target="../media/image290.png"/><Relationship Id="rId7" Type="http://schemas.openxmlformats.org/officeDocument/2006/relationships/image" Target="../media/image745.png"/><Relationship Id="rId8" Type="http://schemas.openxmlformats.org/officeDocument/2006/relationships/image" Target="../media/image746.png"/><Relationship Id="rId9" Type="http://schemas.openxmlformats.org/officeDocument/2006/relationships/image" Target="../media/image557.png"/><Relationship Id="rId10" Type="http://schemas.openxmlformats.org/officeDocument/2006/relationships/image" Target="../media/image747.png"/><Relationship Id="rId11" Type="http://schemas.openxmlformats.org/officeDocument/2006/relationships/image" Target="../media/image748.png"/><Relationship Id="rId12" Type="http://schemas.openxmlformats.org/officeDocument/2006/relationships/image" Target="../media/image74.png"/><Relationship Id="rId13"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8.xml"/><Relationship Id="rId4" Type="http://schemas.openxmlformats.org/officeDocument/2006/relationships/chart" Target="../charts/chart119.xml"/><Relationship Id="rId5" Type="http://schemas.openxmlformats.org/officeDocument/2006/relationships/notesSlide" Target="../notesSlides/notesSlide151.xml"/><Relationship Id="rId6"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xml"/><Relationship Id="rId4" Type="http://schemas.openxmlformats.org/officeDocument/2006/relationships/chart" Target="../charts/chart121.xml"/><Relationship Id="rId5" Type="http://schemas.openxmlformats.org/officeDocument/2006/relationships/chart" Target="../charts/chart122.xml"/><Relationship Id="rId6" Type="http://schemas.openxmlformats.org/officeDocument/2006/relationships/notesSlide" Target="../notesSlides/notesSlide152.xml"/><Relationship Id="rId7"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notesSlide" Target="../notesSlides/notesSlide155.xml"/><Relationship Id="rId5" Type="http://schemas.openxmlformats.org/officeDocument/2006/relationships/image" Target="../media/image2.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 Id="rId4"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7.xml"/><Relationship Id="rId4"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8.xml"/><Relationship Id="rId4" Type="http://schemas.openxmlformats.org/officeDocument/2006/relationships/image" Target="../media/image775.png"/><Relationship Id="rId5" Type="http://schemas.openxmlformats.org/officeDocument/2006/relationships/image" Target="../media/image776.png"/><Relationship Id="rId6" Type="http://schemas.openxmlformats.org/officeDocument/2006/relationships/image" Target="../media/image777.png"/><Relationship Id="rId7" Type="http://schemas.openxmlformats.org/officeDocument/2006/relationships/image" Target="../media/image778.png"/><Relationship Id="rId8" Type="http://schemas.openxmlformats.org/officeDocument/2006/relationships/image" Target="../media/image779.png"/><Relationship Id="rId9" Type="http://schemas.openxmlformats.org/officeDocument/2006/relationships/image" Target="../media/image279.png"/><Relationship Id="rId10" Type="http://schemas.openxmlformats.org/officeDocument/2006/relationships/image" Target="../media/image780.png"/><Relationship Id="rId11" Type="http://schemas.openxmlformats.org/officeDocument/2006/relationships/image" Target="../media/image781.png"/><Relationship Id="rId12" Type="http://schemas.openxmlformats.org/officeDocument/2006/relationships/image" Target="../media/image65.png"/><Relationship Id="rId13"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4.xml"/><Relationship Id="rId4" Type="http://schemas.openxmlformats.org/officeDocument/2006/relationships/chart" Target="../charts/chart125.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xml"/><Relationship Id="rId4" Type="http://schemas.openxmlformats.org/officeDocument/2006/relationships/chart" Target="../charts/chart127.xml"/><Relationship Id="rId5" Type="http://schemas.openxmlformats.org/officeDocument/2006/relationships/chart" Target="../charts/chart128.xml"/><Relationship Id="rId6" Type="http://schemas.openxmlformats.org/officeDocument/2006/relationships/notesSlide" Target="../notesSlides/notesSlide160.xml"/><Relationship Id="rId7"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notesSlide" Target="../notesSlides/notesSlide163.xml"/><Relationship Id="rId5" Type="http://schemas.openxmlformats.org/officeDocument/2006/relationships/image" Target="../media/image2.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xml"/><Relationship Id="rId4" Type="http://schemas.openxmlformats.org/officeDocument/2006/relationships/notesSlide" Target="../notesSlides/notesSlide167.xml"/><Relationship Id="rId5"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notesSlide" Target="../notesSlides/notesSlide170.xml"/><Relationship Id="rId5"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 Id="rId4" Type="http://schemas.openxmlformats.org/officeDocument/2006/relationships/image" Target="../media/image2.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2.xml"/><Relationship Id="rId4" Type="http://schemas.openxmlformats.org/officeDocument/2006/relationships/notesSlide" Target="../notesSlides/notesSlide173.xml"/><Relationship Id="rId5"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 Id="rId4" Type="http://schemas.openxmlformats.org/officeDocument/2006/relationships/image" Target="../media/image2.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77.xml"/><Relationship Id="rId5" Type="http://schemas.openxmlformats.org/officeDocument/2006/relationships/image" Target="../media/image2.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chart" Target="../charts/chart135.xml"/><Relationship Id="rId5" Type="http://schemas.openxmlformats.org/officeDocument/2006/relationships/notesSlide" Target="../notesSlides/notesSlide181.xml"/><Relationship Id="rId6" Type="http://schemas.openxmlformats.org/officeDocument/2006/relationships/image" Target="../media/image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6.xml"/><Relationship Id="rId4" Type="http://schemas.openxmlformats.org/officeDocument/2006/relationships/notesSlide" Target="../notesSlides/notesSlide182.xml"/><Relationship Id="rId5"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183.xml"/><Relationship Id="rId5"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 Id="rId4"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8.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9.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0.xml"/><Relationship Id="rId4" Type="http://schemas.openxmlformats.org/officeDocument/2006/relationships/image" Target="../media/image2.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218.xml"/><Relationship Id="rId5"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219.xml"/><Relationship Id="rId6"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chart" Target="../charts/chart143.xml"/><Relationship Id="rId6" Type="http://schemas.openxmlformats.org/officeDocument/2006/relationships/notesSlide" Target="../notesSlides/notesSlide220.xml"/><Relationship Id="rId7"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4.xml"/><Relationship Id="rId4" Type="http://schemas.openxmlformats.org/officeDocument/2006/relationships/chart" Target="../charts/chart145.xml"/><Relationship Id="rId5" Type="http://schemas.openxmlformats.org/officeDocument/2006/relationships/chart" Target="../charts/chart146.xml"/><Relationship Id="rId6" Type="http://schemas.openxmlformats.org/officeDocument/2006/relationships/notesSlide" Target="../notesSlides/notesSlide222.xml"/><Relationship Id="rId7" Type="http://schemas.openxmlformats.org/officeDocument/2006/relationships/image" Target="../media/image2.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notesSlide" Target="../notesSlides/notesSlide223.xml"/><Relationship Id="rId5"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 Id="rId4" Type="http://schemas.openxmlformats.org/officeDocument/2006/relationships/image" Target="../media/image2.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8.xml"/><Relationship Id="rId4" Type="http://schemas.openxmlformats.org/officeDocument/2006/relationships/chart" Target="../charts/chart149.xml"/><Relationship Id="rId5" Type="http://schemas.openxmlformats.org/officeDocument/2006/relationships/chart" Target="../charts/chart150.xml"/><Relationship Id="rId6" Type="http://schemas.openxmlformats.org/officeDocument/2006/relationships/notesSlide" Target="../notesSlides/notesSlide227.xml"/><Relationship Id="rId7"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notesSlide" Target="../notesSlides/notesSlide228.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 Id="rId4"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 Id="rId4"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2.xml"/><Relationship Id="rId4" Type="http://schemas.openxmlformats.org/officeDocument/2006/relationships/chart" Target="../charts/chart153.xml"/><Relationship Id="rId5" Type="http://schemas.openxmlformats.org/officeDocument/2006/relationships/chart" Target="../charts/chart154.xml"/><Relationship Id="rId6" Type="http://schemas.openxmlformats.org/officeDocument/2006/relationships/notesSlide" Target="../notesSlides/notesSlide232.xml"/><Relationship Id="rId7" Type="http://schemas.openxmlformats.org/officeDocument/2006/relationships/image" Target="../media/image2.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5.xml"/><Relationship Id="rId4" Type="http://schemas.openxmlformats.org/officeDocument/2006/relationships/notesSlide" Target="../notesSlides/notesSlide233.xml"/><Relationship Id="rId5"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 Id="rId4"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 Id="rId4"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Packaged Muffins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(MT) Analysis and Forecast, 2021–2036</a:t>
            </a:r>
          </a:p>
          <a:p>
            <a:pPr algn="l"/>
            <a:r>
              <a:rPr sz="1100" b="0">
                <a:solidFill>
                  <a:srgbClr val="8FCBE6"/>
                </a:solidFill>
                <a:latin typeface="Calibri"/>
              </a:rPr>
              <a:t>Region focus: Global   ·   Country focus: U.S.   ·   Generated 07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69887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4445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0829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372129"/>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393596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448154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Packaged Muffins Market Global Overview</a:t>
            </a:r>
          </a:p>
        </p:txBody>
      </p:sp>
      <p:sp>
        <p:nvSpPr>
          <p:cNvPr id="17" name="Rounded Rectangle 16">
            <a:hlinkClick action="ppaction://hlinksldjump" r:id="rId10"/>
          </p:cNvPr>
          <p:cNvSpPr/>
          <p:nvPr/>
        </p:nvSpPr>
        <p:spPr>
          <a:xfrm>
            <a:off x="314325" y="504538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56092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61730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1" name="Rounded Rectangle 20">
            <a:hlinkClick action="ppaction://hlinksldjump" r:id="rId14"/>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Packaged Muffins Market Pricing Analysis</a:t>
            </a:r>
          </a:p>
        </p:txBody>
      </p:sp>
      <p:sp>
        <p:nvSpPr>
          <p:cNvPr id="22" name="Rounded Rectangle 21">
            <a:hlinkClick action="ppaction://hlinksldjump" r:id="rId15"/>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Supply Chain Analysis</a:t>
            </a:r>
          </a:p>
        </p:txBody>
      </p:sp>
      <p:sp>
        <p:nvSpPr>
          <p:cNvPr id="23" name="Rounded Rectangle 22">
            <a:hlinkClick action="ppaction://hlinksldjump" r:id="rId16"/>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4" name="Rounded Rectangle 23">
            <a:hlinkClick action="ppaction://hlinksldjump" r:id="rId17"/>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Market Dynamics &amp; Forces</a:t>
            </a:r>
          </a:p>
        </p:txBody>
      </p:sp>
      <p:sp>
        <p:nvSpPr>
          <p:cNvPr id="25" name="Rounded Rectangle 24">
            <a:hlinkClick action="ppaction://hlinksldjump" r:id="rId18"/>
          </p:cNvPr>
          <p:cNvSpPr/>
          <p:nvPr/>
        </p:nvSpPr>
        <p:spPr>
          <a:xfrm>
            <a:off x="6219825" y="401912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26" name="Rounded Rectangle 25">
            <a:hlinkClick action="ppaction://hlinksldjump" r:id="rId19"/>
          </p:cNvPr>
          <p:cNvSpPr/>
          <p:nvPr/>
        </p:nvSpPr>
        <p:spPr>
          <a:xfrm>
            <a:off x="6391275" y="458498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Competitive Landscape</a:t>
            </a:r>
          </a:p>
        </p:txBody>
      </p:sp>
      <p:sp>
        <p:nvSpPr>
          <p:cNvPr id="27" name="Rounded Rectangle 26">
            <a:hlinkClick action="ppaction://hlinksldjump" r:id="rId20"/>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Market Share by Leading Players</a:t>
            </a:r>
          </a:p>
        </p:txBody>
      </p:sp>
      <p:sp>
        <p:nvSpPr>
          <p:cNvPr id="28" name="Rounded Rectangle 27">
            <a:hlinkClick action="ppaction://hlinksldjump" r:id="rId21"/>
          </p:cNvPr>
          <p:cNvSpPr/>
          <p:nvPr/>
        </p:nvSpPr>
        <p:spPr>
          <a:xfrm>
            <a:off x="6391275" y="575322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Company Profiles &amp; Strategic Benchmarking</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Packaged Muffins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Packaged Muffins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Packaged Muffins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Packaged Muffins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182341" cy="186689"/>
          </a:xfrm>
          <a:prstGeom prst="rect">
            <a:avLst/>
          </a:prstGeom>
          <a:noFill/>
        </p:spPr>
        <p:txBody>
          <a:bodyPr wrap="none" lIns="0" rIns="0" tIns="0" bIns="0">
            <a:spAutoFit/>
          </a:bodyPr>
          <a:lstStyle/>
          <a:p>
            <a:r>
              <a:rPr sz="1100" b="0">
                <a:solidFill>
                  <a:srgbClr val="2E2E2E"/>
                </a:solidFill>
                <a:latin typeface="Calibri"/>
              </a:rPr>
              <a:t>Sweet muffins leads Product Type, at</a:t>
            </a:r>
          </a:p>
        </p:txBody>
      </p:sp>
      <p:pic>
        <p:nvPicPr>
          <p:cNvPr id="19" name="Picture 18" descr="lock.png"/>
          <p:cNvPicPr>
            <a:picLocks noChangeAspect="1"/>
          </p:cNvPicPr>
          <p:nvPr/>
        </p:nvPicPr>
        <p:blipFill>
          <a:blip r:embed="rId4"/>
          <a:stretch>
            <a:fillRect/>
          </a:stretch>
        </p:blipFill>
        <p:spPr>
          <a:xfrm>
            <a:off x="5915142" y="2792114"/>
            <a:ext cx="128699" cy="187198"/>
          </a:xfrm>
          <a:prstGeom prst="rect">
            <a:avLst/>
          </a:prstGeom>
        </p:spPr>
      </p:pic>
      <p:sp>
        <p:nvSpPr>
          <p:cNvPr id="20" name="TextBox 19"/>
          <p:cNvSpPr txBox="1"/>
          <p:nvPr/>
        </p:nvSpPr>
        <p:spPr>
          <a:xfrm>
            <a:off x="6082638" y="2801893"/>
            <a:ext cx="2314128" cy="186689"/>
          </a:xfrm>
          <a:prstGeom prst="rect">
            <a:avLst/>
          </a:prstGeom>
          <a:noFill/>
        </p:spPr>
        <p:txBody>
          <a:bodyPr wrap="none" lIns="0" rIns="0" tIns="0" bIns="0">
            <a:spAutoFit/>
          </a:bodyPr>
          <a:lstStyle/>
          <a:p>
            <a:r>
              <a:rPr sz="1100" b="0">
                <a:solidFill>
                  <a:srgbClr val="2E2E2E"/>
                </a:solidFill>
                <a:latin typeface="Calibri"/>
              </a:rPr>
              <a:t>of 2036 value, within a mix of 2 tracked</a:t>
            </a:r>
          </a:p>
        </p:txBody>
      </p:sp>
      <p:sp>
        <p:nvSpPr>
          <p:cNvPr id="21" name="TextBox 20"/>
          <p:cNvSpPr txBox="1"/>
          <p:nvPr/>
        </p:nvSpPr>
        <p:spPr>
          <a:xfrm>
            <a:off x="3784750" y="2969533"/>
            <a:ext cx="698574" cy="186689"/>
          </a:xfrm>
          <a:prstGeom prst="rect">
            <a:avLst/>
          </a:prstGeom>
          <a:noFill/>
        </p:spPr>
        <p:txBody>
          <a:bodyPr wrap="none" lIns="0" rIns="0" tIns="0" bIns="0">
            <a:spAutoFit/>
          </a:bodyPr>
          <a:lstStyle/>
          <a:p>
            <a:r>
              <a:rPr sz="1100" b="0">
                <a:solidFill>
                  <a:srgbClr val="2E2E2E"/>
                </a:solidFill>
                <a:latin typeface="Calibri"/>
              </a:rPr>
              <a:t>categories.</a:t>
            </a:r>
          </a:p>
        </p:txBody>
      </p:sp>
      <p:sp>
        <p:nvSpPr>
          <p:cNvPr id="22" name="TextBox 21"/>
          <p:cNvSpPr txBox="1"/>
          <p:nvPr/>
        </p:nvSpPr>
        <p:spPr>
          <a:xfrm>
            <a:off x="8785375" y="2885713"/>
            <a:ext cx="1292572" cy="186689"/>
          </a:xfrm>
          <a:prstGeom prst="rect">
            <a:avLst/>
          </a:prstGeom>
          <a:noFill/>
        </p:spPr>
        <p:txBody>
          <a:bodyPr wrap="none" lIns="0" rIns="0" tIns="0" bIns="0">
            <a:spAutoFit/>
          </a:bodyPr>
          <a:lstStyle/>
          <a:p>
            <a:r>
              <a:rPr sz="1100" b="0">
                <a:solidFill>
                  <a:srgbClr val="2E2E2E"/>
                </a:solidFill>
                <a:latin typeface="Calibri"/>
              </a:rPr>
              <a:t>Lead: Sweet muffins ·</a:t>
            </a:r>
          </a:p>
        </p:txBody>
      </p:sp>
      <p:pic>
        <p:nvPicPr>
          <p:cNvPr id="23" name="Picture 22" descr="lock.png"/>
          <p:cNvPicPr>
            <a:picLocks noChangeAspect="1"/>
          </p:cNvPicPr>
          <p:nvPr/>
        </p:nvPicPr>
        <p:blipFill>
          <a:blip r:embed="rId4"/>
          <a:stretch>
            <a:fillRect/>
          </a:stretch>
        </p:blipFill>
        <p:spPr>
          <a:xfrm>
            <a:off x="10025998" y="2875934"/>
            <a:ext cx="128699" cy="187198"/>
          </a:xfrm>
          <a:prstGeom prst="rect">
            <a:avLst/>
          </a:prstGeom>
        </p:spPr>
      </p:pic>
      <p:sp>
        <p:nvSpPr>
          <p:cNvPr id="24" name="TextBox 23"/>
          <p:cNvSpPr txBox="1"/>
          <p:nvPr/>
        </p:nvSpPr>
        <p:spPr>
          <a:xfrm>
            <a:off x="10193494"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4484087" cy="186689"/>
          </a:xfrm>
          <a:prstGeom prst="rect">
            <a:avLst/>
          </a:prstGeom>
          <a:noFill/>
        </p:spPr>
        <p:txBody>
          <a:bodyPr wrap="none" lIns="0" rIns="0" tIns="0" bIns="0">
            <a:spAutoFit/>
          </a:bodyPr>
          <a:lstStyle/>
          <a:p>
            <a:r>
              <a:rPr sz="1100" b="0">
                <a:solidFill>
                  <a:srgbClr val="2E2E2E"/>
                </a:solidFill>
                <a:latin typeface="Calibri"/>
              </a:rPr>
              <a:t>Foodservice and institutional is the fastest-growing part of Sales Channel, at a</a:t>
            </a:r>
          </a:p>
        </p:txBody>
      </p:sp>
      <p:pic>
        <p:nvPicPr>
          <p:cNvPr id="26" name="Picture 25" descr="lock.png"/>
          <p:cNvPicPr>
            <a:picLocks noChangeAspect="1"/>
          </p:cNvPicPr>
          <p:nvPr/>
        </p:nvPicPr>
        <p:blipFill>
          <a:blip r:embed="rId4"/>
          <a:stretch>
            <a:fillRect/>
          </a:stretch>
        </p:blipFill>
        <p:spPr>
          <a:xfrm>
            <a:off x="8216888" y="3832575"/>
            <a:ext cx="128699" cy="187198"/>
          </a:xfrm>
          <a:prstGeom prst="rect">
            <a:avLst/>
          </a:prstGeom>
        </p:spPr>
      </p:pic>
      <p:sp>
        <p:nvSpPr>
          <p:cNvPr id="27" name="TextBox 26"/>
          <p:cNvSpPr txBox="1"/>
          <p:nvPr/>
        </p:nvSpPr>
        <p:spPr>
          <a:xfrm>
            <a:off x="3784750" y="4009994"/>
            <a:ext cx="2537031" cy="186689"/>
          </a:xfrm>
          <a:prstGeom prst="rect">
            <a:avLst/>
          </a:prstGeom>
          <a:noFill/>
        </p:spPr>
        <p:txBody>
          <a:bodyPr wrap="none" lIns="0" rIns="0" tIns="0" bIns="0">
            <a:spAutoFit/>
          </a:bodyPr>
          <a:lstStyle/>
          <a:p>
            <a:r>
              <a:rPr sz="1100" b="0">
                <a:solidFill>
                  <a:srgbClr val="2E2E2E"/>
                </a:solidFill>
                <a:latin typeface="Calibri"/>
              </a:rPr>
              <a:t>forecast CAGR outpacing the wider market.</a:t>
            </a:r>
          </a:p>
        </p:txBody>
      </p:sp>
      <p:sp>
        <p:nvSpPr>
          <p:cNvPr id="28" name="TextBox 27"/>
          <p:cNvSpPr txBox="1"/>
          <p:nvPr/>
        </p:nvSpPr>
        <p:spPr>
          <a:xfrm>
            <a:off x="8785375" y="3926174"/>
            <a:ext cx="2259195" cy="186689"/>
          </a:xfrm>
          <a:prstGeom prst="rect">
            <a:avLst/>
          </a:prstGeom>
          <a:noFill/>
        </p:spPr>
        <p:txBody>
          <a:bodyPr wrap="none" lIns="0" rIns="0" tIns="0" bIns="0">
            <a:spAutoFit/>
          </a:bodyPr>
          <a:lstStyle/>
          <a:p>
            <a:r>
              <a:rPr sz="1100" b="0">
                <a:solidFill>
                  <a:srgbClr val="2E2E2E"/>
                </a:solidFill>
                <a:latin typeface="Calibri"/>
              </a:rPr>
              <a:t>Fastest: Foodservice and institutional ·</a:t>
            </a:r>
          </a:p>
        </p:txBody>
      </p:sp>
      <p:pic>
        <p:nvPicPr>
          <p:cNvPr id="29" name="Picture 28" descr="lock.png"/>
          <p:cNvPicPr>
            <a:picLocks noChangeAspect="1"/>
          </p:cNvPicPr>
          <p:nvPr/>
        </p:nvPicPr>
        <p:blipFill>
          <a:blip r:embed="rId4"/>
          <a:stretch>
            <a:fillRect/>
          </a:stretch>
        </p:blipFill>
        <p:spPr>
          <a:xfrm>
            <a:off x="10992622" y="3916395"/>
            <a:ext cx="128699" cy="187198"/>
          </a:xfrm>
          <a:prstGeom prst="rect">
            <a:avLst/>
          </a:prstGeom>
        </p:spPr>
      </p:pic>
      <p:sp>
        <p:nvSpPr>
          <p:cNvPr id="30" name="TextBox 29"/>
          <p:cNvSpPr txBox="1"/>
          <p:nvPr/>
        </p:nvSpPr>
        <p:spPr>
          <a:xfrm>
            <a:off x="1116011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1" name="TextBox 30"/>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2" name="Picture 31" descr="lock.png"/>
          <p:cNvPicPr>
            <a:picLocks noChangeAspect="1"/>
          </p:cNvPicPr>
          <p:nvPr/>
        </p:nvPicPr>
        <p:blipFill>
          <a:blip r:embed="rId4"/>
          <a:stretch>
            <a:fillRect/>
          </a:stretch>
        </p:blipFill>
        <p:spPr>
          <a:xfrm>
            <a:off x="6406275" y="4873036"/>
            <a:ext cx="128699" cy="187198"/>
          </a:xfrm>
          <a:prstGeom prst="rect">
            <a:avLst/>
          </a:prstGeom>
        </p:spPr>
      </p:pic>
      <p:sp>
        <p:nvSpPr>
          <p:cNvPr id="33" name="TextBox 32"/>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4" name="TextBox 33"/>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5" name="Picture 34" descr="lock.png"/>
          <p:cNvPicPr>
            <a:picLocks noChangeAspect="1"/>
          </p:cNvPicPr>
          <p:nvPr/>
        </p:nvPicPr>
        <p:blipFill>
          <a:blip r:embed="rId4"/>
          <a:stretch>
            <a:fillRect/>
          </a:stretch>
        </p:blipFill>
        <p:spPr>
          <a:xfrm>
            <a:off x="5106956" y="5040676"/>
            <a:ext cx="128699" cy="187198"/>
          </a:xfrm>
          <a:prstGeom prst="rect">
            <a:avLst/>
          </a:prstGeom>
        </p:spPr>
      </p:pic>
      <p:sp>
        <p:nvSpPr>
          <p:cNvPr id="36" name="TextBox 35"/>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8" name="Picture 37" descr="lock.png"/>
          <p:cNvPicPr>
            <a:picLocks noChangeAspect="1"/>
          </p:cNvPicPr>
          <p:nvPr/>
        </p:nvPicPr>
        <p:blipFill>
          <a:blip r:embed="rId4"/>
          <a:stretch>
            <a:fillRect/>
          </a:stretch>
        </p:blipFill>
        <p:spPr>
          <a:xfrm>
            <a:off x="10197622" y="4873036"/>
            <a:ext cx="128699" cy="187198"/>
          </a:xfrm>
          <a:prstGeom prst="rect">
            <a:avLst/>
          </a:prstGeom>
        </p:spPr>
      </p:pic>
      <p:sp>
        <p:nvSpPr>
          <p:cNvPr id="39" name="TextBox 38"/>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0" name="TextBox 39"/>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1" name="Picture 40" descr="lock.png"/>
          <p:cNvPicPr>
            <a:picLocks noChangeAspect="1"/>
          </p:cNvPicPr>
          <p:nvPr/>
        </p:nvPicPr>
        <p:blipFill>
          <a:blip r:embed="rId4"/>
          <a:stretch>
            <a:fillRect/>
          </a:stretch>
        </p:blipFill>
        <p:spPr>
          <a:xfrm>
            <a:off x="9248099" y="5040676"/>
            <a:ext cx="128699" cy="187198"/>
          </a:xfrm>
          <a:prstGeom prst="rect">
            <a:avLst/>
          </a:prstGeom>
        </p:spPr>
      </p:pic>
      <p:sp>
        <p:nvSpPr>
          <p:cNvPr id="42" name="TextBox 41"/>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3" name="TextBox 42"/>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4" name="Picture 43" descr="lock.png"/>
          <p:cNvPicPr>
            <a:picLocks noChangeAspect="1"/>
          </p:cNvPicPr>
          <p:nvPr/>
        </p:nvPicPr>
        <p:blipFill>
          <a:blip r:embed="rId4"/>
          <a:stretch>
            <a:fillRect/>
          </a:stretch>
        </p:blipFill>
        <p:spPr>
          <a:xfrm>
            <a:off x="4678579" y="5913497"/>
            <a:ext cx="128699" cy="187198"/>
          </a:xfrm>
          <a:prstGeom prst="rect">
            <a:avLst/>
          </a:prstGeom>
        </p:spPr>
      </p:pic>
      <p:sp>
        <p:nvSpPr>
          <p:cNvPr id="45" name="TextBox 44"/>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6" name="TextBox 45"/>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7" name="TextBox 46"/>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8" name="Picture 47" descr="lock.png"/>
          <p:cNvPicPr>
            <a:picLocks noChangeAspect="1"/>
          </p:cNvPicPr>
          <p:nvPr/>
        </p:nvPicPr>
        <p:blipFill>
          <a:blip r:embed="rId4"/>
          <a:stretch>
            <a:fillRect/>
          </a:stretch>
        </p:blipFill>
        <p:spPr>
          <a:xfrm>
            <a:off x="9591346" y="5997317"/>
            <a:ext cx="128699" cy="187198"/>
          </a:xfrm>
          <a:prstGeom prst="rect">
            <a:avLst/>
          </a:prstGeom>
        </p:spPr>
      </p:pic>
      <p:sp>
        <p:nvSpPr>
          <p:cNvPr id="49" name="TextBox 48"/>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0" name="Picture 49" descr="lock.png"/>
          <p:cNvPicPr>
            <a:picLocks noChangeAspect="1"/>
          </p:cNvPicPr>
          <p:nvPr/>
        </p:nvPicPr>
        <p:blipFill>
          <a:blip r:embed="rId4"/>
          <a:stretch>
            <a:fillRect/>
          </a:stretch>
        </p:blipFill>
        <p:spPr>
          <a:xfrm>
            <a:off x="11052672" y="5997317"/>
            <a:ext cx="128699" cy="187198"/>
          </a:xfrm>
          <a:prstGeom prst="rect">
            <a:avLst/>
          </a:prstGeom>
        </p:spPr>
      </p:pic>
      <p:sp>
        <p:nvSpPr>
          <p:cNvPr id="51" name="TextBox 50"/>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4" name="Rounded Rectangle 53"/>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Packaged Muffins Market</a:t>
            </a:r>
          </a:p>
        </p:txBody>
      </p:sp>
      <p:sp>
        <p:nvSpPr>
          <p:cNvPr id="55" name="Rounded Rectangle 54"/>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6" name="Rounded Rectangle 55"/>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7" name="Rounded Rectangle 56"/>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8" name="Rounded Rectangle 57"/>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59" name="Rounded Rectangle 58"/>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0" name="Rounded Rectangle 59"/>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1" name="Rounded Rectangle 60"/>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LATAM</a:t>
            </a:r>
          </a:p>
        </p:txBody>
      </p:sp>
      <p:sp>
        <p:nvSpPr>
          <p:cNvPr id="62" name="Rounded Rectangle 61"/>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3" name="Rounded Rectangle 62"/>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4" name="Rounded Rectangle 63"/>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5" name="Rounded Rectangle 64"/>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6" name="Rounded Rectangle 65"/>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7" name="Rounded Rectangle 66"/>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68" name="Rounded Rectangle 67"/>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69" name="Rounded Rectangle 68"/>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0" name="Rounded Rectangle 69"/>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1" name="Rounded Rectangle 70"/>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2" name="Rounded Rectangle 71"/>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3" name="Rounded Rectangle 72"/>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5" name="Rounded Rectangle 74"/>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6" name="Rounded Rectangle 75"/>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7" name="Rounded Rectangle 76"/>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78" name="Rounded Rectangle 77"/>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79" name="Rounded Rectangle 78"/>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0" name="Rounded Rectangle 79"/>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1" name="Rounded Rectangle 80"/>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2" name="Rounded Rectangle 81"/>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3" name="Rounded Rectangle 82"/>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4" name="Rounded Rectangle 83"/>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5" name="Rounded Rectangle 84"/>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6" name="Rounded Rectangle 85"/>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7" name="Rounded Rectangle 86"/>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88" name="Rounded Rectangle 87"/>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East Asia</a:t>
            </a:r>
          </a:p>
        </p:txBody>
      </p:sp>
      <p:sp>
        <p:nvSpPr>
          <p:cNvPr id="89" name="Rounded Rectangle 88"/>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0" name="Rounded Rectangle 89"/>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1" name="Rounded Rectangle 90"/>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2" name="Rounded Rectangle 91"/>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3" name="Rounded Rectangle 92"/>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4" name="Rounded Rectangle 93"/>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5" name="Rounded Rectangle 94"/>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6" name="Rounded Rectangle 95"/>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7" name="TextBox 9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muffins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 and cocoa muffins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 muffins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vanilla muffins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Spice-flavoured muffins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sweet muffins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muffins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 muffins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Meat-containing muffins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 muffins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savoury muffins</a:t>
            </a:r>
          </a:p>
        </p:txBody>
      </p:sp>
      <p:sp>
        <p:nvSpPr>
          <p:cNvPr id="51" name="Rectangle 50"/>
          <p:cNvSpPr/>
          <p:nvPr/>
        </p:nvSpPr>
        <p:spPr>
          <a:xfrm>
            <a:off x="142875" y="367474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142875" y="367474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19075" y="367474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Individual Muffin Size</a:t>
            </a:r>
          </a:p>
        </p:txBody>
      </p:sp>
      <p:sp>
        <p:nvSpPr>
          <p:cNvPr id="54" name="TextBox 53"/>
          <p:cNvSpPr txBox="1"/>
          <p:nvPr/>
        </p:nvSpPr>
        <p:spPr>
          <a:xfrm>
            <a:off x="20002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90525" y="3903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cxnSp>
        <p:nvCxnSpPr>
          <p:cNvPr id="56" name="Connector 55"/>
          <p:cNvCxnSpPr/>
          <p:nvPr/>
        </p:nvCxnSpPr>
        <p:spPr>
          <a:xfrm>
            <a:off x="1524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000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90525" y="4080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cxnSp>
        <p:nvCxnSpPr>
          <p:cNvPr id="59" name="Connector 58"/>
          <p:cNvCxnSpPr/>
          <p:nvPr/>
        </p:nvCxnSpPr>
        <p:spPr>
          <a:xfrm>
            <a:off x="1524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20002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90525" y="4257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cxnSp>
        <p:nvCxnSpPr>
          <p:cNvPr id="62" name="Connector 61"/>
          <p:cNvCxnSpPr/>
          <p:nvPr/>
        </p:nvCxnSpPr>
        <p:spPr>
          <a:xfrm>
            <a:off x="1524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00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90525" y="4434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65" name="Rectangle 64"/>
          <p:cNvSpPr/>
          <p:nvPr/>
        </p:nvSpPr>
        <p:spPr>
          <a:xfrm>
            <a:off x="142875" y="4726305"/>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42875" y="47263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19075" y="47263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Storage Format</a:t>
            </a:r>
          </a:p>
        </p:txBody>
      </p:sp>
      <p:sp>
        <p:nvSpPr>
          <p:cNvPr id="68" name="TextBox 67"/>
          <p:cNvSpPr txBox="1"/>
          <p:nvPr/>
        </p:nvSpPr>
        <p:spPr>
          <a:xfrm>
            <a:off x="200025" y="49549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90525" y="49549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cxnSp>
        <p:nvCxnSpPr>
          <p:cNvPr id="70" name="Connector 69"/>
          <p:cNvCxnSpPr/>
          <p:nvPr/>
        </p:nvCxnSpPr>
        <p:spPr>
          <a:xfrm>
            <a:off x="152400" y="51320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200025" y="51320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90525" y="51320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cxnSp>
        <p:nvCxnSpPr>
          <p:cNvPr id="73" name="Connector 72"/>
          <p:cNvCxnSpPr/>
          <p:nvPr/>
        </p:nvCxnSpPr>
        <p:spPr>
          <a:xfrm>
            <a:off x="152400" y="53092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200025" y="53092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390525" y="53092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76" name="Rectangle 75"/>
          <p:cNvSpPr/>
          <p:nvPr/>
        </p:nvSpPr>
        <p:spPr>
          <a:xfrm>
            <a:off x="31527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Flavour</a:t>
            </a:r>
          </a:p>
        </p:txBody>
      </p:sp>
      <p:sp>
        <p:nvSpPr>
          <p:cNvPr id="79" name="TextBox 78"/>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Sweet Muffins Flavours</a:t>
            </a:r>
          </a:p>
        </p:txBody>
      </p:sp>
      <p:cxnSp>
        <p:nvCxnSpPr>
          <p:cNvPr id="81" name="Connector 80"/>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Fruit-based</a:t>
            </a:r>
          </a:p>
        </p:txBody>
      </p:sp>
      <p:cxnSp>
        <p:nvCxnSpPr>
          <p:cNvPr id="84" name="Connector 83"/>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Chocolate-based</a:t>
            </a:r>
          </a:p>
        </p:txBody>
      </p:sp>
      <p:cxnSp>
        <p:nvCxnSpPr>
          <p:cNvPr id="87" name="Connector 86"/>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seed-based</a:t>
            </a:r>
          </a:p>
        </p:txBody>
      </p:sp>
      <p:cxnSp>
        <p:nvCxnSpPr>
          <p:cNvPr id="90" name="Connector 89"/>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and classic</a:t>
            </a:r>
          </a:p>
        </p:txBody>
      </p:sp>
      <p:cxnSp>
        <p:nvCxnSpPr>
          <p:cNvPr id="93" name="Connector 92"/>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Spice and dessert-inspired</a:t>
            </a:r>
          </a:p>
        </p:txBody>
      </p:sp>
      <p:cxnSp>
        <p:nvCxnSpPr>
          <p:cNvPr id="96" name="Connector 95"/>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Savoury Muffins Flavours</a:t>
            </a:r>
          </a:p>
        </p:txBody>
      </p:sp>
      <p:cxnSp>
        <p:nvCxnSpPr>
          <p:cNvPr id="99" name="Connector 98"/>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Cheese-based</a:t>
            </a:r>
          </a:p>
        </p:txBody>
      </p:sp>
      <p:cxnSp>
        <p:nvCxnSpPr>
          <p:cNvPr id="102" name="Connector 101"/>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4" name="TextBox 103"/>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Vegetable-based</a:t>
            </a:r>
          </a:p>
        </p:txBody>
      </p:sp>
      <p:cxnSp>
        <p:nvCxnSpPr>
          <p:cNvPr id="105" name="Connector 104"/>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6" name="TextBox 105"/>
          <p:cNvSpPr txBox="1"/>
          <p:nvPr/>
        </p:nvSpPr>
        <p:spPr>
          <a:xfrm>
            <a:off x="33813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7" name="TextBox 106"/>
          <p:cNvSpPr txBox="1"/>
          <p:nvPr/>
        </p:nvSpPr>
        <p:spPr>
          <a:xfrm>
            <a:off x="35718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Meat-based</a:t>
            </a:r>
          </a:p>
        </p:txBody>
      </p:sp>
      <p:cxnSp>
        <p:nvCxnSpPr>
          <p:cNvPr id="108" name="Connector 107"/>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9" name="TextBox 108"/>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Herb and spice-based</a:t>
            </a:r>
          </a:p>
        </p:txBody>
      </p:sp>
      <p:sp>
        <p:nvSpPr>
          <p:cNvPr id="111" name="Rectangle 110"/>
          <p:cNvSpPr/>
          <p:nvPr/>
        </p:nvSpPr>
        <p:spPr>
          <a:xfrm>
            <a:off x="3152775" y="3320415"/>
            <a:ext cx="2876550" cy="182308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3152775" y="33204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228975" y="33204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Structure</a:t>
            </a:r>
          </a:p>
        </p:txBody>
      </p:sp>
      <p:sp>
        <p:nvSpPr>
          <p:cNvPr id="114" name="TextBox 113"/>
          <p:cNvSpPr txBox="1"/>
          <p:nvPr/>
        </p:nvSpPr>
        <p:spPr>
          <a:xfrm>
            <a:off x="32099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34004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Unfilled muffins</a:t>
            </a:r>
          </a:p>
        </p:txBody>
      </p:sp>
      <p:cxnSp>
        <p:nvCxnSpPr>
          <p:cNvPr id="116" name="Connector 115"/>
          <p:cNvCxnSpPr/>
          <p:nvPr/>
        </p:nvCxnSpPr>
        <p:spPr>
          <a:xfrm>
            <a:off x="31623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33813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8" name="TextBox 117"/>
          <p:cNvSpPr txBox="1"/>
          <p:nvPr/>
        </p:nvSpPr>
        <p:spPr>
          <a:xfrm>
            <a:off x="35718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Plain batter</a:t>
            </a:r>
          </a:p>
        </p:txBody>
      </p:sp>
      <p:cxnSp>
        <p:nvCxnSpPr>
          <p:cNvPr id="119" name="Connector 118"/>
          <p:cNvCxnSpPr/>
          <p:nvPr/>
        </p:nvCxnSpPr>
        <p:spPr>
          <a:xfrm>
            <a:off x="31623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33813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35718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Batter with inclusions</a:t>
            </a:r>
          </a:p>
        </p:txBody>
      </p:sp>
      <p:cxnSp>
        <p:nvCxnSpPr>
          <p:cNvPr id="122" name="Connector 121"/>
          <p:cNvCxnSpPr/>
          <p:nvPr/>
        </p:nvCxnSpPr>
        <p:spPr>
          <a:xfrm>
            <a:off x="31623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32099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4" name="TextBox 123"/>
          <p:cNvSpPr txBox="1"/>
          <p:nvPr/>
        </p:nvSpPr>
        <p:spPr>
          <a:xfrm>
            <a:off x="34004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Filled muffins</a:t>
            </a:r>
          </a:p>
        </p:txBody>
      </p:sp>
      <p:cxnSp>
        <p:nvCxnSpPr>
          <p:cNvPr id="125" name="Connector 124"/>
          <p:cNvCxnSpPr/>
          <p:nvPr/>
        </p:nvCxnSpPr>
        <p:spPr>
          <a:xfrm>
            <a:off x="31623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33813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7" name="TextBox 126"/>
          <p:cNvSpPr txBox="1"/>
          <p:nvPr/>
        </p:nvSpPr>
        <p:spPr>
          <a:xfrm>
            <a:off x="35718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Fruit and jam-filled</a:t>
            </a:r>
          </a:p>
        </p:txBody>
      </p:sp>
      <p:cxnSp>
        <p:nvCxnSpPr>
          <p:cNvPr id="128" name="Connector 127"/>
          <p:cNvCxnSpPr/>
          <p:nvPr/>
        </p:nvCxnSpPr>
        <p:spPr>
          <a:xfrm>
            <a:off x="31623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33813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0" name="TextBox 129"/>
          <p:cNvSpPr txBox="1"/>
          <p:nvPr/>
        </p:nvSpPr>
        <p:spPr>
          <a:xfrm>
            <a:off x="35718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Chocolate-filled</a:t>
            </a:r>
          </a:p>
        </p:txBody>
      </p:sp>
      <p:cxnSp>
        <p:nvCxnSpPr>
          <p:cNvPr id="131" name="Connector 130"/>
          <p:cNvCxnSpPr/>
          <p:nvPr/>
        </p:nvCxnSpPr>
        <p:spPr>
          <a:xfrm>
            <a:off x="31623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33813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3" name="TextBox 132"/>
          <p:cNvSpPr txBox="1"/>
          <p:nvPr/>
        </p:nvSpPr>
        <p:spPr>
          <a:xfrm>
            <a:off x="35718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Cream and custard-filled</a:t>
            </a:r>
          </a:p>
        </p:txBody>
      </p:sp>
      <p:cxnSp>
        <p:nvCxnSpPr>
          <p:cNvPr id="134" name="Connector 133"/>
          <p:cNvCxnSpPr/>
          <p:nvPr/>
        </p:nvCxnSpPr>
        <p:spPr>
          <a:xfrm>
            <a:off x="31623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5" name="TextBox 134"/>
          <p:cNvSpPr txBox="1"/>
          <p:nvPr/>
        </p:nvSpPr>
        <p:spPr>
          <a:xfrm>
            <a:off x="33813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6" name="TextBox 135"/>
          <p:cNvSpPr txBox="1"/>
          <p:nvPr/>
        </p:nvSpPr>
        <p:spPr>
          <a:xfrm>
            <a:off x="35718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 butter-filled</a:t>
            </a:r>
          </a:p>
        </p:txBody>
      </p:sp>
      <p:cxnSp>
        <p:nvCxnSpPr>
          <p:cNvPr id="137" name="Connector 136"/>
          <p:cNvCxnSpPr/>
          <p:nvPr/>
        </p:nvCxnSpPr>
        <p:spPr>
          <a:xfrm>
            <a:off x="31623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8" name="TextBox 137"/>
          <p:cNvSpPr txBox="1"/>
          <p:nvPr/>
        </p:nvSpPr>
        <p:spPr>
          <a:xfrm>
            <a:off x="33813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9" name="TextBox 138"/>
          <p:cNvSpPr txBox="1"/>
          <p:nvPr/>
        </p:nvSpPr>
        <p:spPr>
          <a:xfrm>
            <a:off x="35718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Cheese and savoury-filled</a:t>
            </a:r>
          </a:p>
        </p:txBody>
      </p:sp>
      <p:sp>
        <p:nvSpPr>
          <p:cNvPr id="140" name="Rectangle 139"/>
          <p:cNvSpPr/>
          <p:nvPr/>
        </p:nvSpPr>
        <p:spPr>
          <a:xfrm>
            <a:off x="6162675" y="1028700"/>
            <a:ext cx="2876550" cy="200025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Primary Flour Base</a:t>
            </a:r>
          </a:p>
        </p:txBody>
      </p:sp>
      <p:sp>
        <p:nvSpPr>
          <p:cNvPr id="143" name="TextBox 142"/>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Wheat-based</a:t>
            </a:r>
          </a:p>
        </p:txBody>
      </p:sp>
      <p:cxnSp>
        <p:nvCxnSpPr>
          <p:cNvPr id="145" name="Connector 144"/>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Refined wheat</a:t>
            </a:r>
          </a:p>
        </p:txBody>
      </p:sp>
      <p:cxnSp>
        <p:nvCxnSpPr>
          <p:cNvPr id="148" name="Connector 147"/>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Whole wheat</a:t>
            </a:r>
          </a:p>
        </p:txBody>
      </p:sp>
      <p:cxnSp>
        <p:nvCxnSpPr>
          <p:cNvPr id="151" name="Connector 150"/>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62198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64103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Oat-based</a:t>
            </a:r>
          </a:p>
        </p:txBody>
      </p:sp>
      <p:cxnSp>
        <p:nvCxnSpPr>
          <p:cNvPr id="154" name="Connector 153"/>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Rice-based</a:t>
            </a:r>
          </a:p>
        </p:txBody>
      </p:sp>
      <p:cxnSp>
        <p:nvCxnSpPr>
          <p:cNvPr id="157" name="Connector 156"/>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Corn-based</a:t>
            </a:r>
          </a:p>
        </p:txBody>
      </p:sp>
      <p:cxnSp>
        <p:nvCxnSpPr>
          <p:cNvPr id="160" name="Connector 159"/>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62198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64103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Millet-based</a:t>
            </a:r>
          </a:p>
        </p:txBody>
      </p:sp>
      <p:cxnSp>
        <p:nvCxnSpPr>
          <p:cNvPr id="163" name="Connector 162"/>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62198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64103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Almond and other nut flour-based</a:t>
            </a:r>
          </a:p>
        </p:txBody>
      </p:sp>
      <p:cxnSp>
        <p:nvCxnSpPr>
          <p:cNvPr id="166" name="Connector 165"/>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621982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6410325" y="267462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single-flour bases</a:t>
            </a:r>
          </a:p>
        </p:txBody>
      </p:sp>
      <p:cxnSp>
        <p:nvCxnSpPr>
          <p:cNvPr id="169" name="Connector 168"/>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Multigrain and blended flour bases</a:t>
            </a:r>
          </a:p>
        </p:txBody>
      </p:sp>
      <p:sp>
        <p:nvSpPr>
          <p:cNvPr id="172" name="Rectangle 171"/>
          <p:cNvSpPr/>
          <p:nvPr/>
        </p:nvSpPr>
        <p:spPr>
          <a:xfrm>
            <a:off x="6162675" y="314325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6162675" y="314325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6238875" y="314325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Recipe and Ingredient Claims</a:t>
            </a:r>
          </a:p>
        </p:txBody>
      </p:sp>
      <p:sp>
        <p:nvSpPr>
          <p:cNvPr id="175" name="TextBox 174"/>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Organic-certified</a:t>
            </a:r>
          </a:p>
        </p:txBody>
      </p:sp>
      <p:cxnSp>
        <p:nvCxnSpPr>
          <p:cNvPr id="177" name="Connector 176"/>
          <p:cNvCxnSpPr/>
          <p:nvPr/>
        </p:nvCxnSpPr>
        <p:spPr>
          <a:xfrm>
            <a:off x="61722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5490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 non-organic</a:t>
            </a:r>
          </a:p>
        </p:txBody>
      </p:sp>
      <p:cxnSp>
        <p:nvCxnSpPr>
          <p:cNvPr id="180" name="Connector 179"/>
          <p:cNvCxnSpPr/>
          <p:nvPr/>
        </p:nvCxnSpPr>
        <p:spPr>
          <a:xfrm>
            <a:off x="61722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7261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Additional claim mapping</a:t>
            </a:r>
          </a:p>
        </p:txBody>
      </p:sp>
      <p:cxnSp>
        <p:nvCxnSpPr>
          <p:cNvPr id="183" name="Connector 182"/>
          <p:cNvCxnSpPr/>
          <p:nvPr/>
        </p:nvCxnSpPr>
        <p:spPr>
          <a:xfrm>
            <a:off x="61722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3912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5817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Clean-label positioning</a:t>
            </a:r>
          </a:p>
        </p:txBody>
      </p:sp>
      <p:cxnSp>
        <p:nvCxnSpPr>
          <p:cNvPr id="186" name="Connector 185"/>
          <p:cNvCxnSpPr/>
          <p:nvPr/>
        </p:nvCxnSpPr>
        <p:spPr>
          <a:xfrm>
            <a:off x="61722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40805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colours</a:t>
            </a:r>
          </a:p>
        </p:txBody>
      </p:sp>
      <p:cxnSp>
        <p:nvCxnSpPr>
          <p:cNvPr id="189" name="Connector 188"/>
          <p:cNvCxnSpPr/>
          <p:nvPr/>
        </p:nvCxnSpPr>
        <p:spPr>
          <a:xfrm>
            <a:off x="61722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flavours</a:t>
            </a:r>
          </a:p>
        </p:txBody>
      </p:sp>
      <p:cxnSp>
        <p:nvCxnSpPr>
          <p:cNvPr id="192" name="Connector 191"/>
          <p:cNvCxnSpPr/>
          <p:nvPr/>
        </p:nvCxnSpPr>
        <p:spPr>
          <a:xfrm>
            <a:off x="61722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 artificial preservatives</a:t>
            </a:r>
          </a:p>
        </p:txBody>
      </p:sp>
      <p:cxnSp>
        <p:nvCxnSpPr>
          <p:cNvPr id="195" name="Connector 194"/>
          <p:cNvCxnSpPr/>
          <p:nvPr/>
        </p:nvCxnSpPr>
        <p:spPr>
          <a:xfrm>
            <a:off x="61722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6" name="TextBox 195"/>
          <p:cNvSpPr txBox="1"/>
          <p:nvPr/>
        </p:nvSpPr>
        <p:spPr>
          <a:xfrm>
            <a:off x="63912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7" name="TextBox 196"/>
          <p:cNvSpPr txBox="1"/>
          <p:nvPr/>
        </p:nvSpPr>
        <p:spPr>
          <a:xfrm>
            <a:off x="65817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Non-GMO</a:t>
            </a:r>
          </a:p>
        </p:txBody>
      </p:sp>
      <p:cxnSp>
        <p:nvCxnSpPr>
          <p:cNvPr id="198" name="Connector 197"/>
          <p:cNvCxnSpPr/>
          <p:nvPr/>
        </p:nvCxnSpPr>
        <p:spPr>
          <a:xfrm>
            <a:off x="61722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9" name="TextBox 198"/>
          <p:cNvSpPr txBox="1"/>
          <p:nvPr/>
        </p:nvSpPr>
        <p:spPr>
          <a:xfrm>
            <a:off x="63912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0" name="TextBox 199"/>
          <p:cNvSpPr txBox="1"/>
          <p:nvPr/>
        </p:nvSpPr>
        <p:spPr>
          <a:xfrm>
            <a:off x="65817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Dairy-free</a:t>
            </a:r>
          </a:p>
        </p:txBody>
      </p:sp>
      <p:cxnSp>
        <p:nvCxnSpPr>
          <p:cNvPr id="201" name="Connector 200"/>
          <p:cNvCxnSpPr/>
          <p:nvPr/>
        </p:nvCxnSpPr>
        <p:spPr>
          <a:xfrm>
            <a:off x="61722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2" name="TextBox 201"/>
          <p:cNvSpPr txBox="1"/>
          <p:nvPr/>
        </p:nvSpPr>
        <p:spPr>
          <a:xfrm>
            <a:off x="63912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3" name="TextBox 202"/>
          <p:cNvSpPr txBox="1"/>
          <p:nvPr/>
        </p:nvSpPr>
        <p:spPr>
          <a:xfrm>
            <a:off x="65817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Egg-free</a:t>
            </a:r>
          </a:p>
        </p:txBody>
      </p:sp>
      <p:cxnSp>
        <p:nvCxnSpPr>
          <p:cNvPr id="204" name="Connector 203"/>
          <p:cNvCxnSpPr/>
          <p:nvPr/>
        </p:nvCxnSpPr>
        <p:spPr>
          <a:xfrm>
            <a:off x="61722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5" name="TextBox 204"/>
          <p:cNvSpPr txBox="1"/>
          <p:nvPr/>
        </p:nvSpPr>
        <p:spPr>
          <a:xfrm>
            <a:off x="63912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6" name="TextBox 205"/>
          <p:cNvSpPr txBox="1"/>
          <p:nvPr/>
        </p:nvSpPr>
        <p:spPr>
          <a:xfrm>
            <a:off x="65817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Nut-free</a:t>
            </a:r>
          </a:p>
        </p:txBody>
      </p:sp>
      <p:sp>
        <p:nvSpPr>
          <p:cNvPr id="207" name="Rectangle 206"/>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Dietary Formulation</a:t>
            </a:r>
          </a:p>
        </p:txBody>
      </p:sp>
      <p:sp>
        <p:nvSpPr>
          <p:cNvPr id="210" name="TextBox 209"/>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1" name="TextBox 210"/>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cxnSp>
        <p:nvCxnSpPr>
          <p:cNvPr id="212" name="Connector 211"/>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3" name="TextBox 212"/>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4" name="TextBox 213"/>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cxnSp>
        <p:nvCxnSpPr>
          <p:cNvPr id="215" name="Connector 214"/>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6" name="TextBox 215"/>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7" name="TextBox 216"/>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cxnSp>
        <p:nvCxnSpPr>
          <p:cNvPr id="218" name="Connector 217"/>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9" name="TextBox 218"/>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0" name="TextBox 219"/>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221" name="Rectangle 220"/>
          <p:cNvSpPr/>
          <p:nvPr/>
        </p:nvSpPr>
        <p:spPr>
          <a:xfrm>
            <a:off x="9172575" y="208026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TextBox 222"/>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Nutritional Positioning</a:t>
            </a:r>
          </a:p>
        </p:txBody>
      </p:sp>
      <p:sp>
        <p:nvSpPr>
          <p:cNvPr id="224" name="TextBox 223"/>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cxnSp>
        <p:nvCxnSpPr>
          <p:cNvPr id="226" name="Connector 225"/>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cxnSp>
        <p:nvCxnSpPr>
          <p:cNvPr id="229" name="Connector 228"/>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2297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4202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cxnSp>
        <p:nvCxnSpPr>
          <p:cNvPr id="232" name="Connector 231"/>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2297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4202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cxnSp>
        <p:nvCxnSpPr>
          <p:cNvPr id="235" name="Connector 234"/>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2297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4202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cxnSp>
        <p:nvCxnSpPr>
          <p:cNvPr id="238" name="Connector 237"/>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2297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4202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cxnSp>
        <p:nvCxnSpPr>
          <p:cNvPr id="241" name="Connector 240"/>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337185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244" name="Rectangle 243"/>
          <p:cNvSpPr/>
          <p:nvPr/>
        </p:nvSpPr>
        <p:spPr>
          <a:xfrm>
            <a:off x="9172575" y="3663315"/>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9172575" y="366331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TextBox 245"/>
          <p:cNvSpPr txBox="1"/>
          <p:nvPr/>
        </p:nvSpPr>
        <p:spPr>
          <a:xfrm>
            <a:off x="9248775" y="366331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Surface Finish</a:t>
            </a:r>
          </a:p>
        </p:txBody>
      </p:sp>
      <p:sp>
        <p:nvSpPr>
          <p:cNvPr id="247" name="TextBox 246"/>
          <p:cNvSpPr txBox="1"/>
          <p:nvPr/>
        </p:nvSpPr>
        <p:spPr>
          <a:xfrm>
            <a:off x="9229725" y="38919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8" name="TextBox 247"/>
          <p:cNvSpPr txBox="1"/>
          <p:nvPr/>
        </p:nvSpPr>
        <p:spPr>
          <a:xfrm>
            <a:off x="9420225" y="389191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cxnSp>
        <p:nvCxnSpPr>
          <p:cNvPr id="249" name="Connector 248"/>
          <p:cNvCxnSpPr/>
          <p:nvPr/>
        </p:nvCxnSpPr>
        <p:spPr>
          <a:xfrm>
            <a:off x="9182100" y="40690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0" name="TextBox 249"/>
          <p:cNvSpPr txBox="1"/>
          <p:nvPr/>
        </p:nvSpPr>
        <p:spPr>
          <a:xfrm>
            <a:off x="9229725" y="40690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1" name="TextBox 250"/>
          <p:cNvSpPr txBox="1"/>
          <p:nvPr/>
        </p:nvSpPr>
        <p:spPr>
          <a:xfrm>
            <a:off x="9420225" y="40690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cxnSp>
        <p:nvCxnSpPr>
          <p:cNvPr id="252" name="Connector 251"/>
          <p:cNvCxnSpPr/>
          <p:nvPr/>
        </p:nvCxnSpPr>
        <p:spPr>
          <a:xfrm>
            <a:off x="9182100" y="42462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3" name="TextBox 252"/>
          <p:cNvSpPr txBox="1"/>
          <p:nvPr/>
        </p:nvSpPr>
        <p:spPr>
          <a:xfrm>
            <a:off x="9229725" y="42462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4" name="TextBox 253"/>
          <p:cNvSpPr txBox="1"/>
          <p:nvPr/>
        </p:nvSpPr>
        <p:spPr>
          <a:xfrm>
            <a:off x="9420225" y="42462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cxnSp>
        <p:nvCxnSpPr>
          <p:cNvPr id="255" name="Connector 254"/>
          <p:cNvCxnSpPr/>
          <p:nvPr/>
        </p:nvCxnSpPr>
        <p:spPr>
          <a:xfrm>
            <a:off x="9182100" y="44234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6" name="TextBox 255"/>
          <p:cNvSpPr txBox="1"/>
          <p:nvPr/>
        </p:nvSpPr>
        <p:spPr>
          <a:xfrm>
            <a:off x="9229725" y="44234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7" name="TextBox 256"/>
          <p:cNvSpPr txBox="1"/>
          <p:nvPr/>
        </p:nvSpPr>
        <p:spPr>
          <a:xfrm>
            <a:off x="9420225" y="44234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cxnSp>
        <p:nvCxnSpPr>
          <p:cNvPr id="258" name="Connector 257"/>
          <p:cNvCxnSpPr/>
          <p:nvPr/>
        </p:nvCxnSpPr>
        <p:spPr>
          <a:xfrm>
            <a:off x="9182100" y="46005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9" name="TextBox 258"/>
          <p:cNvSpPr txBox="1"/>
          <p:nvPr/>
        </p:nvSpPr>
        <p:spPr>
          <a:xfrm>
            <a:off x="9229725" y="46005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0" name="TextBox 259"/>
          <p:cNvSpPr txBox="1"/>
          <p:nvPr/>
        </p:nvSpPr>
        <p:spPr>
          <a:xfrm>
            <a:off x="9420225" y="46005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cxnSp>
        <p:nvCxnSpPr>
          <p:cNvPr id="261" name="Connector 260"/>
          <p:cNvCxnSpPr/>
          <p:nvPr/>
        </p:nvCxnSpPr>
        <p:spPr>
          <a:xfrm>
            <a:off x="9182100" y="47777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62" name="TextBox 261"/>
          <p:cNvSpPr txBox="1"/>
          <p:nvPr/>
        </p:nvSpPr>
        <p:spPr>
          <a:xfrm>
            <a:off x="9229725" y="47777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3" name="TextBox 262"/>
          <p:cNvSpPr txBox="1"/>
          <p:nvPr/>
        </p:nvSpPr>
        <p:spPr>
          <a:xfrm>
            <a:off x="9420225" y="47777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264" name="Rectangle 263"/>
          <p:cNvSpPr/>
          <p:nvPr/>
        </p:nvSpPr>
        <p:spPr>
          <a:xfrm>
            <a:off x="9172575" y="5069205"/>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9172575" y="506920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9248775" y="506920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Shelf Life</a:t>
            </a:r>
          </a:p>
        </p:txBody>
      </p:sp>
      <p:sp>
        <p:nvSpPr>
          <p:cNvPr id="267" name="TextBox 266"/>
          <p:cNvSpPr txBox="1"/>
          <p:nvPr/>
        </p:nvSpPr>
        <p:spPr>
          <a:xfrm>
            <a:off x="9229725" y="52978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8" name="TextBox 267"/>
          <p:cNvSpPr txBox="1"/>
          <p:nvPr/>
        </p:nvSpPr>
        <p:spPr>
          <a:xfrm>
            <a:off x="9420225" y="52978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cxnSp>
        <p:nvCxnSpPr>
          <p:cNvPr id="269" name="Connector 268"/>
          <p:cNvCxnSpPr/>
          <p:nvPr/>
        </p:nvCxnSpPr>
        <p:spPr>
          <a:xfrm>
            <a:off x="9182100" y="54749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0" name="TextBox 269"/>
          <p:cNvSpPr txBox="1"/>
          <p:nvPr/>
        </p:nvSpPr>
        <p:spPr>
          <a:xfrm>
            <a:off x="9229725" y="54749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1" name="TextBox 270"/>
          <p:cNvSpPr txBox="1"/>
          <p:nvPr/>
        </p:nvSpPr>
        <p:spPr>
          <a:xfrm>
            <a:off x="9420225" y="54749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cxnSp>
        <p:nvCxnSpPr>
          <p:cNvPr id="272" name="Connector 271"/>
          <p:cNvCxnSpPr/>
          <p:nvPr/>
        </p:nvCxnSpPr>
        <p:spPr>
          <a:xfrm>
            <a:off x="9182100" y="56521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3" name="TextBox 272"/>
          <p:cNvSpPr txBox="1"/>
          <p:nvPr/>
        </p:nvSpPr>
        <p:spPr>
          <a:xfrm>
            <a:off x="9229725" y="56521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4" name="TextBox 273"/>
          <p:cNvSpPr txBox="1"/>
          <p:nvPr/>
        </p:nvSpPr>
        <p:spPr>
          <a:xfrm>
            <a:off x="9420225" y="56521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cxnSp>
        <p:nvCxnSpPr>
          <p:cNvPr id="275" name="Connector 274"/>
          <p:cNvCxnSpPr/>
          <p:nvPr/>
        </p:nvCxnSpPr>
        <p:spPr>
          <a:xfrm>
            <a:off x="9182100" y="58293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229725" y="5829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77" name="TextBox 276"/>
          <p:cNvSpPr txBox="1"/>
          <p:nvPr/>
        </p:nvSpPr>
        <p:spPr>
          <a:xfrm>
            <a:off x="9420225" y="5829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278" name="TextBox 2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17 axes and the sub-segments sized under each</a:t>
            </a:r>
          </a:p>
        </p:txBody>
      </p:sp>
      <p:sp>
        <p:nvSpPr>
          <p:cNvPr id="10" name="Rectangle 9"/>
          <p:cNvSpPr/>
          <p:nvPr/>
        </p:nvSpPr>
        <p:spPr>
          <a:xfrm>
            <a:off x="142875" y="1028700"/>
            <a:ext cx="2876550" cy="217741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Packaging Format</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packs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Flow-wrap packs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Pouches and bags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Rigid plastic packs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Trays with sealed film</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Clamshell containers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Tubs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Paperboard packs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Cartons with inner wrapping</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Windowed cartons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2000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3905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packaging formats</a:t>
            </a:r>
          </a:p>
        </p:txBody>
      </p:sp>
      <p:sp>
        <p:nvSpPr>
          <p:cNvPr id="45" name="Rectangle 44"/>
          <p:cNvSpPr/>
          <p:nvPr/>
        </p:nvSpPr>
        <p:spPr>
          <a:xfrm>
            <a:off x="3152775" y="102870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 Configuration</a:t>
            </a:r>
          </a:p>
        </p:txBody>
      </p:sp>
      <p:sp>
        <p:nvSpPr>
          <p:cNvPr id="48" name="TextBox 4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9" name="TextBox 4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Single-muffin packs</a:t>
            </a:r>
          </a:p>
        </p:txBody>
      </p:sp>
      <p:cxnSp>
        <p:nvCxnSpPr>
          <p:cNvPr id="50" name="Connector 4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2" name="TextBox 51"/>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Multipacks</a:t>
            </a:r>
          </a:p>
        </p:txBody>
      </p:sp>
      <p:cxnSp>
        <p:nvCxnSpPr>
          <p:cNvPr id="53" name="Connector 5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5" name="TextBox 5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2-4 muffins</a:t>
            </a:r>
          </a:p>
        </p:txBody>
      </p:sp>
      <p:cxnSp>
        <p:nvCxnSpPr>
          <p:cNvPr id="56" name="Connector 5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5-8 muffins</a:t>
            </a:r>
          </a:p>
        </p:txBody>
      </p:sp>
      <p:cxnSp>
        <p:nvCxnSpPr>
          <p:cNvPr id="59" name="Connector 5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1" name="TextBox 6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9-12 muffins</a:t>
            </a:r>
          </a:p>
        </p:txBody>
      </p:sp>
      <p:cxnSp>
        <p:nvCxnSpPr>
          <p:cNvPr id="62" name="Connector 6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4" name="TextBox 6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More than 12 muffins</a:t>
            </a:r>
          </a:p>
        </p:txBody>
      </p:sp>
      <p:cxnSp>
        <p:nvCxnSpPr>
          <p:cNvPr id="65" name="Connector 6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6" name="TextBox 6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7" name="TextBox 6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Bulk foodservice packs</a:t>
            </a:r>
          </a:p>
        </p:txBody>
      </p:sp>
      <p:sp>
        <p:nvSpPr>
          <p:cNvPr id="68" name="Rectangle 67"/>
          <p:cNvSpPr/>
          <p:nvPr/>
        </p:nvSpPr>
        <p:spPr>
          <a:xfrm>
            <a:off x="6162675" y="102870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Multipack Wrapping</a:t>
            </a:r>
          </a:p>
        </p:txBody>
      </p:sp>
      <p:sp>
        <p:nvSpPr>
          <p:cNvPr id="71" name="TextBox 70"/>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6410325" y="1257300"/>
            <a:ext cx="259080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Individually wrapped muffins within an outer pack</a:t>
            </a:r>
          </a:p>
        </p:txBody>
      </p:sp>
      <p:cxnSp>
        <p:nvCxnSpPr>
          <p:cNvPr id="73" name="Connector 7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76" name="Rectangle 75"/>
          <p:cNvSpPr/>
          <p:nvPr/>
        </p:nvSpPr>
        <p:spPr>
          <a:xfrm>
            <a:off x="6162675" y="1903095"/>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6162675" y="19030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6238875" y="19030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Brand Ownership</a:t>
            </a:r>
          </a:p>
        </p:txBody>
      </p:sp>
      <p:sp>
        <p:nvSpPr>
          <p:cNvPr id="79" name="TextBox 78"/>
          <p:cNvSpPr txBox="1"/>
          <p:nvPr/>
        </p:nvSpPr>
        <p:spPr>
          <a:xfrm>
            <a:off x="62198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410325" y="21316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Manufacturer brands</a:t>
            </a:r>
          </a:p>
        </p:txBody>
      </p:sp>
      <p:cxnSp>
        <p:nvCxnSpPr>
          <p:cNvPr id="81" name="Connector 80"/>
          <p:cNvCxnSpPr/>
          <p:nvPr/>
        </p:nvCxnSpPr>
        <p:spPr>
          <a:xfrm>
            <a:off x="61722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23088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National brands</a:t>
            </a:r>
          </a:p>
        </p:txBody>
      </p:sp>
      <p:cxnSp>
        <p:nvCxnSpPr>
          <p:cNvPr id="84" name="Connector 83"/>
          <p:cNvCxnSpPr/>
          <p:nvPr/>
        </p:nvCxnSpPr>
        <p:spPr>
          <a:xfrm>
            <a:off x="61722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Regional / local brands</a:t>
            </a:r>
          </a:p>
        </p:txBody>
      </p:sp>
      <p:cxnSp>
        <p:nvCxnSpPr>
          <p:cNvPr id="87" name="Connector 86"/>
          <p:cNvCxnSpPr/>
          <p:nvPr/>
        </p:nvCxnSpPr>
        <p:spPr>
          <a:xfrm>
            <a:off x="61722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Retailer private labels</a:t>
            </a:r>
          </a:p>
        </p:txBody>
      </p:sp>
      <p:cxnSp>
        <p:nvCxnSpPr>
          <p:cNvPr id="90" name="Connector 89"/>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Value private labels</a:t>
            </a:r>
          </a:p>
        </p:txBody>
      </p:sp>
      <p:cxnSp>
        <p:nvCxnSpPr>
          <p:cNvPr id="93" name="Connector 92"/>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private labels</a:t>
            </a:r>
          </a:p>
        </p:txBody>
      </p:sp>
      <p:cxnSp>
        <p:nvCxnSpPr>
          <p:cNvPr id="96" name="Connector 95"/>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 private labels</a:t>
            </a:r>
          </a:p>
        </p:txBody>
      </p:sp>
      <p:cxnSp>
        <p:nvCxnSpPr>
          <p:cNvPr id="99" name="Connector 98"/>
          <p:cNvCxnSpPr/>
          <p:nvPr/>
        </p:nvCxnSpPr>
        <p:spPr>
          <a:xfrm>
            <a:off x="61722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1" name="TextBox 100"/>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 operator brands</a:t>
            </a:r>
          </a:p>
        </p:txBody>
      </p:sp>
      <p:sp>
        <p:nvSpPr>
          <p:cNvPr id="102" name="Rectangle 101"/>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Price Positioning</a:t>
            </a:r>
          </a:p>
        </p:txBody>
      </p:sp>
      <p:sp>
        <p:nvSpPr>
          <p:cNvPr id="105" name="TextBox 104"/>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cxnSp>
        <p:nvCxnSpPr>
          <p:cNvPr id="107" name="Connector 106"/>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cxnSp>
        <p:nvCxnSpPr>
          <p:cNvPr id="110" name="Connector 109"/>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cxnSp>
        <p:nvCxnSpPr>
          <p:cNvPr id="113" name="Connector 112"/>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5" name="TextBox 114"/>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116" name="Rectangle 115"/>
          <p:cNvSpPr/>
          <p:nvPr/>
        </p:nvSpPr>
        <p:spPr>
          <a:xfrm>
            <a:off x="9172575" y="2080260"/>
            <a:ext cx="2876550" cy="359473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Sales Channel</a:t>
            </a:r>
          </a:p>
        </p:txBody>
      </p:sp>
      <p:sp>
        <p:nvSpPr>
          <p:cNvPr id="119" name="TextBox 118"/>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Retail</a:t>
            </a:r>
          </a:p>
        </p:txBody>
      </p:sp>
      <p:cxnSp>
        <p:nvCxnSpPr>
          <p:cNvPr id="121" name="Connector 120"/>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Supermarkets and hypermarkets</a:t>
            </a:r>
          </a:p>
        </p:txBody>
      </p:sp>
      <p:cxnSp>
        <p:nvCxnSpPr>
          <p:cNvPr id="124" name="Connector 123"/>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Convenience stores</a:t>
            </a:r>
          </a:p>
        </p:txBody>
      </p:sp>
      <p:cxnSp>
        <p:nvCxnSpPr>
          <p:cNvPr id="127" name="Connector 126"/>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Discount stores</a:t>
            </a:r>
          </a:p>
        </p:txBody>
      </p:sp>
      <p:cxnSp>
        <p:nvCxnSpPr>
          <p:cNvPr id="130" name="Connector 129"/>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Warehouse clubs</a:t>
            </a:r>
          </a:p>
        </p:txBody>
      </p:sp>
      <p:cxnSp>
        <p:nvCxnSpPr>
          <p:cNvPr id="133" name="Connector 132"/>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Traditional grocery stores</a:t>
            </a:r>
          </a:p>
        </p:txBody>
      </p:sp>
      <p:cxnSp>
        <p:nvCxnSpPr>
          <p:cNvPr id="136" name="Connector 135"/>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Speciality food and health stores</a:t>
            </a:r>
          </a:p>
        </p:txBody>
      </p:sp>
      <p:cxnSp>
        <p:nvCxnSpPr>
          <p:cNvPr id="139" name="Connector 138"/>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9591675" y="35490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Bakery outlets selling packaged products</a:t>
            </a:r>
          </a:p>
        </p:txBody>
      </p:sp>
      <p:cxnSp>
        <p:nvCxnSpPr>
          <p:cNvPr id="142" name="Connector 141"/>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9591675" y="39033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retail</a:t>
            </a:r>
          </a:p>
        </p:txBody>
      </p:sp>
      <p:cxnSp>
        <p:nvCxnSpPr>
          <p:cNvPr id="145" name="Connector 144"/>
          <p:cNvCxnSpPr/>
          <p:nvPr/>
        </p:nvCxnSpPr>
        <p:spPr>
          <a:xfrm>
            <a:off x="9182100" y="4080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6" name="TextBox 145"/>
          <p:cNvSpPr txBox="1"/>
          <p:nvPr/>
        </p:nvSpPr>
        <p:spPr>
          <a:xfrm>
            <a:off x="9229725" y="4080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7" name="TextBox 146"/>
          <p:cNvSpPr txBox="1"/>
          <p:nvPr/>
        </p:nvSpPr>
        <p:spPr>
          <a:xfrm>
            <a:off x="9420225" y="408051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Foodservice and institutional</a:t>
            </a:r>
          </a:p>
        </p:txBody>
      </p:sp>
      <p:cxnSp>
        <p:nvCxnSpPr>
          <p:cNvPr id="148" name="Connector 147"/>
          <p:cNvCxnSpPr/>
          <p:nvPr/>
        </p:nvCxnSpPr>
        <p:spPr>
          <a:xfrm>
            <a:off x="9182100" y="4257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9" name="TextBox 148"/>
          <p:cNvSpPr txBox="1"/>
          <p:nvPr/>
        </p:nvSpPr>
        <p:spPr>
          <a:xfrm>
            <a:off x="9401175" y="4257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0" name="TextBox 149"/>
          <p:cNvSpPr txBox="1"/>
          <p:nvPr/>
        </p:nvSpPr>
        <p:spPr>
          <a:xfrm>
            <a:off x="9591675" y="42576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Cafés and coffee chains</a:t>
            </a:r>
          </a:p>
        </p:txBody>
      </p:sp>
      <p:cxnSp>
        <p:nvCxnSpPr>
          <p:cNvPr id="151" name="Connector 15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2" name="TextBox 151"/>
          <p:cNvSpPr txBox="1"/>
          <p:nvPr/>
        </p:nvSpPr>
        <p:spPr>
          <a:xfrm>
            <a:off x="940117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3" name="TextBox 152"/>
          <p:cNvSpPr txBox="1"/>
          <p:nvPr/>
        </p:nvSpPr>
        <p:spPr>
          <a:xfrm>
            <a:off x="9591675" y="44348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Hotels and restaurants</a:t>
            </a:r>
          </a:p>
        </p:txBody>
      </p:sp>
      <p:cxnSp>
        <p:nvCxnSpPr>
          <p:cNvPr id="154" name="Connector 15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6" name="TextBox 15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Quick-service restaurants</a:t>
            </a:r>
          </a:p>
        </p:txBody>
      </p:sp>
      <p:cxnSp>
        <p:nvCxnSpPr>
          <p:cNvPr id="157" name="Connector 15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8" name="TextBox 15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9" name="TextBox 15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Corporate catering</a:t>
            </a:r>
          </a:p>
        </p:txBody>
      </p:sp>
      <p:cxnSp>
        <p:nvCxnSpPr>
          <p:cNvPr id="160" name="Connector 15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1" name="TextBox 16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2" name="TextBox 16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Educational institutions</a:t>
            </a:r>
          </a:p>
        </p:txBody>
      </p:sp>
      <p:cxnSp>
        <p:nvCxnSpPr>
          <p:cNvPr id="163" name="Connector 16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4" name="TextBox 16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5" name="TextBox 16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Healthcare institutions</a:t>
            </a:r>
          </a:p>
        </p:txBody>
      </p:sp>
      <p:cxnSp>
        <p:nvCxnSpPr>
          <p:cNvPr id="166" name="Connector 16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7" name="TextBox 16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8" name="TextBox 16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Airline and travel catering</a:t>
            </a:r>
          </a:p>
        </p:txBody>
      </p:sp>
      <p:cxnSp>
        <p:nvCxnSpPr>
          <p:cNvPr id="169" name="Connector 168"/>
          <p:cNvCxnSpPr/>
          <p:nvPr/>
        </p:nvCxnSpPr>
        <p:spPr>
          <a:xfrm>
            <a:off x="9182100" y="5497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0" name="TextBox 169"/>
          <p:cNvSpPr txBox="1"/>
          <p:nvPr/>
        </p:nvSpPr>
        <p:spPr>
          <a:xfrm>
            <a:off x="9229725" y="5497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1" name="TextBox 170"/>
          <p:cNvSpPr txBox="1"/>
          <p:nvPr/>
        </p:nvSpPr>
        <p:spPr>
          <a:xfrm>
            <a:off x="9420225" y="549783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Vending</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Packaged Muffins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Grupo Bimbo (Bimbo, Marinela, Little Bites, Thomas')</a:t>
            </a:r>
          </a:p>
        </p:txBody>
      </p:sp>
      <p:sp>
        <p:nvSpPr>
          <p:cNvPr id="16" name="Rectangle 15"/>
          <p:cNvSpPr/>
          <p:nvPr/>
        </p:nvSpPr>
        <p:spPr>
          <a:xfrm>
            <a:off x="152400"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McKee Foods Corporation (Little Debbie, Sunbelt Bakery, Drake's, Fieldstone Bakery)</a:t>
            </a:r>
          </a:p>
        </p:txBody>
      </p:sp>
      <p:cxnSp>
        <p:nvCxnSpPr>
          <p:cNvPr id="20" name="Connector 19"/>
          <p:cNvCxnSpPr/>
          <p:nvPr/>
        </p:nvCxnSpPr>
        <p:spPr>
          <a:xfrm>
            <a:off x="152400"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Hostess Brands (Hostess)</a:t>
            </a:r>
          </a:p>
        </p:txBody>
      </p:sp>
      <p:sp>
        <p:nvSpPr>
          <p:cNvPr id="23" name="Rectangle 22"/>
          <p:cNvSpPr/>
          <p:nvPr/>
        </p:nvSpPr>
        <p:spPr>
          <a:xfrm>
            <a:off x="152400"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Rich Products Corporation (Rich's)</a:t>
            </a:r>
          </a:p>
        </p:txBody>
      </p:sp>
      <p:cxnSp>
        <p:nvCxnSpPr>
          <p:cNvPr id="27" name="Connector 26"/>
          <p:cNvCxnSpPr/>
          <p:nvPr/>
        </p:nvCxnSpPr>
        <p:spPr>
          <a:xfrm>
            <a:off x="152400"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ARYZTA / Aspire Bakeries (Otis Spunkmeyer, Cuisine de France, Hiestand, Delice de France)</a:t>
            </a:r>
          </a:p>
        </p:txBody>
      </p:sp>
      <p:sp>
        <p:nvSpPr>
          <p:cNvPr id="30" name="Rectangle 29"/>
          <p:cNvSpPr/>
          <p:nvPr/>
        </p:nvSpPr>
        <p:spPr>
          <a:xfrm>
            <a:off x="152400"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Europastry (Europastry, Dots)</a:t>
            </a:r>
          </a:p>
        </p:txBody>
      </p:sp>
      <p:cxnSp>
        <p:nvCxnSpPr>
          <p:cNvPr id="34" name="Connector 33"/>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Bridor (Bridor, Evasions)</a:t>
            </a:r>
          </a:p>
        </p:txBody>
      </p:sp>
      <p:sp>
        <p:nvSpPr>
          <p:cNvPr id="37" name="Rectangle 36"/>
          <p:cNvSpPr/>
          <p:nvPr/>
        </p:nvSpPr>
        <p:spPr>
          <a:xfrm>
            <a:off x="152400"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Lantmännen Unibake (Schulstad, Hatting, Vaasan, Pastridor, Euro-Bake)</a:t>
            </a:r>
          </a:p>
        </p:txBody>
      </p:sp>
      <p:cxnSp>
        <p:nvCxnSpPr>
          <p:cNvPr id="41" name="Connector 40"/>
          <p:cNvCxnSpPr/>
          <p:nvPr/>
        </p:nvCxnSpPr>
        <p:spPr>
          <a:xfrm>
            <a:off x="152400"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Flowers Foods (Tastykake, Nature's Own, Wonder, Dave's Killer Bread, Canyon Bakehouse)</a:t>
            </a:r>
          </a:p>
        </p:txBody>
      </p:sp>
      <p:sp>
        <p:nvSpPr>
          <p:cNvPr id="44" name="Rectangle 43"/>
          <p:cNvSpPr/>
          <p:nvPr/>
        </p:nvSpPr>
        <p:spPr>
          <a:xfrm>
            <a:off x="152400"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Premier Foods (Mr Kipling)</a:t>
            </a:r>
          </a:p>
        </p:txBody>
      </p:sp>
      <p:cxnSp>
        <p:nvCxnSpPr>
          <p:cNvPr id="48" name="Connector 47"/>
          <p:cNvCxnSpPr/>
          <p:nvPr/>
        </p:nvCxnSpPr>
        <p:spPr>
          <a:xfrm>
            <a:off x="152400"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0" name="TextBox 49"/>
          <p:cNvSpPr txBox="1"/>
          <p:nvPr/>
        </p:nvSpPr>
        <p:spPr>
          <a:xfrm>
            <a:off x="581025"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Warburtons (Warburtons)</a:t>
            </a:r>
          </a:p>
        </p:txBody>
      </p:sp>
      <p:sp>
        <p:nvSpPr>
          <p:cNvPr id="51" name="Rectangle 50"/>
          <p:cNvSpPr/>
          <p:nvPr/>
        </p:nvSpPr>
        <p:spPr>
          <a:xfrm>
            <a:off x="152400"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52400"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4" name="TextBox 53"/>
          <p:cNvSpPr txBox="1"/>
          <p:nvPr/>
        </p:nvSpPr>
        <p:spPr>
          <a:xfrm>
            <a:off x="581025"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Goodman Fielder (Nature's Fresh, Freya's, Quality Bakers)</a:t>
            </a:r>
          </a:p>
        </p:txBody>
      </p:sp>
      <p:cxnSp>
        <p:nvCxnSpPr>
          <p:cNvPr id="55" name="Connector 54"/>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7" name="TextBox 56"/>
          <p:cNvSpPr txBox="1"/>
          <p:nvPr/>
        </p:nvSpPr>
        <p:spPr>
          <a:xfrm>
            <a:off x="581025"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St Michel (St Michel)</a:t>
            </a:r>
          </a:p>
        </p:txBody>
      </p:sp>
      <p:sp>
        <p:nvSpPr>
          <p:cNvPr id="58" name="Rectangle 57"/>
          <p:cNvSpPr/>
          <p:nvPr/>
        </p:nvSpPr>
        <p:spPr>
          <a:xfrm>
            <a:off x="152400"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9" name="Connector 58"/>
          <p:cNvCxnSpPr/>
          <p:nvPr/>
        </p:nvCxnSpPr>
        <p:spPr>
          <a:xfrm>
            <a:off x="152400"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1" name="TextBox 60"/>
          <p:cNvSpPr txBox="1"/>
          <p:nvPr/>
        </p:nvSpPr>
        <p:spPr>
          <a:xfrm>
            <a:off x="581025"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Dr. Schär (Schär)</a:t>
            </a:r>
          </a:p>
        </p:txBody>
      </p:sp>
      <p:cxnSp>
        <p:nvCxnSpPr>
          <p:cNvPr id="62" name="Connector 61"/>
          <p:cNvCxnSpPr/>
          <p:nvPr/>
        </p:nvCxnSpPr>
        <p:spPr>
          <a:xfrm>
            <a:off x="152400"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4" name="TextBox 63"/>
          <p:cNvSpPr txBox="1"/>
          <p:nvPr/>
        </p:nvSpPr>
        <p:spPr>
          <a:xfrm>
            <a:off x="581025"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General Mills (Betty Crocker, Pillsbury)</a:t>
            </a:r>
          </a:p>
        </p:txBody>
      </p:sp>
      <p:sp>
        <p:nvSpPr>
          <p:cNvPr id="65" name="Rectangle 64"/>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68" name="TextBox 67"/>
          <p:cNvSpPr txBox="1"/>
          <p:nvPr/>
        </p:nvSpPr>
        <p:spPr>
          <a:xfrm>
            <a:off x="6381750"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9" name="TextBox 68"/>
          <p:cNvSpPr txBox="1"/>
          <p:nvPr/>
        </p:nvSpPr>
        <p:spPr>
          <a:xfrm>
            <a:off x="6629400"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Britannia Industries (Britannia)</a:t>
            </a:r>
          </a:p>
        </p:txBody>
      </p:sp>
      <p:sp>
        <p:nvSpPr>
          <p:cNvPr id="70" name="Rectangle 69"/>
          <p:cNvSpPr/>
          <p:nvPr/>
        </p:nvSpPr>
        <p:spPr>
          <a:xfrm>
            <a:off x="6200775"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1" name="Connector 70"/>
          <p:cNvCxnSpPr/>
          <p:nvPr/>
        </p:nvCxnSpPr>
        <p:spPr>
          <a:xfrm>
            <a:off x="6200775"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Monginis Foods (Monginis)</a:t>
            </a:r>
          </a:p>
        </p:txBody>
      </p:sp>
      <p:cxnSp>
        <p:nvCxnSpPr>
          <p:cNvPr id="74" name="Connector 73"/>
          <p:cNvCxnSpPr/>
          <p:nvPr/>
        </p:nvCxnSpPr>
        <p:spPr>
          <a:xfrm>
            <a:off x="6200775"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6381750"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6" name="TextBox 75"/>
          <p:cNvSpPr txBox="1"/>
          <p:nvPr/>
        </p:nvSpPr>
        <p:spPr>
          <a:xfrm>
            <a:off x="6629400"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Bonn Group of Industries (Bonn)</a:t>
            </a:r>
          </a:p>
        </p:txBody>
      </p:sp>
      <p:sp>
        <p:nvSpPr>
          <p:cNvPr id="77" name="Rectangle 76"/>
          <p:cNvSpPr/>
          <p:nvPr/>
        </p:nvSpPr>
        <p:spPr>
          <a:xfrm>
            <a:off x="6200775"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Karachi Bakery (Karachi Bakery)</a:t>
            </a:r>
          </a:p>
        </p:txBody>
      </p:sp>
      <p:cxnSp>
        <p:nvCxnSpPr>
          <p:cNvPr id="81" name="Connector 80"/>
          <p:cNvCxnSpPr/>
          <p:nvPr/>
        </p:nvCxnSpPr>
        <p:spPr>
          <a:xfrm>
            <a:off x="6200775"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81750"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3" name="TextBox 82"/>
          <p:cNvSpPr txBox="1"/>
          <p:nvPr/>
        </p:nvSpPr>
        <p:spPr>
          <a:xfrm>
            <a:off x="6629400"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Philippines (Gardenia)</a:t>
            </a:r>
          </a:p>
        </p:txBody>
      </p:sp>
      <p:sp>
        <p:nvSpPr>
          <p:cNvPr id="84" name="Rectangle 83"/>
          <p:cNvSpPr/>
          <p:nvPr/>
        </p:nvSpPr>
        <p:spPr>
          <a:xfrm>
            <a:off x="6200775"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5" name="Connector 84"/>
          <p:cNvCxnSpPr/>
          <p:nvPr/>
        </p:nvCxnSpPr>
        <p:spPr>
          <a:xfrm>
            <a:off x="6200775"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7" name="TextBox 86"/>
          <p:cNvSpPr txBox="1"/>
          <p:nvPr/>
        </p:nvSpPr>
        <p:spPr>
          <a:xfrm>
            <a:off x="6629400"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Gardenia Bakeries Malaysia (Gardenia, Gardenia QuickBites)</a:t>
            </a:r>
          </a:p>
        </p:txBody>
      </p:sp>
      <p:cxnSp>
        <p:nvCxnSpPr>
          <p:cNvPr id="88" name="Connector 87"/>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6381750"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0" name="TextBox 89"/>
          <p:cNvSpPr txBox="1"/>
          <p:nvPr/>
        </p:nvSpPr>
        <p:spPr>
          <a:xfrm>
            <a:off x="6629400"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PT Nippon Indosari Corpindo (Sari Roti)</a:t>
            </a:r>
          </a:p>
        </p:txBody>
      </p:sp>
      <p:sp>
        <p:nvSpPr>
          <p:cNvPr id="91" name="Rectangle 90"/>
          <p:cNvSpPr/>
          <p:nvPr/>
        </p:nvSpPr>
        <p:spPr>
          <a:xfrm>
            <a:off x="6200775"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6200775"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4" name="TextBox 93"/>
          <p:cNvSpPr txBox="1"/>
          <p:nvPr/>
        </p:nvSpPr>
        <p:spPr>
          <a:xfrm>
            <a:off x="6629400"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BreadTalk Group (BreadTalk)</a:t>
            </a:r>
          </a:p>
        </p:txBody>
      </p:sp>
      <p:cxnSp>
        <p:nvCxnSpPr>
          <p:cNvPr id="95" name="Connector 94"/>
          <p:cNvCxnSpPr/>
          <p:nvPr/>
        </p:nvCxnSpPr>
        <p:spPr>
          <a:xfrm>
            <a:off x="6200775"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381750"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7" name="TextBox 96"/>
          <p:cNvSpPr txBox="1"/>
          <p:nvPr/>
        </p:nvSpPr>
        <p:spPr>
          <a:xfrm>
            <a:off x="6629400"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QAF Limited (Bakers Maison)</a:t>
            </a:r>
          </a:p>
        </p:txBody>
      </p:sp>
      <p:sp>
        <p:nvSpPr>
          <p:cNvPr id="98" name="Rectangle 97"/>
          <p:cNvSpPr/>
          <p:nvPr/>
        </p:nvSpPr>
        <p:spPr>
          <a:xfrm>
            <a:off x="6200775"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9" name="Connector 98"/>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1" name="TextBox 100"/>
          <p:cNvSpPr txBox="1"/>
          <p:nvPr/>
        </p:nvSpPr>
        <p:spPr>
          <a:xfrm>
            <a:off x="6629400"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SPC Samlip (Samlip)</a:t>
            </a:r>
          </a:p>
        </p:txBody>
      </p:sp>
      <p:cxnSp>
        <p:nvCxnSpPr>
          <p:cNvPr id="102" name="Connector 101"/>
          <p:cNvCxnSpPr/>
          <p:nvPr/>
        </p:nvCxnSpPr>
        <p:spPr>
          <a:xfrm>
            <a:off x="6200775"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6381750"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4" name="TextBox 103"/>
          <p:cNvSpPr txBox="1"/>
          <p:nvPr/>
        </p:nvSpPr>
        <p:spPr>
          <a:xfrm>
            <a:off x="6629400"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Yamazaki Baking (Yamazaki, Vie de France Yamazaki, Four Leaves)</a:t>
            </a:r>
          </a:p>
        </p:txBody>
      </p:sp>
      <p:sp>
        <p:nvSpPr>
          <p:cNvPr id="105" name="Rectangle 104"/>
          <p:cNvSpPr/>
          <p:nvPr/>
        </p:nvSpPr>
        <p:spPr>
          <a:xfrm>
            <a:off x="6200775"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6" name="Connector 105"/>
          <p:cNvCxnSpPr/>
          <p:nvPr/>
        </p:nvCxnSpPr>
        <p:spPr>
          <a:xfrm>
            <a:off x="6200775"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8" name="TextBox 107"/>
          <p:cNvSpPr txBox="1"/>
          <p:nvPr/>
        </p:nvSpPr>
        <p:spPr>
          <a:xfrm>
            <a:off x="6629400"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Toly Bread (Toly Bread)</a:t>
            </a:r>
          </a:p>
        </p:txBody>
      </p:sp>
      <p:cxnSp>
        <p:nvCxnSpPr>
          <p:cNvPr id="109" name="Connector 108"/>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6381750"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1" name="TextBox 110"/>
          <p:cNvSpPr txBox="1"/>
          <p:nvPr/>
        </p:nvSpPr>
        <p:spPr>
          <a:xfrm>
            <a:off x="6629400"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Almarai (L'usine, Bake Mart)</a:t>
            </a:r>
          </a:p>
        </p:txBody>
      </p:sp>
      <p:sp>
        <p:nvSpPr>
          <p:cNvPr id="112" name="Rectangle 111"/>
          <p:cNvSpPr/>
          <p:nvPr/>
        </p:nvSpPr>
        <p:spPr>
          <a:xfrm>
            <a:off x="6200775"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3" name="Connector 112"/>
          <p:cNvCxnSpPr/>
          <p:nvPr/>
        </p:nvCxnSpPr>
        <p:spPr>
          <a:xfrm>
            <a:off x="6200775"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5" name="TextBox 114"/>
          <p:cNvSpPr txBox="1"/>
          <p:nvPr/>
        </p:nvSpPr>
        <p:spPr>
          <a:xfrm>
            <a:off x="6629400"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United Foods International (United Foods)</a:t>
            </a:r>
          </a:p>
        </p:txBody>
      </p:sp>
      <p:cxnSp>
        <p:nvCxnSpPr>
          <p:cNvPr id="116" name="Connector 115"/>
          <p:cNvCxnSpPr/>
          <p:nvPr/>
        </p:nvCxnSpPr>
        <p:spPr>
          <a:xfrm>
            <a:off x="6200775"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381750"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8" name="TextBox 117"/>
          <p:cNvSpPr txBox="1"/>
          <p:nvPr/>
        </p:nvSpPr>
        <p:spPr>
          <a:xfrm>
            <a:off x="6629400"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Mimansa Industries / The Baker's Dozen (The Baker's Dozen)</a:t>
            </a:r>
          </a:p>
        </p:txBody>
      </p:sp>
      <p:sp>
        <p:nvSpPr>
          <p:cNvPr id="119" name="TextBox 118"/>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120" name="TextBox 1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0" i="0">
                          <a:solidFill>
                            <a:srgbClr val="0070C0"/>
                          </a:solidFill>
                          <a:latin typeface="Calibri"/>
                        </a:rPr>
                        <a:t>1.3.</a:t>
                      </a:r>
                      <a:r>
                        <a:rPr sz="700" b="0" i="0">
                          <a:solidFill>
                            <a:srgbClr val="0070C0"/>
                          </a:solidFill>
                          <a:latin typeface="Times New Roman"/>
                        </a:rPr>
                        <a:t>    </a:t>
                      </a:r>
                      <a:r>
                        <a:rPr sz="1100" b="0" i="0">
                          <a:solidFill>
                            <a:srgbClr val="0070C0"/>
                          </a:solidFill>
                          <a:latin typeface="Calibri"/>
                        </a:rPr>
                        <a:t>Regional Macro Economic Indicators</a:t>
                      </a:r>
                      <a:endParaRPr sz="1100"/>
                    </a:p>
                  </a:txBody>
                  <a:tcPr marL="428625" marR="9525" marT="9525" marB="0" anchor="ctr"/>
                </a:tc>
              </a:tr>
              <a:tr h="175260">
                <a:tc>
                  <a:txBody>
                    <a:bodyPr wrap="square"/>
                    <a:lstStyle/>
                    <a:p>
                      <a:pPr algn="l"/>
                      <a:r>
                        <a:rPr sz="1100" b="0" i="0">
                          <a:solidFill>
                            <a:srgbClr val="000000"/>
                          </a:solidFill>
                          <a:latin typeface="Calibri"/>
                        </a:rPr>
                        <a:t>1.3.1.</a:t>
                      </a:r>
                      <a:r>
                        <a:rPr sz="700" b="0" i="0">
                          <a:solidFill>
                            <a:srgbClr val="000000"/>
                          </a:solidFill>
                          <a:latin typeface="Times New Roman"/>
                        </a:rPr>
                        <a:t>   </a:t>
                      </a:r>
                      <a:r>
                        <a:rPr sz="1100" b="0" i="0">
                          <a:solidFill>
                            <a:srgbClr val="000000"/>
                          </a:solidFill>
                          <a:latin typeface="Calibri"/>
                        </a:rPr>
                        <a:t>Consumer Price Inflation (CPI)</a:t>
                      </a:r>
                      <a:endParaRPr sz="1100"/>
                    </a:p>
                  </a:txBody>
                  <a:tcPr marL="771525" marR="9525" marT="9525" marB="0" anchor="ctr"/>
                </a:tc>
              </a:tr>
              <a:tr h="175260">
                <a:tc>
                  <a:txBody>
                    <a:bodyPr wrap="square"/>
                    <a:lstStyle/>
                    <a:p>
                      <a:pPr algn="l"/>
                      <a:r>
                        <a:rPr sz="1100" b="0" i="0">
                          <a:solidFill>
                            <a:srgbClr val="000000"/>
                          </a:solidFill>
                          <a:latin typeface="Calibri"/>
                        </a:rPr>
                        <a:t>1.3.2.</a:t>
                      </a:r>
                      <a:r>
                        <a:rPr sz="700" b="0" i="0">
                          <a:solidFill>
                            <a:srgbClr val="000000"/>
                          </a:solidFill>
                          <a:latin typeface="Times New Roman"/>
                        </a:rPr>
                        <a:t>   </a:t>
                      </a:r>
                      <a:r>
                        <a:rPr sz="1100" b="0" i="0">
                          <a:solidFill>
                            <a:srgbClr val="000000"/>
                          </a:solidFill>
                          <a:latin typeface="Calibri"/>
                        </a:rPr>
                        <a:t>Private Final Consumption Expenditure Growth</a:t>
                      </a:r>
                      <a:endParaRPr sz="1100"/>
                    </a:p>
                  </a:txBody>
                  <a:tcPr marL="771525" marR="9525" marT="9525" marB="0" anchor="ctr"/>
                </a:tc>
              </a:tr>
              <a:tr h="175260">
                <a:tc>
                  <a:txBody>
                    <a:bodyPr wrap="square"/>
                    <a:lstStyle/>
                    <a:p>
                      <a:pPr algn="l"/>
                      <a:r>
                        <a:rPr sz="1100" b="0" i="0">
                          <a:solidFill>
                            <a:srgbClr val="000000"/>
                          </a:solidFill>
                          <a:latin typeface="Calibri"/>
                        </a:rPr>
                        <a:t>1.3.3.</a:t>
                      </a:r>
                      <a:r>
                        <a:rPr sz="700" b="0" i="0">
                          <a:solidFill>
                            <a:srgbClr val="000000"/>
                          </a:solidFill>
                          <a:latin typeface="Times New Roman"/>
                        </a:rPr>
                        <a:t>   </a:t>
                      </a:r>
                      <a:r>
                        <a:rPr sz="1100" b="0" i="0">
                          <a:solidFill>
                            <a:srgbClr val="000000"/>
                          </a:solidFill>
                          <a:latin typeface="Calibri"/>
                        </a:rPr>
                        <a:t>Food &amp; Non-Alcoholic Beverage Expenditure Growth</a:t>
                      </a:r>
                      <a:endParaRPr sz="1100"/>
                    </a:p>
                  </a:txBody>
                  <a:tcPr marL="771525" marR="9525" marT="9525" marB="0" anchor="ctr"/>
                </a:tc>
              </a:tr>
              <a:tr h="175260">
                <a:tc>
                  <a:txBody>
                    <a:bodyPr wrap="square"/>
                    <a:lstStyle/>
                    <a:p>
                      <a:pPr algn="l"/>
                      <a:r>
                        <a:rPr sz="1100" b="0" i="0">
                          <a:solidFill>
                            <a:srgbClr val="000000"/>
                          </a:solidFill>
                          <a:latin typeface="Calibri"/>
                        </a:rPr>
                        <a:t>1.3.4.</a:t>
                      </a:r>
                      <a:r>
                        <a:rPr sz="700" b="0" i="0">
                          <a:solidFill>
                            <a:srgbClr val="000000"/>
                          </a:solidFill>
                          <a:latin typeface="Times New Roman"/>
                        </a:rPr>
                        <a:t>   </a:t>
                      </a:r>
                      <a:r>
                        <a:rPr sz="1100" b="0" i="0">
                          <a:solidFill>
                            <a:srgbClr val="000000"/>
                          </a:solidFill>
                          <a:latin typeface="Calibri"/>
                        </a:rPr>
                        <a:t>Retail Sales Growth</a:t>
                      </a:r>
                      <a:endParaRPr sz="1100"/>
                    </a:p>
                  </a:txBody>
                  <a:tcPr marL="771525" marR="9525" marT="9525" marB="0" anchor="ctr"/>
                </a:tc>
              </a:tr>
              <a:tr h="175260">
                <a:tc>
                  <a:txBody>
                    <a:bodyPr wrap="square"/>
                    <a:lstStyle/>
                    <a:p>
                      <a:pPr algn="l"/>
                      <a:r>
                        <a:rPr sz="1100" b="0" i="0">
                          <a:solidFill>
                            <a:srgbClr val="000000"/>
                          </a:solidFill>
                          <a:latin typeface="Calibri"/>
                        </a:rPr>
                        <a:t>1.3.5.</a:t>
                      </a:r>
                      <a:r>
                        <a:rPr sz="700" b="0" i="0">
                          <a:solidFill>
                            <a:srgbClr val="000000"/>
                          </a:solidFill>
                          <a:latin typeface="Times New Roman"/>
                        </a:rPr>
                        <a:t>   </a:t>
                      </a:r>
                      <a:r>
                        <a:rPr sz="1100" b="0" i="0">
                          <a:solidFill>
                            <a:srgbClr val="000000"/>
                          </a:solidFill>
                          <a:latin typeface="Calibri"/>
                        </a:rPr>
                        <a:t>Consumer Confidence Index</a:t>
                      </a:r>
                      <a:endParaRPr sz="1100"/>
                    </a:p>
                  </a:txBody>
                  <a:tcPr marL="771525" marR="9525" marT="9525" marB="0" anchor="ctr"/>
                </a:tc>
              </a:tr>
              <a:tr h="175260">
                <a:tc>
                  <a:txBody>
                    <a:bodyPr wrap="square"/>
                    <a:lstStyle/>
                    <a:p>
                      <a:pPr algn="l"/>
                      <a:r>
                        <a:rPr sz="1100" b="0" i="0">
                          <a:solidFill>
                            <a:srgbClr val="0070C0"/>
                          </a:solidFill>
                          <a:latin typeface="Calibri"/>
                        </a:rPr>
                        <a:t>1.4.</a:t>
                      </a:r>
                      <a:r>
                        <a:rPr sz="700" b="0" i="0">
                          <a:solidFill>
                            <a:srgbClr val="0070C0"/>
                          </a:solidFill>
                          <a:latin typeface="Times New Roman"/>
                        </a:rPr>
                        <a:t>    </a:t>
                      </a:r>
                      <a:r>
                        <a:rPr sz="1100" b="0" i="0">
                          <a:solidFill>
                            <a:srgbClr val="0070C0"/>
                          </a:solidFill>
                          <a:latin typeface="Calibri"/>
                        </a:rPr>
                        <a:t>Regional Micro Economic Indicators</a:t>
                      </a:r>
                      <a:endParaRPr sz="1100"/>
                    </a:p>
                  </a:txBody>
                  <a:tcPr marL="428625" marR="9525" marT="9525" marB="0" anchor="ctr"/>
                </a:tc>
              </a:tr>
              <a:tr h="175260">
                <a:tc>
                  <a:txBody>
                    <a:bodyPr wrap="square"/>
                    <a:lstStyle/>
                    <a:p>
                      <a:pPr algn="l"/>
                      <a:r>
                        <a:rPr sz="1100" b="0" i="0">
                          <a:solidFill>
                            <a:srgbClr val="000000"/>
                          </a:solidFill>
                          <a:latin typeface="Calibri"/>
                        </a:rPr>
                        <a:t>1.4.1.</a:t>
                      </a:r>
                      <a:r>
                        <a:rPr sz="700" b="0" i="0">
                          <a:solidFill>
                            <a:srgbClr val="000000"/>
                          </a:solidFill>
                          <a:latin typeface="Times New Roman"/>
                        </a:rPr>
                        <a:t>   </a:t>
                      </a:r>
                      <a:r>
                        <a:rPr sz="1100" b="0" i="0">
                          <a:solidFill>
                            <a:srgbClr val="000000"/>
                          </a:solidFill>
                          <a:latin typeface="Calibri"/>
                        </a:rPr>
                        <a:t>Packaged Bakery Products Sales Growth</a:t>
                      </a:r>
                      <a:endParaRPr sz="1100"/>
                    </a:p>
                  </a:txBody>
                  <a:tcPr marL="771525" marR="9525" marT="9525" marB="0" anchor="ctr"/>
                </a:tc>
              </a:tr>
              <a:tr h="175260">
                <a:tc>
                  <a:txBody>
                    <a:bodyPr wrap="square"/>
                    <a:lstStyle/>
                    <a:p>
                      <a:pPr algn="l"/>
                      <a:r>
                        <a:rPr sz="1100" b="0" i="0">
                          <a:solidFill>
                            <a:srgbClr val="000000"/>
                          </a:solidFill>
                          <a:latin typeface="Calibri"/>
                        </a:rPr>
                        <a:t>1.4.2.</a:t>
                      </a:r>
                      <a:r>
                        <a:rPr sz="700" b="0" i="0">
                          <a:solidFill>
                            <a:srgbClr val="000000"/>
                          </a:solidFill>
                          <a:latin typeface="Times New Roman"/>
                        </a:rPr>
                        <a:t>   </a:t>
                      </a:r>
                      <a:r>
                        <a:rPr sz="1100" b="0" i="0">
                          <a:solidFill>
                            <a:srgbClr val="000000"/>
                          </a:solidFill>
                          <a:latin typeface="Calibri"/>
                        </a:rPr>
                        <a:t>Supermarket &amp; Hypermarket Sales Growth</a:t>
                      </a:r>
                      <a:endParaRPr sz="1100"/>
                    </a:p>
                  </a:txBody>
                  <a:tcPr marL="771525" marR="9525" marT="9525" marB="0" anchor="ctr"/>
                </a:tc>
              </a:tr>
              <a:tr h="175260">
                <a:tc>
                  <a:txBody>
                    <a:bodyPr wrap="square"/>
                    <a:lstStyle/>
                    <a:p>
                      <a:pPr algn="l"/>
                      <a:r>
                        <a:rPr sz="1100" b="0" i="0">
                          <a:solidFill>
                            <a:srgbClr val="000000"/>
                          </a:solidFill>
                          <a:latin typeface="Calibri"/>
                        </a:rPr>
                        <a:t>1.4.3.</a:t>
                      </a:r>
                      <a:r>
                        <a:rPr sz="700" b="0" i="0">
                          <a:solidFill>
                            <a:srgbClr val="000000"/>
                          </a:solidFill>
                          <a:latin typeface="Times New Roman"/>
                        </a:rPr>
                        <a:t>   </a:t>
                      </a:r>
                      <a:r>
                        <a:rPr sz="1100" b="0" i="0">
                          <a:solidFill>
                            <a:srgbClr val="000000"/>
                          </a:solidFill>
                          <a:latin typeface="Calibri"/>
                        </a:rPr>
                        <a:t>Convenience Store Sales Growth</a:t>
                      </a:r>
                      <a:endParaRPr sz="1100"/>
                    </a:p>
                  </a:txBody>
                  <a:tcPr marL="771525" marR="9525" marT="9525" marB="0" anchor="ctr"/>
                </a:tc>
              </a:tr>
              <a:tr h="175260">
                <a:tc>
                  <a:txBody>
                    <a:bodyPr wrap="square"/>
                    <a:lstStyle/>
                    <a:p>
                      <a:pPr algn="l"/>
                      <a:r>
                        <a:rPr sz="1100" b="0" i="0">
                          <a:solidFill>
                            <a:srgbClr val="000000"/>
                          </a:solidFill>
                          <a:latin typeface="Calibri"/>
                        </a:rPr>
                        <a:t>1.4.4.</a:t>
                      </a:r>
                      <a:r>
                        <a:rPr sz="700" b="0" i="0">
                          <a:solidFill>
                            <a:srgbClr val="000000"/>
                          </a:solidFill>
                          <a:latin typeface="Times New Roman"/>
                        </a:rPr>
                        <a:t>   </a:t>
                      </a:r>
                      <a:r>
                        <a:rPr sz="1100" b="0" i="0">
                          <a:solidFill>
                            <a:srgbClr val="000000"/>
                          </a:solidFill>
                          <a:latin typeface="Calibri"/>
                        </a:rPr>
                        <a:t>Online Grocery / Food E-Commerce Sales Growth</a:t>
                      </a:r>
                      <a:endParaRPr sz="1100"/>
                    </a:p>
                  </a:txBody>
                  <a:tcPr marL="771525" marR="9525" marT="9525" marB="0" anchor="ctr"/>
                </a:tc>
              </a:tr>
              <a:tr h="175260">
                <a:tc>
                  <a:txBody>
                    <a:bodyPr wrap="square"/>
                    <a:lstStyle/>
                    <a:p>
                      <a:pPr algn="l"/>
                      <a:r>
                        <a:rPr sz="1100" b="0" i="0">
                          <a:solidFill>
                            <a:srgbClr val="000000"/>
                          </a:solidFill>
                          <a:latin typeface="Calibri"/>
                        </a:rPr>
                        <a:t>1.4.5.</a:t>
                      </a:r>
                      <a:r>
                        <a:rPr sz="700" b="0" i="0">
                          <a:solidFill>
                            <a:srgbClr val="000000"/>
                          </a:solidFill>
                          <a:latin typeface="Times New Roman"/>
                        </a:rPr>
                        <a:t>   </a:t>
                      </a:r>
                      <a:r>
                        <a:rPr sz="1100" b="0" i="0">
                          <a:solidFill>
                            <a:srgbClr val="000000"/>
                          </a:solidFill>
                          <a:latin typeface="Calibri"/>
                        </a:rPr>
                        <a:t>Wheat, Sugar, Egg &amp; Dairy Input Price Index</a:t>
                      </a:r>
                      <a:endParaRPr sz="1100"/>
                    </a:p>
                  </a:txBody>
                  <a:tcPr marL="771525" marR="9525" marT="9525" marB="0" anchor="ctr"/>
                </a:tc>
              </a:tr>
              <a:tr h="175260">
                <a:tc>
                  <a:txBody>
                    <a:bodyPr wrap="square"/>
                    <a:lstStyle/>
                    <a:p>
                      <a:pPr algn="l"/>
                      <a:r>
                        <a:rPr sz="1100" b="0" i="0">
                          <a:solidFill>
                            <a:srgbClr val="0070C0"/>
                          </a:solidFill>
                          <a:latin typeface="Calibri"/>
                        </a:rPr>
                        <a:t>1.5.</a:t>
                      </a:r>
                      <a:r>
                        <a:rPr sz="700" b="0" i="0">
                          <a:solidFill>
                            <a:srgbClr val="0070C0"/>
                          </a:solidFill>
                          <a:latin typeface="Times New Roman"/>
                        </a:rPr>
                        <a:t>    </a:t>
                      </a:r>
                      <a:r>
                        <a:rPr sz="1100" b="0" i="0">
                          <a:solidFill>
                            <a:srgbClr val="0070C0"/>
                          </a:solidFill>
                          <a:latin typeface="Calibri"/>
                        </a:rPr>
                        <a:t>Per Capita Consumption- By Country</a:t>
                      </a:r>
                      <a:endParaRPr sz="1100"/>
                    </a:p>
                  </a:txBody>
                  <a:tcPr marL="428625" marR="9525" marT="9525" marB="0" anchor="ctr"/>
                </a:tc>
              </a:tr>
              <a:tr h="175260">
                <a:tc>
                  <a:txBody>
                    <a:bodyPr wrap="square"/>
                    <a:lstStyle/>
                    <a:p>
                      <a:pPr algn="l"/>
                      <a:r>
                        <a:rPr sz="1100" b="0" i="0">
                          <a:solidFill>
                            <a:srgbClr val="0070C0"/>
                          </a:solidFill>
                          <a:latin typeface="Calibri"/>
                        </a:rPr>
                        <a:t>1.6.</a:t>
                      </a:r>
                      <a:r>
                        <a:rPr sz="700" b="0" i="0">
                          <a:solidFill>
                            <a:srgbClr val="0070C0"/>
                          </a:solidFill>
                          <a:latin typeface="Times New Roman"/>
                        </a:rPr>
                        <a:t>    </a:t>
                      </a:r>
                      <a:r>
                        <a:rPr sz="1100" b="0" i="0">
                          <a:solidFill>
                            <a:srgbClr val="0070C0"/>
                          </a:solidFill>
                          <a:latin typeface="Calibri"/>
                        </a:rPr>
                        <a:t>Per Capita Spending By Country</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Sweet muffins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Fruit muffins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Chocolate and cocoa muffins</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Nut and seed muffins</a:t>
                      </a:r>
                      <a:endParaRPr sz="1100"/>
                    </a:p>
                  </a:txBody>
                  <a:tcPr marL="1028700" marR="9525" marT="9525" marB="0" anchor="ctr"/>
                </a:tc>
              </a:tr>
              <a:tr h="175260">
                <a:tc>
                  <a:txBody>
                    <a:bodyPr wrap="square"/>
                    <a:lstStyle/>
                    <a:p>
                      <a:pPr algn="l"/>
                      <a:r>
                        <a:rPr sz="1100" b="0" i="1">
                          <a:solidFill>
                            <a:srgbClr val="000000"/>
                          </a:solidFill>
                          <a:latin typeface="Calibri"/>
                        </a:rPr>
                        <a:t>3.5.1.4.</a:t>
                      </a:r>
                      <a:r>
                        <a:rPr sz="700" b="0" i="1">
                          <a:solidFill>
                            <a:srgbClr val="000000"/>
                          </a:solidFill>
                          <a:latin typeface="Times New Roman"/>
                        </a:rPr>
                        <a:t>    </a:t>
                      </a:r>
                      <a:r>
                        <a:rPr sz="1100" b="0" i="1">
                          <a:solidFill>
                            <a:srgbClr val="000000"/>
                          </a:solidFill>
                          <a:latin typeface="Calibri"/>
                        </a:rPr>
                        <a:t>Plain and vanilla muffins</a:t>
                      </a:r>
                      <a:endParaRPr sz="1100"/>
                    </a:p>
                  </a:txBody>
                  <a:tcPr marL="1028700" marR="9525" marT="9525" marB="0" anchor="ctr"/>
                </a:tc>
              </a:tr>
              <a:tr h="175260">
                <a:tc>
                  <a:txBody>
                    <a:bodyPr wrap="square"/>
                    <a:lstStyle/>
                    <a:p>
                      <a:pPr algn="l"/>
                      <a:r>
                        <a:rPr sz="1100" b="0" i="1">
                          <a:solidFill>
                            <a:srgbClr val="000000"/>
                          </a:solidFill>
                          <a:latin typeface="Calibri"/>
                        </a:rPr>
                        <a:t>3.5.1.5.</a:t>
                      </a:r>
                      <a:r>
                        <a:rPr sz="700" b="0" i="1">
                          <a:solidFill>
                            <a:srgbClr val="000000"/>
                          </a:solidFill>
                          <a:latin typeface="Times New Roman"/>
                        </a:rPr>
                        <a:t>    </a:t>
                      </a:r>
                      <a:r>
                        <a:rPr sz="1100" b="0" i="1">
                          <a:solidFill>
                            <a:srgbClr val="000000"/>
                          </a:solidFill>
                          <a:latin typeface="Calibri"/>
                        </a:rPr>
                        <a:t>Spice-flavoured muffins</a:t>
                      </a:r>
                      <a:endParaRPr sz="1100"/>
                    </a:p>
                  </a:txBody>
                  <a:tcPr marL="1028700" marR="9525" marT="9525" marB="0" anchor="ctr"/>
                </a:tc>
              </a:tr>
              <a:tr h="175260">
                <a:tc>
                  <a:txBody>
                    <a:bodyPr wrap="square"/>
                    <a:lstStyle/>
                    <a:p>
                      <a:pPr algn="l"/>
                      <a:r>
                        <a:rPr sz="1100" b="0" i="1">
                          <a:solidFill>
                            <a:srgbClr val="000000"/>
                          </a:solidFill>
                          <a:latin typeface="Calibri"/>
                        </a:rPr>
                        <a:t>3.5.1.6.</a:t>
                      </a:r>
                      <a:r>
                        <a:rPr sz="700" b="0" i="1">
                          <a:solidFill>
                            <a:srgbClr val="000000"/>
                          </a:solidFill>
                          <a:latin typeface="Times New Roman"/>
                        </a:rPr>
                        <a:t>    </a:t>
                      </a:r>
                      <a:r>
                        <a:rPr sz="1100" b="0" i="1">
                          <a:solidFill>
                            <a:srgbClr val="000000"/>
                          </a:solidFill>
                          <a:latin typeface="Calibri"/>
                        </a:rPr>
                        <a:t>Other sweet muffins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Savoury muffins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Cheese muffins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Vegetable muffins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Meat-containing muffins</a:t>
                      </a:r>
                      <a:endParaRPr sz="1100"/>
                    </a:p>
                  </a:txBody>
                  <a:tcPr marL="1028700" marR="9525" marT="9525" marB="0" anchor="ctr"/>
                </a:tc>
              </a:tr>
              <a:tr h="175260">
                <a:tc>
                  <a:txBody>
                    <a:bodyPr wrap="square"/>
                    <a:lstStyle/>
                    <a:p>
                      <a:pPr algn="l"/>
                      <a:r>
                        <a:rPr sz="1100" b="0" i="1">
                          <a:solidFill>
                            <a:srgbClr val="000000"/>
                          </a:solidFill>
                          <a:latin typeface="Calibri"/>
                        </a:rPr>
                        <a:t>3.5.2.4.</a:t>
                      </a:r>
                      <a:r>
                        <a:rPr sz="700" b="0" i="1">
                          <a:solidFill>
                            <a:srgbClr val="000000"/>
                          </a:solidFill>
                          <a:latin typeface="Times New Roman"/>
                        </a:rPr>
                        <a:t>    </a:t>
                      </a:r>
                      <a:r>
                        <a:rPr sz="1100" b="0" i="1">
                          <a:solidFill>
                            <a:srgbClr val="000000"/>
                          </a:solidFill>
                          <a:latin typeface="Calibri"/>
                        </a:rPr>
                        <a:t>Herb and spice muffins</a:t>
                      </a:r>
                      <a:endParaRPr sz="1100"/>
                    </a:p>
                  </a:txBody>
                  <a:tcPr marL="1028700" marR="9525" marT="9525" marB="0" anchor="ctr"/>
                </a:tc>
              </a:tr>
              <a:tr h="175260">
                <a:tc>
                  <a:txBody>
                    <a:bodyPr wrap="square"/>
                    <a:lstStyle/>
                    <a:p>
                      <a:pPr algn="l"/>
                      <a:r>
                        <a:rPr sz="1100" b="0" i="1">
                          <a:solidFill>
                            <a:srgbClr val="000000"/>
                          </a:solidFill>
                          <a:latin typeface="Calibri"/>
                        </a:rPr>
                        <a:t>3.5.2.5.</a:t>
                      </a:r>
                      <a:r>
                        <a:rPr sz="700" b="0" i="1">
                          <a:solidFill>
                            <a:srgbClr val="000000"/>
                          </a:solidFill>
                          <a:latin typeface="Times New Roman"/>
                        </a:rPr>
                        <a:t>    </a:t>
                      </a:r>
                      <a:r>
                        <a:rPr sz="1100" b="0" i="1">
                          <a:solidFill>
                            <a:srgbClr val="000000"/>
                          </a:solidFill>
                          <a:latin typeface="Calibri"/>
                        </a:rPr>
                        <a:t>Other savoury muffins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Flavour</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Sweet Muffins Flavours</a:t>
                      </a:r>
                      <a:endParaRPr sz="1100"/>
                    </a:p>
                  </a:txBody>
                  <a:tcPr marL="771525" marR="9525" marT="9525" marB="0" anchor="ctr"/>
                </a:tc>
              </a:tr>
              <a:tr h="175260">
                <a:tc>
                  <a:txBody>
                    <a:bodyPr wrap="square"/>
                    <a:lstStyle/>
                    <a:p>
                      <a:pPr algn="l"/>
                      <a:r>
                        <a:rPr sz="1100" b="0" i="1">
                          <a:solidFill>
                            <a:srgbClr val="000000"/>
                          </a:solidFill>
                          <a:latin typeface="Calibri"/>
                        </a:rPr>
                        <a:t>4.5.1.1.</a:t>
                      </a:r>
                      <a:r>
                        <a:rPr sz="700" b="0" i="1">
                          <a:solidFill>
                            <a:srgbClr val="000000"/>
                          </a:solidFill>
                          <a:latin typeface="Times New Roman"/>
                        </a:rPr>
                        <a:t>    </a:t>
                      </a:r>
                      <a:r>
                        <a:rPr sz="1100" b="0" i="1">
                          <a:solidFill>
                            <a:srgbClr val="000000"/>
                          </a:solidFill>
                          <a:latin typeface="Calibri"/>
                        </a:rPr>
                        <a:t>Fruit-based</a:t>
                      </a:r>
                      <a:endParaRPr sz="1100"/>
                    </a:p>
                  </a:txBody>
                  <a:tcPr marL="1028700" marR="9525" marT="9525" marB="0" anchor="ctr"/>
                </a:tc>
              </a:tr>
              <a:tr h="175260">
                <a:tc>
                  <a:txBody>
                    <a:bodyPr wrap="square"/>
                    <a:lstStyle/>
                    <a:p>
                      <a:pPr algn="l"/>
                      <a:r>
                        <a:rPr sz="1100" b="0" i="1">
                          <a:solidFill>
                            <a:srgbClr val="000000"/>
                          </a:solidFill>
                          <a:latin typeface="Calibri"/>
                        </a:rPr>
                        <a:t>4.5.1.1.1.</a:t>
                      </a:r>
                      <a:r>
                        <a:rPr sz="700" b="0" i="1">
                          <a:solidFill>
                            <a:srgbClr val="000000"/>
                          </a:solidFill>
                          <a:latin typeface="Times New Roman"/>
                        </a:rPr>
                        <a:t>    </a:t>
                      </a:r>
                      <a:r>
                        <a:rPr sz="1100" b="0" i="1">
                          <a:solidFill>
                            <a:srgbClr val="000000"/>
                          </a:solidFill>
                          <a:latin typeface="Calibri"/>
                        </a:rPr>
                        <a:t>Blueberry</a:t>
                      </a:r>
                      <a:endParaRPr sz="1100"/>
                    </a:p>
                  </a:txBody>
                  <a:tcPr marL="1257300" marR="9525" marT="9525" marB="0" anchor="ctr"/>
                </a:tc>
              </a:tr>
              <a:tr h="175260">
                <a:tc>
                  <a:txBody>
                    <a:bodyPr wrap="square"/>
                    <a:lstStyle/>
                    <a:p>
                      <a:pPr algn="l"/>
                      <a:r>
                        <a:rPr sz="1100" b="0" i="1">
                          <a:solidFill>
                            <a:srgbClr val="000000"/>
                          </a:solidFill>
                          <a:latin typeface="Calibri"/>
                        </a:rPr>
                        <a:t>4.5.1.1.2.</a:t>
                      </a:r>
                      <a:r>
                        <a:rPr sz="700" b="0" i="1">
                          <a:solidFill>
                            <a:srgbClr val="000000"/>
                          </a:solidFill>
                          <a:latin typeface="Times New Roman"/>
                        </a:rPr>
                        <a:t>    </a:t>
                      </a:r>
                      <a:r>
                        <a:rPr sz="1100" b="0" i="1">
                          <a:solidFill>
                            <a:srgbClr val="000000"/>
                          </a:solidFill>
                          <a:latin typeface="Calibri"/>
                        </a:rPr>
                        <a:t>Banana</a:t>
                      </a:r>
                      <a:endParaRPr sz="1100"/>
                    </a:p>
                  </a:txBody>
                  <a:tcPr marL="1257300" marR="9525" marT="9525" marB="0" anchor="ctr"/>
                </a:tc>
              </a:tr>
              <a:tr h="175260">
                <a:tc>
                  <a:txBody>
                    <a:bodyPr wrap="square"/>
                    <a:lstStyle/>
                    <a:p>
                      <a:pPr algn="l"/>
                      <a:r>
                        <a:rPr sz="1100" b="0" i="1">
                          <a:solidFill>
                            <a:srgbClr val="000000"/>
                          </a:solidFill>
                          <a:latin typeface="Calibri"/>
                        </a:rPr>
                        <a:t>4.5.1.1.3.</a:t>
                      </a:r>
                      <a:r>
                        <a:rPr sz="700" b="0" i="1">
                          <a:solidFill>
                            <a:srgbClr val="000000"/>
                          </a:solidFill>
                          <a:latin typeface="Times New Roman"/>
                        </a:rPr>
                        <a:t>    </a:t>
                      </a:r>
                      <a:r>
                        <a:rPr sz="1100" b="0" i="1">
                          <a:solidFill>
                            <a:srgbClr val="000000"/>
                          </a:solidFill>
                          <a:latin typeface="Calibri"/>
                        </a:rPr>
                        <a:t>Apple</a:t>
                      </a:r>
                      <a:endParaRPr sz="1100"/>
                    </a:p>
                  </a:txBody>
                  <a:tcPr marL="1257300" marR="9525" marT="9525" marB="0" anchor="ctr"/>
                </a:tc>
              </a:tr>
              <a:tr h="175260">
                <a:tc>
                  <a:txBody>
                    <a:bodyPr wrap="square"/>
                    <a:lstStyle/>
                    <a:p>
                      <a:pPr algn="l"/>
                      <a:r>
                        <a:rPr sz="1100" b="0" i="1">
                          <a:solidFill>
                            <a:srgbClr val="000000"/>
                          </a:solidFill>
                          <a:latin typeface="Calibri"/>
                        </a:rPr>
                        <a:t>4.5.1.1.4.</a:t>
                      </a:r>
                      <a:r>
                        <a:rPr sz="700" b="0" i="1">
                          <a:solidFill>
                            <a:srgbClr val="000000"/>
                          </a:solidFill>
                          <a:latin typeface="Times New Roman"/>
                        </a:rPr>
                        <a:t>    </a:t>
                      </a:r>
                      <a:r>
                        <a:rPr sz="1100" b="0" i="1">
                          <a:solidFill>
                            <a:srgbClr val="000000"/>
                          </a:solidFill>
                          <a:latin typeface="Calibri"/>
                        </a:rPr>
                        <a:t>Lemon and citrus</a:t>
                      </a:r>
                      <a:endParaRPr sz="1100"/>
                    </a:p>
                  </a:txBody>
                  <a:tcPr marL="12573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4.5.1.1.5.</a:t>
                      </a:r>
                      <a:r>
                        <a:rPr sz="700" b="0" i="1">
                          <a:solidFill>
                            <a:srgbClr val="000000"/>
                          </a:solidFill>
                          <a:latin typeface="Times New Roman"/>
                        </a:rPr>
                        <a:t>    </a:t>
                      </a:r>
                      <a:r>
                        <a:rPr sz="1100" b="0" i="1">
                          <a:solidFill>
                            <a:srgbClr val="000000"/>
                          </a:solidFill>
                          <a:latin typeface="Calibri"/>
                        </a:rPr>
                        <a:t>Strawberry and raspberry</a:t>
                      </a:r>
                      <a:endParaRPr sz="1100"/>
                    </a:p>
                  </a:txBody>
                  <a:tcPr marL="1257300" marR="9525" marT="9525" marB="0" anchor="ctr"/>
                </a:tc>
              </a:tr>
              <a:tr h="175260">
                <a:tc>
                  <a:txBody>
                    <a:bodyPr wrap="square"/>
                    <a:lstStyle/>
                    <a:p>
                      <a:pPr algn="l"/>
                      <a:r>
                        <a:rPr sz="1100" b="0" i="1">
                          <a:solidFill>
                            <a:srgbClr val="000000"/>
                          </a:solidFill>
                          <a:latin typeface="Calibri"/>
                        </a:rPr>
                        <a:t>4.5.1.1.6.</a:t>
                      </a:r>
                      <a:r>
                        <a:rPr sz="700" b="0" i="1">
                          <a:solidFill>
                            <a:srgbClr val="000000"/>
                          </a:solidFill>
                          <a:latin typeface="Times New Roman"/>
                        </a:rPr>
                        <a:t>    </a:t>
                      </a:r>
                      <a:r>
                        <a:rPr sz="1100" b="0" i="1">
                          <a:solidFill>
                            <a:srgbClr val="000000"/>
                          </a:solidFill>
                          <a:latin typeface="Calibri"/>
                        </a:rPr>
                        <a:t>Cranberry</a:t>
                      </a:r>
                      <a:endParaRPr sz="1100"/>
                    </a:p>
                  </a:txBody>
                  <a:tcPr marL="1257300" marR="9525" marT="9525" marB="0" anchor="ctr"/>
                </a:tc>
              </a:tr>
              <a:tr h="175260">
                <a:tc>
                  <a:txBody>
                    <a:bodyPr wrap="square"/>
                    <a:lstStyle/>
                    <a:p>
                      <a:pPr algn="l"/>
                      <a:r>
                        <a:rPr sz="1100" b="0" i="1">
                          <a:solidFill>
                            <a:srgbClr val="000000"/>
                          </a:solidFill>
                          <a:latin typeface="Calibri"/>
                        </a:rPr>
                        <a:t>4.5.1.1.7.</a:t>
                      </a:r>
                      <a:r>
                        <a:rPr sz="700" b="0" i="1">
                          <a:solidFill>
                            <a:srgbClr val="000000"/>
                          </a:solidFill>
                          <a:latin typeface="Times New Roman"/>
                        </a:rPr>
                        <a:t>    </a:t>
                      </a:r>
                      <a:r>
                        <a:rPr sz="1100" b="0" i="1">
                          <a:solidFill>
                            <a:srgbClr val="000000"/>
                          </a:solidFill>
                          <a:latin typeface="Calibri"/>
                        </a:rPr>
                        <a:t>Mixed fruit</a:t>
                      </a:r>
                      <a:endParaRPr sz="1100"/>
                    </a:p>
                  </a:txBody>
                  <a:tcPr marL="1257300" marR="9525" marT="9525" marB="0" anchor="ctr"/>
                </a:tc>
              </a:tr>
              <a:tr h="175260">
                <a:tc>
                  <a:txBody>
                    <a:bodyPr wrap="square"/>
                    <a:lstStyle/>
                    <a:p>
                      <a:pPr algn="l"/>
                      <a:r>
                        <a:rPr sz="1100" b="0" i="1">
                          <a:solidFill>
                            <a:srgbClr val="000000"/>
                          </a:solidFill>
                          <a:latin typeface="Calibri"/>
                        </a:rPr>
                        <a:t>4.5.1.1.8.</a:t>
                      </a:r>
                      <a:r>
                        <a:rPr sz="700" b="0" i="1">
                          <a:solidFill>
                            <a:srgbClr val="000000"/>
                          </a:solidFill>
                          <a:latin typeface="Times New Roman"/>
                        </a:rPr>
                        <a:t>    </a:t>
                      </a:r>
                      <a:r>
                        <a:rPr sz="1100" b="0" i="1">
                          <a:solidFill>
                            <a:srgbClr val="000000"/>
                          </a:solidFill>
                          <a:latin typeface="Calibri"/>
                        </a:rPr>
                        <a:t>Other fruit flavours</a:t>
                      </a:r>
                      <a:endParaRPr sz="1100"/>
                    </a:p>
                  </a:txBody>
                  <a:tcPr marL="1257300" marR="9525" marT="9525" marB="0" anchor="ctr"/>
                </a:tc>
              </a:tr>
              <a:tr h="175260">
                <a:tc>
                  <a:txBody>
                    <a:bodyPr wrap="square"/>
                    <a:lstStyle/>
                    <a:p>
                      <a:pPr algn="l"/>
                      <a:r>
                        <a:rPr sz="1100" b="0" i="1">
                          <a:solidFill>
                            <a:srgbClr val="000000"/>
                          </a:solidFill>
                          <a:latin typeface="Calibri"/>
                        </a:rPr>
                        <a:t>4.5.1.2.</a:t>
                      </a:r>
                      <a:r>
                        <a:rPr sz="700" b="0" i="1">
                          <a:solidFill>
                            <a:srgbClr val="000000"/>
                          </a:solidFill>
                          <a:latin typeface="Times New Roman"/>
                        </a:rPr>
                        <a:t>    </a:t>
                      </a:r>
                      <a:r>
                        <a:rPr sz="1100" b="0" i="1">
                          <a:solidFill>
                            <a:srgbClr val="000000"/>
                          </a:solidFill>
                          <a:latin typeface="Calibri"/>
                        </a:rPr>
                        <a:t>Chocolate-based</a:t>
                      </a:r>
                      <a:endParaRPr sz="1100"/>
                    </a:p>
                  </a:txBody>
                  <a:tcPr marL="1028700" marR="9525" marT="9525" marB="0" anchor="ctr"/>
                </a:tc>
              </a:tr>
              <a:tr h="175260">
                <a:tc>
                  <a:txBody>
                    <a:bodyPr wrap="square"/>
                    <a:lstStyle/>
                    <a:p>
                      <a:pPr algn="l"/>
                      <a:r>
                        <a:rPr sz="1100" b="0" i="1">
                          <a:solidFill>
                            <a:srgbClr val="000000"/>
                          </a:solidFill>
                          <a:latin typeface="Calibri"/>
                        </a:rPr>
                        <a:t>4.5.1.2.1.</a:t>
                      </a:r>
                      <a:r>
                        <a:rPr sz="700" b="0" i="1">
                          <a:solidFill>
                            <a:srgbClr val="000000"/>
                          </a:solidFill>
                          <a:latin typeface="Times New Roman"/>
                        </a:rPr>
                        <a:t>    </a:t>
                      </a:r>
                      <a:r>
                        <a:rPr sz="1100" b="0" i="1">
                          <a:solidFill>
                            <a:srgbClr val="000000"/>
                          </a:solidFill>
                          <a:latin typeface="Calibri"/>
                        </a:rPr>
                        <a:t>Chocolate chip</a:t>
                      </a:r>
                      <a:endParaRPr sz="1100"/>
                    </a:p>
                  </a:txBody>
                  <a:tcPr marL="1257300" marR="9525" marT="9525" marB="0" anchor="ctr"/>
                </a:tc>
              </a:tr>
              <a:tr h="175260">
                <a:tc>
                  <a:txBody>
                    <a:bodyPr wrap="square"/>
                    <a:lstStyle/>
                    <a:p>
                      <a:pPr algn="l"/>
                      <a:r>
                        <a:rPr sz="1100" b="0" i="1">
                          <a:solidFill>
                            <a:srgbClr val="000000"/>
                          </a:solidFill>
                          <a:latin typeface="Calibri"/>
                        </a:rPr>
                        <a:t>4.5.1.2.2.</a:t>
                      </a:r>
                      <a:r>
                        <a:rPr sz="700" b="0" i="1">
                          <a:solidFill>
                            <a:srgbClr val="000000"/>
                          </a:solidFill>
                          <a:latin typeface="Times New Roman"/>
                        </a:rPr>
                        <a:t>    </a:t>
                      </a:r>
                      <a:r>
                        <a:rPr sz="1100" b="0" i="1">
                          <a:solidFill>
                            <a:srgbClr val="000000"/>
                          </a:solidFill>
                          <a:latin typeface="Calibri"/>
                        </a:rPr>
                        <a:t>Double chocolate</a:t>
                      </a:r>
                      <a:endParaRPr sz="1100"/>
                    </a:p>
                  </a:txBody>
                  <a:tcPr marL="1257300" marR="9525" marT="9525" marB="0" anchor="ctr"/>
                </a:tc>
              </a:tr>
              <a:tr h="175260">
                <a:tc>
                  <a:txBody>
                    <a:bodyPr wrap="square"/>
                    <a:lstStyle/>
                    <a:p>
                      <a:pPr algn="l"/>
                      <a:r>
                        <a:rPr sz="1100" b="0" i="1">
                          <a:solidFill>
                            <a:srgbClr val="000000"/>
                          </a:solidFill>
                          <a:latin typeface="Calibri"/>
                        </a:rPr>
                        <a:t>4.5.1.2.3.</a:t>
                      </a:r>
                      <a:r>
                        <a:rPr sz="700" b="0" i="1">
                          <a:solidFill>
                            <a:srgbClr val="000000"/>
                          </a:solidFill>
                          <a:latin typeface="Times New Roman"/>
                        </a:rPr>
                        <a:t>    </a:t>
                      </a:r>
                      <a:r>
                        <a:rPr sz="1100" b="0" i="1">
                          <a:solidFill>
                            <a:srgbClr val="000000"/>
                          </a:solidFill>
                          <a:latin typeface="Calibri"/>
                        </a:rPr>
                        <a:t>Triple chocolate</a:t>
                      </a:r>
                      <a:endParaRPr sz="1100"/>
                    </a:p>
                  </a:txBody>
                  <a:tcPr marL="1257300" marR="9525" marT="9525" marB="0" anchor="ctr"/>
                </a:tc>
              </a:tr>
              <a:tr h="175260">
                <a:tc>
                  <a:txBody>
                    <a:bodyPr wrap="square"/>
                    <a:lstStyle/>
                    <a:p>
                      <a:pPr algn="l"/>
                      <a:r>
                        <a:rPr sz="1100" b="0" i="1">
                          <a:solidFill>
                            <a:srgbClr val="000000"/>
                          </a:solidFill>
                          <a:latin typeface="Calibri"/>
                        </a:rPr>
                        <a:t>4.5.1.2.4.</a:t>
                      </a:r>
                      <a:r>
                        <a:rPr sz="700" b="0" i="1">
                          <a:solidFill>
                            <a:srgbClr val="000000"/>
                          </a:solidFill>
                          <a:latin typeface="Times New Roman"/>
                        </a:rPr>
                        <a:t>    </a:t>
                      </a:r>
                      <a:r>
                        <a:rPr sz="1100" b="0" i="1">
                          <a:solidFill>
                            <a:srgbClr val="000000"/>
                          </a:solidFill>
                          <a:latin typeface="Calibri"/>
                        </a:rPr>
                        <a:t>Chocolate and fruit</a:t>
                      </a:r>
                      <a:endParaRPr sz="1100"/>
                    </a:p>
                  </a:txBody>
                  <a:tcPr marL="1257300" marR="9525" marT="9525" marB="0" anchor="ctr"/>
                </a:tc>
              </a:tr>
              <a:tr h="175260">
                <a:tc>
                  <a:txBody>
                    <a:bodyPr wrap="square"/>
                    <a:lstStyle/>
                    <a:p>
                      <a:pPr algn="l"/>
                      <a:r>
                        <a:rPr sz="1100" b="0" i="1">
                          <a:solidFill>
                            <a:srgbClr val="000000"/>
                          </a:solidFill>
                          <a:latin typeface="Calibri"/>
                        </a:rPr>
                        <a:t>4.5.1.2.5.</a:t>
                      </a:r>
                      <a:r>
                        <a:rPr sz="700" b="0" i="1">
                          <a:solidFill>
                            <a:srgbClr val="000000"/>
                          </a:solidFill>
                          <a:latin typeface="Times New Roman"/>
                        </a:rPr>
                        <a:t>    </a:t>
                      </a:r>
                      <a:r>
                        <a:rPr sz="1100" b="0" i="1">
                          <a:solidFill>
                            <a:srgbClr val="000000"/>
                          </a:solidFill>
                          <a:latin typeface="Calibri"/>
                        </a:rPr>
                        <a:t>Chocolate and nut</a:t>
                      </a:r>
                      <a:endParaRPr sz="1100"/>
                    </a:p>
                  </a:txBody>
                  <a:tcPr marL="1257300" marR="9525" marT="9525" marB="0" anchor="ctr"/>
                </a:tc>
              </a:tr>
              <a:tr h="175260">
                <a:tc>
                  <a:txBody>
                    <a:bodyPr wrap="square"/>
                    <a:lstStyle/>
                    <a:p>
                      <a:pPr algn="l"/>
                      <a:r>
                        <a:rPr sz="1100" b="0" i="1">
                          <a:solidFill>
                            <a:srgbClr val="000000"/>
                          </a:solidFill>
                          <a:latin typeface="Calibri"/>
                        </a:rPr>
                        <a:t>4.5.1.3.</a:t>
                      </a:r>
                      <a:r>
                        <a:rPr sz="700" b="0" i="1">
                          <a:solidFill>
                            <a:srgbClr val="000000"/>
                          </a:solidFill>
                          <a:latin typeface="Times New Roman"/>
                        </a:rPr>
                        <a:t>    </a:t>
                      </a:r>
                      <a:r>
                        <a:rPr sz="1100" b="0" i="1">
                          <a:solidFill>
                            <a:srgbClr val="000000"/>
                          </a:solidFill>
                          <a:latin typeface="Calibri"/>
                        </a:rPr>
                        <a:t>Nut and seed-based</a:t>
                      </a:r>
                      <a:endParaRPr sz="1100"/>
                    </a:p>
                  </a:txBody>
                  <a:tcPr marL="1028700" marR="9525" marT="9525" marB="0" anchor="ctr"/>
                </a:tc>
              </a:tr>
              <a:tr h="175260">
                <a:tc>
                  <a:txBody>
                    <a:bodyPr wrap="square"/>
                    <a:lstStyle/>
                    <a:p>
                      <a:pPr algn="l"/>
                      <a:r>
                        <a:rPr sz="1100" b="0" i="1">
                          <a:solidFill>
                            <a:srgbClr val="000000"/>
                          </a:solidFill>
                          <a:latin typeface="Calibri"/>
                        </a:rPr>
                        <a:t>4.5.1.3.1.</a:t>
                      </a:r>
                      <a:r>
                        <a:rPr sz="700" b="0" i="1">
                          <a:solidFill>
                            <a:srgbClr val="000000"/>
                          </a:solidFill>
                          <a:latin typeface="Times New Roman"/>
                        </a:rPr>
                        <a:t>    </a:t>
                      </a:r>
                      <a:r>
                        <a:rPr sz="1100" b="0" i="1">
                          <a:solidFill>
                            <a:srgbClr val="000000"/>
                          </a:solidFill>
                          <a:latin typeface="Calibri"/>
                        </a:rPr>
                        <a:t>Walnut</a:t>
                      </a:r>
                      <a:endParaRPr sz="1100"/>
                    </a:p>
                  </a:txBody>
                  <a:tcPr marL="1257300" marR="9525" marT="9525" marB="0" anchor="ctr"/>
                </a:tc>
              </a:tr>
              <a:tr h="175260">
                <a:tc>
                  <a:txBody>
                    <a:bodyPr wrap="square"/>
                    <a:lstStyle/>
                    <a:p>
                      <a:pPr algn="l"/>
                      <a:r>
                        <a:rPr sz="1100" b="0" i="1">
                          <a:solidFill>
                            <a:srgbClr val="000000"/>
                          </a:solidFill>
                          <a:latin typeface="Calibri"/>
                        </a:rPr>
                        <a:t>4.5.1.3.2.</a:t>
                      </a:r>
                      <a:r>
                        <a:rPr sz="700" b="0" i="1">
                          <a:solidFill>
                            <a:srgbClr val="000000"/>
                          </a:solidFill>
                          <a:latin typeface="Times New Roman"/>
                        </a:rPr>
                        <a:t>    </a:t>
                      </a:r>
                      <a:r>
                        <a:rPr sz="1100" b="0" i="1">
                          <a:solidFill>
                            <a:srgbClr val="000000"/>
                          </a:solidFill>
                          <a:latin typeface="Calibri"/>
                        </a:rPr>
                        <a:t>Almond</a:t>
                      </a:r>
                      <a:endParaRPr sz="1100"/>
                    </a:p>
                  </a:txBody>
                  <a:tcPr marL="1257300" marR="9525" marT="9525" marB="0" anchor="ctr"/>
                </a:tc>
              </a:tr>
              <a:tr h="175260">
                <a:tc>
                  <a:txBody>
                    <a:bodyPr wrap="square"/>
                    <a:lstStyle/>
                    <a:p>
                      <a:pPr algn="l"/>
                      <a:r>
                        <a:rPr sz="1100" b="0" i="1">
                          <a:solidFill>
                            <a:srgbClr val="000000"/>
                          </a:solidFill>
                          <a:latin typeface="Calibri"/>
                        </a:rPr>
                        <a:t>4.5.1.3.3.</a:t>
                      </a:r>
                      <a:r>
                        <a:rPr sz="700" b="0" i="1">
                          <a:solidFill>
                            <a:srgbClr val="000000"/>
                          </a:solidFill>
                          <a:latin typeface="Times New Roman"/>
                        </a:rPr>
                        <a:t>    </a:t>
                      </a:r>
                      <a:r>
                        <a:rPr sz="1100" b="0" i="1">
                          <a:solidFill>
                            <a:srgbClr val="000000"/>
                          </a:solidFill>
                          <a:latin typeface="Calibri"/>
                        </a:rPr>
                        <a:t>Pecan</a:t>
                      </a:r>
                      <a:endParaRPr sz="1100"/>
                    </a:p>
                  </a:txBody>
                  <a:tcPr marL="1257300" marR="9525" marT="9525" marB="0" anchor="ctr"/>
                </a:tc>
              </a:tr>
              <a:tr h="175260">
                <a:tc>
                  <a:txBody>
                    <a:bodyPr wrap="square"/>
                    <a:lstStyle/>
                    <a:p>
                      <a:pPr algn="l"/>
                      <a:r>
                        <a:rPr sz="1100" b="0" i="1">
                          <a:solidFill>
                            <a:srgbClr val="000000"/>
                          </a:solidFill>
                          <a:latin typeface="Calibri"/>
                        </a:rPr>
                        <a:t>4.5.1.3.4.</a:t>
                      </a:r>
                      <a:r>
                        <a:rPr sz="700" b="0" i="1">
                          <a:solidFill>
                            <a:srgbClr val="000000"/>
                          </a:solidFill>
                          <a:latin typeface="Times New Roman"/>
                        </a:rPr>
                        <a:t>    </a:t>
                      </a:r>
                      <a:r>
                        <a:rPr sz="1100" b="0" i="1">
                          <a:solidFill>
                            <a:srgbClr val="000000"/>
                          </a:solidFill>
                          <a:latin typeface="Calibri"/>
                        </a:rPr>
                        <a:t>Poppy seed</a:t>
                      </a:r>
                      <a:endParaRPr sz="1100"/>
                    </a:p>
                  </a:txBody>
                  <a:tcPr marL="1257300" marR="9525" marT="9525" marB="0" anchor="ctr"/>
                </a:tc>
              </a:tr>
              <a:tr h="175260">
                <a:tc>
                  <a:txBody>
                    <a:bodyPr wrap="square"/>
                    <a:lstStyle/>
                    <a:p>
                      <a:pPr algn="l"/>
                      <a:r>
                        <a:rPr sz="1100" b="0" i="1">
                          <a:solidFill>
                            <a:srgbClr val="000000"/>
                          </a:solidFill>
                          <a:latin typeface="Calibri"/>
                        </a:rPr>
                        <a:t>4.5.1.3.5.</a:t>
                      </a:r>
                      <a:r>
                        <a:rPr sz="700" b="0" i="1">
                          <a:solidFill>
                            <a:srgbClr val="000000"/>
                          </a:solidFill>
                          <a:latin typeface="Times New Roman"/>
                        </a:rPr>
                        <a:t>    </a:t>
                      </a:r>
                      <a:r>
                        <a:rPr sz="1100" b="0" i="1">
                          <a:solidFill>
                            <a:srgbClr val="000000"/>
                          </a:solidFill>
                          <a:latin typeface="Calibri"/>
                        </a:rPr>
                        <a:t>Mixed nuts and seeds</a:t>
                      </a:r>
                      <a:endParaRPr sz="1100"/>
                    </a:p>
                  </a:txBody>
                  <a:tcPr marL="1257300" marR="9525" marT="9525" marB="0" anchor="ctr"/>
                </a:tc>
              </a:tr>
              <a:tr h="175260">
                <a:tc>
                  <a:txBody>
                    <a:bodyPr wrap="square"/>
                    <a:lstStyle/>
                    <a:p>
                      <a:pPr algn="l"/>
                      <a:r>
                        <a:rPr sz="1100" b="0" i="1">
                          <a:solidFill>
                            <a:srgbClr val="000000"/>
                          </a:solidFill>
                          <a:latin typeface="Calibri"/>
                        </a:rPr>
                        <a:t>4.5.1.4.</a:t>
                      </a:r>
                      <a:r>
                        <a:rPr sz="700" b="0" i="1">
                          <a:solidFill>
                            <a:srgbClr val="000000"/>
                          </a:solidFill>
                          <a:latin typeface="Times New Roman"/>
                        </a:rPr>
                        <a:t>    </a:t>
                      </a:r>
                      <a:r>
                        <a:rPr sz="1100" b="0" i="1">
                          <a:solidFill>
                            <a:srgbClr val="000000"/>
                          </a:solidFill>
                          <a:latin typeface="Calibri"/>
                        </a:rPr>
                        <a:t>Plain and classic</a:t>
                      </a:r>
                      <a:endParaRPr sz="1100"/>
                    </a:p>
                  </a:txBody>
                  <a:tcPr marL="1028700" marR="9525" marT="9525" marB="0" anchor="ctr"/>
                </a:tc>
              </a:tr>
              <a:tr h="175260">
                <a:tc>
                  <a:txBody>
                    <a:bodyPr wrap="square"/>
                    <a:lstStyle/>
                    <a:p>
                      <a:pPr algn="l"/>
                      <a:r>
                        <a:rPr sz="1100" b="0" i="1">
                          <a:solidFill>
                            <a:srgbClr val="000000"/>
                          </a:solidFill>
                          <a:latin typeface="Calibri"/>
                        </a:rPr>
                        <a:t>4.5.1.4.1.</a:t>
                      </a:r>
                      <a:r>
                        <a:rPr sz="700" b="0" i="1">
                          <a:solidFill>
                            <a:srgbClr val="000000"/>
                          </a:solidFill>
                          <a:latin typeface="Times New Roman"/>
                        </a:rPr>
                        <a:t>    </a:t>
                      </a:r>
                      <a:r>
                        <a:rPr sz="1100" b="0" i="1">
                          <a:solidFill>
                            <a:srgbClr val="000000"/>
                          </a:solidFill>
                          <a:latin typeface="Calibri"/>
                        </a:rPr>
                        <a:t>Plain</a:t>
                      </a:r>
                      <a:endParaRPr sz="1100"/>
                    </a:p>
                  </a:txBody>
                  <a:tcPr marL="1257300" marR="9525" marT="9525" marB="0" anchor="ctr"/>
                </a:tc>
              </a:tr>
              <a:tr h="175260">
                <a:tc>
                  <a:txBody>
                    <a:bodyPr wrap="square"/>
                    <a:lstStyle/>
                    <a:p>
                      <a:pPr algn="l"/>
                      <a:r>
                        <a:rPr sz="1100" b="0" i="1">
                          <a:solidFill>
                            <a:srgbClr val="000000"/>
                          </a:solidFill>
                          <a:latin typeface="Calibri"/>
                        </a:rPr>
                        <a:t>4.5.1.4.2.</a:t>
                      </a:r>
                      <a:r>
                        <a:rPr sz="700" b="0" i="1">
                          <a:solidFill>
                            <a:srgbClr val="000000"/>
                          </a:solidFill>
                          <a:latin typeface="Times New Roman"/>
                        </a:rPr>
                        <a:t>    </a:t>
                      </a:r>
                      <a:r>
                        <a:rPr sz="1100" b="0" i="1">
                          <a:solidFill>
                            <a:srgbClr val="000000"/>
                          </a:solidFill>
                          <a:latin typeface="Calibri"/>
                        </a:rPr>
                        <a:t>Vanilla</a:t>
                      </a:r>
                      <a:endParaRPr sz="1100"/>
                    </a:p>
                  </a:txBody>
                  <a:tcPr marL="1257300" marR="9525" marT="9525" marB="0" anchor="ctr"/>
                </a:tc>
              </a:tr>
              <a:tr h="175260">
                <a:tc>
                  <a:txBody>
                    <a:bodyPr wrap="square"/>
                    <a:lstStyle/>
                    <a:p>
                      <a:pPr algn="l"/>
                      <a:r>
                        <a:rPr sz="1100" b="0" i="1">
                          <a:solidFill>
                            <a:srgbClr val="000000"/>
                          </a:solidFill>
                          <a:latin typeface="Calibri"/>
                        </a:rPr>
                        <a:t>4.5.1.4.3.</a:t>
                      </a:r>
                      <a:r>
                        <a:rPr sz="700" b="0" i="1">
                          <a:solidFill>
                            <a:srgbClr val="000000"/>
                          </a:solidFill>
                          <a:latin typeface="Times New Roman"/>
                        </a:rPr>
                        <a:t>    </a:t>
                      </a:r>
                      <a:r>
                        <a:rPr sz="1100" b="0" i="1">
                          <a:solidFill>
                            <a:srgbClr val="000000"/>
                          </a:solidFill>
                          <a:latin typeface="Calibri"/>
                        </a:rPr>
                        <a:t>Butter</a:t>
                      </a:r>
                      <a:endParaRPr sz="1100"/>
                    </a:p>
                  </a:txBody>
                  <a:tcPr marL="1257300" marR="9525" marT="9525" marB="0" anchor="ctr"/>
                </a:tc>
              </a:tr>
              <a:tr h="175260">
                <a:tc>
                  <a:txBody>
                    <a:bodyPr wrap="square"/>
                    <a:lstStyle/>
                    <a:p>
                      <a:pPr algn="l"/>
                      <a:r>
                        <a:rPr sz="1100" b="0" i="1">
                          <a:solidFill>
                            <a:srgbClr val="000000"/>
                          </a:solidFill>
                          <a:latin typeface="Calibri"/>
                        </a:rPr>
                        <a:t>4.5.1.5.</a:t>
                      </a:r>
                      <a:r>
                        <a:rPr sz="700" b="0" i="1">
                          <a:solidFill>
                            <a:srgbClr val="000000"/>
                          </a:solidFill>
                          <a:latin typeface="Times New Roman"/>
                        </a:rPr>
                        <a:t>    </a:t>
                      </a:r>
                      <a:r>
                        <a:rPr sz="1100" b="0" i="1">
                          <a:solidFill>
                            <a:srgbClr val="000000"/>
                          </a:solidFill>
                          <a:latin typeface="Calibri"/>
                        </a:rPr>
                        <a:t>Spice and dessert-inspired</a:t>
                      </a:r>
                      <a:endParaRPr sz="1100"/>
                    </a:p>
                  </a:txBody>
                  <a:tcPr marL="1028700" marR="9525" marT="9525" marB="0" anchor="ctr"/>
                </a:tc>
              </a:tr>
              <a:tr h="175260">
                <a:tc>
                  <a:txBody>
                    <a:bodyPr wrap="square"/>
                    <a:lstStyle/>
                    <a:p>
                      <a:pPr algn="l"/>
                      <a:r>
                        <a:rPr sz="1100" b="0" i="1">
                          <a:solidFill>
                            <a:srgbClr val="000000"/>
                          </a:solidFill>
                          <a:latin typeface="Calibri"/>
                        </a:rPr>
                        <a:t>4.5.1.5.1.</a:t>
                      </a:r>
                      <a:r>
                        <a:rPr sz="700" b="0" i="1">
                          <a:solidFill>
                            <a:srgbClr val="000000"/>
                          </a:solidFill>
                          <a:latin typeface="Times New Roman"/>
                        </a:rPr>
                        <a:t>    </a:t>
                      </a:r>
                      <a:r>
                        <a:rPr sz="1100" b="0" i="1">
                          <a:solidFill>
                            <a:srgbClr val="000000"/>
                          </a:solidFill>
                          <a:latin typeface="Calibri"/>
                        </a:rPr>
                        <a:t>Cinnamon</a:t>
                      </a:r>
                      <a:endParaRPr sz="1100"/>
                    </a:p>
                  </a:txBody>
                  <a:tcPr marL="1257300" marR="9525" marT="9525" marB="0" anchor="ctr"/>
                </a:tc>
              </a:tr>
              <a:tr h="175260">
                <a:tc>
                  <a:txBody>
                    <a:bodyPr wrap="square"/>
                    <a:lstStyle/>
                    <a:p>
                      <a:pPr algn="l"/>
                      <a:r>
                        <a:rPr sz="1100" b="0" i="1">
                          <a:solidFill>
                            <a:srgbClr val="000000"/>
                          </a:solidFill>
                          <a:latin typeface="Calibri"/>
                        </a:rPr>
                        <a:t>4.5.1.5.2.</a:t>
                      </a:r>
                      <a:r>
                        <a:rPr sz="700" b="0" i="1">
                          <a:solidFill>
                            <a:srgbClr val="000000"/>
                          </a:solidFill>
                          <a:latin typeface="Times New Roman"/>
                        </a:rPr>
                        <a:t>    </a:t>
                      </a:r>
                      <a:r>
                        <a:rPr sz="1100" b="0" i="1">
                          <a:solidFill>
                            <a:srgbClr val="000000"/>
                          </a:solidFill>
                          <a:latin typeface="Calibri"/>
                        </a:rPr>
                        <a:t>Pumpkin spice</a:t>
                      </a:r>
                      <a:endParaRPr sz="1100"/>
                    </a:p>
                  </a:txBody>
                  <a:tcPr marL="1257300" marR="9525" marT="9525" marB="0" anchor="ctr"/>
                </a:tc>
              </a:tr>
              <a:tr h="175260">
                <a:tc>
                  <a:txBody>
                    <a:bodyPr wrap="square"/>
                    <a:lstStyle/>
                    <a:p>
                      <a:pPr algn="l"/>
                      <a:r>
                        <a:rPr sz="1100" b="0" i="1">
                          <a:solidFill>
                            <a:srgbClr val="000000"/>
                          </a:solidFill>
                          <a:latin typeface="Calibri"/>
                        </a:rPr>
                        <a:t>4.5.1.5.3.</a:t>
                      </a:r>
                      <a:r>
                        <a:rPr sz="700" b="0" i="1">
                          <a:solidFill>
                            <a:srgbClr val="000000"/>
                          </a:solidFill>
                          <a:latin typeface="Times New Roman"/>
                        </a:rPr>
                        <a:t>    </a:t>
                      </a:r>
                      <a:r>
                        <a:rPr sz="1100" b="0" i="1">
                          <a:solidFill>
                            <a:srgbClr val="000000"/>
                          </a:solidFill>
                          <a:latin typeface="Calibri"/>
                        </a:rPr>
                        <a:t>Coffee</a:t>
                      </a:r>
                      <a:endParaRPr sz="1100"/>
                    </a:p>
                  </a:txBody>
                  <a:tcPr marL="1257300" marR="9525" marT="9525" marB="0" anchor="ctr"/>
                </a:tc>
              </a:tr>
              <a:tr h="175260">
                <a:tc>
                  <a:txBody>
                    <a:bodyPr wrap="square"/>
                    <a:lstStyle/>
                    <a:p>
                      <a:pPr algn="l"/>
                      <a:r>
                        <a:rPr sz="1100" b="0" i="1">
                          <a:solidFill>
                            <a:srgbClr val="000000"/>
                          </a:solidFill>
                          <a:latin typeface="Calibri"/>
                        </a:rPr>
                        <a:t>4.5.1.5.4.</a:t>
                      </a:r>
                      <a:r>
                        <a:rPr sz="700" b="0" i="1">
                          <a:solidFill>
                            <a:srgbClr val="000000"/>
                          </a:solidFill>
                          <a:latin typeface="Times New Roman"/>
                        </a:rPr>
                        <a:t>    </a:t>
                      </a:r>
                      <a:r>
                        <a:rPr sz="1100" b="0" i="1">
                          <a:solidFill>
                            <a:srgbClr val="000000"/>
                          </a:solidFill>
                          <a:latin typeface="Calibri"/>
                        </a:rPr>
                        <a:t>Caramel and toffee</a:t>
                      </a:r>
                      <a:endParaRPr sz="1100"/>
                    </a:p>
                  </a:txBody>
                  <a:tcPr marL="1257300" marR="9525" marT="9525" marB="0" anchor="ctr"/>
                </a:tc>
              </a:tr>
              <a:tr h="175260">
                <a:tc>
                  <a:txBody>
                    <a:bodyPr wrap="square"/>
                    <a:lstStyle/>
                    <a:p>
                      <a:pPr algn="l"/>
                      <a:r>
                        <a:rPr sz="1100" b="0" i="1">
                          <a:solidFill>
                            <a:srgbClr val="000000"/>
                          </a:solidFill>
                          <a:latin typeface="Calibri"/>
                        </a:rPr>
                        <a:t>4.5.1.5.5.</a:t>
                      </a:r>
                      <a:r>
                        <a:rPr sz="700" b="0" i="1">
                          <a:solidFill>
                            <a:srgbClr val="000000"/>
                          </a:solidFill>
                          <a:latin typeface="Times New Roman"/>
                        </a:rPr>
                        <a:t>    </a:t>
                      </a:r>
                      <a:r>
                        <a:rPr sz="1100" b="0" i="1">
                          <a:solidFill>
                            <a:srgbClr val="000000"/>
                          </a:solidFill>
                          <a:latin typeface="Calibri"/>
                        </a:rPr>
                        <a:t>Other dessert-inspired flavours</a:t>
                      </a:r>
                      <a:endParaRPr sz="1100"/>
                    </a:p>
                  </a:txBody>
                  <a:tcPr marL="1257300"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Savoury Muffins Flavours</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Cheese-based</a:t>
                      </a:r>
                      <a:endParaRPr sz="1100"/>
                    </a:p>
                  </a:txBody>
                  <a:tcPr marL="1028700" marR="9525" marT="9525" marB="0" anchor="ctr"/>
                </a:tc>
              </a:tr>
              <a:tr h="175260">
                <a:tc>
                  <a:txBody>
                    <a:bodyPr wrap="square"/>
                    <a:lstStyle/>
                    <a:p>
                      <a:pPr algn="l"/>
                      <a:r>
                        <a:rPr sz="1100" b="0" i="1">
                          <a:solidFill>
                            <a:srgbClr val="000000"/>
                          </a:solidFill>
                          <a:latin typeface="Calibri"/>
                        </a:rPr>
                        <a:t>4.5.2.1.1.</a:t>
                      </a:r>
                      <a:r>
                        <a:rPr sz="700" b="0" i="1">
                          <a:solidFill>
                            <a:srgbClr val="000000"/>
                          </a:solidFill>
                          <a:latin typeface="Times New Roman"/>
                        </a:rPr>
                        <a:t>    </a:t>
                      </a:r>
                      <a:r>
                        <a:rPr sz="1100" b="0" i="1">
                          <a:solidFill>
                            <a:srgbClr val="000000"/>
                          </a:solidFill>
                          <a:latin typeface="Calibri"/>
                        </a:rPr>
                        <a:t>Cheddar</a:t>
                      </a:r>
                      <a:endParaRPr sz="1100"/>
                    </a:p>
                  </a:txBody>
                  <a:tcPr marL="1257300" marR="9525" marT="9525" marB="0" anchor="ctr"/>
                </a:tc>
              </a:tr>
              <a:tr h="175260">
                <a:tc>
                  <a:txBody>
                    <a:bodyPr wrap="square"/>
                    <a:lstStyle/>
                    <a:p>
                      <a:pPr algn="l"/>
                      <a:r>
                        <a:rPr sz="1100" b="0" i="1">
                          <a:solidFill>
                            <a:srgbClr val="000000"/>
                          </a:solidFill>
                          <a:latin typeface="Calibri"/>
                        </a:rPr>
                        <a:t>4.5.2.1.2.</a:t>
                      </a:r>
                      <a:r>
                        <a:rPr sz="700" b="0" i="1">
                          <a:solidFill>
                            <a:srgbClr val="000000"/>
                          </a:solidFill>
                          <a:latin typeface="Times New Roman"/>
                        </a:rPr>
                        <a:t>    </a:t>
                      </a:r>
                      <a:r>
                        <a:rPr sz="1100" b="0" i="1">
                          <a:solidFill>
                            <a:srgbClr val="000000"/>
                          </a:solidFill>
                          <a:latin typeface="Calibri"/>
                        </a:rPr>
                        <a:t>Parmesan</a:t>
                      </a:r>
                      <a:endParaRPr sz="1100"/>
                    </a:p>
                  </a:txBody>
                  <a:tcPr marL="12573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4.5.2.1.3.</a:t>
                      </a:r>
                      <a:r>
                        <a:rPr sz="700" b="0" i="1">
                          <a:solidFill>
                            <a:srgbClr val="000000"/>
                          </a:solidFill>
                          <a:latin typeface="Times New Roman"/>
                        </a:rPr>
                        <a:t>    </a:t>
                      </a:r>
                      <a:r>
                        <a:rPr sz="1100" b="0" i="1">
                          <a:solidFill>
                            <a:srgbClr val="000000"/>
                          </a:solidFill>
                          <a:latin typeface="Calibri"/>
                        </a:rPr>
                        <a:t>Mixed cheese</a:t>
                      </a:r>
                      <a:endParaRPr sz="1100"/>
                    </a:p>
                  </a:txBody>
                  <a:tcPr marL="12573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Vegetable-based</a:t>
                      </a:r>
                      <a:endParaRPr sz="1100"/>
                    </a:p>
                  </a:txBody>
                  <a:tcPr marL="1028700" marR="9525" marT="9525" marB="0" anchor="ctr"/>
                </a:tc>
              </a:tr>
              <a:tr h="175260">
                <a:tc>
                  <a:txBody>
                    <a:bodyPr wrap="square"/>
                    <a:lstStyle/>
                    <a:p>
                      <a:pPr algn="l"/>
                      <a:r>
                        <a:rPr sz="1100" b="0" i="1">
                          <a:solidFill>
                            <a:srgbClr val="000000"/>
                          </a:solidFill>
                          <a:latin typeface="Calibri"/>
                        </a:rPr>
                        <a:t>4.5.2.2.1.</a:t>
                      </a:r>
                      <a:r>
                        <a:rPr sz="700" b="0" i="1">
                          <a:solidFill>
                            <a:srgbClr val="000000"/>
                          </a:solidFill>
                          <a:latin typeface="Times New Roman"/>
                        </a:rPr>
                        <a:t>    </a:t>
                      </a:r>
                      <a:r>
                        <a:rPr sz="1100" b="0" i="1">
                          <a:solidFill>
                            <a:srgbClr val="000000"/>
                          </a:solidFill>
                          <a:latin typeface="Calibri"/>
                        </a:rPr>
                        <a:t>Spinach</a:t>
                      </a:r>
                      <a:endParaRPr sz="1100"/>
                    </a:p>
                  </a:txBody>
                  <a:tcPr marL="1257300" marR="9525" marT="9525" marB="0" anchor="ctr"/>
                </a:tc>
              </a:tr>
              <a:tr h="175260">
                <a:tc>
                  <a:txBody>
                    <a:bodyPr wrap="square"/>
                    <a:lstStyle/>
                    <a:p>
                      <a:pPr algn="l"/>
                      <a:r>
                        <a:rPr sz="1100" b="0" i="1">
                          <a:solidFill>
                            <a:srgbClr val="000000"/>
                          </a:solidFill>
                          <a:latin typeface="Calibri"/>
                        </a:rPr>
                        <a:t>4.5.2.2.2.</a:t>
                      </a:r>
                      <a:r>
                        <a:rPr sz="700" b="0" i="1">
                          <a:solidFill>
                            <a:srgbClr val="000000"/>
                          </a:solidFill>
                          <a:latin typeface="Times New Roman"/>
                        </a:rPr>
                        <a:t>    </a:t>
                      </a:r>
                      <a:r>
                        <a:rPr sz="1100" b="0" i="1">
                          <a:solidFill>
                            <a:srgbClr val="000000"/>
                          </a:solidFill>
                          <a:latin typeface="Calibri"/>
                        </a:rPr>
                        <a:t>Carrot</a:t>
                      </a:r>
                      <a:endParaRPr sz="1100"/>
                    </a:p>
                  </a:txBody>
                  <a:tcPr marL="1257300" marR="9525" marT="9525" marB="0" anchor="ctr"/>
                </a:tc>
              </a:tr>
              <a:tr h="175260">
                <a:tc>
                  <a:txBody>
                    <a:bodyPr wrap="square"/>
                    <a:lstStyle/>
                    <a:p>
                      <a:pPr algn="l"/>
                      <a:r>
                        <a:rPr sz="1100" b="0" i="1">
                          <a:solidFill>
                            <a:srgbClr val="000000"/>
                          </a:solidFill>
                          <a:latin typeface="Calibri"/>
                        </a:rPr>
                        <a:t>4.5.2.2.3.</a:t>
                      </a:r>
                      <a:r>
                        <a:rPr sz="700" b="0" i="1">
                          <a:solidFill>
                            <a:srgbClr val="000000"/>
                          </a:solidFill>
                          <a:latin typeface="Times New Roman"/>
                        </a:rPr>
                        <a:t>    </a:t>
                      </a:r>
                      <a:r>
                        <a:rPr sz="1100" b="0" i="1">
                          <a:solidFill>
                            <a:srgbClr val="000000"/>
                          </a:solidFill>
                          <a:latin typeface="Calibri"/>
                        </a:rPr>
                        <a:t>Corn</a:t>
                      </a:r>
                      <a:endParaRPr sz="1100"/>
                    </a:p>
                  </a:txBody>
                  <a:tcPr marL="1257300" marR="9525" marT="9525" marB="0" anchor="ctr"/>
                </a:tc>
              </a:tr>
              <a:tr h="175260">
                <a:tc>
                  <a:txBody>
                    <a:bodyPr wrap="square"/>
                    <a:lstStyle/>
                    <a:p>
                      <a:pPr algn="l"/>
                      <a:r>
                        <a:rPr sz="1100" b="0" i="1">
                          <a:solidFill>
                            <a:srgbClr val="000000"/>
                          </a:solidFill>
                          <a:latin typeface="Calibri"/>
                        </a:rPr>
                        <a:t>4.5.2.2.4.</a:t>
                      </a:r>
                      <a:r>
                        <a:rPr sz="700" b="0" i="1">
                          <a:solidFill>
                            <a:srgbClr val="000000"/>
                          </a:solidFill>
                          <a:latin typeface="Times New Roman"/>
                        </a:rPr>
                        <a:t>    </a:t>
                      </a:r>
                      <a:r>
                        <a:rPr sz="1100" b="0" i="1">
                          <a:solidFill>
                            <a:srgbClr val="000000"/>
                          </a:solidFill>
                          <a:latin typeface="Calibri"/>
                        </a:rPr>
                        <a:t>Zucchini</a:t>
                      </a:r>
                      <a:endParaRPr sz="1100"/>
                    </a:p>
                  </a:txBody>
                  <a:tcPr marL="1257300" marR="9525" marT="9525" marB="0" anchor="ctr"/>
                </a:tc>
              </a:tr>
              <a:tr h="175260">
                <a:tc>
                  <a:txBody>
                    <a:bodyPr wrap="square"/>
                    <a:lstStyle/>
                    <a:p>
                      <a:pPr algn="l"/>
                      <a:r>
                        <a:rPr sz="1100" b="0" i="1">
                          <a:solidFill>
                            <a:srgbClr val="000000"/>
                          </a:solidFill>
                          <a:latin typeface="Calibri"/>
                        </a:rPr>
                        <a:t>4.5.2.2.5.</a:t>
                      </a:r>
                      <a:r>
                        <a:rPr sz="700" b="0" i="1">
                          <a:solidFill>
                            <a:srgbClr val="000000"/>
                          </a:solidFill>
                          <a:latin typeface="Times New Roman"/>
                        </a:rPr>
                        <a:t>    </a:t>
                      </a:r>
                      <a:r>
                        <a:rPr sz="1100" b="0" i="1">
                          <a:solidFill>
                            <a:srgbClr val="000000"/>
                          </a:solidFill>
                          <a:latin typeface="Calibri"/>
                        </a:rPr>
                        <a:t>Mixed vegetables</a:t>
                      </a:r>
                      <a:endParaRPr sz="1100"/>
                    </a:p>
                  </a:txBody>
                  <a:tcPr marL="1257300" marR="9525" marT="9525" marB="0" anchor="ctr"/>
                </a:tc>
              </a:tr>
              <a:tr h="175260">
                <a:tc>
                  <a:txBody>
                    <a:bodyPr wrap="square"/>
                    <a:lstStyle/>
                    <a:p>
                      <a:pPr algn="l"/>
                      <a:r>
                        <a:rPr sz="1100" b="0" i="1">
                          <a:solidFill>
                            <a:srgbClr val="000000"/>
                          </a:solidFill>
                          <a:latin typeface="Calibri"/>
                        </a:rPr>
                        <a:t>4.5.2.3.</a:t>
                      </a:r>
                      <a:r>
                        <a:rPr sz="700" b="0" i="1">
                          <a:solidFill>
                            <a:srgbClr val="000000"/>
                          </a:solidFill>
                          <a:latin typeface="Times New Roman"/>
                        </a:rPr>
                        <a:t>    </a:t>
                      </a:r>
                      <a:r>
                        <a:rPr sz="1100" b="0" i="1">
                          <a:solidFill>
                            <a:srgbClr val="000000"/>
                          </a:solidFill>
                          <a:latin typeface="Calibri"/>
                        </a:rPr>
                        <a:t>Meat-based</a:t>
                      </a:r>
                      <a:endParaRPr sz="1100"/>
                    </a:p>
                  </a:txBody>
                  <a:tcPr marL="1028700" marR="9525" marT="9525" marB="0" anchor="ctr"/>
                </a:tc>
              </a:tr>
              <a:tr h="175260">
                <a:tc>
                  <a:txBody>
                    <a:bodyPr wrap="square"/>
                    <a:lstStyle/>
                    <a:p>
                      <a:pPr algn="l"/>
                      <a:r>
                        <a:rPr sz="1100" b="0" i="1">
                          <a:solidFill>
                            <a:srgbClr val="000000"/>
                          </a:solidFill>
                          <a:latin typeface="Calibri"/>
                        </a:rPr>
                        <a:t>4.5.2.3.1.</a:t>
                      </a:r>
                      <a:r>
                        <a:rPr sz="700" b="0" i="1">
                          <a:solidFill>
                            <a:srgbClr val="000000"/>
                          </a:solidFill>
                          <a:latin typeface="Times New Roman"/>
                        </a:rPr>
                        <a:t>    </a:t>
                      </a:r>
                      <a:r>
                        <a:rPr sz="1100" b="0" i="1">
                          <a:solidFill>
                            <a:srgbClr val="000000"/>
                          </a:solidFill>
                          <a:latin typeface="Calibri"/>
                        </a:rPr>
                        <a:t>Bacon</a:t>
                      </a:r>
                      <a:endParaRPr sz="1100"/>
                    </a:p>
                  </a:txBody>
                  <a:tcPr marL="1257300" marR="9525" marT="9525" marB="0" anchor="ctr"/>
                </a:tc>
              </a:tr>
              <a:tr h="175260">
                <a:tc>
                  <a:txBody>
                    <a:bodyPr wrap="square"/>
                    <a:lstStyle/>
                    <a:p>
                      <a:pPr algn="l"/>
                      <a:r>
                        <a:rPr sz="1100" b="0" i="1">
                          <a:solidFill>
                            <a:srgbClr val="000000"/>
                          </a:solidFill>
                          <a:latin typeface="Calibri"/>
                        </a:rPr>
                        <a:t>4.5.2.3.2.</a:t>
                      </a:r>
                      <a:r>
                        <a:rPr sz="700" b="0" i="1">
                          <a:solidFill>
                            <a:srgbClr val="000000"/>
                          </a:solidFill>
                          <a:latin typeface="Times New Roman"/>
                        </a:rPr>
                        <a:t>    </a:t>
                      </a:r>
                      <a:r>
                        <a:rPr sz="1100" b="0" i="1">
                          <a:solidFill>
                            <a:srgbClr val="000000"/>
                          </a:solidFill>
                          <a:latin typeface="Calibri"/>
                        </a:rPr>
                        <a:t>Ham</a:t>
                      </a:r>
                      <a:endParaRPr sz="1100"/>
                    </a:p>
                  </a:txBody>
                  <a:tcPr marL="1257300" marR="9525" marT="9525" marB="0" anchor="ctr"/>
                </a:tc>
              </a:tr>
              <a:tr h="175260">
                <a:tc>
                  <a:txBody>
                    <a:bodyPr wrap="square"/>
                    <a:lstStyle/>
                    <a:p>
                      <a:pPr algn="l"/>
                      <a:r>
                        <a:rPr sz="1100" b="0" i="1">
                          <a:solidFill>
                            <a:srgbClr val="000000"/>
                          </a:solidFill>
                          <a:latin typeface="Calibri"/>
                        </a:rPr>
                        <a:t>4.5.2.3.3.</a:t>
                      </a:r>
                      <a:r>
                        <a:rPr sz="700" b="0" i="1">
                          <a:solidFill>
                            <a:srgbClr val="000000"/>
                          </a:solidFill>
                          <a:latin typeface="Times New Roman"/>
                        </a:rPr>
                        <a:t>    </a:t>
                      </a:r>
                      <a:r>
                        <a:rPr sz="1100" b="0" i="1">
                          <a:solidFill>
                            <a:srgbClr val="000000"/>
                          </a:solidFill>
                          <a:latin typeface="Calibri"/>
                        </a:rPr>
                        <a:t>Chicken</a:t>
                      </a:r>
                      <a:endParaRPr sz="1100"/>
                    </a:p>
                  </a:txBody>
                  <a:tcPr marL="1257300" marR="9525" marT="9525" marB="0" anchor="ctr"/>
                </a:tc>
              </a:tr>
              <a:tr h="175260">
                <a:tc>
                  <a:txBody>
                    <a:bodyPr wrap="square"/>
                    <a:lstStyle/>
                    <a:p>
                      <a:pPr algn="l"/>
                      <a:r>
                        <a:rPr sz="1100" b="0" i="1">
                          <a:solidFill>
                            <a:srgbClr val="000000"/>
                          </a:solidFill>
                          <a:latin typeface="Calibri"/>
                        </a:rPr>
                        <a:t>4.5.2.3.4.</a:t>
                      </a:r>
                      <a:r>
                        <a:rPr sz="700" b="0" i="1">
                          <a:solidFill>
                            <a:srgbClr val="000000"/>
                          </a:solidFill>
                          <a:latin typeface="Times New Roman"/>
                        </a:rPr>
                        <a:t>    </a:t>
                      </a:r>
                      <a:r>
                        <a:rPr sz="1100" b="0" i="1">
                          <a:solidFill>
                            <a:srgbClr val="000000"/>
                          </a:solidFill>
                          <a:latin typeface="Calibri"/>
                        </a:rPr>
                        <a:t>Other meat varieties</a:t>
                      </a:r>
                      <a:endParaRPr sz="1100"/>
                    </a:p>
                  </a:txBody>
                  <a:tcPr marL="1257300" marR="9525" marT="9525" marB="0" anchor="ctr"/>
                </a:tc>
              </a:tr>
              <a:tr h="175260">
                <a:tc>
                  <a:txBody>
                    <a:bodyPr wrap="square"/>
                    <a:lstStyle/>
                    <a:p>
                      <a:pPr algn="l"/>
                      <a:r>
                        <a:rPr sz="1100" b="0" i="1">
                          <a:solidFill>
                            <a:srgbClr val="000000"/>
                          </a:solidFill>
                          <a:latin typeface="Calibri"/>
                        </a:rPr>
                        <a:t>4.5.2.4.</a:t>
                      </a:r>
                      <a:r>
                        <a:rPr sz="700" b="0" i="1">
                          <a:solidFill>
                            <a:srgbClr val="000000"/>
                          </a:solidFill>
                          <a:latin typeface="Times New Roman"/>
                        </a:rPr>
                        <a:t>    </a:t>
                      </a:r>
                      <a:r>
                        <a:rPr sz="1100" b="0" i="1">
                          <a:solidFill>
                            <a:srgbClr val="000000"/>
                          </a:solidFill>
                          <a:latin typeface="Calibri"/>
                        </a:rPr>
                        <a:t>Herb and spice-based</a:t>
                      </a:r>
                      <a:endParaRPr sz="1100"/>
                    </a:p>
                  </a:txBody>
                  <a:tcPr marL="1028700" marR="9525" marT="9525" marB="0" anchor="ctr"/>
                </a:tc>
              </a:tr>
              <a:tr h="175260">
                <a:tc>
                  <a:txBody>
                    <a:bodyPr wrap="square"/>
                    <a:lstStyle/>
                    <a:p>
                      <a:pPr algn="l"/>
                      <a:r>
                        <a:rPr sz="1100" b="0" i="1">
                          <a:solidFill>
                            <a:srgbClr val="000000"/>
                          </a:solidFill>
                          <a:latin typeface="Calibri"/>
                        </a:rPr>
                        <a:t>4.5.2.4.1.</a:t>
                      </a:r>
                      <a:r>
                        <a:rPr sz="700" b="0" i="1">
                          <a:solidFill>
                            <a:srgbClr val="000000"/>
                          </a:solidFill>
                          <a:latin typeface="Times New Roman"/>
                        </a:rPr>
                        <a:t>    </a:t>
                      </a:r>
                      <a:r>
                        <a:rPr sz="1100" b="0" i="1">
                          <a:solidFill>
                            <a:srgbClr val="000000"/>
                          </a:solidFill>
                          <a:latin typeface="Calibri"/>
                        </a:rPr>
                        <a:t>Garlic and herbs</a:t>
                      </a:r>
                      <a:endParaRPr sz="1100"/>
                    </a:p>
                  </a:txBody>
                  <a:tcPr marL="1257300" marR="9525" marT="9525" marB="0" anchor="ctr"/>
                </a:tc>
              </a:tr>
              <a:tr h="175260">
                <a:tc>
                  <a:txBody>
                    <a:bodyPr wrap="square"/>
                    <a:lstStyle/>
                    <a:p>
                      <a:pPr algn="l"/>
                      <a:r>
                        <a:rPr sz="1100" b="0" i="1">
                          <a:solidFill>
                            <a:srgbClr val="000000"/>
                          </a:solidFill>
                          <a:latin typeface="Calibri"/>
                        </a:rPr>
                        <a:t>4.5.2.4.2.</a:t>
                      </a:r>
                      <a:r>
                        <a:rPr sz="700" b="0" i="1">
                          <a:solidFill>
                            <a:srgbClr val="000000"/>
                          </a:solidFill>
                          <a:latin typeface="Times New Roman"/>
                        </a:rPr>
                        <a:t>    </a:t>
                      </a:r>
                      <a:r>
                        <a:rPr sz="1100" b="0" i="1">
                          <a:solidFill>
                            <a:srgbClr val="000000"/>
                          </a:solidFill>
                          <a:latin typeface="Calibri"/>
                        </a:rPr>
                        <a:t>Chilli and jalapeño</a:t>
                      </a:r>
                      <a:endParaRPr sz="1100"/>
                    </a:p>
                  </a:txBody>
                  <a:tcPr marL="1257300" marR="9525" marT="9525" marB="0" anchor="ctr"/>
                </a:tc>
              </a:tr>
              <a:tr h="175260">
                <a:tc>
                  <a:txBody>
                    <a:bodyPr wrap="square"/>
                    <a:lstStyle/>
                    <a:p>
                      <a:pPr algn="l"/>
                      <a:r>
                        <a:rPr sz="1100" b="0" i="1">
                          <a:solidFill>
                            <a:srgbClr val="000000"/>
                          </a:solidFill>
                          <a:latin typeface="Calibri"/>
                        </a:rPr>
                        <a:t>4.5.2.4.3.</a:t>
                      </a:r>
                      <a:r>
                        <a:rPr sz="700" b="0" i="1">
                          <a:solidFill>
                            <a:srgbClr val="000000"/>
                          </a:solidFill>
                          <a:latin typeface="Times New Roman"/>
                        </a:rPr>
                        <a:t>    </a:t>
                      </a:r>
                      <a:r>
                        <a:rPr sz="1100" b="0" i="1">
                          <a:solidFill>
                            <a:srgbClr val="000000"/>
                          </a:solidFill>
                          <a:latin typeface="Calibri"/>
                        </a:rPr>
                        <a:t>Other herb and spice combinations</a:t>
                      </a:r>
                      <a:endParaRPr sz="1100"/>
                    </a:p>
                  </a:txBody>
                  <a:tcPr marL="12573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Primary Flour Base</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Wheat-based</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Refined wheat</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Whole wheat</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Oat-based</a:t>
                      </a:r>
                      <a:endParaRPr sz="1100"/>
                    </a:p>
                  </a:txBody>
                  <a:tcPr marL="771525"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Rice-based</a:t>
                      </a:r>
                      <a:endParaRPr sz="1100"/>
                    </a:p>
                  </a:txBody>
                  <a:tcPr marL="771525"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Corn-based</a:t>
                      </a:r>
                      <a:endParaRPr sz="1100"/>
                    </a:p>
                  </a:txBody>
                  <a:tcPr marL="771525"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Millet-based</a:t>
                      </a:r>
                      <a:endParaRPr sz="1100"/>
                    </a:p>
                  </a:txBody>
                  <a:tcPr marL="771525"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Almond and other nut flour-based</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Other single-flour bases</a:t>
                      </a:r>
                      <a:endParaRPr sz="1100"/>
                    </a:p>
                  </a:txBody>
                  <a:tcPr marL="771525"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Multigrain and blended flour bases</a:t>
                      </a:r>
                      <a:endParaRPr sz="1100"/>
                    </a:p>
                  </a:txBody>
                  <a:tcPr marL="7715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Dietary Formulation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Conventional</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Gluten-free</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Vegan</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Gluten-free and vegan</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Nutritional Positioning</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Standard/indulgent</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Protein-enriched</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Fibre-enriched</a:t>
                      </a:r>
                      <a:endParaRPr sz="1100"/>
                    </a:p>
                  </a:txBody>
                  <a:tcPr marL="771525" marR="9525" marT="9525" marB="0" anchor="ctr"/>
                </a:tc>
              </a:tr>
              <a:tr h="175260">
                <a:tc>
                  <a:txBody>
                    <a:bodyPr wrap="square"/>
                    <a:lstStyle/>
                    <a:p>
                      <a:pPr algn="l"/>
                      <a:r>
                        <a:rPr sz="1100" b="0" i="0">
                          <a:solidFill>
                            <a:srgbClr val="000000"/>
                          </a:solidFill>
                          <a:latin typeface="Calibri"/>
                        </a:rPr>
                        <a:t>7.5.4.</a:t>
                      </a:r>
                      <a:r>
                        <a:rPr sz="700" b="0" i="0">
                          <a:solidFill>
                            <a:srgbClr val="000000"/>
                          </a:solidFill>
                          <a:latin typeface="Times New Roman"/>
                        </a:rPr>
                        <a:t>   </a:t>
                      </a:r>
                      <a:r>
                        <a:rPr sz="1100" b="0" i="0">
                          <a:solidFill>
                            <a:srgbClr val="000000"/>
                          </a:solidFill>
                          <a:latin typeface="Calibri"/>
                        </a:rPr>
                        <a:t>Reduced-sugar</a:t>
                      </a:r>
                      <a:endParaRPr sz="1100"/>
                    </a:p>
                  </a:txBody>
                  <a:tcPr marL="771525" marR="9525" marT="9525" marB="0" anchor="ctr"/>
                </a:tc>
              </a:tr>
              <a:tr h="175260">
                <a:tc>
                  <a:txBody>
                    <a:bodyPr wrap="square"/>
                    <a:lstStyle/>
                    <a:p>
                      <a:pPr algn="l"/>
                      <a:r>
                        <a:rPr sz="1100" b="0" i="0">
                          <a:solidFill>
                            <a:srgbClr val="000000"/>
                          </a:solidFill>
                          <a:latin typeface="Calibri"/>
                        </a:rPr>
                        <a:t>7.5.5.</a:t>
                      </a:r>
                      <a:r>
                        <a:rPr sz="700" b="0" i="0">
                          <a:solidFill>
                            <a:srgbClr val="000000"/>
                          </a:solidFill>
                          <a:latin typeface="Times New Roman"/>
                        </a:rPr>
                        <a:t>   </a:t>
                      </a:r>
                      <a:r>
                        <a:rPr sz="1100" b="0" i="0">
                          <a:solidFill>
                            <a:srgbClr val="000000"/>
                          </a:solidFill>
                          <a:latin typeface="Calibri"/>
                        </a:rPr>
                        <a:t>No-added-sugar</a:t>
                      </a:r>
                      <a:endParaRPr sz="1100"/>
                    </a:p>
                  </a:txBody>
                  <a:tcPr marL="771525" marR="9525" marT="9525" marB="0" anchor="ctr"/>
                </a:tc>
              </a:tr>
              <a:tr h="175260">
                <a:tc>
                  <a:txBody>
                    <a:bodyPr wrap="square"/>
                    <a:lstStyle/>
                    <a:p>
                      <a:pPr algn="l"/>
                      <a:r>
                        <a:rPr sz="1100" b="0" i="0">
                          <a:solidFill>
                            <a:srgbClr val="000000"/>
                          </a:solidFill>
                          <a:latin typeface="Calibri"/>
                        </a:rPr>
                        <a:t>7.5.6.</a:t>
                      </a:r>
                      <a:r>
                        <a:rPr sz="700" b="0" i="0">
                          <a:solidFill>
                            <a:srgbClr val="000000"/>
                          </a:solidFill>
                          <a:latin typeface="Times New Roman"/>
                        </a:rPr>
                        <a:t>   </a:t>
                      </a:r>
                      <a:r>
                        <a:rPr sz="1100" b="0" i="0">
                          <a:solidFill>
                            <a:srgbClr val="000000"/>
                          </a:solidFill>
                          <a:latin typeface="Calibri"/>
                        </a:rPr>
                        <a:t>Reduced-fat</a:t>
                      </a:r>
                      <a:endParaRPr sz="1100"/>
                    </a:p>
                  </a:txBody>
                  <a:tcPr marL="771525" marR="9525" marT="9525" marB="0" anchor="ctr"/>
                </a:tc>
              </a:tr>
              <a:tr h="175260">
                <a:tc>
                  <a:txBody>
                    <a:bodyPr wrap="square"/>
                    <a:lstStyle/>
                    <a:p>
                      <a:pPr algn="l"/>
                      <a:r>
                        <a:rPr sz="1100" b="0" i="0">
                          <a:solidFill>
                            <a:srgbClr val="000000"/>
                          </a:solidFill>
                          <a:latin typeface="Calibri"/>
                        </a:rPr>
                        <a:t>7.5.7.</a:t>
                      </a:r>
                      <a:r>
                        <a:rPr sz="700" b="0" i="0">
                          <a:solidFill>
                            <a:srgbClr val="000000"/>
                          </a:solidFill>
                          <a:latin typeface="Times New Roman"/>
                        </a:rPr>
                        <a:t>   </a:t>
                      </a:r>
                      <a:r>
                        <a:rPr sz="1100" b="0" i="0">
                          <a:solidFill>
                            <a:srgbClr val="000000"/>
                          </a:solidFill>
                          <a:latin typeface="Calibri"/>
                        </a:rPr>
                        <a:t>Other nutrition-focused formulations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Recipe and Ingredient Claims</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Organic-certified</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Conventional/non-organic</a:t>
                      </a:r>
                      <a:endParaRPr sz="1100"/>
                    </a:p>
                  </a:txBody>
                  <a:tcPr marL="771525" marR="9525" marT="9525" marB="0" anchor="ctr"/>
                </a:tc>
              </a:tr>
              <a:tr h="175260">
                <a:tc>
                  <a:txBody>
                    <a:bodyPr wrap="square"/>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Additional claim mapping</a:t>
                      </a:r>
                      <a:endParaRPr sz="1100"/>
                    </a:p>
                  </a:txBody>
                  <a:tcPr marL="771525" marR="9525" marT="9525" marB="0" anchor="ctr"/>
                </a:tc>
              </a:tr>
              <a:tr h="175260">
                <a:tc>
                  <a:txBody>
                    <a:bodyPr wrap="square"/>
                    <a:lstStyle/>
                    <a:p>
                      <a:pPr algn="l"/>
                      <a:r>
                        <a:rPr sz="1100" b="0" i="1">
                          <a:solidFill>
                            <a:srgbClr val="000000"/>
                          </a:solidFill>
                          <a:latin typeface="Calibri"/>
                        </a:rPr>
                        <a:t>8.5.3.1.</a:t>
                      </a:r>
                      <a:r>
                        <a:rPr sz="700" b="0" i="1">
                          <a:solidFill>
                            <a:srgbClr val="000000"/>
                          </a:solidFill>
                          <a:latin typeface="Times New Roman"/>
                        </a:rPr>
                        <a:t>    </a:t>
                      </a:r>
                      <a:r>
                        <a:rPr sz="1100" b="0" i="1">
                          <a:solidFill>
                            <a:srgbClr val="000000"/>
                          </a:solidFill>
                          <a:latin typeface="Calibri"/>
                        </a:rPr>
                        <a:t>Clean-label positioning</a:t>
                      </a:r>
                      <a:endParaRPr sz="1100"/>
                    </a:p>
                  </a:txBody>
                  <a:tcPr marL="1028700" marR="9525" marT="9525" marB="0" anchor="ctr"/>
                </a:tc>
              </a:tr>
              <a:tr h="175260">
                <a:tc>
                  <a:txBody>
                    <a:bodyPr wrap="square"/>
                    <a:lstStyle/>
                    <a:p>
                      <a:pPr algn="l"/>
                      <a:r>
                        <a:rPr sz="1100" b="0" i="1">
                          <a:solidFill>
                            <a:srgbClr val="000000"/>
                          </a:solidFill>
                          <a:latin typeface="Calibri"/>
                        </a:rPr>
                        <a:t>8.5.3.2.</a:t>
                      </a:r>
                      <a:r>
                        <a:rPr sz="700" b="0" i="1">
                          <a:solidFill>
                            <a:srgbClr val="000000"/>
                          </a:solidFill>
                          <a:latin typeface="Times New Roman"/>
                        </a:rPr>
                        <a:t>    </a:t>
                      </a:r>
                      <a:r>
                        <a:rPr sz="1100" b="0" i="1">
                          <a:solidFill>
                            <a:srgbClr val="000000"/>
                          </a:solidFill>
                          <a:latin typeface="Calibri"/>
                        </a:rPr>
                        <a:t>No artificial colours</a:t>
                      </a:r>
                      <a:endParaRPr sz="1100"/>
                    </a:p>
                  </a:txBody>
                  <a:tcPr marL="1028700" marR="9525" marT="9525" marB="0" anchor="ctr"/>
                </a:tc>
              </a:tr>
              <a:tr h="175260">
                <a:tc>
                  <a:txBody>
                    <a:bodyPr wrap="square"/>
                    <a:lstStyle/>
                    <a:p>
                      <a:pPr algn="l"/>
                      <a:r>
                        <a:rPr sz="1100" b="0" i="1">
                          <a:solidFill>
                            <a:srgbClr val="000000"/>
                          </a:solidFill>
                          <a:latin typeface="Calibri"/>
                        </a:rPr>
                        <a:t>8.5.3.3.</a:t>
                      </a:r>
                      <a:r>
                        <a:rPr sz="700" b="0" i="1">
                          <a:solidFill>
                            <a:srgbClr val="000000"/>
                          </a:solidFill>
                          <a:latin typeface="Times New Roman"/>
                        </a:rPr>
                        <a:t>    </a:t>
                      </a:r>
                      <a:r>
                        <a:rPr sz="1100" b="0" i="1">
                          <a:solidFill>
                            <a:srgbClr val="000000"/>
                          </a:solidFill>
                          <a:latin typeface="Calibri"/>
                        </a:rPr>
                        <a:t>No artificial flavours</a:t>
                      </a:r>
                      <a:endParaRPr sz="1100"/>
                    </a:p>
                  </a:txBody>
                  <a:tcPr marL="1028700" marR="9525" marT="9525" marB="0" anchor="ctr"/>
                </a:tc>
              </a:tr>
              <a:tr h="175260">
                <a:tc>
                  <a:txBody>
                    <a:bodyPr wrap="square"/>
                    <a:lstStyle/>
                    <a:p>
                      <a:pPr algn="l"/>
                      <a:r>
                        <a:rPr sz="1100" b="0" i="1">
                          <a:solidFill>
                            <a:srgbClr val="000000"/>
                          </a:solidFill>
                          <a:latin typeface="Calibri"/>
                        </a:rPr>
                        <a:t>8.5.3.4.</a:t>
                      </a:r>
                      <a:r>
                        <a:rPr sz="700" b="0" i="1">
                          <a:solidFill>
                            <a:srgbClr val="000000"/>
                          </a:solidFill>
                          <a:latin typeface="Times New Roman"/>
                        </a:rPr>
                        <a:t>    </a:t>
                      </a:r>
                      <a:r>
                        <a:rPr sz="1100" b="0" i="1">
                          <a:solidFill>
                            <a:srgbClr val="000000"/>
                          </a:solidFill>
                          <a:latin typeface="Calibri"/>
                        </a:rPr>
                        <a:t>No artificial preservatives</a:t>
                      </a:r>
                      <a:endParaRPr sz="1100"/>
                    </a:p>
                  </a:txBody>
                  <a:tcPr marL="1028700" marR="9525" marT="9525" marB="0" anchor="ctr"/>
                </a:tc>
              </a:tr>
              <a:tr h="175260">
                <a:tc>
                  <a:txBody>
                    <a:bodyPr wrap="square"/>
                    <a:lstStyle/>
                    <a:p>
                      <a:pPr algn="l"/>
                      <a:r>
                        <a:rPr sz="1100" b="0" i="1">
                          <a:solidFill>
                            <a:srgbClr val="000000"/>
                          </a:solidFill>
                          <a:latin typeface="Calibri"/>
                        </a:rPr>
                        <a:t>8.5.3.5.</a:t>
                      </a:r>
                      <a:r>
                        <a:rPr sz="700" b="0" i="1">
                          <a:solidFill>
                            <a:srgbClr val="000000"/>
                          </a:solidFill>
                          <a:latin typeface="Times New Roman"/>
                        </a:rPr>
                        <a:t>    </a:t>
                      </a:r>
                      <a:r>
                        <a:rPr sz="1100" b="0" i="1">
                          <a:solidFill>
                            <a:srgbClr val="000000"/>
                          </a:solidFill>
                          <a:latin typeface="Calibri"/>
                        </a:rPr>
                        <a:t>Non-GMO</a:t>
                      </a:r>
                      <a:endParaRPr sz="1100"/>
                    </a:p>
                  </a:txBody>
                  <a:tcPr marL="1028700" marR="9525" marT="9525" marB="0" anchor="ctr"/>
                </a:tc>
              </a:tr>
              <a:tr h="175260">
                <a:tc>
                  <a:txBody>
                    <a:bodyPr wrap="square"/>
                    <a:lstStyle/>
                    <a:p>
                      <a:pPr algn="l"/>
                      <a:r>
                        <a:rPr sz="1100" b="0" i="1">
                          <a:solidFill>
                            <a:srgbClr val="000000"/>
                          </a:solidFill>
                          <a:latin typeface="Calibri"/>
                        </a:rPr>
                        <a:t>8.5.3.6.</a:t>
                      </a:r>
                      <a:r>
                        <a:rPr sz="700" b="0" i="1">
                          <a:solidFill>
                            <a:srgbClr val="000000"/>
                          </a:solidFill>
                          <a:latin typeface="Times New Roman"/>
                        </a:rPr>
                        <a:t>    </a:t>
                      </a:r>
                      <a:r>
                        <a:rPr sz="1100" b="0" i="1">
                          <a:solidFill>
                            <a:srgbClr val="000000"/>
                          </a:solidFill>
                          <a:latin typeface="Calibri"/>
                        </a:rPr>
                        <a:t>Dairy-free</a:t>
                      </a:r>
                      <a:endParaRPr sz="1100"/>
                    </a:p>
                  </a:txBody>
                  <a:tcPr marL="1028700" marR="9525" marT="9525" marB="0" anchor="ctr"/>
                </a:tc>
              </a:tr>
              <a:tr h="175260">
                <a:tc>
                  <a:txBody>
                    <a:bodyPr wrap="square"/>
                    <a:lstStyle/>
                    <a:p>
                      <a:pPr algn="l"/>
                      <a:r>
                        <a:rPr sz="1100" b="0" i="1">
                          <a:solidFill>
                            <a:srgbClr val="000000"/>
                          </a:solidFill>
                          <a:latin typeface="Calibri"/>
                        </a:rPr>
                        <a:t>8.5.3.7.</a:t>
                      </a:r>
                      <a:r>
                        <a:rPr sz="700" b="0" i="1">
                          <a:solidFill>
                            <a:srgbClr val="000000"/>
                          </a:solidFill>
                          <a:latin typeface="Times New Roman"/>
                        </a:rPr>
                        <a:t>    </a:t>
                      </a:r>
                      <a:r>
                        <a:rPr sz="1100" b="0" i="1">
                          <a:solidFill>
                            <a:srgbClr val="000000"/>
                          </a:solidFill>
                          <a:latin typeface="Calibri"/>
                        </a:rPr>
                        <a:t>Egg-free</a:t>
                      </a:r>
                      <a:endParaRPr sz="1100"/>
                    </a:p>
                  </a:txBody>
                  <a:tcPr marL="1028700" marR="9525" marT="9525" marB="0" anchor="ctr"/>
                </a:tc>
              </a:tr>
              <a:tr h="175260">
                <a:tc>
                  <a:txBody>
                    <a:bodyPr wrap="square"/>
                    <a:lstStyle/>
                    <a:p>
                      <a:pPr algn="l"/>
                      <a:r>
                        <a:rPr sz="1100" b="0" i="1">
                          <a:solidFill>
                            <a:srgbClr val="000000"/>
                          </a:solidFill>
                          <a:latin typeface="Calibri"/>
                        </a:rPr>
                        <a:t>8.5.3.8.</a:t>
                      </a:r>
                      <a:r>
                        <a:rPr sz="700" b="0" i="1">
                          <a:solidFill>
                            <a:srgbClr val="000000"/>
                          </a:solidFill>
                          <a:latin typeface="Times New Roman"/>
                        </a:rPr>
                        <a:t>    </a:t>
                      </a:r>
                      <a:r>
                        <a:rPr sz="1100" b="0" i="1">
                          <a:solidFill>
                            <a:srgbClr val="000000"/>
                          </a:solidFill>
                          <a:latin typeface="Calibri"/>
                        </a:rPr>
                        <a:t>Nut-free</a:t>
                      </a:r>
                      <a:endParaRPr sz="1100"/>
                    </a:p>
                  </a:txBody>
                  <a:tcPr marL="1028700"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Product Structure</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Unfilled muffins</a:t>
                      </a:r>
                      <a:endParaRPr sz="1100"/>
                    </a:p>
                  </a:txBody>
                  <a:tcPr marL="1028700" marR="9525" marT="9525" marB="0" anchor="ctr"/>
                </a:tc>
              </a:tr>
              <a:tr h="175260">
                <a:tc>
                  <a:txBody>
                    <a:bodyPr wrap="square"/>
                    <a:lstStyle/>
                    <a:p>
                      <a:pPr algn="l"/>
                      <a:r>
                        <a:rPr sz="1100" b="0" i="1">
                          <a:solidFill>
                            <a:srgbClr val="000000"/>
                          </a:solidFill>
                          <a:latin typeface="Calibri"/>
                        </a:rPr>
                        <a:t>9.5.1.1.1.</a:t>
                      </a:r>
                      <a:r>
                        <a:rPr sz="700" b="0" i="1">
                          <a:solidFill>
                            <a:srgbClr val="000000"/>
                          </a:solidFill>
                          <a:latin typeface="Times New Roman"/>
                        </a:rPr>
                        <a:t>    </a:t>
                      </a:r>
                      <a:r>
                        <a:rPr sz="1100" b="0" i="1">
                          <a:solidFill>
                            <a:srgbClr val="000000"/>
                          </a:solidFill>
                          <a:latin typeface="Calibri"/>
                        </a:rPr>
                        <a:t>Plain batter</a:t>
                      </a:r>
                      <a:endParaRPr sz="1100"/>
                    </a:p>
                  </a:txBody>
                  <a:tcPr marL="1257300" marR="9525" marT="9525" marB="0" anchor="ctr"/>
                </a:tc>
              </a:tr>
              <a:tr h="175260">
                <a:tc>
                  <a:txBody>
                    <a:bodyPr wrap="square"/>
                    <a:lstStyle/>
                    <a:p>
                      <a:pPr algn="l"/>
                      <a:r>
                        <a:rPr sz="1100" b="0" i="1">
                          <a:solidFill>
                            <a:srgbClr val="000000"/>
                          </a:solidFill>
                          <a:latin typeface="Calibri"/>
                        </a:rPr>
                        <a:t>9.5.1.1.2.</a:t>
                      </a:r>
                      <a:r>
                        <a:rPr sz="700" b="0" i="1">
                          <a:solidFill>
                            <a:srgbClr val="000000"/>
                          </a:solidFill>
                          <a:latin typeface="Times New Roman"/>
                        </a:rPr>
                        <a:t>    </a:t>
                      </a:r>
                      <a:r>
                        <a:rPr sz="1100" b="0" i="1">
                          <a:solidFill>
                            <a:srgbClr val="000000"/>
                          </a:solidFill>
                          <a:latin typeface="Calibri"/>
                        </a:rPr>
                        <a:t>Batter with inclusions</a:t>
                      </a:r>
                      <a:endParaRPr sz="1100"/>
                    </a:p>
                  </a:txBody>
                  <a:tcPr marL="12573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Filled muffins</a:t>
                      </a:r>
                      <a:endParaRPr sz="1100"/>
                    </a:p>
                  </a:txBody>
                  <a:tcPr marL="1028700" marR="9525" marT="9525" marB="0" anchor="ctr"/>
                </a:tc>
              </a:tr>
              <a:tr h="175260">
                <a:tc>
                  <a:txBody>
                    <a:bodyPr wrap="square"/>
                    <a:lstStyle/>
                    <a:p>
                      <a:pPr algn="l"/>
                      <a:r>
                        <a:rPr sz="1100" b="0" i="1">
                          <a:solidFill>
                            <a:srgbClr val="000000"/>
                          </a:solidFill>
                          <a:latin typeface="Calibri"/>
                        </a:rPr>
                        <a:t>9.5.1.2.1.</a:t>
                      </a:r>
                      <a:r>
                        <a:rPr sz="700" b="0" i="1">
                          <a:solidFill>
                            <a:srgbClr val="000000"/>
                          </a:solidFill>
                          <a:latin typeface="Times New Roman"/>
                        </a:rPr>
                        <a:t>    </a:t>
                      </a:r>
                      <a:r>
                        <a:rPr sz="1100" b="0" i="1">
                          <a:solidFill>
                            <a:srgbClr val="000000"/>
                          </a:solidFill>
                          <a:latin typeface="Calibri"/>
                        </a:rPr>
                        <a:t>Fruit and jam-filled</a:t>
                      </a:r>
                      <a:endParaRPr sz="1100"/>
                    </a:p>
                  </a:txBody>
                  <a:tcPr marL="1257300" marR="9525" marT="9525" marB="0" anchor="ctr"/>
                </a:tc>
              </a:tr>
              <a:tr h="175260">
                <a:tc>
                  <a:txBody>
                    <a:bodyPr wrap="square"/>
                    <a:lstStyle/>
                    <a:p>
                      <a:pPr algn="l"/>
                      <a:r>
                        <a:rPr sz="1100" b="0" i="1">
                          <a:solidFill>
                            <a:srgbClr val="000000"/>
                          </a:solidFill>
                          <a:latin typeface="Calibri"/>
                        </a:rPr>
                        <a:t>9.5.1.2.2.</a:t>
                      </a:r>
                      <a:r>
                        <a:rPr sz="700" b="0" i="1">
                          <a:solidFill>
                            <a:srgbClr val="000000"/>
                          </a:solidFill>
                          <a:latin typeface="Times New Roman"/>
                        </a:rPr>
                        <a:t>    </a:t>
                      </a:r>
                      <a:r>
                        <a:rPr sz="1100" b="0" i="1">
                          <a:solidFill>
                            <a:srgbClr val="000000"/>
                          </a:solidFill>
                          <a:latin typeface="Calibri"/>
                        </a:rPr>
                        <a:t>Chocolate-filled</a:t>
                      </a:r>
                      <a:endParaRPr sz="1100"/>
                    </a:p>
                  </a:txBody>
                  <a:tcPr marL="1257300" marR="9525" marT="9525" marB="0" anchor="ctr"/>
                </a:tc>
              </a:tr>
              <a:tr h="175260">
                <a:tc>
                  <a:txBody>
                    <a:bodyPr wrap="square"/>
                    <a:lstStyle/>
                    <a:p>
                      <a:pPr algn="l"/>
                      <a:r>
                        <a:rPr sz="1100" b="0" i="1">
                          <a:solidFill>
                            <a:srgbClr val="000000"/>
                          </a:solidFill>
                          <a:latin typeface="Calibri"/>
                        </a:rPr>
                        <a:t>9.5.1.2.3.</a:t>
                      </a:r>
                      <a:r>
                        <a:rPr sz="700" b="0" i="1">
                          <a:solidFill>
                            <a:srgbClr val="000000"/>
                          </a:solidFill>
                          <a:latin typeface="Times New Roman"/>
                        </a:rPr>
                        <a:t>    </a:t>
                      </a:r>
                      <a:r>
                        <a:rPr sz="1100" b="0" i="1">
                          <a:solidFill>
                            <a:srgbClr val="000000"/>
                          </a:solidFill>
                          <a:latin typeface="Calibri"/>
                        </a:rPr>
                        <a:t>Cream and custard-filled</a:t>
                      </a:r>
                      <a:endParaRPr sz="1100"/>
                    </a:p>
                  </a:txBody>
                  <a:tcPr marL="1257300" marR="9525" marT="9525" marB="0" anchor="ctr"/>
                </a:tc>
              </a:tr>
              <a:tr h="175260">
                <a:tc>
                  <a:txBody>
                    <a:bodyPr wrap="square"/>
                    <a:lstStyle/>
                    <a:p>
                      <a:pPr algn="l"/>
                      <a:r>
                        <a:rPr sz="1100" b="0" i="1">
                          <a:solidFill>
                            <a:srgbClr val="000000"/>
                          </a:solidFill>
                          <a:latin typeface="Calibri"/>
                        </a:rPr>
                        <a:t>9.5.1.2.4.</a:t>
                      </a:r>
                      <a:r>
                        <a:rPr sz="700" b="0" i="1">
                          <a:solidFill>
                            <a:srgbClr val="000000"/>
                          </a:solidFill>
                          <a:latin typeface="Times New Roman"/>
                        </a:rPr>
                        <a:t>    </a:t>
                      </a:r>
                      <a:r>
                        <a:rPr sz="1100" b="0" i="1">
                          <a:solidFill>
                            <a:srgbClr val="000000"/>
                          </a:solidFill>
                          <a:latin typeface="Calibri"/>
                        </a:rPr>
                        <a:t>Nut butter-filled</a:t>
                      </a:r>
                      <a:endParaRPr sz="1100"/>
                    </a:p>
                  </a:txBody>
                  <a:tcPr marL="1257300" marR="9525" marT="9525" marB="0" anchor="ctr"/>
                </a:tc>
              </a:tr>
              <a:tr h="175260">
                <a:tc>
                  <a:txBody>
                    <a:bodyPr wrap="square"/>
                    <a:lstStyle/>
                    <a:p>
                      <a:pPr algn="l"/>
                      <a:r>
                        <a:rPr sz="1100" b="0" i="1">
                          <a:solidFill>
                            <a:srgbClr val="000000"/>
                          </a:solidFill>
                          <a:latin typeface="Calibri"/>
                        </a:rPr>
                        <a:t>9.5.1.2.5.</a:t>
                      </a:r>
                      <a:r>
                        <a:rPr sz="700" b="0" i="1">
                          <a:solidFill>
                            <a:srgbClr val="000000"/>
                          </a:solidFill>
                          <a:latin typeface="Times New Roman"/>
                        </a:rPr>
                        <a:t>    </a:t>
                      </a:r>
                      <a:r>
                        <a:rPr sz="1100" b="0" i="1">
                          <a:solidFill>
                            <a:srgbClr val="000000"/>
                          </a:solidFill>
                          <a:latin typeface="Calibri"/>
                        </a:rPr>
                        <a:t>Cheese and savoury-filled</a:t>
                      </a:r>
                      <a:endParaRPr sz="1100"/>
                    </a:p>
                  </a:txBody>
                  <a:tcPr marL="1257300"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Surface Finish</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Untopped</a:t>
                      </a:r>
                      <a:endParaRPr sz="1100"/>
                    </a:p>
                  </a:txBody>
                  <a:tcPr marL="771525" marR="9525" marT="9525" marB="0" anchor="ctr"/>
                </a:tc>
              </a:tr>
              <a:tr h="175260">
                <a:tc>
                  <a:txBody>
                    <a:bodyPr wrap="square"/>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Crumb/streusel-topped</a:t>
                      </a:r>
                      <a:endParaRPr sz="1100"/>
                    </a:p>
                  </a:txBody>
                  <a:tcPr marL="771525" marR="9525" marT="9525" marB="0" anchor="ctr"/>
                </a:tc>
              </a:tr>
              <a:tr h="175260">
                <a:tc>
                  <a:txBody>
                    <a:bodyPr wrap="square"/>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Sugar-topped</a:t>
                      </a:r>
                      <a:endParaRPr sz="1100"/>
                    </a:p>
                  </a:txBody>
                  <a:tcPr marL="771525" marR="9525" marT="9525" marB="0" anchor="ctr"/>
                </a:tc>
              </a:tr>
              <a:tr h="175260">
                <a:tc>
                  <a:txBody>
                    <a:bodyPr wrap="square"/>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Nut and seed-topped</a:t>
                      </a:r>
                      <a:endParaRPr sz="1100"/>
                    </a:p>
                  </a:txBody>
                  <a:tcPr marL="771525" marR="9525" marT="9525" marB="0" anchor="ctr"/>
                </a:tc>
              </a:tr>
              <a:tr h="175260">
                <a:tc>
                  <a:txBody>
                    <a:bodyPr wrap="square"/>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Glazed/drizzled</a:t>
                      </a:r>
                      <a:endParaRPr sz="1100"/>
                    </a:p>
                  </a:txBody>
                  <a:tcPr marL="771525" marR="9525" marT="9525" marB="0" anchor="ctr"/>
                </a:tc>
              </a:tr>
              <a:tr h="175260">
                <a:tc>
                  <a:txBody>
                    <a:bodyPr wrap="square"/>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Other toppings</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Global Market (Value- Volume) Analysis 2021–2036, By Individual Muffin Size</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11.5.1.</a:t>
                      </a:r>
                      <a:r>
                        <a:rPr sz="700" b="0" i="0">
                          <a:solidFill>
                            <a:srgbClr val="000000"/>
                          </a:solidFill>
                          <a:latin typeface="Times New Roman"/>
                        </a:rPr>
                        <a:t> </a:t>
                      </a:r>
                      <a:r>
                        <a:rPr sz="1100" b="0" i="0">
                          <a:solidFill>
                            <a:srgbClr val="000000"/>
                          </a:solidFill>
                          <a:latin typeface="Calibri"/>
                        </a:rPr>
                        <a:t>Mini/bite-sized - below 30 g</a:t>
                      </a:r>
                      <a:endParaRPr sz="1100"/>
                    </a:p>
                  </a:txBody>
                  <a:tcPr marL="771525" marR="9525" marT="9525" marB="0" anchor="ctr"/>
                </a:tc>
              </a:tr>
              <a:tr h="175260">
                <a:tc>
                  <a:txBody>
                    <a:bodyPr wrap="square"/>
                    <a:lstStyle/>
                    <a:p>
                      <a:pPr algn="l"/>
                      <a:r>
                        <a:rPr sz="1100" b="0" i="0">
                          <a:solidFill>
                            <a:srgbClr val="000000"/>
                          </a:solidFill>
                          <a:latin typeface="Calibri"/>
                        </a:rPr>
                        <a:t>11.5.2.</a:t>
                      </a:r>
                      <a:r>
                        <a:rPr sz="700" b="0" i="0">
                          <a:solidFill>
                            <a:srgbClr val="000000"/>
                          </a:solidFill>
                          <a:latin typeface="Times New Roman"/>
                        </a:rPr>
                        <a:t> </a:t>
                      </a:r>
                      <a:r>
                        <a:rPr sz="1100" b="0" i="0">
                          <a:solidFill>
                            <a:srgbClr val="000000"/>
                          </a:solidFill>
                          <a:latin typeface="Calibri"/>
                        </a:rPr>
                        <a:t>Small - 30 g to below 60 g</a:t>
                      </a:r>
                      <a:endParaRPr sz="1100"/>
                    </a:p>
                  </a:txBody>
                  <a:tcPr marL="771525" marR="9525" marT="9525" marB="0" anchor="ctr"/>
                </a:tc>
              </a:tr>
              <a:tr h="175260">
                <a:tc>
                  <a:txBody>
                    <a:bodyPr wrap="square"/>
                    <a:lstStyle/>
                    <a:p>
                      <a:pPr algn="l"/>
                      <a:r>
                        <a:rPr sz="1100" b="0" i="0">
                          <a:solidFill>
                            <a:srgbClr val="000000"/>
                          </a:solidFill>
                          <a:latin typeface="Calibri"/>
                        </a:rPr>
                        <a:t>11.5.3.</a:t>
                      </a:r>
                      <a:r>
                        <a:rPr sz="700" b="0" i="0">
                          <a:solidFill>
                            <a:srgbClr val="000000"/>
                          </a:solidFill>
                          <a:latin typeface="Times New Roman"/>
                        </a:rPr>
                        <a:t> </a:t>
                      </a:r>
                      <a:r>
                        <a:rPr sz="1100" b="0" i="0">
                          <a:solidFill>
                            <a:srgbClr val="000000"/>
                          </a:solidFill>
                          <a:latin typeface="Calibri"/>
                        </a:rPr>
                        <a:t>Standard - 60 g to below 100 g</a:t>
                      </a:r>
                      <a:endParaRPr sz="1100"/>
                    </a:p>
                  </a:txBody>
                  <a:tcPr marL="771525" marR="9525" marT="9525" marB="0" anchor="ctr"/>
                </a:tc>
              </a:tr>
              <a:tr h="175260">
                <a:tc>
                  <a:txBody>
                    <a:bodyPr wrap="square"/>
                    <a:lstStyle/>
                    <a:p>
                      <a:pPr algn="l"/>
                      <a:r>
                        <a:rPr sz="1100" b="0" i="0">
                          <a:solidFill>
                            <a:srgbClr val="000000"/>
                          </a:solidFill>
                          <a:latin typeface="Calibri"/>
                        </a:rPr>
                        <a:t>11.5.4.</a:t>
                      </a:r>
                      <a:r>
                        <a:rPr sz="700" b="0" i="0">
                          <a:solidFill>
                            <a:srgbClr val="000000"/>
                          </a:solidFill>
                          <a:latin typeface="Times New Roman"/>
                        </a:rPr>
                        <a:t> </a:t>
                      </a:r>
                      <a:r>
                        <a:rPr sz="1100" b="0" i="0">
                          <a:solidFill>
                            <a:srgbClr val="000000"/>
                          </a:solidFill>
                          <a:latin typeface="Calibri"/>
                        </a:rPr>
                        <a:t>Large/jumbo - 100 g and above</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12.5.1.</a:t>
                      </a:r>
                      <a:r>
                        <a:rPr sz="700" b="0" i="0">
                          <a:solidFill>
                            <a:srgbClr val="000000"/>
                          </a:solidFill>
                          <a:latin typeface="Times New Roman"/>
                        </a:rPr>
                        <a:t> </a:t>
                      </a:r>
                      <a:r>
                        <a:rPr sz="1100" b="0" i="0">
                          <a:solidFill>
                            <a:srgbClr val="000000"/>
                          </a:solidFill>
                          <a:latin typeface="Calibri"/>
                        </a:rPr>
                        <a:t>Ambient</a:t>
                      </a:r>
                      <a:endParaRPr sz="1100"/>
                    </a:p>
                  </a:txBody>
                  <a:tcPr marL="771525" marR="9525" marT="9525" marB="0" anchor="ctr"/>
                </a:tc>
              </a:tr>
              <a:tr h="175260">
                <a:tc>
                  <a:txBody>
                    <a:bodyPr wrap="square"/>
                    <a:lstStyle/>
                    <a:p>
                      <a:pPr algn="l"/>
                      <a:r>
                        <a:rPr sz="1100" b="0" i="0">
                          <a:solidFill>
                            <a:srgbClr val="000000"/>
                          </a:solidFill>
                          <a:latin typeface="Calibri"/>
                        </a:rPr>
                        <a:t>12.5.2.</a:t>
                      </a:r>
                      <a:r>
                        <a:rPr sz="700" b="0" i="0">
                          <a:solidFill>
                            <a:srgbClr val="000000"/>
                          </a:solidFill>
                          <a:latin typeface="Times New Roman"/>
                        </a:rPr>
                        <a:t> </a:t>
                      </a:r>
                      <a:r>
                        <a:rPr sz="1100" b="0" i="0">
                          <a:solidFill>
                            <a:srgbClr val="000000"/>
                          </a:solidFill>
                          <a:latin typeface="Calibri"/>
                        </a:rPr>
                        <a:t>Chilled</a:t>
                      </a:r>
                      <a:endParaRPr sz="1100"/>
                    </a:p>
                  </a:txBody>
                  <a:tcPr marL="771525" marR="9525" marT="9525" marB="0" anchor="ctr"/>
                </a:tc>
              </a:tr>
              <a:tr h="175260">
                <a:tc>
                  <a:txBody>
                    <a:bodyPr wrap="square"/>
                    <a:lstStyle/>
                    <a:p>
                      <a:pPr algn="l"/>
                      <a:r>
                        <a:rPr sz="1100" b="0" i="0">
                          <a:solidFill>
                            <a:srgbClr val="000000"/>
                          </a:solidFill>
                          <a:latin typeface="Calibri"/>
                        </a:rPr>
                        <a:t>12.5.3.</a:t>
                      </a:r>
                      <a:r>
                        <a:rPr sz="700" b="0" i="0">
                          <a:solidFill>
                            <a:srgbClr val="000000"/>
                          </a:solidFill>
                          <a:latin typeface="Times New Roman"/>
                        </a:rPr>
                        <a:t> </a:t>
                      </a:r>
                      <a:r>
                        <a:rPr sz="1100" b="0" i="0">
                          <a:solidFill>
                            <a:srgbClr val="000000"/>
                          </a:solidFill>
                          <a:latin typeface="Calibri"/>
                        </a:rPr>
                        <a:t>Frozen</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Global Market (Value- Volume) Analysis 2021–2036, By Shelf Life</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13.5.1.</a:t>
                      </a:r>
                      <a:r>
                        <a:rPr sz="700" b="0" i="0">
                          <a:solidFill>
                            <a:srgbClr val="000000"/>
                          </a:solidFill>
                          <a:latin typeface="Times New Roman"/>
                        </a:rPr>
                        <a:t> </a:t>
                      </a:r>
                      <a:r>
                        <a:rPr sz="1100" b="0" i="0">
                          <a:solidFill>
                            <a:srgbClr val="000000"/>
                          </a:solidFill>
                          <a:latin typeface="Calibri"/>
                        </a:rPr>
                        <a:t>Up to 7 days</a:t>
                      </a:r>
                      <a:endParaRPr sz="1100"/>
                    </a:p>
                  </a:txBody>
                  <a:tcPr marL="771525" marR="9525" marT="9525" marB="0" anchor="ctr"/>
                </a:tc>
              </a:tr>
              <a:tr h="175260">
                <a:tc>
                  <a:txBody>
                    <a:bodyPr wrap="square"/>
                    <a:lstStyle/>
                    <a:p>
                      <a:pPr algn="l"/>
                      <a:r>
                        <a:rPr sz="1100" b="0" i="0">
                          <a:solidFill>
                            <a:srgbClr val="000000"/>
                          </a:solidFill>
                          <a:latin typeface="Calibri"/>
                        </a:rPr>
                        <a:t>13.5.2.</a:t>
                      </a:r>
                      <a:r>
                        <a:rPr sz="700" b="0" i="0">
                          <a:solidFill>
                            <a:srgbClr val="000000"/>
                          </a:solidFill>
                          <a:latin typeface="Times New Roman"/>
                        </a:rPr>
                        <a:t> </a:t>
                      </a:r>
                      <a:r>
                        <a:rPr sz="1100" b="0" i="0">
                          <a:solidFill>
                            <a:srgbClr val="000000"/>
                          </a:solidFill>
                          <a:latin typeface="Calibri"/>
                        </a:rPr>
                        <a:t>8–30 days</a:t>
                      </a:r>
                      <a:endParaRPr sz="1100"/>
                    </a:p>
                  </a:txBody>
                  <a:tcPr marL="771525" marR="9525" marT="9525" marB="0" anchor="ctr"/>
                </a:tc>
              </a:tr>
              <a:tr h="175260">
                <a:tc>
                  <a:txBody>
                    <a:bodyPr wrap="square"/>
                    <a:lstStyle/>
                    <a:p>
                      <a:pPr algn="l"/>
                      <a:r>
                        <a:rPr sz="1100" b="0" i="0">
                          <a:solidFill>
                            <a:srgbClr val="000000"/>
                          </a:solidFill>
                          <a:latin typeface="Calibri"/>
                        </a:rPr>
                        <a:t>13.5.3.</a:t>
                      </a:r>
                      <a:r>
                        <a:rPr sz="700" b="0" i="0">
                          <a:solidFill>
                            <a:srgbClr val="000000"/>
                          </a:solidFill>
                          <a:latin typeface="Times New Roman"/>
                        </a:rPr>
                        <a:t> </a:t>
                      </a:r>
                      <a:r>
                        <a:rPr sz="1100" b="0" i="0">
                          <a:solidFill>
                            <a:srgbClr val="000000"/>
                          </a:solidFill>
                          <a:latin typeface="Calibri"/>
                        </a:rPr>
                        <a:t>31–90 days</a:t>
                      </a:r>
                      <a:endParaRPr sz="1100"/>
                    </a:p>
                  </a:txBody>
                  <a:tcPr marL="771525" marR="9525" marT="9525" marB="0" anchor="ctr"/>
                </a:tc>
              </a:tr>
              <a:tr h="175260">
                <a:tc>
                  <a:txBody>
                    <a:bodyPr wrap="square"/>
                    <a:lstStyle/>
                    <a:p>
                      <a:pPr algn="l"/>
                      <a:r>
                        <a:rPr sz="1100" b="0" i="0">
                          <a:solidFill>
                            <a:srgbClr val="000000"/>
                          </a:solidFill>
                          <a:latin typeface="Calibri"/>
                        </a:rPr>
                        <a:t>13.5.4.</a:t>
                      </a:r>
                      <a:r>
                        <a:rPr sz="700" b="0" i="0">
                          <a:solidFill>
                            <a:srgbClr val="000000"/>
                          </a:solidFill>
                          <a:latin typeface="Times New Roman"/>
                        </a:rPr>
                        <a:t> </a:t>
                      </a:r>
                      <a:r>
                        <a:rPr sz="1100" b="0" i="0">
                          <a:solidFill>
                            <a:srgbClr val="000000"/>
                          </a:solidFill>
                          <a:latin typeface="Calibri"/>
                        </a:rPr>
                        <a:t>More than 90 days</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Market (Value- Volume) Analysis 2021–2036, By Packaging Format</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14.5.1.</a:t>
                      </a:r>
                      <a:r>
                        <a:rPr sz="700" b="0" i="0">
                          <a:solidFill>
                            <a:srgbClr val="000000"/>
                          </a:solidFill>
                          <a:latin typeface="Times New Roman"/>
                        </a:rPr>
                        <a:t> </a:t>
                      </a:r>
                      <a:r>
                        <a:rPr sz="1100" b="0" i="0">
                          <a:solidFill>
                            <a:srgbClr val="000000"/>
                          </a:solidFill>
                          <a:latin typeface="Calibri"/>
                        </a:rPr>
                        <a:t>Flexible packs</a:t>
                      </a:r>
                      <a:endParaRPr sz="1100"/>
                    </a:p>
                  </a:txBody>
                  <a:tcPr marL="771525" marR="9525" marT="9525" marB="0" anchor="ctr"/>
                </a:tc>
              </a:tr>
              <a:tr h="175260">
                <a:tc>
                  <a:txBody>
                    <a:bodyPr wrap="square"/>
                    <a:lstStyle/>
                    <a:p>
                      <a:pPr algn="l"/>
                      <a:r>
                        <a:rPr sz="1100" b="0" i="1">
                          <a:solidFill>
                            <a:srgbClr val="000000"/>
                          </a:solidFill>
                          <a:latin typeface="Calibri"/>
                        </a:rPr>
                        <a:t>14.5.1.1.</a:t>
                      </a:r>
                      <a:r>
                        <a:rPr sz="700" b="0" i="1">
                          <a:solidFill>
                            <a:srgbClr val="000000"/>
                          </a:solidFill>
                          <a:latin typeface="Times New Roman"/>
                        </a:rPr>
                        <a:t> </a:t>
                      </a:r>
                      <a:r>
                        <a:rPr sz="1100" b="0" i="1">
                          <a:solidFill>
                            <a:srgbClr val="000000"/>
                          </a:solidFill>
                          <a:latin typeface="Calibri"/>
                        </a:rPr>
                        <a:t>Flow-wrap packs</a:t>
                      </a:r>
                      <a:endParaRPr sz="1100"/>
                    </a:p>
                  </a:txBody>
                  <a:tcPr marL="1028700" marR="9525" marT="9525" marB="0" anchor="ctr"/>
                </a:tc>
              </a:tr>
              <a:tr h="175260">
                <a:tc>
                  <a:txBody>
                    <a:bodyPr wrap="square"/>
                    <a:lstStyle/>
                    <a:p>
                      <a:pPr algn="l"/>
                      <a:r>
                        <a:rPr sz="1100" b="0" i="1">
                          <a:solidFill>
                            <a:srgbClr val="000000"/>
                          </a:solidFill>
                          <a:latin typeface="Calibri"/>
                        </a:rPr>
                        <a:t>14.5.1.2.</a:t>
                      </a:r>
                      <a:r>
                        <a:rPr sz="700" b="0" i="1">
                          <a:solidFill>
                            <a:srgbClr val="000000"/>
                          </a:solidFill>
                          <a:latin typeface="Times New Roman"/>
                        </a:rPr>
                        <a:t> </a:t>
                      </a:r>
                      <a:r>
                        <a:rPr sz="1100" b="0" i="1">
                          <a:solidFill>
                            <a:srgbClr val="000000"/>
                          </a:solidFill>
                          <a:latin typeface="Calibri"/>
                        </a:rPr>
                        <a:t>Pouches and bags</a:t>
                      </a:r>
                      <a:endParaRPr sz="1100"/>
                    </a:p>
                  </a:txBody>
                  <a:tcPr marL="1028700" marR="9525" marT="9525" marB="0" anchor="ctr"/>
                </a:tc>
              </a:tr>
              <a:tr h="175260">
                <a:tc>
                  <a:txBody>
                    <a:bodyPr wrap="square"/>
                    <a:lstStyle/>
                    <a:p>
                      <a:pPr algn="l"/>
                      <a:r>
                        <a:rPr sz="1100" b="0" i="0">
                          <a:solidFill>
                            <a:srgbClr val="000000"/>
                          </a:solidFill>
                          <a:latin typeface="Calibri"/>
                        </a:rPr>
                        <a:t>14.5.2.</a:t>
                      </a:r>
                      <a:r>
                        <a:rPr sz="700" b="0" i="0">
                          <a:solidFill>
                            <a:srgbClr val="000000"/>
                          </a:solidFill>
                          <a:latin typeface="Times New Roman"/>
                        </a:rPr>
                        <a:t> </a:t>
                      </a:r>
                      <a:r>
                        <a:rPr sz="1100" b="0" i="0">
                          <a:solidFill>
                            <a:srgbClr val="000000"/>
                          </a:solidFill>
                          <a:latin typeface="Calibri"/>
                        </a:rPr>
                        <a:t>Rigid plastic packs</a:t>
                      </a:r>
                      <a:endParaRPr sz="1100"/>
                    </a:p>
                  </a:txBody>
                  <a:tcPr marL="771525" marR="9525" marT="9525" marB="0" anchor="ctr"/>
                </a:tc>
              </a:tr>
              <a:tr h="175260">
                <a:tc>
                  <a:txBody>
                    <a:bodyPr wrap="square"/>
                    <a:lstStyle/>
                    <a:p>
                      <a:pPr algn="l"/>
                      <a:r>
                        <a:rPr sz="1100" b="0" i="1">
                          <a:solidFill>
                            <a:srgbClr val="000000"/>
                          </a:solidFill>
                          <a:latin typeface="Calibri"/>
                        </a:rPr>
                        <a:t>14.5.2.1.</a:t>
                      </a:r>
                      <a:r>
                        <a:rPr sz="700" b="0" i="1">
                          <a:solidFill>
                            <a:srgbClr val="000000"/>
                          </a:solidFill>
                          <a:latin typeface="Times New Roman"/>
                        </a:rPr>
                        <a:t> </a:t>
                      </a:r>
                      <a:r>
                        <a:rPr sz="1100" b="0" i="1">
                          <a:solidFill>
                            <a:srgbClr val="000000"/>
                          </a:solidFill>
                          <a:latin typeface="Calibri"/>
                        </a:rPr>
                        <a:t>Trays with sealed film</a:t>
                      </a:r>
                      <a:endParaRPr sz="1100"/>
                    </a:p>
                  </a:txBody>
                  <a:tcPr marL="1028700" marR="9525" marT="9525" marB="0" anchor="ctr"/>
                </a:tc>
              </a:tr>
              <a:tr h="175260">
                <a:tc>
                  <a:txBody>
                    <a:bodyPr wrap="square"/>
                    <a:lstStyle/>
                    <a:p>
                      <a:pPr algn="l"/>
                      <a:r>
                        <a:rPr sz="1100" b="0" i="1">
                          <a:solidFill>
                            <a:srgbClr val="000000"/>
                          </a:solidFill>
                          <a:latin typeface="Calibri"/>
                        </a:rPr>
                        <a:t>14.5.2.2.</a:t>
                      </a:r>
                      <a:r>
                        <a:rPr sz="700" b="0" i="1">
                          <a:solidFill>
                            <a:srgbClr val="000000"/>
                          </a:solidFill>
                          <a:latin typeface="Times New Roman"/>
                        </a:rPr>
                        <a:t> </a:t>
                      </a:r>
                      <a:r>
                        <a:rPr sz="1100" b="0" i="1">
                          <a:solidFill>
                            <a:srgbClr val="000000"/>
                          </a:solidFill>
                          <a:latin typeface="Calibri"/>
                        </a:rPr>
                        <a:t>Clamshell containers</a:t>
                      </a:r>
                      <a:endParaRPr sz="1100"/>
                    </a:p>
                  </a:txBody>
                  <a:tcPr marL="1028700" marR="9525" marT="9525" marB="0" anchor="ctr"/>
                </a:tc>
              </a:tr>
              <a:tr h="175260">
                <a:tc>
                  <a:txBody>
                    <a:bodyPr wrap="square"/>
                    <a:lstStyle/>
                    <a:p>
                      <a:pPr algn="l"/>
                      <a:r>
                        <a:rPr sz="1100" b="0" i="1">
                          <a:solidFill>
                            <a:srgbClr val="000000"/>
                          </a:solidFill>
                          <a:latin typeface="Calibri"/>
                        </a:rPr>
                        <a:t>14.5.2.3.</a:t>
                      </a:r>
                      <a:r>
                        <a:rPr sz="700" b="0" i="1">
                          <a:solidFill>
                            <a:srgbClr val="000000"/>
                          </a:solidFill>
                          <a:latin typeface="Times New Roman"/>
                        </a:rPr>
                        <a:t> </a:t>
                      </a:r>
                      <a:r>
                        <a:rPr sz="1100" b="0" i="1">
                          <a:solidFill>
                            <a:srgbClr val="000000"/>
                          </a:solidFill>
                          <a:latin typeface="Calibri"/>
                        </a:rPr>
                        <a:t>Tubs</a:t>
                      </a:r>
                      <a:endParaRPr sz="1100"/>
                    </a:p>
                  </a:txBody>
                  <a:tcPr marL="1028700" marR="9525" marT="9525" marB="0" anchor="ctr"/>
                </a:tc>
              </a:tr>
              <a:tr h="175260">
                <a:tc>
                  <a:txBody>
                    <a:bodyPr wrap="square"/>
                    <a:lstStyle/>
                    <a:p>
                      <a:pPr algn="l"/>
                      <a:r>
                        <a:rPr sz="1100" b="0" i="0">
                          <a:solidFill>
                            <a:srgbClr val="000000"/>
                          </a:solidFill>
                          <a:latin typeface="Calibri"/>
                        </a:rPr>
                        <a:t>14.5.3.</a:t>
                      </a:r>
                      <a:r>
                        <a:rPr sz="700" b="0" i="0">
                          <a:solidFill>
                            <a:srgbClr val="000000"/>
                          </a:solidFill>
                          <a:latin typeface="Times New Roman"/>
                        </a:rPr>
                        <a:t> </a:t>
                      </a:r>
                      <a:r>
                        <a:rPr sz="1100" b="0" i="0">
                          <a:solidFill>
                            <a:srgbClr val="000000"/>
                          </a:solidFill>
                          <a:latin typeface="Calibri"/>
                        </a:rPr>
                        <a:t>Paperboard packs</a:t>
                      </a:r>
                      <a:endParaRPr sz="1100"/>
                    </a:p>
                  </a:txBody>
                  <a:tcPr marL="771525" marR="9525" marT="9525" marB="0" anchor="ctr"/>
                </a:tc>
              </a:tr>
              <a:tr h="175260">
                <a:tc>
                  <a:txBody>
                    <a:bodyPr wrap="square"/>
                    <a:lstStyle/>
                    <a:p>
                      <a:pPr algn="l"/>
                      <a:r>
                        <a:rPr sz="1100" b="0" i="1">
                          <a:solidFill>
                            <a:srgbClr val="000000"/>
                          </a:solidFill>
                          <a:latin typeface="Calibri"/>
                        </a:rPr>
                        <a:t>14.5.3.1.</a:t>
                      </a:r>
                      <a:r>
                        <a:rPr sz="700" b="0" i="1">
                          <a:solidFill>
                            <a:srgbClr val="000000"/>
                          </a:solidFill>
                          <a:latin typeface="Times New Roman"/>
                        </a:rPr>
                        <a:t> </a:t>
                      </a:r>
                      <a:r>
                        <a:rPr sz="1100" b="0" i="1">
                          <a:solidFill>
                            <a:srgbClr val="000000"/>
                          </a:solidFill>
                          <a:latin typeface="Calibri"/>
                        </a:rPr>
                        <a:t>Cartons with inner wrapping</a:t>
                      </a:r>
                      <a:endParaRPr sz="1100"/>
                    </a:p>
                  </a:txBody>
                  <a:tcPr marL="1028700" marR="9525" marT="9525" marB="0" anchor="ctr"/>
                </a:tc>
              </a:tr>
              <a:tr h="175260">
                <a:tc>
                  <a:txBody>
                    <a:bodyPr wrap="square"/>
                    <a:lstStyle/>
                    <a:p>
                      <a:pPr algn="l"/>
                      <a:r>
                        <a:rPr sz="1100" b="0" i="1">
                          <a:solidFill>
                            <a:srgbClr val="000000"/>
                          </a:solidFill>
                          <a:latin typeface="Calibri"/>
                        </a:rPr>
                        <a:t>14.5.3.2.</a:t>
                      </a:r>
                      <a:r>
                        <a:rPr sz="700" b="0" i="1">
                          <a:solidFill>
                            <a:srgbClr val="000000"/>
                          </a:solidFill>
                          <a:latin typeface="Times New Roman"/>
                        </a:rPr>
                        <a:t> </a:t>
                      </a:r>
                      <a:r>
                        <a:rPr sz="1100" b="0" i="1">
                          <a:solidFill>
                            <a:srgbClr val="000000"/>
                          </a:solidFill>
                          <a:latin typeface="Calibri"/>
                        </a:rPr>
                        <a:t>Windowed cartons</a:t>
                      </a:r>
                      <a:endParaRPr sz="1100"/>
                    </a:p>
                  </a:txBody>
                  <a:tcPr marL="1028700" marR="9525" marT="9525" marB="0" anchor="ctr"/>
                </a:tc>
              </a:tr>
              <a:tr h="175260">
                <a:tc>
                  <a:txBody>
                    <a:bodyPr wrap="square"/>
                    <a:lstStyle/>
                    <a:p>
                      <a:pPr algn="l"/>
                      <a:r>
                        <a:rPr sz="1100" b="0" i="0">
                          <a:solidFill>
                            <a:srgbClr val="000000"/>
                          </a:solidFill>
                          <a:latin typeface="Calibri"/>
                        </a:rPr>
                        <a:t>14.5.4.</a:t>
                      </a:r>
                      <a:r>
                        <a:rPr sz="700" b="0" i="0">
                          <a:solidFill>
                            <a:srgbClr val="000000"/>
                          </a:solidFill>
                          <a:latin typeface="Times New Roman"/>
                        </a:rPr>
                        <a:t> </a:t>
                      </a:r>
                      <a:r>
                        <a:rPr sz="1100" b="0" i="0">
                          <a:solidFill>
                            <a:srgbClr val="000000"/>
                          </a:solidFill>
                          <a:latin typeface="Calibri"/>
                        </a:rPr>
                        <a:t>Other packaging formats</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Global Market (Value- Volume) Analysis 2021–2036, By Pack Configuration</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15.5.1.</a:t>
                      </a:r>
                      <a:r>
                        <a:rPr sz="700" b="0" i="0">
                          <a:solidFill>
                            <a:srgbClr val="000000"/>
                          </a:solidFill>
                          <a:latin typeface="Times New Roman"/>
                        </a:rPr>
                        <a:t> </a:t>
                      </a:r>
                      <a:r>
                        <a:rPr sz="1100" b="0" i="0">
                          <a:solidFill>
                            <a:srgbClr val="000000"/>
                          </a:solidFill>
                          <a:latin typeface="Calibri"/>
                        </a:rPr>
                        <a:t>Single-muffin packs</a:t>
                      </a:r>
                      <a:endParaRPr sz="1100"/>
                    </a:p>
                  </a:txBody>
                  <a:tcPr marL="771525" marR="9525" marT="9525" marB="0" anchor="ctr"/>
                </a:tc>
              </a:tr>
              <a:tr h="175260">
                <a:tc>
                  <a:txBody>
                    <a:bodyPr wrap="square"/>
                    <a:lstStyle/>
                    <a:p>
                      <a:pPr algn="l"/>
                      <a:r>
                        <a:rPr sz="1100" b="0" i="0">
                          <a:solidFill>
                            <a:srgbClr val="000000"/>
                          </a:solidFill>
                          <a:latin typeface="Calibri"/>
                        </a:rPr>
                        <a:t>15.5.2.</a:t>
                      </a:r>
                      <a:r>
                        <a:rPr sz="700" b="0" i="0">
                          <a:solidFill>
                            <a:srgbClr val="000000"/>
                          </a:solidFill>
                          <a:latin typeface="Times New Roman"/>
                        </a:rPr>
                        <a:t> </a:t>
                      </a:r>
                      <a:r>
                        <a:rPr sz="1100" b="0" i="0">
                          <a:solidFill>
                            <a:srgbClr val="000000"/>
                          </a:solidFill>
                          <a:latin typeface="Calibri"/>
                        </a:rPr>
                        <a:t>Multipacks</a:t>
                      </a:r>
                      <a:endParaRPr sz="1100"/>
                    </a:p>
                  </a:txBody>
                  <a:tcPr marL="771525" marR="9525" marT="9525" marB="0" anchor="ctr"/>
                </a:tc>
              </a:tr>
              <a:tr h="175260">
                <a:tc>
                  <a:txBody>
                    <a:bodyPr wrap="square"/>
                    <a:lstStyle/>
                    <a:p>
                      <a:pPr algn="l"/>
                      <a:r>
                        <a:rPr sz="1100" b="0" i="1">
                          <a:solidFill>
                            <a:srgbClr val="000000"/>
                          </a:solidFill>
                          <a:latin typeface="Calibri"/>
                        </a:rPr>
                        <a:t>15.5.2.1.</a:t>
                      </a:r>
                      <a:r>
                        <a:rPr sz="700" b="0" i="1">
                          <a:solidFill>
                            <a:srgbClr val="000000"/>
                          </a:solidFill>
                          <a:latin typeface="Times New Roman"/>
                        </a:rPr>
                        <a:t> </a:t>
                      </a:r>
                      <a:r>
                        <a:rPr sz="1100" b="0" i="1">
                          <a:solidFill>
                            <a:srgbClr val="000000"/>
                          </a:solidFill>
                          <a:latin typeface="Calibri"/>
                        </a:rPr>
                        <a:t>2–4 muffins</a:t>
                      </a:r>
                      <a:endParaRPr sz="1100"/>
                    </a:p>
                  </a:txBody>
                  <a:tcPr marL="1028700" marR="9525" marT="9525" marB="0" anchor="ctr"/>
                </a:tc>
              </a:tr>
              <a:tr h="175260">
                <a:tc>
                  <a:txBody>
                    <a:bodyPr wrap="square"/>
                    <a:lstStyle/>
                    <a:p>
                      <a:pPr algn="l"/>
                      <a:r>
                        <a:rPr sz="1100" b="0" i="1">
                          <a:solidFill>
                            <a:srgbClr val="000000"/>
                          </a:solidFill>
                          <a:latin typeface="Calibri"/>
                        </a:rPr>
                        <a:t>15.5.2.2.</a:t>
                      </a:r>
                      <a:r>
                        <a:rPr sz="700" b="0" i="1">
                          <a:solidFill>
                            <a:srgbClr val="000000"/>
                          </a:solidFill>
                          <a:latin typeface="Times New Roman"/>
                        </a:rPr>
                        <a:t> </a:t>
                      </a:r>
                      <a:r>
                        <a:rPr sz="1100" b="0" i="1">
                          <a:solidFill>
                            <a:srgbClr val="000000"/>
                          </a:solidFill>
                          <a:latin typeface="Calibri"/>
                        </a:rPr>
                        <a:t>5–8 muffins</a:t>
                      </a:r>
                      <a:endParaRPr sz="1100"/>
                    </a:p>
                  </a:txBody>
                  <a:tcPr marL="1028700" marR="9525" marT="9525" marB="0" anchor="ctr"/>
                </a:tc>
              </a:tr>
              <a:tr h="175260">
                <a:tc>
                  <a:txBody>
                    <a:bodyPr wrap="square"/>
                    <a:lstStyle/>
                    <a:p>
                      <a:pPr algn="l"/>
                      <a:r>
                        <a:rPr sz="1100" b="0" i="1">
                          <a:solidFill>
                            <a:srgbClr val="000000"/>
                          </a:solidFill>
                          <a:latin typeface="Calibri"/>
                        </a:rPr>
                        <a:t>15.5.2.3.</a:t>
                      </a:r>
                      <a:r>
                        <a:rPr sz="700" b="0" i="1">
                          <a:solidFill>
                            <a:srgbClr val="000000"/>
                          </a:solidFill>
                          <a:latin typeface="Times New Roman"/>
                        </a:rPr>
                        <a:t> </a:t>
                      </a:r>
                      <a:r>
                        <a:rPr sz="1100" b="0" i="1">
                          <a:solidFill>
                            <a:srgbClr val="000000"/>
                          </a:solidFill>
                          <a:latin typeface="Calibri"/>
                        </a:rPr>
                        <a:t>9–12 muffins</a:t>
                      </a:r>
                      <a:endParaRPr sz="1100"/>
                    </a:p>
                  </a:txBody>
                  <a:tcPr marL="1028700" marR="9525" marT="9525" marB="0" anchor="ctr"/>
                </a:tc>
              </a:tr>
              <a:tr h="175260">
                <a:tc>
                  <a:txBody>
                    <a:bodyPr wrap="square"/>
                    <a:lstStyle/>
                    <a:p>
                      <a:pPr algn="l"/>
                      <a:r>
                        <a:rPr sz="1100" b="0" i="1">
                          <a:solidFill>
                            <a:srgbClr val="000000"/>
                          </a:solidFill>
                          <a:latin typeface="Calibri"/>
                        </a:rPr>
                        <a:t>15.5.2.4.</a:t>
                      </a:r>
                      <a:r>
                        <a:rPr sz="700" b="0" i="1">
                          <a:solidFill>
                            <a:srgbClr val="000000"/>
                          </a:solidFill>
                          <a:latin typeface="Times New Roman"/>
                        </a:rPr>
                        <a:t> </a:t>
                      </a:r>
                      <a:r>
                        <a:rPr sz="1100" b="0" i="1">
                          <a:solidFill>
                            <a:srgbClr val="000000"/>
                          </a:solidFill>
                          <a:latin typeface="Calibri"/>
                        </a:rPr>
                        <a:t>More than 12 muffins</a:t>
                      </a:r>
                      <a:endParaRPr sz="1100"/>
                    </a:p>
                  </a:txBody>
                  <a:tcPr marL="1028700" marR="9525" marT="9525" marB="0" anchor="ctr"/>
                </a:tc>
              </a:tr>
              <a:tr h="175260">
                <a:tc>
                  <a:txBody>
                    <a:bodyPr wrap="square"/>
                    <a:lstStyle/>
                    <a:p>
                      <a:pPr algn="l"/>
                      <a:r>
                        <a:rPr sz="1100" b="0" i="0">
                          <a:solidFill>
                            <a:srgbClr val="000000"/>
                          </a:solidFill>
                          <a:latin typeface="Calibri"/>
                        </a:rPr>
                        <a:t>15.5.3.</a:t>
                      </a:r>
                      <a:r>
                        <a:rPr sz="700" b="0" i="0">
                          <a:solidFill>
                            <a:srgbClr val="000000"/>
                          </a:solidFill>
                          <a:latin typeface="Times New Roman"/>
                        </a:rPr>
                        <a:t> </a:t>
                      </a:r>
                      <a:r>
                        <a:rPr sz="1100" b="0" i="0">
                          <a:solidFill>
                            <a:srgbClr val="000000"/>
                          </a:solidFill>
                          <a:latin typeface="Calibri"/>
                        </a:rPr>
                        <a:t>Bulk foodservice packs</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Global Market (Value- Volume) Analysis 2021–2036, By Multipack Wrapping</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16.5.1.</a:t>
                      </a:r>
                      <a:r>
                        <a:rPr sz="700" b="0" i="0">
                          <a:solidFill>
                            <a:srgbClr val="000000"/>
                          </a:solidFill>
                          <a:latin typeface="Times New Roman"/>
                        </a:rPr>
                        <a:t> </a:t>
                      </a:r>
                      <a:r>
                        <a:rPr sz="1100" b="0" i="0">
                          <a:solidFill>
                            <a:srgbClr val="000000"/>
                          </a:solidFill>
                          <a:latin typeface="Calibri"/>
                        </a:rPr>
                        <a:t>Individually wrapped muffins within an outer pack</a:t>
                      </a:r>
                      <a:endParaRPr sz="1100"/>
                    </a:p>
                  </a:txBody>
                  <a:tcPr marL="771525" marR="9525" marT="9525" marB="0" anchor="ctr"/>
                </a:tc>
              </a:tr>
              <a:tr h="175260">
                <a:tc>
                  <a:txBody>
                    <a:bodyPr wrap="square"/>
                    <a:lstStyle/>
                    <a:p>
                      <a:pPr algn="l"/>
                      <a:r>
                        <a:rPr sz="1100" b="0" i="0">
                          <a:solidFill>
                            <a:srgbClr val="000000"/>
                          </a:solidFill>
                          <a:latin typeface="Calibri"/>
                        </a:rPr>
                        <a:t>16.5.2.</a:t>
                      </a:r>
                      <a:r>
                        <a:rPr sz="700" b="0" i="0">
                          <a:solidFill>
                            <a:srgbClr val="000000"/>
                          </a:solidFill>
                          <a:latin typeface="Times New Roman"/>
                        </a:rPr>
                        <a:t> </a:t>
                      </a:r>
                      <a:r>
                        <a:rPr sz="1100" b="0" i="0">
                          <a:solidFill>
                            <a:srgbClr val="000000"/>
                          </a:solidFill>
                          <a:latin typeface="Calibri"/>
                        </a:rPr>
                        <a:t>Shared pack without individual wrapping</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Global Market (Value- Volume) Analysis 2021–2036, By Price Positioning</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17.5.1.</a:t>
                      </a:r>
                      <a:r>
                        <a:rPr sz="700" b="0" i="0">
                          <a:solidFill>
                            <a:srgbClr val="000000"/>
                          </a:solidFill>
                          <a:latin typeface="Times New Roman"/>
                        </a:rPr>
                        <a:t> </a:t>
                      </a:r>
                      <a:r>
                        <a:rPr sz="1100" b="0" i="0">
                          <a:solidFill>
                            <a:srgbClr val="000000"/>
                          </a:solidFill>
                          <a:latin typeface="Calibri"/>
                        </a:rPr>
                        <a:t>Economy/value</a:t>
                      </a:r>
                      <a:endParaRPr sz="1100"/>
                    </a:p>
                  </a:txBody>
                  <a:tcPr marL="771525" marR="9525" marT="9525" marB="0" anchor="ctr"/>
                </a:tc>
              </a:tr>
              <a:tr h="175260">
                <a:tc>
                  <a:txBody>
                    <a:bodyPr wrap="square"/>
                    <a:lstStyle/>
                    <a:p>
                      <a:pPr algn="l"/>
                      <a:r>
                        <a:rPr sz="1100" b="0" i="0">
                          <a:solidFill>
                            <a:srgbClr val="000000"/>
                          </a:solidFill>
                          <a:latin typeface="Calibri"/>
                        </a:rPr>
                        <a:t>17.5.2.</a:t>
                      </a:r>
                      <a:r>
                        <a:rPr sz="700" b="0" i="0">
                          <a:solidFill>
                            <a:srgbClr val="000000"/>
                          </a:solidFill>
                          <a:latin typeface="Times New Roman"/>
                        </a:rPr>
                        <a:t> </a:t>
                      </a:r>
                      <a:r>
                        <a:rPr sz="1100" b="0" i="0">
                          <a:solidFill>
                            <a:srgbClr val="000000"/>
                          </a:solidFill>
                          <a:latin typeface="Calibri"/>
                        </a:rPr>
                        <a:t>Mid-range</a:t>
                      </a:r>
                      <a:endParaRPr sz="1100"/>
                    </a:p>
                  </a:txBody>
                  <a:tcPr marL="771525" marR="9525" marT="9525" marB="0" anchor="ctr"/>
                </a:tc>
              </a:tr>
              <a:tr h="175260">
                <a:tc>
                  <a:txBody>
                    <a:bodyPr wrap="square"/>
                    <a:lstStyle/>
                    <a:p>
                      <a:pPr algn="l"/>
                      <a:r>
                        <a:rPr sz="1100" b="0" i="0">
                          <a:solidFill>
                            <a:srgbClr val="000000"/>
                          </a:solidFill>
                          <a:latin typeface="Calibri"/>
                        </a:rPr>
                        <a:t>17.5.3.</a:t>
                      </a:r>
                      <a:r>
                        <a:rPr sz="700" b="0" i="0">
                          <a:solidFill>
                            <a:srgbClr val="000000"/>
                          </a:solidFill>
                          <a:latin typeface="Times New Roman"/>
                        </a:rPr>
                        <a:t> </a:t>
                      </a:r>
                      <a:r>
                        <a:rPr sz="1100" b="0" i="0">
                          <a:solidFill>
                            <a:srgbClr val="000000"/>
                          </a:solidFill>
                          <a:latin typeface="Calibri"/>
                        </a:rPr>
                        <a:t>Premium</a:t>
                      </a:r>
                      <a:endParaRPr sz="1100"/>
                    </a:p>
                  </a:txBody>
                  <a:tcPr marL="771525" marR="9525" marT="9525" marB="0" anchor="ctr"/>
                </a:tc>
              </a:tr>
              <a:tr h="175260">
                <a:tc>
                  <a:txBody>
                    <a:bodyPr wrap="square"/>
                    <a:lstStyle/>
                    <a:p>
                      <a:pPr algn="l"/>
                      <a:r>
                        <a:rPr sz="1100" b="0" i="0">
                          <a:solidFill>
                            <a:srgbClr val="000000"/>
                          </a:solidFill>
                          <a:latin typeface="Calibri"/>
                        </a:rPr>
                        <a:t>17.5.4.</a:t>
                      </a:r>
                      <a:r>
                        <a:rPr sz="700" b="0" i="0">
                          <a:solidFill>
                            <a:srgbClr val="000000"/>
                          </a:solidFill>
                          <a:latin typeface="Times New Roman"/>
                        </a:rPr>
                        <a:t> </a:t>
                      </a:r>
                      <a:r>
                        <a:rPr sz="1100" b="0" i="0">
                          <a:solidFill>
                            <a:srgbClr val="000000"/>
                          </a:solidFill>
                          <a:latin typeface="Calibri"/>
                        </a:rPr>
                        <a:t>Super-premium/speciality</a:t>
                      </a:r>
                      <a:endParaRPr sz="1100"/>
                    </a:p>
                  </a:txBody>
                  <a:tcPr marL="771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(Value- Volume) Analysis 2021–2036, By Brand Ownership</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18.5.1.</a:t>
                      </a:r>
                      <a:r>
                        <a:rPr sz="700" b="0" i="0">
                          <a:solidFill>
                            <a:srgbClr val="000000"/>
                          </a:solidFill>
                          <a:latin typeface="Times New Roman"/>
                        </a:rPr>
                        <a:t> </a:t>
                      </a:r>
                      <a:r>
                        <a:rPr sz="1100" b="0" i="0">
                          <a:solidFill>
                            <a:srgbClr val="000000"/>
                          </a:solidFill>
                          <a:latin typeface="Calibri"/>
                        </a:rPr>
                        <a:t>Manufacturer brands</a:t>
                      </a:r>
                      <a:endParaRPr sz="1100"/>
                    </a:p>
                  </a:txBody>
                  <a:tcPr marL="771525" marR="9525" marT="9525" marB="0" anchor="ctr"/>
                </a:tc>
              </a:tr>
              <a:tr h="175260">
                <a:tc>
                  <a:txBody>
                    <a:bodyPr wrap="square"/>
                    <a:lstStyle/>
                    <a:p>
                      <a:pPr algn="l"/>
                      <a:r>
                        <a:rPr sz="1100" b="0" i="1">
                          <a:solidFill>
                            <a:srgbClr val="000000"/>
                          </a:solidFill>
                          <a:latin typeface="Calibri"/>
                        </a:rPr>
                        <a:t>18.5.1.1.</a:t>
                      </a:r>
                      <a:r>
                        <a:rPr sz="700" b="0" i="1">
                          <a:solidFill>
                            <a:srgbClr val="000000"/>
                          </a:solidFill>
                          <a:latin typeface="Times New Roman"/>
                        </a:rPr>
                        <a:t> </a:t>
                      </a:r>
                      <a:r>
                        <a:rPr sz="1100" b="0" i="1">
                          <a:solidFill>
                            <a:srgbClr val="000000"/>
                          </a:solidFill>
                          <a:latin typeface="Calibri"/>
                        </a:rPr>
                        <a:t>National brands</a:t>
                      </a:r>
                      <a:endParaRPr sz="1100"/>
                    </a:p>
                  </a:txBody>
                  <a:tcPr marL="1028700" marR="9525" marT="9525" marB="0" anchor="ctr"/>
                </a:tc>
              </a:tr>
              <a:tr h="175260">
                <a:tc>
                  <a:txBody>
                    <a:bodyPr wrap="square"/>
                    <a:lstStyle/>
                    <a:p>
                      <a:pPr algn="l"/>
                      <a:r>
                        <a:rPr sz="1100" b="0" i="1">
                          <a:solidFill>
                            <a:srgbClr val="000000"/>
                          </a:solidFill>
                          <a:latin typeface="Calibri"/>
                        </a:rPr>
                        <a:t>18.5.1.2.</a:t>
                      </a:r>
                      <a:r>
                        <a:rPr sz="700" b="0" i="1">
                          <a:solidFill>
                            <a:srgbClr val="000000"/>
                          </a:solidFill>
                          <a:latin typeface="Times New Roman"/>
                        </a:rPr>
                        <a:t> </a:t>
                      </a:r>
                      <a:r>
                        <a:rPr sz="1100" b="0" i="1">
                          <a:solidFill>
                            <a:srgbClr val="000000"/>
                          </a:solidFill>
                          <a:latin typeface="Calibri"/>
                        </a:rPr>
                        <a:t>Regional/local brands</a:t>
                      </a:r>
                      <a:endParaRPr sz="1100"/>
                    </a:p>
                  </a:txBody>
                  <a:tcPr marL="1028700" marR="9525" marT="9525" marB="0" anchor="ctr"/>
                </a:tc>
              </a:tr>
              <a:tr h="175260">
                <a:tc>
                  <a:txBody>
                    <a:bodyPr wrap="square"/>
                    <a:lstStyle/>
                    <a:p>
                      <a:pPr algn="l"/>
                      <a:r>
                        <a:rPr sz="1100" b="0" i="0">
                          <a:solidFill>
                            <a:srgbClr val="000000"/>
                          </a:solidFill>
                          <a:latin typeface="Calibri"/>
                        </a:rPr>
                        <a:t>18.5.2.</a:t>
                      </a:r>
                      <a:r>
                        <a:rPr sz="700" b="0" i="0">
                          <a:solidFill>
                            <a:srgbClr val="000000"/>
                          </a:solidFill>
                          <a:latin typeface="Times New Roman"/>
                        </a:rPr>
                        <a:t> </a:t>
                      </a:r>
                      <a:r>
                        <a:rPr sz="1100" b="0" i="0">
                          <a:solidFill>
                            <a:srgbClr val="000000"/>
                          </a:solidFill>
                          <a:latin typeface="Calibri"/>
                        </a:rPr>
                        <a:t>Retailer private labels</a:t>
                      </a:r>
                      <a:endParaRPr sz="1100"/>
                    </a:p>
                  </a:txBody>
                  <a:tcPr marL="771525" marR="9525" marT="9525" marB="0" anchor="ctr"/>
                </a:tc>
              </a:tr>
              <a:tr h="175260">
                <a:tc>
                  <a:txBody>
                    <a:bodyPr wrap="square"/>
                    <a:lstStyle/>
                    <a:p>
                      <a:pPr algn="l"/>
                      <a:r>
                        <a:rPr sz="1100" b="0" i="1">
                          <a:solidFill>
                            <a:srgbClr val="000000"/>
                          </a:solidFill>
                          <a:latin typeface="Calibri"/>
                        </a:rPr>
                        <a:t>18.5.2.1.</a:t>
                      </a:r>
                      <a:r>
                        <a:rPr sz="700" b="0" i="1">
                          <a:solidFill>
                            <a:srgbClr val="000000"/>
                          </a:solidFill>
                          <a:latin typeface="Times New Roman"/>
                        </a:rPr>
                        <a:t> </a:t>
                      </a:r>
                      <a:r>
                        <a:rPr sz="1100" b="0" i="1">
                          <a:solidFill>
                            <a:srgbClr val="000000"/>
                          </a:solidFill>
                          <a:latin typeface="Calibri"/>
                        </a:rPr>
                        <a:t>Value private labels</a:t>
                      </a:r>
                      <a:endParaRPr sz="1100"/>
                    </a:p>
                  </a:txBody>
                  <a:tcPr marL="1028700" marR="9525" marT="9525" marB="0" anchor="ctr"/>
                </a:tc>
              </a:tr>
              <a:tr h="175260">
                <a:tc>
                  <a:txBody>
                    <a:bodyPr wrap="square"/>
                    <a:lstStyle/>
                    <a:p>
                      <a:pPr algn="l"/>
                      <a:r>
                        <a:rPr sz="1100" b="0" i="1">
                          <a:solidFill>
                            <a:srgbClr val="000000"/>
                          </a:solidFill>
                          <a:latin typeface="Calibri"/>
                        </a:rPr>
                        <a:t>18.5.2.2.</a:t>
                      </a:r>
                      <a:r>
                        <a:rPr sz="700" b="0" i="1">
                          <a:solidFill>
                            <a:srgbClr val="000000"/>
                          </a:solidFill>
                          <a:latin typeface="Times New Roman"/>
                        </a:rPr>
                        <a:t> </a:t>
                      </a:r>
                      <a:r>
                        <a:rPr sz="1100" b="0" i="1">
                          <a:solidFill>
                            <a:srgbClr val="000000"/>
                          </a:solidFill>
                          <a:latin typeface="Calibri"/>
                        </a:rPr>
                        <a:t>Standard private labels</a:t>
                      </a:r>
                      <a:endParaRPr sz="1100"/>
                    </a:p>
                  </a:txBody>
                  <a:tcPr marL="1028700" marR="9525" marT="9525" marB="0" anchor="ctr"/>
                </a:tc>
              </a:tr>
              <a:tr h="175260">
                <a:tc>
                  <a:txBody>
                    <a:bodyPr wrap="square"/>
                    <a:lstStyle/>
                    <a:p>
                      <a:pPr algn="l"/>
                      <a:r>
                        <a:rPr sz="1100" b="0" i="1">
                          <a:solidFill>
                            <a:srgbClr val="000000"/>
                          </a:solidFill>
                          <a:latin typeface="Calibri"/>
                        </a:rPr>
                        <a:t>18.5.2.3.</a:t>
                      </a:r>
                      <a:r>
                        <a:rPr sz="700" b="0" i="1">
                          <a:solidFill>
                            <a:srgbClr val="000000"/>
                          </a:solidFill>
                          <a:latin typeface="Times New Roman"/>
                        </a:rPr>
                        <a:t> </a:t>
                      </a:r>
                      <a:r>
                        <a:rPr sz="1100" b="0" i="1">
                          <a:solidFill>
                            <a:srgbClr val="000000"/>
                          </a:solidFill>
                          <a:latin typeface="Calibri"/>
                        </a:rPr>
                        <a:t>Premium private labels</a:t>
                      </a:r>
                      <a:endParaRPr sz="1100"/>
                    </a:p>
                  </a:txBody>
                  <a:tcPr marL="1028700" marR="9525" marT="9525" marB="0" anchor="ctr"/>
                </a:tc>
              </a:tr>
              <a:tr h="175260">
                <a:tc>
                  <a:txBody>
                    <a:bodyPr wrap="square"/>
                    <a:lstStyle/>
                    <a:p>
                      <a:pPr algn="l"/>
                      <a:r>
                        <a:rPr sz="1100" b="0" i="0">
                          <a:solidFill>
                            <a:srgbClr val="000000"/>
                          </a:solidFill>
                          <a:latin typeface="Calibri"/>
                        </a:rPr>
                        <a:t>18.5.3.</a:t>
                      </a:r>
                      <a:r>
                        <a:rPr sz="700" b="0" i="0">
                          <a:solidFill>
                            <a:srgbClr val="000000"/>
                          </a:solidFill>
                          <a:latin typeface="Times New Roman"/>
                        </a:rPr>
                        <a:t> </a:t>
                      </a:r>
                      <a:r>
                        <a:rPr sz="1100" b="0" i="0">
                          <a:solidFill>
                            <a:srgbClr val="000000"/>
                          </a:solidFill>
                          <a:latin typeface="Calibri"/>
                        </a:rPr>
                        <a:t>Foodservice/operator brands</a:t>
                      </a:r>
                      <a:endParaRPr sz="1100"/>
                    </a:p>
                  </a:txBody>
                  <a:tcPr marL="7715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Global Market (Value- Volume) Analysis 2021–2036, By Sales Channel</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19.5.1.</a:t>
                      </a:r>
                      <a:r>
                        <a:rPr sz="700" b="0" i="0">
                          <a:solidFill>
                            <a:srgbClr val="000000"/>
                          </a:solidFill>
                          <a:latin typeface="Times New Roman"/>
                        </a:rPr>
                        <a:t> </a:t>
                      </a:r>
                      <a:r>
                        <a:rPr sz="1100" b="0" i="0">
                          <a:solidFill>
                            <a:srgbClr val="000000"/>
                          </a:solidFill>
                          <a:latin typeface="Calibri"/>
                        </a:rPr>
                        <a:t>Retail</a:t>
                      </a:r>
                      <a:endParaRPr sz="1100"/>
                    </a:p>
                  </a:txBody>
                  <a:tcPr marL="771525" marR="9525" marT="9525" marB="0" anchor="ctr"/>
                </a:tc>
              </a:tr>
              <a:tr h="175260">
                <a:tc>
                  <a:txBody>
                    <a:bodyPr wrap="square"/>
                    <a:lstStyle/>
                    <a:p>
                      <a:pPr algn="l"/>
                      <a:r>
                        <a:rPr sz="1100" b="0" i="1">
                          <a:solidFill>
                            <a:srgbClr val="000000"/>
                          </a:solidFill>
                          <a:latin typeface="Calibri"/>
                        </a:rPr>
                        <a:t>19.5.1.1.</a:t>
                      </a:r>
                      <a:r>
                        <a:rPr sz="700" b="0" i="1">
                          <a:solidFill>
                            <a:srgbClr val="000000"/>
                          </a:solidFill>
                          <a:latin typeface="Times New Roman"/>
                        </a:rPr>
                        <a:t> </a:t>
                      </a:r>
                      <a:r>
                        <a:rPr sz="1100" b="0" i="1">
                          <a:solidFill>
                            <a:srgbClr val="000000"/>
                          </a:solidFill>
                          <a:latin typeface="Calibri"/>
                        </a:rPr>
                        <a:t>Supermarkets and hypermarkets</a:t>
                      </a:r>
                      <a:endParaRPr sz="1100"/>
                    </a:p>
                  </a:txBody>
                  <a:tcPr marL="1028700" marR="9525" marT="9525" marB="0" anchor="ctr"/>
                </a:tc>
              </a:tr>
              <a:tr h="175260">
                <a:tc>
                  <a:txBody>
                    <a:bodyPr wrap="square"/>
                    <a:lstStyle/>
                    <a:p>
                      <a:pPr algn="l"/>
                      <a:r>
                        <a:rPr sz="1100" b="0" i="1">
                          <a:solidFill>
                            <a:srgbClr val="000000"/>
                          </a:solidFill>
                          <a:latin typeface="Calibri"/>
                        </a:rPr>
                        <a:t>19.5.1.2.</a:t>
                      </a:r>
                      <a:r>
                        <a:rPr sz="700" b="0" i="1">
                          <a:solidFill>
                            <a:srgbClr val="000000"/>
                          </a:solidFill>
                          <a:latin typeface="Times New Roman"/>
                        </a:rPr>
                        <a:t> </a:t>
                      </a:r>
                      <a:r>
                        <a:rPr sz="1100" b="0" i="1">
                          <a:solidFill>
                            <a:srgbClr val="000000"/>
                          </a:solidFill>
                          <a:latin typeface="Calibri"/>
                        </a:rPr>
                        <a:t>Convenience stores</a:t>
                      </a:r>
                      <a:endParaRPr sz="1100"/>
                    </a:p>
                  </a:txBody>
                  <a:tcPr marL="1028700" marR="9525" marT="9525" marB="0" anchor="ctr"/>
                </a:tc>
              </a:tr>
              <a:tr h="175260">
                <a:tc>
                  <a:txBody>
                    <a:bodyPr wrap="square"/>
                    <a:lstStyle/>
                    <a:p>
                      <a:pPr algn="l"/>
                      <a:r>
                        <a:rPr sz="1100" b="0" i="1">
                          <a:solidFill>
                            <a:srgbClr val="000000"/>
                          </a:solidFill>
                          <a:latin typeface="Calibri"/>
                        </a:rPr>
                        <a:t>19.5.1.3.</a:t>
                      </a:r>
                      <a:r>
                        <a:rPr sz="700" b="0" i="1">
                          <a:solidFill>
                            <a:srgbClr val="000000"/>
                          </a:solidFill>
                          <a:latin typeface="Times New Roman"/>
                        </a:rPr>
                        <a:t> </a:t>
                      </a:r>
                      <a:r>
                        <a:rPr sz="1100" b="0" i="1">
                          <a:solidFill>
                            <a:srgbClr val="000000"/>
                          </a:solidFill>
                          <a:latin typeface="Calibri"/>
                        </a:rPr>
                        <a:t>Discount stores</a:t>
                      </a:r>
                      <a:endParaRPr sz="1100"/>
                    </a:p>
                  </a:txBody>
                  <a:tcPr marL="1028700" marR="9525" marT="9525" marB="0" anchor="ctr"/>
                </a:tc>
              </a:tr>
              <a:tr h="175260">
                <a:tc>
                  <a:txBody>
                    <a:bodyPr wrap="square"/>
                    <a:lstStyle/>
                    <a:p>
                      <a:pPr algn="l"/>
                      <a:r>
                        <a:rPr sz="1100" b="0" i="1">
                          <a:solidFill>
                            <a:srgbClr val="000000"/>
                          </a:solidFill>
                          <a:latin typeface="Calibri"/>
                        </a:rPr>
                        <a:t>19.5.1.4.</a:t>
                      </a:r>
                      <a:r>
                        <a:rPr sz="700" b="0" i="1">
                          <a:solidFill>
                            <a:srgbClr val="000000"/>
                          </a:solidFill>
                          <a:latin typeface="Times New Roman"/>
                        </a:rPr>
                        <a:t> </a:t>
                      </a:r>
                      <a:r>
                        <a:rPr sz="1100" b="0" i="1">
                          <a:solidFill>
                            <a:srgbClr val="000000"/>
                          </a:solidFill>
                          <a:latin typeface="Calibri"/>
                        </a:rPr>
                        <a:t>Warehouse clubs</a:t>
                      </a:r>
                      <a:endParaRPr sz="1100"/>
                    </a:p>
                  </a:txBody>
                  <a:tcPr marL="1028700" marR="9525" marT="9525" marB="0" anchor="ctr"/>
                </a:tc>
              </a:tr>
              <a:tr h="175260">
                <a:tc>
                  <a:txBody>
                    <a:bodyPr wrap="square"/>
                    <a:lstStyle/>
                    <a:p>
                      <a:pPr algn="l"/>
                      <a:r>
                        <a:rPr sz="1100" b="0" i="1">
                          <a:solidFill>
                            <a:srgbClr val="000000"/>
                          </a:solidFill>
                          <a:latin typeface="Calibri"/>
                        </a:rPr>
                        <a:t>19.5.1.5.</a:t>
                      </a:r>
                      <a:r>
                        <a:rPr sz="700" b="0" i="1">
                          <a:solidFill>
                            <a:srgbClr val="000000"/>
                          </a:solidFill>
                          <a:latin typeface="Times New Roman"/>
                        </a:rPr>
                        <a:t> </a:t>
                      </a:r>
                      <a:r>
                        <a:rPr sz="1100" b="0" i="1">
                          <a:solidFill>
                            <a:srgbClr val="000000"/>
                          </a:solidFill>
                          <a:latin typeface="Calibri"/>
                        </a:rPr>
                        <a:t>Traditional grocery stores</a:t>
                      </a:r>
                      <a:endParaRPr sz="1100"/>
                    </a:p>
                  </a:txBody>
                  <a:tcPr marL="1028700" marR="9525" marT="9525" marB="0" anchor="ctr"/>
                </a:tc>
              </a:tr>
              <a:tr h="175260">
                <a:tc>
                  <a:txBody>
                    <a:bodyPr wrap="square"/>
                    <a:lstStyle/>
                    <a:p>
                      <a:pPr algn="l"/>
                      <a:r>
                        <a:rPr sz="1100" b="0" i="1">
                          <a:solidFill>
                            <a:srgbClr val="000000"/>
                          </a:solidFill>
                          <a:latin typeface="Calibri"/>
                        </a:rPr>
                        <a:t>19.5.1.6.</a:t>
                      </a:r>
                      <a:r>
                        <a:rPr sz="700" b="0" i="1">
                          <a:solidFill>
                            <a:srgbClr val="000000"/>
                          </a:solidFill>
                          <a:latin typeface="Times New Roman"/>
                        </a:rPr>
                        <a:t> </a:t>
                      </a:r>
                      <a:r>
                        <a:rPr sz="1100" b="0" i="1">
                          <a:solidFill>
                            <a:srgbClr val="000000"/>
                          </a:solidFill>
                          <a:latin typeface="Calibri"/>
                        </a:rPr>
                        <a:t>Speciality food and health stores</a:t>
                      </a:r>
                      <a:endParaRPr sz="1100"/>
                    </a:p>
                  </a:txBody>
                  <a:tcPr marL="1028700" marR="9525" marT="9525" marB="0" anchor="ctr"/>
                </a:tc>
              </a:tr>
              <a:tr h="175260">
                <a:tc>
                  <a:txBody>
                    <a:bodyPr wrap="square"/>
                    <a:lstStyle/>
                    <a:p>
                      <a:pPr algn="l"/>
                      <a:r>
                        <a:rPr sz="1100" b="0" i="1">
                          <a:solidFill>
                            <a:srgbClr val="000000"/>
                          </a:solidFill>
                          <a:latin typeface="Calibri"/>
                        </a:rPr>
                        <a:t>19.5.1.7.</a:t>
                      </a:r>
                      <a:r>
                        <a:rPr sz="700" b="0" i="1">
                          <a:solidFill>
                            <a:srgbClr val="000000"/>
                          </a:solidFill>
                          <a:latin typeface="Times New Roman"/>
                        </a:rPr>
                        <a:t> </a:t>
                      </a:r>
                      <a:r>
                        <a:rPr sz="1100" b="0" i="1">
                          <a:solidFill>
                            <a:srgbClr val="000000"/>
                          </a:solidFill>
                          <a:latin typeface="Calibri"/>
                        </a:rPr>
                        <a:t>Bakery outlets selling packaged products</a:t>
                      </a:r>
                      <a:endParaRPr sz="1100"/>
                    </a:p>
                  </a:txBody>
                  <a:tcPr marL="1028700" marR="9525" marT="9525" marB="0" anchor="ctr"/>
                </a:tc>
              </a:tr>
              <a:tr h="175260">
                <a:tc>
                  <a:txBody>
                    <a:bodyPr wrap="square"/>
                    <a:lstStyle/>
                    <a:p>
                      <a:pPr algn="l"/>
                      <a:r>
                        <a:rPr sz="1100" b="0" i="1">
                          <a:solidFill>
                            <a:srgbClr val="000000"/>
                          </a:solidFill>
                          <a:latin typeface="Calibri"/>
                        </a:rPr>
                        <a:t>19.5.1.8.</a:t>
                      </a:r>
                      <a:r>
                        <a:rPr sz="700" b="0" i="1">
                          <a:solidFill>
                            <a:srgbClr val="000000"/>
                          </a:solidFill>
                          <a:latin typeface="Times New Roman"/>
                        </a:rPr>
                        <a:t> </a:t>
                      </a:r>
                      <a:r>
                        <a:rPr sz="1100" b="0" i="1">
                          <a:solidFill>
                            <a:srgbClr val="000000"/>
                          </a:solidFill>
                          <a:latin typeface="Calibri"/>
                        </a:rPr>
                        <a:t>Online retail</a:t>
                      </a:r>
                      <a:endParaRPr sz="1100"/>
                    </a:p>
                  </a:txBody>
                  <a:tcPr marL="1028700" marR="9525" marT="9525" marB="0" anchor="ctr"/>
                </a:tc>
              </a:tr>
              <a:tr h="175260">
                <a:tc>
                  <a:txBody>
                    <a:bodyPr wrap="square"/>
                    <a:lstStyle/>
                    <a:p>
                      <a:pPr algn="l"/>
                      <a:r>
                        <a:rPr sz="1100" b="0" i="1">
                          <a:solidFill>
                            <a:srgbClr val="000000"/>
                          </a:solidFill>
                          <a:latin typeface="Calibri"/>
                        </a:rPr>
                        <a:t>19.5.1.8.1.</a:t>
                      </a:r>
                      <a:r>
                        <a:rPr sz="700" b="0" i="1">
                          <a:solidFill>
                            <a:srgbClr val="000000"/>
                          </a:solidFill>
                          <a:latin typeface="Times New Roman"/>
                        </a:rPr>
                        <a:t> </a:t>
                      </a:r>
                      <a:r>
                        <a:rPr sz="1100" b="0" i="1">
                          <a:solidFill>
                            <a:srgbClr val="000000"/>
                          </a:solidFill>
                          <a:latin typeface="Calibri"/>
                        </a:rPr>
                        <a:t>Retailer websites and apps</a:t>
                      </a:r>
                      <a:endParaRPr sz="1100"/>
                    </a:p>
                  </a:txBody>
                  <a:tcPr marL="1257300" marR="9525" marT="9525" marB="0" anchor="ctr"/>
                </a:tc>
              </a:tr>
              <a:tr h="175260">
                <a:tc>
                  <a:txBody>
                    <a:bodyPr wrap="square"/>
                    <a:lstStyle/>
                    <a:p>
                      <a:pPr algn="l"/>
                      <a:r>
                        <a:rPr sz="1100" b="0" i="1">
                          <a:solidFill>
                            <a:srgbClr val="000000"/>
                          </a:solidFill>
                          <a:latin typeface="Calibri"/>
                        </a:rPr>
                        <a:t>19.5.1.8.2.</a:t>
                      </a:r>
                      <a:r>
                        <a:rPr sz="700" b="0" i="1">
                          <a:solidFill>
                            <a:srgbClr val="000000"/>
                          </a:solidFill>
                          <a:latin typeface="Times New Roman"/>
                        </a:rPr>
                        <a:t> </a:t>
                      </a:r>
                      <a:r>
                        <a:rPr sz="1100" b="0" i="1">
                          <a:solidFill>
                            <a:srgbClr val="000000"/>
                          </a:solidFill>
                          <a:latin typeface="Calibri"/>
                        </a:rPr>
                        <a:t>Online marketplaces</a:t>
                      </a:r>
                      <a:endParaRPr sz="1100"/>
                    </a:p>
                  </a:txBody>
                  <a:tcPr marL="1257300" marR="9525" marT="9525" marB="0" anchor="ctr"/>
                </a:tc>
              </a:tr>
              <a:tr h="175260">
                <a:tc>
                  <a:txBody>
                    <a:bodyPr wrap="square"/>
                    <a:lstStyle/>
                    <a:p>
                      <a:pPr algn="l"/>
                      <a:r>
                        <a:rPr sz="1100" b="0" i="1">
                          <a:solidFill>
                            <a:srgbClr val="000000"/>
                          </a:solidFill>
                          <a:latin typeface="Calibri"/>
                        </a:rPr>
                        <a:t>19.5.1.8.3.</a:t>
                      </a:r>
                      <a:r>
                        <a:rPr sz="700" b="0" i="1">
                          <a:solidFill>
                            <a:srgbClr val="000000"/>
                          </a:solidFill>
                          <a:latin typeface="Times New Roman"/>
                        </a:rPr>
                        <a:t> </a:t>
                      </a:r>
                      <a:r>
                        <a:rPr sz="1100" b="0" i="1">
                          <a:solidFill>
                            <a:srgbClr val="000000"/>
                          </a:solidFill>
                          <a:latin typeface="Calibri"/>
                        </a:rPr>
                        <a:t>Quick-commerce platforms</a:t>
                      </a:r>
                      <a:endParaRPr sz="1100"/>
                    </a:p>
                  </a:txBody>
                  <a:tcPr marL="1257300" marR="9525" marT="9525" marB="0" anchor="ctr"/>
                </a:tc>
              </a:tr>
              <a:tr h="175260">
                <a:tc>
                  <a:txBody>
                    <a:bodyPr wrap="square"/>
                    <a:lstStyle/>
                    <a:p>
                      <a:pPr algn="l"/>
                      <a:r>
                        <a:rPr sz="1100" b="0" i="1">
                          <a:solidFill>
                            <a:srgbClr val="000000"/>
                          </a:solidFill>
                          <a:latin typeface="Calibri"/>
                        </a:rPr>
                        <a:t>19.5.1.8.4.</a:t>
                      </a:r>
                      <a:r>
                        <a:rPr sz="700" b="0" i="1">
                          <a:solidFill>
                            <a:srgbClr val="000000"/>
                          </a:solidFill>
                          <a:latin typeface="Times New Roman"/>
                        </a:rPr>
                        <a:t> </a:t>
                      </a:r>
                      <a:r>
                        <a:rPr sz="1100" b="0" i="1">
                          <a:solidFill>
                            <a:srgbClr val="000000"/>
                          </a:solidFill>
                          <a:latin typeface="Calibri"/>
                        </a:rPr>
                        <a:t>Brand-owned direct-to-consumer websites</a:t>
                      </a:r>
                      <a:endParaRPr sz="1100"/>
                    </a:p>
                  </a:txBody>
                  <a:tcPr marL="1257300" marR="9525" marT="9525" marB="0" anchor="ctr"/>
                </a:tc>
              </a:tr>
              <a:tr h="175260">
                <a:tc>
                  <a:txBody>
                    <a:bodyPr wrap="square"/>
                    <a:lstStyle/>
                    <a:p>
                      <a:pPr algn="l"/>
                      <a:r>
                        <a:rPr sz="1100" b="0" i="0">
                          <a:solidFill>
                            <a:srgbClr val="000000"/>
                          </a:solidFill>
                          <a:latin typeface="Calibri"/>
                        </a:rPr>
                        <a:t>19.5.2.</a:t>
                      </a:r>
                      <a:r>
                        <a:rPr sz="700" b="0" i="0">
                          <a:solidFill>
                            <a:srgbClr val="000000"/>
                          </a:solidFill>
                          <a:latin typeface="Times New Roman"/>
                        </a:rPr>
                        <a:t> </a:t>
                      </a:r>
                      <a:r>
                        <a:rPr sz="1100" b="0" i="0">
                          <a:solidFill>
                            <a:srgbClr val="000000"/>
                          </a:solidFill>
                          <a:latin typeface="Calibri"/>
                        </a:rPr>
                        <a:t>Foodservice and institutional</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19.5.2.1.</a:t>
                      </a:r>
                      <a:r>
                        <a:rPr sz="700" b="0" i="1">
                          <a:solidFill>
                            <a:srgbClr val="000000"/>
                          </a:solidFill>
                          <a:latin typeface="Times New Roman"/>
                        </a:rPr>
                        <a:t> </a:t>
                      </a:r>
                      <a:r>
                        <a:rPr sz="1100" b="0" i="1">
                          <a:solidFill>
                            <a:srgbClr val="000000"/>
                          </a:solidFill>
                          <a:latin typeface="Calibri"/>
                        </a:rPr>
                        <a:t>Cafés and coffee chains</a:t>
                      </a:r>
                      <a:endParaRPr sz="1100"/>
                    </a:p>
                  </a:txBody>
                  <a:tcPr marL="1028700" marR="9525" marT="9525" marB="0" anchor="ctr"/>
                </a:tc>
              </a:tr>
              <a:tr h="175260">
                <a:tc>
                  <a:txBody>
                    <a:bodyPr wrap="square"/>
                    <a:lstStyle/>
                    <a:p>
                      <a:pPr algn="l"/>
                      <a:r>
                        <a:rPr sz="1100" b="0" i="1">
                          <a:solidFill>
                            <a:srgbClr val="000000"/>
                          </a:solidFill>
                          <a:latin typeface="Calibri"/>
                        </a:rPr>
                        <a:t>19.5.2.2.</a:t>
                      </a:r>
                      <a:r>
                        <a:rPr sz="700" b="0" i="1">
                          <a:solidFill>
                            <a:srgbClr val="000000"/>
                          </a:solidFill>
                          <a:latin typeface="Times New Roman"/>
                        </a:rPr>
                        <a:t> </a:t>
                      </a:r>
                      <a:r>
                        <a:rPr sz="1100" b="0" i="1">
                          <a:solidFill>
                            <a:srgbClr val="000000"/>
                          </a:solidFill>
                          <a:latin typeface="Calibri"/>
                        </a:rPr>
                        <a:t>Hotels and restaurants</a:t>
                      </a:r>
                      <a:endParaRPr sz="1100"/>
                    </a:p>
                  </a:txBody>
                  <a:tcPr marL="1028700" marR="9525" marT="9525" marB="0" anchor="ctr"/>
                </a:tc>
              </a:tr>
              <a:tr h="175260">
                <a:tc>
                  <a:txBody>
                    <a:bodyPr wrap="square"/>
                    <a:lstStyle/>
                    <a:p>
                      <a:pPr algn="l"/>
                      <a:r>
                        <a:rPr sz="1100" b="0" i="1">
                          <a:solidFill>
                            <a:srgbClr val="000000"/>
                          </a:solidFill>
                          <a:latin typeface="Calibri"/>
                        </a:rPr>
                        <a:t>19.5.2.3.</a:t>
                      </a:r>
                      <a:r>
                        <a:rPr sz="700" b="0" i="1">
                          <a:solidFill>
                            <a:srgbClr val="000000"/>
                          </a:solidFill>
                          <a:latin typeface="Times New Roman"/>
                        </a:rPr>
                        <a:t> </a:t>
                      </a:r>
                      <a:r>
                        <a:rPr sz="1100" b="0" i="1">
                          <a:solidFill>
                            <a:srgbClr val="000000"/>
                          </a:solidFill>
                          <a:latin typeface="Calibri"/>
                        </a:rPr>
                        <a:t>Quick-service restaurants</a:t>
                      </a:r>
                      <a:endParaRPr sz="1100"/>
                    </a:p>
                  </a:txBody>
                  <a:tcPr marL="1028700" marR="9525" marT="9525" marB="0" anchor="ctr"/>
                </a:tc>
              </a:tr>
              <a:tr h="175260">
                <a:tc>
                  <a:txBody>
                    <a:bodyPr wrap="square"/>
                    <a:lstStyle/>
                    <a:p>
                      <a:pPr algn="l"/>
                      <a:r>
                        <a:rPr sz="1100" b="0" i="1">
                          <a:solidFill>
                            <a:srgbClr val="000000"/>
                          </a:solidFill>
                          <a:latin typeface="Calibri"/>
                        </a:rPr>
                        <a:t>19.5.2.4.</a:t>
                      </a:r>
                      <a:r>
                        <a:rPr sz="700" b="0" i="1">
                          <a:solidFill>
                            <a:srgbClr val="000000"/>
                          </a:solidFill>
                          <a:latin typeface="Times New Roman"/>
                        </a:rPr>
                        <a:t> </a:t>
                      </a:r>
                      <a:r>
                        <a:rPr sz="1100" b="0" i="1">
                          <a:solidFill>
                            <a:srgbClr val="000000"/>
                          </a:solidFill>
                          <a:latin typeface="Calibri"/>
                        </a:rPr>
                        <a:t>Corporate catering</a:t>
                      </a:r>
                      <a:endParaRPr sz="1100"/>
                    </a:p>
                  </a:txBody>
                  <a:tcPr marL="1028700" marR="9525" marT="9525" marB="0" anchor="ctr"/>
                </a:tc>
              </a:tr>
              <a:tr h="175260">
                <a:tc>
                  <a:txBody>
                    <a:bodyPr wrap="square"/>
                    <a:lstStyle/>
                    <a:p>
                      <a:pPr algn="l"/>
                      <a:r>
                        <a:rPr sz="1100" b="0" i="1">
                          <a:solidFill>
                            <a:srgbClr val="000000"/>
                          </a:solidFill>
                          <a:latin typeface="Calibri"/>
                        </a:rPr>
                        <a:t>19.5.2.5.</a:t>
                      </a:r>
                      <a:r>
                        <a:rPr sz="700" b="0" i="1">
                          <a:solidFill>
                            <a:srgbClr val="000000"/>
                          </a:solidFill>
                          <a:latin typeface="Times New Roman"/>
                        </a:rPr>
                        <a:t> </a:t>
                      </a:r>
                      <a:r>
                        <a:rPr sz="1100" b="0" i="1">
                          <a:solidFill>
                            <a:srgbClr val="000000"/>
                          </a:solidFill>
                          <a:latin typeface="Calibri"/>
                        </a:rPr>
                        <a:t>Educational institutions</a:t>
                      </a:r>
                      <a:endParaRPr sz="1100"/>
                    </a:p>
                  </a:txBody>
                  <a:tcPr marL="1028700" marR="9525" marT="9525" marB="0" anchor="ctr"/>
                </a:tc>
              </a:tr>
              <a:tr h="175260">
                <a:tc>
                  <a:txBody>
                    <a:bodyPr wrap="square"/>
                    <a:lstStyle/>
                    <a:p>
                      <a:pPr algn="l"/>
                      <a:r>
                        <a:rPr sz="1100" b="0" i="1">
                          <a:solidFill>
                            <a:srgbClr val="000000"/>
                          </a:solidFill>
                          <a:latin typeface="Calibri"/>
                        </a:rPr>
                        <a:t>19.5.2.6.</a:t>
                      </a:r>
                      <a:r>
                        <a:rPr sz="700" b="0" i="1">
                          <a:solidFill>
                            <a:srgbClr val="000000"/>
                          </a:solidFill>
                          <a:latin typeface="Times New Roman"/>
                        </a:rPr>
                        <a:t> </a:t>
                      </a:r>
                      <a:r>
                        <a:rPr sz="1100" b="0" i="1">
                          <a:solidFill>
                            <a:srgbClr val="000000"/>
                          </a:solidFill>
                          <a:latin typeface="Calibri"/>
                        </a:rPr>
                        <a:t>Healthcare institutions</a:t>
                      </a:r>
                      <a:endParaRPr sz="1100"/>
                    </a:p>
                  </a:txBody>
                  <a:tcPr marL="1028700" marR="9525" marT="9525" marB="0" anchor="ctr"/>
                </a:tc>
              </a:tr>
              <a:tr h="175260">
                <a:tc>
                  <a:txBody>
                    <a:bodyPr wrap="square"/>
                    <a:lstStyle/>
                    <a:p>
                      <a:pPr algn="l"/>
                      <a:r>
                        <a:rPr sz="1100" b="0" i="1">
                          <a:solidFill>
                            <a:srgbClr val="000000"/>
                          </a:solidFill>
                          <a:latin typeface="Calibri"/>
                        </a:rPr>
                        <a:t>19.5.2.7.</a:t>
                      </a:r>
                      <a:r>
                        <a:rPr sz="700" b="0" i="1">
                          <a:solidFill>
                            <a:srgbClr val="000000"/>
                          </a:solidFill>
                          <a:latin typeface="Times New Roman"/>
                        </a:rPr>
                        <a:t> </a:t>
                      </a:r>
                      <a:r>
                        <a:rPr sz="1100" b="0" i="1">
                          <a:solidFill>
                            <a:srgbClr val="000000"/>
                          </a:solidFill>
                          <a:latin typeface="Calibri"/>
                        </a:rPr>
                        <a:t>Airline and travel catering</a:t>
                      </a:r>
                      <a:endParaRPr sz="1100"/>
                    </a:p>
                  </a:txBody>
                  <a:tcPr marL="1028700" marR="9525" marT="9525" marB="0" anchor="ctr"/>
                </a:tc>
              </a:tr>
              <a:tr h="175260">
                <a:tc>
                  <a:txBody>
                    <a:bodyPr wrap="square"/>
                    <a:lstStyle/>
                    <a:p>
                      <a:pPr algn="l"/>
                      <a:r>
                        <a:rPr sz="1100" b="0" i="0">
                          <a:solidFill>
                            <a:srgbClr val="000000"/>
                          </a:solidFill>
                          <a:latin typeface="Calibri"/>
                        </a:rPr>
                        <a:t>19.5.3.</a:t>
                      </a:r>
                      <a:r>
                        <a:rPr sz="700" b="0" i="0">
                          <a:solidFill>
                            <a:srgbClr val="000000"/>
                          </a:solidFill>
                          <a:latin typeface="Times New Roman"/>
                        </a:rPr>
                        <a:t> </a:t>
                      </a:r>
                      <a:r>
                        <a:rPr sz="1100" b="0" i="0">
                          <a:solidFill>
                            <a:srgbClr val="000000"/>
                          </a:solidFill>
                          <a:latin typeface="Calibri"/>
                        </a:rPr>
                        <a:t>Vending</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20.5.1.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20.5.1.1.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20.5.1.2.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20.5.2.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20.5.2.1.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20.5.2.2.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20.5.2.3.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20.5.3.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20.5.3.1.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20.5.3.2.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20.5.3.3.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20.5.4.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20.5.4.1.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20.5.4.2.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20.5.4.3.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20.5.4.4.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20.5.4.6.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20.5.4.7.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20.5.4.8.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20.5.4.9.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20.5.5.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20.5.5.1.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20.5.5.2.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20.5.5.3.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20.5.5.4.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20.5.5.5.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20.5.5.6.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20.5.5.7.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20.5.5.8.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20.5.5.9.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20.5.5.10.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20.5.5.11.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20.5.5.12.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20.5.6.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20.5.6.1.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20.5.6.2.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20.5.6.3.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20.5.6.4.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20.5.6.5.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20.5.6.6.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20.5.6.7.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Product Type × Flavour</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Product Type × Packaging Format</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(7/12)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Product Type × Sales Channel</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Product Type × Individual Muffin Size</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22.4.2.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22.4.3.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22.4.4.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22.4.5.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22.4.6.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22.4.7.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22.4.8.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22.4.9.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22.4.10.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22.4.11.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22.4.12.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22.4.13.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22.4.14.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22.4.15.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22.4.16.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22.4.17.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22.4.18.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23.4.2.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23.4.3.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23.4.4.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23.4.5.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23.4.6.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23.4.7.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23.4.8.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23.4.9.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23.4.10.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23.4.11.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23.4.12.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23.4.13.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23.4.14.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23.4.15.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23.4.16.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23.4.17.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23.4.18.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24.4.1.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24.4.2.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24.4.3.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24.4.4.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24.4.5.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(8/12)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24.4.6.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24.4.7.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24.4.8.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24.4.9.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24.4.10.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24.4.11.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24.4.12.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24.4.13.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24.4.14.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24.4.15.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24.4.16.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24.4.17.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24.4.18.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25.4.1.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25.4.2.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25.4.3.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25.4.4.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25.4.5.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25.4.6.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25.4.7.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25.4.8.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25.4.9.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25.4.10.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25.4.11.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25.4.12.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25.4.13.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25.4.14.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25.4.15.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25.4.16.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25.4.17.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25.4.18.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26.4.1.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26.4.2.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26.4.3.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26.4.4.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26.4.5.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26.4.6.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26.4.7.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26.4.8.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26.4.9.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26.4.10.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26.4.11.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26.4.12.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26.4.13.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26.4.14.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26.4.15.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26.4.16.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26.4.17.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26.4.18.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(9/12)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27.4.1.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27.4.2.</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27.4.3.</a:t>
                      </a:r>
                      <a:r>
                        <a:rPr sz="700" b="0" i="0">
                          <a:solidFill>
                            <a:srgbClr val="000000"/>
                          </a:solidFill>
                          <a:latin typeface="Times New Roman"/>
                        </a:rPr>
                        <a:t> </a:t>
                      </a:r>
                      <a:r>
                        <a:rPr sz="1100" b="0" i="0">
                          <a:solidFill>
                            <a:srgbClr val="000000"/>
                          </a:solidFill>
                          <a:latin typeface="Calibri"/>
                        </a:rPr>
                        <a:t>By Primary Flour Base</a:t>
                      </a:r>
                      <a:endParaRPr sz="1100"/>
                    </a:p>
                  </a:txBody>
                  <a:tcPr marL="771525" marR="9525" marT="9525" marB="0" anchor="ctr"/>
                </a:tc>
              </a:tr>
              <a:tr h="175260">
                <a:tc>
                  <a:txBody>
                    <a:bodyPr wrap="square"/>
                    <a:lstStyle/>
                    <a:p>
                      <a:pPr algn="l"/>
                      <a:r>
                        <a:rPr sz="1100" b="0" i="0">
                          <a:solidFill>
                            <a:srgbClr val="000000"/>
                          </a:solidFill>
                          <a:latin typeface="Calibri"/>
                        </a:rPr>
                        <a:t>27.4.4.</a:t>
                      </a:r>
                      <a:r>
                        <a:rPr sz="700" b="0" i="0">
                          <a:solidFill>
                            <a:srgbClr val="000000"/>
                          </a:solidFill>
                          <a:latin typeface="Times New Roman"/>
                        </a:rPr>
                        <a:t> </a:t>
                      </a:r>
                      <a:r>
                        <a:rPr sz="1100" b="0" i="0">
                          <a:solidFill>
                            <a:srgbClr val="000000"/>
                          </a:solidFill>
                          <a:latin typeface="Calibri"/>
                        </a:rPr>
                        <a:t>By Dietary Formulation</a:t>
                      </a:r>
                      <a:endParaRPr sz="1100"/>
                    </a:p>
                  </a:txBody>
                  <a:tcPr marL="771525" marR="9525" marT="9525" marB="0" anchor="ctr"/>
                </a:tc>
              </a:tr>
              <a:tr h="175260">
                <a:tc>
                  <a:txBody>
                    <a:bodyPr wrap="square"/>
                    <a:lstStyle/>
                    <a:p>
                      <a:pPr algn="l"/>
                      <a:r>
                        <a:rPr sz="1100" b="0" i="0">
                          <a:solidFill>
                            <a:srgbClr val="000000"/>
                          </a:solidFill>
                          <a:latin typeface="Calibri"/>
                        </a:rPr>
                        <a:t>27.4.5.</a:t>
                      </a:r>
                      <a:r>
                        <a:rPr sz="700" b="0" i="0">
                          <a:solidFill>
                            <a:srgbClr val="000000"/>
                          </a:solidFill>
                          <a:latin typeface="Times New Roman"/>
                        </a:rPr>
                        <a:t> </a:t>
                      </a:r>
                      <a:r>
                        <a:rPr sz="1100" b="0" i="0">
                          <a:solidFill>
                            <a:srgbClr val="000000"/>
                          </a:solidFill>
                          <a:latin typeface="Calibri"/>
                        </a:rPr>
                        <a:t>By Nutritional Positioning</a:t>
                      </a:r>
                      <a:endParaRPr sz="1100"/>
                    </a:p>
                  </a:txBody>
                  <a:tcPr marL="771525" marR="9525" marT="9525" marB="0" anchor="ctr"/>
                </a:tc>
              </a:tr>
              <a:tr h="175260">
                <a:tc>
                  <a:txBody>
                    <a:bodyPr wrap="square"/>
                    <a:lstStyle/>
                    <a:p>
                      <a:pPr algn="l"/>
                      <a:r>
                        <a:rPr sz="1100" b="0" i="0">
                          <a:solidFill>
                            <a:srgbClr val="000000"/>
                          </a:solidFill>
                          <a:latin typeface="Calibri"/>
                        </a:rPr>
                        <a:t>27.4.6.</a:t>
                      </a:r>
                      <a:r>
                        <a:rPr sz="700" b="0" i="0">
                          <a:solidFill>
                            <a:srgbClr val="000000"/>
                          </a:solidFill>
                          <a:latin typeface="Times New Roman"/>
                        </a:rPr>
                        <a:t> </a:t>
                      </a:r>
                      <a:r>
                        <a:rPr sz="1100" b="0" i="0">
                          <a:solidFill>
                            <a:srgbClr val="000000"/>
                          </a:solidFill>
                          <a:latin typeface="Calibri"/>
                        </a:rPr>
                        <a:t>By Recipe and Ingredient Claims</a:t>
                      </a:r>
                      <a:endParaRPr sz="1100"/>
                    </a:p>
                  </a:txBody>
                  <a:tcPr marL="771525" marR="9525" marT="9525" marB="0" anchor="ctr"/>
                </a:tc>
              </a:tr>
              <a:tr h="175260">
                <a:tc>
                  <a:txBody>
                    <a:bodyPr wrap="square"/>
                    <a:lstStyle/>
                    <a:p>
                      <a:pPr algn="l"/>
                      <a:r>
                        <a:rPr sz="1100" b="0" i="0">
                          <a:solidFill>
                            <a:srgbClr val="000000"/>
                          </a:solidFill>
                          <a:latin typeface="Calibri"/>
                        </a:rPr>
                        <a:t>27.4.7.</a:t>
                      </a:r>
                      <a:r>
                        <a:rPr sz="700" b="0" i="0">
                          <a:solidFill>
                            <a:srgbClr val="000000"/>
                          </a:solidFill>
                          <a:latin typeface="Times New Roman"/>
                        </a:rPr>
                        <a:t> </a:t>
                      </a:r>
                      <a:r>
                        <a:rPr sz="1100" b="0" i="0">
                          <a:solidFill>
                            <a:srgbClr val="000000"/>
                          </a:solidFill>
                          <a:latin typeface="Calibri"/>
                        </a:rPr>
                        <a:t>By Product Structure</a:t>
                      </a:r>
                      <a:endParaRPr sz="1100"/>
                    </a:p>
                  </a:txBody>
                  <a:tcPr marL="771525" marR="9525" marT="9525" marB="0" anchor="ctr"/>
                </a:tc>
              </a:tr>
              <a:tr h="175260">
                <a:tc>
                  <a:txBody>
                    <a:bodyPr wrap="square"/>
                    <a:lstStyle/>
                    <a:p>
                      <a:pPr algn="l"/>
                      <a:r>
                        <a:rPr sz="1100" b="0" i="0">
                          <a:solidFill>
                            <a:srgbClr val="000000"/>
                          </a:solidFill>
                          <a:latin typeface="Calibri"/>
                        </a:rPr>
                        <a:t>27.4.8.</a:t>
                      </a:r>
                      <a:r>
                        <a:rPr sz="700" b="0" i="0">
                          <a:solidFill>
                            <a:srgbClr val="000000"/>
                          </a:solidFill>
                          <a:latin typeface="Times New Roman"/>
                        </a:rPr>
                        <a:t> </a:t>
                      </a:r>
                      <a:r>
                        <a:rPr sz="1100" b="0" i="0">
                          <a:solidFill>
                            <a:srgbClr val="000000"/>
                          </a:solidFill>
                          <a:latin typeface="Calibri"/>
                        </a:rPr>
                        <a:t>By Surface Finish</a:t>
                      </a:r>
                      <a:endParaRPr sz="1100"/>
                    </a:p>
                  </a:txBody>
                  <a:tcPr marL="771525" marR="9525" marT="9525" marB="0" anchor="ctr"/>
                </a:tc>
              </a:tr>
              <a:tr h="175260">
                <a:tc>
                  <a:txBody>
                    <a:bodyPr wrap="square"/>
                    <a:lstStyle/>
                    <a:p>
                      <a:pPr algn="l"/>
                      <a:r>
                        <a:rPr sz="1100" b="0" i="0">
                          <a:solidFill>
                            <a:srgbClr val="000000"/>
                          </a:solidFill>
                          <a:latin typeface="Calibri"/>
                        </a:rPr>
                        <a:t>27.4.9.</a:t>
                      </a:r>
                      <a:r>
                        <a:rPr sz="700" b="0" i="0">
                          <a:solidFill>
                            <a:srgbClr val="000000"/>
                          </a:solidFill>
                          <a:latin typeface="Times New Roman"/>
                        </a:rPr>
                        <a:t> </a:t>
                      </a:r>
                      <a:r>
                        <a:rPr sz="1100" b="0" i="0">
                          <a:solidFill>
                            <a:srgbClr val="000000"/>
                          </a:solidFill>
                          <a:latin typeface="Calibri"/>
                        </a:rPr>
                        <a:t>By Individual Muffin Size</a:t>
                      </a:r>
                      <a:endParaRPr sz="1100"/>
                    </a:p>
                  </a:txBody>
                  <a:tcPr marL="771525" marR="9525" marT="9525" marB="0" anchor="ctr"/>
                </a:tc>
              </a:tr>
              <a:tr h="175260">
                <a:tc>
                  <a:txBody>
                    <a:bodyPr wrap="square"/>
                    <a:lstStyle/>
                    <a:p>
                      <a:pPr algn="l"/>
                      <a:r>
                        <a:rPr sz="1100" b="0" i="0">
                          <a:solidFill>
                            <a:srgbClr val="000000"/>
                          </a:solidFill>
                          <a:latin typeface="Calibri"/>
                        </a:rPr>
                        <a:t>27.4.10.</a:t>
                      </a:r>
                      <a:r>
                        <a:rPr sz="700" b="0" i="0">
                          <a:solidFill>
                            <a:srgbClr val="000000"/>
                          </a:solidFill>
                          <a:latin typeface="Times New Roman"/>
                        </a:rPr>
                        <a:t> </a:t>
                      </a:r>
                      <a:r>
                        <a:rPr sz="1100" b="0" i="0">
                          <a:solidFill>
                            <a:srgbClr val="000000"/>
                          </a:solidFill>
                          <a:latin typeface="Calibri"/>
                        </a:rPr>
                        <a:t>By Storage Format</a:t>
                      </a:r>
                      <a:endParaRPr sz="1100"/>
                    </a:p>
                  </a:txBody>
                  <a:tcPr marL="771525" marR="9525" marT="9525" marB="0" anchor="ctr"/>
                </a:tc>
              </a:tr>
              <a:tr h="175260">
                <a:tc>
                  <a:txBody>
                    <a:bodyPr wrap="square"/>
                    <a:lstStyle/>
                    <a:p>
                      <a:pPr algn="l"/>
                      <a:r>
                        <a:rPr sz="1100" b="0" i="0">
                          <a:solidFill>
                            <a:srgbClr val="000000"/>
                          </a:solidFill>
                          <a:latin typeface="Calibri"/>
                        </a:rPr>
                        <a:t>27.4.11.</a:t>
                      </a:r>
                      <a:r>
                        <a:rPr sz="700" b="0" i="0">
                          <a:solidFill>
                            <a:srgbClr val="000000"/>
                          </a:solidFill>
                          <a:latin typeface="Times New Roman"/>
                        </a:rPr>
                        <a:t> </a:t>
                      </a:r>
                      <a:r>
                        <a:rPr sz="1100" b="0" i="0">
                          <a:solidFill>
                            <a:srgbClr val="000000"/>
                          </a:solidFill>
                          <a:latin typeface="Calibri"/>
                        </a:rPr>
                        <a:t>By Shelf Life</a:t>
                      </a:r>
                      <a:endParaRPr sz="1100"/>
                    </a:p>
                  </a:txBody>
                  <a:tcPr marL="771525" marR="9525" marT="9525" marB="0" anchor="ctr"/>
                </a:tc>
              </a:tr>
              <a:tr h="175260">
                <a:tc>
                  <a:txBody>
                    <a:bodyPr wrap="square"/>
                    <a:lstStyle/>
                    <a:p>
                      <a:pPr algn="l"/>
                      <a:r>
                        <a:rPr sz="1100" b="0" i="0">
                          <a:solidFill>
                            <a:srgbClr val="000000"/>
                          </a:solidFill>
                          <a:latin typeface="Calibri"/>
                        </a:rPr>
                        <a:t>27.4.12.</a:t>
                      </a:r>
                      <a:r>
                        <a:rPr sz="700" b="0" i="0">
                          <a:solidFill>
                            <a:srgbClr val="000000"/>
                          </a:solidFill>
                          <a:latin typeface="Times New Roman"/>
                        </a:rPr>
                        <a:t> </a:t>
                      </a:r>
                      <a:r>
                        <a:rPr sz="1100" b="0" i="0">
                          <a:solidFill>
                            <a:srgbClr val="000000"/>
                          </a:solidFill>
                          <a:latin typeface="Calibri"/>
                        </a:rPr>
                        <a:t>By Packaging Format</a:t>
                      </a:r>
                      <a:endParaRPr sz="1100"/>
                    </a:p>
                  </a:txBody>
                  <a:tcPr marL="771525" marR="9525" marT="9525" marB="0" anchor="ctr"/>
                </a:tc>
              </a:tr>
              <a:tr h="175260">
                <a:tc>
                  <a:txBody>
                    <a:bodyPr wrap="square"/>
                    <a:lstStyle/>
                    <a:p>
                      <a:pPr algn="l"/>
                      <a:r>
                        <a:rPr sz="1100" b="0" i="0">
                          <a:solidFill>
                            <a:srgbClr val="000000"/>
                          </a:solidFill>
                          <a:latin typeface="Calibri"/>
                        </a:rPr>
                        <a:t>27.4.13.</a:t>
                      </a:r>
                      <a:r>
                        <a:rPr sz="700" b="0" i="0">
                          <a:solidFill>
                            <a:srgbClr val="000000"/>
                          </a:solidFill>
                          <a:latin typeface="Times New Roman"/>
                        </a:rPr>
                        <a:t> </a:t>
                      </a:r>
                      <a:r>
                        <a:rPr sz="1100" b="0" i="0">
                          <a:solidFill>
                            <a:srgbClr val="000000"/>
                          </a:solidFill>
                          <a:latin typeface="Calibri"/>
                        </a:rPr>
                        <a:t>By Pack Configuration</a:t>
                      </a:r>
                      <a:endParaRPr sz="1100"/>
                    </a:p>
                  </a:txBody>
                  <a:tcPr marL="771525" marR="9525" marT="9525" marB="0" anchor="ctr"/>
                </a:tc>
              </a:tr>
              <a:tr h="175260">
                <a:tc>
                  <a:txBody>
                    <a:bodyPr wrap="square"/>
                    <a:lstStyle/>
                    <a:p>
                      <a:pPr algn="l"/>
                      <a:r>
                        <a:rPr sz="1100" b="0" i="0">
                          <a:solidFill>
                            <a:srgbClr val="000000"/>
                          </a:solidFill>
                          <a:latin typeface="Calibri"/>
                        </a:rPr>
                        <a:t>27.4.14.</a:t>
                      </a:r>
                      <a:r>
                        <a:rPr sz="700" b="0" i="0">
                          <a:solidFill>
                            <a:srgbClr val="000000"/>
                          </a:solidFill>
                          <a:latin typeface="Times New Roman"/>
                        </a:rPr>
                        <a:t> </a:t>
                      </a:r>
                      <a:r>
                        <a:rPr sz="1100" b="0" i="0">
                          <a:solidFill>
                            <a:srgbClr val="000000"/>
                          </a:solidFill>
                          <a:latin typeface="Calibri"/>
                        </a:rPr>
                        <a:t>By Multipack Wrapping</a:t>
                      </a:r>
                      <a:endParaRPr sz="1100"/>
                    </a:p>
                  </a:txBody>
                  <a:tcPr marL="771525" marR="9525" marT="9525" marB="0" anchor="ctr"/>
                </a:tc>
              </a:tr>
              <a:tr h="175260">
                <a:tc>
                  <a:txBody>
                    <a:bodyPr wrap="square"/>
                    <a:lstStyle/>
                    <a:p>
                      <a:pPr algn="l"/>
                      <a:r>
                        <a:rPr sz="1100" b="0" i="0">
                          <a:solidFill>
                            <a:srgbClr val="000000"/>
                          </a:solidFill>
                          <a:latin typeface="Calibri"/>
                        </a:rPr>
                        <a:t>27.4.15.</a:t>
                      </a:r>
                      <a:r>
                        <a:rPr sz="700" b="0" i="0">
                          <a:solidFill>
                            <a:srgbClr val="000000"/>
                          </a:solidFill>
                          <a:latin typeface="Times New Roman"/>
                        </a:rPr>
                        <a:t> </a:t>
                      </a:r>
                      <a:r>
                        <a:rPr sz="1100" b="0" i="0">
                          <a:solidFill>
                            <a:srgbClr val="000000"/>
                          </a:solidFill>
                          <a:latin typeface="Calibri"/>
                        </a:rPr>
                        <a:t>By Price Positioning</a:t>
                      </a:r>
                      <a:endParaRPr sz="1100"/>
                    </a:p>
                  </a:txBody>
                  <a:tcPr marL="771525" marR="9525" marT="9525" marB="0" anchor="ctr"/>
                </a:tc>
              </a:tr>
              <a:tr h="175260">
                <a:tc>
                  <a:txBody>
                    <a:bodyPr wrap="square"/>
                    <a:lstStyle/>
                    <a:p>
                      <a:pPr algn="l"/>
                      <a:r>
                        <a:rPr sz="1100" b="0" i="0">
                          <a:solidFill>
                            <a:srgbClr val="000000"/>
                          </a:solidFill>
                          <a:latin typeface="Calibri"/>
                        </a:rPr>
                        <a:t>27.4.16.</a:t>
                      </a:r>
                      <a:r>
                        <a:rPr sz="700" b="0" i="0">
                          <a:solidFill>
                            <a:srgbClr val="000000"/>
                          </a:solidFill>
                          <a:latin typeface="Times New Roman"/>
                        </a:rPr>
                        <a:t> </a:t>
                      </a:r>
                      <a:r>
                        <a:rPr sz="1100" b="0" i="0">
                          <a:solidFill>
                            <a:srgbClr val="000000"/>
                          </a:solidFill>
                          <a:latin typeface="Calibri"/>
                        </a:rPr>
                        <a:t>By Brand Ownership</a:t>
                      </a:r>
                      <a:endParaRPr sz="1100"/>
                    </a:p>
                  </a:txBody>
                  <a:tcPr marL="771525" marR="9525" marT="9525" marB="0" anchor="ctr"/>
                </a:tc>
              </a:tr>
              <a:tr h="175260">
                <a:tc>
                  <a:txBody>
                    <a:bodyPr wrap="square"/>
                    <a:lstStyle/>
                    <a:p>
                      <a:pPr algn="l"/>
                      <a:r>
                        <a:rPr sz="1100" b="0" i="0">
                          <a:solidFill>
                            <a:srgbClr val="000000"/>
                          </a:solidFill>
                          <a:latin typeface="Calibri"/>
                        </a:rPr>
                        <a:t>27.4.17.</a:t>
                      </a:r>
                      <a:r>
                        <a:rPr sz="700" b="0" i="0">
                          <a:solidFill>
                            <a:srgbClr val="000000"/>
                          </a:solidFill>
                          <a:latin typeface="Times New Roman"/>
                        </a:rPr>
                        <a:t> </a:t>
                      </a:r>
                      <a:r>
                        <a:rPr sz="1100" b="0" i="0">
                          <a:solidFill>
                            <a:srgbClr val="000000"/>
                          </a:solidFill>
                          <a:latin typeface="Calibri"/>
                        </a:rPr>
                        <a:t>By Sales Channel</a:t>
                      </a:r>
                      <a:endParaRPr sz="1100"/>
                    </a:p>
                  </a:txBody>
                  <a:tcPr marL="771525" marR="9525" marT="9525" marB="0" anchor="ctr"/>
                </a:tc>
              </a:tr>
              <a:tr h="175260">
                <a:tc>
                  <a:txBody>
                    <a:bodyPr wrap="square"/>
                    <a:lstStyle/>
                    <a:p>
                      <a:pPr algn="l"/>
                      <a:r>
                        <a:rPr sz="1100" b="0" i="0">
                          <a:solidFill>
                            <a:srgbClr val="000000"/>
                          </a:solidFill>
                          <a:latin typeface="Calibri"/>
                        </a:rPr>
                        <a:t>27.4.18.</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28.1.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28.1.1.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28.1.2.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28.1.3.</a:t>
                      </a:r>
                      <a:r>
                        <a:rPr sz="700" b="0" i="0">
                          <a:solidFill>
                            <a:srgbClr val="000000"/>
                          </a:solidFill>
                          <a:latin typeface="Times New Roman"/>
                        </a:rPr>
                        <a:t> </a:t>
                      </a:r>
                      <a:r>
                        <a:rPr sz="1100" b="0" i="0">
                          <a:solidFill>
                            <a:srgbClr val="000000"/>
                          </a:solidFill>
                          <a:latin typeface="Calibri"/>
                        </a:rPr>
                        <a:t>Retail Level Pricing</a:t>
                      </a:r>
                      <a:endParaRPr sz="1100"/>
                    </a:p>
                  </a:txBody>
                  <a:tcPr marL="771525" marR="9525" marT="9525" marB="0" anchor="ctr"/>
                </a:tc>
              </a:tr>
              <a:tr h="175260">
                <a:tc>
                  <a:txBody>
                    <a:bodyPr wrap="square"/>
                    <a:lstStyle/>
                    <a:p>
                      <a:pPr algn="l"/>
                      <a:r>
                        <a:rPr sz="1100" b="0" i="0">
                          <a:solidFill>
                            <a:srgbClr val="0070C0"/>
                          </a:solidFill>
                          <a:latin typeface="Calibri"/>
                        </a:rPr>
                        <a:t>28.2.</a:t>
                      </a:r>
                      <a:r>
                        <a:rPr sz="700" b="0" i="0">
                          <a:solidFill>
                            <a:srgbClr val="0070C0"/>
                          </a:solidFill>
                          <a:latin typeface="Times New Roman"/>
                        </a:rPr>
                        <a:t>  </a:t>
                      </a:r>
                      <a:r>
                        <a:rPr sz="1100" b="0" i="0">
                          <a:solidFill>
                            <a:srgbClr val="0070C0"/>
                          </a:solidFill>
                          <a:latin typeface="Calibri"/>
                        </a:rPr>
                        <a:t>Segment-wise Price Comparison (Product Type vs Product Format)</a:t>
                      </a:r>
                      <a:endParaRPr sz="1100"/>
                    </a:p>
                  </a:txBody>
                  <a:tcPr marL="428625" marR="9525" marT="9525" marB="0" anchor="ctr"/>
                </a:tc>
              </a:tr>
              <a:tr h="175260">
                <a:tc>
                  <a:txBody>
                    <a:bodyPr wrap="square"/>
                    <a:lstStyle/>
                    <a:p>
                      <a:pPr algn="l"/>
                      <a:r>
                        <a:rPr sz="1100" b="0" i="0">
                          <a:solidFill>
                            <a:srgbClr val="0070C0"/>
                          </a:solidFill>
                          <a:latin typeface="Calibri"/>
                        </a:rPr>
                        <a:t>28.3.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28.4.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28.5.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28.6.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Voice of Customer and Decision-driver Analysis</a:t>
                      </a:r>
                      <a:endParaRPr sz="1100"/>
                    </a:p>
                  </a:txBody>
                  <a:tcPr marL="9525"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Consumer Perception Analysis</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Consumer Demand and Consumption Behavior</a:t>
                      </a:r>
                      <a:endParaRPr sz="1100"/>
                    </a:p>
                  </a:txBody>
                  <a:tcPr marL="428625" marR="9525" marT="9525" marB="0" anchor="ctr"/>
                </a:tc>
              </a:tr>
              <a:tr h="175260">
                <a:tc>
                  <a:txBody>
                    <a:bodyPr wrap="square"/>
                    <a:lstStyle/>
                    <a:p>
                      <a:pPr algn="l"/>
                      <a:r>
                        <a:rPr sz="1100" b="0" i="0">
                          <a:solidFill>
                            <a:srgbClr val="000000"/>
                          </a:solidFill>
                          <a:latin typeface="Calibri"/>
                        </a:rPr>
                        <a:t>29.1.1.</a:t>
                      </a:r>
                      <a:r>
                        <a:rPr sz="700" b="0" i="0">
                          <a:solidFill>
                            <a:srgbClr val="000000"/>
                          </a:solidFill>
                          <a:latin typeface="Times New Roman"/>
                        </a:rPr>
                        <a:t> </a:t>
                      </a:r>
                      <a:r>
                        <a:rPr sz="1100" b="0" i="0">
                          <a:solidFill>
                            <a:srgbClr val="000000"/>
                          </a:solidFill>
                          <a:latin typeface="Calibri"/>
                        </a:rPr>
                        <a:t>Consumer Demand by Age Group, Income Group and Household Type</a:t>
                      </a:r>
                      <a:endParaRPr sz="1100"/>
                    </a:p>
                  </a:txBody>
                  <a:tcPr marL="771525" marR="9525" marT="9525" marB="0" anchor="ctr"/>
                </a:tc>
              </a:tr>
              <a:tr h="350520">
                <a:tc>
                  <a:txBody>
                    <a:bodyPr wrap="square"/>
                    <a:lstStyle/>
                    <a:p>
                      <a:pPr algn="l"/>
                      <a:r>
                        <a:rPr sz="1100" b="0" i="0">
                          <a:solidFill>
                            <a:srgbClr val="000000"/>
                          </a:solidFill>
                          <a:latin typeface="Calibri"/>
                        </a:rPr>
                        <a:t>29.1.2.</a:t>
                      </a:r>
                      <a:r>
                        <a:rPr sz="700" b="0" i="0">
                          <a:solidFill>
                            <a:srgbClr val="000000"/>
                          </a:solidFill>
                          <a:latin typeface="Times New Roman"/>
                        </a:rPr>
                        <a:t> </a:t>
                      </a:r>
                      <a:r>
                        <a:rPr sz="1100" b="0" i="0">
                          <a:solidFill>
                            <a:srgbClr val="000000"/>
                          </a:solidFill>
                          <a:latin typeface="Calibri"/>
                        </a:rPr>
                        <a:t>Consumption Frequency by Muffin Category, Product Format and Usage Occasion</a:t>
                      </a:r>
                      <a:endParaRPr sz="1100"/>
                    </a:p>
                  </a:txBody>
                  <a:tcPr marL="771525" marR="9525" marT="9525" marB="0" anchor="ctr"/>
                </a:tc>
              </a:tr>
              <a:tr h="175260">
                <a:tc>
                  <a:txBody>
                    <a:bodyPr wrap="square"/>
                    <a:lstStyle/>
                    <a:p>
                      <a:pPr algn="l"/>
                      <a:r>
                        <a:rPr sz="1100" b="0" i="0">
                          <a:solidFill>
                            <a:srgbClr val="000000"/>
                          </a:solidFill>
                          <a:latin typeface="Calibri"/>
                        </a:rPr>
                        <a:t>29.1.3.</a:t>
                      </a:r>
                      <a:r>
                        <a:rPr sz="700" b="0" i="0">
                          <a:solidFill>
                            <a:srgbClr val="000000"/>
                          </a:solidFill>
                          <a:latin typeface="Times New Roman"/>
                        </a:rPr>
                        <a:t> </a:t>
                      </a:r>
                      <a:r>
                        <a:rPr sz="1100" b="0" i="0">
                          <a:solidFill>
                            <a:srgbClr val="000000"/>
                          </a:solidFill>
                          <a:latin typeface="Calibri"/>
                        </a:rPr>
                        <a:t>Consumption Pattern by Daypart, Purchase Mission and Household Type</a:t>
                      </a:r>
                      <a:endParaRPr sz="1100"/>
                    </a:p>
                  </a:txBody>
                  <a:tcPr marL="771525" marR="9525" marT="9525" marB="0" anchor="ctr"/>
                </a:tc>
              </a:tr>
              <a:tr h="175260">
                <a:tc>
                  <a:txBody>
                    <a:bodyPr wrap="square"/>
                    <a:lstStyle/>
                    <a:p>
                      <a:pPr algn="l"/>
                      <a:r>
                        <a:rPr sz="1100" b="0" i="0">
                          <a:solidFill>
                            <a:srgbClr val="000000"/>
                          </a:solidFill>
                          <a:latin typeface="Calibri"/>
                        </a:rPr>
                        <a:t>29.1.4.</a:t>
                      </a:r>
                      <a:r>
                        <a:rPr sz="700" b="0" i="0">
                          <a:solidFill>
                            <a:srgbClr val="000000"/>
                          </a:solidFill>
                          <a:latin typeface="Times New Roman"/>
                        </a:rPr>
                        <a:t> </a:t>
                      </a:r>
                      <a:r>
                        <a:rPr sz="1100" b="0" i="0">
                          <a:solidFill>
                            <a:srgbClr val="000000"/>
                          </a:solidFill>
                          <a:latin typeface="Calibri"/>
                        </a:rPr>
                        <a:t>Demand Preference by Region, Country and Consumer Segment</a:t>
                      </a:r>
                      <a:endParaRPr sz="1100"/>
                    </a:p>
                  </a:txBody>
                  <a:tcPr marL="771525" marR="9525" marT="9525" marB="0" anchor="ctr"/>
                </a:tc>
              </a:tr>
              <a:tr h="175260">
                <a:tc>
                  <a:txBody>
                    <a:bodyPr wrap="square"/>
                    <a:lstStyle/>
                    <a:p>
                      <a:pPr algn="l"/>
                      <a:r>
                        <a:rPr sz="1100" b="0" i="0">
                          <a:solidFill>
                            <a:srgbClr val="000000"/>
                          </a:solidFill>
                          <a:latin typeface="Calibri"/>
                        </a:rPr>
                        <a:t>29.1.5.</a:t>
                      </a:r>
                      <a:r>
                        <a:rPr sz="700" b="0" i="0">
                          <a:solidFill>
                            <a:srgbClr val="000000"/>
                          </a:solidFill>
                          <a:latin typeface="Times New Roman"/>
                        </a:rPr>
                        <a:t> </a:t>
                      </a:r>
                      <a:r>
                        <a:rPr sz="1100" b="0" i="0">
                          <a:solidFill>
                            <a:srgbClr val="000000"/>
                          </a:solidFill>
                          <a:latin typeface="Calibri"/>
                        </a:rPr>
                        <a:t>Purchase Intent by Consumption Occasion and Product Need-State</a:t>
                      </a:r>
                      <a:endParaRPr sz="1100"/>
                    </a:p>
                  </a:txBody>
                  <a:tcPr marL="7715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Purchase Drivers and Consumer Decision Journey</a:t>
                      </a:r>
                      <a:endParaRPr sz="1100"/>
                    </a:p>
                  </a:txBody>
                  <a:tcPr marL="428625" marR="9525" marT="9525" marB="0" anchor="ctr"/>
                </a:tc>
              </a:tr>
              <a:tr h="175260">
                <a:tc>
                  <a:txBody>
                    <a:bodyPr wrap="square"/>
                    <a:lstStyle/>
                    <a:p>
                      <a:pPr algn="l"/>
                      <a:r>
                        <a:rPr sz="1100" b="0" i="0">
                          <a:solidFill>
                            <a:srgbClr val="000000"/>
                          </a:solidFill>
                          <a:latin typeface="Calibri"/>
                        </a:rPr>
                        <a:t>29.2.1.</a:t>
                      </a:r>
                      <a:r>
                        <a:rPr sz="700" b="0" i="0">
                          <a:solidFill>
                            <a:srgbClr val="000000"/>
                          </a:solidFill>
                          <a:latin typeface="Times New Roman"/>
                        </a:rPr>
                        <a:t> </a:t>
                      </a:r>
                      <a:r>
                        <a:rPr sz="1100" b="0" i="0">
                          <a:solidFill>
                            <a:srgbClr val="000000"/>
                          </a:solidFill>
                          <a:latin typeface="Calibri"/>
                        </a:rPr>
                        <a:t>Purchase Drivers by Taste, Freshness, Price, Convenience and Product Quality</a:t>
                      </a:r>
                      <a:endParaRPr sz="1100"/>
                    </a:p>
                  </a:txBody>
                  <a:tcPr marL="771525" marR="9525" marT="9525" marB="0" anchor="ctr"/>
                </a:tc>
              </a:tr>
              <a:tr h="175260">
                <a:tc>
                  <a:txBody>
                    <a:bodyPr wrap="square"/>
                    <a:lstStyle/>
                    <a:p>
                      <a:pPr algn="l"/>
                      <a:r>
                        <a:rPr sz="1100" b="0" i="0">
                          <a:solidFill>
                            <a:srgbClr val="000000"/>
                          </a:solidFill>
                          <a:latin typeface="Calibri"/>
                        </a:rPr>
                        <a:t>29.2.2.</a:t>
                      </a:r>
                      <a:r>
                        <a:rPr sz="700" b="0" i="0">
                          <a:solidFill>
                            <a:srgbClr val="000000"/>
                          </a:solidFill>
                          <a:latin typeface="Times New Roman"/>
                        </a:rPr>
                        <a:t> </a:t>
                      </a:r>
                      <a:r>
                        <a:rPr sz="1100" b="0" i="0">
                          <a:solidFill>
                            <a:srgbClr val="000000"/>
                          </a:solidFill>
                          <a:latin typeface="Calibri"/>
                        </a:rPr>
                        <a:t>Consumer Decision Factors by Brand, Product Format and Purchase Occasion</a:t>
                      </a:r>
                      <a:endParaRPr sz="1100"/>
                    </a:p>
                  </a:txBody>
                  <a:tcPr marL="771525" marR="9525" marT="9525" marB="0" anchor="ctr"/>
                </a:tc>
              </a:tr>
              <a:tr h="175260">
                <a:tc>
                  <a:txBody>
                    <a:bodyPr wrap="square"/>
                    <a:lstStyle/>
                    <a:p>
                      <a:pPr algn="l"/>
                      <a:r>
                        <a:rPr sz="1100" b="0" i="0">
                          <a:solidFill>
                            <a:srgbClr val="000000"/>
                          </a:solidFill>
                          <a:latin typeface="Calibri"/>
                        </a:rPr>
                        <a:t>29.2.3.</a:t>
                      </a:r>
                      <a:r>
                        <a:rPr sz="700" b="0" i="0">
                          <a:solidFill>
                            <a:srgbClr val="000000"/>
                          </a:solidFill>
                          <a:latin typeface="Times New Roman"/>
                        </a:rPr>
                        <a:t> </a:t>
                      </a:r>
                      <a:r>
                        <a:rPr sz="1100" b="0" i="0">
                          <a:solidFill>
                            <a:srgbClr val="000000"/>
                          </a:solidFill>
                          <a:latin typeface="Calibri"/>
                        </a:rPr>
                        <a:t>Shopping Journey by Product Discovery, Evaluation and Purchase Stage</a:t>
                      </a:r>
                      <a:endParaRPr sz="1100"/>
                    </a:p>
                  </a:txBody>
                  <a:tcPr marL="771525" marR="9525" marT="9525" marB="0" anchor="ctr"/>
                </a:tc>
              </a:tr>
              <a:tr h="175260">
                <a:tc>
                  <a:txBody>
                    <a:bodyPr wrap="square"/>
                    <a:lstStyle/>
                    <a:p>
                      <a:pPr algn="l"/>
                      <a:r>
                        <a:rPr sz="1100" b="0" i="0">
                          <a:solidFill>
                            <a:srgbClr val="000000"/>
                          </a:solidFill>
                          <a:latin typeface="Calibri"/>
                        </a:rPr>
                        <a:t>29.2.4.</a:t>
                      </a:r>
                      <a:r>
                        <a:rPr sz="700" b="0" i="0">
                          <a:solidFill>
                            <a:srgbClr val="000000"/>
                          </a:solidFill>
                          <a:latin typeface="Times New Roman"/>
                        </a:rPr>
                        <a:t> </a:t>
                      </a:r>
                      <a:r>
                        <a:rPr sz="1100" b="0" i="0">
                          <a:solidFill>
                            <a:srgbClr val="000000"/>
                          </a:solidFill>
                          <a:latin typeface="Calibri"/>
                        </a:rPr>
                        <a:t>Retail Price Sensitivity by Consumer Segment and Affordability Band</a:t>
                      </a:r>
                      <a:endParaRPr sz="1100"/>
                    </a:p>
                  </a:txBody>
                  <a:tcPr marL="771525" marR="9525" marT="9525" marB="0" anchor="ctr"/>
                </a:tc>
              </a:tr>
              <a:tr h="350520">
                <a:tc>
                  <a:txBody>
                    <a:bodyPr wrap="square"/>
                    <a:lstStyle/>
                    <a:p>
                      <a:pPr algn="l"/>
                      <a:r>
                        <a:rPr sz="1100" b="0" i="0">
                          <a:solidFill>
                            <a:srgbClr val="000000"/>
                          </a:solidFill>
                          <a:latin typeface="Calibri"/>
                        </a:rPr>
                        <a:t>29.2.5.</a:t>
                      </a:r>
                      <a:r>
                        <a:rPr sz="700" b="0" i="0">
                          <a:solidFill>
                            <a:srgbClr val="000000"/>
                          </a:solidFill>
                          <a:latin typeface="Times New Roman"/>
                        </a:rPr>
                        <a:t> </a:t>
                      </a:r>
                      <a:r>
                        <a:rPr sz="1100" b="0" i="0">
                          <a:solidFill>
                            <a:srgbClr val="000000"/>
                          </a:solidFill>
                          <a:latin typeface="Calibri"/>
                        </a:rPr>
                        <a:t>Repeat Purchase Drivers by Product Satisfaction, Brand Experience and Value Perception</a:t>
                      </a:r>
                      <a:endParaRPr sz="1100"/>
                    </a:p>
                  </a:txBody>
                  <a:tcPr marL="7715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Product, Flavor and Attribute Preferences</a:t>
                      </a:r>
                      <a:endParaRPr sz="1100"/>
                    </a:p>
                  </a:txBody>
                  <a:tcPr marL="428625" marR="9525" marT="9525" marB="0" anchor="ctr"/>
                </a:tc>
              </a:tr>
              <a:tr h="175260">
                <a:tc>
                  <a:txBody>
                    <a:bodyPr wrap="square"/>
                    <a:lstStyle/>
                    <a:p>
                      <a:pPr algn="l"/>
                      <a:r>
                        <a:rPr sz="1100" b="0" i="0">
                          <a:solidFill>
                            <a:srgbClr val="000000"/>
                          </a:solidFill>
                          <a:latin typeface="Calibri"/>
                        </a:rPr>
                        <a:t>29.3.1.</a:t>
                      </a:r>
                      <a:r>
                        <a:rPr sz="700" b="0" i="0">
                          <a:solidFill>
                            <a:srgbClr val="000000"/>
                          </a:solidFill>
                          <a:latin typeface="Times New Roman"/>
                        </a:rPr>
                        <a:t> </a:t>
                      </a:r>
                      <a:r>
                        <a:rPr sz="1100" b="0" i="0">
                          <a:solidFill>
                            <a:srgbClr val="000000"/>
                          </a:solidFill>
                          <a:latin typeface="Calibri"/>
                        </a:rPr>
                        <a:t>Flavor Preference by Age Group, Consumption Occasion and Product Format</a:t>
                      </a:r>
                      <a:endParaRPr sz="1100"/>
                    </a:p>
                  </a:txBody>
                  <a:tcPr marL="771525" marR="9525" marT="9525" marB="0" anchor="ctr"/>
                </a:tc>
              </a:tr>
              <a:tr h="350520">
                <a:tc>
                  <a:txBody>
                    <a:bodyPr wrap="square"/>
                    <a:lstStyle/>
                    <a:p>
                      <a:pPr algn="l"/>
                      <a:r>
                        <a:rPr sz="1100" b="0" i="0">
                          <a:solidFill>
                            <a:srgbClr val="000000"/>
                          </a:solidFill>
                          <a:latin typeface="Calibri"/>
                        </a:rPr>
                        <a:t>29.3.2.</a:t>
                      </a:r>
                      <a:r>
                        <a:rPr sz="700" b="0" i="0">
                          <a:solidFill>
                            <a:srgbClr val="000000"/>
                          </a:solidFill>
                          <a:latin typeface="Times New Roman"/>
                        </a:rPr>
                        <a:t> </a:t>
                      </a:r>
                      <a:r>
                        <a:rPr sz="1100" b="0" i="0">
                          <a:solidFill>
                            <a:srgbClr val="000000"/>
                          </a:solidFill>
                          <a:latin typeface="Calibri"/>
                        </a:rPr>
                        <a:t>Ingredient Preference by Consumer Segment and Health-orientated Need-State</a:t>
                      </a:r>
                      <a:endParaRPr sz="1100"/>
                    </a:p>
                  </a:txBody>
                  <a:tcPr marL="771525" marR="9525" marT="9525" marB="0" anchor="ctr"/>
                </a:tc>
              </a:tr>
              <a:tr h="175260">
                <a:tc>
                  <a:txBody>
                    <a:bodyPr wrap="square"/>
                    <a:lstStyle/>
                    <a:p>
                      <a:pPr algn="l"/>
                      <a:r>
                        <a:rPr sz="1100" b="0" i="0">
                          <a:solidFill>
                            <a:srgbClr val="000000"/>
                          </a:solidFill>
                          <a:latin typeface="Calibri"/>
                        </a:rPr>
                        <a:t>29.3.3.</a:t>
                      </a:r>
                      <a:r>
                        <a:rPr sz="700" b="0" i="0">
                          <a:solidFill>
                            <a:srgbClr val="000000"/>
                          </a:solidFill>
                          <a:latin typeface="Times New Roman"/>
                        </a:rPr>
                        <a:t> </a:t>
                      </a:r>
                      <a:r>
                        <a:rPr sz="1100" b="0" i="0">
                          <a:solidFill>
                            <a:srgbClr val="000000"/>
                          </a:solidFill>
                          <a:latin typeface="Calibri"/>
                        </a:rPr>
                        <a:t>Product Attribute Preference by Taste, Texture, Freshness and Portion Size</a:t>
                      </a:r>
                      <a:endParaRPr sz="1100"/>
                    </a:p>
                  </a:txBody>
                  <a:tcPr marL="771525" marR="9525" marT="9525" marB="0" anchor="ctr"/>
                </a:tc>
              </a:tr>
              <a:tr h="350520">
                <a:tc>
                  <a:txBody>
                    <a:bodyPr wrap="square"/>
                    <a:lstStyle/>
                    <a:p>
                      <a:pPr algn="l"/>
                      <a:r>
                        <a:rPr sz="1100" b="0" i="0">
                          <a:solidFill>
                            <a:srgbClr val="000000"/>
                          </a:solidFill>
                          <a:latin typeface="Calibri"/>
                        </a:rPr>
                        <a:t>29.3.4.</a:t>
                      </a:r>
                      <a:r>
                        <a:rPr sz="700" b="0" i="0">
                          <a:solidFill>
                            <a:srgbClr val="000000"/>
                          </a:solidFill>
                          <a:latin typeface="Times New Roman"/>
                        </a:rPr>
                        <a:t> </a:t>
                      </a:r>
                      <a:r>
                        <a:rPr sz="1100" b="0" i="0">
                          <a:solidFill>
                            <a:srgbClr val="000000"/>
                          </a:solidFill>
                          <a:latin typeface="Calibri"/>
                        </a:rPr>
                        <a:t>Claim Preference by Consumer Segment, Product Category and Purchase Intent</a:t>
                      </a:r>
                      <a:endParaRPr sz="1100"/>
                    </a:p>
                  </a:txBody>
                  <a:tcPr marL="771525" marR="9525" marT="9525" marB="0" anchor="ctr"/>
                </a:tc>
              </a:tr>
              <a:tr h="350520">
                <a:tc>
                  <a:txBody>
                    <a:bodyPr wrap="square"/>
                    <a:lstStyle/>
                    <a:p>
                      <a:pPr algn="l"/>
                      <a:r>
                        <a:rPr sz="1100" b="0" i="0">
                          <a:solidFill>
                            <a:srgbClr val="000000"/>
                          </a:solidFill>
                          <a:latin typeface="Calibri"/>
                        </a:rPr>
                        <a:t>29.3.5.</a:t>
                      </a:r>
                      <a:r>
                        <a:rPr sz="700" b="0" i="0">
                          <a:solidFill>
                            <a:srgbClr val="000000"/>
                          </a:solidFill>
                          <a:latin typeface="Times New Roman"/>
                        </a:rPr>
                        <a:t> </a:t>
                      </a:r>
                      <a:r>
                        <a:rPr sz="1100" b="0" i="0">
                          <a:solidFill>
                            <a:srgbClr val="000000"/>
                          </a:solidFill>
                          <a:latin typeface="Calibri"/>
                        </a:rPr>
                        <a:t>Pack-size Preference by Household Type, Consumption Frequency and Purchase Mission</a:t>
                      </a:r>
                      <a:endParaRPr sz="1100"/>
                    </a:p>
                  </a:txBody>
                  <a:tcPr marL="771525" marR="9525" marT="9525" marB="0" anchor="ctr"/>
                </a:tc>
              </a:tr>
              <a:tr h="175260">
                <a:tc>
                  <a:txBody>
                    <a:bodyPr wrap="square"/>
                    <a:lstStyle/>
                    <a:p>
                      <a:pPr algn="l"/>
                      <a:r>
                        <a:rPr sz="1100" b="0" i="0">
                          <a:solidFill>
                            <a:srgbClr val="0070C0"/>
                          </a:solidFill>
                          <a:latin typeface="Calibri"/>
                        </a:rPr>
                        <a:t>29.4.</a:t>
                      </a:r>
                      <a:r>
                        <a:rPr sz="700" b="0" i="0">
                          <a:solidFill>
                            <a:srgbClr val="0070C0"/>
                          </a:solidFill>
                          <a:latin typeface="Times New Roman"/>
                        </a:rPr>
                        <a:t>  </a:t>
                      </a:r>
                      <a:r>
                        <a:rPr sz="1100" b="0" i="0">
                          <a:solidFill>
                            <a:srgbClr val="0070C0"/>
                          </a:solidFill>
                          <a:latin typeface="Calibri"/>
                        </a:rPr>
                        <a:t>Channel, Brand and Purchase Behavior</a:t>
                      </a:r>
                      <a:endParaRPr sz="1100"/>
                    </a:p>
                  </a:txBody>
                  <a:tcPr marL="4286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(10/12)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0000"/>
                          </a:solidFill>
                          <a:latin typeface="Calibri"/>
                        </a:rPr>
                        <a:t>29.4.1.</a:t>
                      </a:r>
                      <a:r>
                        <a:rPr sz="700" b="0" i="0">
                          <a:solidFill>
                            <a:srgbClr val="000000"/>
                          </a:solidFill>
                          <a:latin typeface="Times New Roman"/>
                        </a:rPr>
                        <a:t> </a:t>
                      </a:r>
                      <a:r>
                        <a:rPr sz="1100" b="0" i="0">
                          <a:solidFill>
                            <a:srgbClr val="000000"/>
                          </a:solidFill>
                          <a:latin typeface="Calibri"/>
                        </a:rPr>
                        <a:t>Channel Preference by Consumer Segment, Purchase Frequency and Product Category</a:t>
                      </a:r>
                      <a:endParaRPr sz="1100"/>
                    </a:p>
                  </a:txBody>
                  <a:tcPr marL="771525" marR="9525" marT="9525" marB="0" anchor="ctr"/>
                </a:tc>
              </a:tr>
              <a:tr h="350520">
                <a:tc>
                  <a:txBody>
                    <a:bodyPr wrap="square"/>
                    <a:lstStyle/>
                    <a:p>
                      <a:pPr algn="l"/>
                      <a:r>
                        <a:rPr sz="1100" b="0" i="0">
                          <a:solidFill>
                            <a:srgbClr val="000000"/>
                          </a:solidFill>
                          <a:latin typeface="Calibri"/>
                        </a:rPr>
                        <a:t>29.4.2.</a:t>
                      </a:r>
                      <a:r>
                        <a:rPr sz="700" b="0" i="0">
                          <a:solidFill>
                            <a:srgbClr val="000000"/>
                          </a:solidFill>
                          <a:latin typeface="Times New Roman"/>
                        </a:rPr>
                        <a:t> </a:t>
                      </a:r>
                      <a:r>
                        <a:rPr sz="1100" b="0" i="0">
                          <a:solidFill>
                            <a:srgbClr val="000000"/>
                          </a:solidFill>
                          <a:latin typeface="Calibri"/>
                        </a:rPr>
                        <a:t>Retail versus E-commerce Purchase Preference by Consumer Segment and Product Type</a:t>
                      </a:r>
                      <a:endParaRPr sz="1100"/>
                    </a:p>
                  </a:txBody>
                  <a:tcPr marL="771525" marR="9525" marT="9525" marB="0" anchor="ctr"/>
                </a:tc>
              </a:tr>
              <a:tr h="350520">
                <a:tc>
                  <a:txBody>
                    <a:bodyPr wrap="square"/>
                    <a:lstStyle/>
                    <a:p>
                      <a:pPr algn="l"/>
                      <a:r>
                        <a:rPr sz="1100" b="0" i="0">
                          <a:solidFill>
                            <a:srgbClr val="000000"/>
                          </a:solidFill>
                          <a:latin typeface="Calibri"/>
                        </a:rPr>
                        <a:t>29.4.3.</a:t>
                      </a:r>
                      <a:r>
                        <a:rPr sz="700" b="0" i="0">
                          <a:solidFill>
                            <a:srgbClr val="000000"/>
                          </a:solidFill>
                          <a:latin typeface="Times New Roman"/>
                        </a:rPr>
                        <a:t> </a:t>
                      </a:r>
                      <a:r>
                        <a:rPr sz="1100" b="0" i="0">
                          <a:solidFill>
                            <a:srgbClr val="000000"/>
                          </a:solidFill>
                          <a:latin typeface="Calibri"/>
                        </a:rPr>
                        <a:t>Brand Preference by Consumer Segment, Purchase Frequency and Consumption Occasion</a:t>
                      </a:r>
                      <a:endParaRPr sz="1100"/>
                    </a:p>
                  </a:txBody>
                  <a:tcPr marL="771525" marR="9525" marT="9525" marB="0" anchor="ctr"/>
                </a:tc>
              </a:tr>
              <a:tr h="350520">
                <a:tc>
                  <a:txBody>
                    <a:bodyPr wrap="square"/>
                    <a:lstStyle/>
                    <a:p>
                      <a:pPr algn="l"/>
                      <a:r>
                        <a:rPr sz="1100" b="0" i="0">
                          <a:solidFill>
                            <a:srgbClr val="000000"/>
                          </a:solidFill>
                          <a:latin typeface="Calibri"/>
                        </a:rPr>
                        <a:t>29.4.4.</a:t>
                      </a:r>
                      <a:r>
                        <a:rPr sz="700" b="0" i="0">
                          <a:solidFill>
                            <a:srgbClr val="000000"/>
                          </a:solidFill>
                          <a:latin typeface="Times New Roman"/>
                        </a:rPr>
                        <a:t> </a:t>
                      </a:r>
                      <a:r>
                        <a:rPr sz="1100" b="0" i="0">
                          <a:solidFill>
                            <a:srgbClr val="000000"/>
                          </a:solidFill>
                          <a:latin typeface="Calibri"/>
                        </a:rPr>
                        <a:t>Brand Switching by Price Change, Product Attribute and Competitive Availability</a:t>
                      </a:r>
                      <a:endParaRPr sz="1100"/>
                    </a:p>
                  </a:txBody>
                  <a:tcPr marL="771525" marR="9525" marT="9525" marB="0" anchor="ctr"/>
                </a:tc>
              </a:tr>
              <a:tr h="350520">
                <a:tc>
                  <a:txBody>
                    <a:bodyPr wrap="square"/>
                    <a:lstStyle/>
                    <a:p>
                      <a:pPr algn="l"/>
                      <a:r>
                        <a:rPr sz="1100" b="0" i="0">
                          <a:solidFill>
                            <a:srgbClr val="000000"/>
                          </a:solidFill>
                          <a:latin typeface="Calibri"/>
                        </a:rPr>
                        <a:t>29.4.5.</a:t>
                      </a:r>
                      <a:r>
                        <a:rPr sz="700" b="0" i="0">
                          <a:solidFill>
                            <a:srgbClr val="000000"/>
                          </a:solidFill>
                          <a:latin typeface="Times New Roman"/>
                        </a:rPr>
                        <a:t> </a:t>
                      </a:r>
                      <a:r>
                        <a:rPr sz="1100" b="0" i="0">
                          <a:solidFill>
                            <a:srgbClr val="000000"/>
                          </a:solidFill>
                          <a:latin typeface="Calibri"/>
                        </a:rPr>
                        <a:t>Loyalty Drivers by Brand Preference, Product Satisfaction and Repeat Purchase</a:t>
                      </a:r>
                      <a:endParaRPr sz="1100"/>
                    </a:p>
                  </a:txBody>
                  <a:tcPr marL="771525" marR="9525" marT="9525" marB="0" anchor="ctr"/>
                </a:tc>
              </a:tr>
              <a:tr h="175260">
                <a:tc>
                  <a:txBody>
                    <a:bodyPr wrap="square"/>
                    <a:lstStyle/>
                    <a:p>
                      <a:pPr algn="l"/>
                      <a:r>
                        <a:rPr sz="1100" b="0" i="0">
                          <a:solidFill>
                            <a:srgbClr val="0070C0"/>
                          </a:solidFill>
                          <a:latin typeface="Calibri"/>
                        </a:rPr>
                        <a:t>29.5.</a:t>
                      </a:r>
                      <a:r>
                        <a:rPr sz="700" b="0" i="0">
                          <a:solidFill>
                            <a:srgbClr val="0070C0"/>
                          </a:solidFill>
                          <a:latin typeface="Times New Roman"/>
                        </a:rPr>
                        <a:t>  </a:t>
                      </a:r>
                      <a:r>
                        <a:rPr sz="1100" b="0" i="0">
                          <a:solidFill>
                            <a:srgbClr val="0070C0"/>
                          </a:solidFill>
                          <a:latin typeface="Calibri"/>
                        </a:rPr>
                        <a:t>Unmet Needs and Decision-driver Opportunities</a:t>
                      </a:r>
                      <a:endParaRPr sz="1100"/>
                    </a:p>
                  </a:txBody>
                  <a:tcPr marL="428625" marR="9525" marT="9525" marB="0" anchor="ctr"/>
                </a:tc>
              </a:tr>
              <a:tr h="175260">
                <a:tc>
                  <a:txBody>
                    <a:bodyPr wrap="square"/>
                    <a:lstStyle/>
                    <a:p>
                      <a:pPr algn="l"/>
                      <a:r>
                        <a:rPr sz="1100" b="0" i="0">
                          <a:solidFill>
                            <a:srgbClr val="000000"/>
                          </a:solidFill>
                          <a:latin typeface="Calibri"/>
                        </a:rPr>
                        <a:t>29.5.1.</a:t>
                      </a:r>
                      <a:r>
                        <a:rPr sz="700" b="0" i="0">
                          <a:solidFill>
                            <a:srgbClr val="000000"/>
                          </a:solidFill>
                          <a:latin typeface="Times New Roman"/>
                        </a:rPr>
                        <a:t> </a:t>
                      </a:r>
                      <a:r>
                        <a:rPr sz="1100" b="0" i="0">
                          <a:solidFill>
                            <a:srgbClr val="000000"/>
                          </a:solidFill>
                          <a:latin typeface="Calibri"/>
                        </a:rPr>
                        <a:t>Unmet Consumer Needs by Flavor, Ingredient, Texture and Product Attribute</a:t>
                      </a:r>
                      <a:endParaRPr sz="1100"/>
                    </a:p>
                  </a:txBody>
                  <a:tcPr marL="771525" marR="9525" marT="9525" marB="0" anchor="ctr"/>
                </a:tc>
              </a:tr>
              <a:tr h="175260">
                <a:tc>
                  <a:txBody>
                    <a:bodyPr wrap="square"/>
                    <a:lstStyle/>
                    <a:p>
                      <a:pPr algn="l"/>
                      <a:r>
                        <a:rPr sz="1100" b="0" i="0">
                          <a:solidFill>
                            <a:srgbClr val="000000"/>
                          </a:solidFill>
                          <a:latin typeface="Calibri"/>
                        </a:rPr>
                        <a:t>29.5.2.</a:t>
                      </a:r>
                      <a:r>
                        <a:rPr sz="700" b="0" i="0">
                          <a:solidFill>
                            <a:srgbClr val="000000"/>
                          </a:solidFill>
                          <a:latin typeface="Times New Roman"/>
                        </a:rPr>
                        <a:t> </a:t>
                      </a:r>
                      <a:r>
                        <a:rPr sz="1100" b="0" i="0">
                          <a:solidFill>
                            <a:srgbClr val="000000"/>
                          </a:solidFill>
                          <a:latin typeface="Calibri"/>
                        </a:rPr>
                        <a:t>Consumer Pain Points by Price, Pack Size, Availability and Product Quality</a:t>
                      </a:r>
                      <a:endParaRPr sz="1100"/>
                    </a:p>
                  </a:txBody>
                  <a:tcPr marL="771525" marR="9525" marT="9525" marB="0" anchor="ctr"/>
                </a:tc>
              </a:tr>
              <a:tr h="175260">
                <a:tc>
                  <a:txBody>
                    <a:bodyPr wrap="square"/>
                    <a:lstStyle/>
                    <a:p>
                      <a:pPr algn="l"/>
                      <a:r>
                        <a:rPr sz="1100" b="0" i="0">
                          <a:solidFill>
                            <a:srgbClr val="000000"/>
                          </a:solidFill>
                          <a:latin typeface="Calibri"/>
                        </a:rPr>
                        <a:t>29.5.3.</a:t>
                      </a:r>
                      <a:r>
                        <a:rPr sz="700" b="0" i="0">
                          <a:solidFill>
                            <a:srgbClr val="000000"/>
                          </a:solidFill>
                          <a:latin typeface="Times New Roman"/>
                        </a:rPr>
                        <a:t> </a:t>
                      </a:r>
                      <a:r>
                        <a:rPr sz="1100" b="0" i="0">
                          <a:solidFill>
                            <a:srgbClr val="000000"/>
                          </a:solidFill>
                          <a:latin typeface="Calibri"/>
                        </a:rPr>
                        <a:t>Purchase Barriers by Consumer Segment, Channel and Affordability Band</a:t>
                      </a:r>
                      <a:endParaRPr sz="1100"/>
                    </a:p>
                  </a:txBody>
                  <a:tcPr marL="771525" marR="9525" marT="9525" marB="0" anchor="ctr"/>
                </a:tc>
              </a:tr>
              <a:tr h="350520">
                <a:tc>
                  <a:txBody>
                    <a:bodyPr wrap="square"/>
                    <a:lstStyle/>
                    <a:p>
                      <a:pPr algn="l"/>
                      <a:r>
                        <a:rPr sz="1100" b="0" i="0">
                          <a:solidFill>
                            <a:srgbClr val="000000"/>
                          </a:solidFill>
                          <a:latin typeface="Calibri"/>
                        </a:rPr>
                        <a:t>29.5.4.</a:t>
                      </a:r>
                      <a:r>
                        <a:rPr sz="700" b="0" i="0">
                          <a:solidFill>
                            <a:srgbClr val="000000"/>
                          </a:solidFill>
                          <a:latin typeface="Times New Roman"/>
                        </a:rPr>
                        <a:t> </a:t>
                      </a:r>
                      <a:r>
                        <a:rPr sz="1100" b="0" i="0">
                          <a:solidFill>
                            <a:srgbClr val="000000"/>
                          </a:solidFill>
                          <a:latin typeface="Calibri"/>
                        </a:rPr>
                        <a:t>Innovation Interest by Product Concept, Usage Occasion and Consumer Need-State</a:t>
                      </a:r>
                      <a:endParaRPr sz="1100"/>
                    </a:p>
                  </a:txBody>
                  <a:tcPr marL="771525" marR="9525" marT="9525" marB="0" anchor="ctr"/>
                </a:tc>
              </a:tr>
              <a:tr h="350520">
                <a:tc>
                  <a:txBody>
                    <a:bodyPr wrap="square"/>
                    <a:lstStyle/>
                    <a:p>
                      <a:pPr algn="l"/>
                      <a:r>
                        <a:rPr sz="1100" b="0" i="0">
                          <a:solidFill>
                            <a:srgbClr val="000000"/>
                          </a:solidFill>
                          <a:latin typeface="Calibri"/>
                        </a:rPr>
                        <a:t>29.5.5.</a:t>
                      </a:r>
                      <a:r>
                        <a:rPr sz="700" b="0" i="0">
                          <a:solidFill>
                            <a:srgbClr val="000000"/>
                          </a:solidFill>
                          <a:latin typeface="Times New Roman"/>
                        </a:rPr>
                        <a:t> </a:t>
                      </a:r>
                      <a:r>
                        <a:rPr sz="1100" b="0" i="0">
                          <a:solidFill>
                            <a:srgbClr val="000000"/>
                          </a:solidFill>
                          <a:latin typeface="Calibri"/>
                        </a:rPr>
                        <a:t>Purchase Intent for New Concepts by Consumer Segment, Price Point and Product Positioning</a:t>
                      </a:r>
                      <a:endParaRPr sz="1100"/>
                    </a:p>
                  </a:txBody>
                  <a:tcPr marL="771525" marR="9525" marT="9525" marB="0" anchor="ctr"/>
                </a:tc>
              </a:tr>
              <a:tr h="175260">
                <a:tc>
                  <a:txBody>
                    <a:bodyPr wrap="square"/>
                    <a:lstStyle/>
                    <a:p>
                      <a:pPr algn="l"/>
                      <a:r>
                        <a:rPr sz="1100" b="1" i="0">
                          <a:solidFill>
                            <a:srgbClr val="000000"/>
                          </a:solidFill>
                          <a:latin typeface="Calibri"/>
                        </a:rPr>
                        <a:t>Section 5: Market Dynamics</a:t>
                      </a:r>
                      <a:endParaRPr sz="1100"/>
                    </a:p>
                  </a:txBody>
                  <a:tcPr marL="95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30.1.1.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30.1.2.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30.1.3.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Market Dynamics</a:t>
                      </a:r>
                      <a:endParaRPr sz="1100"/>
                    </a:p>
                  </a:txBody>
                  <a:tcPr marL="171450" marR="9525" marT="9525" marB="0" anchor="ctr"/>
                </a:tc>
              </a:tr>
              <a:tr h="175260">
                <a:tc>
                  <a:txBody>
                    <a:bodyPr wrap="square"/>
                    <a:lstStyle/>
                    <a:p>
                      <a:pPr algn="l"/>
                      <a:r>
                        <a:rPr sz="1100" b="0" i="0">
                          <a:solidFill>
                            <a:srgbClr val="0070C0"/>
                          </a:solidFill>
                          <a:latin typeface="Calibri"/>
                        </a:rPr>
                        <a:t>31.1.</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31.1.1.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31.1.2.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31.1.3.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31.2.</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31.3.</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31.4.</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31.5.</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0000"/>
                          </a:solidFill>
                          <a:latin typeface="Calibri"/>
                        </a:rPr>
                        <a:t>31.5.1.</a:t>
                      </a:r>
                      <a:r>
                        <a:rPr sz="700" b="0" i="0">
                          <a:solidFill>
                            <a:srgbClr val="000000"/>
                          </a:solidFill>
                          <a:latin typeface="Times New Roman"/>
                        </a:rPr>
                        <a:t> </a:t>
                      </a:r>
                      <a:r>
                        <a:rPr sz="1100" b="0" i="0">
                          <a:solidFill>
                            <a:srgbClr val="000000"/>
                          </a:solidFill>
                          <a:latin typeface="Calibri"/>
                        </a:rPr>
                        <a:t>Expansion of On-the-Go &amp; Convenience Snacking</a:t>
                      </a:r>
                      <a:endParaRPr sz="1100"/>
                    </a:p>
                  </a:txBody>
                  <a:tcPr marL="771525" marR="9525" marT="9525" marB="0" anchor="ctr"/>
                </a:tc>
              </a:tr>
              <a:tr h="175260">
                <a:tc>
                  <a:txBody>
                    <a:bodyPr wrap="square"/>
                    <a:lstStyle/>
                    <a:p>
                      <a:pPr algn="l"/>
                      <a:r>
                        <a:rPr sz="1100" b="0" i="0">
                          <a:solidFill>
                            <a:srgbClr val="000000"/>
                          </a:solidFill>
                          <a:latin typeface="Calibri"/>
                        </a:rPr>
                        <a:t>31.5.2.</a:t>
                      </a:r>
                      <a:r>
                        <a:rPr sz="700" b="0" i="0">
                          <a:solidFill>
                            <a:srgbClr val="000000"/>
                          </a:solidFill>
                          <a:latin typeface="Times New Roman"/>
                        </a:rPr>
                        <a:t> </a:t>
                      </a:r>
                      <a:r>
                        <a:rPr sz="1100" b="0" i="0">
                          <a:solidFill>
                            <a:srgbClr val="000000"/>
                          </a:solidFill>
                          <a:latin typeface="Calibri"/>
                        </a:rPr>
                        <a:t>Growth of Snackification &amp; More Frequent Eating Occasions</a:t>
                      </a:r>
                      <a:endParaRPr sz="1100"/>
                    </a:p>
                  </a:txBody>
                  <a:tcPr marL="771525" marR="9525" marT="9525" marB="0" anchor="ctr"/>
                </a:tc>
              </a:tr>
              <a:tr h="175260">
                <a:tc>
                  <a:txBody>
                    <a:bodyPr wrap="square"/>
                    <a:lstStyle/>
                    <a:p>
                      <a:pPr algn="l"/>
                      <a:r>
                        <a:rPr sz="1100" b="0" i="0">
                          <a:solidFill>
                            <a:srgbClr val="000000"/>
                          </a:solidFill>
                          <a:latin typeface="Calibri"/>
                        </a:rPr>
                        <a:t>31.5.3.</a:t>
                      </a:r>
                      <a:r>
                        <a:rPr sz="700" b="0" i="0">
                          <a:solidFill>
                            <a:srgbClr val="000000"/>
                          </a:solidFill>
                          <a:latin typeface="Times New Roman"/>
                        </a:rPr>
                        <a:t> </a:t>
                      </a:r>
                      <a:r>
                        <a:rPr sz="1100" b="0" i="0">
                          <a:solidFill>
                            <a:srgbClr val="000000"/>
                          </a:solidFill>
                          <a:latin typeface="Calibri"/>
                        </a:rPr>
                        <a:t>Product Innovation &amp; Flavor Diversification</a:t>
                      </a:r>
                      <a:endParaRPr sz="1100"/>
                    </a:p>
                  </a:txBody>
                  <a:tcPr marL="771525" marR="9525" marT="9525" marB="0" anchor="ctr"/>
                </a:tc>
              </a:tr>
              <a:tr h="175260">
                <a:tc>
                  <a:txBody>
                    <a:bodyPr wrap="square"/>
                    <a:lstStyle/>
                    <a:p>
                      <a:pPr algn="l"/>
                      <a:r>
                        <a:rPr sz="1100" b="0" i="0">
                          <a:solidFill>
                            <a:srgbClr val="000000"/>
                          </a:solidFill>
                          <a:latin typeface="Calibri"/>
                        </a:rPr>
                        <a:t>31.5.4.</a:t>
                      </a:r>
                      <a:r>
                        <a:rPr sz="700" b="0" i="0">
                          <a:solidFill>
                            <a:srgbClr val="000000"/>
                          </a:solidFill>
                          <a:latin typeface="Times New Roman"/>
                        </a:rPr>
                        <a:t> </a:t>
                      </a:r>
                      <a:r>
                        <a:rPr sz="1100" b="0" i="0">
                          <a:solidFill>
                            <a:srgbClr val="000000"/>
                          </a:solidFill>
                          <a:latin typeface="Calibri"/>
                        </a:rPr>
                        <a:t>Rising Demand for Better-for-You Muffins</a:t>
                      </a:r>
                      <a:endParaRPr sz="1100"/>
                    </a:p>
                  </a:txBody>
                  <a:tcPr marL="771525" marR="9525" marT="9525" marB="0" anchor="ctr"/>
                </a:tc>
              </a:tr>
              <a:tr h="175260">
                <a:tc>
                  <a:txBody>
                    <a:bodyPr wrap="square"/>
                    <a:lstStyle/>
                    <a:p>
                      <a:pPr algn="l"/>
                      <a:r>
                        <a:rPr sz="1100" b="0" i="0">
                          <a:solidFill>
                            <a:srgbClr val="000000"/>
                          </a:solidFill>
                          <a:latin typeface="Calibri"/>
                        </a:rPr>
                        <a:t>31.5.5.</a:t>
                      </a:r>
                      <a:r>
                        <a:rPr sz="700" b="0" i="0">
                          <a:solidFill>
                            <a:srgbClr val="000000"/>
                          </a:solidFill>
                          <a:latin typeface="Times New Roman"/>
                        </a:rPr>
                        <a:t> </a:t>
                      </a:r>
                      <a:r>
                        <a:rPr sz="1100" b="0" i="0">
                          <a:solidFill>
                            <a:srgbClr val="000000"/>
                          </a:solidFill>
                          <a:latin typeface="Calibri"/>
                        </a:rPr>
                        <a:t>Premiumization &amp; Premium Bakery Positioning</a:t>
                      </a:r>
                      <a:endParaRPr sz="1100"/>
                    </a:p>
                  </a:txBody>
                  <a:tcPr marL="771525" marR="9525" marT="9525" marB="0" anchor="ctr"/>
                </a:tc>
              </a:tr>
              <a:tr h="175260">
                <a:tc>
                  <a:txBody>
                    <a:bodyPr wrap="square"/>
                    <a:lstStyle/>
                    <a:p>
                      <a:pPr algn="l"/>
                      <a:r>
                        <a:rPr sz="1100" b="0" i="0">
                          <a:solidFill>
                            <a:srgbClr val="000000"/>
                          </a:solidFill>
                          <a:latin typeface="Calibri"/>
                        </a:rPr>
                        <a:t>31.5.6.</a:t>
                      </a:r>
                      <a:r>
                        <a:rPr sz="700" b="0" i="0">
                          <a:solidFill>
                            <a:srgbClr val="000000"/>
                          </a:solidFill>
                          <a:latin typeface="Times New Roman"/>
                        </a:rPr>
                        <a:t> </a:t>
                      </a:r>
                      <a:r>
                        <a:rPr sz="1100" b="0" i="0">
                          <a:solidFill>
                            <a:srgbClr val="000000"/>
                          </a:solidFill>
                          <a:latin typeface="Calibri"/>
                        </a:rPr>
                        <a:t>Expansion of Supermarkets, Convenience Stores &amp; Modern Grocery Retail</a:t>
                      </a:r>
                      <a:endParaRPr sz="1100"/>
                    </a:p>
                  </a:txBody>
                  <a:tcPr marL="771525" marR="9525" marT="9525" marB="0" anchor="ctr"/>
                </a:tc>
              </a:tr>
              <a:tr h="175260">
                <a:tc>
                  <a:txBody>
                    <a:bodyPr wrap="square"/>
                    <a:lstStyle/>
                    <a:p>
                      <a:pPr algn="l"/>
                      <a:r>
                        <a:rPr sz="1100" b="0" i="0">
                          <a:solidFill>
                            <a:srgbClr val="000000"/>
                          </a:solidFill>
                          <a:latin typeface="Calibri"/>
                        </a:rPr>
                        <a:t>31.5.7.</a:t>
                      </a:r>
                      <a:r>
                        <a:rPr sz="700" b="0" i="0">
                          <a:solidFill>
                            <a:srgbClr val="000000"/>
                          </a:solidFill>
                          <a:latin typeface="Times New Roman"/>
                        </a:rPr>
                        <a:t> </a:t>
                      </a:r>
                      <a:r>
                        <a:rPr sz="1100" b="0" i="0">
                          <a:solidFill>
                            <a:srgbClr val="000000"/>
                          </a:solidFill>
                          <a:latin typeface="Calibri"/>
                        </a:rPr>
                        <a:t>Growth of Online Grocery &amp; E-Commerce Food Purchasing</a:t>
                      </a:r>
                      <a:endParaRPr sz="1100"/>
                    </a:p>
                  </a:txBody>
                  <a:tcPr marL="771525" marR="9525" marT="9525" marB="0" anchor="ctr"/>
                </a:tc>
              </a:tr>
              <a:tr h="175260">
                <a:tc>
                  <a:txBody>
                    <a:bodyPr wrap="square"/>
                    <a:lstStyle/>
                    <a:p>
                      <a:pPr algn="l"/>
                      <a:r>
                        <a:rPr sz="1100" b="0" i="0">
                          <a:solidFill>
                            <a:srgbClr val="000000"/>
                          </a:solidFill>
                          <a:latin typeface="Calibri"/>
                        </a:rPr>
                        <a:t>31.5.8.</a:t>
                      </a:r>
                      <a:r>
                        <a:rPr sz="700" b="0" i="0">
                          <a:solidFill>
                            <a:srgbClr val="000000"/>
                          </a:solidFill>
                          <a:latin typeface="Times New Roman"/>
                        </a:rPr>
                        <a:t> </a:t>
                      </a:r>
                      <a:r>
                        <a:rPr sz="1100" b="0" i="0">
                          <a:solidFill>
                            <a:srgbClr val="000000"/>
                          </a:solidFill>
                          <a:latin typeface="Calibri"/>
                        </a:rPr>
                        <a:t>Shelf-Life Extension &amp; Improved Packaging Technologies</a:t>
                      </a:r>
                      <a:endParaRPr sz="1100"/>
                    </a:p>
                  </a:txBody>
                  <a:tcPr marL="771525" marR="9525" marT="9525" marB="0" anchor="ctr"/>
                </a:tc>
              </a:tr>
              <a:tr h="175260">
                <a:tc>
                  <a:txBody>
                    <a:bodyPr wrap="square"/>
                    <a:lstStyle/>
                    <a:p>
                      <a:pPr algn="l"/>
                      <a:r>
                        <a:rPr sz="1100" b="0" i="0">
                          <a:solidFill>
                            <a:srgbClr val="000000"/>
                          </a:solidFill>
                          <a:latin typeface="Calibri"/>
                        </a:rPr>
                        <a:t>31.5.9.</a:t>
                      </a:r>
                      <a:r>
                        <a:rPr sz="700" b="0" i="0">
                          <a:solidFill>
                            <a:srgbClr val="000000"/>
                          </a:solidFill>
                          <a:latin typeface="Times New Roman"/>
                        </a:rPr>
                        <a:t> </a:t>
                      </a:r>
                      <a:r>
                        <a:rPr sz="1100" b="0" i="0">
                          <a:solidFill>
                            <a:srgbClr val="000000"/>
                          </a:solidFill>
                          <a:latin typeface="Calibri"/>
                        </a:rPr>
                        <a:t>Rising Demand for Portion-Controlled &amp; Mini Muffin Formats</a:t>
                      </a:r>
                      <a:endParaRPr sz="1100"/>
                    </a:p>
                  </a:txBody>
                  <a:tcPr marL="771525" marR="9525" marT="9525" marB="0" anchor="ctr"/>
                </a:tc>
              </a:tr>
              <a:tr h="175260">
                <a:tc>
                  <a:txBody>
                    <a:bodyPr wrap="square"/>
                    <a:lstStyle/>
                    <a:p>
                      <a:pPr algn="l"/>
                      <a:r>
                        <a:rPr sz="1100" b="0" i="0">
                          <a:solidFill>
                            <a:srgbClr val="000000"/>
                          </a:solidFill>
                          <a:latin typeface="Calibri"/>
                        </a:rPr>
                        <a:t>31.5.10.</a:t>
                      </a:r>
                      <a:r>
                        <a:rPr sz="700" b="0" i="0">
                          <a:solidFill>
                            <a:srgbClr val="000000"/>
                          </a:solidFill>
                          <a:latin typeface="Times New Roman"/>
                        </a:rPr>
                        <a:t> </a:t>
                      </a:r>
                      <a:r>
                        <a:rPr sz="1100" b="0" i="0">
                          <a:solidFill>
                            <a:srgbClr val="000000"/>
                          </a:solidFill>
                          <a:latin typeface="Calibri"/>
                        </a:rPr>
                        <a:t>Expansion of Bakery Consumption in Emerging Markets</a:t>
                      </a:r>
                      <a:endParaRPr sz="1100"/>
                    </a:p>
                  </a:txBody>
                  <a:tcPr marL="771525" marR="9525" marT="9525" marB="0" anchor="ctr"/>
                </a:tc>
              </a:tr>
              <a:tr h="175260">
                <a:tc>
                  <a:txBody>
                    <a:bodyPr wrap="square"/>
                    <a:lstStyle/>
                    <a:p>
                      <a:pPr algn="l"/>
                      <a:r>
                        <a:rPr sz="1100" b="0" i="0">
                          <a:solidFill>
                            <a:srgbClr val="000000"/>
                          </a:solidFill>
                          <a:latin typeface="Calibri"/>
                        </a:rPr>
                        <a:t>31.5.11.</a:t>
                      </a:r>
                      <a:r>
                        <a:rPr sz="700" b="0" i="0">
                          <a:solidFill>
                            <a:srgbClr val="000000"/>
                          </a:solidFill>
                          <a:latin typeface="Times New Roman"/>
                        </a:rPr>
                        <a:t> </a:t>
                      </a:r>
                      <a:r>
                        <a:rPr sz="1100" b="0" i="0">
                          <a:solidFill>
                            <a:srgbClr val="000000"/>
                          </a:solidFill>
                          <a:latin typeface="Calibri"/>
                        </a:rPr>
                        <a:t>Other Forecast Factors</a:t>
                      </a:r>
                      <a:endParaRPr sz="1100"/>
                    </a:p>
                  </a:txBody>
                  <a:tcPr marL="771525" marR="9525" marT="9525" marB="0" anchor="ctr"/>
                </a:tc>
              </a:tr>
              <a:tr h="175260">
                <a:tc>
                  <a:txBody>
                    <a:bodyPr wrap="square"/>
                    <a:lstStyle/>
                    <a:p>
                      <a:pPr algn="l"/>
                      <a:r>
                        <a:rPr sz="1100" b="0" i="0">
                          <a:solidFill>
                            <a:srgbClr val="0070C0"/>
                          </a:solidFill>
                          <a:latin typeface="Calibri"/>
                        </a:rPr>
                        <a:t>31.6.</a:t>
                      </a:r>
                      <a:r>
                        <a:rPr sz="700" b="0" i="0">
                          <a:solidFill>
                            <a:srgbClr val="0070C0"/>
                          </a:solidFill>
                          <a:latin typeface="Times New Roman"/>
                        </a:rPr>
                        <a:t>  </a:t>
                      </a:r>
                      <a:r>
                        <a:rPr sz="1100" b="0" i="0">
                          <a:solidFill>
                            <a:srgbClr val="0070C0"/>
                          </a:solidFill>
                          <a:latin typeface="Calibri"/>
                        </a:rPr>
                        <a:t>Regulations</a:t>
                      </a:r>
                      <a:endParaRPr sz="1100"/>
                    </a:p>
                  </a:txBody>
                  <a:tcPr marL="428625" marR="9525" marT="9525" marB="0" anchor="ctr"/>
                </a:tc>
              </a:tr>
              <a:tr h="175260">
                <a:tc>
                  <a:txBody>
                    <a:bodyPr wrap="square"/>
                    <a:lstStyle/>
                    <a:p>
                      <a:pPr algn="l"/>
                      <a:r>
                        <a:rPr sz="1100" b="0" i="0">
                          <a:solidFill>
                            <a:srgbClr val="0070C0"/>
                          </a:solidFill>
                          <a:latin typeface="Calibri"/>
                        </a:rPr>
                        <a:t>31.7.</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31.8.</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32.1.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32.1.1.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32.1.2.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32.2.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32.3.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32.3.1.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32.3.2.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32.3.3.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(11/12)</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Calibri"/>
                        </a:rPr>
                        <a:t>33.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34.</a:t>
                      </a:r>
                      <a:r>
                        <a:rPr sz="700" b="1" i="0">
                          <a:solidFill>
                            <a:srgbClr val="000000"/>
                          </a:solidFill>
                          <a:latin typeface="Times New Roman"/>
                        </a:rPr>
                        <a:t>    </a:t>
                      </a:r>
                      <a:r>
                        <a:rPr sz="1100" b="1" i="0">
                          <a:solidFill>
                            <a:srgbClr val="000000"/>
                          </a:solidFill>
                          <a:latin typeface="Calibri"/>
                        </a:rPr>
                        <a:t>Brand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34.1.</a:t>
                      </a:r>
                      <a:r>
                        <a:rPr sz="700" b="0" i="0">
                          <a:solidFill>
                            <a:srgbClr val="0070C0"/>
                          </a:solidFill>
                          <a:latin typeface="Times New Roman"/>
                        </a:rPr>
                        <a:t>  </a:t>
                      </a:r>
                      <a:r>
                        <a:rPr sz="1100" b="0" i="0">
                          <a:solidFill>
                            <a:srgbClr val="0070C0"/>
                          </a:solidFill>
                          <a:latin typeface="Calibri"/>
                        </a:rPr>
                        <a:t>By Country</a:t>
                      </a:r>
                      <a:endParaRPr sz="1100"/>
                    </a:p>
                  </a:txBody>
                  <a:tcPr marL="428625" marR="9525" marT="9525" marB="0" anchor="ctr"/>
                </a:tc>
              </a:tr>
              <a:tr h="175260">
                <a:tc>
                  <a:txBody>
                    <a:bodyPr wrap="square"/>
                    <a:lstStyle/>
                    <a:p>
                      <a:pPr algn="l"/>
                      <a:r>
                        <a:rPr sz="1100" b="0" i="0">
                          <a:solidFill>
                            <a:srgbClr val="0070C0"/>
                          </a:solidFill>
                          <a:latin typeface="Calibri"/>
                        </a:rPr>
                        <a:t>34.2.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34.3.</a:t>
                      </a:r>
                      <a:r>
                        <a:rPr sz="700" b="0" i="0">
                          <a:solidFill>
                            <a:srgbClr val="0070C0"/>
                          </a:solidFill>
                          <a:latin typeface="Times New Roman"/>
                        </a:rPr>
                        <a:t>  </a:t>
                      </a:r>
                      <a:r>
                        <a:rPr sz="1100" b="0" i="0">
                          <a:solidFill>
                            <a:srgbClr val="0070C0"/>
                          </a:solidFill>
                          <a:latin typeface="Calibri"/>
                        </a:rPr>
                        <a:t>Sales Channel</a:t>
                      </a:r>
                      <a:endParaRPr sz="1100"/>
                    </a:p>
                  </a:txBody>
                  <a:tcPr marL="428625" marR="9525" marT="9525" marB="0" anchor="ctr"/>
                </a:tc>
              </a:tr>
              <a:tr h="175260">
                <a:tc>
                  <a:txBody>
                    <a:bodyPr wrap="square"/>
                    <a:lstStyle/>
                    <a:p>
                      <a:pPr algn="l"/>
                      <a:r>
                        <a:rPr sz="1100" b="1" i="0">
                          <a:solidFill>
                            <a:srgbClr val="000000"/>
                          </a:solidFill>
                          <a:latin typeface="Calibri"/>
                        </a:rPr>
                        <a:t>35.</a:t>
                      </a:r>
                      <a:r>
                        <a:rPr sz="700" b="1" i="0">
                          <a:solidFill>
                            <a:srgbClr val="000000"/>
                          </a:solidFill>
                          <a:latin typeface="Times New Roman"/>
                        </a:rPr>
                        <a:t>    </a:t>
                      </a:r>
                      <a:r>
                        <a:rPr sz="1100" b="1" i="0">
                          <a:solidFill>
                            <a:srgbClr val="000000"/>
                          </a:solidFill>
                          <a:latin typeface="Calibri"/>
                        </a:rPr>
                        <a:t>Brand Share Breakdown (2026)</a:t>
                      </a:r>
                      <a:endParaRPr sz="1100"/>
                    </a:p>
                  </a:txBody>
                  <a:tcPr marL="171450" marR="9525" marT="9525" marB="0" anchor="ctr"/>
                </a:tc>
              </a:tr>
              <a:tr h="175260">
                <a:tc>
                  <a:txBody>
                    <a:bodyPr wrap="square"/>
                    <a:lstStyle/>
                    <a:p>
                      <a:pPr algn="l"/>
                      <a:r>
                        <a:rPr sz="1100" b="0" i="0">
                          <a:solidFill>
                            <a:srgbClr val="0070C0"/>
                          </a:solidFill>
                          <a:latin typeface="Calibri"/>
                        </a:rPr>
                        <a:t>35.1.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35.2.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35.3.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36.</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36.1.</a:t>
                      </a:r>
                      <a:r>
                        <a:rPr sz="700" b="0" i="0">
                          <a:solidFill>
                            <a:srgbClr val="0070C0"/>
                          </a:solidFill>
                          <a:latin typeface="Times New Roman"/>
                        </a:rPr>
                        <a:t>  </a:t>
                      </a:r>
                      <a:r>
                        <a:rPr sz="1100" b="0" i="0">
                          <a:solidFill>
                            <a:srgbClr val="0070C0"/>
                          </a:solidFill>
                          <a:latin typeface="Calibri"/>
                        </a:rPr>
                        <a:t>Grupo Bimbo (Bimbo, Marinela, Little Bites, Thomas')</a:t>
                      </a:r>
                      <a:endParaRPr sz="1100"/>
                    </a:p>
                  </a:txBody>
                  <a:tcPr marL="428625" marR="9525" marT="9525" marB="0" anchor="ctr"/>
                </a:tc>
              </a:tr>
              <a:tr h="175260">
                <a:tc>
                  <a:txBody>
                    <a:bodyPr wrap="square"/>
                    <a:lstStyle/>
                    <a:p>
                      <a:pPr algn="l"/>
                      <a:r>
                        <a:rPr sz="1100" b="0" i="0">
                          <a:solidFill>
                            <a:srgbClr val="000000"/>
                          </a:solidFill>
                          <a:latin typeface="Calibri"/>
                        </a:rPr>
                        <a:t>36.1.1.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36.1.2.</a:t>
                      </a:r>
                      <a:r>
                        <a:rPr sz="700" b="0" i="0">
                          <a:solidFill>
                            <a:srgbClr val="000000"/>
                          </a:solidFill>
                          <a:latin typeface="Times New Roman"/>
                        </a:rPr>
                        <a:t> </a:t>
                      </a:r>
                      <a:r>
                        <a:rPr sz="1100" b="0" i="0">
                          <a:solidFill>
                            <a:srgbClr val="000000"/>
                          </a:solidFill>
                          <a:latin typeface="Calibri"/>
                        </a:rPr>
                        <a:t>Market Segments</a:t>
                      </a:r>
                      <a:endParaRPr sz="1100"/>
                    </a:p>
                  </a:txBody>
                  <a:tcPr marL="771525" marR="9525" marT="9525" marB="0" anchor="ctr"/>
                </a:tc>
              </a:tr>
              <a:tr h="175260">
                <a:tc>
                  <a:txBody>
                    <a:bodyPr wrap="square"/>
                    <a:lstStyle/>
                    <a:p>
                      <a:pPr algn="l"/>
                      <a:r>
                        <a:rPr sz="1100" b="0" i="1">
                          <a:solidFill>
                            <a:srgbClr val="000000"/>
                          </a:solidFill>
                          <a:latin typeface="Calibri"/>
                        </a:rPr>
                        <a:t>36.1.2.1.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36.1.2.2.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36.1.2.3.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36.1.3.</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36.1.4.</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36.1.4.1.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36.1.4.2.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36.1.4.3.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36.1.4.4.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36.1.5.</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36.1.6.</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36.2.</a:t>
                      </a:r>
                      <a:r>
                        <a:rPr sz="700" b="0" i="0">
                          <a:solidFill>
                            <a:srgbClr val="0070C0"/>
                          </a:solidFill>
                          <a:latin typeface="Times New Roman"/>
                        </a:rPr>
                        <a:t>  </a:t>
                      </a:r>
                      <a:r>
                        <a:rPr sz="1100" b="0" i="0">
                          <a:solidFill>
                            <a:srgbClr val="0070C0"/>
                          </a:solidFill>
                          <a:latin typeface="Calibri"/>
                        </a:rPr>
                        <a:t>McKee Foods Corporation (Little Debbie, Sunbelt Bakery, Drake's, Fieldstone Bakery)</a:t>
                      </a:r>
                      <a:endParaRPr sz="1100"/>
                    </a:p>
                  </a:txBody>
                  <a:tcPr marL="428625" marR="9525" marT="9525" marB="0" anchor="ctr"/>
                </a:tc>
              </a:tr>
              <a:tr h="175260">
                <a:tc>
                  <a:txBody>
                    <a:bodyPr wrap="square"/>
                    <a:lstStyle/>
                    <a:p>
                      <a:pPr algn="l"/>
                      <a:r>
                        <a:rPr sz="1100" b="0" i="0">
                          <a:solidFill>
                            <a:srgbClr val="0070C0"/>
                          </a:solidFill>
                          <a:latin typeface="Calibri"/>
                        </a:rPr>
                        <a:t>36.3.</a:t>
                      </a:r>
                      <a:r>
                        <a:rPr sz="700" b="0" i="0">
                          <a:solidFill>
                            <a:srgbClr val="0070C0"/>
                          </a:solidFill>
                          <a:latin typeface="Times New Roman"/>
                        </a:rPr>
                        <a:t>  </a:t>
                      </a:r>
                      <a:r>
                        <a:rPr sz="1100" b="0" i="0">
                          <a:solidFill>
                            <a:srgbClr val="0070C0"/>
                          </a:solidFill>
                          <a:latin typeface="Calibri"/>
                        </a:rPr>
                        <a:t>Hostess Brands (Hostess)</a:t>
                      </a:r>
                      <a:endParaRPr sz="1100"/>
                    </a:p>
                  </a:txBody>
                  <a:tcPr marL="428625" marR="9525" marT="9525" marB="0" anchor="ctr"/>
                </a:tc>
              </a:tr>
              <a:tr h="175260">
                <a:tc>
                  <a:txBody>
                    <a:bodyPr wrap="square"/>
                    <a:lstStyle/>
                    <a:p>
                      <a:pPr algn="l"/>
                      <a:r>
                        <a:rPr sz="1100" b="0" i="0">
                          <a:solidFill>
                            <a:srgbClr val="0070C0"/>
                          </a:solidFill>
                          <a:latin typeface="Calibri"/>
                        </a:rPr>
                        <a:t>36.4.</a:t>
                      </a:r>
                      <a:r>
                        <a:rPr sz="700" b="0" i="0">
                          <a:solidFill>
                            <a:srgbClr val="0070C0"/>
                          </a:solidFill>
                          <a:latin typeface="Times New Roman"/>
                        </a:rPr>
                        <a:t>  </a:t>
                      </a:r>
                      <a:r>
                        <a:rPr sz="1100" b="0" i="0">
                          <a:solidFill>
                            <a:srgbClr val="0070C0"/>
                          </a:solidFill>
                          <a:latin typeface="Calibri"/>
                        </a:rPr>
                        <a:t>Rich Products Corporation (Rich's)</a:t>
                      </a:r>
                      <a:endParaRPr sz="1100"/>
                    </a:p>
                  </a:txBody>
                  <a:tcPr marL="428625" marR="9525" marT="9525" marB="0" anchor="ctr"/>
                </a:tc>
              </a:tr>
              <a:tr h="350520">
                <a:tc>
                  <a:txBody>
                    <a:bodyPr wrap="square"/>
                    <a:lstStyle/>
                    <a:p>
                      <a:pPr algn="l"/>
                      <a:r>
                        <a:rPr sz="1100" b="0" i="0">
                          <a:solidFill>
                            <a:srgbClr val="0070C0"/>
                          </a:solidFill>
                          <a:latin typeface="Calibri"/>
                        </a:rPr>
                        <a:t>36.5.</a:t>
                      </a:r>
                      <a:r>
                        <a:rPr sz="700" b="0" i="0">
                          <a:solidFill>
                            <a:srgbClr val="0070C0"/>
                          </a:solidFill>
                          <a:latin typeface="Times New Roman"/>
                        </a:rPr>
                        <a:t>  </a:t>
                      </a:r>
                      <a:r>
                        <a:rPr sz="1100" b="0" i="0">
                          <a:solidFill>
                            <a:srgbClr val="0070C0"/>
                          </a:solidFill>
                          <a:latin typeface="Calibri"/>
                        </a:rPr>
                        <a:t>ARYZTA / Aspire Bakeries (Otis Spunkmeyer, Cuisine de France, Hiestand, Delice de France)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36.6.</a:t>
                      </a:r>
                      <a:r>
                        <a:rPr sz="700" b="0" i="0">
                          <a:solidFill>
                            <a:srgbClr val="0070C0"/>
                          </a:solidFill>
                          <a:latin typeface="Times New Roman"/>
                        </a:rPr>
                        <a:t>  </a:t>
                      </a:r>
                      <a:r>
                        <a:rPr sz="1100" b="0" i="0">
                          <a:solidFill>
                            <a:srgbClr val="0070C0"/>
                          </a:solidFill>
                          <a:latin typeface="Calibri"/>
                        </a:rPr>
                        <a:t>Europastry (Europastry, Dots)</a:t>
                      </a:r>
                      <a:endParaRPr sz="1100"/>
                    </a:p>
                  </a:txBody>
                  <a:tcPr marL="428625" marR="9525" marT="9525" marB="0" anchor="ctr"/>
                </a:tc>
              </a:tr>
              <a:tr h="175260">
                <a:tc>
                  <a:txBody>
                    <a:bodyPr wrap="square"/>
                    <a:lstStyle/>
                    <a:p>
                      <a:pPr algn="l"/>
                      <a:r>
                        <a:rPr sz="1100" b="0" i="0">
                          <a:solidFill>
                            <a:srgbClr val="0070C0"/>
                          </a:solidFill>
                          <a:latin typeface="Calibri"/>
                        </a:rPr>
                        <a:t>36.7.</a:t>
                      </a:r>
                      <a:r>
                        <a:rPr sz="700" b="0" i="0">
                          <a:solidFill>
                            <a:srgbClr val="0070C0"/>
                          </a:solidFill>
                          <a:latin typeface="Times New Roman"/>
                        </a:rPr>
                        <a:t>  </a:t>
                      </a:r>
                      <a:r>
                        <a:rPr sz="1100" b="0" i="0">
                          <a:solidFill>
                            <a:srgbClr val="0070C0"/>
                          </a:solidFill>
                          <a:latin typeface="Calibri"/>
                        </a:rPr>
                        <a:t>Bridor (Bridor, Evasions)</a:t>
                      </a:r>
                      <a:endParaRPr sz="1100"/>
                    </a:p>
                  </a:txBody>
                  <a:tcPr marL="428625" marR="9525" marT="9525" marB="0" anchor="ctr"/>
                </a:tc>
              </a:tr>
              <a:tr h="175260">
                <a:tc>
                  <a:txBody>
                    <a:bodyPr wrap="square"/>
                    <a:lstStyle/>
                    <a:p>
                      <a:pPr algn="l"/>
                      <a:r>
                        <a:rPr sz="1100" b="0" i="0">
                          <a:solidFill>
                            <a:srgbClr val="0070C0"/>
                          </a:solidFill>
                          <a:latin typeface="Calibri"/>
                        </a:rPr>
                        <a:t>36.8.</a:t>
                      </a:r>
                      <a:r>
                        <a:rPr sz="700" b="0" i="0">
                          <a:solidFill>
                            <a:srgbClr val="0070C0"/>
                          </a:solidFill>
                          <a:latin typeface="Times New Roman"/>
                        </a:rPr>
                        <a:t>  </a:t>
                      </a:r>
                      <a:r>
                        <a:rPr sz="1100" b="0" i="0">
                          <a:solidFill>
                            <a:srgbClr val="0070C0"/>
                          </a:solidFill>
                          <a:latin typeface="Calibri"/>
                        </a:rPr>
                        <a:t>Lantmännen Unibake (Schulstad, Hatting, Vaasan, Pastridor, Euro-Bake)</a:t>
                      </a:r>
                      <a:endParaRPr sz="1100"/>
                    </a:p>
                  </a:txBody>
                  <a:tcPr marL="428625" marR="9525" marT="9525" marB="0" anchor="ctr"/>
                </a:tc>
              </a:tr>
              <a:tr h="350520">
                <a:tc>
                  <a:txBody>
                    <a:bodyPr wrap="square"/>
                    <a:lstStyle/>
                    <a:p>
                      <a:pPr algn="l"/>
                      <a:r>
                        <a:rPr sz="1100" b="0" i="0">
                          <a:solidFill>
                            <a:srgbClr val="0070C0"/>
                          </a:solidFill>
                          <a:latin typeface="Calibri"/>
                        </a:rPr>
                        <a:t>36.9.</a:t>
                      </a:r>
                      <a:r>
                        <a:rPr sz="700" b="0" i="0">
                          <a:solidFill>
                            <a:srgbClr val="0070C0"/>
                          </a:solidFill>
                          <a:latin typeface="Times New Roman"/>
                        </a:rPr>
                        <a:t>  </a:t>
                      </a:r>
                      <a:r>
                        <a:rPr sz="1100" b="0" i="0">
                          <a:solidFill>
                            <a:srgbClr val="0070C0"/>
                          </a:solidFill>
                          <a:latin typeface="Calibri"/>
                        </a:rPr>
                        <a:t>Flowers Foods (Tastykake, Nature's Own, Wonder, Dave's Killer Bread, Canyon Bakehouse)</a:t>
                      </a:r>
                      <a:endParaRPr sz="1100"/>
                    </a:p>
                  </a:txBody>
                  <a:tcPr marL="428625" marR="9525" marT="9525" marB="0" anchor="ctr"/>
                </a:tc>
              </a:tr>
              <a:tr h="175260">
                <a:tc>
                  <a:txBody>
                    <a:bodyPr wrap="square"/>
                    <a:lstStyle/>
                    <a:p>
                      <a:pPr algn="l"/>
                      <a:r>
                        <a:rPr sz="1100" b="0" i="0">
                          <a:solidFill>
                            <a:srgbClr val="0070C0"/>
                          </a:solidFill>
                          <a:latin typeface="Calibri"/>
                        </a:rPr>
                        <a:t>36.10.</a:t>
                      </a:r>
                      <a:r>
                        <a:rPr sz="700" b="0" i="0">
                          <a:solidFill>
                            <a:srgbClr val="0070C0"/>
                          </a:solidFill>
                          <a:latin typeface="Times New Roman"/>
                        </a:rPr>
                        <a:t> </a:t>
                      </a:r>
                      <a:r>
                        <a:rPr sz="1100" b="0" i="0">
                          <a:solidFill>
                            <a:srgbClr val="0070C0"/>
                          </a:solidFill>
                          <a:latin typeface="Calibri"/>
                        </a:rPr>
                        <a:t>Premier Foods (Mr Kipling)</a:t>
                      </a:r>
                      <a:endParaRPr sz="1100"/>
                    </a:p>
                  </a:txBody>
                  <a:tcPr marL="428625" marR="9525" marT="9525" marB="0" anchor="ctr"/>
                </a:tc>
              </a:tr>
              <a:tr h="175260">
                <a:tc>
                  <a:txBody>
                    <a:bodyPr wrap="square"/>
                    <a:lstStyle/>
                    <a:p>
                      <a:pPr algn="l"/>
                      <a:r>
                        <a:rPr sz="1100" b="0" i="0">
                          <a:solidFill>
                            <a:srgbClr val="0070C0"/>
                          </a:solidFill>
                          <a:latin typeface="Calibri"/>
                        </a:rPr>
                        <a:t>36.11.</a:t>
                      </a:r>
                      <a:r>
                        <a:rPr sz="700" b="0" i="0">
                          <a:solidFill>
                            <a:srgbClr val="0070C0"/>
                          </a:solidFill>
                          <a:latin typeface="Times New Roman"/>
                        </a:rPr>
                        <a:t> </a:t>
                      </a:r>
                      <a:r>
                        <a:rPr sz="1100" b="0" i="0">
                          <a:solidFill>
                            <a:srgbClr val="0070C0"/>
                          </a:solidFill>
                          <a:latin typeface="Calibri"/>
                        </a:rPr>
                        <a:t>Warburtons (Warburtons)</a:t>
                      </a:r>
                      <a:endParaRPr sz="1100"/>
                    </a:p>
                  </a:txBody>
                  <a:tcPr marL="428625" marR="9525" marT="9525" marB="0" anchor="ctr"/>
                </a:tc>
              </a:tr>
              <a:tr h="175260">
                <a:tc>
                  <a:txBody>
                    <a:bodyPr wrap="square"/>
                    <a:lstStyle/>
                    <a:p>
                      <a:pPr algn="l"/>
                      <a:r>
                        <a:rPr sz="1100" b="0" i="0">
                          <a:solidFill>
                            <a:srgbClr val="0070C0"/>
                          </a:solidFill>
                          <a:latin typeface="Calibri"/>
                        </a:rPr>
                        <a:t>36.12.</a:t>
                      </a:r>
                      <a:r>
                        <a:rPr sz="700" b="0" i="0">
                          <a:solidFill>
                            <a:srgbClr val="0070C0"/>
                          </a:solidFill>
                          <a:latin typeface="Times New Roman"/>
                        </a:rPr>
                        <a:t> </a:t>
                      </a:r>
                      <a:r>
                        <a:rPr sz="1100" b="0" i="0">
                          <a:solidFill>
                            <a:srgbClr val="0070C0"/>
                          </a:solidFill>
                          <a:latin typeface="Calibri"/>
                        </a:rPr>
                        <a:t>Goodman Fielder (Nature's Fresh, Freya's, Quality Bakers)</a:t>
                      </a:r>
                      <a:endParaRPr sz="1100"/>
                    </a:p>
                  </a:txBody>
                  <a:tcPr marL="428625" marR="9525" marT="9525" marB="0" anchor="ctr"/>
                </a:tc>
              </a:tr>
              <a:tr h="175260">
                <a:tc>
                  <a:txBody>
                    <a:bodyPr wrap="square"/>
                    <a:lstStyle/>
                    <a:p>
                      <a:pPr algn="l"/>
                      <a:r>
                        <a:rPr sz="1100" b="0" i="0">
                          <a:solidFill>
                            <a:srgbClr val="0070C0"/>
                          </a:solidFill>
                          <a:latin typeface="Calibri"/>
                        </a:rPr>
                        <a:t>36.13.</a:t>
                      </a:r>
                      <a:r>
                        <a:rPr sz="700" b="0" i="0">
                          <a:solidFill>
                            <a:srgbClr val="0070C0"/>
                          </a:solidFill>
                          <a:latin typeface="Times New Roman"/>
                        </a:rPr>
                        <a:t> </a:t>
                      </a:r>
                      <a:r>
                        <a:rPr sz="1100" b="0" i="0">
                          <a:solidFill>
                            <a:srgbClr val="0070C0"/>
                          </a:solidFill>
                          <a:latin typeface="Calibri"/>
                        </a:rPr>
                        <a:t>St Michel (St Michel)</a:t>
                      </a:r>
                      <a:endParaRPr sz="1100"/>
                    </a:p>
                  </a:txBody>
                  <a:tcPr marL="428625" marR="9525" marT="9525" marB="0" anchor="ctr"/>
                </a:tc>
              </a:tr>
              <a:tr h="175260">
                <a:tc>
                  <a:txBody>
                    <a:bodyPr wrap="square"/>
                    <a:lstStyle/>
                    <a:p>
                      <a:pPr algn="l"/>
                      <a:r>
                        <a:rPr sz="1100" b="0" i="0">
                          <a:solidFill>
                            <a:srgbClr val="0070C0"/>
                          </a:solidFill>
                          <a:latin typeface="Calibri"/>
                        </a:rPr>
                        <a:t>36.14.</a:t>
                      </a:r>
                      <a:r>
                        <a:rPr sz="700" b="0" i="0">
                          <a:solidFill>
                            <a:srgbClr val="0070C0"/>
                          </a:solidFill>
                          <a:latin typeface="Times New Roman"/>
                        </a:rPr>
                        <a:t> </a:t>
                      </a:r>
                      <a:r>
                        <a:rPr sz="1100" b="0" i="0">
                          <a:solidFill>
                            <a:srgbClr val="0070C0"/>
                          </a:solidFill>
                          <a:latin typeface="Calibri"/>
                        </a:rPr>
                        <a:t>Dr. Schär (Schär)</a:t>
                      </a:r>
                      <a:endParaRPr sz="1100"/>
                    </a:p>
                  </a:txBody>
                  <a:tcPr marL="428625" marR="9525" marT="9525" marB="0" anchor="ctr"/>
                </a:tc>
              </a:tr>
              <a:tr h="175260">
                <a:tc>
                  <a:txBody>
                    <a:bodyPr wrap="square"/>
                    <a:lstStyle/>
                    <a:p>
                      <a:pPr algn="l"/>
                      <a:r>
                        <a:rPr sz="1100" b="0" i="0">
                          <a:solidFill>
                            <a:srgbClr val="0070C0"/>
                          </a:solidFill>
                          <a:latin typeface="Calibri"/>
                        </a:rPr>
                        <a:t>36.15.</a:t>
                      </a:r>
                      <a:r>
                        <a:rPr sz="700" b="0" i="0">
                          <a:solidFill>
                            <a:srgbClr val="0070C0"/>
                          </a:solidFill>
                          <a:latin typeface="Times New Roman"/>
                        </a:rPr>
                        <a:t> </a:t>
                      </a:r>
                      <a:r>
                        <a:rPr sz="1100" b="0" i="0">
                          <a:solidFill>
                            <a:srgbClr val="0070C0"/>
                          </a:solidFill>
                          <a:latin typeface="Calibri"/>
                        </a:rPr>
                        <a:t>General Mills (Betty Crocker, Pillsbury)</a:t>
                      </a:r>
                      <a:endParaRPr sz="1100"/>
                    </a:p>
                  </a:txBody>
                  <a:tcPr marL="428625" marR="9525" marT="9525" marB="0" anchor="ctr"/>
                </a:tc>
              </a:tr>
              <a:tr h="175260">
                <a:tc>
                  <a:txBody>
                    <a:bodyPr wrap="square"/>
                    <a:lstStyle/>
                    <a:p>
                      <a:pPr algn="l"/>
                      <a:r>
                        <a:rPr sz="1100" b="0" i="0">
                          <a:solidFill>
                            <a:srgbClr val="0070C0"/>
                          </a:solidFill>
                          <a:latin typeface="Calibri"/>
                        </a:rPr>
                        <a:t>36.16.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37.</a:t>
                      </a:r>
                      <a:r>
                        <a:rPr sz="700" b="1" i="0">
                          <a:solidFill>
                            <a:srgbClr val="000000"/>
                          </a:solidFill>
                          <a:latin typeface="Times New Roman"/>
                        </a:rPr>
                        <a:t>    </a:t>
                      </a:r>
                      <a:r>
                        <a:rPr sz="1100" b="1" i="0">
                          <a:solidFill>
                            <a:srgbClr val="000000"/>
                          </a:solidFill>
                          <a:latin typeface="Calibri"/>
                        </a:rPr>
                        <a:t>Company Profile- Asia-Based</a:t>
                      </a:r>
                      <a:endParaRPr sz="1100"/>
                    </a:p>
                  </a:txBody>
                  <a:tcPr marL="171450" marR="9525" marT="9525" marB="0" anchor="ctr"/>
                </a:tc>
              </a:tr>
              <a:tr h="175260">
                <a:tc>
                  <a:txBody>
                    <a:bodyPr wrap="square"/>
                    <a:lstStyle/>
                    <a:p>
                      <a:pPr algn="l"/>
                      <a:r>
                        <a:rPr sz="1100" b="0" i="0">
                          <a:solidFill>
                            <a:srgbClr val="0070C0"/>
                          </a:solidFill>
                          <a:latin typeface="Calibri"/>
                        </a:rPr>
                        <a:t>37.1.</a:t>
                      </a:r>
                      <a:r>
                        <a:rPr sz="700" b="0" i="0">
                          <a:solidFill>
                            <a:srgbClr val="0070C0"/>
                          </a:solidFill>
                          <a:latin typeface="Times New Roman"/>
                        </a:rPr>
                        <a:t>  </a:t>
                      </a:r>
                      <a:r>
                        <a:rPr sz="1100" b="0" i="0">
                          <a:solidFill>
                            <a:srgbClr val="0070C0"/>
                          </a:solidFill>
                          <a:latin typeface="Calibri"/>
                        </a:rPr>
                        <a:t>Britannia Industries (Britannia)</a:t>
                      </a:r>
                      <a:endParaRPr sz="1100"/>
                    </a:p>
                  </a:txBody>
                  <a:tcPr marL="428625" marR="9525" marT="9525" marB="0" anchor="ctr"/>
                </a:tc>
              </a:tr>
              <a:tr h="175260">
                <a:tc>
                  <a:txBody>
                    <a:bodyPr wrap="square"/>
                    <a:lstStyle/>
                    <a:p>
                      <a:pPr algn="l"/>
                      <a:r>
                        <a:rPr sz="1100" b="0" i="0">
                          <a:solidFill>
                            <a:srgbClr val="0070C0"/>
                          </a:solidFill>
                          <a:latin typeface="Calibri"/>
                        </a:rPr>
                        <a:t>37.2.</a:t>
                      </a:r>
                      <a:r>
                        <a:rPr sz="700" b="0" i="0">
                          <a:solidFill>
                            <a:srgbClr val="0070C0"/>
                          </a:solidFill>
                          <a:latin typeface="Times New Roman"/>
                        </a:rPr>
                        <a:t>  </a:t>
                      </a:r>
                      <a:r>
                        <a:rPr sz="1100" b="0" i="0">
                          <a:solidFill>
                            <a:srgbClr val="0070C0"/>
                          </a:solidFill>
                          <a:latin typeface="Calibri"/>
                        </a:rPr>
                        <a:t>Monginis Foods (Monginis)</a:t>
                      </a:r>
                      <a:endParaRPr sz="1100"/>
                    </a:p>
                  </a:txBody>
                  <a:tcPr marL="428625" marR="9525" marT="9525" marB="0" anchor="ctr"/>
                </a:tc>
              </a:tr>
              <a:tr h="175260">
                <a:tc>
                  <a:txBody>
                    <a:bodyPr wrap="square"/>
                    <a:lstStyle/>
                    <a:p>
                      <a:pPr algn="l"/>
                      <a:r>
                        <a:rPr sz="1100" b="0" i="0">
                          <a:solidFill>
                            <a:srgbClr val="0070C0"/>
                          </a:solidFill>
                          <a:latin typeface="Calibri"/>
                        </a:rPr>
                        <a:t>37.3.</a:t>
                      </a:r>
                      <a:r>
                        <a:rPr sz="700" b="0" i="0">
                          <a:solidFill>
                            <a:srgbClr val="0070C0"/>
                          </a:solidFill>
                          <a:latin typeface="Times New Roman"/>
                        </a:rPr>
                        <a:t>  </a:t>
                      </a:r>
                      <a:r>
                        <a:rPr sz="1100" b="0" i="0">
                          <a:solidFill>
                            <a:srgbClr val="0070C0"/>
                          </a:solidFill>
                          <a:latin typeface="Calibri"/>
                        </a:rPr>
                        <a:t>Bonn Group of Industries (Bonn)</a:t>
                      </a:r>
                      <a:endParaRPr sz="1100"/>
                    </a:p>
                  </a:txBody>
                  <a:tcPr marL="428625" marR="9525" marT="9525" marB="0" anchor="ctr"/>
                </a:tc>
              </a:tr>
              <a:tr h="175260">
                <a:tc>
                  <a:txBody>
                    <a:bodyPr wrap="square"/>
                    <a:lstStyle/>
                    <a:p>
                      <a:pPr algn="l"/>
                      <a:r>
                        <a:rPr sz="1100" b="0" i="0">
                          <a:solidFill>
                            <a:srgbClr val="0070C0"/>
                          </a:solidFill>
                          <a:latin typeface="Calibri"/>
                        </a:rPr>
                        <a:t>37.4.</a:t>
                      </a:r>
                      <a:r>
                        <a:rPr sz="700" b="0" i="0">
                          <a:solidFill>
                            <a:srgbClr val="0070C0"/>
                          </a:solidFill>
                          <a:latin typeface="Times New Roman"/>
                        </a:rPr>
                        <a:t>  </a:t>
                      </a:r>
                      <a:r>
                        <a:rPr sz="1100" b="0" i="0">
                          <a:solidFill>
                            <a:srgbClr val="0070C0"/>
                          </a:solidFill>
                          <a:latin typeface="Calibri"/>
                        </a:rPr>
                        <a:t>Karachi Bakery (Karachi Bakery)</a:t>
                      </a:r>
                      <a:endParaRPr sz="1100"/>
                    </a:p>
                  </a:txBody>
                  <a:tcPr marL="428625" marR="9525" marT="9525" marB="0" anchor="ctr"/>
                </a:tc>
              </a:tr>
              <a:tr h="175260">
                <a:tc>
                  <a:txBody>
                    <a:bodyPr wrap="square"/>
                    <a:lstStyle/>
                    <a:p>
                      <a:pPr algn="l"/>
                      <a:r>
                        <a:rPr sz="1100" b="0" i="0">
                          <a:solidFill>
                            <a:srgbClr val="0070C0"/>
                          </a:solidFill>
                          <a:latin typeface="Calibri"/>
                        </a:rPr>
                        <a:t>37.5.</a:t>
                      </a:r>
                      <a:r>
                        <a:rPr sz="700" b="0" i="0">
                          <a:solidFill>
                            <a:srgbClr val="0070C0"/>
                          </a:solidFill>
                          <a:latin typeface="Times New Roman"/>
                        </a:rPr>
                        <a:t>  </a:t>
                      </a:r>
                      <a:r>
                        <a:rPr sz="1100" b="0" i="0">
                          <a:solidFill>
                            <a:srgbClr val="0070C0"/>
                          </a:solidFill>
                          <a:latin typeface="Calibri"/>
                        </a:rPr>
                        <a:t>Gardenia Bakeries Philippines (Gardenia)</a:t>
                      </a:r>
                      <a:endParaRPr sz="1100"/>
                    </a:p>
                  </a:txBody>
                  <a:tcPr marL="428625" marR="9525" marT="9525" marB="0" anchor="ctr"/>
                </a:tc>
              </a:tr>
              <a:tr h="175260">
                <a:tc>
                  <a:txBody>
                    <a:bodyPr wrap="square"/>
                    <a:lstStyle/>
                    <a:p>
                      <a:pPr algn="l"/>
                      <a:r>
                        <a:rPr sz="1100" b="0" i="0">
                          <a:solidFill>
                            <a:srgbClr val="0070C0"/>
                          </a:solidFill>
                          <a:latin typeface="Calibri"/>
                        </a:rPr>
                        <a:t>37.6.</a:t>
                      </a:r>
                      <a:r>
                        <a:rPr sz="700" b="0" i="0">
                          <a:solidFill>
                            <a:srgbClr val="0070C0"/>
                          </a:solidFill>
                          <a:latin typeface="Times New Roman"/>
                        </a:rPr>
                        <a:t>  </a:t>
                      </a:r>
                      <a:r>
                        <a:rPr sz="1100" b="0" i="0">
                          <a:solidFill>
                            <a:srgbClr val="0070C0"/>
                          </a:solidFill>
                          <a:latin typeface="Calibri"/>
                        </a:rPr>
                        <a:t>Gardenia Bakeries Malaysia (Gardenia, Gardenia QuickBites)</a:t>
                      </a:r>
                      <a:endParaRPr sz="1100"/>
                    </a:p>
                  </a:txBody>
                  <a:tcPr marL="428625" marR="9525" marT="9525" marB="0" anchor="ctr"/>
                </a:tc>
              </a:tr>
              <a:tr h="175260">
                <a:tc>
                  <a:txBody>
                    <a:bodyPr wrap="square"/>
                    <a:lstStyle/>
                    <a:p>
                      <a:pPr algn="l"/>
                      <a:r>
                        <a:rPr sz="1100" b="0" i="0">
                          <a:solidFill>
                            <a:srgbClr val="0070C0"/>
                          </a:solidFill>
                          <a:latin typeface="Calibri"/>
                        </a:rPr>
                        <a:t>37.7.</a:t>
                      </a:r>
                      <a:r>
                        <a:rPr sz="700" b="0" i="0">
                          <a:solidFill>
                            <a:srgbClr val="0070C0"/>
                          </a:solidFill>
                          <a:latin typeface="Times New Roman"/>
                        </a:rPr>
                        <a:t>  </a:t>
                      </a:r>
                      <a:r>
                        <a:rPr sz="1100" b="0" i="0">
                          <a:solidFill>
                            <a:srgbClr val="0070C0"/>
                          </a:solidFill>
                          <a:latin typeface="Calibri"/>
                        </a:rPr>
                        <a:t>PT Nippon Indosari Corpindo (Sari Roti)</a:t>
                      </a:r>
                      <a:endParaRPr sz="1100"/>
                    </a:p>
                  </a:txBody>
                  <a:tcPr marL="428625" marR="9525" marT="9525" marB="0" anchor="ctr"/>
                </a:tc>
              </a:tr>
              <a:tr h="175260">
                <a:tc>
                  <a:txBody>
                    <a:bodyPr wrap="square"/>
                    <a:lstStyle/>
                    <a:p>
                      <a:pPr algn="l"/>
                      <a:r>
                        <a:rPr sz="1100" b="0" i="0">
                          <a:solidFill>
                            <a:srgbClr val="0070C0"/>
                          </a:solidFill>
                          <a:latin typeface="Calibri"/>
                        </a:rPr>
                        <a:t>37.8.</a:t>
                      </a:r>
                      <a:r>
                        <a:rPr sz="700" b="0" i="0">
                          <a:solidFill>
                            <a:srgbClr val="0070C0"/>
                          </a:solidFill>
                          <a:latin typeface="Times New Roman"/>
                        </a:rPr>
                        <a:t>  </a:t>
                      </a:r>
                      <a:r>
                        <a:rPr sz="1100" b="0" i="0">
                          <a:solidFill>
                            <a:srgbClr val="0070C0"/>
                          </a:solidFill>
                          <a:latin typeface="Calibri"/>
                        </a:rPr>
                        <a:t>BreadTalk Group (BreadTalk)</a:t>
                      </a:r>
                      <a:endParaRPr sz="1100"/>
                    </a:p>
                  </a:txBody>
                  <a:tcPr marL="428625" marR="9525" marT="9525" marB="0" anchor="ctr"/>
                </a:tc>
              </a:tr>
              <a:tr h="175260">
                <a:tc>
                  <a:txBody>
                    <a:bodyPr wrap="square"/>
                    <a:lstStyle/>
                    <a:p>
                      <a:pPr algn="l"/>
                      <a:r>
                        <a:rPr sz="1100" b="0" i="0">
                          <a:solidFill>
                            <a:srgbClr val="0070C0"/>
                          </a:solidFill>
                          <a:latin typeface="Calibri"/>
                        </a:rPr>
                        <a:t>37.9.</a:t>
                      </a:r>
                      <a:r>
                        <a:rPr sz="700" b="0" i="0">
                          <a:solidFill>
                            <a:srgbClr val="0070C0"/>
                          </a:solidFill>
                          <a:latin typeface="Times New Roman"/>
                        </a:rPr>
                        <a:t>  </a:t>
                      </a:r>
                      <a:r>
                        <a:rPr sz="1100" b="0" i="0">
                          <a:solidFill>
                            <a:srgbClr val="0070C0"/>
                          </a:solidFill>
                          <a:latin typeface="Calibri"/>
                        </a:rPr>
                        <a:t>QAF Limited (Bakers Maison)</a:t>
                      </a:r>
                      <a:endParaRPr sz="1100"/>
                    </a:p>
                  </a:txBody>
                  <a:tcPr marL="428625" marR="9525" marT="9525" marB="0" anchor="ctr"/>
                </a:tc>
              </a:tr>
              <a:tr h="175260">
                <a:tc>
                  <a:txBody>
                    <a:bodyPr wrap="square"/>
                    <a:lstStyle/>
                    <a:p>
                      <a:pPr algn="l"/>
                      <a:r>
                        <a:rPr sz="1100" b="0" i="0">
                          <a:solidFill>
                            <a:srgbClr val="0070C0"/>
                          </a:solidFill>
                          <a:latin typeface="Calibri"/>
                        </a:rPr>
                        <a:t>37.10.</a:t>
                      </a:r>
                      <a:r>
                        <a:rPr sz="700" b="0" i="0">
                          <a:solidFill>
                            <a:srgbClr val="0070C0"/>
                          </a:solidFill>
                          <a:latin typeface="Times New Roman"/>
                        </a:rPr>
                        <a:t> </a:t>
                      </a:r>
                      <a:r>
                        <a:rPr sz="1100" b="0" i="0">
                          <a:solidFill>
                            <a:srgbClr val="0070C0"/>
                          </a:solidFill>
                          <a:latin typeface="Calibri"/>
                        </a:rPr>
                        <a:t>SPC Samlip (Samlip)</a:t>
                      </a:r>
                      <a:endParaRPr sz="1100"/>
                    </a:p>
                  </a:txBody>
                  <a:tcPr marL="428625" marR="9525" marT="9525" marB="0" anchor="ctr"/>
                </a:tc>
              </a:tr>
              <a:tr h="175260">
                <a:tc>
                  <a:txBody>
                    <a:bodyPr wrap="square"/>
                    <a:lstStyle/>
                    <a:p>
                      <a:pPr algn="l"/>
                      <a:r>
                        <a:rPr sz="1100" b="0" i="0">
                          <a:solidFill>
                            <a:srgbClr val="0070C0"/>
                          </a:solidFill>
                          <a:latin typeface="Calibri"/>
                        </a:rPr>
                        <a:t>37.11.</a:t>
                      </a:r>
                      <a:r>
                        <a:rPr sz="700" b="0" i="0">
                          <a:solidFill>
                            <a:srgbClr val="0070C0"/>
                          </a:solidFill>
                          <a:latin typeface="Times New Roman"/>
                        </a:rPr>
                        <a:t> </a:t>
                      </a:r>
                      <a:r>
                        <a:rPr sz="1100" b="0" i="0">
                          <a:solidFill>
                            <a:srgbClr val="0070C0"/>
                          </a:solidFill>
                          <a:latin typeface="Calibri"/>
                        </a:rPr>
                        <a:t>Yamazaki Baking (Yamazaki, Vie de France Yamazaki, Four Leaves)</a:t>
                      </a:r>
                      <a:endParaRPr sz="1100"/>
                    </a:p>
                  </a:txBody>
                  <a:tcPr marL="428625" marR="9525" marT="9525" marB="0" anchor="ctr"/>
                </a:tc>
              </a:tr>
              <a:tr h="175260">
                <a:tc>
                  <a:txBody>
                    <a:bodyPr wrap="square"/>
                    <a:lstStyle/>
                    <a:p>
                      <a:pPr algn="l"/>
                      <a:r>
                        <a:rPr sz="1100" b="0" i="0">
                          <a:solidFill>
                            <a:srgbClr val="0070C0"/>
                          </a:solidFill>
                          <a:latin typeface="Calibri"/>
                        </a:rPr>
                        <a:t>37.12.</a:t>
                      </a:r>
                      <a:r>
                        <a:rPr sz="700" b="0" i="0">
                          <a:solidFill>
                            <a:srgbClr val="0070C0"/>
                          </a:solidFill>
                          <a:latin typeface="Times New Roman"/>
                        </a:rPr>
                        <a:t> </a:t>
                      </a:r>
                      <a:r>
                        <a:rPr sz="1100" b="0" i="0">
                          <a:solidFill>
                            <a:srgbClr val="0070C0"/>
                          </a:solidFill>
                          <a:latin typeface="Calibri"/>
                        </a:rPr>
                        <a:t>Toly Bread (Toly Bread / 桃李面包)</a:t>
                      </a:r>
                      <a:endParaRPr sz="1100"/>
                    </a:p>
                  </a:txBody>
                  <a:tcPr marL="428625" marR="9525" marT="9525" marB="0" anchor="ctr"/>
                </a:tc>
              </a:tr>
              <a:tr h="175260">
                <a:tc>
                  <a:txBody>
                    <a:bodyPr wrap="square"/>
                    <a:lstStyle/>
                    <a:p>
                      <a:pPr algn="l"/>
                      <a:r>
                        <a:rPr sz="1100" b="0" i="0">
                          <a:solidFill>
                            <a:srgbClr val="0070C0"/>
                          </a:solidFill>
                          <a:latin typeface="Calibri"/>
                        </a:rPr>
                        <a:t>37.13.</a:t>
                      </a:r>
                      <a:r>
                        <a:rPr sz="700" b="0" i="0">
                          <a:solidFill>
                            <a:srgbClr val="0070C0"/>
                          </a:solidFill>
                          <a:latin typeface="Times New Roman"/>
                        </a:rPr>
                        <a:t> </a:t>
                      </a:r>
                      <a:r>
                        <a:rPr sz="1100" b="0" i="0">
                          <a:solidFill>
                            <a:srgbClr val="0070C0"/>
                          </a:solidFill>
                          <a:latin typeface="Calibri"/>
                        </a:rPr>
                        <a:t>Almarai (L'usine, Bake Mart)</a:t>
                      </a:r>
                      <a:endParaRPr sz="1100"/>
                    </a:p>
                  </a:txBody>
                  <a:tcPr marL="428625" marR="9525" marT="9525" marB="0" anchor="ctr"/>
                </a:tc>
              </a:tr>
              <a:tr h="175260">
                <a:tc>
                  <a:txBody>
                    <a:bodyPr wrap="square"/>
                    <a:lstStyle/>
                    <a:p>
                      <a:pPr algn="l"/>
                      <a:r>
                        <a:rPr sz="1100" b="0" i="0">
                          <a:solidFill>
                            <a:srgbClr val="0070C0"/>
                          </a:solidFill>
                          <a:latin typeface="Calibri"/>
                        </a:rPr>
                        <a:t>37.14.</a:t>
                      </a:r>
                      <a:r>
                        <a:rPr sz="700" b="0" i="0">
                          <a:solidFill>
                            <a:srgbClr val="0070C0"/>
                          </a:solidFill>
                          <a:latin typeface="Times New Roman"/>
                        </a:rPr>
                        <a:t> </a:t>
                      </a:r>
                      <a:r>
                        <a:rPr sz="1100" b="0" i="0">
                          <a:solidFill>
                            <a:srgbClr val="0070C0"/>
                          </a:solidFill>
                          <a:latin typeface="Calibri"/>
                        </a:rPr>
                        <a:t>United Foods International (United Foods)</a:t>
                      </a:r>
                      <a:endParaRPr sz="1100"/>
                    </a:p>
                  </a:txBody>
                  <a:tcPr marL="428625" marR="9525" marT="9525" marB="0" anchor="ctr"/>
                </a:tc>
              </a:tr>
              <a:tr h="175260">
                <a:tc>
                  <a:txBody>
                    <a:bodyPr wrap="square"/>
                    <a:lstStyle/>
                    <a:p>
                      <a:pPr algn="l"/>
                      <a:r>
                        <a:rPr sz="1100" b="0" i="0">
                          <a:solidFill>
                            <a:srgbClr val="0070C0"/>
                          </a:solidFill>
                          <a:latin typeface="Calibri"/>
                        </a:rPr>
                        <a:t>37.15.</a:t>
                      </a:r>
                      <a:r>
                        <a:rPr sz="700" b="0" i="0">
                          <a:solidFill>
                            <a:srgbClr val="0070C0"/>
                          </a:solidFill>
                          <a:latin typeface="Times New Roman"/>
                        </a:rPr>
                        <a:t> </a:t>
                      </a:r>
                      <a:r>
                        <a:rPr sz="1100" b="0" i="0">
                          <a:solidFill>
                            <a:srgbClr val="0070C0"/>
                          </a:solidFill>
                          <a:latin typeface="Calibri"/>
                        </a:rPr>
                        <a:t>Mimansa Industries / The Baker's Dozen (The Baker's Dozen)</a:t>
                      </a:r>
                      <a:endParaRPr sz="1100"/>
                    </a:p>
                  </a:txBody>
                  <a:tcPr marL="428625" marR="9525" marT="9525" marB="0" anchor="ctr"/>
                </a:tc>
              </a:tr>
              <a:tr h="175260">
                <a:tc>
                  <a:txBody>
                    <a:bodyPr wrap="square"/>
                    <a:lstStyle/>
                    <a:p>
                      <a:pPr algn="l"/>
                      <a:r>
                        <a:rPr sz="1100" b="0" i="0">
                          <a:solidFill>
                            <a:srgbClr val="0070C0"/>
                          </a:solidFill>
                          <a:latin typeface="Calibri"/>
                        </a:rPr>
                        <a:t>37.16.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38.</a:t>
                      </a:r>
                      <a:r>
                        <a:rPr sz="700" b="1" i="0">
                          <a:solidFill>
                            <a:srgbClr val="000000"/>
                          </a:solidFill>
                          <a:latin typeface="Times New Roman"/>
                        </a:rPr>
                        <a:t>    </a:t>
                      </a:r>
                      <a:r>
                        <a:rPr sz="1100" b="1" i="0">
                          <a:solidFill>
                            <a:srgbClr val="000000"/>
                          </a:solidFill>
                          <a:latin typeface="Calibri"/>
                        </a:rPr>
                        <a:t>Innovation Acceptance and White Space Analysis</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(12/12)</a:t>
            </a:r>
          </a:p>
        </p:txBody>
      </p:sp>
      <p:graphicFrame>
        <p:nvGraphicFramePr>
          <p:cNvPr id="9" name="FMI Contents Table"/>
          <p:cNvGraphicFramePr>
            <a:graphicFrameLocks noGrp="1"/>
          </p:cNvGraphicFramePr>
          <p:nvPr/>
        </p:nvGraphicFramePr>
        <p:xfrm>
          <a:off x="142875" y="981075"/>
          <a:ext cx="5876925" cy="280416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38.1.</a:t>
                      </a:r>
                      <a:r>
                        <a:rPr sz="700" b="0" i="0">
                          <a:solidFill>
                            <a:srgbClr val="0070C0"/>
                          </a:solidFill>
                          <a:latin typeface="Times New Roman"/>
                        </a:rPr>
                        <a:t>  </a:t>
                      </a:r>
                      <a:r>
                        <a:rPr sz="1100" b="0" i="0">
                          <a:solidFill>
                            <a:srgbClr val="0070C0"/>
                          </a:solidFill>
                          <a:latin typeface="Calibri"/>
                        </a:rPr>
                        <a:t>Innovation Acceptance by Consumer Segment, Product Format and Usage Occasion</a:t>
                      </a:r>
                      <a:endParaRPr sz="1100"/>
                    </a:p>
                  </a:txBody>
                  <a:tcPr marL="428625" marR="9525" marT="9525" marB="0" anchor="ctr"/>
                </a:tc>
              </a:tr>
              <a:tr h="175260">
                <a:tc>
                  <a:txBody>
                    <a:bodyPr wrap="square"/>
                    <a:lstStyle/>
                    <a:p>
                      <a:pPr algn="l"/>
                      <a:r>
                        <a:rPr sz="1100" b="0" i="0">
                          <a:solidFill>
                            <a:srgbClr val="0070C0"/>
                          </a:solidFill>
                          <a:latin typeface="Calibri"/>
                        </a:rPr>
                        <a:t>38.2.</a:t>
                      </a:r>
                      <a:r>
                        <a:rPr sz="700" b="0" i="0">
                          <a:solidFill>
                            <a:srgbClr val="0070C0"/>
                          </a:solidFill>
                          <a:latin typeface="Times New Roman"/>
                        </a:rPr>
                        <a:t>  </a:t>
                      </a:r>
                      <a:r>
                        <a:rPr sz="1100" b="0" i="0">
                          <a:solidFill>
                            <a:srgbClr val="0070C0"/>
                          </a:solidFill>
                          <a:latin typeface="Calibri"/>
                        </a:rPr>
                        <a:t>Consumer Interest in Novel Flavors, Ingredients and Muffin Formulations</a:t>
                      </a:r>
                      <a:endParaRPr sz="1100"/>
                    </a:p>
                  </a:txBody>
                  <a:tcPr marL="428625" marR="9525" marT="9525" marB="0" anchor="ctr"/>
                </a:tc>
              </a:tr>
              <a:tr h="350520">
                <a:tc>
                  <a:txBody>
                    <a:bodyPr wrap="square"/>
                    <a:lstStyle/>
                    <a:p>
                      <a:pPr algn="l"/>
                      <a:r>
                        <a:rPr sz="1100" b="0" i="0">
                          <a:solidFill>
                            <a:srgbClr val="0070C0"/>
                          </a:solidFill>
                          <a:latin typeface="Calibri"/>
                        </a:rPr>
                        <a:t>38.3.</a:t>
                      </a:r>
                      <a:r>
                        <a:rPr sz="700" b="0" i="0">
                          <a:solidFill>
                            <a:srgbClr val="0070C0"/>
                          </a:solidFill>
                          <a:latin typeface="Times New Roman"/>
                        </a:rPr>
                        <a:t>  </a:t>
                      </a:r>
                      <a:r>
                        <a:rPr sz="1100" b="0" i="0">
                          <a:solidFill>
                            <a:srgbClr val="0070C0"/>
                          </a:solidFill>
                          <a:latin typeface="Calibri"/>
                        </a:rPr>
                        <a:t>Acceptance of Functional Claims, Health-oriented Attributes and Clean-label Positioning</a:t>
                      </a:r>
                      <a:endParaRPr sz="1100"/>
                    </a:p>
                  </a:txBody>
                  <a:tcPr marL="428625" marR="9525" marT="9525" marB="0" anchor="ctr"/>
                </a:tc>
              </a:tr>
              <a:tr h="350520">
                <a:tc>
                  <a:txBody>
                    <a:bodyPr wrap="square"/>
                    <a:lstStyle/>
                    <a:p>
                      <a:pPr algn="l"/>
                      <a:r>
                        <a:rPr sz="1100" b="0" i="0">
                          <a:solidFill>
                            <a:srgbClr val="0070C0"/>
                          </a:solidFill>
                          <a:latin typeface="Calibri"/>
                        </a:rPr>
                        <a:t>38.4.</a:t>
                      </a:r>
                      <a:r>
                        <a:rPr sz="700" b="0" i="0">
                          <a:solidFill>
                            <a:srgbClr val="0070C0"/>
                          </a:solidFill>
                          <a:latin typeface="Times New Roman"/>
                        </a:rPr>
                        <a:t>  </a:t>
                      </a:r>
                      <a:r>
                        <a:rPr sz="1100" b="0" i="0">
                          <a:solidFill>
                            <a:srgbClr val="0070C0"/>
                          </a:solidFill>
                          <a:latin typeface="Calibri"/>
                        </a:rPr>
                        <a:t>Consumer Preference for Innovative Pack Formats, Portion Sizes and Convenience Features</a:t>
                      </a:r>
                      <a:endParaRPr sz="1100"/>
                    </a:p>
                  </a:txBody>
                  <a:tcPr marL="428625" marR="9525" marT="9525" marB="0" anchor="ctr"/>
                </a:tc>
              </a:tr>
              <a:tr h="175260">
                <a:tc>
                  <a:txBody>
                    <a:bodyPr wrap="square"/>
                    <a:lstStyle/>
                    <a:p>
                      <a:pPr algn="l"/>
                      <a:r>
                        <a:rPr sz="1100" b="0" i="0">
                          <a:solidFill>
                            <a:srgbClr val="0070C0"/>
                          </a:solidFill>
                          <a:latin typeface="Calibri"/>
                        </a:rPr>
                        <a:t>38.5.</a:t>
                      </a:r>
                      <a:r>
                        <a:rPr sz="700" b="0" i="0">
                          <a:solidFill>
                            <a:srgbClr val="0070C0"/>
                          </a:solidFill>
                          <a:latin typeface="Times New Roman"/>
                        </a:rPr>
                        <a:t>  </a:t>
                      </a:r>
                      <a:r>
                        <a:rPr sz="1100" b="0" i="0">
                          <a:solidFill>
                            <a:srgbClr val="0070C0"/>
                          </a:solidFill>
                          <a:latin typeface="Calibri"/>
                        </a:rPr>
                        <a:t>Purchase Intent for Premium, Indulgent and Better-for-you Muffin Concepts</a:t>
                      </a:r>
                      <a:endParaRPr sz="1100"/>
                    </a:p>
                  </a:txBody>
                  <a:tcPr marL="428625" marR="9525" marT="9525" marB="0" anchor="ctr"/>
                </a:tc>
              </a:tr>
              <a:tr h="175260">
                <a:tc>
                  <a:txBody>
                    <a:bodyPr wrap="square"/>
                    <a:lstStyle/>
                    <a:p>
                      <a:pPr algn="l"/>
                      <a:r>
                        <a:rPr sz="1100" b="0" i="0">
                          <a:solidFill>
                            <a:srgbClr val="0070C0"/>
                          </a:solidFill>
                          <a:latin typeface="Calibri"/>
                        </a:rPr>
                        <a:t>38.6.</a:t>
                      </a:r>
                      <a:r>
                        <a:rPr sz="700" b="0" i="0">
                          <a:solidFill>
                            <a:srgbClr val="0070C0"/>
                          </a:solidFill>
                          <a:latin typeface="Times New Roman"/>
                        </a:rPr>
                        <a:t>  </a:t>
                      </a:r>
                      <a:r>
                        <a:rPr sz="1100" b="0" i="0">
                          <a:solidFill>
                            <a:srgbClr val="0070C0"/>
                          </a:solidFill>
                          <a:latin typeface="Calibri"/>
                        </a:rPr>
                        <a:t>Innovation Acceptance by Price Point, Affordability Band and Premiumization Level</a:t>
                      </a:r>
                      <a:endParaRPr sz="1100"/>
                    </a:p>
                  </a:txBody>
                  <a:tcPr marL="428625" marR="9525" marT="9525" marB="0" anchor="ctr"/>
                </a:tc>
              </a:tr>
              <a:tr h="175260">
                <a:tc>
                  <a:txBody>
                    <a:bodyPr wrap="square"/>
                    <a:lstStyle/>
                    <a:p>
                      <a:pPr algn="l"/>
                      <a:r>
                        <a:rPr sz="1100" b="0" i="0">
                          <a:solidFill>
                            <a:srgbClr val="0070C0"/>
                          </a:solidFill>
                          <a:latin typeface="Calibri"/>
                        </a:rPr>
                        <a:t>38.7.</a:t>
                      </a:r>
                      <a:r>
                        <a:rPr sz="700" b="0" i="0">
                          <a:solidFill>
                            <a:srgbClr val="0070C0"/>
                          </a:solidFill>
                          <a:latin typeface="Times New Roman"/>
                        </a:rPr>
                        <a:t>  </a:t>
                      </a:r>
                      <a:r>
                        <a:rPr sz="1100" b="0" i="0">
                          <a:solidFill>
                            <a:srgbClr val="0070C0"/>
                          </a:solidFill>
                          <a:latin typeface="Calibri"/>
                        </a:rPr>
                        <a:t>Unmet Consumer Needs by Flavor, Texture, Ingredient and Product Attribute</a:t>
                      </a:r>
                      <a:endParaRPr sz="1100"/>
                    </a:p>
                  </a:txBody>
                  <a:tcPr marL="428625" marR="9525" marT="9525" marB="0" anchor="ctr"/>
                </a:tc>
              </a:tr>
              <a:tr h="350520">
                <a:tc>
                  <a:txBody>
                    <a:bodyPr wrap="square"/>
                    <a:lstStyle/>
                    <a:p>
                      <a:pPr algn="l"/>
                      <a:r>
                        <a:rPr sz="1100" b="0" i="0">
                          <a:solidFill>
                            <a:srgbClr val="0070C0"/>
                          </a:solidFill>
                          <a:latin typeface="Calibri"/>
                        </a:rPr>
                        <a:t>38.8.</a:t>
                      </a:r>
                      <a:r>
                        <a:rPr sz="700" b="0" i="0">
                          <a:solidFill>
                            <a:srgbClr val="0070C0"/>
                          </a:solidFill>
                          <a:latin typeface="Times New Roman"/>
                        </a:rPr>
                        <a:t>  </a:t>
                      </a:r>
                      <a:r>
                        <a:rPr sz="1100" b="0" i="0">
                          <a:solidFill>
                            <a:srgbClr val="0070C0"/>
                          </a:solidFill>
                          <a:latin typeface="Calibri"/>
                        </a:rPr>
                        <a:t>Market White Space by Consumer Need-State, Product Attribute and Competitive Assortment</a:t>
                      </a:r>
                      <a:endParaRPr sz="1100"/>
                    </a:p>
                  </a:txBody>
                  <a:tcPr marL="428625" marR="9525" marT="9525" marB="0" anchor="ctr"/>
                </a:tc>
              </a:tr>
              <a:tr h="175260">
                <a:tc>
                  <a:txBody>
                    <a:bodyPr wrap="square"/>
                    <a:lstStyle/>
                    <a:p>
                      <a:pPr algn="l"/>
                      <a:r>
                        <a:rPr sz="1100" b="0" i="0">
                          <a:solidFill>
                            <a:srgbClr val="0070C0"/>
                          </a:solidFill>
                          <a:latin typeface="Calibri"/>
                        </a:rPr>
                        <a:t>38.9.</a:t>
                      </a:r>
                      <a:r>
                        <a:rPr sz="700" b="0" i="0">
                          <a:solidFill>
                            <a:srgbClr val="0070C0"/>
                          </a:solidFill>
                          <a:latin typeface="Times New Roman"/>
                        </a:rPr>
                        <a:t>  </a:t>
                      </a:r>
                      <a:r>
                        <a:rPr sz="1100" b="0" i="0">
                          <a:solidFill>
                            <a:srgbClr val="0070C0"/>
                          </a:solidFill>
                          <a:latin typeface="Calibri"/>
                        </a:rPr>
                        <a:t>Launch Opportunity by Target Consumer Segment, Channel and Geographic Market</a:t>
                      </a:r>
                      <a:endParaRPr sz="1100"/>
                    </a:p>
                  </a:txBody>
                  <a:tcPr marL="428625" marR="9525" marT="9525" marB="0" anchor="ctr"/>
                </a:tc>
              </a:tr>
              <a:tr h="350520">
                <a:tc>
                  <a:txBody>
                    <a:bodyPr wrap="square"/>
                    <a:lstStyle/>
                    <a:p>
                      <a:pPr algn="l"/>
                      <a:r>
                        <a:rPr sz="1100" b="0" i="0">
                          <a:solidFill>
                            <a:srgbClr val="0070C0"/>
                          </a:solidFill>
                          <a:latin typeface="Calibri"/>
                        </a:rPr>
                        <a:t>38.10.</a:t>
                      </a:r>
                      <a:r>
                        <a:rPr sz="700" b="0" i="0">
                          <a:solidFill>
                            <a:srgbClr val="0070C0"/>
                          </a:solidFill>
                          <a:latin typeface="Times New Roman"/>
                        </a:rPr>
                        <a:t> </a:t>
                      </a:r>
                      <a:r>
                        <a:rPr sz="1100" b="0" i="0">
                          <a:solidFill>
                            <a:srgbClr val="0070C0"/>
                          </a:solidFill>
                          <a:latin typeface="Calibri"/>
                        </a:rPr>
                        <a:t>Innovation Opportunity by Product Concept, Price Positioning and Consumer Purchase Intent</a:t>
                      </a:r>
                      <a:endParaRPr sz="1100"/>
                    </a:p>
                  </a:txBody>
                  <a:tcPr marL="428625" marR="9525" marT="9525" marB="0" anchor="ctr"/>
                </a:tc>
              </a:tr>
              <a:tr h="175260">
                <a:tc>
                  <a:txBody>
                    <a:bodyPr wrap="square"/>
                    <a:lstStyle/>
                    <a:p>
                      <a:pPr algn="l"/>
                      <a:r>
                        <a:rPr sz="1100" b="1" i="0">
                          <a:solidFill>
                            <a:srgbClr val="000000"/>
                          </a:solidFill>
                          <a:latin typeface="Calibri"/>
                        </a:rPr>
                        <a:t>39.</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40.</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Flavour,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Primary Flour Base,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Dietary Formulation,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Nutritional Positioning,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10: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11: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Recipe and Ingredient Claims,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Product Structure,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Surface Finish,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Individual Muffin Size,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Value by Storage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Value by Shelf Life, US$ Mn, 2021–2036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Value by Packaging Format, US$ Mn, 2021–2036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Value by Pack Configuration,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Value by Multipack Wrapping, US$ Mn, 2021–2036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Value by Price Positioning, US$ Mn, 2021–2036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Value by Brand Ownership, US$ Mn, 2021–2036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Share by Flavour, %, 2026 and 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Share by Primary Flour Base, %, 2026 and 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Share by Dietary Formulation, %, 2026 and 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Share by Nutritional Positioning, %, 2026 and 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Share by Recipe and Ingredient Claims, %, 2026 and 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Share by Product Structure, %, 2026 and 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Share by Surface Finish, %, 2026 and 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Share by Individual Muffin Size, %, 2026 and 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Share by Storage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Share by Shelf Life, %, 2026 and 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Share by Packaging Format, %, 2026 and 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Share by Pack Configuration, %, 2026 and 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Share by Multipack Wrapping, %, 2026 and 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Share by Price Positioning, %, 2026 and 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Share by Brand Ownership, %, 2026 and 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Share by Sales Channel, %, 2026 and 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Absolute $ Opportunity by Flavour, US$ Mn,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Absolute $ Opportunity by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Absolute $ Opportunity by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Absolute $ Opportunity by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Absolute $ Opportunity by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Absolute $ Opportunity by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Absolute $ Opportunity by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Absolute $ Opportunity by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Absolute $ Opportunity by Storage Format,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Absolute $ Opportunity by Shelf Life, US$ Mn, 2026–2036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Absolute $ Opportunity by Packaging Format, US$ Mn, 2026–2036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Absolute $ Opportunity by Pack Configuration, US$ Mn, 2026–2036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Absolute $ Opportunity by Multipack Wrapping, US$ Mn, 2026–2036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Absolute $ Opportunity by Price Positioning, US$ Mn, 2026–2036</a:t>
                      </a:r>
                      <a:endParaRPr sz="1050"/>
                    </a:p>
                  </a:txBody>
                  <a:tcPr marL="9525" marR="9525" marT="9525" marB="0" anchor="ctr"/>
                </a:tc>
              </a:tr>
              <a:tr h="169606">
                <a:tc>
                  <a:txBody>
                    <a:bodyPr wrap="square"/>
                    <a:lstStyle/>
                    <a:p>
                      <a:pPr algn="l"/>
                      <a:r>
                        <a:rPr sz="1050" b="0" i="0">
                          <a:solidFill>
                            <a:srgbClr val="000000"/>
                          </a:solidFill>
                          <a:latin typeface="Calibri"/>
                        </a:rPr>
                        <a:t>Figure 68: Global Market Absolute $ Opportunity by Brand Ownership, US$ Mn, 2026–2036</a:t>
                      </a:r>
                      <a:endParaRPr sz="1050"/>
                    </a:p>
                  </a:txBody>
                  <a:tcPr marL="9525" marR="9525" marT="9525" marB="0" anchor="ctr"/>
                </a:tc>
              </a:tr>
              <a:tr h="169606">
                <a:tc>
                  <a:txBody>
                    <a:bodyPr wrap="square"/>
                    <a:lstStyle/>
                    <a:p>
                      <a:pPr algn="l"/>
                      <a:r>
                        <a:rPr sz="1050" b="0" i="0">
                          <a:solidFill>
                            <a:srgbClr val="000000"/>
                          </a:solidFill>
                          <a:latin typeface="Calibri"/>
                        </a:rPr>
                        <a:t>Figure 69: Global Market Absolute $ Opportunity by Sales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70: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71: Global Market BPS Share Change by Flavour, 2026–2036</a:t>
                      </a:r>
                      <a:endParaRPr sz="1050"/>
                    </a:p>
                  </a:txBody>
                  <a:tcPr marL="9525" marR="9525" marT="9525" marB="0" anchor="ctr"/>
                </a:tc>
              </a:tr>
              <a:tr h="169606">
                <a:tc>
                  <a:txBody>
                    <a:bodyPr wrap="square"/>
                    <a:lstStyle/>
                    <a:p>
                      <a:pPr algn="l"/>
                      <a:r>
                        <a:rPr sz="1050" b="0" i="0">
                          <a:solidFill>
                            <a:srgbClr val="000000"/>
                          </a:solidFill>
                          <a:latin typeface="Calibri"/>
                        </a:rPr>
                        <a:t>Figure 72: Global Market BPS Share Change by Primary Flour Base, 2026–2036</a:t>
                      </a:r>
                      <a:endParaRPr sz="1050"/>
                    </a:p>
                  </a:txBody>
                  <a:tcPr marL="9525" marR="9525" marT="9525" marB="0" anchor="ctr"/>
                </a:tc>
              </a:tr>
              <a:tr h="169606">
                <a:tc>
                  <a:txBody>
                    <a:bodyPr wrap="square"/>
                    <a:lstStyle/>
                    <a:p>
                      <a:pPr algn="l"/>
                      <a:r>
                        <a:rPr sz="1050" b="0" i="0">
                          <a:solidFill>
                            <a:srgbClr val="000000"/>
                          </a:solidFill>
                          <a:latin typeface="Calibri"/>
                        </a:rPr>
                        <a:t>Figure 73: Global Market BPS Share Change by Dietary Formulation, 2026–2036</a:t>
                      </a:r>
                      <a:endParaRPr sz="1050"/>
                    </a:p>
                  </a:txBody>
                  <a:tcPr marL="9525" marR="9525" marT="9525" marB="0" anchor="ctr"/>
                </a:tc>
              </a:tr>
              <a:tr h="169606">
                <a:tc>
                  <a:txBody>
                    <a:bodyPr wrap="square"/>
                    <a:lstStyle/>
                    <a:p>
                      <a:pPr algn="l"/>
                      <a:r>
                        <a:rPr sz="1050" b="0" i="0">
                          <a:solidFill>
                            <a:srgbClr val="000000"/>
                          </a:solidFill>
                          <a:latin typeface="Calibri"/>
                        </a:rPr>
                        <a:t>Figure 74: Global Market BPS Share Change by Nutritional Positioning, 2026–2036</a:t>
                      </a:r>
                      <a:endParaRPr sz="1050"/>
                    </a:p>
                  </a:txBody>
                  <a:tcPr marL="9525" marR="9525" marT="9525" marB="0" anchor="ctr"/>
                </a:tc>
              </a:tr>
              <a:tr h="169606">
                <a:tc>
                  <a:txBody>
                    <a:bodyPr wrap="square"/>
                    <a:lstStyle/>
                    <a:p>
                      <a:pPr algn="l"/>
                      <a:r>
                        <a:rPr sz="1050" b="0" i="0">
                          <a:solidFill>
                            <a:srgbClr val="000000"/>
                          </a:solidFill>
                          <a:latin typeface="Calibri"/>
                        </a:rPr>
                        <a:t>Figure 75: Global Market BPS Share Change by Recipe and Ingredient Claims, 2026–2036</a:t>
                      </a:r>
                      <a:endParaRPr sz="1050"/>
                    </a:p>
                  </a:txBody>
                  <a:tcPr marL="9525" marR="9525" marT="9525" marB="0" anchor="ctr"/>
                </a:tc>
              </a:tr>
              <a:tr h="169606">
                <a:tc>
                  <a:txBody>
                    <a:bodyPr wrap="square"/>
                    <a:lstStyle/>
                    <a:p>
                      <a:pPr algn="l"/>
                      <a:r>
                        <a:rPr sz="1050" b="0" i="0">
                          <a:solidFill>
                            <a:srgbClr val="000000"/>
                          </a:solidFill>
                          <a:latin typeface="Calibri"/>
                        </a:rPr>
                        <a:t>Figure 76: Product Type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Product Type × Primary Flour Base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Product Type × Dietary Formulation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Product Type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Product Type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Product Type × Product Structure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Product Type × Surface Finish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Product Type × Individual Muffin Size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Product Type × Storage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Product Type × Shelf Life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Product Type × Packaging Format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Product Type × Pack Configuration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Product Type × Multipack Wrapping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Product Type × Price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90: Product Type × Brand Ownership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91: Product Type × Sales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92: Flavour × Primary Flour Base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93: Flavour × Dietary Formulation Opportunity Matrix,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Flavour × Nutritional Positioning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95: Flavour × Recipe and Ingredient Claims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96: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97: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98: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99: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100: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101: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102: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103: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104: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105: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106: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107: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108: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109: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110: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111: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112: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113: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114: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116: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121: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U.S. Market Share within North America, %,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U.S.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U.S.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U.S.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U.S.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130: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Germany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133: Germany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Germany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Germany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Germany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138: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Canada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141: Canada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Canada Market Value by Primary Flour Base,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143: Canada Market Value by Dietary Formulation,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Canada Market Value by Nutritional Positioning,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145: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146: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147: China Market Value by Sales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151: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152: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153: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Trend, US$/MT, 2021–2036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Region, US$/MT,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5"/>
        </p:xfrm>
        <a:graphic>
          <a:graphicData uri="http://schemas.openxmlformats.org/drawingml/2006/table">
            <a:tbl>
              <a:tblPr>
                <a:tableStyleId>{3B4B98B0-60AC-42C2-AFA5-B58CD77FA1E5}</a:tableStyleId>
              </a:tblPr>
              <a:tblGrid>
                <a:gridCol w="5876925"/>
              </a:tblGrid>
              <a:tr h="176436">
                <a:tc>
                  <a:txBody>
                    <a:bodyPr wrap="square"/>
                    <a:lstStyle/>
                    <a:p>
                      <a:pPr algn="l"/>
                      <a:r>
                        <a:rPr sz="1050" b="0" i="0">
                          <a:solidFill>
                            <a:srgbClr val="000000"/>
                          </a:solidFill>
                          <a:latin typeface="Calibri"/>
                        </a:rPr>
                        <a:t>Figure 156: Global Market Average Selling Price by Product Type, US$/MT, 2026 and 2036</a:t>
                      </a:r>
                      <a:endParaRPr sz="1050"/>
                    </a:p>
                  </a:txBody>
                  <a:tcPr marL="9525" marR="9525" marT="9525" marB="0" anchor="ctr"/>
                </a:tc>
              </a:tr>
              <a:tr h="176436">
                <a:tc>
                  <a:txBody>
                    <a:bodyPr wrap="square"/>
                    <a:lstStyle/>
                    <a:p>
                      <a:pPr algn="l"/>
                      <a:r>
                        <a:rPr sz="1050" b="0" i="0">
                          <a:solidFill>
                            <a:srgbClr val="000000"/>
                          </a:solidFill>
                          <a:latin typeface="Calibri"/>
                        </a:rPr>
                        <a:t>Figure 157: Global Market Average Selling Price by Flavour, US$/MT, 2026 and 2036</a:t>
                      </a:r>
                      <a:endParaRPr sz="1050"/>
                    </a:p>
                  </a:txBody>
                  <a:tcPr marL="9525" marR="9525" marT="9525" marB="0" anchor="ctr"/>
                </a:tc>
              </a:tr>
              <a:tr h="176436">
                <a:tc>
                  <a:txBody>
                    <a:bodyPr wrap="square"/>
                    <a:lstStyle/>
                    <a:p>
                      <a:pPr algn="l"/>
                      <a:r>
                        <a:rPr sz="1050" b="0" i="0">
                          <a:solidFill>
                            <a:srgbClr val="000000"/>
                          </a:solidFill>
                          <a:latin typeface="Calibri"/>
                        </a:rPr>
                        <a:t>Figure 158: Global Market Average Selling Price by Primary Flour Base, US$/MT, 2026 and 2036</a:t>
                      </a:r>
                      <a:endParaRPr sz="1050"/>
                    </a:p>
                  </a:txBody>
                  <a:tcPr marL="9525" marR="9525" marT="9525" marB="0" anchor="ctr"/>
                </a:tc>
              </a:tr>
              <a:tr h="176436">
                <a:tc>
                  <a:txBody>
                    <a:bodyPr wrap="square"/>
                    <a:lstStyle/>
                    <a:p>
                      <a:pPr algn="l"/>
                      <a:r>
                        <a:rPr sz="1050" b="0" i="0">
                          <a:solidFill>
                            <a:srgbClr val="000000"/>
                          </a:solidFill>
                          <a:latin typeface="Calibri"/>
                        </a:rPr>
                        <a:t>Figure 159: Global Market Average Selling Price by Dietary Formulation,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160: Global Market Average Selling Price by Nutritional Positioning, US$/MT, 2026 and 2036</a:t>
                      </a:r>
                      <a:endParaRPr sz="1050"/>
                    </a:p>
                  </a:txBody>
                  <a:tcPr marL="9525" marR="9525" marT="9525" marB="0" anchor="ctr"/>
                </a:tc>
              </a:tr>
              <a:tr h="345815">
                <a:tc>
                  <a:txBody>
                    <a:bodyPr wrap="square"/>
                    <a:lstStyle/>
                    <a:p>
                      <a:pPr algn="l"/>
                      <a:r>
                        <a:rPr sz="1050" b="0" i="0">
                          <a:solidFill>
                            <a:srgbClr val="000000"/>
                          </a:solidFill>
                          <a:latin typeface="Calibri"/>
                        </a:rPr>
                        <a:t>Figure 161: Global Market Average Selling Price by Recipe and Ingredient Claims,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162: Global Market Average Selling Price by Product Structure,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163: Global Market Average Selling Price by Surface Finish,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164: Global Market Average Selling Price by Individual Muffin Size,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165: Global Market Average Selling Price by Storage Format, US$/MT, 2026 and 2036</a:t>
                      </a:r>
                      <a:endParaRPr sz="1050"/>
                    </a:p>
                  </a:txBody>
                  <a:tcPr marL="9525" marR="9525" marT="9525" marB="0" anchor="ctr"/>
                </a:tc>
              </a:tr>
              <a:tr h="176436">
                <a:tc>
                  <a:txBody>
                    <a:bodyPr wrap="square"/>
                    <a:lstStyle/>
                    <a:p>
                      <a:pPr algn="l"/>
                      <a:r>
                        <a:rPr sz="1050" b="0" i="0">
                          <a:solidFill>
                            <a:srgbClr val="000000"/>
                          </a:solidFill>
                          <a:latin typeface="Calibri"/>
                        </a:rPr>
                        <a:t>Figure 166: Company Market Share in the Global Market, %, 2026</a:t>
                      </a:r>
                      <a:endParaRPr sz="1050"/>
                    </a:p>
                  </a:txBody>
                  <a:tcPr marL="9525" marR="9525" marT="9525" marB="0" anchor="ctr"/>
                </a:tc>
              </a:tr>
              <a:tr h="176436">
                <a:tc>
                  <a:txBody>
                    <a:bodyPr wrap="square"/>
                    <a:lstStyle/>
                    <a:p>
                      <a:pPr algn="l"/>
                      <a:r>
                        <a:rPr sz="1050" b="0" i="0">
                          <a:solidFill>
                            <a:srgbClr val="000000"/>
                          </a:solidFill>
                          <a:latin typeface="Calibri"/>
                        </a:rPr>
                        <a:t>Figure 167: Competitive Positioning of Leading Packaged Muffins Manufacturers, 2026</a:t>
                      </a:r>
                      <a:endParaRPr sz="1050"/>
                    </a:p>
                  </a:txBody>
                  <a:tcPr marL="9525" marR="9525" marT="9525" marB="0" anchor="ctr"/>
                </a:tc>
              </a:tr>
              <a:tr h="176436">
                <a:tc>
                  <a:txBody>
                    <a:bodyPr wrap="square"/>
                    <a:lstStyle/>
                    <a:p>
                      <a:pPr algn="l"/>
                      <a:r>
                        <a:rPr sz="1050" b="0" i="0">
                          <a:solidFill>
                            <a:srgbClr val="000000"/>
                          </a:solidFill>
                          <a:latin typeface="Calibri"/>
                        </a:rPr>
                        <a:t>Figure 168: Company Revenue from the Global Market, US$ Mn, 2026</a:t>
                      </a:r>
                      <a:endParaRPr sz="1050"/>
                    </a:p>
                  </a:txBody>
                  <a:tcPr marL="9525" marR="9525" marT="9525" marB="0" anchor="ctr"/>
                </a:tc>
              </a:tr>
              <a:tr h="176436">
                <a:tc>
                  <a:txBody>
                    <a:bodyPr wrap="square"/>
                    <a:lstStyle/>
                    <a:p>
                      <a:pPr algn="l"/>
                      <a:r>
                        <a:rPr sz="1050" b="0" i="0">
                          <a:solidFill>
                            <a:srgbClr val="000000"/>
                          </a:solidFill>
                          <a:latin typeface="Calibri"/>
                        </a:rPr>
                        <a:t>Figure 169: Global Market Concentration by Company Tier, %, 2026</a:t>
                      </a:r>
                      <a:endParaRPr sz="1050"/>
                    </a:p>
                  </a:txBody>
                  <a:tcPr marL="9525" marR="9525" marT="9525" marB="0" anchor="ctr"/>
                </a:tc>
              </a:tr>
              <a:tr h="176436">
                <a:tc>
                  <a:txBody>
                    <a:bodyPr wrap="square"/>
                    <a:lstStyle/>
                    <a:p>
                      <a:pPr algn="l"/>
                      <a:r>
                        <a:rPr sz="1050" b="0" i="0">
                          <a:solidFill>
                            <a:srgbClr val="000000"/>
                          </a:solidFill>
                          <a:latin typeface="Calibri"/>
                        </a:rPr>
                        <a:t>Figure 170: Global Market Competitive Intensity Assessment, 2026</a:t>
                      </a:r>
                      <a:endParaRPr sz="1050"/>
                    </a:p>
                  </a:txBody>
                  <a:tcPr marL="9525" marR="9525" marT="9525" marB="0" anchor="ctr"/>
                </a:tc>
              </a:tr>
              <a:tr h="176436">
                <a:tc>
                  <a:txBody>
                    <a:bodyPr wrap="square"/>
                    <a:lstStyle/>
                    <a:p>
                      <a:pPr algn="l"/>
                      <a:r>
                        <a:rPr sz="1050" b="0" i="0">
                          <a:solidFill>
                            <a:srgbClr val="000000"/>
                          </a:solidFill>
                          <a:latin typeface="Calibri"/>
                        </a:rPr>
                        <a:t>Figure 171: Company Market Share in the North America Market, %, 2026</a:t>
                      </a:r>
                      <a:endParaRPr sz="1050"/>
                    </a:p>
                  </a:txBody>
                  <a:tcPr marL="9525" marR="9525" marT="9525" marB="0" anchor="ctr"/>
                </a:tc>
              </a:tr>
              <a:tr h="176436">
                <a:tc>
                  <a:txBody>
                    <a:bodyPr wrap="square"/>
                    <a:lstStyle/>
                    <a:p>
                      <a:pPr algn="l"/>
                      <a:r>
                        <a:rPr sz="1050" b="0" i="0">
                          <a:solidFill>
                            <a:srgbClr val="000000"/>
                          </a:solidFill>
                          <a:latin typeface="Calibri"/>
                        </a:rPr>
                        <a:t>Figure 172: Company Market Share in the Latin America Market, %, 2026</a:t>
                      </a:r>
                      <a:endParaRPr sz="1050"/>
                    </a:p>
                  </a:txBody>
                  <a:tcPr marL="9525" marR="9525" marT="9525" marB="0" anchor="ctr"/>
                </a:tc>
              </a:tr>
              <a:tr h="176436">
                <a:tc>
                  <a:txBody>
                    <a:bodyPr wrap="square"/>
                    <a:lstStyle/>
                    <a:p>
                      <a:pPr algn="l"/>
                      <a:r>
                        <a:rPr sz="1050" b="0" i="0">
                          <a:solidFill>
                            <a:srgbClr val="000000"/>
                          </a:solidFill>
                          <a:latin typeface="Calibri"/>
                        </a:rPr>
                        <a:t>Figure 173: Company Market Share in the Europe Market, %, 2026</a:t>
                      </a:r>
                      <a:endParaRPr sz="1050"/>
                    </a:p>
                  </a:txBody>
                  <a:tcPr marL="9525" marR="9525" marT="9525" marB="0" anchor="ctr"/>
                </a:tc>
              </a:tr>
              <a:tr h="176436">
                <a:tc>
                  <a:txBody>
                    <a:bodyPr wrap="square"/>
                    <a:lstStyle/>
                    <a:p>
                      <a:pPr algn="l"/>
                      <a:r>
                        <a:rPr sz="1050" b="0" i="0">
                          <a:solidFill>
                            <a:srgbClr val="000000"/>
                          </a:solidFill>
                          <a:latin typeface="Calibri"/>
                        </a:rPr>
                        <a:t>Figure 174: Company Market Share in the East Asia Market, %, 2026</a:t>
                      </a:r>
                      <a:endParaRPr sz="1050"/>
                    </a:p>
                  </a:txBody>
                  <a:tcPr marL="9525" marR="9525" marT="9525" marB="0" anchor="ctr"/>
                </a:tc>
              </a:tr>
              <a:tr h="176436">
                <a:tc>
                  <a:txBody>
                    <a:bodyPr wrap="square"/>
                    <a:lstStyle/>
                    <a:p>
                      <a:pPr algn="l"/>
                      <a:r>
                        <a:rPr sz="1050" b="0" i="0">
                          <a:solidFill>
                            <a:srgbClr val="000000"/>
                          </a:solidFill>
                          <a:latin typeface="Calibri"/>
                        </a:rPr>
                        <a:t>Figure 175: Company Market Share in the South Asia &amp; Pacific Market, %, 2026</a:t>
                      </a:r>
                      <a:endParaRPr sz="1050"/>
                    </a:p>
                  </a:txBody>
                  <a:tcPr marL="9525" marR="9525" marT="9525" marB="0" anchor="ctr"/>
                </a:tc>
              </a:tr>
              <a:tr h="176436">
                <a:tc>
                  <a:txBody>
                    <a:bodyPr wrap="square"/>
                    <a:lstStyle/>
                    <a:p>
                      <a:pPr algn="l"/>
                      <a:r>
                        <a:rPr sz="1050" b="0" i="0">
                          <a:solidFill>
                            <a:srgbClr val="000000"/>
                          </a:solidFill>
                          <a:latin typeface="Calibri"/>
                        </a:rPr>
                        <a:t>Figure 176: Company Market Share in the Middle East &amp; Africa Market, %, 2026</a:t>
                      </a:r>
                      <a:endParaRPr sz="1050"/>
                    </a:p>
                  </a:txBody>
                  <a:tcPr marL="9525" marR="9525" marT="9525" marB="0" anchor="ctr"/>
                </a:tc>
              </a:tr>
              <a:tr h="345815">
                <a:tc>
                  <a:txBody>
                    <a:bodyPr wrap="square"/>
                    <a:lstStyle/>
                    <a:p>
                      <a:pPr algn="l"/>
                      <a:r>
                        <a:rPr sz="1050" b="0" i="0">
                          <a:solidFill>
                            <a:srgbClr val="000000"/>
                          </a:solidFill>
                          <a:latin typeface="Calibri"/>
                        </a:rPr>
                        <a:t>Figure 177: Grupo Bimbo (Bimbo, Marinela, Little Bites, Thomas'): Revenue from the Global Market and Share, US$ Mn and %, 2026</a:t>
                      </a:r>
                      <a:endParaRPr sz="1050"/>
                    </a:p>
                  </a:txBody>
                  <a:tcPr marL="9525" marR="9525" marT="9525" marB="0" anchor="ctr"/>
                </a:tc>
              </a:tr>
              <a:tr h="345815">
                <a:tc>
                  <a:txBody>
                    <a:bodyPr wrap="square"/>
                    <a:lstStyle/>
                    <a:p>
                      <a:pPr algn="l"/>
                      <a:r>
                        <a:rPr sz="1050" b="0" i="0">
                          <a:solidFill>
                            <a:srgbClr val="000000"/>
                          </a:solidFill>
                          <a:latin typeface="Calibri"/>
                        </a:rPr>
                        <a:t>Figure 178: McKee Foods Corporation (Little Debbie, Sunbelt Bakery, Drake's, Fieldstone Bakery): Revenue from the Global Market and Share, US$ Mn and %, 2026</a:t>
                      </a:r>
                      <a:endParaRPr sz="1050"/>
                    </a:p>
                  </a:txBody>
                  <a:tcPr marL="9525" marR="9525" marT="9525" marB="0" anchor="ctr"/>
                </a:tc>
              </a:tr>
              <a:tr h="345815">
                <a:tc>
                  <a:txBody>
                    <a:bodyPr wrap="square"/>
                    <a:lstStyle/>
                    <a:p>
                      <a:pPr algn="l"/>
                      <a:r>
                        <a:rPr sz="1050" b="0" i="0">
                          <a:solidFill>
                            <a:srgbClr val="000000"/>
                          </a:solidFill>
                          <a:latin typeface="Calibri"/>
                        </a:rPr>
                        <a:t>Figure 179: Hostess Brands (Hostess): Revenue from the Global Market and Share, US$ Mn and %, 2026</a:t>
                      </a:r>
                      <a:endParaRPr sz="1050"/>
                    </a:p>
                  </a:txBody>
                  <a:tcPr marL="9525" marR="9525" marT="9525" marB="0" anchor="ctr"/>
                </a:tc>
              </a:tr>
              <a:tr h="345815">
                <a:tc>
                  <a:txBody>
                    <a:bodyPr wrap="square"/>
                    <a:lstStyle/>
                    <a:p>
                      <a:pPr algn="l"/>
                      <a:r>
                        <a:rPr sz="1050" b="0" i="0">
                          <a:solidFill>
                            <a:srgbClr val="000000"/>
                          </a:solidFill>
                          <a:latin typeface="Calibri"/>
                        </a:rPr>
                        <a:t>Figure 180: Rich Products Corporation (Rich's): Revenue from the Global Market and Share, US$ Mn and %,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3973840"/>
        </p:xfrm>
        <a:graphic>
          <a:graphicData uri="http://schemas.openxmlformats.org/drawingml/2006/table">
            <a:tbl>
              <a:tblPr>
                <a:tableStyleId>{3B4B98B0-60AC-42C2-AFA5-B58CD77FA1E5}</a:tableStyleId>
              </a:tblPr>
              <a:tblGrid>
                <a:gridCol w="5876925"/>
              </a:tblGrid>
              <a:tr h="326708">
                <a:tc>
                  <a:txBody>
                    <a:bodyPr wrap="square"/>
                    <a:lstStyle/>
                    <a:p>
                      <a:pPr algn="l"/>
                      <a:r>
                        <a:rPr sz="1050" b="0" i="0">
                          <a:solidFill>
                            <a:srgbClr val="000000"/>
                          </a:solidFill>
                          <a:latin typeface="Calibri"/>
                        </a:rPr>
                        <a:t>Figure 181: ARYZTA / Aspire Bakeries (Otis Spunkmeyer, Cuisine de France, Hiestand, Delice de France): Revenue from the Global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182: Europastry (Europastry, Dots): Revenue from the Global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183: Bridor (Bridor, Evasions): Revenue from the Global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184: Lantmännen Unibake (Schulstad, Hatting, Vaasan, Pastridor, Euro-Bake): Revenue from the Global Market and Share, US$ Mn and %, 2026</a:t>
                      </a:r>
                      <a:endParaRPr sz="1050"/>
                    </a:p>
                  </a:txBody>
                  <a:tcPr marL="9525" marR="9525" marT="9525" marB="0" anchor="ctr"/>
                </a:tc>
              </a:tr>
              <a:tr h="326708">
                <a:tc>
                  <a:txBody>
                    <a:bodyPr wrap="square"/>
                    <a:lstStyle/>
                    <a:p>
                      <a:pPr algn="l"/>
                      <a:r>
                        <a:rPr sz="1050" b="0" i="0">
                          <a:solidFill>
                            <a:srgbClr val="000000"/>
                          </a:solidFill>
                          <a:latin typeface="Calibri"/>
                        </a:rPr>
                        <a:t>Figure 185: Flowers Foods (Tastykake, Nature's Own, Wonder, Dave's Killer Bread, Canyon Bakehouse): Revenue from the Global Market and Share, US$ Mn and %, 2026</a:t>
                      </a:r>
                      <a:endParaRPr sz="1050"/>
                    </a:p>
                  </a:txBody>
                  <a:tcPr marL="9525" marR="9525" marT="9525" marB="0" anchor="ctr"/>
                </a:tc>
              </a:tr>
              <a:tr h="166688">
                <a:tc>
                  <a:txBody>
                    <a:bodyPr wrap="square"/>
                    <a:lstStyle/>
                    <a:p>
                      <a:pPr algn="l"/>
                      <a:r>
                        <a:rPr sz="1050" b="0" i="0">
                          <a:solidFill>
                            <a:srgbClr val="000000"/>
                          </a:solidFill>
                          <a:latin typeface="Calibri"/>
                        </a:rPr>
                        <a:t>Figure 186: Global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187: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69606">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69606">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69606">
                <a:tc>
                  <a:txBody>
                    <a:bodyPr wrap="square"/>
                    <a:lstStyle/>
                    <a:p>
                      <a:pPr algn="l"/>
                      <a:r>
                        <a:rPr sz="1050" b="0" i="0">
                          <a:solidFill>
                            <a:srgbClr val="000000"/>
                          </a:solidFill>
                          <a:latin typeface="Calibri"/>
                        </a:rPr>
                        <a:t>Table 7: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Table 8: Global Market Historical Value Analysis, US$ Mn, 2021–2025</a:t>
                      </a:r>
                      <a:endParaRPr sz="1050"/>
                    </a:p>
                  </a:txBody>
                  <a:tcPr marL="9525" marR="9525" marT="9525" marB="0" anchor="ctr"/>
                </a:tc>
              </a:tr>
              <a:tr h="169606">
                <a:tc>
                  <a:txBody>
                    <a:bodyPr wrap="square"/>
                    <a:lstStyle/>
                    <a:p>
                      <a:pPr algn="l"/>
                      <a:r>
                        <a:rPr sz="1050" b="0" i="0">
                          <a:solidFill>
                            <a:srgbClr val="000000"/>
                          </a:solidFill>
                          <a:latin typeface="Calibri"/>
                        </a:rPr>
                        <a:t>Table 9: Global Market Forecast Value Analysis, US$ Mn, 2026–2036</a:t>
                      </a:r>
                      <a:endParaRPr sz="1050"/>
                    </a:p>
                  </a:txBody>
                  <a:tcPr marL="9525" marR="9525" marT="9525" marB="0" anchor="ctr"/>
                </a:tc>
              </a:tr>
              <a:tr h="169606">
                <a:tc>
                  <a:txBody>
                    <a:bodyPr wrap="square"/>
                    <a:lstStyle/>
                    <a:p>
                      <a:pPr algn="l"/>
                      <a:r>
                        <a:rPr sz="1050" b="0" i="0">
                          <a:solidFill>
                            <a:srgbClr val="000000"/>
                          </a:solidFill>
                          <a:latin typeface="Calibri"/>
                        </a:rPr>
                        <a:t>Table 10: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Table 11: Global Market Volume Forecast, MT, 2026–2036</a:t>
                      </a:r>
                      <a:endParaRPr sz="1050"/>
                    </a:p>
                  </a:txBody>
                  <a:tcPr marL="9525" marR="9525" marT="9525" marB="0" anchor="ctr"/>
                </a:tc>
              </a:tr>
              <a:tr h="169606">
                <a:tc>
                  <a:txBody>
                    <a:bodyPr wrap="square"/>
                    <a:lstStyle/>
                    <a:p>
                      <a:pPr algn="l"/>
                      <a:r>
                        <a:rPr sz="1050" b="0" i="0">
                          <a:solidFill>
                            <a:srgbClr val="000000"/>
                          </a:solidFill>
                          <a:latin typeface="Calibri"/>
                        </a:rPr>
                        <a:t>Table 12: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13: Global Market Average Selling Price YoY Change, %, 2026–2036</a:t>
                      </a:r>
                      <a:endParaRPr sz="1050"/>
                    </a:p>
                  </a:txBody>
                  <a:tcPr marL="9525" marR="9525" marT="9525" marB="0" anchor="ctr"/>
                </a:tc>
              </a:tr>
              <a:tr h="169606">
                <a:tc>
                  <a:txBody>
                    <a:bodyPr wrap="square"/>
                    <a:lstStyle/>
                    <a:p>
                      <a:pPr algn="l"/>
                      <a:r>
                        <a:rPr sz="1050" b="0" i="0">
                          <a:solidFill>
                            <a:srgbClr val="000000"/>
                          </a:solidFill>
                          <a:latin typeface="Calibri"/>
                        </a:rPr>
                        <a:t>Table 14: Global Market CAGR and Absolute $ Opportunity, %, US$ Mn, 2026–2036</a:t>
                      </a:r>
                      <a:endParaRPr sz="1050"/>
                    </a:p>
                  </a:txBody>
                  <a:tcPr marL="9525" marR="9525" marT="9525" marB="0" anchor="ctr"/>
                </a:tc>
              </a:tr>
              <a:tr h="169606">
                <a:tc>
                  <a:txBody>
                    <a:bodyPr wrap="square"/>
                    <a:lstStyle/>
                    <a:p>
                      <a:pPr algn="l"/>
                      <a:r>
                        <a:rPr sz="1050" b="0" i="0">
                          <a:solidFill>
                            <a:srgbClr val="000000"/>
                          </a:solidFill>
                          <a:latin typeface="Calibri"/>
                        </a:rPr>
                        <a:t>Table 15: Global Market Absolute $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Table 16: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Table 17: Global Market Scenario CAGR Comparison, %, 2026–2036</a:t>
                      </a:r>
                      <a:endParaRPr sz="1050"/>
                    </a:p>
                  </a:txBody>
                  <a:tcPr marL="9525" marR="9525" marT="9525" marB="0" anchor="ctr"/>
                </a:tc>
              </a:tr>
              <a:tr h="169606">
                <a:tc>
                  <a:txBody>
                    <a:bodyPr wrap="square"/>
                    <a:lstStyle/>
                    <a:p>
                      <a:pPr algn="l"/>
                      <a:r>
                        <a:rPr sz="1050" b="0" i="0">
                          <a:solidFill>
                            <a:srgbClr val="000000"/>
                          </a:solidFill>
                          <a:latin typeface="Calibri"/>
                        </a:rPr>
                        <a:t>Table 18: Global Market Historical vs Forecast Growth Comparison, %, 2021–2036</a:t>
                      </a:r>
                      <a:endParaRPr sz="1050"/>
                    </a:p>
                  </a:txBody>
                  <a:tcPr marL="9525" marR="9525" marT="9525" marB="0" anchor="ctr"/>
                </a:tc>
              </a:tr>
              <a:tr h="169606">
                <a:tc>
                  <a:txBody>
                    <a:bodyPr wrap="square"/>
                    <a:lstStyle/>
                    <a:p>
                      <a:pPr algn="l"/>
                      <a:r>
                        <a:rPr sz="1050" b="0" i="0">
                          <a:solidFill>
                            <a:srgbClr val="000000"/>
                          </a:solidFill>
                          <a:latin typeface="Calibri"/>
                        </a:rPr>
                        <a:t>Table 19: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20: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21: Global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22: Global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23: Global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24: Global Market Value by Recipe and Ingredient Claims, US$ Mn, 2021–2036</a:t>
                      </a:r>
                      <a:endParaRPr sz="1050"/>
                    </a:p>
                  </a:txBody>
                  <a:tcPr marL="9525" marR="9525" marT="9525" marB="0" anchor="ctr"/>
                </a:tc>
              </a:tr>
              <a:tr h="169606">
                <a:tc>
                  <a:txBody>
                    <a:bodyPr wrap="square"/>
                    <a:lstStyle/>
                    <a:p>
                      <a:pPr algn="l"/>
                      <a:r>
                        <a:rPr sz="1050" b="0" i="0">
                          <a:solidFill>
                            <a:srgbClr val="000000"/>
                          </a:solidFill>
                          <a:latin typeface="Calibri"/>
                        </a:rPr>
                        <a:t>Table 25: Global Market Value by Product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26: Global Market Value by Surface Finish, US$ Mn, 2021–2036</a:t>
                      </a:r>
                      <a:endParaRPr sz="1050"/>
                    </a:p>
                  </a:txBody>
                  <a:tcPr marL="9525" marR="9525" marT="9525" marB="0" anchor="ctr"/>
                </a:tc>
              </a:tr>
              <a:tr h="169606">
                <a:tc>
                  <a:txBody>
                    <a:bodyPr wrap="square"/>
                    <a:lstStyle/>
                    <a:p>
                      <a:pPr algn="l"/>
                      <a:r>
                        <a:rPr sz="1050" b="0" i="0">
                          <a:solidFill>
                            <a:srgbClr val="000000"/>
                          </a:solidFill>
                          <a:latin typeface="Calibri"/>
                        </a:rPr>
                        <a:t>Table 27: Global Market Value by Individual Muffin Size, US$ Mn, 2021–2036</a:t>
                      </a:r>
                      <a:endParaRPr sz="1050"/>
                    </a:p>
                  </a:txBody>
                  <a:tcPr marL="9525" marR="9525" marT="9525" marB="0" anchor="ctr"/>
                </a:tc>
              </a:tr>
              <a:tr h="169606">
                <a:tc>
                  <a:txBody>
                    <a:bodyPr wrap="square"/>
                    <a:lstStyle/>
                    <a:p>
                      <a:pPr algn="l"/>
                      <a:r>
                        <a:rPr sz="1050" b="0" i="0">
                          <a:solidFill>
                            <a:srgbClr val="000000"/>
                          </a:solidFill>
                          <a:latin typeface="Calibri"/>
                        </a:rPr>
                        <a:t>Table 28: Global Market Value by Storage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29: Global Market Value by Shelf Life, US$ Mn, 2021–2036</a:t>
                      </a:r>
                      <a:endParaRPr sz="1050"/>
                    </a:p>
                  </a:txBody>
                  <a:tcPr marL="9525" marR="9525" marT="9525" marB="0" anchor="ctr"/>
                </a:tc>
              </a:tr>
              <a:tr h="169606">
                <a:tc>
                  <a:txBody>
                    <a:bodyPr wrap="square"/>
                    <a:lstStyle/>
                    <a:p>
                      <a:pPr algn="l"/>
                      <a:r>
                        <a:rPr sz="1050" b="0" i="0">
                          <a:solidFill>
                            <a:srgbClr val="000000"/>
                          </a:solidFill>
                          <a:latin typeface="Calibri"/>
                        </a:rPr>
                        <a:t>Table 30: Global Market Value by Packaging Format, US$ Mn, 2021–2036</a:t>
                      </a:r>
                      <a:endParaRPr sz="1050"/>
                    </a:p>
                  </a:txBody>
                  <a:tcPr marL="9525" marR="9525" marT="9525" marB="0" anchor="ctr"/>
                </a:tc>
              </a:tr>
              <a:tr h="169606">
                <a:tc>
                  <a:txBody>
                    <a:bodyPr wrap="square"/>
                    <a:lstStyle/>
                    <a:p>
                      <a:pPr algn="l"/>
                      <a:r>
                        <a:rPr sz="1050" b="0" i="0">
                          <a:solidFill>
                            <a:srgbClr val="000000"/>
                          </a:solidFill>
                          <a:latin typeface="Calibri"/>
                        </a:rPr>
                        <a:t>Table 31: Global Market Value by Pack Configuration,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171824">
                <a:tc>
                  <a:txBody>
                    <a:bodyPr wrap="square"/>
                    <a:lstStyle/>
                    <a:p>
                      <a:pPr algn="l"/>
                      <a:r>
                        <a:rPr sz="1050" b="0" i="0">
                          <a:solidFill>
                            <a:srgbClr val="000000"/>
                          </a:solidFill>
                          <a:latin typeface="Calibri"/>
                        </a:rPr>
                        <a:t>Table 32: Global Market Value by Multipack Wrapping, US$ Mn, 2021–2036</a:t>
                      </a:r>
                      <a:endParaRPr sz="1050"/>
                    </a:p>
                  </a:txBody>
                  <a:tcPr marL="9525" marR="9525" marT="9525" marB="0" anchor="ctr"/>
                </a:tc>
              </a:tr>
              <a:tr h="171824">
                <a:tc>
                  <a:txBody>
                    <a:bodyPr wrap="square"/>
                    <a:lstStyle/>
                    <a:p>
                      <a:pPr algn="l"/>
                      <a:r>
                        <a:rPr sz="1050" b="0" i="0">
                          <a:solidFill>
                            <a:srgbClr val="000000"/>
                          </a:solidFill>
                          <a:latin typeface="Calibri"/>
                        </a:rPr>
                        <a:t>Table 33: Global Market Value by Price Positioning, US$ Mn, 2021–2036</a:t>
                      </a:r>
                      <a:endParaRPr sz="1050"/>
                    </a:p>
                  </a:txBody>
                  <a:tcPr marL="9525" marR="9525" marT="9525" marB="0" anchor="ctr"/>
                </a:tc>
              </a:tr>
              <a:tr h="171824">
                <a:tc>
                  <a:txBody>
                    <a:bodyPr wrap="square"/>
                    <a:lstStyle/>
                    <a:p>
                      <a:pPr algn="l"/>
                      <a:r>
                        <a:rPr sz="1050" b="0" i="0">
                          <a:solidFill>
                            <a:srgbClr val="000000"/>
                          </a:solidFill>
                          <a:latin typeface="Calibri"/>
                        </a:rPr>
                        <a:t>Table 34: Global Market Value by Brand Ownership, US$ Mn, 2021–2036</a:t>
                      </a:r>
                      <a:endParaRPr sz="1050"/>
                    </a:p>
                  </a:txBody>
                  <a:tcPr marL="9525" marR="9525" marT="9525" marB="0" anchor="ctr"/>
                </a:tc>
              </a:tr>
              <a:tr h="171824">
                <a:tc>
                  <a:txBody>
                    <a:bodyPr wrap="square"/>
                    <a:lstStyle/>
                    <a:p>
                      <a:pPr algn="l"/>
                      <a:r>
                        <a:rPr sz="1050" b="0" i="0">
                          <a:solidFill>
                            <a:srgbClr val="000000"/>
                          </a:solidFill>
                          <a:latin typeface="Calibri"/>
                        </a:rPr>
                        <a:t>Table 35: Global Market Value by Sales Channel, US$ Mn, 2021–2036</a:t>
                      </a:r>
                      <a:endParaRPr sz="1050"/>
                    </a:p>
                  </a:txBody>
                  <a:tcPr marL="9525" marR="9525" marT="9525" marB="0" anchor="ctr"/>
                </a:tc>
              </a:tr>
              <a:tr h="171824">
                <a:tc>
                  <a:txBody>
                    <a:bodyPr wrap="square"/>
                    <a:lstStyle/>
                    <a:p>
                      <a:pPr algn="l"/>
                      <a:r>
                        <a:rPr sz="1050" b="0" i="0">
                          <a:solidFill>
                            <a:srgbClr val="000000"/>
                          </a:solidFill>
                          <a:latin typeface="Calibri"/>
                        </a:rPr>
                        <a:t>Table 36: Global Market CAGR and Absolute $ Opportunity by Product Type, %, US$ Mn, 2026–2036</a:t>
                      </a:r>
                      <a:endParaRPr sz="1050"/>
                    </a:p>
                  </a:txBody>
                  <a:tcPr marL="9525" marR="9525" marT="9525" marB="0" anchor="ctr"/>
                </a:tc>
              </a:tr>
              <a:tr h="171824">
                <a:tc>
                  <a:txBody>
                    <a:bodyPr wrap="square"/>
                    <a:lstStyle/>
                    <a:p>
                      <a:pPr algn="l"/>
                      <a:r>
                        <a:rPr sz="1050" b="0" i="0">
                          <a:solidFill>
                            <a:srgbClr val="000000"/>
                          </a:solidFill>
                          <a:latin typeface="Calibri"/>
                        </a:rPr>
                        <a:t>Table 37: Global Market CAGR and Absolute $ Opportunity by Flavour, %, US$ Mn, 2026–2036</a:t>
                      </a:r>
                      <a:endParaRPr sz="1050"/>
                    </a:p>
                  </a:txBody>
                  <a:tcPr marL="9525" marR="9525" marT="9525" marB="0" anchor="ctr"/>
                </a:tc>
              </a:tr>
              <a:tr h="336774">
                <a:tc>
                  <a:txBody>
                    <a:bodyPr wrap="square"/>
                    <a:lstStyle/>
                    <a:p>
                      <a:pPr algn="l"/>
                      <a:r>
                        <a:rPr sz="1050" b="0" i="0">
                          <a:solidFill>
                            <a:srgbClr val="000000"/>
                          </a:solidFill>
                          <a:latin typeface="Calibri"/>
                        </a:rPr>
                        <a:t>Table 38: Global Market CAGR and Absolute $ Opportunity by Primary Flour Base, %, US$ Mn, 2026–2036</a:t>
                      </a:r>
                      <a:endParaRPr sz="1050"/>
                    </a:p>
                  </a:txBody>
                  <a:tcPr marL="9525" marR="9525" marT="9525" marB="0" anchor="ctr"/>
                </a:tc>
              </a:tr>
              <a:tr h="336774">
                <a:tc>
                  <a:txBody>
                    <a:bodyPr wrap="square"/>
                    <a:lstStyle/>
                    <a:p>
                      <a:pPr algn="l"/>
                      <a:r>
                        <a:rPr sz="1050" b="0" i="0">
                          <a:solidFill>
                            <a:srgbClr val="000000"/>
                          </a:solidFill>
                          <a:latin typeface="Calibri"/>
                        </a:rPr>
                        <a:t>Table 39: Global Market CAGR and Absolute $ Opportunity by Dietary Formulation, %, US$ Mn, 2026–2036</a:t>
                      </a:r>
                      <a:endParaRPr sz="1050"/>
                    </a:p>
                  </a:txBody>
                  <a:tcPr marL="9525" marR="9525" marT="9525" marB="0" anchor="ctr"/>
                </a:tc>
              </a:tr>
              <a:tr h="336774">
                <a:tc>
                  <a:txBody>
                    <a:bodyPr wrap="square"/>
                    <a:lstStyle/>
                    <a:p>
                      <a:pPr algn="l"/>
                      <a:r>
                        <a:rPr sz="1050" b="0" i="0">
                          <a:solidFill>
                            <a:srgbClr val="000000"/>
                          </a:solidFill>
                          <a:latin typeface="Calibri"/>
                        </a:rPr>
                        <a:t>Table 40: Global Market CAGR and Absolute $ Opportunity by Nutritional Positioning, %, US$ Mn, 2026–2036</a:t>
                      </a:r>
                      <a:endParaRPr sz="1050"/>
                    </a:p>
                  </a:txBody>
                  <a:tcPr marL="9525" marR="9525" marT="9525" marB="0" anchor="ctr"/>
                </a:tc>
              </a:tr>
              <a:tr h="336774">
                <a:tc>
                  <a:txBody>
                    <a:bodyPr wrap="square"/>
                    <a:lstStyle/>
                    <a:p>
                      <a:pPr algn="l"/>
                      <a:r>
                        <a:rPr sz="1050" b="0" i="0">
                          <a:solidFill>
                            <a:srgbClr val="000000"/>
                          </a:solidFill>
                          <a:latin typeface="Calibri"/>
                        </a:rPr>
                        <a:t>Table 41: Global Market CAGR and Absolute $ Opportunity by Recipe and Ingredient Claims, %, US$ Mn, 2026–2036</a:t>
                      </a:r>
                      <a:endParaRPr sz="1050"/>
                    </a:p>
                  </a:txBody>
                  <a:tcPr marL="9525" marR="9525" marT="9525" marB="0" anchor="ctr"/>
                </a:tc>
              </a:tr>
              <a:tr h="336774">
                <a:tc>
                  <a:txBody>
                    <a:bodyPr wrap="square"/>
                    <a:lstStyle/>
                    <a:p>
                      <a:pPr algn="l"/>
                      <a:r>
                        <a:rPr sz="1050" b="0" i="0">
                          <a:solidFill>
                            <a:srgbClr val="000000"/>
                          </a:solidFill>
                          <a:latin typeface="Calibri"/>
                        </a:rPr>
                        <a:t>Table 42: Global Market CAGR and Absolute $ Opportunity by Product Structure, %, US$ Mn, 2026–2036</a:t>
                      </a:r>
                      <a:endParaRPr sz="1050"/>
                    </a:p>
                  </a:txBody>
                  <a:tcPr marL="9525" marR="9525" marT="9525" marB="0" anchor="ctr"/>
                </a:tc>
              </a:tr>
              <a:tr h="171824">
                <a:tc>
                  <a:txBody>
                    <a:bodyPr wrap="square"/>
                    <a:lstStyle/>
                    <a:p>
                      <a:pPr algn="l"/>
                      <a:r>
                        <a:rPr sz="1050" b="0" i="0">
                          <a:solidFill>
                            <a:srgbClr val="000000"/>
                          </a:solidFill>
                          <a:latin typeface="Calibri"/>
                        </a:rPr>
                        <a:t>Table 43: Global Market CAGR and Absolute $ Opportunity by Surface Finish, %, US$ Mn, 2026–2036</a:t>
                      </a:r>
                      <a:endParaRPr sz="1050"/>
                    </a:p>
                  </a:txBody>
                  <a:tcPr marL="9525" marR="9525" marT="9525" marB="0" anchor="ctr"/>
                </a:tc>
              </a:tr>
              <a:tr h="336774">
                <a:tc>
                  <a:txBody>
                    <a:bodyPr wrap="square"/>
                    <a:lstStyle/>
                    <a:p>
                      <a:pPr algn="l"/>
                      <a:r>
                        <a:rPr sz="1050" b="0" i="0">
                          <a:solidFill>
                            <a:srgbClr val="000000"/>
                          </a:solidFill>
                          <a:latin typeface="Calibri"/>
                        </a:rPr>
                        <a:t>Table 44: Global Market CAGR and Absolute $ Opportunity by Individual Muffin Size, %, US$ Mn, 2026–2036</a:t>
                      </a:r>
                      <a:endParaRPr sz="1050"/>
                    </a:p>
                  </a:txBody>
                  <a:tcPr marL="9525" marR="9525" marT="9525" marB="0" anchor="ctr"/>
                </a:tc>
              </a:tr>
              <a:tr h="171824">
                <a:tc>
                  <a:txBody>
                    <a:bodyPr wrap="square"/>
                    <a:lstStyle/>
                    <a:p>
                      <a:pPr algn="l"/>
                      <a:r>
                        <a:rPr sz="1050" b="0" i="0">
                          <a:solidFill>
                            <a:srgbClr val="000000"/>
                          </a:solidFill>
                          <a:latin typeface="Calibri"/>
                        </a:rPr>
                        <a:t>Table 45: Global Market CAGR and Absolute $ Opportunity by Storage Format, %, US$ Mn, 2026–2036</a:t>
                      </a:r>
                      <a:endParaRPr sz="1050"/>
                    </a:p>
                  </a:txBody>
                  <a:tcPr marL="9525" marR="9525" marT="9525" marB="0" anchor="ctr"/>
                </a:tc>
              </a:tr>
              <a:tr h="171824">
                <a:tc>
                  <a:txBody>
                    <a:bodyPr wrap="square"/>
                    <a:lstStyle/>
                    <a:p>
                      <a:pPr algn="l"/>
                      <a:r>
                        <a:rPr sz="1050" b="0" i="0">
                          <a:solidFill>
                            <a:srgbClr val="000000"/>
                          </a:solidFill>
                          <a:latin typeface="Calibri"/>
                        </a:rPr>
                        <a:t>Table 46: Global Market CAGR and Absolute $ Opportunity by Shelf Life, %, US$ Mn, 2026–2036</a:t>
                      </a:r>
                      <a:endParaRPr sz="1050"/>
                    </a:p>
                  </a:txBody>
                  <a:tcPr marL="9525" marR="9525" marT="9525" marB="0" anchor="ctr"/>
                </a:tc>
              </a:tr>
              <a:tr h="336774">
                <a:tc>
                  <a:txBody>
                    <a:bodyPr wrap="square"/>
                    <a:lstStyle/>
                    <a:p>
                      <a:pPr algn="l"/>
                      <a:r>
                        <a:rPr sz="1050" b="0" i="0">
                          <a:solidFill>
                            <a:srgbClr val="000000"/>
                          </a:solidFill>
                          <a:latin typeface="Calibri"/>
                        </a:rPr>
                        <a:t>Table 47: Global Market CAGR and Absolute $ Opportunity by Packaging Format, %, US$ Mn, 2026–2036</a:t>
                      </a:r>
                      <a:endParaRPr sz="1050"/>
                    </a:p>
                  </a:txBody>
                  <a:tcPr marL="9525" marR="9525" marT="9525" marB="0" anchor="ctr"/>
                </a:tc>
              </a:tr>
              <a:tr h="336774">
                <a:tc>
                  <a:txBody>
                    <a:bodyPr wrap="square"/>
                    <a:lstStyle/>
                    <a:p>
                      <a:pPr algn="l"/>
                      <a:r>
                        <a:rPr sz="1050" b="0" i="0">
                          <a:solidFill>
                            <a:srgbClr val="000000"/>
                          </a:solidFill>
                          <a:latin typeface="Calibri"/>
                        </a:rPr>
                        <a:t>Table 48: Global Market CAGR and Absolute $ Opportunity by Pack Configuration, %, US$ Mn, 2026–2036</a:t>
                      </a:r>
                      <a:endParaRPr sz="1050"/>
                    </a:p>
                  </a:txBody>
                  <a:tcPr marL="9525" marR="9525" marT="9525" marB="0" anchor="ctr"/>
                </a:tc>
              </a:tr>
              <a:tr h="336774">
                <a:tc>
                  <a:txBody>
                    <a:bodyPr wrap="square"/>
                    <a:lstStyle/>
                    <a:p>
                      <a:pPr algn="l"/>
                      <a:r>
                        <a:rPr sz="1050" b="0" i="0">
                          <a:solidFill>
                            <a:srgbClr val="000000"/>
                          </a:solidFill>
                          <a:latin typeface="Calibri"/>
                        </a:rPr>
                        <a:t>Table 49: Global Market CAGR and Absolute $ Opportunity by Multipack Wrapping, %, US$ Mn, 2026–2036</a:t>
                      </a:r>
                      <a:endParaRPr sz="1050"/>
                    </a:p>
                  </a:txBody>
                  <a:tcPr marL="9525" marR="9525" marT="9525" marB="0" anchor="ctr"/>
                </a:tc>
              </a:tr>
              <a:tr h="171824">
                <a:tc>
                  <a:txBody>
                    <a:bodyPr wrap="square"/>
                    <a:lstStyle/>
                    <a:p>
                      <a:pPr algn="l"/>
                      <a:r>
                        <a:rPr sz="1050" b="0" i="0">
                          <a:solidFill>
                            <a:srgbClr val="000000"/>
                          </a:solidFill>
                          <a:latin typeface="Calibri"/>
                        </a:rPr>
                        <a:t>Table 50: Global Market CAGR and Absolute $ Opportunity by Price Positioning, %, US$ Mn, 2026–2036</a:t>
                      </a:r>
                      <a:endParaRPr sz="1050"/>
                    </a:p>
                  </a:txBody>
                  <a:tcPr marL="9525" marR="9525" marT="9525" marB="0" anchor="ctr"/>
                </a:tc>
              </a:tr>
              <a:tr h="336774">
                <a:tc>
                  <a:txBody>
                    <a:bodyPr wrap="square"/>
                    <a:lstStyle/>
                    <a:p>
                      <a:pPr algn="l"/>
                      <a:r>
                        <a:rPr sz="1050" b="0" i="0">
                          <a:solidFill>
                            <a:srgbClr val="000000"/>
                          </a:solidFill>
                          <a:latin typeface="Calibri"/>
                        </a:rPr>
                        <a:t>Table 51: Global Market CAGR and Absolute $ Opportunity by Brand Ownership, %, US$ Mn, 2026–2036</a:t>
                      </a:r>
                      <a:endParaRPr sz="1050"/>
                    </a:p>
                  </a:txBody>
                  <a:tcPr marL="9525" marR="9525" marT="9525" marB="0" anchor="ctr"/>
                </a:tc>
              </a:tr>
              <a:tr h="171824">
                <a:tc>
                  <a:txBody>
                    <a:bodyPr wrap="square"/>
                    <a:lstStyle/>
                    <a:p>
                      <a:pPr algn="l"/>
                      <a:r>
                        <a:rPr sz="1050" b="0" i="0">
                          <a:solidFill>
                            <a:srgbClr val="000000"/>
                          </a:solidFill>
                          <a:latin typeface="Calibri"/>
                        </a:rPr>
                        <a:t>Table 52: Global Market CAGR and Absolute $ Opportunity by Sales Channel,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53: Global Market Share and BPS Change by Product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54: Global Market Share and BPS Change by Flavour, %, 2025, 2026 and 2036</a:t>
                      </a:r>
                      <a:endParaRPr sz="1050"/>
                    </a:p>
                  </a:txBody>
                  <a:tcPr marL="9525" marR="9525" marT="9525" marB="0" anchor="ctr"/>
                </a:tc>
              </a:tr>
              <a:tr h="169826">
                <a:tc>
                  <a:txBody>
                    <a:bodyPr wrap="square"/>
                    <a:lstStyle/>
                    <a:p>
                      <a:pPr algn="l"/>
                      <a:r>
                        <a:rPr sz="1050" b="0" i="0">
                          <a:solidFill>
                            <a:srgbClr val="000000"/>
                          </a:solidFill>
                          <a:latin typeface="Calibri"/>
                        </a:rPr>
                        <a:t>Table 55: Global Market Share and BPS Change by Primary Flour Base, %, 2025, 2026 and 2036</a:t>
                      </a:r>
                      <a:endParaRPr sz="1050"/>
                    </a:p>
                  </a:txBody>
                  <a:tcPr marL="9525" marR="9525" marT="9525" marB="0" anchor="ctr"/>
                </a:tc>
              </a:tr>
              <a:tr h="169826">
                <a:tc>
                  <a:txBody>
                    <a:bodyPr wrap="square"/>
                    <a:lstStyle/>
                    <a:p>
                      <a:pPr algn="l"/>
                      <a:r>
                        <a:rPr sz="1050" b="0" i="0">
                          <a:solidFill>
                            <a:srgbClr val="000000"/>
                          </a:solidFill>
                          <a:latin typeface="Calibri"/>
                        </a:rPr>
                        <a:t>Table 56: Global Market Share and BPS Change by Dietary Formulation,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57: Global Market Share and BPS Change by Nutritional Positioning, %, 2025, 2026 and 2036</a:t>
                      </a:r>
                      <a:endParaRPr sz="1050"/>
                    </a:p>
                  </a:txBody>
                  <a:tcPr marL="9525" marR="9525" marT="9525" marB="0" anchor="ctr"/>
                </a:tc>
              </a:tr>
              <a:tr h="332858">
                <a:tc>
                  <a:txBody>
                    <a:bodyPr wrap="square"/>
                    <a:lstStyle/>
                    <a:p>
                      <a:pPr algn="l"/>
                      <a:r>
                        <a:rPr sz="1050" b="0" i="0">
                          <a:solidFill>
                            <a:srgbClr val="000000"/>
                          </a:solidFill>
                          <a:latin typeface="Calibri"/>
                        </a:rPr>
                        <a:t>Table 58: Global Market Share and BPS Change by Recipe and Ingredient Claims, %, 2025, 2026 and 2036</a:t>
                      </a:r>
                      <a:endParaRPr sz="1050"/>
                    </a:p>
                  </a:txBody>
                  <a:tcPr marL="9525" marR="9525" marT="9525" marB="0" anchor="ctr"/>
                </a:tc>
              </a:tr>
              <a:tr h="169826">
                <a:tc>
                  <a:txBody>
                    <a:bodyPr wrap="square"/>
                    <a:lstStyle/>
                    <a:p>
                      <a:pPr algn="l"/>
                      <a:r>
                        <a:rPr sz="1050" b="0" i="0">
                          <a:solidFill>
                            <a:srgbClr val="000000"/>
                          </a:solidFill>
                          <a:latin typeface="Calibri"/>
                        </a:rPr>
                        <a:t>Table 59: Global Market Share and BPS Change by Product Structure,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60: Global Market Share and BPS Change by Surface Finish, %, 2025, 2026 and 2036</a:t>
                      </a:r>
                      <a:endParaRPr sz="1050"/>
                    </a:p>
                  </a:txBody>
                  <a:tcPr marL="9525" marR="9525" marT="9525" marB="0" anchor="ctr"/>
                </a:tc>
              </a:tr>
              <a:tr h="169826">
                <a:tc>
                  <a:txBody>
                    <a:bodyPr wrap="square"/>
                    <a:lstStyle/>
                    <a:p>
                      <a:pPr algn="l"/>
                      <a:r>
                        <a:rPr sz="1050" b="0" i="0">
                          <a:solidFill>
                            <a:srgbClr val="000000"/>
                          </a:solidFill>
                          <a:latin typeface="Calibri"/>
                        </a:rPr>
                        <a:t>Table 61: Global Market Share and BPS Change by Individual Muffin Size,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62: Global Market Share and BPS Change by Storage Format, %, 2025, 2026 and 2036</a:t>
                      </a:r>
                      <a:endParaRPr sz="1050"/>
                    </a:p>
                  </a:txBody>
                  <a:tcPr marL="9525" marR="9525" marT="9525" marB="0" anchor="ctr"/>
                </a:tc>
              </a:tr>
              <a:tr h="169826">
                <a:tc>
                  <a:txBody>
                    <a:bodyPr wrap="square"/>
                    <a:lstStyle/>
                    <a:p>
                      <a:pPr algn="l"/>
                      <a:r>
                        <a:rPr sz="1050" b="0" i="0">
                          <a:solidFill>
                            <a:srgbClr val="000000"/>
                          </a:solidFill>
                          <a:latin typeface="Calibri"/>
                        </a:rPr>
                        <a:t>Table 63: Global Market Share and BPS Change by Shelf Life, %, 2025, 2026 and 2036</a:t>
                      </a:r>
                      <a:endParaRPr sz="1050"/>
                    </a:p>
                  </a:txBody>
                  <a:tcPr marL="9525" marR="9525" marT="9525" marB="0" anchor="ctr"/>
                </a:tc>
              </a:tr>
              <a:tr h="169826">
                <a:tc>
                  <a:txBody>
                    <a:bodyPr wrap="square"/>
                    <a:lstStyle/>
                    <a:p>
                      <a:pPr algn="l"/>
                      <a:r>
                        <a:rPr sz="1050" b="0" i="0">
                          <a:solidFill>
                            <a:srgbClr val="000000"/>
                          </a:solidFill>
                          <a:latin typeface="Calibri"/>
                        </a:rPr>
                        <a:t>Table 64: Global Market Share and BPS Change by Packaging Format, %, 2025, 2026 and 2036</a:t>
                      </a:r>
                      <a:endParaRPr sz="1050"/>
                    </a:p>
                  </a:txBody>
                  <a:tcPr marL="9525" marR="9525" marT="9525" marB="0" anchor="ctr"/>
                </a:tc>
              </a:tr>
              <a:tr h="169826">
                <a:tc>
                  <a:txBody>
                    <a:bodyPr wrap="square"/>
                    <a:lstStyle/>
                    <a:p>
                      <a:pPr algn="l"/>
                      <a:r>
                        <a:rPr sz="1050" b="0" i="0">
                          <a:solidFill>
                            <a:srgbClr val="000000"/>
                          </a:solidFill>
                          <a:latin typeface="Calibri"/>
                        </a:rPr>
                        <a:t>Table 65: Global Market Share and BPS Change by Pack Configuration,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66: Global Market Share and BPS Change by Multipack Wrapping, %, 2025, 2026 and 2036</a:t>
                      </a:r>
                      <a:endParaRPr sz="1050"/>
                    </a:p>
                  </a:txBody>
                  <a:tcPr marL="9525" marR="9525" marT="9525" marB="0" anchor="ctr"/>
                </a:tc>
              </a:tr>
              <a:tr h="169826">
                <a:tc>
                  <a:txBody>
                    <a:bodyPr wrap="square"/>
                    <a:lstStyle/>
                    <a:p>
                      <a:pPr algn="l"/>
                      <a:r>
                        <a:rPr sz="1050" b="0" i="0">
                          <a:solidFill>
                            <a:srgbClr val="000000"/>
                          </a:solidFill>
                          <a:latin typeface="Calibri"/>
                        </a:rPr>
                        <a:t>Table 67: Global Market Share and BPS Change by Price Positioning, %, 2025, 2026 and 2036</a:t>
                      </a:r>
                      <a:endParaRPr sz="1050"/>
                    </a:p>
                  </a:txBody>
                  <a:tcPr marL="9525" marR="9525" marT="9525" marB="0" anchor="ctr"/>
                </a:tc>
              </a:tr>
              <a:tr h="169826">
                <a:tc>
                  <a:txBody>
                    <a:bodyPr wrap="square"/>
                    <a:lstStyle/>
                    <a:p>
                      <a:pPr algn="l"/>
                      <a:r>
                        <a:rPr sz="1050" b="0" i="0">
                          <a:solidFill>
                            <a:srgbClr val="000000"/>
                          </a:solidFill>
                          <a:latin typeface="Calibri"/>
                        </a:rPr>
                        <a:t>Table 68: Global Market Share and BPS Change by Brand Ownership, %, 2025, 2026 and 2036</a:t>
                      </a:r>
                      <a:endParaRPr sz="1050"/>
                    </a:p>
                  </a:txBody>
                  <a:tcPr marL="9525" marR="9525" marT="9525" marB="0" anchor="ctr"/>
                </a:tc>
              </a:tr>
              <a:tr h="169826">
                <a:tc>
                  <a:txBody>
                    <a:bodyPr wrap="square"/>
                    <a:lstStyle/>
                    <a:p>
                      <a:pPr algn="l"/>
                      <a:r>
                        <a:rPr sz="1050" b="0" i="0">
                          <a:solidFill>
                            <a:srgbClr val="000000"/>
                          </a:solidFill>
                          <a:latin typeface="Calibri"/>
                        </a:rPr>
                        <a:t>Table 69: Global Market Share and BPS Change by Sales Channel, %, 2025, 2026 and 2036</a:t>
                      </a:r>
                      <a:endParaRPr sz="1050"/>
                    </a:p>
                  </a:txBody>
                  <a:tcPr marL="9525" marR="9525" marT="9525" marB="0" anchor="ctr"/>
                </a:tc>
              </a:tr>
              <a:tr h="169826">
                <a:tc>
                  <a:txBody>
                    <a:bodyPr wrap="square"/>
                    <a:lstStyle/>
                    <a:p>
                      <a:pPr algn="l"/>
                      <a:r>
                        <a:rPr sz="1050" b="0" i="0">
                          <a:solidFill>
                            <a:srgbClr val="000000"/>
                          </a:solidFill>
                          <a:latin typeface="Calibri"/>
                        </a:rPr>
                        <a:t>Table 70: Global Market YoY Growth by Product Type, %, 2026–2036</a:t>
                      </a:r>
                      <a:endParaRPr sz="1050"/>
                    </a:p>
                  </a:txBody>
                  <a:tcPr marL="9525" marR="9525" marT="9525" marB="0" anchor="ctr"/>
                </a:tc>
              </a:tr>
              <a:tr h="169826">
                <a:tc>
                  <a:txBody>
                    <a:bodyPr wrap="square"/>
                    <a:lstStyle/>
                    <a:p>
                      <a:pPr algn="l"/>
                      <a:r>
                        <a:rPr sz="1050" b="0" i="0">
                          <a:solidFill>
                            <a:srgbClr val="000000"/>
                          </a:solidFill>
                          <a:latin typeface="Calibri"/>
                        </a:rPr>
                        <a:t>Table 71: Global Market YoY Growth by Flavour, %, 2026–2036</a:t>
                      </a:r>
                      <a:endParaRPr sz="1050"/>
                    </a:p>
                  </a:txBody>
                  <a:tcPr marL="9525" marR="9525" marT="9525" marB="0" anchor="ctr"/>
                </a:tc>
              </a:tr>
              <a:tr h="169826">
                <a:tc>
                  <a:txBody>
                    <a:bodyPr wrap="square"/>
                    <a:lstStyle/>
                    <a:p>
                      <a:pPr algn="l"/>
                      <a:r>
                        <a:rPr sz="1050" b="0" i="0">
                          <a:solidFill>
                            <a:srgbClr val="000000"/>
                          </a:solidFill>
                          <a:latin typeface="Calibri"/>
                        </a:rPr>
                        <a:t>Table 72: Global Market YoY Growth by Primary Flour Base, %, 2026–2036</a:t>
                      </a:r>
                      <a:endParaRPr sz="1050"/>
                    </a:p>
                  </a:txBody>
                  <a:tcPr marL="9525" marR="9525" marT="9525" marB="0" anchor="ctr"/>
                </a:tc>
              </a:tr>
              <a:tr h="169826">
                <a:tc>
                  <a:txBody>
                    <a:bodyPr wrap="square"/>
                    <a:lstStyle/>
                    <a:p>
                      <a:pPr algn="l"/>
                      <a:r>
                        <a:rPr sz="1050" b="0" i="0">
                          <a:solidFill>
                            <a:srgbClr val="000000"/>
                          </a:solidFill>
                          <a:latin typeface="Calibri"/>
                        </a:rPr>
                        <a:t>Table 73: Global Market YoY Growth by Dietary Formulation, %, 2026–2036</a:t>
                      </a:r>
                      <a:endParaRPr sz="1050"/>
                    </a:p>
                  </a:txBody>
                  <a:tcPr marL="9525" marR="9525" marT="9525" marB="0" anchor="ctr"/>
                </a:tc>
              </a:tr>
              <a:tr h="169826">
                <a:tc>
                  <a:txBody>
                    <a:bodyPr wrap="square"/>
                    <a:lstStyle/>
                    <a:p>
                      <a:pPr algn="l"/>
                      <a:r>
                        <a:rPr sz="1050" b="0" i="0">
                          <a:solidFill>
                            <a:srgbClr val="000000"/>
                          </a:solidFill>
                          <a:latin typeface="Calibri"/>
                        </a:rPr>
                        <a:t>Table 74: Global Market YoY Growth by Nutritional Positioning, %, 2026–2036</a:t>
                      </a:r>
                      <a:endParaRPr sz="1050"/>
                    </a:p>
                  </a:txBody>
                  <a:tcPr marL="9525" marR="9525" marT="9525" marB="0" anchor="ctr"/>
                </a:tc>
              </a:tr>
              <a:tr h="169826">
                <a:tc>
                  <a:txBody>
                    <a:bodyPr wrap="square"/>
                    <a:lstStyle/>
                    <a:p>
                      <a:pPr algn="l"/>
                      <a:r>
                        <a:rPr sz="1050" b="0" i="0">
                          <a:solidFill>
                            <a:srgbClr val="000000"/>
                          </a:solidFill>
                          <a:latin typeface="Calibri"/>
                        </a:rPr>
                        <a:t>Table 75: Global Market YoY Growth by Recipe and Ingredient Claims, %, 2026–2036</a:t>
                      </a:r>
                      <a:endParaRPr sz="1050"/>
                    </a:p>
                  </a:txBody>
                  <a:tcPr marL="9525" marR="9525" marT="9525" marB="0" anchor="ctr"/>
                </a:tc>
              </a:tr>
              <a:tr h="169826">
                <a:tc>
                  <a:txBody>
                    <a:bodyPr wrap="square"/>
                    <a:lstStyle/>
                    <a:p>
                      <a:pPr algn="l"/>
                      <a:r>
                        <a:rPr sz="1050" b="0" i="0">
                          <a:solidFill>
                            <a:srgbClr val="000000"/>
                          </a:solidFill>
                          <a:latin typeface="Calibri"/>
                        </a:rPr>
                        <a:t>Table 76: Global Market YoY Growth by Product Structure, %, 2026–2036</a:t>
                      </a:r>
                      <a:endParaRPr sz="1050"/>
                    </a:p>
                  </a:txBody>
                  <a:tcPr marL="9525" marR="9525" marT="9525" marB="0" anchor="ctr"/>
                </a:tc>
              </a:tr>
              <a:tr h="169826">
                <a:tc>
                  <a:txBody>
                    <a:bodyPr wrap="square"/>
                    <a:lstStyle/>
                    <a:p>
                      <a:pPr algn="l"/>
                      <a:r>
                        <a:rPr sz="1050" b="0" i="0">
                          <a:solidFill>
                            <a:srgbClr val="000000"/>
                          </a:solidFill>
                          <a:latin typeface="Calibri"/>
                        </a:rPr>
                        <a:t>Table 77: Global Market YoY Growth by Surface Finish, %, 2026–2036</a:t>
                      </a:r>
                      <a:endParaRPr sz="1050"/>
                    </a:p>
                  </a:txBody>
                  <a:tcPr marL="9525" marR="9525" marT="9525" marB="0" anchor="ctr"/>
                </a:tc>
              </a:tr>
              <a:tr h="169826">
                <a:tc>
                  <a:txBody>
                    <a:bodyPr wrap="square"/>
                    <a:lstStyle/>
                    <a:p>
                      <a:pPr algn="l"/>
                      <a:r>
                        <a:rPr sz="1050" b="0" i="0">
                          <a:solidFill>
                            <a:srgbClr val="000000"/>
                          </a:solidFill>
                          <a:latin typeface="Calibri"/>
                        </a:rPr>
                        <a:t>Table 78: Global Market YoY Growth by Individual Muffin Size, %, 2026–2036</a:t>
                      </a:r>
                      <a:endParaRPr sz="1050"/>
                    </a:p>
                  </a:txBody>
                  <a:tcPr marL="9525" marR="9525" marT="9525" marB="0" anchor="ctr"/>
                </a:tc>
              </a:tr>
              <a:tr h="169826">
                <a:tc>
                  <a:txBody>
                    <a:bodyPr wrap="square"/>
                    <a:lstStyle/>
                    <a:p>
                      <a:pPr algn="l"/>
                      <a:r>
                        <a:rPr sz="1050" b="0" i="0">
                          <a:solidFill>
                            <a:srgbClr val="000000"/>
                          </a:solidFill>
                          <a:latin typeface="Calibri"/>
                        </a:rPr>
                        <a:t>Table 79: Global Market YoY Growth by Storage Format, %, 2026–2036</a:t>
                      </a:r>
                      <a:endParaRPr sz="1050"/>
                    </a:p>
                  </a:txBody>
                  <a:tcPr marL="9525" marR="9525" marT="9525" marB="0" anchor="ctr"/>
                </a:tc>
              </a:tr>
              <a:tr h="169826">
                <a:tc>
                  <a:txBody>
                    <a:bodyPr wrap="square"/>
                    <a:lstStyle/>
                    <a:p>
                      <a:pPr algn="l"/>
                      <a:r>
                        <a:rPr sz="1050" b="0" i="0">
                          <a:solidFill>
                            <a:srgbClr val="000000"/>
                          </a:solidFill>
                          <a:latin typeface="Calibri"/>
                        </a:rPr>
                        <a:t>Table 80: Global Market YoY Growth by Shelf Life, %, 2026–2036</a:t>
                      </a:r>
                      <a:endParaRPr sz="1050"/>
                    </a:p>
                  </a:txBody>
                  <a:tcPr marL="9525" marR="9525" marT="9525" marB="0" anchor="ctr"/>
                </a:tc>
              </a:tr>
              <a:tr h="169826">
                <a:tc>
                  <a:txBody>
                    <a:bodyPr wrap="square"/>
                    <a:lstStyle/>
                    <a:p>
                      <a:pPr algn="l"/>
                      <a:r>
                        <a:rPr sz="1050" b="0" i="0">
                          <a:solidFill>
                            <a:srgbClr val="000000"/>
                          </a:solidFill>
                          <a:latin typeface="Calibri"/>
                        </a:rPr>
                        <a:t>Table 81: Global Market YoY Growth by Packaging Format, %, 2026–2036</a:t>
                      </a:r>
                      <a:endParaRPr sz="1050"/>
                    </a:p>
                  </a:txBody>
                  <a:tcPr marL="9525" marR="9525" marT="9525" marB="0" anchor="ctr"/>
                </a:tc>
              </a:tr>
              <a:tr h="169826">
                <a:tc>
                  <a:txBody>
                    <a:bodyPr wrap="square"/>
                    <a:lstStyle/>
                    <a:p>
                      <a:pPr algn="l"/>
                      <a:r>
                        <a:rPr sz="1050" b="0" i="0">
                          <a:solidFill>
                            <a:srgbClr val="000000"/>
                          </a:solidFill>
                          <a:latin typeface="Calibri"/>
                        </a:rPr>
                        <a:t>Table 82: Global Market YoY Growth by Pack Configuration, %,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83: Global Market YoY Growth by Multipack Wrapping, %,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YoY Growth by Price Positioning, %,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YoY Growth by Brand Ownership, %,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YoY Growth by Sales Channel, %,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Volume by Product Type, MT, 2021–2036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Volume by Flavour, MT, 2021–2036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Product Type and Flavour,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Product Type and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Table 91: Global Market Value by Product Type and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Table 92: Global Market Value by Product Type and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93: Global Market Value by Product Type and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Table 94: Global Market Value by Product Type and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Table 95: Global Market Value by Product Type and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96: Global Market Value by Product Type and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Table 97: Global Market Value by Product Type and Storage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98: Global Market Value by Product Type and Shelf Life, US$ Mn, 2026–2036</a:t>
                      </a:r>
                      <a:endParaRPr sz="1050"/>
                    </a:p>
                  </a:txBody>
                  <a:tcPr marL="9525" marR="9525" marT="9525" marB="0" anchor="ctr"/>
                </a:tc>
              </a:tr>
              <a:tr h="169606">
                <a:tc>
                  <a:txBody>
                    <a:bodyPr wrap="square"/>
                    <a:lstStyle/>
                    <a:p>
                      <a:pPr algn="l"/>
                      <a:r>
                        <a:rPr sz="1050" b="0" i="0">
                          <a:solidFill>
                            <a:srgbClr val="000000"/>
                          </a:solidFill>
                          <a:latin typeface="Calibri"/>
                        </a:rPr>
                        <a:t>Table 99: Global Market Value by Product Type and Packaging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100: Global Market Value by Product Type and Pack Configuration, US$ Mn, 2026–2036</a:t>
                      </a:r>
                      <a:endParaRPr sz="1050"/>
                    </a:p>
                  </a:txBody>
                  <a:tcPr marL="9525" marR="9525" marT="9525" marB="0" anchor="ctr"/>
                </a:tc>
              </a:tr>
              <a:tr h="169606">
                <a:tc>
                  <a:txBody>
                    <a:bodyPr wrap="square"/>
                    <a:lstStyle/>
                    <a:p>
                      <a:pPr algn="l"/>
                      <a:r>
                        <a:rPr sz="1050" b="0" i="0">
                          <a:solidFill>
                            <a:srgbClr val="000000"/>
                          </a:solidFill>
                          <a:latin typeface="Calibri"/>
                        </a:rPr>
                        <a:t>Table 101: Global Market Value by Product Type and Multipack Wrapping, US$ Mn, 2026–2036</a:t>
                      </a:r>
                      <a:endParaRPr sz="1050"/>
                    </a:p>
                  </a:txBody>
                  <a:tcPr marL="9525" marR="9525" marT="9525" marB="0" anchor="ctr"/>
                </a:tc>
              </a:tr>
              <a:tr h="169606">
                <a:tc>
                  <a:txBody>
                    <a:bodyPr wrap="square"/>
                    <a:lstStyle/>
                    <a:p>
                      <a:pPr algn="l"/>
                      <a:r>
                        <a:rPr sz="1050" b="0" i="0">
                          <a:solidFill>
                            <a:srgbClr val="000000"/>
                          </a:solidFill>
                          <a:latin typeface="Calibri"/>
                        </a:rPr>
                        <a:t>Table 102: Global Market Value by Product Type and Price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103: Global Market Value by Product Type and Brand Ownership, US$ Mn, 2026–2036</a:t>
                      </a:r>
                      <a:endParaRPr sz="1050"/>
                    </a:p>
                  </a:txBody>
                  <a:tcPr marL="9525" marR="9525" marT="9525" marB="0" anchor="ctr"/>
                </a:tc>
              </a:tr>
              <a:tr h="169606">
                <a:tc>
                  <a:txBody>
                    <a:bodyPr wrap="square"/>
                    <a:lstStyle/>
                    <a:p>
                      <a:pPr algn="l"/>
                      <a:r>
                        <a:rPr sz="1050" b="0" i="0">
                          <a:solidFill>
                            <a:srgbClr val="000000"/>
                          </a:solidFill>
                          <a:latin typeface="Calibri"/>
                        </a:rPr>
                        <a:t>Table 104: Global Market Value by Product Type and Sales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105: Global Market Value by Flavour and Primary Flour Base, US$ Mn, 2026–2036</a:t>
                      </a:r>
                      <a:endParaRPr sz="1050"/>
                    </a:p>
                  </a:txBody>
                  <a:tcPr marL="9525" marR="9525" marT="9525" marB="0" anchor="ctr"/>
                </a:tc>
              </a:tr>
              <a:tr h="169606">
                <a:tc>
                  <a:txBody>
                    <a:bodyPr wrap="square"/>
                    <a:lstStyle/>
                    <a:p>
                      <a:pPr algn="l"/>
                      <a:r>
                        <a:rPr sz="1050" b="0" i="0">
                          <a:solidFill>
                            <a:srgbClr val="000000"/>
                          </a:solidFill>
                          <a:latin typeface="Calibri"/>
                        </a:rPr>
                        <a:t>Table 106: Global Market Value by Flavour and Dietary Formulation, US$ Mn, 2026–2036</a:t>
                      </a:r>
                      <a:endParaRPr sz="1050"/>
                    </a:p>
                  </a:txBody>
                  <a:tcPr marL="9525" marR="9525" marT="9525" marB="0" anchor="ctr"/>
                </a:tc>
              </a:tr>
              <a:tr h="169606">
                <a:tc>
                  <a:txBody>
                    <a:bodyPr wrap="square"/>
                    <a:lstStyle/>
                    <a:p>
                      <a:pPr algn="l"/>
                      <a:r>
                        <a:rPr sz="1050" b="0" i="0">
                          <a:solidFill>
                            <a:srgbClr val="000000"/>
                          </a:solidFill>
                          <a:latin typeface="Calibri"/>
                        </a:rPr>
                        <a:t>Table 107: Global Market Value by Flavour and Nutritional Positioning, US$ Mn, 2026–2036</a:t>
                      </a:r>
                      <a:endParaRPr sz="1050"/>
                    </a:p>
                  </a:txBody>
                  <a:tcPr marL="9525" marR="9525" marT="9525" marB="0" anchor="ctr"/>
                </a:tc>
              </a:tr>
              <a:tr h="169606">
                <a:tc>
                  <a:txBody>
                    <a:bodyPr wrap="square"/>
                    <a:lstStyle/>
                    <a:p>
                      <a:pPr algn="l"/>
                      <a:r>
                        <a:rPr sz="1050" b="0" i="0">
                          <a:solidFill>
                            <a:srgbClr val="000000"/>
                          </a:solidFill>
                          <a:latin typeface="Calibri"/>
                        </a:rPr>
                        <a:t>Table 108: Global Market Value by Flavour and Recipe and Ingredient Claims, US$ Mn, 2026–2036</a:t>
                      </a:r>
                      <a:endParaRPr sz="1050"/>
                    </a:p>
                  </a:txBody>
                  <a:tcPr marL="9525" marR="9525" marT="9525" marB="0" anchor="ctr"/>
                </a:tc>
              </a:tr>
              <a:tr h="169606">
                <a:tc>
                  <a:txBody>
                    <a:bodyPr wrap="square"/>
                    <a:lstStyle/>
                    <a:p>
                      <a:pPr algn="l"/>
                      <a:r>
                        <a:rPr sz="1050" b="0" i="0">
                          <a:solidFill>
                            <a:srgbClr val="000000"/>
                          </a:solidFill>
                          <a:latin typeface="Calibri"/>
                        </a:rPr>
                        <a:t>Table 109: Global Market Value by Flavour and Product Structure, US$ Mn, 2026–2036</a:t>
                      </a:r>
                      <a:endParaRPr sz="1050"/>
                    </a:p>
                  </a:txBody>
                  <a:tcPr marL="9525" marR="9525" marT="9525" marB="0" anchor="ctr"/>
                </a:tc>
              </a:tr>
              <a:tr h="169606">
                <a:tc>
                  <a:txBody>
                    <a:bodyPr wrap="square"/>
                    <a:lstStyle/>
                    <a:p>
                      <a:pPr algn="l"/>
                      <a:r>
                        <a:rPr sz="1050" b="0" i="0">
                          <a:solidFill>
                            <a:srgbClr val="000000"/>
                          </a:solidFill>
                          <a:latin typeface="Calibri"/>
                        </a:rPr>
                        <a:t>Table 110: Global Market Value by Flavour and Surface Finish, US$ Mn, 2026–2036</a:t>
                      </a:r>
                      <a:endParaRPr sz="1050"/>
                    </a:p>
                  </a:txBody>
                  <a:tcPr marL="9525" marR="9525" marT="9525" marB="0" anchor="ctr"/>
                </a:tc>
              </a:tr>
              <a:tr h="169606">
                <a:tc>
                  <a:txBody>
                    <a:bodyPr wrap="square"/>
                    <a:lstStyle/>
                    <a:p>
                      <a:pPr algn="l"/>
                      <a:r>
                        <a:rPr sz="1050" b="0" i="0">
                          <a:solidFill>
                            <a:srgbClr val="000000"/>
                          </a:solidFill>
                          <a:latin typeface="Calibri"/>
                        </a:rPr>
                        <a:t>Table 111: Global Market Value by Flavour and Individual Muffin Size, US$ Mn, 2026–2036</a:t>
                      </a:r>
                      <a:endParaRPr sz="1050"/>
                    </a:p>
                  </a:txBody>
                  <a:tcPr marL="9525" marR="9525" marT="9525" marB="0" anchor="ctr"/>
                </a:tc>
              </a:tr>
              <a:tr h="169606">
                <a:tc>
                  <a:txBody>
                    <a:bodyPr wrap="square"/>
                    <a:lstStyle/>
                    <a:p>
                      <a:pPr algn="l"/>
                      <a:r>
                        <a:rPr sz="1050" b="0" i="0">
                          <a:solidFill>
                            <a:srgbClr val="000000"/>
                          </a:solidFill>
                          <a:latin typeface="Calibri"/>
                        </a:rPr>
                        <a:t>Table 112: Global Market Value by Flavour and Storage Format, US$ Mn, 2026–2036</a:t>
                      </a:r>
                      <a:endParaRPr sz="1050"/>
                    </a:p>
                  </a:txBody>
                  <a:tcPr marL="9525" marR="9525" marT="9525" marB="0" anchor="ctr"/>
                </a:tc>
              </a:tr>
              <a:tr h="169606">
                <a:tc>
                  <a:txBody>
                    <a:bodyPr wrap="square"/>
                    <a:lstStyle/>
                    <a:p>
                      <a:pPr algn="l"/>
                      <a:r>
                        <a:rPr sz="1050" b="0" i="0">
                          <a:solidFill>
                            <a:srgbClr val="000000"/>
                          </a:solidFill>
                          <a:latin typeface="Calibri"/>
                        </a:rPr>
                        <a:t>Table 113: Global Market Value by Flavour and Shelf Life,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Table 114: Global Market Value by Region, US$ Mn, 2021–2036</a:t>
                      </a:r>
                      <a:endParaRPr sz="1050"/>
                    </a:p>
                  </a:txBody>
                  <a:tcPr marL="9525" marR="9525" marT="9525" marB="0" anchor="ctr"/>
                </a:tc>
              </a:tr>
              <a:tr h="170266">
                <a:tc>
                  <a:txBody>
                    <a:bodyPr wrap="square"/>
                    <a:lstStyle/>
                    <a:p>
                      <a:pPr algn="l"/>
                      <a:r>
                        <a:rPr sz="1050" b="0" i="0">
                          <a:solidFill>
                            <a:srgbClr val="000000"/>
                          </a:solidFill>
                          <a:latin typeface="Calibri"/>
                        </a:rPr>
                        <a:t>Table 115: Global Market CAGR and Absolute $ Opportunity by Region, %, US$ Mn, 2026–2036</a:t>
                      </a:r>
                      <a:endParaRPr sz="1050"/>
                    </a:p>
                  </a:txBody>
                  <a:tcPr marL="9525" marR="9525" marT="9525" marB="0" anchor="ctr"/>
                </a:tc>
              </a:tr>
              <a:tr h="170266">
                <a:tc>
                  <a:txBody>
                    <a:bodyPr wrap="square"/>
                    <a:lstStyle/>
                    <a:p>
                      <a:pPr algn="l"/>
                      <a:r>
                        <a:rPr sz="1050" b="0" i="0">
                          <a:solidFill>
                            <a:srgbClr val="000000"/>
                          </a:solidFill>
                          <a:latin typeface="Calibri"/>
                        </a:rPr>
                        <a:t>Table 116: Global Market Share and BPS Change by Region, %, 2026 and 2036</a:t>
                      </a:r>
                      <a:endParaRPr sz="1050"/>
                    </a:p>
                  </a:txBody>
                  <a:tcPr marL="9525" marR="9525" marT="9525" marB="0" anchor="ctr"/>
                </a:tc>
              </a:tr>
              <a:tr h="170266">
                <a:tc>
                  <a:txBody>
                    <a:bodyPr wrap="square"/>
                    <a:lstStyle/>
                    <a:p>
                      <a:pPr algn="l"/>
                      <a:r>
                        <a:rPr sz="1050" b="0" i="0">
                          <a:solidFill>
                            <a:srgbClr val="000000"/>
                          </a:solidFill>
                          <a:latin typeface="Calibri"/>
                        </a:rPr>
                        <a:t>Table 117: Global Market Volume by Region, MT, 2021–2036</a:t>
                      </a:r>
                      <a:endParaRPr sz="1050"/>
                    </a:p>
                  </a:txBody>
                  <a:tcPr marL="9525" marR="9525" marT="9525" marB="0" anchor="ctr"/>
                </a:tc>
              </a:tr>
              <a:tr h="170266">
                <a:tc>
                  <a:txBody>
                    <a:bodyPr wrap="square"/>
                    <a:lstStyle/>
                    <a:p>
                      <a:pPr algn="l"/>
                      <a:r>
                        <a:rPr sz="1050" b="0" i="0">
                          <a:solidFill>
                            <a:srgbClr val="000000"/>
                          </a:solidFill>
                          <a:latin typeface="Calibri"/>
                        </a:rPr>
                        <a:t>Table 118: North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119: Latin America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120: Europe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121: East Asia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122: South Asia &amp; Pacific Market Value by Country, US$ Mn, 2021–2036</a:t>
                      </a:r>
                      <a:endParaRPr sz="1050"/>
                    </a:p>
                  </a:txBody>
                  <a:tcPr marL="9525" marR="9525" marT="9525" marB="0" anchor="ctr"/>
                </a:tc>
              </a:tr>
              <a:tr h="170266">
                <a:tc>
                  <a:txBody>
                    <a:bodyPr wrap="square"/>
                    <a:lstStyle/>
                    <a:p>
                      <a:pPr algn="l"/>
                      <a:r>
                        <a:rPr sz="1050" b="0" i="0">
                          <a:solidFill>
                            <a:srgbClr val="000000"/>
                          </a:solidFill>
                          <a:latin typeface="Calibri"/>
                        </a:rPr>
                        <a:t>Table 123: Middle East &amp; Africa Market Value by Country, US$ Mn, 2021–2036</a:t>
                      </a:r>
                      <a:endParaRPr sz="1050"/>
                    </a:p>
                  </a:txBody>
                  <a:tcPr marL="9525" marR="9525" marT="9525" marB="0" anchor="ctr"/>
                </a:tc>
              </a:tr>
              <a:tr h="333720">
                <a:tc>
                  <a:txBody>
                    <a:bodyPr wrap="square"/>
                    <a:lstStyle/>
                    <a:p>
                      <a:pPr algn="l"/>
                      <a:r>
                        <a:rPr sz="1050" b="0" i="0">
                          <a:solidFill>
                            <a:srgbClr val="000000"/>
                          </a:solidFill>
                          <a:latin typeface="Calibri"/>
                        </a:rPr>
                        <a:t>Table 124: North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125: Latin America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126: Europe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127: East Asia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128: South Asia &amp; Pacific Market CAGR and Absolute $ Opportunity by Country, %, US$ Mn, 2026–2036</a:t>
                      </a:r>
                      <a:endParaRPr sz="1050"/>
                    </a:p>
                  </a:txBody>
                  <a:tcPr marL="9525" marR="9525" marT="9525" marB="0" anchor="ctr"/>
                </a:tc>
              </a:tr>
              <a:tr h="333720">
                <a:tc>
                  <a:txBody>
                    <a:bodyPr wrap="square"/>
                    <a:lstStyle/>
                    <a:p>
                      <a:pPr algn="l"/>
                      <a:r>
                        <a:rPr sz="1050" b="0" i="0">
                          <a:solidFill>
                            <a:srgbClr val="000000"/>
                          </a:solidFill>
                          <a:latin typeface="Calibri"/>
                        </a:rPr>
                        <a:t>Table 129: Middle East &amp; Africa Market CAGR and Absolute $ Opportunity by Country, %, US$ Mn, 2026–2036</a:t>
                      </a:r>
                      <a:endParaRPr sz="1050"/>
                    </a:p>
                  </a:txBody>
                  <a:tcPr marL="9525" marR="9525" marT="9525" marB="0" anchor="ctr"/>
                </a:tc>
              </a:tr>
              <a:tr h="170266">
                <a:tc>
                  <a:txBody>
                    <a:bodyPr wrap="square"/>
                    <a:lstStyle/>
                    <a:p>
                      <a:pPr algn="l"/>
                      <a:r>
                        <a:rPr sz="1050" b="0" i="0">
                          <a:solidFill>
                            <a:srgbClr val="000000"/>
                          </a:solidFill>
                          <a:latin typeface="Calibri"/>
                        </a:rPr>
                        <a:t>Table 130: North America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131: Latin America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132: Europe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133: East Asia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134: South Asia &amp; Pacific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135: Middle East &amp; Africa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136: U.S. Market Value by Product Type, US$ Mn, 2021–2036</a:t>
                      </a:r>
                      <a:endParaRPr sz="1050"/>
                    </a:p>
                  </a:txBody>
                  <a:tcPr marL="9525" marR="9525" marT="9525" marB="0" anchor="ctr"/>
                </a:tc>
              </a:tr>
              <a:tr h="170266">
                <a:tc>
                  <a:txBody>
                    <a:bodyPr wrap="square"/>
                    <a:lstStyle/>
                    <a:p>
                      <a:pPr algn="l"/>
                      <a:r>
                        <a:rPr sz="1050" b="0" i="0">
                          <a:solidFill>
                            <a:srgbClr val="000000"/>
                          </a:solidFill>
                          <a:latin typeface="Calibri"/>
                        </a:rPr>
                        <a:t>Table 137: U.S. Market Historical and Forecast Growth, %, 2021–2036</a:t>
                      </a:r>
                      <a:endParaRPr sz="1050"/>
                    </a:p>
                  </a:txBody>
                  <a:tcPr marL="9525" marR="9525" marT="9525" marB="0" anchor="ctr"/>
                </a:tc>
              </a:tr>
              <a:tr h="170266">
                <a:tc>
                  <a:txBody>
                    <a:bodyPr wrap="square"/>
                    <a:lstStyle/>
                    <a:p>
                      <a:pPr algn="l"/>
                      <a:r>
                        <a:rPr sz="1050" b="0" i="0">
                          <a:solidFill>
                            <a:srgbClr val="000000"/>
                          </a:solidFill>
                          <a:latin typeface="Calibri"/>
                        </a:rPr>
                        <a:t>Table 138: U.S. Market Value by Sales Channel, US$ Mn, 2021–2036</a:t>
                      </a:r>
                      <a:endParaRPr sz="1050"/>
                    </a:p>
                  </a:txBody>
                  <a:tcPr marL="9525" marR="9525" marT="9525" marB="0" anchor="ctr"/>
                </a:tc>
              </a:tr>
              <a:tr h="170266">
                <a:tc>
                  <a:txBody>
                    <a:bodyPr wrap="square"/>
                    <a:lstStyle/>
                    <a:p>
                      <a:pPr algn="l"/>
                      <a:r>
                        <a:rPr sz="1050" b="0" i="0">
                          <a:solidFill>
                            <a:srgbClr val="000000"/>
                          </a:solidFill>
                          <a:latin typeface="Calibri"/>
                        </a:rPr>
                        <a:t>Table 139: U.S. Market Share within North America, %, 2025, 2026 and 2036</a:t>
                      </a:r>
                      <a:endParaRPr sz="1050"/>
                    </a:p>
                  </a:txBody>
                  <a:tcPr marL="9525" marR="9525" marT="9525" marB="0" anchor="ctr"/>
                </a:tc>
              </a:tr>
              <a:tr h="170266">
                <a:tc>
                  <a:txBody>
                    <a:bodyPr wrap="square"/>
                    <a:lstStyle/>
                    <a:p>
                      <a:pPr algn="l"/>
                      <a:r>
                        <a:rPr sz="1050" b="0" i="0">
                          <a:solidFill>
                            <a:srgbClr val="000000"/>
                          </a:solidFill>
                          <a:latin typeface="Calibri"/>
                        </a:rPr>
                        <a:t>Table 140: U.S. Market Value by Flavour, US$ Mn, 2021–2036</a:t>
                      </a:r>
                      <a:endParaRPr sz="1050"/>
                    </a:p>
                  </a:txBody>
                  <a:tcPr marL="9525" marR="9525" marT="9525" marB="0" anchor="ctr"/>
                </a:tc>
              </a:tr>
              <a:tr h="170266">
                <a:tc>
                  <a:txBody>
                    <a:bodyPr wrap="square"/>
                    <a:lstStyle/>
                    <a:p>
                      <a:pPr algn="l"/>
                      <a:r>
                        <a:rPr sz="1050" b="0" i="0">
                          <a:solidFill>
                            <a:srgbClr val="000000"/>
                          </a:solidFill>
                          <a:latin typeface="Calibri"/>
                        </a:rPr>
                        <a:t>Table 141: U.S. Market Value by Primary Flour Base,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142: U.S.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143: U.S.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144: Germany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145: Germany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146: Germany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147: Germany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148: Germany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149: Germany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150: Germany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151: Germany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152: Canada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153: Canada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154: Canada Market Value by Sales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155: Canada Market Share within North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156: Canada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157: Canada Market Value by Primary Flour Base, US$ Mn, 2021–2036</a:t>
                      </a:r>
                      <a:endParaRPr sz="1050"/>
                    </a:p>
                  </a:txBody>
                  <a:tcPr marL="9525" marR="9525" marT="9525" marB="0" anchor="ctr"/>
                </a:tc>
              </a:tr>
              <a:tr h="169606">
                <a:tc>
                  <a:txBody>
                    <a:bodyPr wrap="square"/>
                    <a:lstStyle/>
                    <a:p>
                      <a:pPr algn="l"/>
                      <a:r>
                        <a:rPr sz="1050" b="0" i="0">
                          <a:solidFill>
                            <a:srgbClr val="000000"/>
                          </a:solidFill>
                          <a:latin typeface="Calibri"/>
                        </a:rPr>
                        <a:t>Table 158: Canada Market Value by Dietary Formulation,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159: Canada Market Value by Nutritional Positioning, US$ Mn, 2021–2036</a:t>
                      </a:r>
                      <a:endParaRPr sz="1050"/>
                    </a:p>
                  </a:txBody>
                  <a:tcPr marL="9525" marR="9525" marT="9525" marB="0" anchor="ctr"/>
                </a:tc>
              </a:tr>
              <a:tr h="169606">
                <a:tc>
                  <a:txBody>
                    <a:bodyPr wrap="square"/>
                    <a:lstStyle/>
                    <a:p>
                      <a:pPr algn="l"/>
                      <a:r>
                        <a:rPr sz="1050" b="0" i="0">
                          <a:solidFill>
                            <a:srgbClr val="000000"/>
                          </a:solidFill>
                          <a:latin typeface="Calibri"/>
                        </a:rPr>
                        <a:t>Table 160: China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161: China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162: India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163: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164: Brazil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165: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166: Market Product Price Comparison by Company and Product Type, US$/MT, 2026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Region, US$/MT,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Product Type, US$/MT,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Flavour, US$/MT,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Primary Flour Base, US$/MT,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Dietary Formulation, US$/MT,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Nutritional Positioning,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0708">
                <a:tc>
                  <a:txBody>
                    <a:bodyPr wrap="square"/>
                    <a:lstStyle/>
                    <a:p>
                      <a:pPr algn="l"/>
                      <a:r>
                        <a:rPr sz="1050" b="0" i="0">
                          <a:solidFill>
                            <a:srgbClr val="000000"/>
                          </a:solidFill>
                          <a:latin typeface="Calibri"/>
                        </a:rPr>
                        <a:t>Table 173: Global Market Average Selling Price by Recipe and Ingredient Claims, US$/MT, 2021–2036</a:t>
                      </a:r>
                      <a:endParaRPr sz="1050"/>
                    </a:p>
                  </a:txBody>
                  <a:tcPr marL="9525" marR="9525" marT="9525" marB="0" anchor="ctr"/>
                </a:tc>
              </a:tr>
              <a:tr h="170708">
                <a:tc>
                  <a:txBody>
                    <a:bodyPr wrap="square"/>
                    <a:lstStyle/>
                    <a:p>
                      <a:pPr algn="l"/>
                      <a:r>
                        <a:rPr sz="1050" b="0" i="0">
                          <a:solidFill>
                            <a:srgbClr val="000000"/>
                          </a:solidFill>
                          <a:latin typeface="Calibri"/>
                        </a:rPr>
                        <a:t>Table 174: Global Market Average Selling Price by Product Structure, US$/MT, 2021–2036</a:t>
                      </a:r>
                      <a:endParaRPr sz="1050"/>
                    </a:p>
                  </a:txBody>
                  <a:tcPr marL="9525" marR="9525" marT="9525" marB="0" anchor="ctr"/>
                </a:tc>
              </a:tr>
              <a:tr h="170708">
                <a:tc>
                  <a:txBody>
                    <a:bodyPr wrap="square"/>
                    <a:lstStyle/>
                    <a:p>
                      <a:pPr algn="l"/>
                      <a:r>
                        <a:rPr sz="1050" b="0" i="0">
                          <a:solidFill>
                            <a:srgbClr val="000000"/>
                          </a:solidFill>
                          <a:latin typeface="Calibri"/>
                        </a:rPr>
                        <a:t>Table 175: Global Market Average Selling Price by Surface Finish, US$/MT, 2021–2036</a:t>
                      </a:r>
                      <a:endParaRPr sz="1050"/>
                    </a:p>
                  </a:txBody>
                  <a:tcPr marL="9525" marR="9525" marT="9525" marB="0" anchor="ctr"/>
                </a:tc>
              </a:tr>
              <a:tr h="170708">
                <a:tc>
                  <a:txBody>
                    <a:bodyPr wrap="square"/>
                    <a:lstStyle/>
                    <a:p>
                      <a:pPr algn="l"/>
                      <a:r>
                        <a:rPr sz="1050" b="0" i="0">
                          <a:solidFill>
                            <a:srgbClr val="000000"/>
                          </a:solidFill>
                          <a:latin typeface="Calibri"/>
                        </a:rPr>
                        <a:t>Table 176: Global Market Average Selling Price by Individual Muffin Size, US$/MT, 2021–2036</a:t>
                      </a:r>
                      <a:endParaRPr sz="1050"/>
                    </a:p>
                  </a:txBody>
                  <a:tcPr marL="9525" marR="9525" marT="9525" marB="0" anchor="ctr"/>
                </a:tc>
              </a:tr>
              <a:tr h="170708">
                <a:tc>
                  <a:txBody>
                    <a:bodyPr wrap="square"/>
                    <a:lstStyle/>
                    <a:p>
                      <a:pPr algn="l"/>
                      <a:r>
                        <a:rPr sz="1050" b="0" i="0">
                          <a:solidFill>
                            <a:srgbClr val="000000"/>
                          </a:solidFill>
                          <a:latin typeface="Calibri"/>
                        </a:rPr>
                        <a:t>Table 177: Global Market Average Selling Price by Storage Format, US$/MT, 2021–2036</a:t>
                      </a:r>
                      <a:endParaRPr sz="1050"/>
                    </a:p>
                  </a:txBody>
                  <a:tcPr marL="9525" marR="9525" marT="9525" marB="0" anchor="ctr"/>
                </a:tc>
              </a:tr>
              <a:tr h="170708">
                <a:tc>
                  <a:txBody>
                    <a:bodyPr wrap="square"/>
                    <a:lstStyle/>
                    <a:p>
                      <a:pPr algn="l"/>
                      <a:r>
                        <a:rPr sz="1050" b="0" i="0">
                          <a:solidFill>
                            <a:srgbClr val="000000"/>
                          </a:solidFill>
                          <a:latin typeface="Calibri"/>
                        </a:rPr>
                        <a:t>Table 178: Global Market Average Selling Price by Shelf Life, US$/MT, 2021–2036</a:t>
                      </a:r>
                      <a:endParaRPr sz="1050"/>
                    </a:p>
                  </a:txBody>
                  <a:tcPr marL="9525" marR="9525" marT="9525" marB="0" anchor="ctr"/>
                </a:tc>
              </a:tr>
              <a:tr h="170708">
                <a:tc>
                  <a:txBody>
                    <a:bodyPr wrap="square"/>
                    <a:lstStyle/>
                    <a:p>
                      <a:pPr algn="l"/>
                      <a:r>
                        <a:rPr sz="1050" b="0" i="0">
                          <a:solidFill>
                            <a:srgbClr val="000000"/>
                          </a:solidFill>
                          <a:latin typeface="Calibri"/>
                        </a:rPr>
                        <a:t>Table 179: Global Market Average Selling Price by Packaging Format, US$/MT, 2021–2036</a:t>
                      </a:r>
                      <a:endParaRPr sz="1050"/>
                    </a:p>
                  </a:txBody>
                  <a:tcPr marL="9525" marR="9525" marT="9525" marB="0" anchor="ctr"/>
                </a:tc>
              </a:tr>
              <a:tr h="170708">
                <a:tc>
                  <a:txBody>
                    <a:bodyPr wrap="square"/>
                    <a:lstStyle/>
                    <a:p>
                      <a:pPr algn="l"/>
                      <a:r>
                        <a:rPr sz="1050" b="0" i="0">
                          <a:solidFill>
                            <a:srgbClr val="000000"/>
                          </a:solidFill>
                          <a:latin typeface="Calibri"/>
                        </a:rPr>
                        <a:t>Table 180: Leading Packaged Muffins Manufacturers: Product Portfolio and Geographic Presence, 2026</a:t>
                      </a:r>
                      <a:endParaRPr sz="1050"/>
                    </a:p>
                  </a:txBody>
                  <a:tcPr marL="9525" marR="9525" marT="9525" marB="0" anchor="ctr"/>
                </a:tc>
              </a:tr>
              <a:tr h="170708">
                <a:tc>
                  <a:txBody>
                    <a:bodyPr wrap="square"/>
                    <a:lstStyle/>
                    <a:p>
                      <a:pPr algn="l"/>
                      <a:r>
                        <a:rPr sz="1050" b="0" i="0">
                          <a:solidFill>
                            <a:srgbClr val="000000"/>
                          </a:solidFill>
                          <a:latin typeface="Calibri"/>
                        </a:rPr>
                        <a:t>Table 181: Company Revenue from the Global Market, US$ Mn, 2025–2026</a:t>
                      </a:r>
                      <a:endParaRPr sz="1050"/>
                    </a:p>
                  </a:txBody>
                  <a:tcPr marL="9525" marR="9525" marT="9525" marB="0" anchor="ctr"/>
                </a:tc>
              </a:tr>
              <a:tr h="170708">
                <a:tc>
                  <a:txBody>
                    <a:bodyPr wrap="square"/>
                    <a:lstStyle/>
                    <a:p>
                      <a:pPr algn="l"/>
                      <a:r>
                        <a:rPr sz="1050" b="0" i="0">
                          <a:solidFill>
                            <a:srgbClr val="000000"/>
                          </a:solidFill>
                          <a:latin typeface="Calibri"/>
                        </a:rPr>
                        <a:t>Table 182: Company Market Share in the Global Market by Region, %, 2026</a:t>
                      </a:r>
                      <a:endParaRPr sz="1050"/>
                    </a:p>
                  </a:txBody>
                  <a:tcPr marL="9525" marR="9525" marT="9525" marB="0" anchor="ctr"/>
                </a:tc>
              </a:tr>
              <a:tr h="170708">
                <a:tc>
                  <a:txBody>
                    <a:bodyPr wrap="square"/>
                    <a:lstStyle/>
                    <a:p>
                      <a:pPr algn="l"/>
                      <a:r>
                        <a:rPr sz="1050" b="0" i="0">
                          <a:solidFill>
                            <a:srgbClr val="000000"/>
                          </a:solidFill>
                          <a:latin typeface="Calibri"/>
                        </a:rPr>
                        <a:t>Table 183: Global Market Competitive Benchmarking Matrix, 2026</a:t>
                      </a:r>
                      <a:endParaRPr sz="1050"/>
                    </a:p>
                  </a:txBody>
                  <a:tcPr marL="9525" marR="9525" marT="9525" marB="0" anchor="ctr"/>
                </a:tc>
              </a:tr>
              <a:tr h="170708">
                <a:tc>
                  <a:txBody>
                    <a:bodyPr wrap="square"/>
                    <a:lstStyle/>
                    <a:p>
                      <a:pPr algn="l"/>
                      <a:r>
                        <a:rPr sz="1050" b="0" i="0">
                          <a:solidFill>
                            <a:srgbClr val="000000"/>
                          </a:solidFill>
                          <a:latin typeface="Calibri"/>
                        </a:rPr>
                        <a:t>Table 184: Global Market Mergers, Acquisitions and Partnerships, 2021–2026</a:t>
                      </a:r>
                      <a:endParaRPr sz="1050"/>
                    </a:p>
                  </a:txBody>
                  <a:tcPr marL="9525" marR="9525" marT="9525" marB="0" anchor="ctr"/>
                </a:tc>
              </a:tr>
              <a:tr h="334587">
                <a:tc>
                  <a:txBody>
                    <a:bodyPr wrap="square"/>
                    <a:lstStyle/>
                    <a:p>
                      <a:pPr algn="l"/>
                      <a:r>
                        <a:rPr sz="1050" b="0" i="0">
                          <a:solidFill>
                            <a:srgbClr val="000000"/>
                          </a:solidFill>
                          <a:latin typeface="Calibri"/>
                        </a:rPr>
                        <a:t>Table 185: Grupo Bimbo (Bimbo, Marinela, Little Bites, Thomas'): Company Overview, Products and Strategy, 2026</a:t>
                      </a:r>
                      <a:endParaRPr sz="1050"/>
                    </a:p>
                  </a:txBody>
                  <a:tcPr marL="9525" marR="9525" marT="9525" marB="0" anchor="ctr"/>
                </a:tc>
              </a:tr>
              <a:tr h="334587">
                <a:tc>
                  <a:txBody>
                    <a:bodyPr wrap="square"/>
                    <a:lstStyle/>
                    <a:p>
                      <a:pPr algn="l"/>
                      <a:r>
                        <a:rPr sz="1050" b="0" i="0">
                          <a:solidFill>
                            <a:srgbClr val="000000"/>
                          </a:solidFill>
                          <a:latin typeface="Calibri"/>
                        </a:rPr>
                        <a:t>Table 186: McKee Foods Corporation (Little Debbie, Sunbelt Bakery, Drake's, Fieldstone Bakery):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187: Hostess Brands (Hostess):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188: Rich Products Corporation (Rich's): Company Overview, Products and Strategy, 2026</a:t>
                      </a:r>
                      <a:endParaRPr sz="1050"/>
                    </a:p>
                  </a:txBody>
                  <a:tcPr marL="9525" marR="9525" marT="9525" marB="0" anchor="ctr"/>
                </a:tc>
              </a:tr>
              <a:tr h="334587">
                <a:tc>
                  <a:txBody>
                    <a:bodyPr wrap="square"/>
                    <a:lstStyle/>
                    <a:p>
                      <a:pPr algn="l"/>
                      <a:r>
                        <a:rPr sz="1050" b="0" i="0">
                          <a:solidFill>
                            <a:srgbClr val="000000"/>
                          </a:solidFill>
                          <a:latin typeface="Calibri"/>
                        </a:rPr>
                        <a:t>Table 189: ARYZTA / Aspire Bakeries (Otis Spunkmeyer, Cuisine de France, Hiestand, Delice de France):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190: Europastry (Europastry, Dots):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191: Bridor (Bridor, Evasions): Company Overview, Products and Strategy, 2026</a:t>
                      </a:r>
                      <a:endParaRPr sz="1050"/>
                    </a:p>
                  </a:txBody>
                  <a:tcPr marL="9525" marR="9525" marT="9525" marB="0" anchor="ctr"/>
                </a:tc>
              </a:tr>
              <a:tr h="334587">
                <a:tc>
                  <a:txBody>
                    <a:bodyPr wrap="square"/>
                    <a:lstStyle/>
                    <a:p>
                      <a:pPr algn="l"/>
                      <a:r>
                        <a:rPr sz="1050" b="0" i="0">
                          <a:solidFill>
                            <a:srgbClr val="000000"/>
                          </a:solidFill>
                          <a:latin typeface="Calibri"/>
                        </a:rPr>
                        <a:t>Table 192: Lantmännen Unibake (Schulstad, Hatting, Vaasan, Pastridor, Euro-Bake): Company Overview, Products and Strategy, 2026</a:t>
                      </a:r>
                      <a:endParaRPr sz="1050"/>
                    </a:p>
                  </a:txBody>
                  <a:tcPr marL="9525" marR="9525" marT="9525" marB="0" anchor="ctr"/>
                </a:tc>
              </a:tr>
              <a:tr h="334587">
                <a:tc>
                  <a:txBody>
                    <a:bodyPr wrap="square"/>
                    <a:lstStyle/>
                    <a:p>
                      <a:pPr algn="l"/>
                      <a:r>
                        <a:rPr sz="1050" b="0" i="0">
                          <a:solidFill>
                            <a:srgbClr val="000000"/>
                          </a:solidFill>
                          <a:latin typeface="Calibri"/>
                        </a:rPr>
                        <a:t>Table 193: Flowers Foods (Tastykake, Nature's Own, Wonder, Dave's Killer Bread, Canyon Bakehouse):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194: Premier Foods (Mr Kipling): Company Overview, Products and Strategy, 2026</a:t>
                      </a:r>
                      <a:endParaRPr sz="1050"/>
                    </a:p>
                  </a:txBody>
                  <a:tcPr marL="9525" marR="9525" marT="9525" marB="0" anchor="ctr"/>
                </a:tc>
              </a:tr>
              <a:tr h="170708">
                <a:tc>
                  <a:txBody>
                    <a:bodyPr wrap="square"/>
                    <a:lstStyle/>
                    <a:p>
                      <a:pPr algn="l"/>
                      <a:r>
                        <a:rPr sz="1050" b="0" i="0">
                          <a:solidFill>
                            <a:srgbClr val="000000"/>
                          </a:solidFill>
                          <a:latin typeface="Calibri"/>
                        </a:rPr>
                        <a:t>Table 195: Global Market Value by Scenario and Region, US$ Mn, 2026–2036</a:t>
                      </a:r>
                      <a:endParaRPr sz="1050"/>
                    </a:p>
                  </a:txBody>
                  <a:tcPr marL="9525" marR="9525" marT="9525" marB="0" anchor="ctr"/>
                </a:tc>
              </a:tr>
              <a:tr h="170708">
                <a:tc>
                  <a:txBody>
                    <a:bodyPr wrap="square"/>
                    <a:lstStyle/>
                    <a:p>
                      <a:pPr algn="l"/>
                      <a:r>
                        <a:rPr sz="1050" b="0" i="0">
                          <a:solidFill>
                            <a:srgbClr val="000000"/>
                          </a:solidFill>
                          <a:latin typeface="Calibri"/>
                        </a:rPr>
                        <a:t>Table 196: Global Market Key Trends and Impact Rating, 2026–2036</a:t>
                      </a:r>
                      <a:endParaRPr sz="1050"/>
                    </a:p>
                  </a:txBody>
                  <a:tcPr marL="9525" marR="9525" marT="9525" marB="0" anchor="ctr"/>
                </a:tc>
              </a:tr>
              <a:tr h="170708">
                <a:tc>
                  <a:txBody>
                    <a:bodyPr wrap="square"/>
                    <a:lstStyle/>
                    <a:p>
                      <a:pPr algn="l"/>
                      <a:r>
                        <a:rPr sz="1050" b="0" i="0">
                          <a:solidFill>
                            <a:srgbClr val="000000"/>
                          </a:solidFill>
                          <a:latin typeface="Calibri"/>
                        </a:rPr>
                        <a:t>Table 197: Global Market Opportunity Assessment by Product Type, US$ Mn, 2026–2036</a:t>
                      </a:r>
                      <a:endParaRPr sz="1050"/>
                    </a:p>
                  </a:txBody>
                  <a:tcPr marL="9525" marR="9525" marT="9525" marB="0" anchor="ctr"/>
                </a:tc>
              </a:tr>
              <a:tr h="170708">
                <a:tc>
                  <a:txBody>
                    <a:bodyPr wrap="square"/>
                    <a:lstStyle/>
                    <a:p>
                      <a:pPr algn="l"/>
                      <a:r>
                        <a:rPr sz="1050" b="0" i="0">
                          <a:solidFill>
                            <a:srgbClr val="000000"/>
                          </a:solidFill>
                          <a:latin typeface="Calibri"/>
                        </a:rPr>
                        <a:t>Table 198: Global Market Scenario Assumptions,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333376"/>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199: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200: Global Market Customer Purchase Criteria by Product Type,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6668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197167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676525"/>
            <a:ext cx="5067300" cy="596138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Primary Flour Base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Dietary Formulation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Nutritional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Recipe and Ingredient Claims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Surface Finish</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Individual Muffin Size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Storage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Shelf Life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 Configuration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Multipack Wrapping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Price Positioning</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Brand Ownership</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Sales Channel</a:t>
            </a:r>
          </a:p>
        </p:txBody>
      </p:sp>
      <p:sp>
        <p:nvSpPr>
          <p:cNvPr id="8" name="TextBox 7"/>
          <p:cNvSpPr txBox="1"/>
          <p:nvPr/>
        </p:nvSpPr>
        <p:spPr>
          <a:xfrm>
            <a:off x="6096000" y="2676525"/>
            <a:ext cx="5067300" cy="15913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Packaging Format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Sales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Individual Muffin Size</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509315" cy="194310"/>
          </a:xfrm>
          <a:prstGeom prst="rect">
            <a:avLst/>
          </a:prstGeom>
          <a:noFill/>
        </p:spPr>
        <p:txBody>
          <a:bodyPr wrap="none" lIns="0" rIns="0" tIns="0" bIns="0">
            <a:spAutoFit/>
          </a:bodyPr>
          <a:lstStyle/>
          <a:p>
            <a:r>
              <a:rPr sz="1150" b="0">
                <a:solidFill>
                  <a:srgbClr val="2E2E2E"/>
                </a:solidFill>
                <a:latin typeface="Calibri"/>
              </a:rPr>
              <a:t>▪ Incremental volume of</a:t>
            </a:r>
          </a:p>
        </p:txBody>
      </p:sp>
      <p:pic>
        <p:nvPicPr>
          <p:cNvPr id="41" name="Picture 40" descr="lock.png"/>
          <p:cNvPicPr>
            <a:picLocks noChangeAspect="1"/>
          </p:cNvPicPr>
          <p:nvPr/>
        </p:nvPicPr>
        <p:blipFill>
          <a:blip r:embed="rId6"/>
          <a:stretch>
            <a:fillRect/>
          </a:stretch>
        </p:blipFill>
        <p:spPr>
          <a:xfrm>
            <a:off x="9507094" y="2439861"/>
            <a:ext cx="134549" cy="195707"/>
          </a:xfrm>
          <a:prstGeom prst="rect">
            <a:avLst/>
          </a:prstGeom>
        </p:spPr>
      </p:pic>
      <p:sp>
        <p:nvSpPr>
          <p:cNvPr id="42" name="TextBox 41"/>
          <p:cNvSpPr txBox="1"/>
          <p:nvPr/>
        </p:nvSpPr>
        <p:spPr>
          <a:xfrm>
            <a:off x="9682203" y="2450085"/>
            <a:ext cx="1946609" cy="194310"/>
          </a:xfrm>
          <a:prstGeom prst="rect">
            <a:avLst/>
          </a:prstGeom>
          <a:noFill/>
        </p:spPr>
        <p:txBody>
          <a:bodyPr wrap="none" lIns="0" rIns="0" tIns="0" bIns="0">
            <a:spAutoFit/>
          </a:bodyPr>
          <a:lstStyle/>
          <a:p>
            <a:r>
              <a:rPr sz="1150" b="0">
                <a:solidFill>
                  <a:srgbClr val="2E2E2E"/>
                </a:solidFill>
                <a:latin typeface="Calibri"/>
              </a:rPr>
              <a:t>MT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933017" cy="194310"/>
          </a:xfrm>
          <a:prstGeom prst="rect">
            <a:avLst/>
          </a:prstGeom>
          <a:noFill/>
        </p:spPr>
        <p:txBody>
          <a:bodyPr wrap="none" lIns="0" rIns="0" tIns="0" bIns="0">
            <a:spAutoFit/>
          </a:bodyPr>
          <a:lstStyle/>
          <a:p>
            <a:r>
              <a:rPr sz="1150" b="0">
                <a:solidFill>
                  <a:srgbClr val="2E2E2E"/>
                </a:solidFill>
                <a:latin typeface="Calibri"/>
              </a:rPr>
              <a:t>MT is added 2026–2036 more than the previous</a:t>
            </a:r>
          </a:p>
        </p:txBody>
      </p:sp>
      <p:sp>
        <p:nvSpPr>
          <p:cNvPr id="47" name="TextBox 46"/>
          <p:cNvSpPr txBox="1"/>
          <p:nvPr/>
        </p:nvSpPr>
        <p:spPr>
          <a:xfrm>
            <a:off x="8048625" y="3028442"/>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48" name="TextBox 47"/>
          <p:cNvSpPr txBox="1"/>
          <p:nvPr/>
        </p:nvSpPr>
        <p:spPr>
          <a:xfrm>
            <a:off x="8048625" y="3256280"/>
            <a:ext cx="1724682" cy="194310"/>
          </a:xfrm>
          <a:prstGeom prst="rect">
            <a:avLst/>
          </a:prstGeom>
          <a:noFill/>
        </p:spPr>
        <p:txBody>
          <a:bodyPr wrap="none" lIns="0" rIns="0" tIns="0" bIns="0">
            <a:spAutoFit/>
          </a:bodyPr>
          <a:lstStyle/>
          <a:p>
            <a:r>
              <a:rPr sz="1150" b="0">
                <a:solidFill>
                  <a:srgbClr val="2E2E2E"/>
                </a:solidFill>
                <a:latin typeface="Calibri"/>
              </a:rPr>
              <a:t>▪ Total incremental volume:</a:t>
            </a:r>
          </a:p>
        </p:txBody>
      </p:sp>
      <p:pic>
        <p:nvPicPr>
          <p:cNvPr id="49" name="Picture 48" descr="lock.png"/>
          <p:cNvPicPr>
            <a:picLocks noChangeAspect="1"/>
          </p:cNvPicPr>
          <p:nvPr/>
        </p:nvPicPr>
        <p:blipFill>
          <a:blip r:embed="rId6"/>
          <a:stretch>
            <a:fillRect/>
          </a:stretch>
        </p:blipFill>
        <p:spPr>
          <a:xfrm>
            <a:off x="9722461" y="3246057"/>
            <a:ext cx="134549" cy="195707"/>
          </a:xfrm>
          <a:prstGeom prst="rect">
            <a:avLst/>
          </a:prstGeom>
        </p:spPr>
      </p:pic>
      <p:sp>
        <p:nvSpPr>
          <p:cNvPr id="50" name="TextBox 49"/>
          <p:cNvSpPr txBox="1"/>
          <p:nvPr/>
        </p:nvSpPr>
        <p:spPr>
          <a:xfrm>
            <a:off x="9897570" y="3256280"/>
            <a:ext cx="1410903" cy="194310"/>
          </a:xfrm>
          <a:prstGeom prst="rect">
            <a:avLst/>
          </a:prstGeom>
          <a:noFill/>
        </p:spPr>
        <p:txBody>
          <a:bodyPr wrap="none" lIns="0" rIns="0" tIns="0" bIns="0">
            <a:spAutoFit/>
          </a:bodyPr>
          <a:lstStyle/>
          <a:p>
            <a:r>
              <a:rPr sz="1150" b="0">
                <a:solidFill>
                  <a:srgbClr val="2E2E2E"/>
                </a:solidFill>
                <a:latin typeface="Calibri"/>
              </a:rPr>
              <a:t>MT over 2021–2036, a</a:t>
            </a:r>
          </a:p>
        </p:txBody>
      </p:sp>
      <p:pic>
        <p:nvPicPr>
          <p:cNvPr id="51" name="Picture 50" descr="lock.png"/>
          <p:cNvPicPr>
            <a:picLocks noChangeAspect="1"/>
          </p:cNvPicPr>
          <p:nvPr/>
        </p:nvPicPr>
        <p:blipFill>
          <a:blip r:embed="rId6"/>
          <a:stretch>
            <a:fillRect/>
          </a:stretch>
        </p:blipFill>
        <p:spPr>
          <a:xfrm>
            <a:off x="11257627" y="3246057"/>
            <a:ext cx="134549" cy="195707"/>
          </a:xfrm>
          <a:prstGeom prst="rect">
            <a:avLst/>
          </a:prstGeom>
        </p:spPr>
      </p:pic>
      <p:sp>
        <p:nvSpPr>
          <p:cNvPr id="52" name="TextBox 51"/>
          <p:cNvSpPr txBox="1"/>
          <p:nvPr/>
        </p:nvSpPr>
        <p:spPr>
          <a:xfrm>
            <a:off x="11432736"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5" name="Picture 54" descr="lock.png"/>
          <p:cNvPicPr>
            <a:picLocks noChangeAspect="1"/>
          </p:cNvPicPr>
          <p:nvPr/>
        </p:nvPicPr>
        <p:blipFill>
          <a:blip r:embed="rId6"/>
          <a:stretch>
            <a:fillRect/>
          </a:stretch>
        </p:blipFill>
        <p:spPr>
          <a:xfrm>
            <a:off x="10866614" y="4446251"/>
            <a:ext cx="134549" cy="195707"/>
          </a:xfrm>
          <a:prstGeom prst="rect">
            <a:avLst/>
          </a:prstGeom>
        </p:spPr>
      </p:pic>
      <p:sp>
        <p:nvSpPr>
          <p:cNvPr id="56" name="TextBox 55"/>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7" name="Connector 26"/>
          <p:cNvCxnSpPr/>
          <p:nvPr/>
        </p:nvCxnSpPr>
        <p:spPr>
          <a:xfrm flipV="1">
            <a:off x="2409825" y="1670329"/>
            <a:ext cx="0" cy="56072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23105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22783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2190750" y="1816360"/>
            <a:ext cx="438150" cy="28024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2190750" y="195841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5915025" y="2684514"/>
            <a:ext cx="0" cy="43503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783580" y="268451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5695950" y="2797403"/>
            <a:ext cx="438150" cy="21745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5695950" y="29074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4162425" y="2532114"/>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9" name="TextBox 38"/>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sp>
        <p:nvSpPr>
          <p:cNvPr id="40" name="TextBox 39"/>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41" name="Rounded Rectangle 40"/>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43" name="Connector 42"/>
          <p:cNvCxnSpPr/>
          <p:nvPr/>
        </p:nvCxnSpPr>
        <p:spPr>
          <a:xfrm>
            <a:off x="619125" y="43200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47299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55496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59594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619125" y="4320076"/>
            <a:ext cx="0" cy="1639399"/>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3200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47299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55496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590550" y="59594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4" name="FMI Scale tick"/>
          <p:cNvSpPr txBox="1"/>
          <p:nvPr/>
        </p:nvSpPr>
        <p:spPr>
          <a:xfrm>
            <a:off x="138112" y="425340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+8.6%</a:t>
            </a:r>
          </a:p>
        </p:txBody>
      </p:sp>
      <p:sp>
        <p:nvSpPr>
          <p:cNvPr id="55" name="FMI Scale tick"/>
          <p:cNvSpPr txBox="1"/>
          <p:nvPr/>
        </p:nvSpPr>
        <p:spPr>
          <a:xfrm>
            <a:off x="138112" y="466325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+4.3%</a:t>
            </a:r>
          </a:p>
        </p:txBody>
      </p:sp>
      <p:sp>
        <p:nvSpPr>
          <p:cNvPr id="56"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57" name="FMI Scale tick"/>
          <p:cNvSpPr txBox="1"/>
          <p:nvPr/>
        </p:nvSpPr>
        <p:spPr>
          <a:xfrm>
            <a:off x="164306" y="548295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-4.3%</a:t>
            </a:r>
          </a:p>
        </p:txBody>
      </p:sp>
      <p:sp>
        <p:nvSpPr>
          <p:cNvPr id="58" name="FMI Scale tick"/>
          <p:cNvSpPr txBox="1"/>
          <p:nvPr/>
        </p:nvSpPr>
        <p:spPr>
          <a:xfrm>
            <a:off x="164306" y="589280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-8.6%</a:t>
            </a:r>
          </a:p>
        </p:txBody>
      </p:sp>
      <p:cxnSp>
        <p:nvCxnSpPr>
          <p:cNvPr id="59" name="Connector 58"/>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977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MI Data Label"/>
          <p:cNvSpPr txBox="1"/>
          <p:nvPr/>
        </p:nvSpPr>
        <p:spPr>
          <a:xfrm>
            <a:off x="619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2" name="Rectangle 61"/>
          <p:cNvSpPr/>
          <p:nvPr/>
        </p:nvSpPr>
        <p:spPr>
          <a:xfrm>
            <a:off x="2152650" y="4906805"/>
            <a:ext cx="457200" cy="23297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MI Data Label"/>
          <p:cNvSpPr txBox="1"/>
          <p:nvPr/>
        </p:nvSpPr>
        <p:spPr>
          <a:xfrm>
            <a:off x="1793875" y="476393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4" name="Rectangle 63"/>
          <p:cNvSpPr/>
          <p:nvPr/>
        </p:nvSpPr>
        <p:spPr>
          <a:xfrm>
            <a:off x="3327400" y="4430421"/>
            <a:ext cx="457200" cy="70935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MI Data Label"/>
          <p:cNvSpPr txBox="1"/>
          <p:nvPr/>
        </p:nvSpPr>
        <p:spPr>
          <a:xfrm>
            <a:off x="2968625" y="428754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6" name="FMI Data Label"/>
          <p:cNvSpPr txBox="1"/>
          <p:nvPr/>
        </p:nvSpPr>
        <p:spPr>
          <a:xfrm>
            <a:off x="4143375" y="515669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7" name="Rectangle 66"/>
          <p:cNvSpPr/>
          <p:nvPr/>
        </p:nvSpPr>
        <p:spPr>
          <a:xfrm>
            <a:off x="5676900" y="4948103"/>
            <a:ext cx="457200" cy="19167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5318125" y="480522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6851650" y="4868773"/>
            <a:ext cx="457200" cy="27100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6492875" y="472589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TextBox 70"/>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72" name="TextBox 71"/>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73" name="TextBox 72"/>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74" name="TextBox 73"/>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75" name="TextBox 74"/>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76" name="TextBox 75"/>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77" name="Rounded Rectangle 76"/>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9" name="Rectangle 78"/>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81" name="TextBox 8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2" name="Picture 81" descr="lock.png"/>
          <p:cNvPicPr>
            <a:picLocks noChangeAspect="1"/>
          </p:cNvPicPr>
          <p:nvPr/>
        </p:nvPicPr>
        <p:blipFill>
          <a:blip r:embed="rId4"/>
          <a:stretch>
            <a:fillRect/>
          </a:stretch>
        </p:blipFill>
        <p:spPr>
          <a:xfrm>
            <a:off x="2345475" y="1491005"/>
            <a:ext cx="128699" cy="187198"/>
          </a:xfrm>
          <a:prstGeom prst="rect">
            <a:avLst/>
          </a:prstGeom>
        </p:spPr>
      </p:pic>
      <p:pic>
        <p:nvPicPr>
          <p:cNvPr id="83" name="Picture 82" descr="lock.png"/>
          <p:cNvPicPr>
            <a:picLocks noChangeAspect="1"/>
          </p:cNvPicPr>
          <p:nvPr/>
        </p:nvPicPr>
        <p:blipFill>
          <a:blip r:embed="rId4"/>
          <a:stretch>
            <a:fillRect/>
          </a:stretch>
        </p:blipFill>
        <p:spPr>
          <a:xfrm>
            <a:off x="5850675" y="2505190"/>
            <a:ext cx="128699" cy="187198"/>
          </a:xfrm>
          <a:prstGeom prst="rect">
            <a:avLst/>
          </a:prstGeom>
        </p:spPr>
      </p:pic>
      <p:pic>
        <p:nvPicPr>
          <p:cNvPr id="84" name="Picture 83" descr="lock.png"/>
          <p:cNvPicPr>
            <a:picLocks noChangeAspect="1"/>
          </p:cNvPicPr>
          <p:nvPr/>
        </p:nvPicPr>
        <p:blipFill>
          <a:blip r:embed="rId4"/>
          <a:stretch>
            <a:fillRect/>
          </a:stretch>
        </p:blipFill>
        <p:spPr>
          <a:xfrm>
            <a:off x="1142150" y="5838694"/>
            <a:ext cx="128699" cy="187198"/>
          </a:xfrm>
          <a:prstGeom prst="rect">
            <a:avLst/>
          </a:prstGeom>
        </p:spPr>
      </p:pic>
      <p:pic>
        <p:nvPicPr>
          <p:cNvPr id="85" name="Picture 84" descr="lock.png"/>
          <p:cNvPicPr>
            <a:picLocks noChangeAspect="1"/>
          </p:cNvPicPr>
          <p:nvPr/>
        </p:nvPicPr>
        <p:blipFill>
          <a:blip r:embed="rId4"/>
          <a:stretch>
            <a:fillRect/>
          </a:stretch>
        </p:blipFill>
        <p:spPr>
          <a:xfrm>
            <a:off x="2316900" y="4737006"/>
            <a:ext cx="128699" cy="187198"/>
          </a:xfrm>
          <a:prstGeom prst="rect">
            <a:avLst/>
          </a:prstGeom>
        </p:spPr>
      </p:pic>
      <p:pic>
        <p:nvPicPr>
          <p:cNvPr id="86" name="Picture 85" descr="lock.png"/>
          <p:cNvPicPr>
            <a:picLocks noChangeAspect="1"/>
          </p:cNvPicPr>
          <p:nvPr/>
        </p:nvPicPr>
        <p:blipFill>
          <a:blip r:embed="rId4"/>
          <a:stretch>
            <a:fillRect/>
          </a:stretch>
        </p:blipFill>
        <p:spPr>
          <a:xfrm>
            <a:off x="3491650" y="4260622"/>
            <a:ext cx="128699" cy="187198"/>
          </a:xfrm>
          <a:prstGeom prst="rect">
            <a:avLst/>
          </a:prstGeom>
        </p:spPr>
      </p:pic>
      <p:pic>
        <p:nvPicPr>
          <p:cNvPr id="87" name="Picture 86" descr="lock.png"/>
          <p:cNvPicPr>
            <a:picLocks noChangeAspect="1"/>
          </p:cNvPicPr>
          <p:nvPr/>
        </p:nvPicPr>
        <p:blipFill>
          <a:blip r:embed="rId4"/>
          <a:stretch>
            <a:fillRect/>
          </a:stretch>
        </p:blipFill>
        <p:spPr>
          <a:xfrm>
            <a:off x="4666400" y="5129766"/>
            <a:ext cx="128699" cy="187198"/>
          </a:xfrm>
          <a:prstGeom prst="rect">
            <a:avLst/>
          </a:prstGeom>
        </p:spPr>
      </p:pic>
      <p:pic>
        <p:nvPicPr>
          <p:cNvPr id="88" name="Picture 87" descr="lock.png"/>
          <p:cNvPicPr>
            <a:picLocks noChangeAspect="1"/>
          </p:cNvPicPr>
          <p:nvPr/>
        </p:nvPicPr>
        <p:blipFill>
          <a:blip r:embed="rId4"/>
          <a:stretch>
            <a:fillRect/>
          </a:stretch>
        </p:blipFill>
        <p:spPr>
          <a:xfrm>
            <a:off x="5841150" y="4778304"/>
            <a:ext cx="128699" cy="187198"/>
          </a:xfrm>
          <a:prstGeom prst="rect">
            <a:avLst/>
          </a:prstGeom>
        </p:spPr>
      </p:pic>
      <p:pic>
        <p:nvPicPr>
          <p:cNvPr id="89" name="Picture 88" descr="lock.png"/>
          <p:cNvPicPr>
            <a:picLocks noChangeAspect="1"/>
          </p:cNvPicPr>
          <p:nvPr/>
        </p:nvPicPr>
        <p:blipFill>
          <a:blip r:embed="rId4"/>
          <a:stretch>
            <a:fillRect/>
          </a:stretch>
        </p:blipFill>
        <p:spPr>
          <a:xfrm>
            <a:off x="7015900" y="4698974"/>
            <a:ext cx="128699" cy="187198"/>
          </a:xfrm>
          <a:prstGeom prst="rect">
            <a:avLst/>
          </a:prstGeom>
        </p:spPr>
      </p:pic>
      <p:sp>
        <p:nvSpPr>
          <p:cNvPr id="90" name="TextBox 89"/>
          <p:cNvSpPr txBox="1"/>
          <p:nvPr/>
        </p:nvSpPr>
        <p:spPr>
          <a:xfrm>
            <a:off x="8048625" y="1471995"/>
            <a:ext cx="3589632" cy="194310"/>
          </a:xfrm>
          <a:prstGeom prst="rect">
            <a:avLst/>
          </a:prstGeom>
          <a:noFill/>
        </p:spPr>
        <p:txBody>
          <a:bodyPr wrap="none" lIns="0" rIns="0" tIns="0" bIns="0">
            <a:spAutoFit/>
          </a:bodyPr>
          <a:lstStyle/>
          <a:p>
            <a:r>
              <a:rPr sz="1150" b="0">
                <a:solidFill>
                  <a:srgbClr val="2E2E2E"/>
                </a:solidFill>
                <a:latin typeface="Calibri"/>
              </a:rPr>
              <a:t>▪ Average selling price is derived as Value ÷ Volume; 'Sweet</a:t>
            </a:r>
          </a:p>
        </p:txBody>
      </p:sp>
      <p:sp>
        <p:nvSpPr>
          <p:cNvPr id="91" name="TextBox 90"/>
          <p:cNvSpPr txBox="1"/>
          <p:nvPr/>
        </p:nvSpPr>
        <p:spPr>
          <a:xfrm>
            <a:off x="8048625" y="1647255"/>
            <a:ext cx="3224832" cy="194310"/>
          </a:xfrm>
          <a:prstGeom prst="rect">
            <a:avLst/>
          </a:prstGeom>
          <a:noFill/>
        </p:spPr>
        <p:txBody>
          <a:bodyPr wrap="none" lIns="0" rIns="0" tIns="0" bIns="0">
            <a:spAutoFit/>
          </a:bodyPr>
          <a:lstStyle/>
          <a:p>
            <a:r>
              <a:rPr sz="1150" b="0">
                <a:solidFill>
                  <a:srgbClr val="2E2E2E"/>
                </a:solidFill>
                <a:latin typeface="Calibri"/>
              </a:rPr>
              <a:t>muffins' commands the highest product type price at</a:t>
            </a:r>
          </a:p>
        </p:txBody>
      </p:sp>
      <p:pic>
        <p:nvPicPr>
          <p:cNvPr id="92" name="Picture 91" descr="lock.png"/>
          <p:cNvPicPr>
            <a:picLocks noChangeAspect="1"/>
          </p:cNvPicPr>
          <p:nvPr/>
        </p:nvPicPr>
        <p:blipFill>
          <a:blip r:embed="rId4"/>
          <a:stretch>
            <a:fillRect/>
          </a:stretch>
        </p:blipFill>
        <p:spPr>
          <a:xfrm>
            <a:off x="11222611" y="1637031"/>
            <a:ext cx="134549" cy="195707"/>
          </a:xfrm>
          <a:prstGeom prst="rect">
            <a:avLst/>
          </a:prstGeom>
        </p:spPr>
      </p:pic>
      <p:sp>
        <p:nvSpPr>
          <p:cNvPr id="93" name="TextBox 92"/>
          <p:cNvSpPr txBox="1"/>
          <p:nvPr/>
        </p:nvSpPr>
        <p:spPr>
          <a:xfrm>
            <a:off x="8048625" y="1822515"/>
            <a:ext cx="1074018" cy="194310"/>
          </a:xfrm>
          <a:prstGeom prst="rect">
            <a:avLst/>
          </a:prstGeom>
          <a:noFill/>
        </p:spPr>
        <p:txBody>
          <a:bodyPr wrap="none" lIns="0" rIns="0" tIns="0" bIns="0">
            <a:spAutoFit/>
          </a:bodyPr>
          <a:lstStyle/>
          <a:p>
            <a:r>
              <a:rPr sz="1150" b="0">
                <a:solidFill>
                  <a:srgbClr val="2E2E2E"/>
                </a:solidFill>
                <a:latin typeface="Calibri"/>
              </a:rPr>
              <a:t>US$/MT in 2036.</a:t>
            </a:r>
          </a:p>
        </p:txBody>
      </p:sp>
      <p:sp>
        <p:nvSpPr>
          <p:cNvPr id="94" name="TextBox 93"/>
          <p:cNvSpPr txBox="1"/>
          <p:nvPr/>
        </p:nvSpPr>
        <p:spPr>
          <a:xfrm>
            <a:off x="8048625" y="2050353"/>
            <a:ext cx="3227970" cy="194310"/>
          </a:xfrm>
          <a:prstGeom prst="rect">
            <a:avLst/>
          </a:prstGeom>
          <a:noFill/>
        </p:spPr>
        <p:txBody>
          <a:bodyPr wrap="none" lIns="0" rIns="0" tIns="0" bIns="0">
            <a:spAutoFit/>
          </a:bodyPr>
          <a:lstStyle/>
          <a:p>
            <a:r>
              <a:rPr sz="1150" b="0">
                <a:solidFill>
                  <a:srgbClr val="2E2E2E"/>
                </a:solidFill>
                <a:latin typeface="Calibri"/>
              </a:rPr>
              <a:t>▪ 'Sweet muffins' shows the steepest price uplift over</a:t>
            </a:r>
          </a:p>
        </p:txBody>
      </p:sp>
      <p:sp>
        <p:nvSpPr>
          <p:cNvPr id="95" name="TextBox 94"/>
          <p:cNvSpPr txBox="1"/>
          <p:nvPr/>
        </p:nvSpPr>
        <p:spPr>
          <a:xfrm>
            <a:off x="8048625" y="2225613"/>
            <a:ext cx="892311" cy="194310"/>
          </a:xfrm>
          <a:prstGeom prst="rect">
            <a:avLst/>
          </a:prstGeom>
          <a:noFill/>
        </p:spPr>
        <p:txBody>
          <a:bodyPr wrap="none" lIns="0" rIns="0" tIns="0" bIns="0">
            <a:spAutoFit/>
          </a:bodyPr>
          <a:lstStyle/>
          <a:p>
            <a:r>
              <a:rPr sz="1150" b="0">
                <a:solidFill>
                  <a:srgbClr val="2E2E2E"/>
                </a:solidFill>
                <a:latin typeface="Calibri"/>
              </a:rPr>
              <a:t>2026–2036 (+</a:t>
            </a:r>
          </a:p>
        </p:txBody>
      </p:sp>
      <p:pic>
        <p:nvPicPr>
          <p:cNvPr id="96" name="Picture 95" descr="lock.png"/>
          <p:cNvPicPr>
            <a:picLocks noChangeAspect="1"/>
          </p:cNvPicPr>
          <p:nvPr/>
        </p:nvPicPr>
        <p:blipFill>
          <a:blip r:embed="rId4"/>
          <a:stretch>
            <a:fillRect/>
          </a:stretch>
        </p:blipFill>
        <p:spPr>
          <a:xfrm>
            <a:off x="8890090" y="2215389"/>
            <a:ext cx="134549" cy="195707"/>
          </a:xfrm>
          <a:prstGeom prst="rect">
            <a:avLst/>
          </a:prstGeom>
        </p:spPr>
      </p:pic>
      <p:sp>
        <p:nvSpPr>
          <p:cNvPr id="97" name="TextBox 96"/>
          <p:cNvSpPr txBox="1"/>
          <p:nvPr/>
        </p:nvSpPr>
        <p:spPr>
          <a:xfrm>
            <a:off x="9065199" y="222561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98" name="TextBox 97"/>
          <p:cNvSpPr txBox="1"/>
          <p:nvPr/>
        </p:nvSpPr>
        <p:spPr>
          <a:xfrm>
            <a:off x="8048625" y="2453451"/>
            <a:ext cx="1708708" cy="194310"/>
          </a:xfrm>
          <a:prstGeom prst="rect">
            <a:avLst/>
          </a:prstGeom>
          <a:noFill/>
        </p:spPr>
        <p:txBody>
          <a:bodyPr wrap="none" lIns="0" rIns="0" tIns="0" bIns="0">
            <a:spAutoFit/>
          </a:bodyPr>
          <a:lstStyle/>
          <a:p>
            <a:r>
              <a:rPr sz="1150" b="0">
                <a:solidFill>
                  <a:srgbClr val="2E2E2E"/>
                </a:solidFill>
                <a:latin typeface="Calibri"/>
              </a:rPr>
              <a:t>▪ Against the global price of</a:t>
            </a:r>
          </a:p>
        </p:txBody>
      </p:sp>
      <p:pic>
        <p:nvPicPr>
          <p:cNvPr id="99" name="Picture 98" descr="lock.png"/>
          <p:cNvPicPr>
            <a:picLocks noChangeAspect="1"/>
          </p:cNvPicPr>
          <p:nvPr/>
        </p:nvPicPr>
        <p:blipFill>
          <a:blip r:embed="rId4"/>
          <a:stretch>
            <a:fillRect/>
          </a:stretch>
        </p:blipFill>
        <p:spPr>
          <a:xfrm>
            <a:off x="9706487" y="2443227"/>
            <a:ext cx="134549" cy="195707"/>
          </a:xfrm>
          <a:prstGeom prst="rect">
            <a:avLst/>
          </a:prstGeom>
        </p:spPr>
      </p:pic>
      <p:sp>
        <p:nvSpPr>
          <p:cNvPr id="100" name="TextBox 99"/>
          <p:cNvSpPr txBox="1"/>
          <p:nvPr/>
        </p:nvSpPr>
        <p:spPr>
          <a:xfrm>
            <a:off x="9881596" y="2453451"/>
            <a:ext cx="1768896" cy="194310"/>
          </a:xfrm>
          <a:prstGeom prst="rect">
            <a:avLst/>
          </a:prstGeom>
          <a:noFill/>
        </p:spPr>
        <p:txBody>
          <a:bodyPr wrap="none" lIns="0" rIns="0" tIns="0" bIns="0">
            <a:spAutoFit/>
          </a:bodyPr>
          <a:lstStyle/>
          <a:p>
            <a:r>
              <a:rPr sz="1150" b="0">
                <a:solidFill>
                  <a:srgbClr val="2E2E2E"/>
                </a:solidFill>
                <a:latin typeface="Calibri"/>
              </a:rPr>
              <a:t>US$/MT, 4 of 6 regions price</a:t>
            </a:r>
          </a:p>
        </p:txBody>
      </p:sp>
      <p:sp>
        <p:nvSpPr>
          <p:cNvPr id="101" name="TextBox 100"/>
          <p:cNvSpPr txBox="1"/>
          <p:nvPr/>
        </p:nvSpPr>
        <p:spPr>
          <a:xfrm>
            <a:off x="8048625" y="2628711"/>
            <a:ext cx="1236612" cy="194310"/>
          </a:xfrm>
          <a:prstGeom prst="rect">
            <a:avLst/>
          </a:prstGeom>
          <a:noFill/>
        </p:spPr>
        <p:txBody>
          <a:bodyPr wrap="none" lIns="0" rIns="0" tIns="0" bIns="0">
            <a:spAutoFit/>
          </a:bodyPr>
          <a:lstStyle/>
          <a:p>
            <a:r>
              <a:rPr sz="1150" b="0">
                <a:solidFill>
                  <a:srgbClr val="2E2E2E"/>
                </a:solidFill>
                <a:latin typeface="Calibri"/>
              </a:rPr>
              <a:t>above and 2 below.</a:t>
            </a:r>
          </a:p>
        </p:txBody>
      </p:sp>
      <p:sp>
        <p:nvSpPr>
          <p:cNvPr id="102" name="TextBox 101"/>
          <p:cNvSpPr txBox="1"/>
          <p:nvPr/>
        </p:nvSpPr>
        <p:spPr>
          <a:xfrm>
            <a:off x="8048625" y="2856548"/>
            <a:ext cx="1746646" cy="194310"/>
          </a:xfrm>
          <a:prstGeom prst="rect">
            <a:avLst/>
          </a:prstGeom>
          <a:noFill/>
        </p:spPr>
        <p:txBody>
          <a:bodyPr wrap="none" lIns="0" rIns="0" tIns="0" bIns="0">
            <a:spAutoFit/>
          </a:bodyPr>
          <a:lstStyle/>
          <a:p>
            <a:r>
              <a:rPr sz="1150" b="0">
                <a:solidFill>
                  <a:srgbClr val="2E2E2E"/>
                </a:solidFill>
                <a:latin typeface="Calibri"/>
              </a:rPr>
              <a:t>▪ 'Europe' is the dearest at +</a:t>
            </a:r>
          </a:p>
        </p:txBody>
      </p:sp>
      <p:pic>
        <p:nvPicPr>
          <p:cNvPr id="103" name="Picture 102" descr="lock.png"/>
          <p:cNvPicPr>
            <a:picLocks noChangeAspect="1"/>
          </p:cNvPicPr>
          <p:nvPr/>
        </p:nvPicPr>
        <p:blipFill>
          <a:blip r:embed="rId4"/>
          <a:stretch>
            <a:fillRect/>
          </a:stretch>
        </p:blipFill>
        <p:spPr>
          <a:xfrm>
            <a:off x="9744425" y="2846325"/>
            <a:ext cx="134549" cy="195707"/>
          </a:xfrm>
          <a:prstGeom prst="rect">
            <a:avLst/>
          </a:prstGeom>
        </p:spPr>
      </p:pic>
      <p:sp>
        <p:nvSpPr>
          <p:cNvPr id="104" name="TextBox 103"/>
          <p:cNvSpPr txBox="1"/>
          <p:nvPr/>
        </p:nvSpPr>
        <p:spPr>
          <a:xfrm>
            <a:off x="9919535" y="2856548"/>
            <a:ext cx="1878719" cy="194310"/>
          </a:xfrm>
          <a:prstGeom prst="rect">
            <a:avLst/>
          </a:prstGeom>
          <a:noFill/>
        </p:spPr>
        <p:txBody>
          <a:bodyPr wrap="none" lIns="0" rIns="0" tIns="0" bIns="0">
            <a:spAutoFit/>
          </a:bodyPr>
          <a:lstStyle/>
          <a:p>
            <a:r>
              <a:rPr sz="1150" b="0">
                <a:solidFill>
                  <a:srgbClr val="2E2E2E"/>
                </a:solidFill>
                <a:latin typeface="Calibri"/>
              </a:rPr>
              <a:t>versus Global, 'North America'</a:t>
            </a:r>
          </a:p>
        </p:txBody>
      </p:sp>
      <p:sp>
        <p:nvSpPr>
          <p:cNvPr id="105" name="TextBox 104"/>
          <p:cNvSpPr txBox="1"/>
          <p:nvPr/>
        </p:nvSpPr>
        <p:spPr>
          <a:xfrm>
            <a:off x="8048625" y="3031808"/>
            <a:ext cx="1074588" cy="194310"/>
          </a:xfrm>
          <a:prstGeom prst="rect">
            <a:avLst/>
          </a:prstGeom>
          <a:noFill/>
        </p:spPr>
        <p:txBody>
          <a:bodyPr wrap="none" lIns="0" rIns="0" tIns="0" bIns="0">
            <a:spAutoFit/>
          </a:bodyPr>
          <a:lstStyle/>
          <a:p>
            <a:r>
              <a:rPr sz="1150" b="0">
                <a:solidFill>
                  <a:srgbClr val="2E2E2E"/>
                </a:solidFill>
                <a:latin typeface="Calibri"/>
              </a:rPr>
              <a:t>the cheapest at -</a:t>
            </a:r>
          </a:p>
        </p:txBody>
      </p:sp>
      <p:pic>
        <p:nvPicPr>
          <p:cNvPr id="106" name="Picture 105" descr="lock.png"/>
          <p:cNvPicPr>
            <a:picLocks noChangeAspect="1"/>
          </p:cNvPicPr>
          <p:nvPr/>
        </p:nvPicPr>
        <p:blipFill>
          <a:blip r:embed="rId4"/>
          <a:stretch>
            <a:fillRect/>
          </a:stretch>
        </p:blipFill>
        <p:spPr>
          <a:xfrm>
            <a:off x="9072367" y="3021585"/>
            <a:ext cx="134549" cy="195707"/>
          </a:xfrm>
          <a:prstGeom prst="rect">
            <a:avLst/>
          </a:prstGeom>
        </p:spPr>
      </p:pic>
      <p:sp>
        <p:nvSpPr>
          <p:cNvPr id="107" name="TextBox 106"/>
          <p:cNvSpPr txBox="1"/>
          <p:nvPr/>
        </p:nvSpPr>
        <p:spPr>
          <a:xfrm>
            <a:off x="9247476" y="3031808"/>
            <a:ext cx="2496579" cy="194310"/>
          </a:xfrm>
          <a:prstGeom prst="rect">
            <a:avLst/>
          </a:prstGeom>
          <a:noFill/>
        </p:spPr>
        <p:txBody>
          <a:bodyPr wrap="none" lIns="0" rIns="0" tIns="0" bIns="0">
            <a:spAutoFit/>
          </a:bodyPr>
          <a:lstStyle/>
          <a:p>
            <a:r>
              <a:rPr sz="1150" b="0">
                <a:solidFill>
                  <a:srgbClr val="2E2E2E"/>
                </a:solidFill>
                <a:latin typeface="Calibri"/>
              </a:rPr>
              <a:t>pointing to premiumisation headroom in</a:t>
            </a:r>
          </a:p>
        </p:txBody>
      </p:sp>
      <p:sp>
        <p:nvSpPr>
          <p:cNvPr id="108" name="TextBox 107"/>
          <p:cNvSpPr txBox="1"/>
          <p:nvPr/>
        </p:nvSpPr>
        <p:spPr>
          <a:xfrm>
            <a:off x="8048625" y="3207068"/>
            <a:ext cx="1571215" cy="194310"/>
          </a:xfrm>
          <a:prstGeom prst="rect">
            <a:avLst/>
          </a:prstGeom>
          <a:noFill/>
        </p:spPr>
        <p:txBody>
          <a:bodyPr wrap="none" lIns="0" rIns="0" tIns="0" bIns="0">
            <a:spAutoFit/>
          </a:bodyPr>
          <a:lstStyle/>
          <a:p>
            <a:r>
              <a:rPr sz="1150" b="0">
                <a:solidFill>
                  <a:srgbClr val="2E2E2E"/>
                </a:solidFill>
                <a:latin typeface="Calibri"/>
              </a:rPr>
              <a:t>the lower-priced regions.</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1384089" cy="194310"/>
          </a:xfrm>
          <a:prstGeom prst="rect">
            <a:avLst/>
          </a:prstGeom>
          <a:noFill/>
        </p:spPr>
        <p:txBody>
          <a:bodyPr wrap="none" lIns="0" rIns="0" tIns="0" bIns="0">
            <a:spAutoFit/>
          </a:bodyPr>
          <a:lstStyle/>
          <a:p>
            <a:r>
              <a:rPr sz="1150" b="0">
                <a:solidFill>
                  <a:srgbClr val="2E2E2E"/>
                </a:solidFill>
                <a:latin typeface="Calibri"/>
              </a:rPr>
              <a:t>▪ The market grows at</a:t>
            </a:r>
          </a:p>
        </p:txBody>
      </p:sp>
      <p:pic>
        <p:nvPicPr>
          <p:cNvPr id="36" name="Picture 35" descr="lock.png"/>
          <p:cNvPicPr>
            <a:picLocks noChangeAspect="1"/>
          </p:cNvPicPr>
          <p:nvPr/>
        </p:nvPicPr>
        <p:blipFill>
          <a:blip r:embed="rId6"/>
          <a:stretch>
            <a:fillRect/>
          </a:stretch>
        </p:blipFill>
        <p:spPr>
          <a:xfrm>
            <a:off x="9381868" y="2036763"/>
            <a:ext cx="134549" cy="195707"/>
          </a:xfrm>
          <a:prstGeom prst="rect">
            <a:avLst/>
          </a:prstGeom>
        </p:spPr>
      </p:pic>
      <p:sp>
        <p:nvSpPr>
          <p:cNvPr id="37" name="TextBox 36"/>
          <p:cNvSpPr txBox="1"/>
          <p:nvPr/>
        </p:nvSpPr>
        <p:spPr>
          <a:xfrm>
            <a:off x="9556977" y="2046987"/>
            <a:ext cx="2148266" cy="194310"/>
          </a:xfrm>
          <a:prstGeom prst="rect">
            <a:avLst/>
          </a:prstGeom>
          <a:noFill/>
        </p:spPr>
        <p:txBody>
          <a:bodyPr wrap="none" lIns="0" rIns="0" tIns="0" bIns="0">
            <a:spAutoFit/>
          </a:bodyPr>
          <a:lstStyle/>
          <a:p>
            <a:r>
              <a:rPr sz="1150" b="0">
                <a:solidFill>
                  <a:srgbClr val="2E2E2E"/>
                </a:solidFill>
                <a:latin typeface="Calibri"/>
              </a:rPr>
              <a:t>CAGR (2021–2026), accelerating to</a:t>
            </a:r>
          </a:p>
        </p:txBody>
      </p:sp>
      <p:pic>
        <p:nvPicPr>
          <p:cNvPr id="38" name="Picture 37" descr="lock.png"/>
          <p:cNvPicPr>
            <a:picLocks noChangeAspect="1"/>
          </p:cNvPicPr>
          <p:nvPr/>
        </p:nvPicPr>
        <p:blipFill>
          <a:blip r:embed="rId6"/>
          <a:stretch>
            <a:fillRect/>
          </a:stretch>
        </p:blipFill>
        <p:spPr>
          <a:xfrm>
            <a:off x="8034545" y="2212023"/>
            <a:ext cx="134549" cy="195707"/>
          </a:xfrm>
          <a:prstGeom prst="rect">
            <a:avLst/>
          </a:prstGeom>
        </p:spPr>
      </p:pic>
      <p:sp>
        <p:nvSpPr>
          <p:cNvPr id="39" name="TextBox 38"/>
          <p:cNvSpPr txBox="1"/>
          <p:nvPr/>
        </p:nvSpPr>
        <p:spPr>
          <a:xfrm>
            <a:off x="8209654" y="2222247"/>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40" name="TextBox 39"/>
          <p:cNvSpPr txBox="1"/>
          <p:nvPr/>
        </p:nvSpPr>
        <p:spPr>
          <a:xfrm>
            <a:off x="8048625" y="2450085"/>
            <a:ext cx="1385515" cy="194310"/>
          </a:xfrm>
          <a:prstGeom prst="rect">
            <a:avLst/>
          </a:prstGeom>
          <a:noFill/>
        </p:spPr>
        <p:txBody>
          <a:bodyPr wrap="none" lIns="0" rIns="0" tIns="0" bIns="0">
            <a:spAutoFit/>
          </a:bodyPr>
          <a:lstStyle/>
          <a:p>
            <a:r>
              <a:rPr sz="1150" b="0">
                <a:solidFill>
                  <a:srgbClr val="2E2E2E"/>
                </a:solidFill>
                <a:latin typeface="Calibri"/>
              </a:rPr>
              <a:t>▪ Incremental value of</a:t>
            </a:r>
          </a:p>
        </p:txBody>
      </p:sp>
      <p:pic>
        <p:nvPicPr>
          <p:cNvPr id="41" name="Picture 40" descr="lock.png"/>
          <p:cNvPicPr>
            <a:picLocks noChangeAspect="1"/>
          </p:cNvPicPr>
          <p:nvPr/>
        </p:nvPicPr>
        <p:blipFill>
          <a:blip r:embed="rId6"/>
          <a:stretch>
            <a:fillRect/>
          </a:stretch>
        </p:blipFill>
        <p:spPr>
          <a:xfrm>
            <a:off x="9383294" y="2439861"/>
            <a:ext cx="134549" cy="195707"/>
          </a:xfrm>
          <a:prstGeom prst="rect">
            <a:avLst/>
          </a:prstGeom>
        </p:spPr>
      </p:pic>
      <p:sp>
        <p:nvSpPr>
          <p:cNvPr id="42" name="TextBox 41"/>
          <p:cNvSpPr txBox="1"/>
          <p:nvPr/>
        </p:nvSpPr>
        <p:spPr>
          <a:xfrm>
            <a:off x="9558403" y="2450085"/>
            <a:ext cx="2220168" cy="194310"/>
          </a:xfrm>
          <a:prstGeom prst="rect">
            <a:avLst/>
          </a:prstGeom>
          <a:noFill/>
        </p:spPr>
        <p:txBody>
          <a:bodyPr wrap="none" lIns="0" rIns="0" tIns="0" bIns="0">
            <a:spAutoFit/>
          </a:bodyPr>
          <a:lstStyle/>
          <a:p>
            <a:r>
              <a:rPr sz="1150" b="0">
                <a:solidFill>
                  <a:srgbClr val="2E2E2E"/>
                </a:solidFill>
                <a:latin typeface="Calibri"/>
              </a:rPr>
              <a:t>US$ Mn is added between 2021 and</a:t>
            </a:r>
          </a:p>
        </p:txBody>
      </p:sp>
      <p:sp>
        <p:nvSpPr>
          <p:cNvPr id="43" name="TextBox 42"/>
          <p:cNvSpPr txBox="1"/>
          <p:nvPr/>
        </p:nvSpPr>
        <p:spPr>
          <a:xfrm>
            <a:off x="8048625" y="2625345"/>
            <a:ext cx="409661" cy="194310"/>
          </a:xfrm>
          <a:prstGeom prst="rect">
            <a:avLst/>
          </a:prstGeom>
          <a:noFill/>
        </p:spPr>
        <p:txBody>
          <a:bodyPr wrap="none" lIns="0" rIns="0" tIns="0" bIns="0">
            <a:spAutoFit/>
          </a:bodyPr>
          <a:lstStyle/>
          <a:p>
            <a:r>
              <a:rPr sz="1150" b="0">
                <a:solidFill>
                  <a:srgbClr val="2E2E2E"/>
                </a:solidFill>
                <a:latin typeface="Calibri"/>
              </a:rPr>
              <a:t>2026.</a:t>
            </a:r>
          </a:p>
        </p:txBody>
      </p:sp>
      <p:sp>
        <p:nvSpPr>
          <p:cNvPr id="44" name="TextBox 43"/>
          <p:cNvSpPr txBox="1"/>
          <p:nvPr/>
        </p:nvSpPr>
        <p:spPr>
          <a:xfrm>
            <a:off x="8048625" y="2853182"/>
            <a:ext cx="700335" cy="194310"/>
          </a:xfrm>
          <a:prstGeom prst="rect">
            <a:avLst/>
          </a:prstGeom>
          <a:noFill/>
        </p:spPr>
        <p:txBody>
          <a:bodyPr wrap="none" lIns="0" rIns="0" tIns="0" bIns="0">
            <a:spAutoFit/>
          </a:bodyPr>
          <a:lstStyle/>
          <a:p>
            <a:r>
              <a:rPr sz="1150" b="0">
                <a:solidFill>
                  <a:srgbClr val="2E2E2E"/>
                </a:solidFill>
                <a:latin typeface="Calibri"/>
              </a:rPr>
              <a:t>▪ A further</a:t>
            </a:r>
          </a:p>
        </p:txBody>
      </p:sp>
      <p:pic>
        <p:nvPicPr>
          <p:cNvPr id="45" name="Picture 44" descr="lock.png"/>
          <p:cNvPicPr>
            <a:picLocks noChangeAspect="1"/>
          </p:cNvPicPr>
          <p:nvPr/>
        </p:nvPicPr>
        <p:blipFill>
          <a:blip r:embed="rId6"/>
          <a:stretch>
            <a:fillRect/>
          </a:stretch>
        </p:blipFill>
        <p:spPr>
          <a:xfrm>
            <a:off x="8698114" y="2842959"/>
            <a:ext cx="134549" cy="195707"/>
          </a:xfrm>
          <a:prstGeom prst="rect">
            <a:avLst/>
          </a:prstGeom>
        </p:spPr>
      </p:pic>
      <p:sp>
        <p:nvSpPr>
          <p:cNvPr id="46" name="TextBox 45"/>
          <p:cNvSpPr txBox="1"/>
          <p:nvPr/>
        </p:nvSpPr>
        <p:spPr>
          <a:xfrm>
            <a:off x="8873223" y="2853182"/>
            <a:ext cx="2662597" cy="194310"/>
          </a:xfrm>
          <a:prstGeom prst="rect">
            <a:avLst/>
          </a:prstGeom>
          <a:noFill/>
        </p:spPr>
        <p:txBody>
          <a:bodyPr wrap="none" lIns="0" rIns="0" tIns="0" bIns="0">
            <a:spAutoFit/>
          </a:bodyPr>
          <a:lstStyle/>
          <a:p>
            <a:r>
              <a:rPr sz="1150" b="0">
                <a:solidFill>
                  <a:srgbClr val="2E2E2E"/>
                </a:solidFill>
                <a:latin typeface="Calibri"/>
              </a:rPr>
              <a:t>US$ Mn is added 2026–2036 more than the</a:t>
            </a:r>
          </a:p>
        </p:txBody>
      </p:sp>
      <p:sp>
        <p:nvSpPr>
          <p:cNvPr id="47" name="TextBox 46"/>
          <p:cNvSpPr txBox="1"/>
          <p:nvPr/>
        </p:nvSpPr>
        <p:spPr>
          <a:xfrm>
            <a:off x="8048625" y="3028442"/>
            <a:ext cx="1044922" cy="194310"/>
          </a:xfrm>
          <a:prstGeom prst="rect">
            <a:avLst/>
          </a:prstGeom>
          <a:noFill/>
        </p:spPr>
        <p:txBody>
          <a:bodyPr wrap="none" lIns="0" rIns="0" tIns="0" bIns="0">
            <a:spAutoFit/>
          </a:bodyPr>
          <a:lstStyle/>
          <a:p>
            <a:r>
              <a:rPr sz="1150" b="0">
                <a:solidFill>
                  <a:srgbClr val="2E2E2E"/>
                </a:solidFill>
                <a:latin typeface="Calibri"/>
              </a:rPr>
              <a:t>previous period.</a:t>
            </a:r>
          </a:p>
        </p:txBody>
      </p:sp>
      <p:sp>
        <p:nvSpPr>
          <p:cNvPr id="48" name="TextBox 47"/>
          <p:cNvSpPr txBox="1"/>
          <p:nvPr/>
        </p:nvSpPr>
        <p:spPr>
          <a:xfrm>
            <a:off x="8048625" y="3256280"/>
            <a:ext cx="1600882" cy="194310"/>
          </a:xfrm>
          <a:prstGeom prst="rect">
            <a:avLst/>
          </a:prstGeom>
          <a:noFill/>
        </p:spPr>
        <p:txBody>
          <a:bodyPr wrap="none" lIns="0" rIns="0" tIns="0" bIns="0">
            <a:spAutoFit/>
          </a:bodyPr>
          <a:lstStyle/>
          <a:p>
            <a:r>
              <a:rPr sz="1150" b="0">
                <a:solidFill>
                  <a:srgbClr val="2E2E2E"/>
                </a:solidFill>
                <a:latin typeface="Calibri"/>
              </a:rPr>
              <a:t>▪ Total incremental value:</a:t>
            </a:r>
          </a:p>
        </p:txBody>
      </p:sp>
      <p:pic>
        <p:nvPicPr>
          <p:cNvPr id="49" name="Picture 48" descr="lock.png"/>
          <p:cNvPicPr>
            <a:picLocks noChangeAspect="1"/>
          </p:cNvPicPr>
          <p:nvPr/>
        </p:nvPicPr>
        <p:blipFill>
          <a:blip r:embed="rId6"/>
          <a:stretch>
            <a:fillRect/>
          </a:stretch>
        </p:blipFill>
        <p:spPr>
          <a:xfrm>
            <a:off x="9598661" y="3246057"/>
            <a:ext cx="134549" cy="195707"/>
          </a:xfrm>
          <a:prstGeom prst="rect">
            <a:avLst/>
          </a:prstGeom>
        </p:spPr>
      </p:pic>
      <p:sp>
        <p:nvSpPr>
          <p:cNvPr id="50" name="TextBox 49"/>
          <p:cNvSpPr txBox="1"/>
          <p:nvPr/>
        </p:nvSpPr>
        <p:spPr>
          <a:xfrm>
            <a:off x="9773770" y="3256280"/>
            <a:ext cx="1684461" cy="194310"/>
          </a:xfrm>
          <a:prstGeom prst="rect">
            <a:avLst/>
          </a:prstGeom>
          <a:noFill/>
        </p:spPr>
        <p:txBody>
          <a:bodyPr wrap="none" lIns="0" rIns="0" tIns="0" bIns="0">
            <a:spAutoFit/>
          </a:bodyPr>
          <a:lstStyle/>
          <a:p>
            <a:r>
              <a:rPr sz="1150" b="0">
                <a:solidFill>
                  <a:srgbClr val="2E2E2E"/>
                </a:solidFill>
                <a:latin typeface="Calibri"/>
              </a:rPr>
              <a:t>US$ Mn over 2021–2036, a</a:t>
            </a:r>
          </a:p>
        </p:txBody>
      </p:sp>
      <p:pic>
        <p:nvPicPr>
          <p:cNvPr id="51" name="Picture 50" descr="lock.png"/>
          <p:cNvPicPr>
            <a:picLocks noChangeAspect="1"/>
          </p:cNvPicPr>
          <p:nvPr/>
        </p:nvPicPr>
        <p:blipFill>
          <a:blip r:embed="rId6"/>
          <a:stretch>
            <a:fillRect/>
          </a:stretch>
        </p:blipFill>
        <p:spPr>
          <a:xfrm>
            <a:off x="11407385" y="3246057"/>
            <a:ext cx="134549" cy="195707"/>
          </a:xfrm>
          <a:prstGeom prst="rect">
            <a:avLst/>
          </a:prstGeom>
        </p:spPr>
      </p:pic>
      <p:sp>
        <p:nvSpPr>
          <p:cNvPr id="52" name="TextBox 51"/>
          <p:cNvSpPr txBox="1"/>
          <p:nvPr/>
        </p:nvSpPr>
        <p:spPr>
          <a:xfrm>
            <a:off x="11582495" y="3256280"/>
            <a:ext cx="148939" cy="194310"/>
          </a:xfrm>
          <a:prstGeom prst="rect">
            <a:avLst/>
          </a:prstGeom>
          <a:noFill/>
        </p:spPr>
        <p:txBody>
          <a:bodyPr wrap="none" lIns="0" rIns="0" tIns="0" bIns="0">
            <a:spAutoFit/>
          </a:bodyPr>
          <a:lstStyle/>
          <a:p>
            <a:r>
              <a:rPr sz="1150" b="0">
                <a:solidFill>
                  <a:srgbClr val="2E2E2E"/>
                </a:solidFill>
                <a:latin typeface="Calibri"/>
              </a:rPr>
              <a:t>×</a:t>
            </a:r>
          </a:p>
        </p:txBody>
      </p:sp>
      <p:sp>
        <p:nvSpPr>
          <p:cNvPr id="53" name="TextBox 52"/>
          <p:cNvSpPr txBox="1"/>
          <p:nvPr/>
        </p:nvSpPr>
        <p:spPr>
          <a:xfrm>
            <a:off x="8048625" y="3431540"/>
            <a:ext cx="716880" cy="194310"/>
          </a:xfrm>
          <a:prstGeom prst="rect">
            <a:avLst/>
          </a:prstGeom>
          <a:noFill/>
        </p:spPr>
        <p:txBody>
          <a:bodyPr wrap="none" lIns="0" rIns="0" tIns="0" bIns="0">
            <a:spAutoFit/>
          </a:bodyPr>
          <a:lstStyle/>
          <a:p>
            <a:r>
              <a:rPr sz="1150" b="0">
                <a:solidFill>
                  <a:srgbClr val="2E2E2E"/>
                </a:solidFill>
                <a:latin typeface="Calibri"/>
              </a:rPr>
              <a:t>expansion.</a:t>
            </a:r>
          </a:p>
        </p:txBody>
      </p:sp>
      <p:sp>
        <p:nvSpPr>
          <p:cNvPr id="54" name="TextBox 53"/>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55" name="Picture 54" descr="lock.png"/>
          <p:cNvPicPr>
            <a:picLocks noChangeAspect="1"/>
          </p:cNvPicPr>
          <p:nvPr/>
        </p:nvPicPr>
        <p:blipFill>
          <a:blip r:embed="rId6"/>
          <a:stretch>
            <a:fillRect/>
          </a:stretch>
        </p:blipFill>
        <p:spPr>
          <a:xfrm>
            <a:off x="10866614" y="4446251"/>
            <a:ext cx="134549" cy="195707"/>
          </a:xfrm>
          <a:prstGeom prst="rect">
            <a:avLst/>
          </a:prstGeom>
        </p:spPr>
      </p:pic>
      <p:sp>
        <p:nvSpPr>
          <p:cNvPr id="56" name="TextBox 55"/>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8048625" y="4684312"/>
            <a:ext cx="3827859" cy="194310"/>
          </a:xfrm>
          <a:prstGeom prst="rect">
            <a:avLst/>
          </a:prstGeom>
          <a:noFill/>
        </p:spPr>
        <p:txBody>
          <a:bodyPr wrap="none" lIns="0" rIns="0" tIns="0" bIns="0">
            <a:spAutoFit/>
          </a:bodyPr>
          <a:lstStyle/>
          <a:p>
            <a:r>
              <a:rPr sz="1150" b="0">
                <a:solidFill>
                  <a:srgbClr val="2E2E2E"/>
                </a:solidFill>
                <a:latin typeface="Calibri"/>
              </a:rPr>
              <a:t>▪ Demand concentrates in 'Sweet muffins' within Product Type.</a:t>
            </a:r>
          </a:p>
        </p:txBody>
      </p:sp>
      <p:sp>
        <p:nvSpPr>
          <p:cNvPr id="58" name="TextBox 57"/>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9" name="TextBox 58"/>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4022407"/>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4022407"/>
            <a:ext cx="157162" cy="228600"/>
          </a:xfrm>
          <a:prstGeom prst="rect">
            <a:avLst/>
          </a:prstGeom>
        </p:spPr>
      </p:pic>
      <p:sp>
        <p:nvSpPr>
          <p:cNvPr id="32" name="TextBox 31"/>
          <p:cNvSpPr txBox="1"/>
          <p:nvPr/>
        </p:nvSpPr>
        <p:spPr>
          <a:xfrm>
            <a:off x="276225" y="4972050"/>
            <a:ext cx="1345579" cy="194310"/>
          </a:xfrm>
          <a:prstGeom prst="rect">
            <a:avLst/>
          </a:prstGeom>
          <a:noFill/>
        </p:spPr>
        <p:txBody>
          <a:bodyPr wrap="none" lIns="0" rIns="0" tIns="0" bIns="0">
            <a:spAutoFit/>
          </a:bodyPr>
          <a:lstStyle/>
          <a:p>
            <a:r>
              <a:rPr sz="1150" b="0">
                <a:solidFill>
                  <a:srgbClr val="2E2E2E"/>
                </a:solidFill>
                <a:latin typeface="Calibri"/>
              </a:rPr>
              <a:t>▪ Value expands from</a:t>
            </a:r>
          </a:p>
        </p:txBody>
      </p:sp>
      <p:pic>
        <p:nvPicPr>
          <p:cNvPr id="33" name="Picture 32" descr="lock.png"/>
          <p:cNvPicPr>
            <a:picLocks noChangeAspect="1"/>
          </p:cNvPicPr>
          <p:nvPr/>
        </p:nvPicPr>
        <p:blipFill>
          <a:blip r:embed="rId6"/>
          <a:stretch>
            <a:fillRect/>
          </a:stretch>
        </p:blipFill>
        <p:spPr>
          <a:xfrm>
            <a:off x="1570958" y="4961826"/>
            <a:ext cx="134549" cy="195707"/>
          </a:xfrm>
          <a:prstGeom prst="rect">
            <a:avLst/>
          </a:prstGeom>
        </p:spPr>
      </p:pic>
      <p:sp>
        <p:nvSpPr>
          <p:cNvPr id="34" name="TextBox 33"/>
          <p:cNvSpPr txBox="1"/>
          <p:nvPr/>
        </p:nvSpPr>
        <p:spPr>
          <a:xfrm>
            <a:off x="1746068" y="4972050"/>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5" name="Picture 34" descr="lock.png"/>
          <p:cNvPicPr>
            <a:picLocks noChangeAspect="1"/>
          </p:cNvPicPr>
          <p:nvPr/>
        </p:nvPicPr>
        <p:blipFill>
          <a:blip r:embed="rId6"/>
          <a:stretch>
            <a:fillRect/>
          </a:stretch>
        </p:blipFill>
        <p:spPr>
          <a:xfrm>
            <a:off x="1897504" y="4961826"/>
            <a:ext cx="134549" cy="195707"/>
          </a:xfrm>
          <a:prstGeom prst="rect">
            <a:avLst/>
          </a:prstGeom>
        </p:spPr>
      </p:pic>
      <p:sp>
        <p:nvSpPr>
          <p:cNvPr id="36" name="TextBox 35"/>
          <p:cNvSpPr txBox="1"/>
          <p:nvPr/>
        </p:nvSpPr>
        <p:spPr>
          <a:xfrm>
            <a:off x="2072613" y="4972050"/>
            <a:ext cx="1051768" cy="194310"/>
          </a:xfrm>
          <a:prstGeom prst="rect">
            <a:avLst/>
          </a:prstGeom>
          <a:noFill/>
        </p:spPr>
        <p:txBody>
          <a:bodyPr wrap="none" lIns="0" rIns="0" tIns="0" bIns="0">
            <a:spAutoFit/>
          </a:bodyPr>
          <a:lstStyle/>
          <a:p>
            <a:r>
              <a:rPr sz="1150" b="0">
                <a:solidFill>
                  <a:srgbClr val="2E2E2E"/>
                </a:solidFill>
                <a:latin typeface="Calibri"/>
              </a:rPr>
              <a:t>US$ Mn by 2036</a:t>
            </a:r>
          </a:p>
        </p:txBody>
      </p:sp>
      <p:pic>
        <p:nvPicPr>
          <p:cNvPr id="37" name="Picture 36" descr="lock.png"/>
          <p:cNvPicPr>
            <a:picLocks noChangeAspect="1"/>
          </p:cNvPicPr>
          <p:nvPr/>
        </p:nvPicPr>
        <p:blipFill>
          <a:blip r:embed="rId6"/>
          <a:stretch>
            <a:fillRect/>
          </a:stretch>
        </p:blipFill>
        <p:spPr>
          <a:xfrm>
            <a:off x="3073535" y="4961826"/>
            <a:ext cx="134549" cy="195707"/>
          </a:xfrm>
          <a:prstGeom prst="rect">
            <a:avLst/>
          </a:prstGeom>
        </p:spPr>
      </p:pic>
      <p:sp>
        <p:nvSpPr>
          <p:cNvPr id="38" name="TextBox 37"/>
          <p:cNvSpPr txBox="1"/>
          <p:nvPr/>
        </p:nvSpPr>
        <p:spPr>
          <a:xfrm>
            <a:off x="3248645" y="4972050"/>
            <a:ext cx="1523845" cy="194310"/>
          </a:xfrm>
          <a:prstGeom prst="rect">
            <a:avLst/>
          </a:prstGeom>
          <a:noFill/>
        </p:spPr>
        <p:txBody>
          <a:bodyPr wrap="none" lIns="0" rIns="0" tIns="0" bIns="0">
            <a:spAutoFit/>
          </a:bodyPr>
          <a:lstStyle/>
          <a:p>
            <a:r>
              <a:rPr sz="1150" b="0">
                <a:solidFill>
                  <a:srgbClr val="2E2E2E"/>
                </a:solidFill>
                <a:latin typeface="Calibri"/>
              </a:rPr>
              <a:t>CAGR, accelerating from</a:t>
            </a:r>
          </a:p>
        </p:txBody>
      </p:sp>
      <p:pic>
        <p:nvPicPr>
          <p:cNvPr id="39" name="Picture 38" descr="lock.png"/>
          <p:cNvPicPr>
            <a:picLocks noChangeAspect="1"/>
          </p:cNvPicPr>
          <p:nvPr/>
        </p:nvPicPr>
        <p:blipFill>
          <a:blip r:embed="rId6"/>
          <a:stretch>
            <a:fillRect/>
          </a:stretch>
        </p:blipFill>
        <p:spPr>
          <a:xfrm>
            <a:off x="4721644" y="4961826"/>
            <a:ext cx="134549" cy="195707"/>
          </a:xfrm>
          <a:prstGeom prst="rect">
            <a:avLst/>
          </a:prstGeom>
        </p:spPr>
      </p:pic>
      <p:sp>
        <p:nvSpPr>
          <p:cNvPr id="40" name="TextBox 39"/>
          <p:cNvSpPr txBox="1"/>
          <p:nvPr/>
        </p:nvSpPr>
        <p:spPr>
          <a:xfrm>
            <a:off x="4896754" y="4972050"/>
            <a:ext cx="922548" cy="194310"/>
          </a:xfrm>
          <a:prstGeom prst="rect">
            <a:avLst/>
          </a:prstGeom>
          <a:noFill/>
        </p:spPr>
        <p:txBody>
          <a:bodyPr wrap="none" lIns="0" rIns="0" tIns="0" bIns="0">
            <a:spAutoFit/>
          </a:bodyPr>
          <a:lstStyle/>
          <a:p>
            <a:r>
              <a:rPr sz="1150" b="0">
                <a:solidFill>
                  <a:srgbClr val="2E2E2E"/>
                </a:solidFill>
                <a:latin typeface="Calibri"/>
              </a:rPr>
              <a:t>in 2021–2025.</a:t>
            </a:r>
          </a:p>
        </p:txBody>
      </p:sp>
      <p:sp>
        <p:nvSpPr>
          <p:cNvPr id="41" name="TextBox 40"/>
          <p:cNvSpPr txBox="1"/>
          <p:nvPr/>
        </p:nvSpPr>
        <p:spPr>
          <a:xfrm>
            <a:off x="276225" y="5199888"/>
            <a:ext cx="1247737" cy="194310"/>
          </a:xfrm>
          <a:prstGeom prst="rect">
            <a:avLst/>
          </a:prstGeom>
          <a:noFill/>
        </p:spPr>
        <p:txBody>
          <a:bodyPr wrap="none" lIns="0" rIns="0" tIns="0" bIns="0">
            <a:spAutoFit/>
          </a:bodyPr>
          <a:lstStyle/>
          <a:p>
            <a:r>
              <a:rPr sz="1150" b="0">
                <a:solidFill>
                  <a:srgbClr val="2E2E2E"/>
                </a:solidFill>
                <a:latin typeface="Calibri"/>
              </a:rPr>
              <a:t>▪ Volume rises from</a:t>
            </a:r>
          </a:p>
        </p:txBody>
      </p:sp>
      <p:pic>
        <p:nvPicPr>
          <p:cNvPr id="42" name="Picture 41" descr="lock.png"/>
          <p:cNvPicPr>
            <a:picLocks noChangeAspect="1"/>
          </p:cNvPicPr>
          <p:nvPr/>
        </p:nvPicPr>
        <p:blipFill>
          <a:blip r:embed="rId6"/>
          <a:stretch>
            <a:fillRect/>
          </a:stretch>
        </p:blipFill>
        <p:spPr>
          <a:xfrm>
            <a:off x="1473116" y="5189664"/>
            <a:ext cx="134549" cy="195707"/>
          </a:xfrm>
          <a:prstGeom prst="rect">
            <a:avLst/>
          </a:prstGeom>
        </p:spPr>
      </p:pic>
      <p:sp>
        <p:nvSpPr>
          <p:cNvPr id="43" name="TextBox 42"/>
          <p:cNvSpPr txBox="1"/>
          <p:nvPr/>
        </p:nvSpPr>
        <p:spPr>
          <a:xfrm>
            <a:off x="1648226" y="5199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6"/>
          <a:stretch>
            <a:fillRect/>
          </a:stretch>
        </p:blipFill>
        <p:spPr>
          <a:xfrm>
            <a:off x="1799662" y="5189664"/>
            <a:ext cx="134549" cy="195707"/>
          </a:xfrm>
          <a:prstGeom prst="rect">
            <a:avLst/>
          </a:prstGeom>
        </p:spPr>
      </p:pic>
      <p:sp>
        <p:nvSpPr>
          <p:cNvPr id="45" name="TextBox 44"/>
          <p:cNvSpPr txBox="1"/>
          <p:nvPr/>
        </p:nvSpPr>
        <p:spPr>
          <a:xfrm>
            <a:off x="1974771" y="5199888"/>
            <a:ext cx="1653939" cy="194310"/>
          </a:xfrm>
          <a:prstGeom prst="rect">
            <a:avLst/>
          </a:prstGeom>
          <a:noFill/>
        </p:spPr>
        <p:txBody>
          <a:bodyPr wrap="none" lIns="0" rIns="0" tIns="0" bIns="0">
            <a:spAutoFit/>
          </a:bodyPr>
          <a:lstStyle/>
          <a:p>
            <a:r>
              <a:rPr sz="1150" b="0">
                <a:solidFill>
                  <a:srgbClr val="2E2E2E"/>
                </a:solidFill>
                <a:latin typeface="Calibri"/>
              </a:rPr>
              <a:t>MT over the same decade.</a:t>
            </a:r>
          </a:p>
        </p:txBody>
      </p:sp>
      <p:sp>
        <p:nvSpPr>
          <p:cNvPr id="46" name="TextBox 45"/>
          <p:cNvSpPr txBox="1"/>
          <p:nvPr/>
        </p:nvSpPr>
        <p:spPr>
          <a:xfrm>
            <a:off x="276225" y="5427725"/>
            <a:ext cx="888317" cy="194310"/>
          </a:xfrm>
          <a:prstGeom prst="rect">
            <a:avLst/>
          </a:prstGeom>
          <a:noFill/>
        </p:spPr>
        <p:txBody>
          <a:bodyPr wrap="none" lIns="0" rIns="0" tIns="0" bIns="0">
            <a:spAutoFit/>
          </a:bodyPr>
          <a:lstStyle/>
          <a:p>
            <a:r>
              <a:rPr sz="1150" b="0">
                <a:solidFill>
                  <a:srgbClr val="2E2E2E"/>
                </a:solidFill>
                <a:latin typeface="Calibri"/>
              </a:rPr>
              <a:t>▪ Value grows</a:t>
            </a:r>
          </a:p>
        </p:txBody>
      </p:sp>
      <p:pic>
        <p:nvPicPr>
          <p:cNvPr id="47" name="Picture 46" descr="lock.png"/>
          <p:cNvPicPr>
            <a:picLocks noChangeAspect="1"/>
          </p:cNvPicPr>
          <p:nvPr/>
        </p:nvPicPr>
        <p:blipFill>
          <a:blip r:embed="rId6"/>
          <a:stretch>
            <a:fillRect/>
          </a:stretch>
        </p:blipFill>
        <p:spPr>
          <a:xfrm>
            <a:off x="1113696" y="5417502"/>
            <a:ext cx="134549" cy="195707"/>
          </a:xfrm>
          <a:prstGeom prst="rect">
            <a:avLst/>
          </a:prstGeom>
        </p:spPr>
      </p:pic>
      <p:sp>
        <p:nvSpPr>
          <p:cNvPr id="48" name="TextBox 47"/>
          <p:cNvSpPr txBox="1"/>
          <p:nvPr/>
        </p:nvSpPr>
        <p:spPr>
          <a:xfrm>
            <a:off x="1288806" y="5427725"/>
            <a:ext cx="3072774" cy="194310"/>
          </a:xfrm>
          <a:prstGeom prst="rect">
            <a:avLst/>
          </a:prstGeom>
          <a:noFill/>
        </p:spPr>
        <p:txBody>
          <a:bodyPr wrap="none" lIns="0" rIns="0" tIns="0" bIns="0">
            <a:spAutoFit/>
          </a:bodyPr>
          <a:lstStyle/>
          <a:p>
            <a:r>
              <a:rPr sz="1150" b="0">
                <a:solidFill>
                  <a:srgbClr val="2E2E2E"/>
                </a:solidFill>
                <a:latin typeface="Calibri"/>
              </a:rPr>
              <a:t>BPS of CAGR faster than volume firming price/mix.</a:t>
            </a:r>
          </a:p>
        </p:txBody>
      </p:sp>
      <p:sp>
        <p:nvSpPr>
          <p:cNvPr id="49" name="TextBox 48"/>
          <p:cNvSpPr txBox="1"/>
          <p:nvPr/>
        </p:nvSpPr>
        <p:spPr>
          <a:xfrm>
            <a:off x="276225" y="5655563"/>
            <a:ext cx="1675333" cy="194310"/>
          </a:xfrm>
          <a:prstGeom prst="rect">
            <a:avLst/>
          </a:prstGeom>
          <a:noFill/>
        </p:spPr>
        <p:txBody>
          <a:bodyPr wrap="none" lIns="0" rIns="0" tIns="0" bIns="0">
            <a:spAutoFit/>
          </a:bodyPr>
          <a:lstStyle/>
          <a:p>
            <a:r>
              <a:rPr sz="1150" b="0">
                <a:solidFill>
                  <a:srgbClr val="2E2E2E"/>
                </a:solidFill>
                <a:latin typeface="Calibri"/>
              </a:rPr>
              <a:t>▪ The forecast decade adds</a:t>
            </a:r>
          </a:p>
        </p:txBody>
      </p:sp>
      <p:pic>
        <p:nvPicPr>
          <p:cNvPr id="50" name="Picture 49" descr="lock.png"/>
          <p:cNvPicPr>
            <a:picLocks noChangeAspect="1"/>
          </p:cNvPicPr>
          <p:nvPr/>
        </p:nvPicPr>
        <p:blipFill>
          <a:blip r:embed="rId6"/>
          <a:stretch>
            <a:fillRect/>
          </a:stretch>
        </p:blipFill>
        <p:spPr>
          <a:xfrm>
            <a:off x="1900712" y="5645340"/>
            <a:ext cx="134549" cy="195707"/>
          </a:xfrm>
          <a:prstGeom prst="rect">
            <a:avLst/>
          </a:prstGeom>
        </p:spPr>
      </p:pic>
      <p:sp>
        <p:nvSpPr>
          <p:cNvPr id="51" name="TextBox 50"/>
          <p:cNvSpPr txBox="1"/>
          <p:nvPr/>
        </p:nvSpPr>
        <p:spPr>
          <a:xfrm>
            <a:off x="2075821" y="5655563"/>
            <a:ext cx="2268946" cy="194310"/>
          </a:xfrm>
          <a:prstGeom prst="rect">
            <a:avLst/>
          </a:prstGeom>
          <a:noFill/>
        </p:spPr>
        <p:txBody>
          <a:bodyPr wrap="none" lIns="0" rIns="0" tIns="0" bIns="0">
            <a:spAutoFit/>
          </a:bodyPr>
          <a:lstStyle/>
          <a:p>
            <a:r>
              <a:rPr sz="1150" b="0">
                <a:solidFill>
                  <a:srgbClr val="2E2E2E"/>
                </a:solidFill>
                <a:latin typeface="Calibri"/>
              </a:rPr>
              <a:t>US$ Mn of incremental opportunity (</a:t>
            </a:r>
          </a:p>
        </p:txBody>
      </p:sp>
      <p:pic>
        <p:nvPicPr>
          <p:cNvPr id="52" name="Picture 51" descr="lock.png"/>
          <p:cNvPicPr>
            <a:picLocks noChangeAspect="1"/>
          </p:cNvPicPr>
          <p:nvPr/>
        </p:nvPicPr>
        <p:blipFill>
          <a:blip r:embed="rId6"/>
          <a:stretch>
            <a:fillRect/>
          </a:stretch>
        </p:blipFill>
        <p:spPr>
          <a:xfrm>
            <a:off x="4293922" y="5645340"/>
            <a:ext cx="134549" cy="195707"/>
          </a:xfrm>
          <a:prstGeom prst="rect">
            <a:avLst/>
          </a:prstGeom>
        </p:spPr>
      </p:pic>
      <p:sp>
        <p:nvSpPr>
          <p:cNvPr id="53" name="TextBox 52"/>
          <p:cNvSpPr txBox="1"/>
          <p:nvPr/>
        </p:nvSpPr>
        <p:spPr>
          <a:xfrm>
            <a:off x="4469031" y="5655563"/>
            <a:ext cx="2516547" cy="194310"/>
          </a:xfrm>
          <a:prstGeom prst="rect">
            <a:avLst/>
          </a:prstGeom>
          <a:noFill/>
        </p:spPr>
        <p:txBody>
          <a:bodyPr wrap="none" lIns="0" rIns="0" tIns="0" bIns="0">
            <a:spAutoFit/>
          </a:bodyPr>
          <a:lstStyle/>
          <a:p>
            <a:r>
              <a:rPr sz="1150" b="0">
                <a:solidFill>
                  <a:srgbClr val="2E2E2E"/>
                </a:solidFill>
                <a:latin typeface="Calibri"/>
              </a:rPr>
              <a:t>in the first five years) the market reaches</a:t>
            </a:r>
          </a:p>
        </p:txBody>
      </p:sp>
      <p:pic>
        <p:nvPicPr>
          <p:cNvPr id="54" name="Picture 53" descr="lock.png"/>
          <p:cNvPicPr>
            <a:picLocks noChangeAspect="1"/>
          </p:cNvPicPr>
          <p:nvPr/>
        </p:nvPicPr>
        <p:blipFill>
          <a:blip r:embed="rId6"/>
          <a:stretch>
            <a:fillRect/>
          </a:stretch>
        </p:blipFill>
        <p:spPr>
          <a:xfrm>
            <a:off x="6934732" y="5645340"/>
            <a:ext cx="134549" cy="195707"/>
          </a:xfrm>
          <a:prstGeom prst="rect">
            <a:avLst/>
          </a:prstGeom>
        </p:spPr>
      </p:pic>
      <p:sp>
        <p:nvSpPr>
          <p:cNvPr id="55" name="TextBox 54"/>
          <p:cNvSpPr txBox="1"/>
          <p:nvPr/>
        </p:nvSpPr>
        <p:spPr>
          <a:xfrm>
            <a:off x="7109841" y="5655563"/>
            <a:ext cx="1040358" cy="194310"/>
          </a:xfrm>
          <a:prstGeom prst="rect">
            <a:avLst/>
          </a:prstGeom>
          <a:noFill/>
        </p:spPr>
        <p:txBody>
          <a:bodyPr wrap="none" lIns="0" rIns="0" tIns="0" bIns="0">
            <a:spAutoFit/>
          </a:bodyPr>
          <a:lstStyle/>
          <a:p>
            <a:r>
              <a:rPr sz="1150" b="0">
                <a:solidFill>
                  <a:srgbClr val="2E2E2E"/>
                </a:solidFill>
                <a:latin typeface="Calibri"/>
              </a:rPr>
              <a:t>× its 2026 value.</a:t>
            </a:r>
          </a:p>
        </p:txBody>
      </p:sp>
      <p:sp>
        <p:nvSpPr>
          <p:cNvPr id="56"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5" cy="2132071"/>
        </p:xfrm>
        <a:graphic>
          <a:graphicData uri="http://schemas.openxmlformats.org/drawingml/2006/table">
            <a:tbl>
              <a:tblPr>
                <a:tableStyleId>{5C22544A-7EE6-4342-B048-85BDC9FD1C3A}</a:tableStyleId>
              </a:tblPr>
              <a:tblGrid>
                <a:gridCol w="1136545"/>
                <a:gridCol w="928871"/>
                <a:gridCol w="633949"/>
                <a:gridCol w="121541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Rest of LATAM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Saudi Arabia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2" cy="1981679"/>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2" y="1293011"/>
            <a:ext cx="1369293" cy="198167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74690"/>
            <a:ext cx="1544155" cy="1471924"/>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46614"/>
            <a:ext cx="1544155" cy="113199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54205" y="3274690"/>
            <a:ext cx="1130944" cy="1177604"/>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885149" y="3274690"/>
            <a:ext cx="1068226" cy="1177604"/>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54205" y="4452295"/>
            <a:ext cx="1192218" cy="795849"/>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54205" y="5248143"/>
            <a:ext cx="1192218" cy="630466"/>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46423" y="4452295"/>
            <a:ext cx="1006952" cy="733458"/>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46423" y="5185752"/>
            <a:ext cx="1006952" cy="69285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510039" y="4515032"/>
            <a:ext cx="330041" cy="480060"/>
          </a:xfrm>
          <a:prstGeom prst="rect">
            <a:avLst/>
          </a:prstGeom>
        </p:spPr>
      </p:pic>
      <p:pic>
        <p:nvPicPr>
          <p:cNvPr id="38" name="Picture 37" descr="lock.png"/>
          <p:cNvPicPr>
            <a:picLocks noChangeAspect="1"/>
          </p:cNvPicPr>
          <p:nvPr/>
        </p:nvPicPr>
        <p:blipFill>
          <a:blip r:embed="rId6"/>
          <a:stretch>
            <a:fillRect/>
          </a:stretch>
        </p:blipFill>
        <p:spPr>
          <a:xfrm>
            <a:off x="5339440" y="2283850"/>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2" y="2283850"/>
            <a:ext cx="115252" cy="167639"/>
          </a:xfrm>
          <a:prstGeom prst="rect">
            <a:avLst/>
          </a:prstGeom>
        </p:spPr>
      </p:pic>
      <p:pic>
        <p:nvPicPr>
          <p:cNvPr id="40" name="Picture 39" descr="lock.png"/>
          <p:cNvPicPr>
            <a:picLocks noChangeAspect="1"/>
          </p:cNvPicPr>
          <p:nvPr/>
        </p:nvPicPr>
        <p:blipFill>
          <a:blip r:embed="rId6"/>
          <a:stretch>
            <a:fillRect/>
          </a:stretch>
        </p:blipFill>
        <p:spPr>
          <a:xfrm>
            <a:off x="4924501" y="4010652"/>
            <a:ext cx="115252" cy="167639"/>
          </a:xfrm>
          <a:prstGeom prst="rect">
            <a:avLst/>
          </a:prstGeom>
        </p:spPr>
      </p:pic>
      <p:pic>
        <p:nvPicPr>
          <p:cNvPr id="41" name="Picture 40" descr="lock.png"/>
          <p:cNvPicPr>
            <a:picLocks noChangeAspect="1"/>
          </p:cNvPicPr>
          <p:nvPr/>
        </p:nvPicPr>
        <p:blipFill>
          <a:blip r:embed="rId6"/>
          <a:stretch>
            <a:fillRect/>
          </a:stretch>
        </p:blipFill>
        <p:spPr>
          <a:xfrm>
            <a:off x="4924501" y="5312612"/>
            <a:ext cx="115252" cy="167639"/>
          </a:xfrm>
          <a:prstGeom prst="rect">
            <a:avLst/>
          </a:prstGeom>
        </p:spPr>
      </p:pic>
      <p:pic>
        <p:nvPicPr>
          <p:cNvPr id="42" name="Picture 41" descr="lock.png"/>
          <p:cNvPicPr>
            <a:picLocks noChangeAspect="1"/>
          </p:cNvPicPr>
          <p:nvPr/>
        </p:nvPicPr>
        <p:blipFill>
          <a:blip r:embed="rId6"/>
          <a:stretch>
            <a:fillRect/>
          </a:stretch>
        </p:blipFill>
        <p:spPr>
          <a:xfrm>
            <a:off x="6262051" y="3863491"/>
            <a:ext cx="115252" cy="167639"/>
          </a:xfrm>
          <a:prstGeom prst="rect">
            <a:avLst/>
          </a:prstGeom>
        </p:spPr>
      </p:pic>
      <p:pic>
        <p:nvPicPr>
          <p:cNvPr id="43" name="Picture 42" descr="lock.png"/>
          <p:cNvPicPr>
            <a:picLocks noChangeAspect="1"/>
          </p:cNvPicPr>
          <p:nvPr/>
        </p:nvPicPr>
        <p:blipFill>
          <a:blip r:embed="rId6"/>
          <a:stretch>
            <a:fillRect/>
          </a:stretch>
        </p:blipFill>
        <p:spPr>
          <a:xfrm>
            <a:off x="7361636" y="3863491"/>
            <a:ext cx="115252" cy="167639"/>
          </a:xfrm>
          <a:prstGeom prst="rect">
            <a:avLst/>
          </a:prstGeom>
        </p:spPr>
      </p:pic>
      <p:pic>
        <p:nvPicPr>
          <p:cNvPr id="44" name="Picture 43" descr="lock.png"/>
          <p:cNvPicPr>
            <a:picLocks noChangeAspect="1"/>
          </p:cNvPicPr>
          <p:nvPr/>
        </p:nvPicPr>
        <p:blipFill>
          <a:blip r:embed="rId6"/>
          <a:stretch>
            <a:fillRect/>
          </a:stretch>
        </p:blipFill>
        <p:spPr>
          <a:xfrm>
            <a:off x="6292688" y="4850219"/>
            <a:ext cx="115252" cy="167639"/>
          </a:xfrm>
          <a:prstGeom prst="rect">
            <a:avLst/>
          </a:prstGeom>
        </p:spPr>
      </p:pic>
      <p:pic>
        <p:nvPicPr>
          <p:cNvPr id="45" name="Picture 44" descr="lock.png"/>
          <p:cNvPicPr>
            <a:picLocks noChangeAspect="1"/>
          </p:cNvPicPr>
          <p:nvPr/>
        </p:nvPicPr>
        <p:blipFill>
          <a:blip r:embed="rId6"/>
          <a:stretch>
            <a:fillRect/>
          </a:stretch>
        </p:blipFill>
        <p:spPr>
          <a:xfrm>
            <a:off x="6292688" y="5563376"/>
            <a:ext cx="115252" cy="167639"/>
          </a:xfrm>
          <a:prstGeom prst="rect">
            <a:avLst/>
          </a:prstGeom>
        </p:spPr>
      </p:pic>
      <p:pic>
        <p:nvPicPr>
          <p:cNvPr id="46" name="Picture 45" descr="lock.png"/>
          <p:cNvPicPr>
            <a:picLocks noChangeAspect="1"/>
          </p:cNvPicPr>
          <p:nvPr/>
        </p:nvPicPr>
        <p:blipFill>
          <a:blip r:embed="rId6"/>
          <a:stretch>
            <a:fillRect/>
          </a:stretch>
        </p:blipFill>
        <p:spPr>
          <a:xfrm>
            <a:off x="7392273" y="4819024"/>
            <a:ext cx="115252" cy="167639"/>
          </a:xfrm>
          <a:prstGeom prst="rect">
            <a:avLst/>
          </a:prstGeom>
        </p:spPr>
      </p:pic>
      <p:pic>
        <p:nvPicPr>
          <p:cNvPr id="47" name="Picture 46" descr="lock.png"/>
          <p:cNvPicPr>
            <a:picLocks noChangeAspect="1"/>
          </p:cNvPicPr>
          <p:nvPr/>
        </p:nvPicPr>
        <p:blipFill>
          <a:blip r:embed="rId6"/>
          <a:stretch>
            <a:fillRect/>
          </a:stretch>
        </p:blipFill>
        <p:spPr>
          <a:xfrm>
            <a:off x="7392273" y="553218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2129663" cy="186689"/>
          </a:xfrm>
          <a:prstGeom prst="rect">
            <a:avLst/>
          </a:prstGeom>
          <a:noFill/>
        </p:spPr>
        <p:txBody>
          <a:bodyPr wrap="none" lIns="0" rIns="0" tIns="0" bIns="0">
            <a:spAutoFit/>
          </a:bodyPr>
          <a:lstStyle/>
          <a:p>
            <a:r>
              <a:rPr sz="1100" b="0">
                <a:solidFill>
                  <a:srgbClr val="2E2E2E"/>
                </a:solidFill>
                <a:latin typeface="Calibri"/>
              </a:rPr>
              <a:t>India posts the highest CAGR Index (</a:t>
            </a:r>
          </a:p>
        </p:txBody>
      </p:sp>
      <p:pic>
        <p:nvPicPr>
          <p:cNvPr id="51" name="Picture 50" descr="lock.png"/>
          <p:cNvPicPr>
            <a:picLocks noChangeAspect="1"/>
          </p:cNvPicPr>
          <p:nvPr/>
        </p:nvPicPr>
        <p:blipFill>
          <a:blip r:embed="rId6"/>
          <a:stretch>
            <a:fillRect/>
          </a:stretch>
        </p:blipFill>
        <p:spPr>
          <a:xfrm>
            <a:off x="2334890" y="6150795"/>
            <a:ext cx="128699" cy="187198"/>
          </a:xfrm>
          <a:prstGeom prst="rect">
            <a:avLst/>
          </a:prstGeom>
        </p:spPr>
      </p:pic>
      <p:sp>
        <p:nvSpPr>
          <p:cNvPr id="52" name="TextBox 51"/>
          <p:cNvSpPr txBox="1"/>
          <p:nvPr/>
        </p:nvSpPr>
        <p:spPr>
          <a:xfrm>
            <a:off x="2502386"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3" name="Picture 52" descr="lock.png"/>
          <p:cNvPicPr>
            <a:picLocks noChangeAspect="1"/>
          </p:cNvPicPr>
          <p:nvPr/>
        </p:nvPicPr>
        <p:blipFill>
          <a:blip r:embed="rId6"/>
          <a:stretch>
            <a:fillRect/>
          </a:stretch>
        </p:blipFill>
        <p:spPr>
          <a:xfrm>
            <a:off x="3240417" y="6150795"/>
            <a:ext cx="128699" cy="187198"/>
          </a:xfrm>
          <a:prstGeom prst="rect">
            <a:avLst/>
          </a:prstGeom>
        </p:spPr>
      </p:pic>
      <p:sp>
        <p:nvSpPr>
          <p:cNvPr id="54" name="TextBox 53"/>
          <p:cNvSpPr txBox="1"/>
          <p:nvPr/>
        </p:nvSpPr>
        <p:spPr>
          <a:xfrm>
            <a:off x="3407913" y="6160574"/>
            <a:ext cx="4615631" cy="186689"/>
          </a:xfrm>
          <a:prstGeom prst="rect">
            <a:avLst/>
          </a:prstGeom>
          <a:noFill/>
        </p:spPr>
        <p:txBody>
          <a:bodyPr wrap="none" lIns="0" rIns="0" tIns="0" bIns="0">
            <a:spAutoFit/>
          </a:bodyPr>
          <a:lstStyle/>
          <a:p>
            <a:r>
              <a:rPr sz="1100" b="0">
                <a:solidFill>
                  <a:srgbClr val="2E2E2E"/>
                </a:solidFill>
                <a:latin typeface="Calibri"/>
              </a:rPr>
              <a:t>against the global benchmark, while U.S. offers the largest absolute opportunity</a:t>
            </a:r>
          </a:p>
        </p:txBody>
      </p:sp>
      <p:pic>
        <p:nvPicPr>
          <p:cNvPr id="55" name="Picture 54" descr="lock.png"/>
          <p:cNvPicPr>
            <a:picLocks noChangeAspect="1"/>
          </p:cNvPicPr>
          <p:nvPr/>
        </p:nvPicPr>
        <p:blipFill>
          <a:blip r:embed="rId6"/>
          <a:stretch>
            <a:fillRect/>
          </a:stretch>
        </p:blipFill>
        <p:spPr>
          <a:xfrm>
            <a:off x="7971596" y="6150795"/>
            <a:ext cx="128699" cy="187198"/>
          </a:xfrm>
          <a:prstGeom prst="rect">
            <a:avLst/>
          </a:prstGeom>
        </p:spPr>
      </p:pic>
      <p:sp>
        <p:nvSpPr>
          <p:cNvPr id="56" name="TextBox 55"/>
          <p:cNvSpPr txBox="1"/>
          <p:nvPr/>
        </p:nvSpPr>
        <p:spPr>
          <a:xfrm>
            <a:off x="8139092" y="6160574"/>
            <a:ext cx="2361877" cy="186689"/>
          </a:xfrm>
          <a:prstGeom prst="rect">
            <a:avLst/>
          </a:prstGeom>
          <a:noFill/>
        </p:spPr>
        <p:txBody>
          <a:bodyPr wrap="none" lIns="0" rIns="0" tIns="0" bIns="0">
            <a:spAutoFit/>
          </a:bodyPr>
          <a:lstStyle/>
          <a:p>
            <a:r>
              <a:rPr sz="1100" b="0">
                <a:solidFill>
                  <a:srgbClr val="2E2E2E"/>
                </a:solidFill>
                <a:latin typeface="Calibri"/>
              </a:rPr>
              <a:t>US$ Mn of incremental market between</a:t>
            </a:r>
          </a:p>
        </p:txBody>
      </p:sp>
      <p:sp>
        <p:nvSpPr>
          <p:cNvPr id="57" name="TextBox 56"/>
          <p:cNvSpPr txBox="1"/>
          <p:nvPr/>
        </p:nvSpPr>
        <p:spPr>
          <a:xfrm>
            <a:off x="257175" y="6328214"/>
            <a:ext cx="994618" cy="186689"/>
          </a:xfrm>
          <a:prstGeom prst="rect">
            <a:avLst/>
          </a:prstGeom>
          <a:noFill/>
        </p:spPr>
        <p:txBody>
          <a:bodyPr wrap="none" lIns="0" rIns="0" tIns="0" bIns="0">
            <a:spAutoFit/>
          </a:bodyPr>
          <a:lstStyle/>
          <a:p>
            <a:r>
              <a:rPr sz="1100" b="0">
                <a:solidFill>
                  <a:srgbClr val="2E2E2E"/>
                </a:solidFill>
                <a:latin typeface="Calibri"/>
              </a:rPr>
              <a:t>2026 and 2036 (</a:t>
            </a:r>
          </a:p>
        </p:txBody>
      </p:sp>
      <p:pic>
        <p:nvPicPr>
          <p:cNvPr id="58" name="Picture 57" descr="lock.png"/>
          <p:cNvPicPr>
            <a:picLocks noChangeAspect="1"/>
          </p:cNvPicPr>
          <p:nvPr/>
        </p:nvPicPr>
        <p:blipFill>
          <a:blip r:embed="rId6"/>
          <a:stretch>
            <a:fillRect/>
          </a:stretch>
        </p:blipFill>
        <p:spPr>
          <a:xfrm>
            <a:off x="1199844" y="6318435"/>
            <a:ext cx="128699" cy="187198"/>
          </a:xfrm>
          <a:prstGeom prst="rect">
            <a:avLst/>
          </a:prstGeom>
        </p:spPr>
      </p:pic>
      <p:sp>
        <p:nvSpPr>
          <p:cNvPr id="59" name="TextBox 58"/>
          <p:cNvSpPr txBox="1"/>
          <p:nvPr/>
        </p:nvSpPr>
        <p:spPr>
          <a:xfrm>
            <a:off x="1367340"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0"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200" cy="1485896"/>
        </p:xfrm>
        <a:graphic>
          <a:graphicData uri="http://schemas.openxmlformats.org/drawingml/2006/table">
            <a:tbl>
              <a:tblPr>
                <a:tableStyleId>{5C22544A-7EE6-4342-B048-85BDC9FD1C3A}</a:tableStyleId>
              </a:tblPr>
              <a:tblGrid>
                <a:gridCol w="3764787"/>
                <a:gridCol w="2707471"/>
                <a:gridCol w="2707471"/>
                <a:gridCol w="270747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Rest of MEA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Australia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Rest of South East Asia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gridCol w="3346931"/>
                <a:gridCol w="3346931"/>
                <a:gridCol w="33469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7791703"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142875" y="2781300"/>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8670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051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190875"/>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581525"/>
            <a:ext cx="39433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6672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053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991100"/>
            <a:ext cx="36766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581525"/>
            <a:ext cx="3819525"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6672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053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4991100"/>
            <a:ext cx="3552825"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'Sweet muffins'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024299" cy="194310"/>
          </a:xfrm>
          <a:prstGeom prst="rect">
            <a:avLst/>
          </a:prstGeom>
          <a:noFill/>
        </p:spPr>
        <p:txBody>
          <a:bodyPr wrap="none" lIns="0" rIns="0" tIns="0" bIns="0">
            <a:spAutoFit/>
          </a:bodyPr>
          <a:lstStyle/>
          <a:p>
            <a:r>
              <a:rPr sz="1150" b="0">
                <a:solidFill>
                  <a:srgbClr val="2E2E2E"/>
                </a:solidFill>
                <a:latin typeface="Calibri"/>
              </a:rPr>
              <a:t>▪ The global Packaged Muffins market is valued at</a:t>
            </a:r>
          </a:p>
        </p:txBody>
      </p:sp>
      <p:pic>
        <p:nvPicPr>
          <p:cNvPr id="32" name="Picture 31" descr="lock.png"/>
          <p:cNvPicPr>
            <a:picLocks noChangeAspect="1"/>
          </p:cNvPicPr>
          <p:nvPr/>
        </p:nvPicPr>
        <p:blipFill>
          <a:blip r:embed="rId4"/>
          <a:stretch>
            <a:fillRect/>
          </a:stretch>
        </p:blipFill>
        <p:spPr>
          <a:xfrm>
            <a:off x="3249678" y="1389951"/>
            <a:ext cx="134549" cy="195707"/>
          </a:xfrm>
          <a:prstGeom prst="rect">
            <a:avLst/>
          </a:prstGeom>
        </p:spPr>
      </p:pic>
      <p:sp>
        <p:nvSpPr>
          <p:cNvPr id="33" name="TextBox 32"/>
          <p:cNvSpPr txBox="1"/>
          <p:nvPr/>
        </p:nvSpPr>
        <p:spPr>
          <a:xfrm>
            <a:off x="3424787" y="1400175"/>
            <a:ext cx="2440384" cy="194310"/>
          </a:xfrm>
          <a:prstGeom prst="rect">
            <a:avLst/>
          </a:prstGeom>
          <a:noFill/>
        </p:spPr>
        <p:txBody>
          <a:bodyPr wrap="none" lIns="0" rIns="0" tIns="0" bIns="0">
            <a:spAutoFit/>
          </a:bodyPr>
          <a:lstStyle/>
          <a:p>
            <a:r>
              <a:rPr sz="1150" b="0">
                <a:solidFill>
                  <a:srgbClr val="2E2E2E"/>
                </a:solidFill>
                <a:latin typeface="Calibri"/>
              </a:rPr>
              <a:t>US$ Mn in 2026 and is forecast to reach</a:t>
            </a:r>
          </a:p>
        </p:txBody>
      </p:sp>
      <p:pic>
        <p:nvPicPr>
          <p:cNvPr id="34" name="Picture 33" descr="lock.png"/>
          <p:cNvPicPr>
            <a:picLocks noChangeAspect="1"/>
          </p:cNvPicPr>
          <p:nvPr/>
        </p:nvPicPr>
        <p:blipFill>
          <a:blip r:embed="rId4"/>
          <a:stretch>
            <a:fillRect/>
          </a:stretch>
        </p:blipFill>
        <p:spPr>
          <a:xfrm>
            <a:off x="5814325" y="1389951"/>
            <a:ext cx="134549" cy="195707"/>
          </a:xfrm>
          <a:prstGeom prst="rect">
            <a:avLst/>
          </a:prstGeom>
        </p:spPr>
      </p:pic>
      <p:sp>
        <p:nvSpPr>
          <p:cNvPr id="35" name="TextBox 34"/>
          <p:cNvSpPr txBox="1"/>
          <p:nvPr/>
        </p:nvSpPr>
        <p:spPr>
          <a:xfrm>
            <a:off x="5989434" y="1400175"/>
            <a:ext cx="1088566" cy="194310"/>
          </a:xfrm>
          <a:prstGeom prst="rect">
            <a:avLst/>
          </a:prstGeom>
          <a:noFill/>
        </p:spPr>
        <p:txBody>
          <a:bodyPr wrap="none" lIns="0" rIns="0" tIns="0" bIns="0">
            <a:spAutoFit/>
          </a:bodyPr>
          <a:lstStyle/>
          <a:p>
            <a:r>
              <a:rPr sz="1150" b="0">
                <a:solidFill>
                  <a:srgbClr val="2E2E2E"/>
                </a:solidFill>
                <a:latin typeface="Calibri"/>
              </a:rPr>
              <a:t>US$ Mn by 2036.</a:t>
            </a:r>
          </a:p>
        </p:txBody>
      </p:sp>
      <p:sp>
        <p:nvSpPr>
          <p:cNvPr id="36" name="TextBox 35"/>
          <p:cNvSpPr txBox="1"/>
          <p:nvPr/>
        </p:nvSpPr>
        <p:spPr>
          <a:xfrm>
            <a:off x="276225" y="1628013"/>
            <a:ext cx="988156" cy="194310"/>
          </a:xfrm>
          <a:prstGeom prst="rect">
            <a:avLst/>
          </a:prstGeom>
          <a:noFill/>
        </p:spPr>
        <p:txBody>
          <a:bodyPr wrap="none" lIns="0" rIns="0" tIns="0" bIns="0">
            <a:spAutoFit/>
          </a:bodyPr>
          <a:lstStyle/>
          <a:p>
            <a:r>
              <a:rPr sz="1150" b="0">
                <a:solidFill>
                  <a:srgbClr val="2E2E2E"/>
                </a:solidFill>
                <a:latin typeface="Calibri"/>
              </a:rPr>
              <a:t>▪ That implies a</a:t>
            </a:r>
          </a:p>
        </p:txBody>
      </p:sp>
      <p:pic>
        <p:nvPicPr>
          <p:cNvPr id="37" name="Picture 36" descr="lock.png"/>
          <p:cNvPicPr>
            <a:picLocks noChangeAspect="1"/>
          </p:cNvPicPr>
          <p:nvPr/>
        </p:nvPicPr>
        <p:blipFill>
          <a:blip r:embed="rId4"/>
          <a:stretch>
            <a:fillRect/>
          </a:stretch>
        </p:blipFill>
        <p:spPr>
          <a:xfrm>
            <a:off x="1213535" y="1617789"/>
            <a:ext cx="134549" cy="195707"/>
          </a:xfrm>
          <a:prstGeom prst="rect">
            <a:avLst/>
          </a:prstGeom>
        </p:spPr>
      </p:pic>
      <p:sp>
        <p:nvSpPr>
          <p:cNvPr id="38" name="TextBox 37"/>
          <p:cNvSpPr txBox="1"/>
          <p:nvPr/>
        </p:nvSpPr>
        <p:spPr>
          <a:xfrm>
            <a:off x="1388644" y="1628013"/>
            <a:ext cx="2163955" cy="194310"/>
          </a:xfrm>
          <a:prstGeom prst="rect">
            <a:avLst/>
          </a:prstGeom>
          <a:noFill/>
        </p:spPr>
        <p:txBody>
          <a:bodyPr wrap="none" lIns="0" rIns="0" tIns="0" bIns="0">
            <a:spAutoFit/>
          </a:bodyPr>
          <a:lstStyle/>
          <a:p>
            <a:r>
              <a:rPr sz="1150" b="0">
                <a:solidFill>
                  <a:srgbClr val="2E2E2E"/>
                </a:solidFill>
                <a:latin typeface="Calibri"/>
              </a:rPr>
              <a:t>forecast CAGR (2026–2036), versus</a:t>
            </a:r>
          </a:p>
        </p:txBody>
      </p:sp>
      <p:pic>
        <p:nvPicPr>
          <p:cNvPr id="39" name="Picture 38" descr="lock.png"/>
          <p:cNvPicPr>
            <a:picLocks noChangeAspect="1"/>
          </p:cNvPicPr>
          <p:nvPr/>
        </p:nvPicPr>
        <p:blipFill>
          <a:blip r:embed="rId4"/>
          <a:stretch>
            <a:fillRect/>
          </a:stretch>
        </p:blipFill>
        <p:spPr>
          <a:xfrm>
            <a:off x="3501754" y="1617789"/>
            <a:ext cx="134549" cy="195707"/>
          </a:xfrm>
          <a:prstGeom prst="rect">
            <a:avLst/>
          </a:prstGeom>
        </p:spPr>
      </p:pic>
      <p:sp>
        <p:nvSpPr>
          <p:cNvPr id="40" name="TextBox 39"/>
          <p:cNvSpPr txBox="1"/>
          <p:nvPr/>
        </p:nvSpPr>
        <p:spPr>
          <a:xfrm>
            <a:off x="3676863" y="1628013"/>
            <a:ext cx="1078867" cy="194310"/>
          </a:xfrm>
          <a:prstGeom prst="rect">
            <a:avLst/>
          </a:prstGeom>
          <a:noFill/>
        </p:spPr>
        <p:txBody>
          <a:bodyPr wrap="none" lIns="0" rIns="0" tIns="0" bIns="0">
            <a:spAutoFit/>
          </a:bodyPr>
          <a:lstStyle/>
          <a:p>
            <a:r>
              <a:rPr sz="1150" b="0">
                <a:solidFill>
                  <a:srgbClr val="2E2E2E"/>
                </a:solidFill>
                <a:latin typeface="Calibri"/>
              </a:rPr>
              <a:t>over 2021–2025.</a:t>
            </a:r>
          </a:p>
        </p:txBody>
      </p:sp>
      <p:sp>
        <p:nvSpPr>
          <p:cNvPr id="41" name="TextBox 40"/>
          <p:cNvSpPr txBox="1"/>
          <p:nvPr/>
        </p:nvSpPr>
        <p:spPr>
          <a:xfrm>
            <a:off x="276225" y="1855851"/>
            <a:ext cx="1070024" cy="194310"/>
          </a:xfrm>
          <a:prstGeom prst="rect">
            <a:avLst/>
          </a:prstGeom>
          <a:noFill/>
        </p:spPr>
        <p:txBody>
          <a:bodyPr wrap="none" lIns="0" rIns="0" tIns="0" bIns="0">
            <a:spAutoFit/>
          </a:bodyPr>
          <a:lstStyle/>
          <a:p>
            <a:r>
              <a:rPr sz="1150" b="0">
                <a:solidFill>
                  <a:srgbClr val="2E2E2E"/>
                </a:solidFill>
                <a:latin typeface="Calibri"/>
              </a:rPr>
              <a:t>▪ An incremental</a:t>
            </a:r>
          </a:p>
        </p:txBody>
      </p:sp>
      <p:pic>
        <p:nvPicPr>
          <p:cNvPr id="42" name="Picture 41" descr="lock.png"/>
          <p:cNvPicPr>
            <a:picLocks noChangeAspect="1"/>
          </p:cNvPicPr>
          <p:nvPr/>
        </p:nvPicPr>
        <p:blipFill>
          <a:blip r:embed="rId4"/>
          <a:stretch>
            <a:fillRect/>
          </a:stretch>
        </p:blipFill>
        <p:spPr>
          <a:xfrm>
            <a:off x="1295403" y="1845627"/>
            <a:ext cx="134549" cy="195707"/>
          </a:xfrm>
          <a:prstGeom prst="rect">
            <a:avLst/>
          </a:prstGeom>
        </p:spPr>
      </p:pic>
      <p:sp>
        <p:nvSpPr>
          <p:cNvPr id="43" name="TextBox 42"/>
          <p:cNvSpPr txBox="1"/>
          <p:nvPr/>
        </p:nvSpPr>
        <p:spPr>
          <a:xfrm>
            <a:off x="1470512" y="1855851"/>
            <a:ext cx="2984934" cy="194310"/>
          </a:xfrm>
          <a:prstGeom prst="rect">
            <a:avLst/>
          </a:prstGeom>
          <a:noFill/>
        </p:spPr>
        <p:txBody>
          <a:bodyPr wrap="none" lIns="0" rIns="0" tIns="0" bIns="0">
            <a:spAutoFit/>
          </a:bodyPr>
          <a:lstStyle/>
          <a:p>
            <a:r>
              <a:rPr sz="1150" b="0">
                <a:solidFill>
                  <a:srgbClr val="2E2E2E"/>
                </a:solidFill>
                <a:latin typeface="Calibri"/>
              </a:rPr>
              <a:t>US$ Mn of demand is created over the forecast a</a:t>
            </a:r>
          </a:p>
        </p:txBody>
      </p:sp>
      <p:pic>
        <p:nvPicPr>
          <p:cNvPr id="44" name="Picture 43" descr="lock.png"/>
          <p:cNvPicPr>
            <a:picLocks noChangeAspect="1"/>
          </p:cNvPicPr>
          <p:nvPr/>
        </p:nvPicPr>
        <p:blipFill>
          <a:blip r:embed="rId4"/>
          <a:stretch>
            <a:fillRect/>
          </a:stretch>
        </p:blipFill>
        <p:spPr>
          <a:xfrm>
            <a:off x="4404600" y="1845627"/>
            <a:ext cx="134549" cy="195707"/>
          </a:xfrm>
          <a:prstGeom prst="rect">
            <a:avLst/>
          </a:prstGeom>
        </p:spPr>
      </p:pic>
      <p:sp>
        <p:nvSpPr>
          <p:cNvPr id="45" name="TextBox 44"/>
          <p:cNvSpPr txBox="1"/>
          <p:nvPr/>
        </p:nvSpPr>
        <p:spPr>
          <a:xfrm>
            <a:off x="4579710" y="1855851"/>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6" name="TextBox 45"/>
          <p:cNvSpPr txBox="1"/>
          <p:nvPr/>
        </p:nvSpPr>
        <p:spPr>
          <a:xfrm>
            <a:off x="276225" y="3200400"/>
            <a:ext cx="5146302"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'Sweet muffins' holds</a:t>
            </a:r>
          </a:p>
        </p:txBody>
      </p:sp>
      <p:pic>
        <p:nvPicPr>
          <p:cNvPr id="47" name="Picture 46" descr="lock.png"/>
          <p:cNvPicPr>
            <a:picLocks noChangeAspect="1"/>
          </p:cNvPicPr>
          <p:nvPr/>
        </p:nvPicPr>
        <p:blipFill>
          <a:blip r:embed="rId4"/>
          <a:stretch>
            <a:fillRect/>
          </a:stretch>
        </p:blipFill>
        <p:spPr>
          <a:xfrm>
            <a:off x="5371681" y="3190176"/>
            <a:ext cx="134549" cy="195707"/>
          </a:xfrm>
          <a:prstGeom prst="rect">
            <a:avLst/>
          </a:prstGeom>
        </p:spPr>
      </p:pic>
      <p:sp>
        <p:nvSpPr>
          <p:cNvPr id="48" name="TextBox 47"/>
          <p:cNvSpPr txBox="1"/>
          <p:nvPr/>
        </p:nvSpPr>
        <p:spPr>
          <a:xfrm>
            <a:off x="5546791" y="32004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9" name="TextBox 48"/>
          <p:cNvSpPr txBox="1"/>
          <p:nvPr/>
        </p:nvSpPr>
        <p:spPr>
          <a:xfrm>
            <a:off x="276225" y="3428237"/>
            <a:ext cx="4985134" cy="194310"/>
          </a:xfrm>
          <a:prstGeom prst="rect">
            <a:avLst/>
          </a:prstGeom>
          <a:noFill/>
        </p:spPr>
        <p:txBody>
          <a:bodyPr wrap="none" lIns="0" rIns="0" tIns="0" bIns="0">
            <a:spAutoFit/>
          </a:bodyPr>
          <a:lstStyle/>
          <a:p>
            <a:r>
              <a:rPr sz="1150" b="0">
                <a:solidFill>
                  <a:srgbClr val="2E2E2E"/>
                </a:solidFill>
                <a:latin typeface="Calibri"/>
              </a:rPr>
              <a:t>▪ Demand spans 6 regions and 21 segmentation lenses (2 product type categories).</a:t>
            </a:r>
          </a:p>
        </p:txBody>
      </p:sp>
      <p:sp>
        <p:nvSpPr>
          <p:cNvPr id="50" name="TextBox 49"/>
          <p:cNvSpPr txBox="1"/>
          <p:nvPr/>
        </p:nvSpPr>
        <p:spPr>
          <a:xfrm>
            <a:off x="276225" y="36560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51" name="Picture 50" descr="lock.png"/>
          <p:cNvPicPr>
            <a:picLocks noChangeAspect="1"/>
          </p:cNvPicPr>
          <p:nvPr/>
        </p:nvPicPr>
        <p:blipFill>
          <a:blip r:embed="rId4"/>
          <a:stretch>
            <a:fillRect/>
          </a:stretch>
        </p:blipFill>
        <p:spPr>
          <a:xfrm>
            <a:off x="3176367" y="3645852"/>
            <a:ext cx="134549" cy="195707"/>
          </a:xfrm>
          <a:prstGeom prst="rect">
            <a:avLst/>
          </a:prstGeom>
        </p:spPr>
      </p:pic>
      <p:sp>
        <p:nvSpPr>
          <p:cNvPr id="52" name="TextBox 51"/>
          <p:cNvSpPr txBox="1"/>
          <p:nvPr/>
        </p:nvSpPr>
        <p:spPr>
          <a:xfrm>
            <a:off x="3351477" y="36560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3" name="TextBox 52"/>
          <p:cNvSpPr txBox="1"/>
          <p:nvPr/>
        </p:nvSpPr>
        <p:spPr>
          <a:xfrm>
            <a:off x="276225" y="5000625"/>
            <a:ext cx="2520540" cy="194310"/>
          </a:xfrm>
          <a:prstGeom prst="rect">
            <a:avLst/>
          </a:prstGeom>
          <a:noFill/>
        </p:spPr>
        <p:txBody>
          <a:bodyPr wrap="none" lIns="0" rIns="0" tIns="0" bIns="0">
            <a:spAutoFit/>
          </a:bodyPr>
          <a:lstStyle/>
          <a:p>
            <a:r>
              <a:rPr sz="1150" b="0">
                <a:solidFill>
                  <a:srgbClr val="2E2E2E"/>
                </a:solidFill>
                <a:latin typeface="Calibri"/>
              </a:rPr>
              <a:t>▪ Accelerating uptake of 'Sweet muffins' (</a:t>
            </a:r>
          </a:p>
        </p:txBody>
      </p:sp>
      <p:pic>
        <p:nvPicPr>
          <p:cNvPr id="54" name="Picture 53" descr="lock.png"/>
          <p:cNvPicPr>
            <a:picLocks noChangeAspect="1"/>
          </p:cNvPicPr>
          <p:nvPr/>
        </p:nvPicPr>
        <p:blipFill>
          <a:blip r:embed="rId4"/>
          <a:stretch>
            <a:fillRect/>
          </a:stretch>
        </p:blipFill>
        <p:spPr>
          <a:xfrm>
            <a:off x="2745919" y="4990401"/>
            <a:ext cx="134549" cy="195707"/>
          </a:xfrm>
          <a:prstGeom prst="rect">
            <a:avLst/>
          </a:prstGeom>
        </p:spPr>
      </p:pic>
      <p:sp>
        <p:nvSpPr>
          <p:cNvPr id="55" name="TextBox 54"/>
          <p:cNvSpPr txBox="1"/>
          <p:nvPr/>
        </p:nvSpPr>
        <p:spPr>
          <a:xfrm>
            <a:off x="2921028" y="50006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6" name="TextBox 55"/>
          <p:cNvSpPr txBox="1"/>
          <p:nvPr/>
        </p:nvSpPr>
        <p:spPr>
          <a:xfrm>
            <a:off x="276225" y="5228463"/>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7" name="Picture 56" descr="lock.png"/>
          <p:cNvPicPr>
            <a:picLocks noChangeAspect="1"/>
          </p:cNvPicPr>
          <p:nvPr/>
        </p:nvPicPr>
        <p:blipFill>
          <a:blip r:embed="rId4"/>
          <a:stretch>
            <a:fillRect/>
          </a:stretch>
        </p:blipFill>
        <p:spPr>
          <a:xfrm>
            <a:off x="3102424" y="5218239"/>
            <a:ext cx="134549" cy="195707"/>
          </a:xfrm>
          <a:prstGeom prst="rect">
            <a:avLst/>
          </a:prstGeom>
        </p:spPr>
      </p:pic>
      <p:sp>
        <p:nvSpPr>
          <p:cNvPr id="58" name="TextBox 57"/>
          <p:cNvSpPr txBox="1"/>
          <p:nvPr/>
        </p:nvSpPr>
        <p:spPr>
          <a:xfrm>
            <a:off x="3277533" y="52284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9" name="TextBox 58"/>
          <p:cNvSpPr txBox="1"/>
          <p:nvPr/>
        </p:nvSpPr>
        <p:spPr>
          <a:xfrm>
            <a:off x="276225" y="5456300"/>
            <a:ext cx="3497218" cy="194310"/>
          </a:xfrm>
          <a:prstGeom prst="rect">
            <a:avLst/>
          </a:prstGeom>
          <a:noFill/>
        </p:spPr>
        <p:txBody>
          <a:bodyPr wrap="none" lIns="0" rIns="0" tIns="0" bIns="0">
            <a:spAutoFit/>
          </a:bodyPr>
          <a:lstStyle/>
          <a:p>
            <a:r>
              <a:rPr sz="1150" b="0">
                <a:solidFill>
                  <a:srgbClr val="2E2E2E"/>
                </a:solidFill>
                <a:latin typeface="Calibri"/>
              </a:rPr>
              <a:t>▪ Momentum in Foodservice and institutional within sales</a:t>
            </a:r>
          </a:p>
        </p:txBody>
      </p:sp>
      <p:sp>
        <p:nvSpPr>
          <p:cNvPr id="60" name="TextBox 59"/>
          <p:cNvSpPr txBox="1"/>
          <p:nvPr/>
        </p:nvSpPr>
        <p:spPr>
          <a:xfrm>
            <a:off x="276225" y="5631560"/>
            <a:ext cx="621890" cy="194310"/>
          </a:xfrm>
          <a:prstGeom prst="rect">
            <a:avLst/>
          </a:prstGeom>
          <a:noFill/>
        </p:spPr>
        <p:txBody>
          <a:bodyPr wrap="none" lIns="0" rIns="0" tIns="0" bIns="0">
            <a:spAutoFit/>
          </a:bodyPr>
          <a:lstStyle/>
          <a:p>
            <a:r>
              <a:rPr sz="1150" b="0">
                <a:solidFill>
                  <a:srgbClr val="2E2E2E"/>
                </a:solidFill>
                <a:latin typeface="Calibri"/>
              </a:rPr>
              <a:t>channel (</a:t>
            </a:r>
          </a:p>
        </p:txBody>
      </p:sp>
      <p:pic>
        <p:nvPicPr>
          <p:cNvPr id="61" name="Picture 60" descr="lock.png"/>
          <p:cNvPicPr>
            <a:picLocks noChangeAspect="1"/>
          </p:cNvPicPr>
          <p:nvPr/>
        </p:nvPicPr>
        <p:blipFill>
          <a:blip r:embed="rId4"/>
          <a:stretch>
            <a:fillRect/>
          </a:stretch>
        </p:blipFill>
        <p:spPr>
          <a:xfrm>
            <a:off x="847269" y="5621337"/>
            <a:ext cx="134549" cy="195707"/>
          </a:xfrm>
          <a:prstGeom prst="rect">
            <a:avLst/>
          </a:prstGeom>
        </p:spPr>
      </p:pic>
      <p:sp>
        <p:nvSpPr>
          <p:cNvPr id="62" name="TextBox 61"/>
          <p:cNvSpPr txBox="1"/>
          <p:nvPr/>
        </p:nvSpPr>
        <p:spPr>
          <a:xfrm>
            <a:off x="1022378" y="56315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3" name="TextBox 62"/>
          <p:cNvSpPr txBox="1"/>
          <p:nvPr/>
        </p:nvSpPr>
        <p:spPr>
          <a:xfrm>
            <a:off x="4371975" y="5000625"/>
            <a:ext cx="2577306" cy="194310"/>
          </a:xfrm>
          <a:prstGeom prst="rect">
            <a:avLst/>
          </a:prstGeom>
          <a:noFill/>
        </p:spPr>
        <p:txBody>
          <a:bodyPr wrap="none" lIns="0" rIns="0" tIns="0" bIns="0">
            <a:spAutoFit/>
          </a:bodyPr>
          <a:lstStyle/>
          <a:p>
            <a:r>
              <a:rPr sz="1150" b="0">
                <a:solidFill>
                  <a:srgbClr val="2E2E2E"/>
                </a:solidFill>
                <a:latin typeface="Calibri"/>
              </a:rPr>
              <a:t>▪ Slower momentum in 'Savoury muffins' (</a:t>
            </a:r>
          </a:p>
        </p:txBody>
      </p:sp>
      <p:pic>
        <p:nvPicPr>
          <p:cNvPr id="64" name="Picture 63" descr="lock.png"/>
          <p:cNvPicPr>
            <a:picLocks noChangeAspect="1"/>
          </p:cNvPicPr>
          <p:nvPr/>
        </p:nvPicPr>
        <p:blipFill>
          <a:blip r:embed="rId4"/>
          <a:stretch>
            <a:fillRect/>
          </a:stretch>
        </p:blipFill>
        <p:spPr>
          <a:xfrm>
            <a:off x="6898435" y="4990401"/>
            <a:ext cx="134549" cy="195707"/>
          </a:xfrm>
          <a:prstGeom prst="rect">
            <a:avLst/>
          </a:prstGeom>
        </p:spPr>
      </p:pic>
      <p:sp>
        <p:nvSpPr>
          <p:cNvPr id="65" name="TextBox 64"/>
          <p:cNvSpPr txBox="1"/>
          <p:nvPr/>
        </p:nvSpPr>
        <p:spPr>
          <a:xfrm>
            <a:off x="7073544" y="50006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6" name="TextBox 65"/>
          <p:cNvSpPr txBox="1"/>
          <p:nvPr/>
        </p:nvSpPr>
        <p:spPr>
          <a:xfrm>
            <a:off x="4371975" y="52284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7" name="TextBox 66"/>
          <p:cNvSpPr txBox="1"/>
          <p:nvPr/>
        </p:nvSpPr>
        <p:spPr>
          <a:xfrm>
            <a:off x="4371975" y="54037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8" name="Picture 67" descr="lock.png"/>
          <p:cNvPicPr>
            <a:picLocks noChangeAspect="1"/>
          </p:cNvPicPr>
          <p:nvPr/>
        </p:nvPicPr>
        <p:blipFill>
          <a:blip r:embed="rId4"/>
          <a:stretch>
            <a:fillRect/>
          </a:stretch>
        </p:blipFill>
        <p:spPr>
          <a:xfrm>
            <a:off x="4883401" y="5393499"/>
            <a:ext cx="134549" cy="195707"/>
          </a:xfrm>
          <a:prstGeom prst="rect">
            <a:avLst/>
          </a:prstGeom>
        </p:spPr>
      </p:pic>
      <p:sp>
        <p:nvSpPr>
          <p:cNvPr id="69" name="TextBox 68"/>
          <p:cNvSpPr txBox="1"/>
          <p:nvPr/>
        </p:nvSpPr>
        <p:spPr>
          <a:xfrm>
            <a:off x="5058510" y="54037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4371975" y="5631560"/>
            <a:ext cx="3530054" cy="194310"/>
          </a:xfrm>
          <a:prstGeom prst="rect">
            <a:avLst/>
          </a:prstGeom>
          <a:noFill/>
        </p:spPr>
        <p:txBody>
          <a:bodyPr wrap="none" lIns="0" rIns="0" tIns="0" bIns="0">
            <a:spAutoFit/>
          </a:bodyPr>
          <a:lstStyle/>
          <a:p>
            <a:r>
              <a:rPr sz="1150" b="0">
                <a:solidFill>
                  <a:srgbClr val="2E2E2E"/>
                </a:solidFill>
                <a:latin typeface="Calibri"/>
              </a:rPr>
              <a:t>▪ Value concentration in 'Sweet muffins' raises barriers for</a:t>
            </a:r>
          </a:p>
        </p:txBody>
      </p:sp>
      <p:sp>
        <p:nvSpPr>
          <p:cNvPr id="71" name="TextBox 70"/>
          <p:cNvSpPr txBox="1"/>
          <p:nvPr/>
        </p:nvSpPr>
        <p:spPr>
          <a:xfrm>
            <a:off x="4371975" y="58068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'Sweet muffins'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1856829" cy="186689"/>
          </a:xfrm>
          <a:prstGeom prst="rect">
            <a:avLst/>
          </a:prstGeom>
          <a:noFill/>
        </p:spPr>
        <p:txBody>
          <a:bodyPr wrap="none" lIns="0" rIns="0" tIns="0" bIns="0">
            <a:spAutoFit/>
          </a:bodyPr>
          <a:lstStyle/>
          <a:p>
            <a:r>
              <a:rPr sz="1100" b="0">
                <a:solidFill>
                  <a:srgbClr val="2E2E2E"/>
                </a:solidFill>
                <a:latin typeface="Calibri"/>
              </a:rPr>
              <a:t>▪ Lead category 'Sweet muffins'</a:t>
            </a:r>
          </a:p>
        </p:txBody>
      </p:sp>
      <p:pic>
        <p:nvPicPr>
          <p:cNvPr id="41" name="Picture 40" descr="lock.png"/>
          <p:cNvPicPr>
            <a:picLocks noChangeAspect="1"/>
          </p:cNvPicPr>
          <p:nvPr/>
        </p:nvPicPr>
        <p:blipFill>
          <a:blip r:embed="rId5"/>
          <a:stretch>
            <a:fillRect/>
          </a:stretch>
        </p:blipFill>
        <p:spPr>
          <a:xfrm>
            <a:off x="8110430" y="1826260"/>
            <a:ext cx="128699" cy="187198"/>
          </a:xfrm>
          <a:prstGeom prst="rect">
            <a:avLst/>
          </a:prstGeom>
        </p:spPr>
      </p:pic>
      <p:sp>
        <p:nvSpPr>
          <p:cNvPr id="42" name="TextBox 41"/>
          <p:cNvSpPr txBox="1"/>
          <p:nvPr/>
        </p:nvSpPr>
        <p:spPr>
          <a:xfrm>
            <a:off x="8277926"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44" name="Picture 43" descr="lock.png"/>
          <p:cNvPicPr>
            <a:picLocks noChangeAspect="1"/>
          </p:cNvPicPr>
          <p:nvPr/>
        </p:nvPicPr>
        <p:blipFill>
          <a:blip r:embed="rId5"/>
          <a:stretch>
            <a:fillRect/>
          </a:stretch>
        </p:blipFill>
        <p:spPr>
          <a:xfrm>
            <a:off x="7939898" y="2044192"/>
            <a:ext cx="128699" cy="187198"/>
          </a:xfrm>
          <a:prstGeom prst="rect">
            <a:avLst/>
          </a:prstGeom>
        </p:spPr>
      </p:pic>
      <p:sp>
        <p:nvSpPr>
          <p:cNvPr id="45" name="TextBox 44"/>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343883"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'Sweet muffins' (</a:t>
            </a:r>
          </a:p>
        </p:txBody>
      </p:sp>
      <p:pic>
        <p:nvPicPr>
          <p:cNvPr id="50" name="Picture 49" descr="lock.png"/>
          <p:cNvPicPr>
            <a:picLocks noChangeAspect="1"/>
          </p:cNvPicPr>
          <p:nvPr/>
        </p:nvPicPr>
        <p:blipFill>
          <a:blip r:embed="rId5"/>
          <a:stretch>
            <a:fillRect/>
          </a:stretch>
        </p:blipFill>
        <p:spPr>
          <a:xfrm>
            <a:off x="4569262" y="3304476"/>
            <a:ext cx="134549" cy="195707"/>
          </a:xfrm>
          <a:prstGeom prst="rect">
            <a:avLst/>
          </a:prstGeom>
        </p:spPr>
      </p:pic>
      <p:sp>
        <p:nvSpPr>
          <p:cNvPr id="51" name="TextBox 50"/>
          <p:cNvSpPr txBox="1"/>
          <p:nvPr/>
        </p:nvSpPr>
        <p:spPr>
          <a:xfrm>
            <a:off x="4744371"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3542537"/>
            <a:ext cx="1409762" cy="194310"/>
          </a:xfrm>
          <a:prstGeom prst="rect">
            <a:avLst/>
          </a:prstGeom>
          <a:noFill/>
        </p:spPr>
        <p:txBody>
          <a:bodyPr wrap="none" lIns="0" rIns="0" tIns="0" bIns="0">
            <a:spAutoFit/>
          </a:bodyPr>
          <a:lstStyle/>
          <a:p>
            <a:r>
              <a:rPr sz="1150" b="0">
                <a:solidFill>
                  <a:srgbClr val="2E2E2E"/>
                </a:solidFill>
                <a:latin typeface="Calibri"/>
              </a:rPr>
              <a:t>▪ South Asia &amp; Pacific (</a:t>
            </a:r>
          </a:p>
        </p:txBody>
      </p:sp>
      <p:pic>
        <p:nvPicPr>
          <p:cNvPr id="53" name="Picture 52" descr="lock.png"/>
          <p:cNvPicPr>
            <a:picLocks noChangeAspect="1"/>
          </p:cNvPicPr>
          <p:nvPr/>
        </p:nvPicPr>
        <p:blipFill>
          <a:blip r:embed="rId5"/>
          <a:stretch>
            <a:fillRect/>
          </a:stretch>
        </p:blipFill>
        <p:spPr>
          <a:xfrm>
            <a:off x="1635140" y="3532314"/>
            <a:ext cx="134549" cy="195707"/>
          </a:xfrm>
          <a:prstGeom prst="rect">
            <a:avLst/>
          </a:prstGeom>
        </p:spPr>
      </p:pic>
      <p:sp>
        <p:nvSpPr>
          <p:cNvPr id="54" name="TextBox 53"/>
          <p:cNvSpPr txBox="1"/>
          <p:nvPr/>
        </p:nvSpPr>
        <p:spPr>
          <a:xfrm>
            <a:off x="1810250" y="3542537"/>
            <a:ext cx="2283494" cy="194310"/>
          </a:xfrm>
          <a:prstGeom prst="rect">
            <a:avLst/>
          </a:prstGeom>
          <a:noFill/>
        </p:spPr>
        <p:txBody>
          <a:bodyPr wrap="none" lIns="0" rIns="0" tIns="0" bIns="0">
            <a:spAutoFit/>
          </a:bodyPr>
          <a:lstStyle/>
          <a:p>
            <a:r>
              <a:rPr sz="1150" b="0">
                <a:solidFill>
                  <a:srgbClr val="2E2E2E"/>
                </a:solidFill>
                <a:latin typeface="Calibri"/>
              </a:rPr>
              <a:t>) is a priority region for new capacity.</a:t>
            </a:r>
          </a:p>
        </p:txBody>
      </p:sp>
      <p:sp>
        <p:nvSpPr>
          <p:cNvPr id="55" name="TextBox 54"/>
          <p:cNvSpPr txBox="1"/>
          <p:nvPr/>
        </p:nvSpPr>
        <p:spPr>
          <a:xfrm>
            <a:off x="276225" y="3770375"/>
            <a:ext cx="2857996" cy="194310"/>
          </a:xfrm>
          <a:prstGeom prst="rect">
            <a:avLst/>
          </a:prstGeom>
          <a:noFill/>
        </p:spPr>
        <p:txBody>
          <a:bodyPr wrap="none" lIns="0" rIns="0" tIns="0" bIns="0">
            <a:spAutoFit/>
          </a:bodyPr>
          <a:lstStyle/>
          <a:p>
            <a:r>
              <a:rPr sz="1150" b="0">
                <a:solidFill>
                  <a:srgbClr val="2E2E2E"/>
                </a:solidFill>
                <a:latin typeface="Calibri"/>
              </a:rPr>
              <a:t>▪ Scale players anchor around 'Sweet muffins' (</a:t>
            </a:r>
          </a:p>
        </p:txBody>
      </p:sp>
      <p:pic>
        <p:nvPicPr>
          <p:cNvPr id="56" name="Picture 55" descr="lock.png"/>
          <p:cNvPicPr>
            <a:picLocks noChangeAspect="1"/>
          </p:cNvPicPr>
          <p:nvPr/>
        </p:nvPicPr>
        <p:blipFill>
          <a:blip r:embed="rId5"/>
          <a:stretch>
            <a:fillRect/>
          </a:stretch>
        </p:blipFill>
        <p:spPr>
          <a:xfrm>
            <a:off x="3083375" y="3760152"/>
            <a:ext cx="134549" cy="195707"/>
          </a:xfrm>
          <a:prstGeom prst="rect">
            <a:avLst/>
          </a:prstGeom>
        </p:spPr>
      </p:pic>
      <p:sp>
        <p:nvSpPr>
          <p:cNvPr id="57" name="TextBox 56"/>
          <p:cNvSpPr txBox="1"/>
          <p:nvPr/>
        </p:nvSpPr>
        <p:spPr>
          <a:xfrm>
            <a:off x="3258484"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8" name="TextBox 57"/>
          <p:cNvSpPr txBox="1"/>
          <p:nvPr/>
        </p:nvSpPr>
        <p:spPr>
          <a:xfrm>
            <a:off x="6305550" y="3314700"/>
            <a:ext cx="4758642" cy="194310"/>
          </a:xfrm>
          <a:prstGeom prst="rect">
            <a:avLst/>
          </a:prstGeom>
          <a:noFill/>
        </p:spPr>
        <p:txBody>
          <a:bodyPr wrap="none" lIns="0" rIns="0" tIns="0" bIns="0">
            <a:spAutoFit/>
          </a:bodyPr>
          <a:lstStyle/>
          <a:p>
            <a:r>
              <a:rPr sz="1150" b="0">
                <a:solidFill>
                  <a:srgbClr val="2E2E2E"/>
                </a:solidFill>
                <a:latin typeface="Calibri"/>
              </a:rPr>
              <a:t>▪ R&amp;D aligns with the migration to 'Sweet muffins' and adjacent premium tiers.</a:t>
            </a:r>
          </a:p>
        </p:txBody>
      </p:sp>
      <p:sp>
        <p:nvSpPr>
          <p:cNvPr id="59" name="TextBox 58"/>
          <p:cNvSpPr txBox="1"/>
          <p:nvPr/>
        </p:nvSpPr>
        <p:spPr>
          <a:xfrm>
            <a:off x="6305550" y="3542537"/>
            <a:ext cx="4603179" cy="194310"/>
          </a:xfrm>
          <a:prstGeom prst="rect">
            <a:avLst/>
          </a:prstGeom>
          <a:noFill/>
        </p:spPr>
        <p:txBody>
          <a:bodyPr wrap="none" lIns="0" rIns="0" tIns="0" bIns="0">
            <a:spAutoFit/>
          </a:bodyPr>
          <a:lstStyle/>
          <a:p>
            <a:r>
              <a:rPr sz="1150" b="0">
                <a:solidFill>
                  <a:srgbClr val="2E2E2E"/>
                </a:solidFill>
                <a:latin typeface="Calibri"/>
              </a:rPr>
              <a:t>▪ Development spend targets product type categories gaining share to 2036.</a:t>
            </a:r>
          </a:p>
        </p:txBody>
      </p:sp>
      <p:sp>
        <p:nvSpPr>
          <p:cNvPr id="60" name="TextBox 59"/>
          <p:cNvSpPr txBox="1"/>
          <p:nvPr/>
        </p:nvSpPr>
        <p:spPr>
          <a:xfrm>
            <a:off x="6305550" y="3770375"/>
            <a:ext cx="1663352" cy="194310"/>
          </a:xfrm>
          <a:prstGeom prst="rect">
            <a:avLst/>
          </a:prstGeom>
          <a:noFill/>
        </p:spPr>
        <p:txBody>
          <a:bodyPr wrap="none" lIns="0" rIns="0" tIns="0" bIns="0">
            <a:spAutoFit/>
          </a:bodyPr>
          <a:lstStyle/>
          <a:p>
            <a:r>
              <a:rPr sz="115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918056" y="3760152"/>
            <a:ext cx="134549" cy="195707"/>
          </a:xfrm>
          <a:prstGeom prst="rect">
            <a:avLst/>
          </a:prstGeom>
        </p:spPr>
      </p:pic>
      <p:sp>
        <p:nvSpPr>
          <p:cNvPr id="62" name="TextBox 61"/>
          <p:cNvSpPr txBox="1"/>
          <p:nvPr/>
        </p:nvSpPr>
        <p:spPr>
          <a:xfrm>
            <a:off x="8093165" y="3770375"/>
            <a:ext cx="963036" cy="194310"/>
          </a:xfrm>
          <a:prstGeom prst="rect">
            <a:avLst/>
          </a:prstGeom>
          <a:noFill/>
        </p:spPr>
        <p:txBody>
          <a:bodyPr wrap="none" lIns="0" rIns="0" tIns="0" bIns="0">
            <a:spAutoFit/>
          </a:bodyPr>
          <a:lstStyle/>
          <a:p>
            <a:r>
              <a:rPr sz="115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'Sweet muffins' tier and Foodservice and institutional within sales channel.</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52417" cy="194310"/>
          </a:xfrm>
          <a:prstGeom prst="rect">
            <a:avLst/>
          </a:prstGeom>
          <a:noFill/>
        </p:spPr>
        <p:txBody>
          <a:bodyPr wrap="none" lIns="0" rIns="0" tIns="0" bIns="0">
            <a:spAutoFit/>
          </a:bodyPr>
          <a:lstStyle/>
          <a:p>
            <a:r>
              <a:rPr sz="1150" b="0">
                <a:solidFill>
                  <a:srgbClr val="2E2E2E"/>
                </a:solidFill>
                <a:latin typeface="Calibri"/>
              </a:rPr>
              <a:t>▪ Balance scale in 'Sweet muffins' with targeted growth in 'Sweet muffins', pursuing the</a:t>
            </a:r>
          </a:p>
        </p:txBody>
      </p:sp>
      <p:pic>
        <p:nvPicPr>
          <p:cNvPr id="32" name="Picture 31" descr="lock.png"/>
          <p:cNvPicPr>
            <a:picLocks noChangeAspect="1"/>
          </p:cNvPicPr>
          <p:nvPr/>
        </p:nvPicPr>
        <p:blipFill>
          <a:blip r:embed="rId4"/>
          <a:stretch>
            <a:fillRect/>
          </a:stretch>
        </p:blipFill>
        <p:spPr>
          <a:xfrm>
            <a:off x="5477796"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719262" cy="194310"/>
          </a:xfrm>
          <a:prstGeom prst="rect">
            <a:avLst/>
          </a:prstGeom>
          <a:noFill/>
        </p:spPr>
        <p:txBody>
          <a:bodyPr wrap="none" lIns="0" rIns="0" tIns="0" bIns="0">
            <a:spAutoFit/>
          </a:bodyPr>
          <a:lstStyle/>
          <a:p>
            <a:r>
              <a:rPr sz="1150" b="0">
                <a:solidFill>
                  <a:srgbClr val="2E2E2E"/>
                </a:solidFill>
                <a:latin typeface="Calibri"/>
              </a:rPr>
              <a:t>▪ Prioritise 'Sweet muffins' (</a:t>
            </a:r>
          </a:p>
        </p:txBody>
      </p:sp>
      <p:pic>
        <p:nvPicPr>
          <p:cNvPr id="35" name="Picture 34" descr="lock.png"/>
          <p:cNvPicPr>
            <a:picLocks noChangeAspect="1"/>
          </p:cNvPicPr>
          <p:nvPr/>
        </p:nvPicPr>
        <p:blipFill>
          <a:blip r:embed="rId4"/>
          <a:stretch>
            <a:fillRect/>
          </a:stretch>
        </p:blipFill>
        <p:spPr>
          <a:xfrm>
            <a:off x="1944641" y="3266376"/>
            <a:ext cx="134549" cy="195707"/>
          </a:xfrm>
          <a:prstGeom prst="rect">
            <a:avLst/>
          </a:prstGeom>
        </p:spPr>
      </p:pic>
      <p:sp>
        <p:nvSpPr>
          <p:cNvPr id="36" name="TextBox 35"/>
          <p:cNvSpPr txBox="1"/>
          <p:nvPr/>
        </p:nvSpPr>
        <p:spPr>
          <a:xfrm>
            <a:off x="2119750" y="3276600"/>
            <a:ext cx="1609439" cy="194310"/>
          </a:xfrm>
          <a:prstGeom prst="rect">
            <a:avLst/>
          </a:prstGeom>
          <a:noFill/>
        </p:spPr>
        <p:txBody>
          <a:bodyPr wrap="none" lIns="0" rIns="0" tIns="0" bIns="0">
            <a:spAutoFit/>
          </a:bodyPr>
          <a:lstStyle/>
          <a:p>
            <a:r>
              <a:rPr sz="1150" b="0">
                <a:solidFill>
                  <a:srgbClr val="2E2E2E"/>
                </a:solidFill>
                <a:latin typeface="Calibri"/>
              </a:rPr>
              <a:t>); 'Sweet muffins' anchors</a:t>
            </a:r>
          </a:p>
        </p:txBody>
      </p:sp>
      <p:pic>
        <p:nvPicPr>
          <p:cNvPr id="37" name="Picture 36" descr="lock.png"/>
          <p:cNvPicPr>
            <a:picLocks noChangeAspect="1"/>
          </p:cNvPicPr>
          <p:nvPr/>
        </p:nvPicPr>
        <p:blipFill>
          <a:blip r:embed="rId4"/>
          <a:stretch>
            <a:fillRect/>
          </a:stretch>
        </p:blipFill>
        <p:spPr>
          <a:xfrm>
            <a:off x="3678344" y="3266376"/>
            <a:ext cx="134549" cy="195707"/>
          </a:xfrm>
          <a:prstGeom prst="rect">
            <a:avLst/>
          </a:prstGeom>
        </p:spPr>
      </p:pic>
      <p:sp>
        <p:nvSpPr>
          <p:cNvPr id="38" name="TextBox 37"/>
          <p:cNvSpPr txBox="1"/>
          <p:nvPr/>
        </p:nvSpPr>
        <p:spPr>
          <a:xfrm>
            <a:off x="3853453"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0" name="Picture 39" descr="lock.png"/>
          <p:cNvPicPr>
            <a:picLocks noChangeAspect="1"/>
          </p:cNvPicPr>
          <p:nvPr/>
        </p:nvPicPr>
        <p:blipFill>
          <a:blip r:embed="rId4"/>
          <a:stretch>
            <a:fillRect/>
          </a:stretch>
        </p:blipFill>
        <p:spPr>
          <a:xfrm>
            <a:off x="7975392" y="3266376"/>
            <a:ext cx="134549" cy="195707"/>
          </a:xfrm>
          <a:prstGeom prst="rect">
            <a:avLst/>
          </a:prstGeom>
        </p:spPr>
      </p:pic>
      <p:sp>
        <p:nvSpPr>
          <p:cNvPr id="41" name="TextBox 40"/>
          <p:cNvSpPr txBox="1"/>
          <p:nvPr/>
        </p:nvSpPr>
        <p:spPr>
          <a:xfrm>
            <a:off x="8150501" y="327660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2" name="Picture 41" descr="lock.png"/>
          <p:cNvPicPr>
            <a:picLocks noChangeAspect="1"/>
          </p:cNvPicPr>
          <p:nvPr/>
        </p:nvPicPr>
        <p:blipFill>
          <a:blip r:embed="rId4"/>
          <a:stretch>
            <a:fillRect/>
          </a:stretch>
        </p:blipFill>
        <p:spPr>
          <a:xfrm>
            <a:off x="10602510" y="3266376"/>
            <a:ext cx="134549" cy="195707"/>
          </a:xfrm>
          <a:prstGeom prst="rect">
            <a:avLst/>
          </a:prstGeom>
        </p:spPr>
      </p:pic>
      <p:sp>
        <p:nvSpPr>
          <p:cNvPr id="43" name="TextBox 42"/>
          <p:cNvSpPr txBox="1"/>
          <p:nvPr/>
        </p:nvSpPr>
        <p:spPr>
          <a:xfrm>
            <a:off x="10777620"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1527571" cy="194310"/>
          </a:xfrm>
          <a:prstGeom prst="rect">
            <a:avLst/>
          </a:prstGeom>
          <a:noFill/>
        </p:spPr>
        <p:txBody>
          <a:bodyPr wrap="none" lIns="0" rIns="0" tIns="0" bIns="0">
            <a:spAutoFit/>
          </a:bodyPr>
          <a:lstStyle/>
          <a:p>
            <a:r>
              <a:rPr sz="1150" b="0">
                <a:solidFill>
                  <a:srgbClr val="2E2E2E"/>
                </a:solidFill>
                <a:latin typeface="Calibri"/>
              </a:rPr>
              <a:t>▪ Packaged Muffins adds</a:t>
            </a:r>
          </a:p>
        </p:txBody>
      </p:sp>
      <p:pic>
        <p:nvPicPr>
          <p:cNvPr id="45" name="Picture 44" descr="lock.png"/>
          <p:cNvPicPr>
            <a:picLocks noChangeAspect="1"/>
          </p:cNvPicPr>
          <p:nvPr/>
        </p:nvPicPr>
        <p:blipFill>
          <a:blip r:embed="rId4"/>
          <a:stretch>
            <a:fillRect/>
          </a:stretch>
        </p:blipFill>
        <p:spPr>
          <a:xfrm>
            <a:off x="1752950" y="4961826"/>
            <a:ext cx="134549" cy="195707"/>
          </a:xfrm>
          <a:prstGeom prst="rect">
            <a:avLst/>
          </a:prstGeom>
        </p:spPr>
      </p:pic>
      <p:sp>
        <p:nvSpPr>
          <p:cNvPr id="46" name="TextBox 45"/>
          <p:cNvSpPr txBox="1"/>
          <p:nvPr/>
        </p:nvSpPr>
        <p:spPr>
          <a:xfrm>
            <a:off x="1928060"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692321" y="4961826"/>
            <a:ext cx="134549" cy="195707"/>
          </a:xfrm>
          <a:prstGeom prst="rect">
            <a:avLst/>
          </a:prstGeom>
        </p:spPr>
      </p:pic>
      <p:sp>
        <p:nvSpPr>
          <p:cNvPr id="48" name="TextBox 47"/>
          <p:cNvSpPr txBox="1"/>
          <p:nvPr/>
        </p:nvSpPr>
        <p:spPr>
          <a:xfrm>
            <a:off x="3867431"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0" name="TextBox 49"/>
          <p:cNvSpPr txBox="1"/>
          <p:nvPr/>
        </p:nvSpPr>
        <p:spPr>
          <a:xfrm>
            <a:off x="276225" y="5427725"/>
            <a:ext cx="4210670" cy="194310"/>
          </a:xfrm>
          <a:prstGeom prst="rect">
            <a:avLst/>
          </a:prstGeom>
          <a:noFill/>
        </p:spPr>
        <p:txBody>
          <a:bodyPr wrap="none" lIns="0" rIns="0" tIns="0" bIns="0">
            <a:spAutoFit/>
          </a:bodyPr>
          <a:lstStyle/>
          <a:p>
            <a:r>
              <a:rPr sz="1150" b="0">
                <a:solidFill>
                  <a:srgbClr val="2E2E2E"/>
                </a:solidFill>
                <a:latin typeface="Calibri"/>
              </a:rPr>
              <a:t>▪ Defend share in 'Sweet muffins' as the value anchor of the portfolio.</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6.2%</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5.0%</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CAGR 3.6%</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Packaged Muffins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74907"/>
            <a:ext cx="635826" cy="830393"/>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68631"/>
            <a:ext cx="635826" cy="1236669"/>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97496"/>
            <a:ext cx="635826" cy="1407804"/>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705100"/>
            <a:ext cx="635826" cy="160020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35281"/>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30506"/>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3.6%</a:t>
            </a:r>
          </a:p>
        </p:txBody>
      </p:sp>
      <p:cxnSp>
        <p:nvCxnSpPr>
          <p:cNvPr id="22" name="Connector 21"/>
          <p:cNvCxnSpPr/>
          <p:nvPr/>
        </p:nvCxnSpPr>
        <p:spPr>
          <a:xfrm>
            <a:off x="1456468" y="2678106"/>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73331"/>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5.0%</a:t>
            </a:r>
          </a:p>
        </p:txBody>
      </p:sp>
      <p:cxnSp>
        <p:nvCxnSpPr>
          <p:cNvPr id="24" name="Connector 23"/>
          <p:cNvCxnSpPr/>
          <p:nvPr/>
        </p:nvCxnSpPr>
        <p:spPr>
          <a:xfrm>
            <a:off x="1456468" y="2420931"/>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16156"/>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6.2%</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Packaged Muffins Market Attractiveness Analysis By Region, 2026–2036</a:t>
            </a:r>
          </a:p>
        </p:txBody>
      </p:sp>
      <p:graphicFrame>
        <p:nvGraphicFramePr>
          <p:cNvPr id="36" name="Chart 35"/>
          <p:cNvGraphicFramePr>
            <a:graphicFrameLocks noGrp="1"/>
          </p:cNvGraphicFramePr>
          <p:nvPr/>
        </p:nvGraphicFramePr>
        <p:xfrm>
          <a:off x="6267450" y="2095500"/>
          <a:ext cx="5686425" cy="266700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46" name="Picture 45" descr="lock.png"/>
          <p:cNvPicPr>
            <a:picLocks noChangeAspect="1"/>
          </p:cNvPicPr>
          <p:nvPr/>
        </p:nvPicPr>
        <p:blipFill>
          <a:blip r:embed="rId5"/>
          <a:stretch>
            <a:fillRect/>
          </a:stretch>
        </p:blipFill>
        <p:spPr>
          <a:xfrm>
            <a:off x="1033540" y="5361876"/>
            <a:ext cx="134549" cy="195707"/>
          </a:xfrm>
          <a:prstGeom prst="rect">
            <a:avLst/>
          </a:prstGeom>
        </p:spPr>
      </p:pic>
      <p:sp>
        <p:nvSpPr>
          <p:cNvPr id="47" name="TextBox 46"/>
          <p:cNvSpPr txBox="1"/>
          <p:nvPr/>
        </p:nvSpPr>
        <p:spPr>
          <a:xfrm>
            <a:off x="1208649" y="5372100"/>
            <a:ext cx="1930047" cy="194310"/>
          </a:xfrm>
          <a:prstGeom prst="rect">
            <a:avLst/>
          </a:prstGeom>
          <a:noFill/>
        </p:spPr>
        <p:txBody>
          <a:bodyPr wrap="none" lIns="0" rIns="0" tIns="0" bIns="0">
            <a:spAutoFit/>
          </a:bodyPr>
          <a:lstStyle/>
          <a:p>
            <a:r>
              <a:rPr sz="1150" b="0">
                <a:solidFill>
                  <a:srgbClr val="2E2E2E"/>
                </a:solidFill>
                <a:latin typeface="Calibri"/>
              </a:rPr>
              <a:t>US$ Mn by 2036 at 6.2% CAGR.</a:t>
            </a:r>
          </a:p>
        </p:txBody>
      </p:sp>
      <p:sp>
        <p:nvSpPr>
          <p:cNvPr id="48" name="TextBox 47"/>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49" name="Picture 48" descr="lock.png"/>
          <p:cNvPicPr>
            <a:picLocks noChangeAspect="1"/>
          </p:cNvPicPr>
          <p:nvPr/>
        </p:nvPicPr>
        <p:blipFill>
          <a:blip r:embed="rId5"/>
          <a:stretch>
            <a:fillRect/>
          </a:stretch>
        </p:blipFill>
        <p:spPr>
          <a:xfrm>
            <a:off x="1673650" y="5589714"/>
            <a:ext cx="134549" cy="195707"/>
          </a:xfrm>
          <a:prstGeom prst="rect">
            <a:avLst/>
          </a:prstGeom>
        </p:spPr>
      </p:pic>
      <p:sp>
        <p:nvSpPr>
          <p:cNvPr id="50" name="TextBox 49"/>
          <p:cNvSpPr txBox="1"/>
          <p:nvPr/>
        </p:nvSpPr>
        <p:spPr>
          <a:xfrm>
            <a:off x="1848759" y="5599938"/>
            <a:ext cx="1424292" cy="194310"/>
          </a:xfrm>
          <a:prstGeom prst="rect">
            <a:avLst/>
          </a:prstGeom>
          <a:noFill/>
        </p:spPr>
        <p:txBody>
          <a:bodyPr wrap="none" lIns="0" rIns="0" tIns="0" bIns="0">
            <a:spAutoFit/>
          </a:bodyPr>
          <a:lstStyle/>
          <a:p>
            <a:r>
              <a:rPr sz="1150" b="0">
                <a:solidFill>
                  <a:srgbClr val="2E2E2E"/>
                </a:solidFill>
                <a:latin typeface="Calibri"/>
              </a:rPr>
              <a:t>US$ Mn at 5.0% CAGR.</a:t>
            </a:r>
          </a:p>
        </p:txBody>
      </p:sp>
      <p:sp>
        <p:nvSpPr>
          <p:cNvPr id="51" name="TextBox 50"/>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52" name="Picture 51" descr="lock.png"/>
          <p:cNvPicPr>
            <a:picLocks noChangeAspect="1"/>
          </p:cNvPicPr>
          <p:nvPr/>
        </p:nvPicPr>
        <p:blipFill>
          <a:blip r:embed="rId5"/>
          <a:stretch>
            <a:fillRect/>
          </a:stretch>
        </p:blipFill>
        <p:spPr>
          <a:xfrm>
            <a:off x="1194994" y="5817552"/>
            <a:ext cx="134549" cy="195707"/>
          </a:xfrm>
          <a:prstGeom prst="rect">
            <a:avLst/>
          </a:prstGeom>
        </p:spPr>
      </p:pic>
      <p:sp>
        <p:nvSpPr>
          <p:cNvPr id="53" name="TextBox 52"/>
          <p:cNvSpPr txBox="1"/>
          <p:nvPr/>
        </p:nvSpPr>
        <p:spPr>
          <a:xfrm>
            <a:off x="1370103" y="5827775"/>
            <a:ext cx="1424292" cy="194310"/>
          </a:xfrm>
          <a:prstGeom prst="rect">
            <a:avLst/>
          </a:prstGeom>
          <a:noFill/>
        </p:spPr>
        <p:txBody>
          <a:bodyPr wrap="none" lIns="0" rIns="0" tIns="0" bIns="0">
            <a:spAutoFit/>
          </a:bodyPr>
          <a:lstStyle/>
          <a:p>
            <a:r>
              <a:rPr sz="1150" b="0">
                <a:solidFill>
                  <a:srgbClr val="2E2E2E"/>
                </a:solidFill>
                <a:latin typeface="Calibri"/>
              </a:rPr>
              <a:t>US$ Mn at 3.6% CAGR.</a:t>
            </a:r>
          </a:p>
        </p:txBody>
      </p:sp>
      <p:sp>
        <p:nvSpPr>
          <p:cNvPr id="54" name="TextBox 53"/>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55" name="Picture 54" descr="lock.png"/>
          <p:cNvPicPr>
            <a:picLocks noChangeAspect="1"/>
          </p:cNvPicPr>
          <p:nvPr/>
        </p:nvPicPr>
        <p:blipFill>
          <a:blip r:embed="rId5"/>
          <a:stretch>
            <a:fillRect/>
          </a:stretch>
        </p:blipFill>
        <p:spPr>
          <a:xfrm>
            <a:off x="3885509" y="6045390"/>
            <a:ext cx="134549" cy="195707"/>
          </a:xfrm>
          <a:prstGeom prst="rect">
            <a:avLst/>
          </a:prstGeom>
        </p:spPr>
      </p:pic>
      <p:sp>
        <p:nvSpPr>
          <p:cNvPr id="56" name="TextBox 55"/>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57" name="lockshield_36"/>
          <p:cNvSpPr/>
          <p:nvPr/>
        </p:nvSpPr>
        <p:spPr>
          <a:xfrm>
            <a:off x="6267450" y="2095500"/>
            <a:ext cx="5686425" cy="2667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Packaged Muffins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(1/2)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 (2/2)</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_597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5_353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4_1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2_943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5_056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6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_417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2_264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8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_308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2_314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9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872_0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1_527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5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763_0_605E5C.png"/>
          <p:cNvPicPr>
            <a:picLocks noChangeAspect="1"/>
          </p:cNvPicPr>
          <p:nvPr/>
        </p:nvPicPr>
        <p:blipFill>
          <a:blip r:embed="rId19"/>
          <a:stretch>
            <a:fillRect/>
          </a:stretch>
        </p:blipFill>
        <p:spPr>
          <a:xfrm>
            <a:off x="10484473" y="2286582"/>
            <a:ext cx="1195728" cy="361950"/>
          </a:xfrm>
          <a:prstGeom prst="rect">
            <a:avLst/>
          </a:prstGeom>
        </p:spPr>
      </p:pic>
      <p:pic>
        <p:nvPicPr>
          <p:cNvPr id="94" name="Picture 93" descr="1_231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9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827089" cy="186689"/>
          </a:xfrm>
          <a:prstGeom prst="rect">
            <a:avLst/>
          </a:prstGeom>
          <a:noFill/>
        </p:spPr>
        <p:txBody>
          <a:bodyPr wrap="none" lIns="0" rIns="0" tIns="0" bIns="0">
            <a:spAutoFit/>
          </a:bodyPr>
          <a:lstStyle/>
          <a:p>
            <a:r>
              <a:rPr sz="1100" b="0">
                <a:solidFill>
                  <a:srgbClr val="2E2E2E"/>
                </a:solidFill>
                <a:latin typeface="Calibri"/>
              </a:rPr>
              <a:t>▪ 'North America' holds the largest share in 2026</a:t>
            </a:r>
          </a:p>
        </p:txBody>
      </p:sp>
      <p:pic>
        <p:nvPicPr>
          <p:cNvPr id="103" name="Picture 102" descr="lock.png"/>
          <p:cNvPicPr>
            <a:picLocks noChangeAspect="1"/>
          </p:cNvPicPr>
          <p:nvPr/>
        </p:nvPicPr>
        <p:blipFill>
          <a:blip r:embed="rId22"/>
          <a:stretch>
            <a:fillRect/>
          </a:stretch>
        </p:blipFill>
        <p:spPr>
          <a:xfrm>
            <a:off x="472307" y="4387298"/>
            <a:ext cx="128699" cy="187198"/>
          </a:xfrm>
          <a:prstGeom prst="rect">
            <a:avLst/>
          </a:prstGeom>
        </p:spPr>
      </p:pic>
      <p:sp>
        <p:nvSpPr>
          <p:cNvPr id="104" name="TextBox 103"/>
          <p:cNvSpPr txBox="1"/>
          <p:nvPr/>
        </p:nvSpPr>
        <p:spPr>
          <a:xfrm>
            <a:off x="639803" y="4397077"/>
            <a:ext cx="1003349" cy="186689"/>
          </a:xfrm>
          <a:prstGeom prst="rect">
            <a:avLst/>
          </a:prstGeom>
          <a:noFill/>
        </p:spPr>
        <p:txBody>
          <a:bodyPr wrap="none" lIns="0" rIns="0" tIns="0" bIns="0">
            <a:spAutoFit/>
          </a:bodyPr>
          <a:lstStyle/>
          <a:p>
            <a:r>
              <a:rPr sz="1100" b="0">
                <a:solidFill>
                  <a:srgbClr val="2E2E2E"/>
                </a:solidFill>
                <a:latin typeface="Calibri"/>
              </a:rPr>
              <a:t>of market value.</a:t>
            </a:r>
          </a:p>
        </p:txBody>
      </p:sp>
      <p:sp>
        <p:nvSpPr>
          <p:cNvPr id="105" name="TextBox 104"/>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'South Asia &amp; Pacific' is the fastest-growing region</a:t>
            </a:r>
          </a:p>
        </p:txBody>
      </p:sp>
      <p:sp>
        <p:nvSpPr>
          <p:cNvPr id="106" name="TextBox 105"/>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07" name="Picture 106" descr="lock.png"/>
          <p:cNvPicPr>
            <a:picLocks noChangeAspect="1"/>
          </p:cNvPicPr>
          <p:nvPr/>
        </p:nvPicPr>
        <p:blipFill>
          <a:blip r:embed="rId22"/>
          <a:stretch>
            <a:fillRect/>
          </a:stretch>
        </p:blipFill>
        <p:spPr>
          <a:xfrm>
            <a:off x="623805" y="4772870"/>
            <a:ext cx="128699" cy="187198"/>
          </a:xfrm>
          <a:prstGeom prst="rect">
            <a:avLst/>
          </a:prstGeom>
        </p:spPr>
      </p:pic>
      <p:sp>
        <p:nvSpPr>
          <p:cNvPr id="108" name="TextBox 107"/>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09" name="TextBox 108"/>
          <p:cNvSpPr txBox="1"/>
          <p:nvPr/>
        </p:nvSpPr>
        <p:spPr>
          <a:xfrm>
            <a:off x="485775" y="5000581"/>
            <a:ext cx="1720949" cy="186689"/>
          </a:xfrm>
          <a:prstGeom prst="rect">
            <a:avLst/>
          </a:prstGeom>
          <a:noFill/>
        </p:spPr>
        <p:txBody>
          <a:bodyPr wrap="none" lIns="0" rIns="0" tIns="0" bIns="0">
            <a:spAutoFit/>
          </a:bodyPr>
          <a:lstStyle/>
          <a:p>
            <a:r>
              <a:rPr sz="1100" b="0">
                <a:solidFill>
                  <a:srgbClr val="2E2E2E"/>
                </a:solidFill>
                <a:latin typeface="Calibri"/>
              </a:rPr>
              <a:t>▪ Market value expands from</a:t>
            </a:r>
          </a:p>
        </p:txBody>
      </p:sp>
      <p:pic>
        <p:nvPicPr>
          <p:cNvPr id="110" name="Picture 109" descr="lock.png"/>
          <p:cNvPicPr>
            <a:picLocks noChangeAspect="1"/>
          </p:cNvPicPr>
          <p:nvPr/>
        </p:nvPicPr>
        <p:blipFill>
          <a:blip r:embed="rId22"/>
          <a:stretch>
            <a:fillRect/>
          </a:stretch>
        </p:blipFill>
        <p:spPr>
          <a:xfrm>
            <a:off x="2154775" y="4990801"/>
            <a:ext cx="128699" cy="187198"/>
          </a:xfrm>
          <a:prstGeom prst="rect">
            <a:avLst/>
          </a:prstGeom>
        </p:spPr>
      </p:pic>
      <p:sp>
        <p:nvSpPr>
          <p:cNvPr id="111" name="TextBox 110"/>
          <p:cNvSpPr txBox="1"/>
          <p:nvPr/>
        </p:nvSpPr>
        <p:spPr>
          <a:xfrm>
            <a:off x="2322271"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2" name="Picture 111" descr="lock.png"/>
          <p:cNvPicPr>
            <a:picLocks noChangeAspect="1"/>
          </p:cNvPicPr>
          <p:nvPr/>
        </p:nvPicPr>
        <p:blipFill>
          <a:blip r:embed="rId22"/>
          <a:stretch>
            <a:fillRect/>
          </a:stretch>
        </p:blipFill>
        <p:spPr>
          <a:xfrm>
            <a:off x="2467123" y="4990801"/>
            <a:ext cx="128699" cy="187198"/>
          </a:xfrm>
          <a:prstGeom prst="rect">
            <a:avLst/>
          </a:prstGeom>
        </p:spPr>
      </p:pic>
      <p:sp>
        <p:nvSpPr>
          <p:cNvPr id="113" name="TextBox 112"/>
          <p:cNvSpPr txBox="1"/>
          <p:nvPr/>
        </p:nvSpPr>
        <p:spPr>
          <a:xfrm>
            <a:off x="2634619"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4" name="TextBox 113"/>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5" name="TextBox 114"/>
          <p:cNvSpPr txBox="1"/>
          <p:nvPr/>
        </p:nvSpPr>
        <p:spPr>
          <a:xfrm>
            <a:off x="485775" y="5386153"/>
            <a:ext cx="2717675" cy="186689"/>
          </a:xfrm>
          <a:prstGeom prst="rect">
            <a:avLst/>
          </a:prstGeom>
          <a:noFill/>
        </p:spPr>
        <p:txBody>
          <a:bodyPr wrap="none" lIns="0" rIns="0" tIns="0" bIns="0">
            <a:spAutoFit/>
          </a:bodyPr>
          <a:lstStyle/>
          <a:p>
            <a:r>
              <a:rPr sz="1100" b="0">
                <a:solidFill>
                  <a:srgbClr val="2E2E2E"/>
                </a:solidFill>
                <a:latin typeface="Calibri"/>
              </a:rPr>
              <a:t>▪ 6 regions make up the geographic landscape.</a:t>
            </a:r>
          </a:p>
        </p:txBody>
      </p:sp>
      <p:sp>
        <p:nvSpPr>
          <p:cNvPr id="116" name="TextBox 115"/>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17" name="Picture 116" descr="lock.png"/>
          <p:cNvPicPr>
            <a:picLocks noChangeAspect="1"/>
          </p:cNvPicPr>
          <p:nvPr/>
        </p:nvPicPr>
        <p:blipFill>
          <a:blip r:embed="rId22"/>
          <a:stretch>
            <a:fillRect/>
          </a:stretch>
        </p:blipFill>
        <p:spPr>
          <a:xfrm>
            <a:off x="4850003" y="4219658"/>
            <a:ext cx="128699" cy="187198"/>
          </a:xfrm>
          <a:prstGeom prst="rect">
            <a:avLst/>
          </a:prstGeom>
        </p:spPr>
      </p:pic>
      <p:sp>
        <p:nvSpPr>
          <p:cNvPr id="118" name="TextBox 117"/>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22"/>
          <a:stretch>
            <a:fillRect/>
          </a:stretch>
        </p:blipFill>
        <p:spPr>
          <a:xfrm>
            <a:off x="5876949" y="4219658"/>
            <a:ext cx="128699" cy="187198"/>
          </a:xfrm>
          <a:prstGeom prst="rect">
            <a:avLst/>
          </a:prstGeom>
        </p:spPr>
      </p:pic>
      <p:sp>
        <p:nvSpPr>
          <p:cNvPr id="120" name="TextBox 119"/>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1" name="TextBox 120"/>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2" name="Picture 121" descr="lock.png"/>
          <p:cNvPicPr>
            <a:picLocks noChangeAspect="1"/>
          </p:cNvPicPr>
          <p:nvPr/>
        </p:nvPicPr>
        <p:blipFill>
          <a:blip r:embed="rId22"/>
          <a:stretch>
            <a:fillRect/>
          </a:stretch>
        </p:blipFill>
        <p:spPr>
          <a:xfrm>
            <a:off x="4423263" y="4437590"/>
            <a:ext cx="128699" cy="187198"/>
          </a:xfrm>
          <a:prstGeom prst="rect">
            <a:avLst/>
          </a:prstGeom>
        </p:spPr>
      </p:pic>
      <p:sp>
        <p:nvSpPr>
          <p:cNvPr id="123" name="TextBox 122"/>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22"/>
          <a:stretch>
            <a:fillRect/>
          </a:stretch>
        </p:blipFill>
        <p:spPr>
          <a:xfrm>
            <a:off x="5450209" y="4437590"/>
            <a:ext cx="128699" cy="187198"/>
          </a:xfrm>
          <a:prstGeom prst="rect">
            <a:avLst/>
          </a:prstGeom>
        </p:spPr>
      </p:pic>
      <p:sp>
        <p:nvSpPr>
          <p:cNvPr id="125" name="TextBox 124"/>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26" name="TextBox 125"/>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27" name="Picture 126" descr="lock.png"/>
          <p:cNvPicPr>
            <a:picLocks noChangeAspect="1"/>
          </p:cNvPicPr>
          <p:nvPr/>
        </p:nvPicPr>
        <p:blipFill>
          <a:blip r:embed="rId22"/>
          <a:stretch>
            <a:fillRect/>
          </a:stretch>
        </p:blipFill>
        <p:spPr>
          <a:xfrm>
            <a:off x="4518727" y="4655522"/>
            <a:ext cx="128699" cy="187198"/>
          </a:xfrm>
          <a:prstGeom prst="rect">
            <a:avLst/>
          </a:prstGeom>
        </p:spPr>
      </p:pic>
      <p:sp>
        <p:nvSpPr>
          <p:cNvPr id="128" name="TextBox 127"/>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9" name="Picture 128" descr="lock.png"/>
          <p:cNvPicPr>
            <a:picLocks noChangeAspect="1"/>
          </p:cNvPicPr>
          <p:nvPr/>
        </p:nvPicPr>
        <p:blipFill>
          <a:blip r:embed="rId22"/>
          <a:stretch>
            <a:fillRect/>
          </a:stretch>
        </p:blipFill>
        <p:spPr>
          <a:xfrm>
            <a:off x="5545673" y="4655522"/>
            <a:ext cx="128699" cy="187198"/>
          </a:xfrm>
          <a:prstGeom prst="rect">
            <a:avLst/>
          </a:prstGeom>
        </p:spPr>
      </p:pic>
      <p:sp>
        <p:nvSpPr>
          <p:cNvPr id="130" name="TextBox 129"/>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1" name="TextBox 130"/>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2" name="Picture 131" descr="lock.png"/>
          <p:cNvPicPr>
            <a:picLocks noChangeAspect="1"/>
          </p:cNvPicPr>
          <p:nvPr/>
        </p:nvPicPr>
        <p:blipFill>
          <a:blip r:embed="rId22"/>
          <a:stretch>
            <a:fillRect/>
          </a:stretch>
        </p:blipFill>
        <p:spPr>
          <a:xfrm>
            <a:off x="5136770" y="4873454"/>
            <a:ext cx="128699" cy="187198"/>
          </a:xfrm>
          <a:prstGeom prst="rect">
            <a:avLst/>
          </a:prstGeom>
        </p:spPr>
      </p:pic>
      <p:sp>
        <p:nvSpPr>
          <p:cNvPr id="133" name="TextBox 132"/>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22"/>
          <a:stretch>
            <a:fillRect/>
          </a:stretch>
        </p:blipFill>
        <p:spPr>
          <a:xfrm>
            <a:off x="6163716" y="4873454"/>
            <a:ext cx="128699" cy="187198"/>
          </a:xfrm>
          <a:prstGeom prst="rect">
            <a:avLst/>
          </a:prstGeom>
        </p:spPr>
      </p:pic>
      <p:sp>
        <p:nvSpPr>
          <p:cNvPr id="135" name="TextBox 134"/>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6" name="TextBox 135"/>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37" name="Picture 136" descr="lock.png"/>
          <p:cNvPicPr>
            <a:picLocks noChangeAspect="1"/>
          </p:cNvPicPr>
          <p:nvPr/>
        </p:nvPicPr>
        <p:blipFill>
          <a:blip r:embed="rId22"/>
          <a:stretch>
            <a:fillRect/>
          </a:stretch>
        </p:blipFill>
        <p:spPr>
          <a:xfrm>
            <a:off x="4794887" y="5091385"/>
            <a:ext cx="128699" cy="187198"/>
          </a:xfrm>
          <a:prstGeom prst="rect">
            <a:avLst/>
          </a:prstGeom>
        </p:spPr>
      </p:pic>
      <p:sp>
        <p:nvSpPr>
          <p:cNvPr id="138" name="TextBox 137"/>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9" name="Picture 138" descr="lock.png"/>
          <p:cNvPicPr>
            <a:picLocks noChangeAspect="1"/>
          </p:cNvPicPr>
          <p:nvPr/>
        </p:nvPicPr>
        <p:blipFill>
          <a:blip r:embed="rId22"/>
          <a:stretch>
            <a:fillRect/>
          </a:stretch>
        </p:blipFill>
        <p:spPr>
          <a:xfrm>
            <a:off x="5821833" y="5091385"/>
            <a:ext cx="128699" cy="187198"/>
          </a:xfrm>
          <a:prstGeom prst="rect">
            <a:avLst/>
          </a:prstGeom>
        </p:spPr>
      </p:pic>
      <p:sp>
        <p:nvSpPr>
          <p:cNvPr id="140" name="TextBox 139"/>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1" name="TextBox 140"/>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2" name="Picture 141" descr="lock.png"/>
          <p:cNvPicPr>
            <a:picLocks noChangeAspect="1"/>
          </p:cNvPicPr>
          <p:nvPr/>
        </p:nvPicPr>
        <p:blipFill>
          <a:blip r:embed="rId22"/>
          <a:stretch>
            <a:fillRect/>
          </a:stretch>
        </p:blipFill>
        <p:spPr>
          <a:xfrm>
            <a:off x="5173571" y="5309317"/>
            <a:ext cx="128699" cy="187198"/>
          </a:xfrm>
          <a:prstGeom prst="rect">
            <a:avLst/>
          </a:prstGeom>
        </p:spPr>
      </p:pic>
      <p:sp>
        <p:nvSpPr>
          <p:cNvPr id="143" name="TextBox 142"/>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4" name="Picture 143" descr="lock.png"/>
          <p:cNvPicPr>
            <a:picLocks noChangeAspect="1"/>
          </p:cNvPicPr>
          <p:nvPr/>
        </p:nvPicPr>
        <p:blipFill>
          <a:blip r:embed="rId22"/>
          <a:stretch>
            <a:fillRect/>
          </a:stretch>
        </p:blipFill>
        <p:spPr>
          <a:xfrm>
            <a:off x="6200517" y="5309317"/>
            <a:ext cx="128699" cy="187198"/>
          </a:xfrm>
          <a:prstGeom prst="rect">
            <a:avLst/>
          </a:prstGeom>
        </p:spPr>
      </p:pic>
      <p:sp>
        <p:nvSpPr>
          <p:cNvPr id="145" name="TextBox 144"/>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6" name="TextBox 145"/>
          <p:cNvSpPr txBox="1"/>
          <p:nvPr/>
        </p:nvSpPr>
        <p:spPr>
          <a:xfrm>
            <a:off x="8524875" y="5842641"/>
            <a:ext cx="3081608" cy="194310"/>
          </a:xfrm>
          <a:prstGeom prst="rect">
            <a:avLst/>
          </a:prstGeom>
          <a:noFill/>
        </p:spPr>
        <p:txBody>
          <a:bodyPr wrap="none" lIns="0" rIns="0" tIns="0" bIns="0">
            <a:spAutoFit/>
          </a:bodyPr>
          <a:lstStyle/>
          <a:p>
            <a:r>
              <a:rPr sz="1150" b="1">
                <a:solidFill>
                  <a:srgbClr val="0B2E4A"/>
                </a:solidFill>
                <a:latin typeface="Calibri"/>
              </a:rPr>
              <a:t>The Global market is projected to grow at a CAGR</a:t>
            </a:r>
          </a:p>
        </p:txBody>
      </p:sp>
      <p:sp>
        <p:nvSpPr>
          <p:cNvPr id="147" name="TextBox 146"/>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48" name="Picture 147" descr="lock.png"/>
          <p:cNvPicPr>
            <a:picLocks noChangeAspect="1"/>
          </p:cNvPicPr>
          <p:nvPr/>
        </p:nvPicPr>
        <p:blipFill>
          <a:blip r:embed="rId22"/>
          <a:stretch>
            <a:fillRect/>
          </a:stretch>
        </p:blipFill>
        <p:spPr>
          <a:xfrm>
            <a:off x="8674884" y="6007677"/>
            <a:ext cx="134549" cy="195707"/>
          </a:xfrm>
          <a:prstGeom prst="rect">
            <a:avLst/>
          </a:prstGeom>
        </p:spPr>
      </p:pic>
      <p:sp>
        <p:nvSpPr>
          <p:cNvPr id="149" name="TextBox 148"/>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589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11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49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668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413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5937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317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508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298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2970" y="224822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202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27" name="BPS Value 3"/>
          <p:cNvSpPr txBox="1"/>
          <p:nvPr/>
        </p:nvSpPr>
        <p:spPr>
          <a:xfrm>
            <a:off x="6305550" y="22339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551045" y="27221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4712970" y="271742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122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31" name="BPS Value 4"/>
          <p:cNvSpPr txBox="1"/>
          <p:nvPr/>
        </p:nvSpPr>
        <p:spPr>
          <a:xfrm>
            <a:off x="6305550" y="270313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551045" y="344436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3960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36340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2531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3048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257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4952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1143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4_2__605E5C.png"/>
          <p:cNvPicPr>
            <a:picLocks noChangeAspect="1"/>
          </p:cNvPicPr>
          <p:nvPr/>
        </p:nvPicPr>
        <p:blipFill>
          <a:blip r:embed="rId6"/>
          <a:stretch>
            <a:fillRect/>
          </a:stretch>
        </p:blipFill>
        <p:spPr>
          <a:xfrm>
            <a:off x="9465355" y="5897562"/>
            <a:ext cx="1309912" cy="482599"/>
          </a:xfrm>
          <a:prstGeom prst="rect">
            <a:avLst/>
          </a:prstGeom>
        </p:spPr>
      </p:pic>
      <p:pic>
        <p:nvPicPr>
          <p:cNvPr id="50" name="Picture 49" descr="lock.png"/>
          <p:cNvPicPr>
            <a:picLocks noChangeAspect="1"/>
          </p:cNvPicPr>
          <p:nvPr/>
        </p:nvPicPr>
        <p:blipFill>
          <a:blip r:embed="rId5"/>
          <a:stretch>
            <a:fillRect/>
          </a:stretch>
        </p:blipFill>
        <p:spPr>
          <a:xfrm>
            <a:off x="10003631" y="5972175"/>
            <a:ext cx="229195" cy="333375"/>
          </a:xfrm>
          <a:prstGeom prst="rect">
            <a:avLst/>
          </a:prstGeom>
        </p:spPr>
      </p:pic>
      <p:sp>
        <p:nvSpPr>
          <p:cNvPr id="51" name="TextBox 50"/>
          <p:cNvSpPr txBox="1"/>
          <p:nvPr/>
        </p:nvSpPr>
        <p:spPr>
          <a:xfrm>
            <a:off x="7239000" y="1400175"/>
            <a:ext cx="2424980" cy="194310"/>
          </a:xfrm>
          <a:prstGeom prst="rect">
            <a:avLst/>
          </a:prstGeom>
          <a:noFill/>
        </p:spPr>
        <p:txBody>
          <a:bodyPr wrap="none" lIns="0" rIns="0" tIns="0" bIns="0">
            <a:spAutoFit/>
          </a:bodyPr>
          <a:lstStyle/>
          <a:p>
            <a:r>
              <a:rPr sz="1150" b="0">
                <a:solidFill>
                  <a:srgbClr val="2E2E2E"/>
                </a:solidFill>
                <a:latin typeface="Calibri"/>
              </a:rPr>
              <a:t>▪ North America is the largest region, at</a:t>
            </a:r>
          </a:p>
        </p:txBody>
      </p:sp>
      <p:pic>
        <p:nvPicPr>
          <p:cNvPr id="52" name="Picture 51" descr="lock.png"/>
          <p:cNvPicPr>
            <a:picLocks noChangeAspect="1"/>
          </p:cNvPicPr>
          <p:nvPr/>
        </p:nvPicPr>
        <p:blipFill>
          <a:blip r:embed="rId5"/>
          <a:stretch>
            <a:fillRect/>
          </a:stretch>
        </p:blipFill>
        <p:spPr>
          <a:xfrm>
            <a:off x="9613134" y="1389951"/>
            <a:ext cx="134549" cy="195707"/>
          </a:xfrm>
          <a:prstGeom prst="rect">
            <a:avLst/>
          </a:prstGeom>
        </p:spPr>
      </p:pic>
      <p:sp>
        <p:nvSpPr>
          <p:cNvPr id="53" name="TextBox 52"/>
          <p:cNvSpPr txBox="1"/>
          <p:nvPr/>
        </p:nvSpPr>
        <p:spPr>
          <a:xfrm>
            <a:off x="9788243" y="1400175"/>
            <a:ext cx="1040072" cy="194310"/>
          </a:xfrm>
          <a:prstGeom prst="rect">
            <a:avLst/>
          </a:prstGeom>
          <a:noFill/>
        </p:spPr>
        <p:txBody>
          <a:bodyPr wrap="none" lIns="0" rIns="0" tIns="0" bIns="0">
            <a:spAutoFit/>
          </a:bodyPr>
          <a:lstStyle/>
          <a:p>
            <a:r>
              <a:rPr sz="1150" b="0">
                <a:solidFill>
                  <a:srgbClr val="2E2E2E"/>
                </a:solidFill>
                <a:latin typeface="Calibri"/>
              </a:rPr>
              <a:t>of 2036 volume.</a:t>
            </a:r>
          </a:p>
        </p:txBody>
      </p:sp>
      <p:sp>
        <p:nvSpPr>
          <p:cNvPr id="54" name="TextBox 53"/>
          <p:cNvSpPr txBox="1"/>
          <p:nvPr/>
        </p:nvSpPr>
        <p:spPr>
          <a:xfrm>
            <a:off x="7239000" y="1628013"/>
            <a:ext cx="2021061" cy="194310"/>
          </a:xfrm>
          <a:prstGeom prst="rect">
            <a:avLst/>
          </a:prstGeom>
          <a:noFill/>
        </p:spPr>
        <p:txBody>
          <a:bodyPr wrap="none" lIns="0" rIns="0" tIns="0" bIns="0">
            <a:spAutoFit/>
          </a:bodyPr>
          <a:lstStyle/>
          <a:p>
            <a:r>
              <a:rPr sz="1150" b="0">
                <a:solidFill>
                  <a:srgbClr val="2E2E2E"/>
                </a:solidFill>
                <a:latin typeface="Calibri"/>
              </a:rPr>
              <a:t>▪ 'Europe' gains the most share +</a:t>
            </a:r>
          </a:p>
        </p:txBody>
      </p:sp>
      <p:pic>
        <p:nvPicPr>
          <p:cNvPr id="55" name="Picture 54" descr="lock.png"/>
          <p:cNvPicPr>
            <a:picLocks noChangeAspect="1"/>
          </p:cNvPicPr>
          <p:nvPr/>
        </p:nvPicPr>
        <p:blipFill>
          <a:blip r:embed="rId5"/>
          <a:stretch>
            <a:fillRect/>
          </a:stretch>
        </p:blipFill>
        <p:spPr>
          <a:xfrm>
            <a:off x="9209215" y="1617789"/>
            <a:ext cx="134549" cy="195707"/>
          </a:xfrm>
          <a:prstGeom prst="rect">
            <a:avLst/>
          </a:prstGeom>
        </p:spPr>
      </p:pic>
      <p:sp>
        <p:nvSpPr>
          <p:cNvPr id="56" name="TextBox 55"/>
          <p:cNvSpPr txBox="1"/>
          <p:nvPr/>
        </p:nvSpPr>
        <p:spPr>
          <a:xfrm>
            <a:off x="9384324"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57" name="TextBox 56"/>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58" name="TextBox 57"/>
          <p:cNvSpPr txBox="1"/>
          <p:nvPr/>
        </p:nvSpPr>
        <p:spPr>
          <a:xfrm>
            <a:off x="7239000" y="2031111"/>
            <a:ext cx="2113768" cy="194310"/>
          </a:xfrm>
          <a:prstGeom prst="rect">
            <a:avLst/>
          </a:prstGeom>
          <a:noFill/>
        </p:spPr>
        <p:txBody>
          <a:bodyPr wrap="none" lIns="0" rIns="0" tIns="0" bIns="0">
            <a:spAutoFit/>
          </a:bodyPr>
          <a:lstStyle/>
          <a:p>
            <a:r>
              <a:rPr sz="1150" b="0">
                <a:solidFill>
                  <a:srgbClr val="2E2E2E"/>
                </a:solidFill>
                <a:latin typeface="Calibri"/>
              </a:rPr>
              <a:t>▪ 'North America' cedes the most -</a:t>
            </a:r>
          </a:p>
        </p:txBody>
      </p:sp>
      <p:pic>
        <p:nvPicPr>
          <p:cNvPr id="59" name="Picture 58" descr="lock.png"/>
          <p:cNvPicPr>
            <a:picLocks noChangeAspect="1"/>
          </p:cNvPicPr>
          <p:nvPr/>
        </p:nvPicPr>
        <p:blipFill>
          <a:blip r:embed="rId5"/>
          <a:stretch>
            <a:fillRect/>
          </a:stretch>
        </p:blipFill>
        <p:spPr>
          <a:xfrm>
            <a:off x="9301922" y="2020887"/>
            <a:ext cx="134549" cy="195707"/>
          </a:xfrm>
          <a:prstGeom prst="rect">
            <a:avLst/>
          </a:prstGeom>
        </p:spPr>
      </p:pic>
      <p:sp>
        <p:nvSpPr>
          <p:cNvPr id="60" name="TextBox 59"/>
          <p:cNvSpPr txBox="1"/>
          <p:nvPr/>
        </p:nvSpPr>
        <p:spPr>
          <a:xfrm>
            <a:off x="9477031"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61" name="TextBox 60"/>
          <p:cNvSpPr txBox="1"/>
          <p:nvPr/>
        </p:nvSpPr>
        <p:spPr>
          <a:xfrm>
            <a:off x="7239000" y="2258949"/>
            <a:ext cx="2156271" cy="194310"/>
          </a:xfrm>
          <a:prstGeom prst="rect">
            <a:avLst/>
          </a:prstGeom>
          <a:noFill/>
        </p:spPr>
        <p:txBody>
          <a:bodyPr wrap="none" lIns="0" rIns="0" tIns="0" bIns="0">
            <a:spAutoFit/>
          </a:bodyPr>
          <a:lstStyle/>
          <a:p>
            <a:r>
              <a:rPr sz="1150" b="0">
                <a:solidFill>
                  <a:srgbClr val="2E2E2E"/>
                </a:solidFill>
                <a:latin typeface="Calibri"/>
              </a:rPr>
              <a:t>▪ South Asia &amp; Pacific grows fastest</a:t>
            </a:r>
          </a:p>
        </p:txBody>
      </p:sp>
      <p:pic>
        <p:nvPicPr>
          <p:cNvPr id="62" name="Picture 61" descr="lock.png"/>
          <p:cNvPicPr>
            <a:picLocks noChangeAspect="1"/>
          </p:cNvPicPr>
          <p:nvPr/>
        </p:nvPicPr>
        <p:blipFill>
          <a:blip r:embed="rId5"/>
          <a:stretch>
            <a:fillRect/>
          </a:stretch>
        </p:blipFill>
        <p:spPr>
          <a:xfrm>
            <a:off x="9344425" y="2248725"/>
            <a:ext cx="134549" cy="195707"/>
          </a:xfrm>
          <a:prstGeom prst="rect">
            <a:avLst/>
          </a:prstGeom>
        </p:spPr>
      </p:pic>
      <p:sp>
        <p:nvSpPr>
          <p:cNvPr id="63" name="TextBox 62"/>
          <p:cNvSpPr txBox="1"/>
          <p:nvPr/>
        </p:nvSpPr>
        <p:spPr>
          <a:xfrm>
            <a:off x="9519534"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4" name="TextBox 63"/>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65" name="Picture 64" descr="lock.png"/>
          <p:cNvPicPr>
            <a:picLocks noChangeAspect="1"/>
          </p:cNvPicPr>
          <p:nvPr/>
        </p:nvPicPr>
        <p:blipFill>
          <a:blip r:embed="rId5"/>
          <a:stretch>
            <a:fillRect/>
          </a:stretch>
        </p:blipFill>
        <p:spPr>
          <a:xfrm>
            <a:off x="8277005" y="2476563"/>
            <a:ext cx="134549" cy="195707"/>
          </a:xfrm>
          <a:prstGeom prst="rect">
            <a:avLst/>
          </a:prstGeom>
        </p:spPr>
      </p:pic>
      <p:sp>
        <p:nvSpPr>
          <p:cNvPr id="66" name="TextBox 65"/>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7" name="Picture 66" descr="lock.png"/>
          <p:cNvPicPr>
            <a:picLocks noChangeAspect="1"/>
          </p:cNvPicPr>
          <p:nvPr/>
        </p:nvPicPr>
        <p:blipFill>
          <a:blip r:embed="rId5"/>
          <a:stretch>
            <a:fillRect/>
          </a:stretch>
        </p:blipFill>
        <p:spPr>
          <a:xfrm>
            <a:off x="8603550" y="2476563"/>
            <a:ext cx="134549" cy="195707"/>
          </a:xfrm>
          <a:prstGeom prst="rect">
            <a:avLst/>
          </a:prstGeom>
        </p:spPr>
      </p:pic>
      <p:sp>
        <p:nvSpPr>
          <p:cNvPr id="68" name="TextBox 67"/>
          <p:cNvSpPr txBox="1"/>
          <p:nvPr/>
        </p:nvSpPr>
        <p:spPr>
          <a:xfrm>
            <a:off x="8778660" y="2486787"/>
            <a:ext cx="1293663" cy="194310"/>
          </a:xfrm>
          <a:prstGeom prst="rect">
            <a:avLst/>
          </a:prstGeom>
          <a:noFill/>
        </p:spPr>
        <p:txBody>
          <a:bodyPr wrap="none" lIns="0" rIns="0" tIns="0" bIns="0">
            <a:spAutoFit/>
          </a:bodyPr>
          <a:lstStyle/>
          <a:p>
            <a:r>
              <a:rPr sz="1150" b="0">
                <a:solidFill>
                  <a:srgbClr val="2E2E2E"/>
                </a:solidFill>
                <a:latin typeface="Calibri"/>
              </a:rPr>
              <a:t>MT across 6 regions.</a:t>
            </a:r>
          </a:p>
        </p:txBody>
      </p:sp>
      <p:sp>
        <p:nvSpPr>
          <p:cNvPr id="69" name="TextBox 68"/>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70" name="Picture 69" descr="lock.png"/>
          <p:cNvPicPr>
            <a:picLocks noChangeAspect="1"/>
          </p:cNvPicPr>
          <p:nvPr/>
        </p:nvPicPr>
        <p:blipFill>
          <a:blip r:embed="rId5"/>
          <a:stretch>
            <a:fillRect/>
          </a:stretch>
        </p:blipFill>
        <p:spPr>
          <a:xfrm>
            <a:off x="1984327" y="6077648"/>
            <a:ext cx="233998" cy="340360"/>
          </a:xfrm>
          <a:prstGeom prst="rect">
            <a:avLst/>
          </a:prstGeom>
        </p:spPr>
      </p:pic>
      <p:sp>
        <p:nvSpPr>
          <p:cNvPr id="71" name="TextBox 70"/>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72" name="Picture 71" descr="lock.png"/>
          <p:cNvPicPr>
            <a:picLocks noChangeAspect="1"/>
          </p:cNvPicPr>
          <p:nvPr/>
        </p:nvPicPr>
        <p:blipFill>
          <a:blip r:embed="rId5"/>
          <a:stretch>
            <a:fillRect/>
          </a:stretch>
        </p:blipFill>
        <p:spPr>
          <a:xfrm>
            <a:off x="6018165" y="6077648"/>
            <a:ext cx="233998" cy="340360"/>
          </a:xfrm>
          <a:prstGeom prst="rect">
            <a:avLst/>
          </a:prstGeom>
        </p:spPr>
      </p:pic>
      <p:sp>
        <p:nvSpPr>
          <p:cNvPr id="73"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30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5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34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25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7429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95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933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5524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6593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611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8497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4688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3894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341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5798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989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500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957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955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814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60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713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512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70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10_900_605E5C.png"/>
          <p:cNvPicPr>
            <a:picLocks noChangeAspect="1"/>
          </p:cNvPicPr>
          <p:nvPr/>
        </p:nvPicPr>
        <p:blipFill>
          <a:blip r:embed="rId6"/>
          <a:stretch>
            <a:fillRect/>
          </a:stretch>
        </p:blipFill>
        <p:spPr>
          <a:xfrm>
            <a:off x="1175203" y="5897562"/>
            <a:ext cx="1878689" cy="482599"/>
          </a:xfrm>
          <a:prstGeom prst="rect">
            <a:avLst/>
          </a:prstGeom>
        </p:spPr>
      </p:pic>
      <p:pic>
        <p:nvPicPr>
          <p:cNvPr id="50" name="Picture 49" descr="17_746_605E5C.png"/>
          <p:cNvPicPr>
            <a:picLocks noChangeAspect="1"/>
          </p:cNvPicPr>
          <p:nvPr/>
        </p:nvPicPr>
        <p:blipFill>
          <a:blip r:embed="rId7"/>
          <a:stretch>
            <a:fillRect/>
          </a:stretch>
        </p:blipFill>
        <p:spPr>
          <a:xfrm>
            <a:off x="5209041" y="5897562"/>
            <a:ext cx="1878689" cy="482599"/>
          </a:xfrm>
          <a:prstGeom prst="rect">
            <a:avLst/>
          </a:prstGeom>
        </p:spPr>
      </p:pic>
      <p:pic>
        <p:nvPicPr>
          <p:cNvPr id="51" name="Picture 50" descr="5_0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2424980" cy="194310"/>
          </a:xfrm>
          <a:prstGeom prst="rect">
            <a:avLst/>
          </a:prstGeom>
          <a:noFill/>
        </p:spPr>
        <p:txBody>
          <a:bodyPr wrap="none" lIns="0" rIns="0" tIns="0" bIns="0">
            <a:spAutoFit/>
          </a:bodyPr>
          <a:lstStyle/>
          <a:p>
            <a:r>
              <a:rPr sz="1150" b="0">
                <a:solidFill>
                  <a:srgbClr val="2E2E2E"/>
                </a:solidFill>
                <a:latin typeface="Calibri"/>
              </a:rPr>
              <a:t>▪ North America is the largest region, at</a:t>
            </a:r>
          </a:p>
        </p:txBody>
      </p:sp>
      <p:pic>
        <p:nvPicPr>
          <p:cNvPr id="54" name="Picture 53" descr="lock.png"/>
          <p:cNvPicPr>
            <a:picLocks noChangeAspect="1"/>
          </p:cNvPicPr>
          <p:nvPr/>
        </p:nvPicPr>
        <p:blipFill>
          <a:blip r:embed="rId5"/>
          <a:stretch>
            <a:fillRect/>
          </a:stretch>
        </p:blipFill>
        <p:spPr>
          <a:xfrm>
            <a:off x="9613134" y="1389951"/>
            <a:ext cx="134549" cy="195707"/>
          </a:xfrm>
          <a:prstGeom prst="rect">
            <a:avLst/>
          </a:prstGeom>
        </p:spPr>
      </p:pic>
      <p:sp>
        <p:nvSpPr>
          <p:cNvPr id="55" name="TextBox 54"/>
          <p:cNvSpPr txBox="1"/>
          <p:nvPr/>
        </p:nvSpPr>
        <p:spPr>
          <a:xfrm>
            <a:off x="9788243" y="14001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6" name="TextBox 55"/>
          <p:cNvSpPr txBox="1"/>
          <p:nvPr/>
        </p:nvSpPr>
        <p:spPr>
          <a:xfrm>
            <a:off x="7239000" y="1628013"/>
            <a:ext cx="2021061" cy="194310"/>
          </a:xfrm>
          <a:prstGeom prst="rect">
            <a:avLst/>
          </a:prstGeom>
          <a:noFill/>
        </p:spPr>
        <p:txBody>
          <a:bodyPr wrap="none" lIns="0" rIns="0" tIns="0" bIns="0">
            <a:spAutoFit/>
          </a:bodyPr>
          <a:lstStyle/>
          <a:p>
            <a:r>
              <a:rPr sz="1150" b="0">
                <a:solidFill>
                  <a:srgbClr val="2E2E2E"/>
                </a:solidFill>
                <a:latin typeface="Calibri"/>
              </a:rPr>
              <a:t>▪ 'Europe' gains the most share +</a:t>
            </a:r>
          </a:p>
        </p:txBody>
      </p:sp>
      <p:pic>
        <p:nvPicPr>
          <p:cNvPr id="57" name="Picture 56" descr="lock.png"/>
          <p:cNvPicPr>
            <a:picLocks noChangeAspect="1"/>
          </p:cNvPicPr>
          <p:nvPr/>
        </p:nvPicPr>
        <p:blipFill>
          <a:blip r:embed="rId5"/>
          <a:stretch>
            <a:fillRect/>
          </a:stretch>
        </p:blipFill>
        <p:spPr>
          <a:xfrm>
            <a:off x="9209215" y="1617789"/>
            <a:ext cx="134549" cy="195707"/>
          </a:xfrm>
          <a:prstGeom prst="rect">
            <a:avLst/>
          </a:prstGeom>
        </p:spPr>
      </p:pic>
      <p:sp>
        <p:nvSpPr>
          <p:cNvPr id="58" name="TextBox 57"/>
          <p:cNvSpPr txBox="1"/>
          <p:nvPr/>
        </p:nvSpPr>
        <p:spPr>
          <a:xfrm>
            <a:off x="9384324" y="1628013"/>
            <a:ext cx="2342542"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a:t>
            </a:r>
            <a:r>
              <a:rPr sz="1150" b="0">
                <a:solidFill>
                  <a:srgbClr val="2E2E2E"/>
                </a:solidFill>
                <a:latin typeface="Calibri"/>
              </a:rPr>
              <a:t> on the</a:t>
            </a:r>
          </a:p>
        </p:txBody>
      </p:sp>
      <p:sp>
        <p:nvSpPr>
          <p:cNvPr id="59" name="TextBox 58"/>
          <p:cNvSpPr txBox="1"/>
          <p:nvPr/>
        </p:nvSpPr>
        <p:spPr>
          <a:xfrm>
            <a:off x="7239000" y="1803273"/>
            <a:ext cx="764802" cy="194310"/>
          </a:xfrm>
          <a:prstGeom prst="rect">
            <a:avLst/>
          </a:prstGeom>
          <a:noFill/>
        </p:spPr>
        <p:txBody>
          <a:bodyPr wrap="none" lIns="0" rIns="0" tIns="0" bIns="0">
            <a:spAutoFit/>
          </a:bodyPr>
          <a:lstStyle/>
          <a:p>
            <a:r>
              <a:rPr sz="1150" b="0">
                <a:solidFill>
                  <a:srgbClr val="2E2E2E"/>
                </a:solidFill>
                <a:latin typeface="Calibri"/>
              </a:rPr>
              <a:t>right scale).</a:t>
            </a:r>
          </a:p>
        </p:txBody>
      </p:sp>
      <p:sp>
        <p:nvSpPr>
          <p:cNvPr id="60" name="TextBox 59"/>
          <p:cNvSpPr txBox="1"/>
          <p:nvPr/>
        </p:nvSpPr>
        <p:spPr>
          <a:xfrm>
            <a:off x="7239000" y="2031111"/>
            <a:ext cx="2113768" cy="194310"/>
          </a:xfrm>
          <a:prstGeom prst="rect">
            <a:avLst/>
          </a:prstGeom>
          <a:noFill/>
        </p:spPr>
        <p:txBody>
          <a:bodyPr wrap="none" lIns="0" rIns="0" tIns="0" bIns="0">
            <a:spAutoFit/>
          </a:bodyPr>
          <a:lstStyle/>
          <a:p>
            <a:r>
              <a:rPr sz="1150" b="0">
                <a:solidFill>
                  <a:srgbClr val="2E2E2E"/>
                </a:solidFill>
                <a:latin typeface="Calibri"/>
              </a:rPr>
              <a:t>▪ 'North America' cedes the most -</a:t>
            </a:r>
          </a:p>
        </p:txBody>
      </p:sp>
      <p:pic>
        <p:nvPicPr>
          <p:cNvPr id="61" name="Picture 60" descr="lock.png"/>
          <p:cNvPicPr>
            <a:picLocks noChangeAspect="1"/>
          </p:cNvPicPr>
          <p:nvPr/>
        </p:nvPicPr>
        <p:blipFill>
          <a:blip r:embed="rId5"/>
          <a:stretch>
            <a:fillRect/>
          </a:stretch>
        </p:blipFill>
        <p:spPr>
          <a:xfrm>
            <a:off x="9301922" y="2020887"/>
            <a:ext cx="134549" cy="195707"/>
          </a:xfrm>
          <a:prstGeom prst="rect">
            <a:avLst/>
          </a:prstGeom>
        </p:spPr>
      </p:pic>
      <p:sp>
        <p:nvSpPr>
          <p:cNvPr id="62" name="TextBox 61"/>
          <p:cNvSpPr txBox="1"/>
          <p:nvPr/>
        </p:nvSpPr>
        <p:spPr>
          <a:xfrm>
            <a:off x="9477031" y="2031111"/>
            <a:ext cx="1917799"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a:t>
            </a:r>
            <a:r>
              <a:rPr sz="1150" b="0">
                <a:solidFill>
                  <a:srgbClr val="2E2E2E"/>
                </a:solidFill>
                <a:latin typeface="Calibri"/>
              </a:rPr>
              <a:t>).</a:t>
            </a:r>
          </a:p>
        </p:txBody>
      </p:sp>
      <p:sp>
        <p:nvSpPr>
          <p:cNvPr id="63" name="TextBox 62"/>
          <p:cNvSpPr txBox="1"/>
          <p:nvPr/>
        </p:nvSpPr>
        <p:spPr>
          <a:xfrm>
            <a:off x="7239000" y="2258949"/>
            <a:ext cx="2156271" cy="194310"/>
          </a:xfrm>
          <a:prstGeom prst="rect">
            <a:avLst/>
          </a:prstGeom>
          <a:noFill/>
        </p:spPr>
        <p:txBody>
          <a:bodyPr wrap="none" lIns="0" rIns="0" tIns="0" bIns="0">
            <a:spAutoFit/>
          </a:bodyPr>
          <a:lstStyle/>
          <a:p>
            <a:r>
              <a:rPr sz="1150" b="0">
                <a:solidFill>
                  <a:srgbClr val="2E2E2E"/>
                </a:solidFill>
                <a:latin typeface="Calibri"/>
              </a:rPr>
              <a:t>▪ South Asia &amp; Pacific grows fastest</a:t>
            </a:r>
          </a:p>
        </p:txBody>
      </p:sp>
      <p:pic>
        <p:nvPicPr>
          <p:cNvPr id="64" name="Picture 63" descr="lock.png"/>
          <p:cNvPicPr>
            <a:picLocks noChangeAspect="1"/>
          </p:cNvPicPr>
          <p:nvPr/>
        </p:nvPicPr>
        <p:blipFill>
          <a:blip r:embed="rId5"/>
          <a:stretch>
            <a:fillRect/>
          </a:stretch>
        </p:blipFill>
        <p:spPr>
          <a:xfrm>
            <a:off x="9344425" y="2248725"/>
            <a:ext cx="134549" cy="195707"/>
          </a:xfrm>
          <a:prstGeom prst="rect">
            <a:avLst/>
          </a:prstGeom>
        </p:spPr>
      </p:pic>
      <p:sp>
        <p:nvSpPr>
          <p:cNvPr id="65" name="TextBox 64"/>
          <p:cNvSpPr txBox="1"/>
          <p:nvPr/>
        </p:nvSpPr>
        <p:spPr>
          <a:xfrm>
            <a:off x="9519534" y="2258949"/>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6" name="TextBox 65"/>
          <p:cNvSpPr txBox="1"/>
          <p:nvPr/>
        </p:nvSpPr>
        <p:spPr>
          <a:xfrm>
            <a:off x="7239000" y="2486787"/>
            <a:ext cx="1088851" cy="194310"/>
          </a:xfrm>
          <a:prstGeom prst="rect">
            <a:avLst/>
          </a:prstGeom>
          <a:noFill/>
        </p:spPr>
        <p:txBody>
          <a:bodyPr wrap="none" lIns="0" rIns="0" tIns="0" bIns="0">
            <a:spAutoFit/>
          </a:bodyPr>
          <a:lstStyle/>
          <a:p>
            <a:r>
              <a:rPr sz="1150" b="0">
                <a:solidFill>
                  <a:srgbClr val="2E2E2E"/>
                </a:solidFill>
                <a:latin typeface="Calibri"/>
              </a:rPr>
              <a:t>▪ Total rises from</a:t>
            </a:r>
          </a:p>
        </p:txBody>
      </p:sp>
      <p:pic>
        <p:nvPicPr>
          <p:cNvPr id="67" name="Picture 66" descr="lock.png"/>
          <p:cNvPicPr>
            <a:picLocks noChangeAspect="1"/>
          </p:cNvPicPr>
          <p:nvPr/>
        </p:nvPicPr>
        <p:blipFill>
          <a:blip r:embed="rId5"/>
          <a:stretch>
            <a:fillRect/>
          </a:stretch>
        </p:blipFill>
        <p:spPr>
          <a:xfrm>
            <a:off x="8277005" y="2476563"/>
            <a:ext cx="134549" cy="195707"/>
          </a:xfrm>
          <a:prstGeom prst="rect">
            <a:avLst/>
          </a:prstGeom>
        </p:spPr>
      </p:pic>
      <p:sp>
        <p:nvSpPr>
          <p:cNvPr id="68" name="TextBox 67"/>
          <p:cNvSpPr txBox="1"/>
          <p:nvPr/>
        </p:nvSpPr>
        <p:spPr>
          <a:xfrm>
            <a:off x="8452114" y="2486787"/>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9" name="Picture 68" descr="lock.png"/>
          <p:cNvPicPr>
            <a:picLocks noChangeAspect="1"/>
          </p:cNvPicPr>
          <p:nvPr/>
        </p:nvPicPr>
        <p:blipFill>
          <a:blip r:embed="rId5"/>
          <a:stretch>
            <a:fillRect/>
          </a:stretch>
        </p:blipFill>
        <p:spPr>
          <a:xfrm>
            <a:off x="8603550" y="2476563"/>
            <a:ext cx="134549" cy="195707"/>
          </a:xfrm>
          <a:prstGeom prst="rect">
            <a:avLst/>
          </a:prstGeom>
        </p:spPr>
      </p:pic>
      <p:sp>
        <p:nvSpPr>
          <p:cNvPr id="70" name="TextBox 69"/>
          <p:cNvSpPr txBox="1"/>
          <p:nvPr/>
        </p:nvSpPr>
        <p:spPr>
          <a:xfrm>
            <a:off x="8778660" y="2486787"/>
            <a:ext cx="1567222" cy="194310"/>
          </a:xfrm>
          <a:prstGeom prst="rect">
            <a:avLst/>
          </a:prstGeom>
          <a:noFill/>
        </p:spPr>
        <p:txBody>
          <a:bodyPr wrap="none" lIns="0" rIns="0" tIns="0" bIns="0">
            <a:spAutoFit/>
          </a:bodyPr>
          <a:lstStyle/>
          <a:p>
            <a:r>
              <a:rPr sz="1150" b="0">
                <a:solidFill>
                  <a:srgbClr val="2E2E2E"/>
                </a:solidFill>
                <a:latin typeface="Calibri"/>
              </a:rPr>
              <a:t>US$ Mn across 6 regions.</a:t>
            </a:r>
          </a:p>
        </p:txBody>
      </p:sp>
      <p:sp>
        <p:nvSpPr>
          <p:cNvPr id="7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Share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2300895" cy="194310"/>
          </a:xfrm>
          <a:prstGeom prst="rect">
            <a:avLst/>
          </a:prstGeom>
          <a:noFill/>
        </p:spPr>
        <p:txBody>
          <a:bodyPr wrap="none" lIns="0" rIns="0" tIns="0" bIns="0">
            <a:spAutoFit/>
          </a:bodyPr>
          <a:lstStyle/>
          <a:p>
            <a:r>
              <a:rPr sz="1150" b="0">
                <a:solidFill>
                  <a:srgbClr val="2E2E2E"/>
                </a:solidFill>
                <a:latin typeface="Calibri"/>
              </a:rPr>
              <a:t>▪ 'North America' is the largest region</a:t>
            </a:r>
          </a:p>
        </p:txBody>
      </p:sp>
      <p:pic>
        <p:nvPicPr>
          <p:cNvPr id="22" name="Picture 21" descr="lock.png"/>
          <p:cNvPicPr>
            <a:picLocks noChangeAspect="1"/>
          </p:cNvPicPr>
          <p:nvPr/>
        </p:nvPicPr>
        <p:blipFill>
          <a:blip r:embed="rId4"/>
          <a:stretch>
            <a:fillRect/>
          </a:stretch>
        </p:blipFill>
        <p:spPr>
          <a:xfrm>
            <a:off x="2526274" y="4542726"/>
            <a:ext cx="134549" cy="195707"/>
          </a:xfrm>
          <a:prstGeom prst="rect">
            <a:avLst/>
          </a:prstGeom>
        </p:spPr>
      </p:pic>
      <p:sp>
        <p:nvSpPr>
          <p:cNvPr id="23" name="TextBox 22"/>
          <p:cNvSpPr txBox="1"/>
          <p:nvPr/>
        </p:nvSpPr>
        <p:spPr>
          <a:xfrm>
            <a:off x="2701383" y="45529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31116" y="4542726"/>
            <a:ext cx="134549" cy="195707"/>
          </a:xfrm>
          <a:prstGeom prst="rect">
            <a:avLst/>
          </a:prstGeom>
        </p:spPr>
      </p:pic>
      <p:sp>
        <p:nvSpPr>
          <p:cNvPr id="25" name="TextBox 24"/>
          <p:cNvSpPr txBox="1"/>
          <p:nvPr/>
        </p:nvSpPr>
        <p:spPr>
          <a:xfrm>
            <a:off x="3906225" y="45529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780788"/>
            <a:ext cx="2372779" cy="194310"/>
          </a:xfrm>
          <a:prstGeom prst="rect">
            <a:avLst/>
          </a:prstGeom>
          <a:noFill/>
        </p:spPr>
        <p:txBody>
          <a:bodyPr wrap="none" lIns="0" rIns="0" tIns="0" bIns="0">
            <a:spAutoFit/>
          </a:bodyPr>
          <a:lstStyle/>
          <a:p>
            <a:r>
              <a:rPr sz="1150" b="0">
                <a:solidFill>
                  <a:srgbClr val="2E2E2E"/>
                </a:solidFill>
                <a:latin typeface="Calibri"/>
              </a:rPr>
              <a:t>▪ 'South Asia &amp; Pacific' grows fastest at</a:t>
            </a:r>
          </a:p>
        </p:txBody>
      </p:sp>
      <p:pic>
        <p:nvPicPr>
          <p:cNvPr id="27" name="Picture 26" descr="lock.png"/>
          <p:cNvPicPr>
            <a:picLocks noChangeAspect="1"/>
          </p:cNvPicPr>
          <p:nvPr/>
        </p:nvPicPr>
        <p:blipFill>
          <a:blip r:embed="rId4"/>
          <a:stretch>
            <a:fillRect/>
          </a:stretch>
        </p:blipFill>
        <p:spPr>
          <a:xfrm>
            <a:off x="2598158" y="4770564"/>
            <a:ext cx="134549" cy="195707"/>
          </a:xfrm>
          <a:prstGeom prst="rect">
            <a:avLst/>
          </a:prstGeom>
        </p:spPr>
      </p:pic>
      <p:sp>
        <p:nvSpPr>
          <p:cNvPr id="28" name="TextBox 27"/>
          <p:cNvSpPr txBox="1"/>
          <p:nvPr/>
        </p:nvSpPr>
        <p:spPr>
          <a:xfrm>
            <a:off x="2773267" y="47807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08625"/>
            <a:ext cx="1983978" cy="194310"/>
          </a:xfrm>
          <a:prstGeom prst="rect">
            <a:avLst/>
          </a:prstGeom>
          <a:noFill/>
        </p:spPr>
        <p:txBody>
          <a:bodyPr wrap="none" lIns="0" rIns="0" tIns="0" bIns="0">
            <a:spAutoFit/>
          </a:bodyPr>
          <a:lstStyle/>
          <a:p>
            <a:r>
              <a:rPr sz="1150" b="0">
                <a:solidFill>
                  <a:srgbClr val="2E2E2E"/>
                </a:solidFill>
                <a:latin typeface="Calibri"/>
              </a:rPr>
              <a:t>▪ Share shifts toward 'Europe' (+</a:t>
            </a:r>
          </a:p>
        </p:txBody>
      </p:sp>
      <p:pic>
        <p:nvPicPr>
          <p:cNvPr id="30" name="Picture 29" descr="lock.png"/>
          <p:cNvPicPr>
            <a:picLocks noChangeAspect="1"/>
          </p:cNvPicPr>
          <p:nvPr/>
        </p:nvPicPr>
        <p:blipFill>
          <a:blip r:embed="rId4"/>
          <a:stretch>
            <a:fillRect/>
          </a:stretch>
        </p:blipFill>
        <p:spPr>
          <a:xfrm>
            <a:off x="2209357" y="4998402"/>
            <a:ext cx="134549" cy="195707"/>
          </a:xfrm>
          <a:prstGeom prst="rect">
            <a:avLst/>
          </a:prstGeom>
        </p:spPr>
      </p:pic>
      <p:sp>
        <p:nvSpPr>
          <p:cNvPr id="31" name="TextBox 30"/>
          <p:cNvSpPr txBox="1"/>
          <p:nvPr/>
        </p:nvSpPr>
        <p:spPr>
          <a:xfrm>
            <a:off x="2384466" y="5008625"/>
            <a:ext cx="2356234" cy="194310"/>
          </a:xfrm>
          <a:prstGeom prst="rect">
            <a:avLst/>
          </a:prstGeom>
          <a:noFill/>
        </p:spPr>
        <p:txBody>
          <a:bodyPr wrap="none" lIns="0" rIns="0" tIns="0" bIns="0">
            <a:spAutoFit/>
          </a:bodyPr>
          <a:lstStyle/>
          <a:p>
            <a:r>
              <a:rPr sz="1150" b="0">
                <a:solidFill>
                  <a:srgbClr val="2E2E2E"/>
                </a:solidFill>
                <a:latin typeface="Calibri"/>
              </a:rPr>
              <a:t>BPS) and away from 'North America' (-</a:t>
            </a:r>
          </a:p>
        </p:txBody>
      </p:sp>
      <p:pic>
        <p:nvPicPr>
          <p:cNvPr id="32" name="Picture 31" descr="lock.png"/>
          <p:cNvPicPr>
            <a:picLocks noChangeAspect="1"/>
          </p:cNvPicPr>
          <p:nvPr/>
        </p:nvPicPr>
        <p:blipFill>
          <a:blip r:embed="rId4"/>
          <a:stretch>
            <a:fillRect/>
          </a:stretch>
        </p:blipFill>
        <p:spPr>
          <a:xfrm>
            <a:off x="4689854" y="4998402"/>
            <a:ext cx="134549" cy="195707"/>
          </a:xfrm>
          <a:prstGeom prst="rect">
            <a:avLst/>
          </a:prstGeom>
        </p:spPr>
      </p:pic>
      <p:sp>
        <p:nvSpPr>
          <p:cNvPr id="33" name="TextBox 32"/>
          <p:cNvSpPr txBox="1"/>
          <p:nvPr/>
        </p:nvSpPr>
        <p:spPr>
          <a:xfrm>
            <a:off x="4864964" y="50086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364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26240"/>
            <a:ext cx="134549" cy="195707"/>
          </a:xfrm>
          <a:prstGeom prst="rect">
            <a:avLst/>
          </a:prstGeom>
        </p:spPr>
      </p:pic>
      <p:sp>
        <p:nvSpPr>
          <p:cNvPr id="36" name="TextBox 35"/>
          <p:cNvSpPr txBox="1"/>
          <p:nvPr/>
        </p:nvSpPr>
        <p:spPr>
          <a:xfrm>
            <a:off x="1965143" y="52364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26240"/>
            <a:ext cx="134549" cy="195707"/>
          </a:xfrm>
          <a:prstGeom prst="rect">
            <a:avLst/>
          </a:prstGeom>
        </p:spPr>
      </p:pic>
      <p:sp>
        <p:nvSpPr>
          <p:cNvPr id="38" name="TextBox 37"/>
          <p:cNvSpPr txBox="1"/>
          <p:nvPr/>
        </p:nvSpPr>
        <p:spPr>
          <a:xfrm>
            <a:off x="2291688" y="5236463"/>
            <a:ext cx="1293663" cy="194310"/>
          </a:xfrm>
          <a:prstGeom prst="rect">
            <a:avLst/>
          </a:prstGeom>
          <a:noFill/>
        </p:spPr>
        <p:txBody>
          <a:bodyPr wrap="none" lIns="0" rIns="0" tIns="0" bIns="0">
            <a:spAutoFit/>
          </a:bodyPr>
          <a:lstStyle/>
          <a:p>
            <a:r>
              <a:rPr sz="1150" b="0">
                <a:solidFill>
                  <a:srgbClr val="2E2E2E"/>
                </a:solidFill>
                <a:latin typeface="Calibri"/>
              </a:rPr>
              <a:t>MT across 6 regions.</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2300895" cy="194310"/>
          </a:xfrm>
          <a:prstGeom prst="rect">
            <a:avLst/>
          </a:prstGeom>
          <a:noFill/>
        </p:spPr>
        <p:txBody>
          <a:bodyPr wrap="none" lIns="0" rIns="0" tIns="0" bIns="0">
            <a:spAutoFit/>
          </a:bodyPr>
          <a:lstStyle/>
          <a:p>
            <a:r>
              <a:rPr sz="1150" b="0">
                <a:solidFill>
                  <a:srgbClr val="2E2E2E"/>
                </a:solidFill>
                <a:latin typeface="Calibri"/>
              </a:rPr>
              <a:t>▪ 'North America' is the largest region</a:t>
            </a:r>
          </a:p>
        </p:txBody>
      </p:sp>
      <p:pic>
        <p:nvPicPr>
          <p:cNvPr id="22" name="Picture 21" descr="lock.png"/>
          <p:cNvPicPr>
            <a:picLocks noChangeAspect="1"/>
          </p:cNvPicPr>
          <p:nvPr/>
        </p:nvPicPr>
        <p:blipFill>
          <a:blip r:embed="rId4"/>
          <a:stretch>
            <a:fillRect/>
          </a:stretch>
        </p:blipFill>
        <p:spPr>
          <a:xfrm>
            <a:off x="2526274" y="3961701"/>
            <a:ext cx="134549" cy="195707"/>
          </a:xfrm>
          <a:prstGeom prst="rect">
            <a:avLst/>
          </a:prstGeom>
        </p:spPr>
      </p:pic>
      <p:sp>
        <p:nvSpPr>
          <p:cNvPr id="23" name="TextBox 22"/>
          <p:cNvSpPr txBox="1"/>
          <p:nvPr/>
        </p:nvSpPr>
        <p:spPr>
          <a:xfrm>
            <a:off x="2701383"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07316" y="3961701"/>
            <a:ext cx="134549" cy="195707"/>
          </a:xfrm>
          <a:prstGeom prst="rect">
            <a:avLst/>
          </a:prstGeom>
        </p:spPr>
      </p:pic>
      <p:sp>
        <p:nvSpPr>
          <p:cNvPr id="25" name="TextBox 24"/>
          <p:cNvSpPr txBox="1"/>
          <p:nvPr/>
        </p:nvSpPr>
        <p:spPr>
          <a:xfrm>
            <a:off x="3782425"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2372779" cy="194310"/>
          </a:xfrm>
          <a:prstGeom prst="rect">
            <a:avLst/>
          </a:prstGeom>
          <a:noFill/>
        </p:spPr>
        <p:txBody>
          <a:bodyPr wrap="none" lIns="0" rIns="0" tIns="0" bIns="0">
            <a:spAutoFit/>
          </a:bodyPr>
          <a:lstStyle/>
          <a:p>
            <a:r>
              <a:rPr sz="1150" b="0">
                <a:solidFill>
                  <a:srgbClr val="2E2E2E"/>
                </a:solidFill>
                <a:latin typeface="Calibri"/>
              </a:rPr>
              <a:t>▪ 'South Asia &amp; Pacific' grows fastest at</a:t>
            </a:r>
          </a:p>
        </p:txBody>
      </p:sp>
      <p:pic>
        <p:nvPicPr>
          <p:cNvPr id="27" name="Picture 26" descr="lock.png"/>
          <p:cNvPicPr>
            <a:picLocks noChangeAspect="1"/>
          </p:cNvPicPr>
          <p:nvPr/>
        </p:nvPicPr>
        <p:blipFill>
          <a:blip r:embed="rId4"/>
          <a:stretch>
            <a:fillRect/>
          </a:stretch>
        </p:blipFill>
        <p:spPr>
          <a:xfrm>
            <a:off x="2598158" y="4189539"/>
            <a:ext cx="134549" cy="195707"/>
          </a:xfrm>
          <a:prstGeom prst="rect">
            <a:avLst/>
          </a:prstGeom>
        </p:spPr>
      </p:pic>
      <p:sp>
        <p:nvSpPr>
          <p:cNvPr id="28" name="TextBox 27"/>
          <p:cNvSpPr txBox="1"/>
          <p:nvPr/>
        </p:nvSpPr>
        <p:spPr>
          <a:xfrm>
            <a:off x="2773267"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1983978" cy="194310"/>
          </a:xfrm>
          <a:prstGeom prst="rect">
            <a:avLst/>
          </a:prstGeom>
          <a:noFill/>
        </p:spPr>
        <p:txBody>
          <a:bodyPr wrap="none" lIns="0" rIns="0" tIns="0" bIns="0">
            <a:spAutoFit/>
          </a:bodyPr>
          <a:lstStyle/>
          <a:p>
            <a:r>
              <a:rPr sz="1150" b="0">
                <a:solidFill>
                  <a:srgbClr val="2E2E2E"/>
                </a:solidFill>
                <a:latin typeface="Calibri"/>
              </a:rPr>
              <a:t>▪ Share shifts toward 'Europe' (+</a:t>
            </a:r>
          </a:p>
        </p:txBody>
      </p:sp>
      <p:pic>
        <p:nvPicPr>
          <p:cNvPr id="30" name="Picture 29" descr="lock.png"/>
          <p:cNvPicPr>
            <a:picLocks noChangeAspect="1"/>
          </p:cNvPicPr>
          <p:nvPr/>
        </p:nvPicPr>
        <p:blipFill>
          <a:blip r:embed="rId4"/>
          <a:stretch>
            <a:fillRect/>
          </a:stretch>
        </p:blipFill>
        <p:spPr>
          <a:xfrm>
            <a:off x="2209357" y="4417377"/>
            <a:ext cx="134549" cy="195707"/>
          </a:xfrm>
          <a:prstGeom prst="rect">
            <a:avLst/>
          </a:prstGeom>
        </p:spPr>
      </p:pic>
      <p:sp>
        <p:nvSpPr>
          <p:cNvPr id="31" name="TextBox 30"/>
          <p:cNvSpPr txBox="1"/>
          <p:nvPr/>
        </p:nvSpPr>
        <p:spPr>
          <a:xfrm>
            <a:off x="2384466" y="4427600"/>
            <a:ext cx="2356234" cy="194310"/>
          </a:xfrm>
          <a:prstGeom prst="rect">
            <a:avLst/>
          </a:prstGeom>
          <a:noFill/>
        </p:spPr>
        <p:txBody>
          <a:bodyPr wrap="none" lIns="0" rIns="0" tIns="0" bIns="0">
            <a:spAutoFit/>
          </a:bodyPr>
          <a:lstStyle/>
          <a:p>
            <a:r>
              <a:rPr sz="1150" b="0">
                <a:solidFill>
                  <a:srgbClr val="2E2E2E"/>
                </a:solidFill>
                <a:latin typeface="Calibri"/>
              </a:rPr>
              <a:t>BPS) and away from 'North America' (-</a:t>
            </a:r>
          </a:p>
        </p:txBody>
      </p:sp>
      <p:pic>
        <p:nvPicPr>
          <p:cNvPr id="32" name="Picture 31" descr="lock.png"/>
          <p:cNvPicPr>
            <a:picLocks noChangeAspect="1"/>
          </p:cNvPicPr>
          <p:nvPr/>
        </p:nvPicPr>
        <p:blipFill>
          <a:blip r:embed="rId4"/>
          <a:stretch>
            <a:fillRect/>
          </a:stretch>
        </p:blipFill>
        <p:spPr>
          <a:xfrm>
            <a:off x="4689854" y="4417377"/>
            <a:ext cx="134549" cy="195707"/>
          </a:xfrm>
          <a:prstGeom prst="rect">
            <a:avLst/>
          </a:prstGeom>
        </p:spPr>
      </p:pic>
      <p:sp>
        <p:nvSpPr>
          <p:cNvPr id="33" name="TextBox 32"/>
          <p:cNvSpPr txBox="1"/>
          <p:nvPr/>
        </p:nvSpPr>
        <p:spPr>
          <a:xfrm>
            <a:off x="4864964"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567222" cy="194310"/>
          </a:xfrm>
          <a:prstGeom prst="rect">
            <a:avLst/>
          </a:prstGeom>
          <a:noFill/>
        </p:spPr>
        <p:txBody>
          <a:bodyPr wrap="none" lIns="0" rIns="0" tIns="0" bIns="0">
            <a:spAutoFit/>
          </a:bodyPr>
          <a:lstStyle/>
          <a:p>
            <a:r>
              <a:rPr sz="1150" b="0">
                <a:solidFill>
                  <a:srgbClr val="2E2E2E"/>
                </a:solidFill>
                <a:latin typeface="Calibri"/>
              </a:rPr>
              <a:t>US$ Mn across 6 regions.</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10971"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49096" y="1266825"/>
            <a:ext cx="3403312" cy="288711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49096" y="4153944"/>
            <a:ext cx="3403312" cy="241830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852408" y="1266825"/>
            <a:ext cx="2895416" cy="2186057"/>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47824" y="1266825"/>
            <a:ext cx="2206051" cy="2186057"/>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852408" y="3452882"/>
            <a:ext cx="2561697" cy="1778163"/>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852408" y="5231045"/>
            <a:ext cx="2561697" cy="1341205"/>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414105" y="3452882"/>
            <a:ext cx="1281045" cy="2124662"/>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95150" y="3452882"/>
            <a:ext cx="1258725" cy="2124662"/>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414105" y="5577544"/>
            <a:ext cx="2539770" cy="99470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68917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4996313" y="2710384"/>
            <a:ext cx="308877" cy="449275"/>
          </a:xfrm>
          <a:prstGeom prst="rect">
            <a:avLst/>
          </a:prstGeom>
        </p:spPr>
      </p:pic>
      <p:pic>
        <p:nvPicPr>
          <p:cNvPr id="26" name="Picture 25" descr="lock.png"/>
          <p:cNvPicPr>
            <a:picLocks noChangeAspect="1"/>
          </p:cNvPicPr>
          <p:nvPr/>
        </p:nvPicPr>
        <p:blipFill>
          <a:blip r:embed="rId4"/>
          <a:stretch>
            <a:fillRect/>
          </a:stretch>
        </p:blipFill>
        <p:spPr>
          <a:xfrm>
            <a:off x="4996313" y="5363097"/>
            <a:ext cx="308877" cy="449275"/>
          </a:xfrm>
          <a:prstGeom prst="rect">
            <a:avLst/>
          </a:prstGeom>
        </p:spPr>
      </p:pic>
      <p:pic>
        <p:nvPicPr>
          <p:cNvPr id="27" name="Picture 26" descr="lock.png"/>
          <p:cNvPicPr>
            <a:picLocks noChangeAspect="1"/>
          </p:cNvPicPr>
          <p:nvPr/>
        </p:nvPicPr>
        <p:blipFill>
          <a:blip r:embed="rId4"/>
          <a:stretch>
            <a:fillRect/>
          </a:stretch>
        </p:blipFill>
        <p:spPr>
          <a:xfrm>
            <a:off x="8145677" y="2359853"/>
            <a:ext cx="308877" cy="449275"/>
          </a:xfrm>
          <a:prstGeom prst="rect">
            <a:avLst/>
          </a:prstGeom>
        </p:spPr>
      </p:pic>
      <p:pic>
        <p:nvPicPr>
          <p:cNvPr id="28" name="Picture 27" descr="lock.png"/>
          <p:cNvPicPr>
            <a:picLocks noChangeAspect="1"/>
          </p:cNvPicPr>
          <p:nvPr/>
        </p:nvPicPr>
        <p:blipFill>
          <a:blip r:embed="rId4"/>
          <a:stretch>
            <a:fillRect/>
          </a:stretch>
        </p:blipFill>
        <p:spPr>
          <a:xfrm>
            <a:off x="10696411" y="2359853"/>
            <a:ext cx="308877" cy="449275"/>
          </a:xfrm>
          <a:prstGeom prst="rect">
            <a:avLst/>
          </a:prstGeom>
        </p:spPr>
      </p:pic>
      <p:pic>
        <p:nvPicPr>
          <p:cNvPr id="29" name="Picture 28" descr="lock.png"/>
          <p:cNvPicPr>
            <a:picLocks noChangeAspect="1"/>
          </p:cNvPicPr>
          <p:nvPr/>
        </p:nvPicPr>
        <p:blipFill>
          <a:blip r:embed="rId4"/>
          <a:stretch>
            <a:fillRect/>
          </a:stretch>
        </p:blipFill>
        <p:spPr>
          <a:xfrm>
            <a:off x="7978818" y="4341963"/>
            <a:ext cx="308877" cy="449275"/>
          </a:xfrm>
          <a:prstGeom prst="rect">
            <a:avLst/>
          </a:prstGeom>
        </p:spPr>
      </p:pic>
      <p:pic>
        <p:nvPicPr>
          <p:cNvPr id="30" name="Picture 29" descr="lock.png"/>
          <p:cNvPicPr>
            <a:picLocks noChangeAspect="1"/>
          </p:cNvPicPr>
          <p:nvPr/>
        </p:nvPicPr>
        <p:blipFill>
          <a:blip r:embed="rId4"/>
          <a:stretch>
            <a:fillRect/>
          </a:stretch>
        </p:blipFill>
        <p:spPr>
          <a:xfrm>
            <a:off x="7978818" y="5901647"/>
            <a:ext cx="308877" cy="449275"/>
          </a:xfrm>
          <a:prstGeom prst="rect">
            <a:avLst/>
          </a:prstGeom>
        </p:spPr>
      </p:pic>
      <p:pic>
        <p:nvPicPr>
          <p:cNvPr id="31" name="Picture 30" descr="lock.png"/>
          <p:cNvPicPr>
            <a:picLocks noChangeAspect="1"/>
          </p:cNvPicPr>
          <p:nvPr/>
        </p:nvPicPr>
        <p:blipFill>
          <a:blip r:embed="rId4"/>
          <a:stretch>
            <a:fillRect/>
          </a:stretch>
        </p:blipFill>
        <p:spPr>
          <a:xfrm>
            <a:off x="9900189" y="4515213"/>
            <a:ext cx="308877" cy="449275"/>
          </a:xfrm>
          <a:prstGeom prst="rect">
            <a:avLst/>
          </a:prstGeom>
        </p:spPr>
      </p:pic>
      <p:pic>
        <p:nvPicPr>
          <p:cNvPr id="32" name="Picture 31" descr="lock.png"/>
          <p:cNvPicPr>
            <a:picLocks noChangeAspect="1"/>
          </p:cNvPicPr>
          <p:nvPr/>
        </p:nvPicPr>
        <p:blipFill>
          <a:blip r:embed="rId4"/>
          <a:stretch>
            <a:fillRect/>
          </a:stretch>
        </p:blipFill>
        <p:spPr>
          <a:xfrm>
            <a:off x="11170074" y="4515213"/>
            <a:ext cx="308877" cy="449275"/>
          </a:xfrm>
          <a:prstGeom prst="rect">
            <a:avLst/>
          </a:prstGeom>
        </p:spPr>
      </p:pic>
      <p:pic>
        <p:nvPicPr>
          <p:cNvPr id="33" name="Picture 32" descr="lock.png"/>
          <p:cNvPicPr>
            <a:picLocks noChangeAspect="1"/>
          </p:cNvPicPr>
          <p:nvPr/>
        </p:nvPicPr>
        <p:blipFill>
          <a:blip r:embed="rId4"/>
          <a:stretch>
            <a:fillRect/>
          </a:stretch>
        </p:blipFill>
        <p:spPr>
          <a:xfrm>
            <a:off x="10529551" y="6074897"/>
            <a:ext cx="308877" cy="449275"/>
          </a:xfrm>
          <a:prstGeom prst="rect">
            <a:avLst/>
          </a:prstGeom>
        </p:spPr>
      </p:pic>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666875"/>
            <a:ext cx="103632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009775"/>
            <a:ext cx="103632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695575"/>
            <a:ext cx="5067300" cy="36385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a:t>
            </a:r>
          </a:p>
        </p:txBody>
      </p:sp>
      <p:sp>
        <p:nvSpPr>
          <p:cNvPr id="12" name="TextBox 11"/>
          <p:cNvSpPr txBox="1"/>
          <p:nvPr/>
        </p:nvSpPr>
        <p:spPr>
          <a:xfrm>
            <a:off x="6096000" y="2695575"/>
            <a:ext cx="50673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a:t>
            </a:r>
          </a:p>
        </p:txBody>
      </p:sp>
      <p:sp>
        <p:nvSpPr>
          <p:cNvPr id="13" name="TextBox 1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053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0_236_605E5C.png"/>
          <p:cNvPicPr>
            <a:picLocks noChangeAspect="1"/>
          </p:cNvPicPr>
          <p:nvPr/>
        </p:nvPicPr>
        <p:blipFill>
          <a:blip r:embed="rId5"/>
          <a:stretch>
            <a:fillRect/>
          </a:stretch>
        </p:blipFill>
        <p:spPr>
          <a:xfrm>
            <a:off x="3634127" y="2779432"/>
            <a:ext cx="1409020" cy="361950"/>
          </a:xfrm>
          <a:prstGeom prst="rect">
            <a:avLst/>
          </a:prstGeom>
        </p:spPr>
      </p:pic>
      <p:pic>
        <p:nvPicPr>
          <p:cNvPr id="52" name="Picture 51" descr="5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847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7_51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5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05261" cy="186689"/>
          </a:xfrm>
          <a:prstGeom prst="rect">
            <a:avLst/>
          </a:prstGeom>
          <a:noFill/>
        </p:spPr>
        <p:txBody>
          <a:bodyPr wrap="none" lIns="0" rIns="0" tIns="0" bIns="0">
            <a:spAutoFit/>
          </a:bodyPr>
          <a:lstStyle/>
          <a:p>
            <a:r>
              <a:rPr sz="1100" b="0">
                <a:solidFill>
                  <a:srgbClr val="2E2E2E"/>
                </a:solidFill>
                <a:latin typeface="Calibri"/>
              </a:rPr>
              <a:t>▪ 'Sweet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86843" cy="186689"/>
          </a:xfrm>
          <a:prstGeom prst="rect">
            <a:avLst/>
          </a:prstGeom>
          <a:noFill/>
        </p:spPr>
        <p:txBody>
          <a:bodyPr wrap="none" lIns="0" rIns="0" tIns="0" bIns="0">
            <a:spAutoFit/>
          </a:bodyPr>
          <a:lstStyle/>
          <a:p>
            <a:r>
              <a:rPr sz="1100" b="0">
                <a:solidFill>
                  <a:srgbClr val="2E2E2E"/>
                </a:solidFill>
                <a:latin typeface="Calibri"/>
              </a:rPr>
              <a:t>▪ 'Sweet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558603" cy="186689"/>
          </a:xfrm>
          <a:prstGeom prst="rect">
            <a:avLst/>
          </a:prstGeom>
          <a:noFill/>
        </p:spPr>
        <p:txBody>
          <a:bodyPr wrap="none" lIns="0" rIns="0" tIns="0" bIns="0">
            <a:spAutoFit/>
          </a:bodyPr>
          <a:lstStyle/>
          <a:p>
            <a:r>
              <a:rPr sz="1100" b="0">
                <a:solidFill>
                  <a:srgbClr val="2E2E2E"/>
                </a:solidFill>
                <a:latin typeface="Calibri"/>
              </a:rPr>
              <a:t>▪ 2 sub-segments make up the product type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1041548" cy="186689"/>
          </a:xfrm>
          <a:prstGeom prst="rect">
            <a:avLst/>
          </a:prstGeom>
          <a:noFill/>
        </p:spPr>
        <p:txBody>
          <a:bodyPr wrap="none" lIns="0" rIns="0" tIns="0" bIns="0">
            <a:spAutoFit/>
          </a:bodyPr>
          <a:lstStyle/>
          <a:p>
            <a:r>
              <a:rPr sz="1100" b="0">
                <a:solidFill>
                  <a:srgbClr val="2E2E2E"/>
                </a:solidFill>
                <a:latin typeface="Calibri"/>
              </a:rPr>
              <a:t>● Sweet muffins:</a:t>
            </a:r>
          </a:p>
        </p:txBody>
      </p:sp>
      <p:pic>
        <p:nvPicPr>
          <p:cNvPr id="74" name="Picture 73" descr="lock.png"/>
          <p:cNvPicPr>
            <a:picLocks noChangeAspect="1"/>
          </p:cNvPicPr>
          <p:nvPr/>
        </p:nvPicPr>
        <p:blipFill>
          <a:blip r:embed="rId10"/>
          <a:stretch>
            <a:fillRect/>
          </a:stretch>
        </p:blipFill>
        <p:spPr>
          <a:xfrm>
            <a:off x="4828175" y="4219658"/>
            <a:ext cx="128699" cy="187198"/>
          </a:xfrm>
          <a:prstGeom prst="rect">
            <a:avLst/>
          </a:prstGeom>
        </p:spPr>
      </p:pic>
      <p:sp>
        <p:nvSpPr>
          <p:cNvPr id="75" name="TextBox 74"/>
          <p:cNvSpPr txBox="1"/>
          <p:nvPr/>
        </p:nvSpPr>
        <p:spPr>
          <a:xfrm>
            <a:off x="499567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55121" y="4219658"/>
            <a:ext cx="128699" cy="187198"/>
          </a:xfrm>
          <a:prstGeom prst="rect">
            <a:avLst/>
          </a:prstGeom>
        </p:spPr>
      </p:pic>
      <p:sp>
        <p:nvSpPr>
          <p:cNvPr id="77" name="TextBox 76"/>
          <p:cNvSpPr txBox="1"/>
          <p:nvPr/>
        </p:nvSpPr>
        <p:spPr>
          <a:xfrm>
            <a:off x="602261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44686" cy="186689"/>
          </a:xfrm>
          <a:prstGeom prst="rect">
            <a:avLst/>
          </a:prstGeom>
          <a:noFill/>
        </p:spPr>
        <p:txBody>
          <a:bodyPr wrap="none" lIns="0" rIns="0" tIns="0" bIns="0">
            <a:spAutoFit/>
          </a:bodyPr>
          <a:lstStyle/>
          <a:p>
            <a:r>
              <a:rPr sz="1100" b="0">
                <a:solidFill>
                  <a:srgbClr val="2E2E2E"/>
                </a:solidFill>
                <a:latin typeface="Calibri"/>
              </a:rPr>
              <a:t>● Savoury muffins:</a:t>
            </a:r>
          </a:p>
        </p:txBody>
      </p:sp>
      <p:pic>
        <p:nvPicPr>
          <p:cNvPr id="79" name="Picture 78" descr="lock.png"/>
          <p:cNvPicPr>
            <a:picLocks noChangeAspect="1"/>
          </p:cNvPicPr>
          <p:nvPr/>
        </p:nvPicPr>
        <p:blipFill>
          <a:blip r:embed="rId10"/>
          <a:stretch>
            <a:fillRect/>
          </a:stretch>
        </p:blipFill>
        <p:spPr>
          <a:xfrm>
            <a:off x="4931313" y="4437590"/>
            <a:ext cx="128699" cy="187198"/>
          </a:xfrm>
          <a:prstGeom prst="rect">
            <a:avLst/>
          </a:prstGeom>
        </p:spPr>
      </p:pic>
      <p:sp>
        <p:nvSpPr>
          <p:cNvPr id="80" name="TextBox 79"/>
          <p:cNvSpPr txBox="1"/>
          <p:nvPr/>
        </p:nvSpPr>
        <p:spPr>
          <a:xfrm>
            <a:off x="509880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8259" y="4437590"/>
            <a:ext cx="128699" cy="187198"/>
          </a:xfrm>
          <a:prstGeom prst="rect">
            <a:avLst/>
          </a:prstGeom>
        </p:spPr>
      </p:pic>
      <p:sp>
        <p:nvSpPr>
          <p:cNvPr id="82" name="TextBox 81"/>
          <p:cNvSpPr txBox="1"/>
          <p:nvPr/>
        </p:nvSpPr>
        <p:spPr>
          <a:xfrm>
            <a:off x="6125755"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10"/>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946327" cy="186689"/>
          </a:xfrm>
          <a:prstGeom prst="rect">
            <a:avLst/>
          </a:prstGeom>
          <a:noFill/>
        </p:spPr>
        <p:txBody>
          <a:bodyPr wrap="none" lIns="0" rIns="0" tIns="0" bIns="0">
            <a:spAutoFit/>
          </a:bodyPr>
          <a:lstStyle/>
          <a:p>
            <a:r>
              <a:rPr sz="1100" b="0">
                <a:solidFill>
                  <a:srgbClr val="2E2E2E"/>
                </a:solidFill>
                <a:latin typeface="Calibri"/>
              </a:rPr>
              <a:t>Between 2026 and 2036, 'Sweet muffins' gains the most share in the Global market (+</a:t>
            </a:r>
          </a:p>
        </p:txBody>
      </p:sp>
      <p:pic>
        <p:nvPicPr>
          <p:cNvPr id="21" name="Picture 20" descr="lock.png"/>
          <p:cNvPicPr>
            <a:picLocks noChangeAspect="1"/>
          </p:cNvPicPr>
          <p:nvPr/>
        </p:nvPicPr>
        <p:blipFill>
          <a:blip r:embed="rId6"/>
          <a:stretch>
            <a:fillRect/>
          </a:stretch>
        </p:blipFill>
        <p:spPr>
          <a:xfrm>
            <a:off x="5151554" y="5851905"/>
            <a:ext cx="128699" cy="187198"/>
          </a:xfrm>
          <a:prstGeom prst="rect">
            <a:avLst/>
          </a:prstGeom>
        </p:spPr>
      </p:pic>
      <p:sp>
        <p:nvSpPr>
          <p:cNvPr id="22" name="TextBox 21"/>
          <p:cNvSpPr txBox="1"/>
          <p:nvPr/>
        </p:nvSpPr>
        <p:spPr>
          <a:xfrm>
            <a:off x="5319049" y="5861685"/>
            <a:ext cx="2036365" cy="186689"/>
          </a:xfrm>
          <a:prstGeom prst="rect">
            <a:avLst/>
          </a:prstGeom>
          <a:noFill/>
        </p:spPr>
        <p:txBody>
          <a:bodyPr wrap="none" lIns="0" rIns="0" tIns="0" bIns="0">
            <a:spAutoFit/>
          </a:bodyPr>
          <a:lstStyle/>
          <a:p>
            <a:r>
              <a:rPr sz="1100" b="0">
                <a:solidFill>
                  <a:srgbClr val="2E2E2E"/>
                </a:solidFill>
                <a:latin typeface="Calibri"/>
              </a:rPr>
              <a:t>BPS) while 'Savoury muffins' cedes</a:t>
            </a:r>
          </a:p>
        </p:txBody>
      </p:sp>
      <p:pic>
        <p:nvPicPr>
          <p:cNvPr id="23" name="Picture 22" descr="lock.png"/>
          <p:cNvPicPr>
            <a:picLocks noChangeAspect="1"/>
          </p:cNvPicPr>
          <p:nvPr/>
        </p:nvPicPr>
        <p:blipFill>
          <a:blip r:embed="rId6"/>
          <a:stretch>
            <a:fillRect/>
          </a:stretch>
        </p:blipFill>
        <p:spPr>
          <a:xfrm>
            <a:off x="7303467" y="5851905"/>
            <a:ext cx="128699" cy="187198"/>
          </a:xfrm>
          <a:prstGeom prst="rect">
            <a:avLst/>
          </a:prstGeom>
        </p:spPr>
      </p:pic>
      <p:sp>
        <p:nvSpPr>
          <p:cNvPr id="24" name="TextBox 23"/>
          <p:cNvSpPr txBox="1"/>
          <p:nvPr/>
        </p:nvSpPr>
        <p:spPr>
          <a:xfrm>
            <a:off x="7470962"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Sweet muffins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Savoury muffins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(MT)</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036885"/>
                <a:gridCol w="646489"/>
                <a:gridCol w="646489"/>
                <a:gridCol w="646489"/>
                <a:gridCol w="646489"/>
                <a:gridCol w="646489"/>
                <a:gridCol w="646489"/>
                <a:gridCol w="646489"/>
                <a:gridCol w="646489"/>
                <a:gridCol w="646489"/>
                <a:gridCol w="646489"/>
                <a:gridCol w="646489"/>
                <a:gridCol w="646489"/>
                <a:gridCol w="646489"/>
                <a:gridCol w="646489"/>
                <a:gridCol w="646489"/>
                <a:gridCol w="646489"/>
                <a:gridCol w="506497"/>
              </a:tblGrid>
              <a:tr h="246126">
                <a:tc>
                  <a:txBody>
                    <a:bodyPr wrap="none"/>
                    <a:lstStyle/>
                    <a:p>
                      <a:pPr algn="l"/>
                      <a:r>
                        <a:rPr sz="1100" b="1">
                          <a:solidFill>
                            <a:srgbClr val="0B2E4A"/>
                          </a:solidFill>
                          <a:latin typeface="Calibri"/>
                        </a:rPr>
                        <a:t>Product Type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19050" marR="1905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2775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7425" y="2980626"/>
            <a:ext cx="134549" cy="195707"/>
          </a:xfrm>
          <a:prstGeom prst="rect">
            <a:avLst/>
          </a:prstGeom>
        </p:spPr>
      </p:pic>
      <p:sp>
        <p:nvSpPr>
          <p:cNvPr id="25" name="TextBox 24"/>
          <p:cNvSpPr txBox="1"/>
          <p:nvPr/>
        </p:nvSpPr>
        <p:spPr>
          <a:xfrm>
            <a:off x="4422535" y="29908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664140"/>
            <a:ext cx="134549" cy="195707"/>
          </a:xfrm>
          <a:prstGeom prst="rect">
            <a:avLst/>
          </a:prstGeom>
        </p:spPr>
      </p:pic>
      <p:sp>
        <p:nvSpPr>
          <p:cNvPr id="36" name="TextBox 35"/>
          <p:cNvSpPr txBox="1"/>
          <p:nvPr/>
        </p:nvSpPr>
        <p:spPr>
          <a:xfrm>
            <a:off x="1965143"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664140"/>
            <a:ext cx="134549" cy="195707"/>
          </a:xfrm>
          <a:prstGeom prst="rect">
            <a:avLst/>
          </a:prstGeom>
        </p:spPr>
      </p:pic>
      <p:sp>
        <p:nvSpPr>
          <p:cNvPr id="38" name="TextBox 37"/>
          <p:cNvSpPr txBox="1"/>
          <p:nvPr/>
        </p:nvSpPr>
        <p:spPr>
          <a:xfrm>
            <a:off x="2291688" y="36743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7" cy="990600"/>
        </p:xfrm>
        <a:graphic>
          <a:graphicData uri="http://schemas.openxmlformats.org/drawingml/2006/table">
            <a:tbl>
              <a:tblPr>
                <a:tableStyleId>{5C22544A-7EE6-4342-B048-85BDC9FD1C3A}</a:tableStyleId>
              </a:tblPr>
              <a:tblGrid>
                <a:gridCol w="1227204"/>
                <a:gridCol w="627059"/>
                <a:gridCol w="627059"/>
                <a:gridCol w="627059"/>
                <a:gridCol w="627059"/>
                <a:gridCol w="627059"/>
                <a:gridCol w="627059"/>
                <a:gridCol w="627059"/>
                <a:gridCol w="627059"/>
                <a:gridCol w="627059"/>
                <a:gridCol w="627059"/>
                <a:gridCol w="627059"/>
                <a:gridCol w="627059"/>
                <a:gridCol w="627059"/>
                <a:gridCol w="627059"/>
                <a:gridCol w="627059"/>
                <a:gridCol w="627059"/>
                <a:gridCol w="62705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2915" y="1589913"/>
            <a:ext cx="366712" cy="533400"/>
          </a:xfrm>
          <a:prstGeom prst="rect">
            <a:avLst/>
          </a:prstGeom>
        </p:spPr>
      </p:pic>
      <p:sp>
        <p:nvSpPr>
          <p:cNvPr id="21" name="TextBox 20"/>
          <p:cNvSpPr txBox="1"/>
          <p:nvPr/>
        </p:nvSpPr>
        <p:spPr>
          <a:xfrm>
            <a:off x="276225" y="2990850"/>
            <a:ext cx="2817204" cy="194310"/>
          </a:xfrm>
          <a:prstGeom prst="rect">
            <a:avLst/>
          </a:prstGeom>
          <a:noFill/>
        </p:spPr>
        <p:txBody>
          <a:bodyPr wrap="none" lIns="0" rIns="0" tIns="0" bIns="0">
            <a:spAutoFit/>
          </a:bodyPr>
          <a:lstStyle/>
          <a:p>
            <a:r>
              <a:rPr sz="1150" b="0">
                <a:solidFill>
                  <a:srgbClr val="2E2E2E"/>
                </a:solidFill>
                <a:latin typeface="Calibri"/>
              </a:rPr>
              <a:t>▪ 'Sweet muffins' is the largest product type at</a:t>
            </a:r>
          </a:p>
        </p:txBody>
      </p:sp>
      <p:pic>
        <p:nvPicPr>
          <p:cNvPr id="22" name="Picture 21" descr="lock.png"/>
          <p:cNvPicPr>
            <a:picLocks noChangeAspect="1"/>
          </p:cNvPicPr>
          <p:nvPr/>
        </p:nvPicPr>
        <p:blipFill>
          <a:blip r:embed="rId4"/>
          <a:stretch>
            <a:fillRect/>
          </a:stretch>
        </p:blipFill>
        <p:spPr>
          <a:xfrm>
            <a:off x="3042583" y="2980626"/>
            <a:ext cx="134549" cy="195707"/>
          </a:xfrm>
          <a:prstGeom prst="rect">
            <a:avLst/>
          </a:prstGeom>
        </p:spPr>
      </p:pic>
      <p:sp>
        <p:nvSpPr>
          <p:cNvPr id="23" name="TextBox 22"/>
          <p:cNvSpPr txBox="1"/>
          <p:nvPr/>
        </p:nvSpPr>
        <p:spPr>
          <a:xfrm>
            <a:off x="3217692"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123625" y="2980626"/>
            <a:ext cx="134549" cy="195707"/>
          </a:xfrm>
          <a:prstGeom prst="rect">
            <a:avLst/>
          </a:prstGeom>
        </p:spPr>
      </p:pic>
      <p:sp>
        <p:nvSpPr>
          <p:cNvPr id="25" name="TextBox 24"/>
          <p:cNvSpPr txBox="1"/>
          <p:nvPr/>
        </p:nvSpPr>
        <p:spPr>
          <a:xfrm>
            <a:off x="429873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98116" cy="194310"/>
          </a:xfrm>
          <a:prstGeom prst="rect">
            <a:avLst/>
          </a:prstGeom>
          <a:noFill/>
        </p:spPr>
        <p:txBody>
          <a:bodyPr wrap="none" lIns="0" rIns="0" tIns="0" bIns="0">
            <a:spAutoFit/>
          </a:bodyPr>
          <a:lstStyle/>
          <a:p>
            <a:r>
              <a:rPr sz="1150" b="0">
                <a:solidFill>
                  <a:srgbClr val="2E2E2E"/>
                </a:solidFill>
                <a:latin typeface="Calibri"/>
              </a:rPr>
              <a:t>▪ 'Sweet muffins' grows fastest</a:t>
            </a:r>
          </a:p>
        </p:txBody>
      </p:sp>
      <p:pic>
        <p:nvPicPr>
          <p:cNvPr id="27" name="Picture 26" descr="lock.png"/>
          <p:cNvPicPr>
            <a:picLocks noChangeAspect="1"/>
          </p:cNvPicPr>
          <p:nvPr/>
        </p:nvPicPr>
        <p:blipFill>
          <a:blip r:embed="rId4"/>
          <a:stretch>
            <a:fillRect/>
          </a:stretch>
        </p:blipFill>
        <p:spPr>
          <a:xfrm>
            <a:off x="2123495" y="3208464"/>
            <a:ext cx="134549" cy="195707"/>
          </a:xfrm>
          <a:prstGeom prst="rect">
            <a:avLst/>
          </a:prstGeom>
        </p:spPr>
      </p:pic>
      <p:sp>
        <p:nvSpPr>
          <p:cNvPr id="28" name="TextBox 27"/>
          <p:cNvSpPr txBox="1"/>
          <p:nvPr/>
        </p:nvSpPr>
        <p:spPr>
          <a:xfrm>
            <a:off x="2298604"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407294" cy="194310"/>
          </a:xfrm>
          <a:prstGeom prst="rect">
            <a:avLst/>
          </a:prstGeom>
          <a:noFill/>
        </p:spPr>
        <p:txBody>
          <a:bodyPr wrap="none" lIns="0" rIns="0" tIns="0" bIns="0">
            <a:spAutoFit/>
          </a:bodyPr>
          <a:lstStyle/>
          <a:p>
            <a:r>
              <a:rPr sz="1150" b="0">
                <a:solidFill>
                  <a:srgbClr val="2E2E2E"/>
                </a:solidFill>
                <a:latin typeface="Calibri"/>
              </a:rPr>
              <a:t>▪ Share shifts toward 'Sweet muffins' (+</a:t>
            </a:r>
          </a:p>
        </p:txBody>
      </p:sp>
      <p:pic>
        <p:nvPicPr>
          <p:cNvPr id="30" name="Picture 29" descr="lock.png"/>
          <p:cNvPicPr>
            <a:picLocks noChangeAspect="1"/>
          </p:cNvPicPr>
          <p:nvPr/>
        </p:nvPicPr>
        <p:blipFill>
          <a:blip r:embed="rId4"/>
          <a:stretch>
            <a:fillRect/>
          </a:stretch>
        </p:blipFill>
        <p:spPr>
          <a:xfrm>
            <a:off x="2632673" y="3436302"/>
            <a:ext cx="134549" cy="195707"/>
          </a:xfrm>
          <a:prstGeom prst="rect">
            <a:avLst/>
          </a:prstGeom>
        </p:spPr>
      </p:pic>
      <p:sp>
        <p:nvSpPr>
          <p:cNvPr id="31" name="TextBox 30"/>
          <p:cNvSpPr txBox="1"/>
          <p:nvPr/>
        </p:nvSpPr>
        <p:spPr>
          <a:xfrm>
            <a:off x="2807783" y="3446525"/>
            <a:ext cx="2441240" cy="194310"/>
          </a:xfrm>
          <a:prstGeom prst="rect">
            <a:avLst/>
          </a:prstGeom>
          <a:noFill/>
        </p:spPr>
        <p:txBody>
          <a:bodyPr wrap="none" lIns="0" rIns="0" tIns="0" bIns="0">
            <a:spAutoFit/>
          </a:bodyPr>
          <a:lstStyle/>
          <a:p>
            <a:r>
              <a:rPr sz="1150" b="0">
                <a:solidFill>
                  <a:srgbClr val="2E2E2E"/>
                </a:solidFill>
                <a:latin typeface="Calibri"/>
              </a:rPr>
              <a:t>BPS) and away from 'Savoury muffins' (-</a:t>
            </a:r>
          </a:p>
        </p:txBody>
      </p:sp>
      <p:pic>
        <p:nvPicPr>
          <p:cNvPr id="32" name="Picture 31" descr="lock.png"/>
          <p:cNvPicPr>
            <a:picLocks noChangeAspect="1"/>
          </p:cNvPicPr>
          <p:nvPr/>
        </p:nvPicPr>
        <p:blipFill>
          <a:blip r:embed="rId4"/>
          <a:stretch>
            <a:fillRect/>
          </a:stretch>
        </p:blipFill>
        <p:spPr>
          <a:xfrm>
            <a:off x="5198177" y="3436302"/>
            <a:ext cx="134549" cy="195707"/>
          </a:xfrm>
          <a:prstGeom prst="rect">
            <a:avLst/>
          </a:prstGeom>
        </p:spPr>
      </p:pic>
      <p:sp>
        <p:nvSpPr>
          <p:cNvPr id="33" name="TextBox 32"/>
          <p:cNvSpPr txBox="1"/>
          <p:nvPr/>
        </p:nvSpPr>
        <p:spPr>
          <a:xfrm>
            <a:off x="5373286"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387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6340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578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a:t>
            </a:r>
          </a:p>
        </p:txBody>
      </p:sp>
      <p:sp>
        <p:nvSpPr>
          <p:cNvPr id="19" name="BPS Value 1"/>
          <p:cNvSpPr txBox="1"/>
          <p:nvPr/>
        </p:nvSpPr>
        <p:spPr>
          <a:xfrm>
            <a:off x="6896100" y="261972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92496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9201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439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a:t>
            </a:r>
          </a:p>
        </p:txBody>
      </p:sp>
      <p:sp>
        <p:nvSpPr>
          <p:cNvPr id="23" name="BPS Value 2"/>
          <p:cNvSpPr txBox="1"/>
          <p:nvPr/>
        </p:nvSpPr>
        <p:spPr>
          <a:xfrm>
            <a:off x="6896100" y="490591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444377" cy="194310"/>
          </a:xfrm>
          <a:prstGeom prst="rect">
            <a:avLst/>
          </a:prstGeom>
          <a:noFill/>
        </p:spPr>
        <p:txBody>
          <a:bodyPr wrap="none" lIns="0" rIns="0" tIns="0" bIns="0">
            <a:spAutoFit/>
          </a:bodyPr>
          <a:lstStyle/>
          <a:p>
            <a:r>
              <a:rPr sz="1150" b="0">
                <a:solidFill>
                  <a:srgbClr val="2E2E2E"/>
                </a:solidFill>
                <a:latin typeface="Calibri"/>
              </a:rPr>
              <a:t>▪ 'Sweet muffins' gains the most share +</a:t>
            </a:r>
          </a:p>
        </p:txBody>
      </p:sp>
      <p:pic>
        <p:nvPicPr>
          <p:cNvPr id="31" name="Picture 30" descr="lock.png"/>
          <p:cNvPicPr>
            <a:picLocks noChangeAspect="1"/>
          </p:cNvPicPr>
          <p:nvPr/>
        </p:nvPicPr>
        <p:blipFill>
          <a:blip r:embed="rId5"/>
          <a:stretch>
            <a:fillRect/>
          </a:stretch>
        </p:blipFill>
        <p:spPr>
          <a:xfrm>
            <a:off x="10223081" y="1389951"/>
            <a:ext cx="134549" cy="195707"/>
          </a:xfrm>
          <a:prstGeom prst="rect">
            <a:avLst/>
          </a:prstGeom>
        </p:spPr>
      </p:pic>
      <p:sp>
        <p:nvSpPr>
          <p:cNvPr id="32" name="TextBox 31"/>
          <p:cNvSpPr txBox="1"/>
          <p:nvPr/>
        </p:nvSpPr>
        <p:spPr>
          <a:xfrm>
            <a:off x="1039819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8774" cy="194310"/>
          </a:xfrm>
          <a:prstGeom prst="rect">
            <a:avLst/>
          </a:prstGeom>
          <a:noFill/>
        </p:spPr>
        <p:txBody>
          <a:bodyPr wrap="none" lIns="0" rIns="0" tIns="0" bIns="0">
            <a:spAutoFit/>
          </a:bodyPr>
          <a:lstStyle/>
          <a:p>
            <a:r>
              <a:rPr sz="1150" b="0">
                <a:solidFill>
                  <a:srgbClr val="2E2E2E"/>
                </a:solidFill>
                <a:latin typeface="Calibri"/>
              </a:rPr>
              <a:t>▪ 'Savoury muffins' cedes the most -</a:t>
            </a:r>
          </a:p>
        </p:txBody>
      </p:sp>
      <p:pic>
        <p:nvPicPr>
          <p:cNvPr id="35" name="Picture 34" descr="lock.png"/>
          <p:cNvPicPr>
            <a:picLocks noChangeAspect="1"/>
          </p:cNvPicPr>
          <p:nvPr/>
        </p:nvPicPr>
        <p:blipFill>
          <a:blip r:embed="rId5"/>
          <a:stretch>
            <a:fillRect/>
          </a:stretch>
        </p:blipFill>
        <p:spPr>
          <a:xfrm>
            <a:off x="9977478" y="1793049"/>
            <a:ext cx="134549" cy="195707"/>
          </a:xfrm>
          <a:prstGeom prst="rect">
            <a:avLst/>
          </a:prstGeom>
        </p:spPr>
      </p:pic>
      <p:sp>
        <p:nvSpPr>
          <p:cNvPr id="36" name="TextBox 35"/>
          <p:cNvSpPr txBox="1"/>
          <p:nvPr/>
        </p:nvSpPr>
        <p:spPr>
          <a:xfrm>
            <a:off x="10152587"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339504" cy="194310"/>
          </a:xfrm>
          <a:prstGeom prst="rect">
            <a:avLst/>
          </a:prstGeom>
          <a:noFill/>
        </p:spPr>
        <p:txBody>
          <a:bodyPr wrap="none" lIns="0" rIns="0" tIns="0" bIns="0">
            <a:spAutoFit/>
          </a:bodyPr>
          <a:lstStyle/>
          <a:p>
            <a:r>
              <a:rPr sz="1150" b="0">
                <a:solidFill>
                  <a:srgbClr val="2E2E2E"/>
                </a:solidFill>
                <a:latin typeface="Calibri"/>
              </a:rPr>
              <a:t>▪ 'Sweet muffins' is the fastest-growing product type at</a:t>
            </a:r>
          </a:p>
        </p:txBody>
      </p:sp>
      <p:pic>
        <p:nvPicPr>
          <p:cNvPr id="39" name="Picture 38" descr="lock.png"/>
          <p:cNvPicPr>
            <a:picLocks noChangeAspect="1"/>
          </p:cNvPicPr>
          <p:nvPr/>
        </p:nvPicPr>
        <p:blipFill>
          <a:blip r:embed="rId5"/>
          <a:stretch>
            <a:fillRect/>
          </a:stretch>
        </p:blipFill>
        <p:spPr>
          <a:xfrm>
            <a:off x="11118208" y="2196147"/>
            <a:ext cx="134549" cy="195707"/>
          </a:xfrm>
          <a:prstGeom prst="rect">
            <a:avLst/>
          </a:prstGeom>
        </p:spPr>
      </p:pic>
      <p:sp>
        <p:nvSpPr>
          <p:cNvPr id="40" name="TextBox 39"/>
          <p:cNvSpPr txBox="1"/>
          <p:nvPr/>
        </p:nvSpPr>
        <p:spPr>
          <a:xfrm>
            <a:off x="11293317"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1" name="TextBox 40"/>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2" name="TextBox 41"/>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3" name="Picture 42" descr="lock.png"/>
          <p:cNvPicPr>
            <a:picLocks noChangeAspect="1"/>
          </p:cNvPicPr>
          <p:nvPr/>
        </p:nvPicPr>
        <p:blipFill>
          <a:blip r:embed="rId5"/>
          <a:stretch>
            <a:fillRect/>
          </a:stretch>
        </p:blipFill>
        <p:spPr>
          <a:xfrm>
            <a:off x="9327669" y="2599245"/>
            <a:ext cx="134549" cy="195707"/>
          </a:xfrm>
          <a:prstGeom prst="rect">
            <a:avLst/>
          </a:prstGeom>
        </p:spPr>
      </p:pic>
      <p:sp>
        <p:nvSpPr>
          <p:cNvPr id="44" name="TextBox 43"/>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5" name="Picture 44" descr="lock.png"/>
          <p:cNvPicPr>
            <a:picLocks noChangeAspect="1"/>
          </p:cNvPicPr>
          <p:nvPr/>
        </p:nvPicPr>
        <p:blipFill>
          <a:blip r:embed="rId5"/>
          <a:stretch>
            <a:fillRect/>
          </a:stretch>
        </p:blipFill>
        <p:spPr>
          <a:xfrm>
            <a:off x="9654215" y="2599245"/>
            <a:ext cx="134549" cy="195707"/>
          </a:xfrm>
          <a:prstGeom prst="rect">
            <a:avLst/>
          </a:prstGeom>
        </p:spPr>
      </p:pic>
      <p:sp>
        <p:nvSpPr>
          <p:cNvPr id="46" name="TextBox 45"/>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7" name="TextBox 46"/>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8" name="TextBox 47"/>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9"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742948"/>
        </p:xfrm>
        <a:graphic>
          <a:graphicData uri="http://schemas.openxmlformats.org/drawingml/2006/table">
            <a:tbl>
              <a:tblPr>
                <a:tableStyleId>{5C22544A-7EE6-4342-B048-85BDC9FD1C3A}</a:tableStyleId>
              </a:tblPr>
              <a:tblGrid>
                <a:gridCol w="1346878"/>
                <a:gridCol w="702688"/>
                <a:gridCol w="702688"/>
                <a:gridCol w="702688"/>
                <a:gridCol w="702688"/>
                <a:gridCol w="702688"/>
                <a:gridCol w="702688"/>
                <a:gridCol w="702688"/>
                <a:gridCol w="702688"/>
                <a:gridCol w="702688"/>
                <a:gridCol w="702688"/>
                <a:gridCol w="702688"/>
                <a:gridCol w="702688"/>
                <a:gridCol w="702688"/>
                <a:gridCol w="702688"/>
                <a:gridCol w="702688"/>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a:t>
            </a:r>
          </a:p>
        </p:txBody>
      </p:sp>
      <p:sp>
        <p:nvSpPr>
          <p:cNvPr id="33" name="Rectangle 32"/>
          <p:cNvSpPr/>
          <p:nvPr/>
        </p:nvSpPr>
        <p:spPr>
          <a:xfrm>
            <a:off x="1857375" y="2752725"/>
            <a:ext cx="643890" cy="190976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01417" y="1482090"/>
            <a:ext cx="330041" cy="480060"/>
          </a:xfrm>
          <a:prstGeom prst="rect">
            <a:avLst/>
          </a:prstGeom>
        </p:spPr>
      </p:pic>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Flavour,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Sweet Muffins Flavours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Savoury Muffins Flavours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27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_65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629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8_09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7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8835" cy="186689"/>
          </a:xfrm>
          <a:prstGeom prst="rect">
            <a:avLst/>
          </a:prstGeom>
          <a:noFill/>
        </p:spPr>
        <p:txBody>
          <a:bodyPr wrap="none" lIns="0" rIns="0" tIns="0" bIns="0">
            <a:spAutoFit/>
          </a:bodyPr>
          <a:lstStyle/>
          <a:p>
            <a:r>
              <a:rPr sz="1100" b="0">
                <a:solidFill>
                  <a:srgbClr val="2E2E2E"/>
                </a:solidFill>
                <a:latin typeface="Calibri"/>
              </a:rPr>
              <a:t>▪ 'Sweet Muffins Flavours' holds the largest share</a:t>
            </a:r>
          </a:p>
        </p:txBody>
      </p:sp>
      <p:sp>
        <p:nvSpPr>
          <p:cNvPr id="59" name="TextBox 58"/>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60" name="Picture 59" descr="lock.png"/>
          <p:cNvPicPr>
            <a:picLocks noChangeAspect="1"/>
          </p:cNvPicPr>
          <p:nvPr/>
        </p:nvPicPr>
        <p:blipFill>
          <a:blip r:embed="rId10"/>
          <a:stretch>
            <a:fillRect/>
          </a:stretch>
        </p:blipFill>
        <p:spPr>
          <a:xfrm>
            <a:off x="931036" y="4387298"/>
            <a:ext cx="128699" cy="187198"/>
          </a:xfrm>
          <a:prstGeom prst="rect">
            <a:avLst/>
          </a:prstGeom>
        </p:spPr>
      </p:pic>
      <p:sp>
        <p:nvSpPr>
          <p:cNvPr id="61" name="TextBox 60"/>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906216" cy="186689"/>
          </a:xfrm>
          <a:prstGeom prst="rect">
            <a:avLst/>
          </a:prstGeom>
          <a:noFill/>
        </p:spPr>
        <p:txBody>
          <a:bodyPr wrap="none" lIns="0" rIns="0" tIns="0" bIns="0">
            <a:spAutoFit/>
          </a:bodyPr>
          <a:lstStyle/>
          <a:p>
            <a:r>
              <a:rPr sz="1100" b="0">
                <a:solidFill>
                  <a:srgbClr val="2E2E2E"/>
                </a:solidFill>
                <a:latin typeface="Calibri"/>
              </a:rPr>
              <a:t>▪ 'Savoury Muffins Flavours' is the fastest-growing</a:t>
            </a:r>
          </a:p>
        </p:txBody>
      </p:sp>
      <p:sp>
        <p:nvSpPr>
          <p:cNvPr id="63" name="TextBox 62"/>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4" name="Picture 63" descr="lock.png"/>
          <p:cNvPicPr>
            <a:picLocks noChangeAspect="1"/>
          </p:cNvPicPr>
          <p:nvPr/>
        </p:nvPicPr>
        <p:blipFill>
          <a:blip r:embed="rId10"/>
          <a:stretch>
            <a:fillRect/>
          </a:stretch>
        </p:blipFill>
        <p:spPr>
          <a:xfrm>
            <a:off x="1391064" y="4772870"/>
            <a:ext cx="128699" cy="187198"/>
          </a:xfrm>
          <a:prstGeom prst="rect">
            <a:avLst/>
          </a:prstGeom>
        </p:spPr>
      </p:pic>
      <p:sp>
        <p:nvSpPr>
          <p:cNvPr id="65" name="TextBox 64"/>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4990801"/>
            <a:ext cx="128699" cy="187198"/>
          </a:xfrm>
          <a:prstGeom prst="rect">
            <a:avLst/>
          </a:prstGeom>
        </p:spPr>
      </p:pic>
      <p:sp>
        <p:nvSpPr>
          <p:cNvPr id="68" name="TextBox 6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4990801"/>
            <a:ext cx="128699" cy="187198"/>
          </a:xfrm>
          <a:prstGeom prst="rect">
            <a:avLst/>
          </a:prstGeom>
        </p:spPr>
      </p:pic>
      <p:sp>
        <p:nvSpPr>
          <p:cNvPr id="70" name="TextBox 6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386153"/>
            <a:ext cx="2861741" cy="186689"/>
          </a:xfrm>
          <a:prstGeom prst="rect">
            <a:avLst/>
          </a:prstGeom>
          <a:noFill/>
        </p:spPr>
        <p:txBody>
          <a:bodyPr wrap="none" lIns="0" rIns="0" tIns="0" bIns="0">
            <a:spAutoFit/>
          </a:bodyPr>
          <a:lstStyle/>
          <a:p>
            <a:r>
              <a:rPr sz="1100" b="0">
                <a:solidFill>
                  <a:srgbClr val="2E2E2E"/>
                </a:solidFill>
                <a:latin typeface="Calibri"/>
              </a:rPr>
              <a:t>▪ 2 sub-segments make up the flavour landscape.</a:t>
            </a:r>
          </a:p>
        </p:txBody>
      </p:sp>
      <p:sp>
        <p:nvSpPr>
          <p:cNvPr id="73" name="TextBox 72"/>
          <p:cNvSpPr txBox="1"/>
          <p:nvPr/>
        </p:nvSpPr>
        <p:spPr>
          <a:xfrm>
            <a:off x="3838575" y="4229437"/>
            <a:ext cx="1557783" cy="186689"/>
          </a:xfrm>
          <a:prstGeom prst="rect">
            <a:avLst/>
          </a:prstGeom>
          <a:noFill/>
        </p:spPr>
        <p:txBody>
          <a:bodyPr wrap="none" lIns="0" rIns="0" tIns="0" bIns="0">
            <a:spAutoFit/>
          </a:bodyPr>
          <a:lstStyle/>
          <a:p>
            <a:r>
              <a:rPr sz="1100" b="0">
                <a:solidFill>
                  <a:srgbClr val="2E2E2E"/>
                </a:solidFill>
                <a:latin typeface="Calibri"/>
              </a:rPr>
              <a:t>● Sweet Muffins Flavours:</a:t>
            </a:r>
          </a:p>
        </p:txBody>
      </p:sp>
      <p:pic>
        <p:nvPicPr>
          <p:cNvPr id="74" name="Picture 73" descr="lock.png"/>
          <p:cNvPicPr>
            <a:picLocks noChangeAspect="1"/>
          </p:cNvPicPr>
          <p:nvPr/>
        </p:nvPicPr>
        <p:blipFill>
          <a:blip r:embed="rId10"/>
          <a:stretch>
            <a:fillRect/>
          </a:stretch>
        </p:blipFill>
        <p:spPr>
          <a:xfrm>
            <a:off x="5344410" y="4219658"/>
            <a:ext cx="128699" cy="187198"/>
          </a:xfrm>
          <a:prstGeom prst="rect">
            <a:avLst/>
          </a:prstGeom>
        </p:spPr>
      </p:pic>
      <p:sp>
        <p:nvSpPr>
          <p:cNvPr id="75" name="TextBox 74"/>
          <p:cNvSpPr txBox="1"/>
          <p:nvPr/>
        </p:nvSpPr>
        <p:spPr>
          <a:xfrm>
            <a:off x="551190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6371356" y="4219658"/>
            <a:ext cx="128699" cy="187198"/>
          </a:xfrm>
          <a:prstGeom prst="rect">
            <a:avLst/>
          </a:prstGeom>
        </p:spPr>
      </p:pic>
      <p:sp>
        <p:nvSpPr>
          <p:cNvPr id="77" name="TextBox 76"/>
          <p:cNvSpPr txBox="1"/>
          <p:nvPr/>
        </p:nvSpPr>
        <p:spPr>
          <a:xfrm>
            <a:off x="653885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78" name="TextBox 77"/>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79" name="TextBox 78"/>
          <p:cNvSpPr txBox="1"/>
          <p:nvPr/>
        </p:nvSpPr>
        <p:spPr>
          <a:xfrm>
            <a:off x="3838575" y="4615009"/>
            <a:ext cx="1660921" cy="186689"/>
          </a:xfrm>
          <a:prstGeom prst="rect">
            <a:avLst/>
          </a:prstGeom>
          <a:noFill/>
        </p:spPr>
        <p:txBody>
          <a:bodyPr wrap="none" lIns="0" rIns="0" tIns="0" bIns="0">
            <a:spAutoFit/>
          </a:bodyPr>
          <a:lstStyle/>
          <a:p>
            <a:r>
              <a:rPr sz="1100" b="0">
                <a:solidFill>
                  <a:srgbClr val="2E2E2E"/>
                </a:solidFill>
                <a:latin typeface="Calibri"/>
              </a:rPr>
              <a:t>● Savoury Muffins Flavours:</a:t>
            </a:r>
          </a:p>
        </p:txBody>
      </p:sp>
      <p:pic>
        <p:nvPicPr>
          <p:cNvPr id="80" name="Picture 79" descr="lock.png"/>
          <p:cNvPicPr>
            <a:picLocks noChangeAspect="1"/>
          </p:cNvPicPr>
          <p:nvPr/>
        </p:nvPicPr>
        <p:blipFill>
          <a:blip r:embed="rId10"/>
          <a:stretch>
            <a:fillRect/>
          </a:stretch>
        </p:blipFill>
        <p:spPr>
          <a:xfrm>
            <a:off x="5447548" y="4605230"/>
            <a:ext cx="128699" cy="187198"/>
          </a:xfrm>
          <a:prstGeom prst="rect">
            <a:avLst/>
          </a:prstGeom>
        </p:spPr>
      </p:pic>
      <p:sp>
        <p:nvSpPr>
          <p:cNvPr id="81" name="TextBox 80"/>
          <p:cNvSpPr txBox="1"/>
          <p:nvPr/>
        </p:nvSpPr>
        <p:spPr>
          <a:xfrm>
            <a:off x="561504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6474494" y="4605230"/>
            <a:ext cx="128699" cy="187198"/>
          </a:xfrm>
          <a:prstGeom prst="rect">
            <a:avLst/>
          </a:prstGeom>
        </p:spPr>
      </p:pic>
      <p:sp>
        <p:nvSpPr>
          <p:cNvPr id="83" name="TextBox 82"/>
          <p:cNvSpPr txBox="1"/>
          <p:nvPr/>
        </p:nvSpPr>
        <p:spPr>
          <a:xfrm>
            <a:off x="6641990" y="461500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4" name="TextBox 83"/>
          <p:cNvSpPr txBox="1"/>
          <p:nvPr/>
        </p:nvSpPr>
        <p:spPr>
          <a:xfrm>
            <a:off x="3838575" y="478264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5" name="TextBox 84"/>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86" name="TextBox 85"/>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7" name="Picture 86" descr="lock.png"/>
          <p:cNvPicPr>
            <a:picLocks noChangeAspect="1"/>
          </p:cNvPicPr>
          <p:nvPr/>
        </p:nvPicPr>
        <p:blipFill>
          <a:blip r:embed="rId10"/>
          <a:stretch>
            <a:fillRect/>
          </a:stretch>
        </p:blipFill>
        <p:spPr>
          <a:xfrm>
            <a:off x="8674884" y="6007677"/>
            <a:ext cx="134549" cy="195707"/>
          </a:xfrm>
          <a:prstGeom prst="rect">
            <a:avLst/>
          </a:prstGeom>
        </p:spPr>
      </p:pic>
      <p:sp>
        <p:nvSpPr>
          <p:cNvPr id="88" name="TextBox 87"/>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65700" cy="186689"/>
          </a:xfrm>
          <a:prstGeom prst="rect">
            <a:avLst/>
          </a:prstGeom>
          <a:noFill/>
        </p:spPr>
        <p:txBody>
          <a:bodyPr wrap="none" lIns="0" rIns="0" tIns="0" bIns="0">
            <a:spAutoFit/>
          </a:bodyPr>
          <a:lstStyle/>
          <a:p>
            <a:r>
              <a:rPr sz="1100" b="0">
                <a:solidFill>
                  <a:srgbClr val="2E2E2E"/>
                </a:solidFill>
                <a:latin typeface="Calibri"/>
              </a:rPr>
              <a:t>Between 2026 and 2036, 'Savoury Muffins Flavours' gains the most share in the Global market (+</a:t>
            </a:r>
          </a:p>
        </p:txBody>
      </p:sp>
      <p:pic>
        <p:nvPicPr>
          <p:cNvPr id="21" name="Picture 20" descr="lock.png"/>
          <p:cNvPicPr>
            <a:picLocks noChangeAspect="1"/>
          </p:cNvPicPr>
          <p:nvPr/>
        </p:nvPicPr>
        <p:blipFill>
          <a:blip r:embed="rId6"/>
          <a:stretch>
            <a:fillRect/>
          </a:stretch>
        </p:blipFill>
        <p:spPr>
          <a:xfrm>
            <a:off x="5770927" y="5851905"/>
            <a:ext cx="128699" cy="187198"/>
          </a:xfrm>
          <a:prstGeom prst="rect">
            <a:avLst/>
          </a:prstGeom>
        </p:spPr>
      </p:pic>
      <p:sp>
        <p:nvSpPr>
          <p:cNvPr id="22" name="TextBox 21"/>
          <p:cNvSpPr txBox="1"/>
          <p:nvPr/>
        </p:nvSpPr>
        <p:spPr>
          <a:xfrm>
            <a:off x="5938423" y="5861685"/>
            <a:ext cx="2449462" cy="186689"/>
          </a:xfrm>
          <a:prstGeom prst="rect">
            <a:avLst/>
          </a:prstGeom>
          <a:noFill/>
        </p:spPr>
        <p:txBody>
          <a:bodyPr wrap="none" lIns="0" rIns="0" tIns="0" bIns="0">
            <a:spAutoFit/>
          </a:bodyPr>
          <a:lstStyle/>
          <a:p>
            <a:r>
              <a:rPr sz="1100" b="0">
                <a:solidFill>
                  <a:srgbClr val="2E2E2E"/>
                </a:solidFill>
                <a:latin typeface="Calibri"/>
              </a:rPr>
              <a:t>BPS) while 'Sweet Muffins Flavours' cedes</a:t>
            </a:r>
          </a:p>
        </p:txBody>
      </p:sp>
      <p:pic>
        <p:nvPicPr>
          <p:cNvPr id="23" name="Picture 22" descr="lock.png"/>
          <p:cNvPicPr>
            <a:picLocks noChangeAspect="1"/>
          </p:cNvPicPr>
          <p:nvPr/>
        </p:nvPicPr>
        <p:blipFill>
          <a:blip r:embed="rId6"/>
          <a:stretch>
            <a:fillRect/>
          </a:stretch>
        </p:blipFill>
        <p:spPr>
          <a:xfrm>
            <a:off x="8335937" y="5851905"/>
            <a:ext cx="128699" cy="187198"/>
          </a:xfrm>
          <a:prstGeom prst="rect">
            <a:avLst/>
          </a:prstGeom>
        </p:spPr>
      </p:pic>
      <p:sp>
        <p:nvSpPr>
          <p:cNvPr id="24" name="TextBox 23"/>
          <p:cNvSpPr txBox="1"/>
          <p:nvPr/>
        </p:nvSpPr>
        <p:spPr>
          <a:xfrm>
            <a:off x="8503433" y="5861685"/>
            <a:ext cx="310210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a:t>
            </a:r>
          </a:p>
        </p:txBody>
      </p:sp>
      <p:sp>
        <p:nvSpPr>
          <p:cNvPr id="25" name="TextBox 24"/>
          <p:cNvSpPr txBox="1"/>
          <p:nvPr/>
        </p:nvSpPr>
        <p:spPr>
          <a:xfrm>
            <a:off x="257175" y="602932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Sweet Muffins Flavours</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Savoury Muffins Flavours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Flavour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38350"/>
          </a:xfrm>
          <a:prstGeom prst="roundRect">
            <a:avLst>
              <a:gd name="adj" fmla="val 37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Flavour (MT)</a:t>
            </a:r>
          </a:p>
        </p:txBody>
      </p:sp>
      <p:graphicFrame>
        <p:nvGraphicFramePr>
          <p:cNvPr id="13" name="Table 12"/>
          <p:cNvGraphicFramePr>
            <a:graphicFrameLocks noGrp="1"/>
          </p:cNvGraphicFramePr>
          <p:nvPr/>
        </p:nvGraphicFramePr>
        <p:xfrm>
          <a:off x="152400" y="1238250"/>
          <a:ext cx="11887208" cy="1571623"/>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Flavour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1832">
                <a:tc>
                  <a:txBody>
                    <a:bodyPr wrap="none"/>
                    <a:lstStyle/>
                    <a:p>
                      <a:pPr algn="l"/>
                      <a:r>
                        <a:rPr sz="1100" b="1">
                          <a:solidFill>
                            <a:srgbClr val="2E2E2E"/>
                          </a:solidFill>
                          <a:latin typeface="Calibri"/>
                        </a:rPr>
                        <a:t>Sweet Muffins</a:t>
                      </a:r>
                      <a:endParaRPr sz="1100"/>
                    </a:p>
                    <a:p>
                      <a:pPr algn="l"/>
                      <a:r>
                        <a:rPr sz="1100" b="1">
                          <a:solidFill>
                            <a:srgbClr val="2E2E2E"/>
                          </a:solidFill>
                          <a:latin typeface="Calibri"/>
                        </a:rPr>
                        <a:t>Flavours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1832">
                <a:tc>
                  <a:txBody>
                    <a:bodyPr wrap="none"/>
                    <a:lstStyle/>
                    <a:p>
                      <a:pPr algn="l"/>
                      <a:r>
                        <a:rPr sz="1100" b="1">
                          <a:solidFill>
                            <a:srgbClr val="2E2E2E"/>
                          </a:solidFill>
                          <a:latin typeface="Calibri"/>
                        </a:rPr>
                        <a:t>Savoury Muffins</a:t>
                      </a:r>
                      <a:endParaRPr sz="1100"/>
                    </a:p>
                    <a:p>
                      <a:pPr algn="l"/>
                      <a:r>
                        <a:rPr sz="1100" b="1">
                          <a:solidFill>
                            <a:srgbClr val="2E2E2E"/>
                          </a:solidFill>
                          <a:latin typeface="Calibri"/>
                        </a:rPr>
                        <a:t>Flavours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904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19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152775"/>
            <a:ext cx="11906250" cy="3476625"/>
          </a:xfrm>
          <a:prstGeom prst="roundRect">
            <a:avLst>
              <a:gd name="adj" fmla="val 219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38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Flavour</a:t>
            </a:r>
          </a:p>
        </p:txBody>
      </p:sp>
      <p:sp>
        <p:nvSpPr>
          <p:cNvPr id="17" name="Rectangle 16"/>
          <p:cNvSpPr/>
          <p:nvPr/>
        </p:nvSpPr>
        <p:spPr>
          <a:xfrm>
            <a:off x="276225" y="3476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562350"/>
            <a:ext cx="11639550" cy="2990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1976818"/>
            <a:ext cx="366712" cy="533400"/>
          </a:xfrm>
          <a:prstGeom prst="rect">
            <a:avLst/>
          </a:prstGeom>
        </p:spPr>
      </p:pic>
      <p:sp>
        <p:nvSpPr>
          <p:cNvPr id="21" name="TextBox 20"/>
          <p:cNvSpPr txBox="1"/>
          <p:nvPr/>
        </p:nvSpPr>
        <p:spPr>
          <a:xfrm>
            <a:off x="276225" y="3571875"/>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3561651"/>
            <a:ext cx="134549" cy="195707"/>
          </a:xfrm>
          <a:prstGeom prst="rect">
            <a:avLst/>
          </a:prstGeom>
        </p:spPr>
      </p:pic>
      <p:sp>
        <p:nvSpPr>
          <p:cNvPr id="23" name="TextBox 22"/>
          <p:cNvSpPr txBox="1"/>
          <p:nvPr/>
        </p:nvSpPr>
        <p:spPr>
          <a:xfrm>
            <a:off x="3409098" y="35718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38831" y="3561651"/>
            <a:ext cx="134549" cy="195707"/>
          </a:xfrm>
          <a:prstGeom prst="rect">
            <a:avLst/>
          </a:prstGeom>
        </p:spPr>
      </p:pic>
      <p:sp>
        <p:nvSpPr>
          <p:cNvPr id="25" name="TextBox 24"/>
          <p:cNvSpPr txBox="1"/>
          <p:nvPr/>
        </p:nvSpPr>
        <p:spPr>
          <a:xfrm>
            <a:off x="4613940" y="35718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799712"/>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789489"/>
            <a:ext cx="134549" cy="195707"/>
          </a:xfrm>
          <a:prstGeom prst="rect">
            <a:avLst/>
          </a:prstGeom>
        </p:spPr>
      </p:pic>
      <p:sp>
        <p:nvSpPr>
          <p:cNvPr id="28" name="TextBox 27"/>
          <p:cNvSpPr txBox="1"/>
          <p:nvPr/>
        </p:nvSpPr>
        <p:spPr>
          <a:xfrm>
            <a:off x="2946131" y="3799712"/>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27550"/>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4017327"/>
            <a:ext cx="134549" cy="195707"/>
          </a:xfrm>
          <a:prstGeom prst="rect">
            <a:avLst/>
          </a:prstGeom>
        </p:spPr>
      </p:pic>
      <p:sp>
        <p:nvSpPr>
          <p:cNvPr id="31" name="TextBox 30"/>
          <p:cNvSpPr txBox="1"/>
          <p:nvPr/>
        </p:nvSpPr>
        <p:spPr>
          <a:xfrm>
            <a:off x="3455309" y="4027550"/>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4017327"/>
            <a:ext cx="134549" cy="195707"/>
          </a:xfrm>
          <a:prstGeom prst="rect">
            <a:avLst/>
          </a:prstGeom>
        </p:spPr>
      </p:pic>
      <p:sp>
        <p:nvSpPr>
          <p:cNvPr id="33" name="TextBox 32"/>
          <p:cNvSpPr txBox="1"/>
          <p:nvPr/>
        </p:nvSpPr>
        <p:spPr>
          <a:xfrm>
            <a:off x="6452687" y="40275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2553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45165"/>
            <a:ext cx="134549" cy="195707"/>
          </a:xfrm>
          <a:prstGeom prst="rect">
            <a:avLst/>
          </a:prstGeom>
        </p:spPr>
      </p:pic>
      <p:sp>
        <p:nvSpPr>
          <p:cNvPr id="36" name="TextBox 35"/>
          <p:cNvSpPr txBox="1"/>
          <p:nvPr/>
        </p:nvSpPr>
        <p:spPr>
          <a:xfrm>
            <a:off x="1965143" y="42553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45165"/>
            <a:ext cx="134549" cy="195707"/>
          </a:xfrm>
          <a:prstGeom prst="rect">
            <a:avLst/>
          </a:prstGeom>
        </p:spPr>
      </p:pic>
      <p:sp>
        <p:nvSpPr>
          <p:cNvPr id="38" name="TextBox 37"/>
          <p:cNvSpPr txBox="1"/>
          <p:nvPr/>
        </p:nvSpPr>
        <p:spPr>
          <a:xfrm>
            <a:off x="2291688" y="42553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Flavour (US$ Mn)</a:t>
            </a:r>
          </a:p>
        </p:txBody>
      </p:sp>
      <p:graphicFrame>
        <p:nvGraphicFramePr>
          <p:cNvPr id="13" name="Table 12"/>
          <p:cNvGraphicFramePr>
            <a:graphicFrameLocks noGrp="1"/>
          </p:cNvGraphicFramePr>
          <p:nvPr/>
        </p:nvGraphicFramePr>
        <p:xfrm>
          <a:off x="152400" y="1238250"/>
          <a:ext cx="11887208" cy="990600"/>
        </p:xfrm>
        <a:graphic>
          <a:graphicData uri="http://schemas.openxmlformats.org/drawingml/2006/table">
            <a:tbl>
              <a:tblPr>
                <a:tableStyleId>{5C22544A-7EE6-4342-B048-85BDC9FD1C3A}</a:tableStyleId>
              </a:tblPr>
              <a:tblGrid>
                <a:gridCol w="1757520"/>
                <a:gridCol w="595864"/>
                <a:gridCol w="595864"/>
                <a:gridCol w="595864"/>
                <a:gridCol w="595864"/>
                <a:gridCol w="595864"/>
                <a:gridCol w="595864"/>
                <a:gridCol w="595864"/>
                <a:gridCol w="595864"/>
                <a:gridCol w="595864"/>
                <a:gridCol w="595864"/>
                <a:gridCol w="595864"/>
                <a:gridCol w="595864"/>
                <a:gridCol w="595864"/>
                <a:gridCol w="595864"/>
                <a:gridCol w="595864"/>
                <a:gridCol w="595864"/>
                <a:gridCol w="595864"/>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Flavour</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88074" y="1589913"/>
            <a:ext cx="366712" cy="533400"/>
          </a:xfrm>
          <a:prstGeom prst="rect">
            <a:avLst/>
          </a:prstGeom>
        </p:spPr>
      </p:pic>
      <p:sp>
        <p:nvSpPr>
          <p:cNvPr id="21" name="TextBox 20"/>
          <p:cNvSpPr txBox="1"/>
          <p:nvPr/>
        </p:nvSpPr>
        <p:spPr>
          <a:xfrm>
            <a:off x="276225" y="2990850"/>
            <a:ext cx="3008610" cy="194310"/>
          </a:xfrm>
          <a:prstGeom prst="rect">
            <a:avLst/>
          </a:prstGeom>
          <a:noFill/>
        </p:spPr>
        <p:txBody>
          <a:bodyPr wrap="none" lIns="0" rIns="0" tIns="0" bIns="0">
            <a:spAutoFit/>
          </a:bodyPr>
          <a:lstStyle/>
          <a:p>
            <a:r>
              <a:rPr sz="1150" b="0">
                <a:solidFill>
                  <a:srgbClr val="2E2E2E"/>
                </a:solidFill>
                <a:latin typeface="Calibri"/>
              </a:rPr>
              <a:t>▪ 'Sweet Muffins Flavours' is the largest flavour at</a:t>
            </a:r>
          </a:p>
        </p:txBody>
      </p:sp>
      <p:pic>
        <p:nvPicPr>
          <p:cNvPr id="22" name="Picture 21" descr="lock.png"/>
          <p:cNvPicPr>
            <a:picLocks noChangeAspect="1"/>
          </p:cNvPicPr>
          <p:nvPr/>
        </p:nvPicPr>
        <p:blipFill>
          <a:blip r:embed="rId4"/>
          <a:stretch>
            <a:fillRect/>
          </a:stretch>
        </p:blipFill>
        <p:spPr>
          <a:xfrm>
            <a:off x="3233989" y="2980626"/>
            <a:ext cx="134549" cy="195707"/>
          </a:xfrm>
          <a:prstGeom prst="rect">
            <a:avLst/>
          </a:prstGeom>
        </p:spPr>
      </p:pic>
      <p:sp>
        <p:nvSpPr>
          <p:cNvPr id="23" name="TextBox 22"/>
          <p:cNvSpPr txBox="1"/>
          <p:nvPr/>
        </p:nvSpPr>
        <p:spPr>
          <a:xfrm>
            <a:off x="3409098"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15031" y="2980626"/>
            <a:ext cx="134549" cy="195707"/>
          </a:xfrm>
          <a:prstGeom prst="rect">
            <a:avLst/>
          </a:prstGeom>
        </p:spPr>
      </p:pic>
      <p:sp>
        <p:nvSpPr>
          <p:cNvPr id="25" name="TextBox 24"/>
          <p:cNvSpPr txBox="1"/>
          <p:nvPr/>
        </p:nvSpPr>
        <p:spPr>
          <a:xfrm>
            <a:off x="4490140"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2545643" cy="194310"/>
          </a:xfrm>
          <a:prstGeom prst="rect">
            <a:avLst/>
          </a:prstGeom>
          <a:noFill/>
        </p:spPr>
        <p:txBody>
          <a:bodyPr wrap="none" lIns="0" rIns="0" tIns="0" bIns="0">
            <a:spAutoFit/>
          </a:bodyPr>
          <a:lstStyle/>
          <a:p>
            <a:r>
              <a:rPr sz="1150" b="0">
                <a:solidFill>
                  <a:srgbClr val="2E2E2E"/>
                </a:solidFill>
                <a:latin typeface="Calibri"/>
              </a:rPr>
              <a:t>▪ 'Savoury Muffins Flavours' grows fastest</a:t>
            </a:r>
          </a:p>
        </p:txBody>
      </p:sp>
      <p:pic>
        <p:nvPicPr>
          <p:cNvPr id="27" name="Picture 26" descr="lock.png"/>
          <p:cNvPicPr>
            <a:picLocks noChangeAspect="1"/>
          </p:cNvPicPr>
          <p:nvPr/>
        </p:nvPicPr>
        <p:blipFill>
          <a:blip r:embed="rId4"/>
          <a:stretch>
            <a:fillRect/>
          </a:stretch>
        </p:blipFill>
        <p:spPr>
          <a:xfrm>
            <a:off x="2771022" y="3208464"/>
            <a:ext cx="134549" cy="195707"/>
          </a:xfrm>
          <a:prstGeom prst="rect">
            <a:avLst/>
          </a:prstGeom>
        </p:spPr>
      </p:pic>
      <p:sp>
        <p:nvSpPr>
          <p:cNvPr id="28" name="TextBox 27"/>
          <p:cNvSpPr txBox="1"/>
          <p:nvPr/>
        </p:nvSpPr>
        <p:spPr>
          <a:xfrm>
            <a:off x="294613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3054821" cy="194310"/>
          </a:xfrm>
          <a:prstGeom prst="rect">
            <a:avLst/>
          </a:prstGeom>
          <a:noFill/>
        </p:spPr>
        <p:txBody>
          <a:bodyPr wrap="none" lIns="0" rIns="0" tIns="0" bIns="0">
            <a:spAutoFit/>
          </a:bodyPr>
          <a:lstStyle/>
          <a:p>
            <a:r>
              <a:rPr sz="1150" b="0">
                <a:solidFill>
                  <a:srgbClr val="2E2E2E"/>
                </a:solidFill>
                <a:latin typeface="Calibri"/>
              </a:rPr>
              <a:t>▪ Share shifts toward 'Savoury Muffins Flavours' (+</a:t>
            </a:r>
          </a:p>
        </p:txBody>
      </p:sp>
      <p:pic>
        <p:nvPicPr>
          <p:cNvPr id="30" name="Picture 29" descr="lock.png"/>
          <p:cNvPicPr>
            <a:picLocks noChangeAspect="1"/>
          </p:cNvPicPr>
          <p:nvPr/>
        </p:nvPicPr>
        <p:blipFill>
          <a:blip r:embed="rId4"/>
          <a:stretch>
            <a:fillRect/>
          </a:stretch>
        </p:blipFill>
        <p:spPr>
          <a:xfrm>
            <a:off x="3280200" y="3436302"/>
            <a:ext cx="134549" cy="195707"/>
          </a:xfrm>
          <a:prstGeom prst="rect">
            <a:avLst/>
          </a:prstGeom>
        </p:spPr>
      </p:pic>
      <p:sp>
        <p:nvSpPr>
          <p:cNvPr id="31" name="TextBox 30"/>
          <p:cNvSpPr txBox="1"/>
          <p:nvPr/>
        </p:nvSpPr>
        <p:spPr>
          <a:xfrm>
            <a:off x="3455309" y="3446525"/>
            <a:ext cx="2873114" cy="194310"/>
          </a:xfrm>
          <a:prstGeom prst="rect">
            <a:avLst/>
          </a:prstGeom>
          <a:noFill/>
        </p:spPr>
        <p:txBody>
          <a:bodyPr wrap="none" lIns="0" rIns="0" tIns="0" bIns="0">
            <a:spAutoFit/>
          </a:bodyPr>
          <a:lstStyle/>
          <a:p>
            <a:r>
              <a:rPr sz="1150" b="0">
                <a:solidFill>
                  <a:srgbClr val="2E2E2E"/>
                </a:solidFill>
                <a:latin typeface="Calibri"/>
              </a:rPr>
              <a:t>BPS) and away from 'Sweet Muffins Flavours' (-</a:t>
            </a:r>
          </a:p>
        </p:txBody>
      </p:sp>
      <p:pic>
        <p:nvPicPr>
          <p:cNvPr id="32" name="Picture 31" descr="lock.png"/>
          <p:cNvPicPr>
            <a:picLocks noChangeAspect="1"/>
          </p:cNvPicPr>
          <p:nvPr/>
        </p:nvPicPr>
        <p:blipFill>
          <a:blip r:embed="rId4"/>
          <a:stretch>
            <a:fillRect/>
          </a:stretch>
        </p:blipFill>
        <p:spPr>
          <a:xfrm>
            <a:off x="6277577" y="3436302"/>
            <a:ext cx="134549" cy="195707"/>
          </a:xfrm>
          <a:prstGeom prst="rect">
            <a:avLst/>
          </a:prstGeom>
        </p:spPr>
      </p:pic>
      <p:sp>
        <p:nvSpPr>
          <p:cNvPr id="33" name="TextBox 32"/>
          <p:cNvSpPr txBox="1"/>
          <p:nvPr/>
        </p:nvSpPr>
        <p:spPr>
          <a:xfrm>
            <a:off x="6452687"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Flavour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863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16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054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Savoury Muffins Flavours</a:t>
            </a:r>
          </a:p>
        </p:txBody>
      </p:sp>
      <p:sp>
        <p:nvSpPr>
          <p:cNvPr id="19" name="BPS Value 1"/>
          <p:cNvSpPr txBox="1"/>
          <p:nvPr/>
        </p:nvSpPr>
        <p:spPr>
          <a:xfrm>
            <a:off x="6896100" y="256734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5488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01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39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Sweet Muffins Flavours</a:t>
            </a:r>
          </a:p>
        </p:txBody>
      </p:sp>
      <p:sp>
        <p:nvSpPr>
          <p:cNvPr id="23" name="BPS Value 2"/>
          <p:cNvSpPr txBox="1"/>
          <p:nvPr/>
        </p:nvSpPr>
        <p:spPr>
          <a:xfrm>
            <a:off x="6896100" y="493583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Flavour</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751325"/>
            <a:ext cx="275034" cy="400050"/>
          </a:xfrm>
          <a:prstGeom prst="rect">
            <a:avLst/>
          </a:prstGeom>
        </p:spPr>
      </p:pic>
      <p:sp>
        <p:nvSpPr>
          <p:cNvPr id="30" name="TextBox 29"/>
          <p:cNvSpPr txBox="1"/>
          <p:nvPr/>
        </p:nvSpPr>
        <p:spPr>
          <a:xfrm>
            <a:off x="7829550" y="1400175"/>
            <a:ext cx="3091904" cy="194310"/>
          </a:xfrm>
          <a:prstGeom prst="rect">
            <a:avLst/>
          </a:prstGeom>
          <a:noFill/>
        </p:spPr>
        <p:txBody>
          <a:bodyPr wrap="none" lIns="0" rIns="0" tIns="0" bIns="0">
            <a:spAutoFit/>
          </a:bodyPr>
          <a:lstStyle/>
          <a:p>
            <a:r>
              <a:rPr sz="1150" b="0">
                <a:solidFill>
                  <a:srgbClr val="2E2E2E"/>
                </a:solidFill>
                <a:latin typeface="Calibri"/>
              </a:rPr>
              <a:t>▪ 'Savoury Muffins Flavours' gains the most share +</a:t>
            </a:r>
          </a:p>
        </p:txBody>
      </p:sp>
      <p:pic>
        <p:nvPicPr>
          <p:cNvPr id="31" name="Picture 30" descr="lock.png"/>
          <p:cNvPicPr>
            <a:picLocks noChangeAspect="1"/>
          </p:cNvPicPr>
          <p:nvPr/>
        </p:nvPicPr>
        <p:blipFill>
          <a:blip r:embed="rId5"/>
          <a:stretch>
            <a:fillRect/>
          </a:stretch>
        </p:blipFill>
        <p:spPr>
          <a:xfrm>
            <a:off x="10870608" y="1389951"/>
            <a:ext cx="134549" cy="195707"/>
          </a:xfrm>
          <a:prstGeom prst="rect">
            <a:avLst/>
          </a:prstGeom>
        </p:spPr>
      </p:pic>
      <p:sp>
        <p:nvSpPr>
          <p:cNvPr id="32" name="TextBox 31"/>
          <p:cNvSpPr txBox="1"/>
          <p:nvPr/>
        </p:nvSpPr>
        <p:spPr>
          <a:xfrm>
            <a:off x="11045717"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630648" cy="194310"/>
          </a:xfrm>
          <a:prstGeom prst="rect">
            <a:avLst/>
          </a:prstGeom>
          <a:noFill/>
        </p:spPr>
        <p:txBody>
          <a:bodyPr wrap="none" lIns="0" rIns="0" tIns="0" bIns="0">
            <a:spAutoFit/>
          </a:bodyPr>
          <a:lstStyle/>
          <a:p>
            <a:r>
              <a:rPr sz="1150" b="0">
                <a:solidFill>
                  <a:srgbClr val="2E2E2E"/>
                </a:solidFill>
                <a:latin typeface="Calibri"/>
              </a:rPr>
              <a:t>▪ 'Sweet Muffins Flavours' cedes the most -</a:t>
            </a:r>
          </a:p>
        </p:txBody>
      </p:sp>
      <p:pic>
        <p:nvPicPr>
          <p:cNvPr id="35" name="Picture 34" descr="lock.png"/>
          <p:cNvPicPr>
            <a:picLocks noChangeAspect="1"/>
          </p:cNvPicPr>
          <p:nvPr/>
        </p:nvPicPr>
        <p:blipFill>
          <a:blip r:embed="rId5"/>
          <a:stretch>
            <a:fillRect/>
          </a:stretch>
        </p:blipFill>
        <p:spPr>
          <a:xfrm>
            <a:off x="10409352" y="1793049"/>
            <a:ext cx="134549" cy="195707"/>
          </a:xfrm>
          <a:prstGeom prst="rect">
            <a:avLst/>
          </a:prstGeom>
        </p:spPr>
      </p:pic>
      <p:sp>
        <p:nvSpPr>
          <p:cNvPr id="36" name="TextBox 35"/>
          <p:cNvSpPr txBox="1"/>
          <p:nvPr/>
        </p:nvSpPr>
        <p:spPr>
          <a:xfrm>
            <a:off x="10584461"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37" name="TextBox 36"/>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638736" cy="194310"/>
          </a:xfrm>
          <a:prstGeom prst="rect">
            <a:avLst/>
          </a:prstGeom>
          <a:noFill/>
        </p:spPr>
        <p:txBody>
          <a:bodyPr wrap="none" lIns="0" rIns="0" tIns="0" bIns="0">
            <a:spAutoFit/>
          </a:bodyPr>
          <a:lstStyle/>
          <a:p>
            <a:r>
              <a:rPr sz="1150" b="0">
                <a:solidFill>
                  <a:srgbClr val="2E2E2E"/>
                </a:solidFill>
                <a:latin typeface="Calibri"/>
              </a:rPr>
              <a:t>▪ 'Savoury Muffins Flavours' is the fastest-growing flavour at</a:t>
            </a:r>
          </a:p>
        </p:txBody>
      </p:sp>
      <p:pic>
        <p:nvPicPr>
          <p:cNvPr id="39" name="Picture 38" descr="lock.png"/>
          <p:cNvPicPr>
            <a:picLocks noChangeAspect="1"/>
          </p:cNvPicPr>
          <p:nvPr/>
        </p:nvPicPr>
        <p:blipFill>
          <a:blip r:embed="rId5"/>
          <a:stretch>
            <a:fillRect/>
          </a:stretch>
        </p:blipFill>
        <p:spPr>
          <a:xfrm>
            <a:off x="11417439"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AD4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Flavour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Flavour,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Flavour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742948"/>
        </p:xfrm>
        <a:graphic>
          <a:graphicData uri="http://schemas.openxmlformats.org/drawingml/2006/table">
            <a:tbl>
              <a:tblPr>
                <a:tableStyleId>{5C22544A-7EE6-4342-B048-85BDC9FD1C3A}</a:tableStyleId>
              </a:tblPr>
              <a:tblGrid>
                <a:gridCol w="1919597"/>
                <a:gridCol w="664507"/>
                <a:gridCol w="664507"/>
                <a:gridCol w="664507"/>
                <a:gridCol w="664507"/>
                <a:gridCol w="664507"/>
                <a:gridCol w="664507"/>
                <a:gridCol w="664507"/>
                <a:gridCol w="664507"/>
                <a:gridCol w="664507"/>
                <a:gridCol w="664507"/>
                <a:gridCol w="664507"/>
                <a:gridCol w="664507"/>
                <a:gridCol w="664507"/>
                <a:gridCol w="664507"/>
                <a:gridCol w="664507"/>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Sweet Muffins Flavours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Savoury Muffins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Flavour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Sweet Muffins Flavours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Savoury Muffins Flavours</a:t>
            </a:r>
          </a:p>
        </p:txBody>
      </p:sp>
      <p:sp>
        <p:nvSpPr>
          <p:cNvPr id="49" name="Rectangle 48"/>
          <p:cNvSpPr/>
          <p:nvPr/>
        </p:nvSpPr>
        <p:spPr>
          <a:xfrm>
            <a:off x="1857375" y="4662488"/>
            <a:ext cx="643890" cy="190976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71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887778" y="1482090"/>
            <a:ext cx="330041" cy="480060"/>
          </a:xfrm>
          <a:prstGeom prst="rect">
            <a:avLst/>
          </a:prstGeom>
        </p:spPr>
      </p:pic>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Primary Flour Base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Primary Flour Base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Rice-based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Oat-based</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Wheat-based</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Corn-based</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Primary Flour Base split shows how demand is distributed across primary flour base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073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_965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6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02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3_87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6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1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99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92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70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10718" cy="186689"/>
          </a:xfrm>
          <a:prstGeom prst="rect">
            <a:avLst/>
          </a:prstGeom>
          <a:noFill/>
        </p:spPr>
        <p:txBody>
          <a:bodyPr wrap="none" lIns="0" rIns="0" tIns="0" bIns="0">
            <a:spAutoFit/>
          </a:bodyPr>
          <a:lstStyle/>
          <a:p>
            <a:r>
              <a:rPr sz="1100" b="0">
                <a:solidFill>
                  <a:srgbClr val="2E2E2E"/>
                </a:solidFill>
                <a:latin typeface="Calibri"/>
              </a:rPr>
              <a:t>▪ 'Rice-based' holds the largest share in 2026</a:t>
            </a:r>
          </a:p>
        </p:txBody>
      </p:sp>
      <p:pic>
        <p:nvPicPr>
          <p:cNvPr id="81" name="Picture 80" descr="lock.png"/>
          <p:cNvPicPr>
            <a:picLocks noChangeAspect="1"/>
          </p:cNvPicPr>
          <p:nvPr/>
        </p:nvPicPr>
        <p:blipFill>
          <a:blip r:embed="rId16"/>
          <a:stretch>
            <a:fillRect/>
          </a:stretch>
        </p:blipFill>
        <p:spPr>
          <a:xfrm>
            <a:off x="3044544"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'Millet-based'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868290" cy="186689"/>
          </a:xfrm>
          <a:prstGeom prst="rect">
            <a:avLst/>
          </a:prstGeom>
          <a:noFill/>
        </p:spPr>
        <p:txBody>
          <a:bodyPr wrap="none" lIns="0" rIns="0" tIns="0" bIns="0">
            <a:spAutoFit/>
          </a:bodyPr>
          <a:lstStyle/>
          <a:p>
            <a:r>
              <a:rPr sz="1100" b="0">
                <a:solidFill>
                  <a:srgbClr val="2E2E2E"/>
                </a:solidFill>
                <a:latin typeface="Calibri"/>
              </a:rPr>
              <a:t>▪ 8 sub-segments make up the primary flour base</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47005" cy="186689"/>
          </a:xfrm>
          <a:prstGeom prst="rect">
            <a:avLst/>
          </a:prstGeom>
          <a:noFill/>
        </p:spPr>
        <p:txBody>
          <a:bodyPr wrap="none" lIns="0" rIns="0" tIns="0" bIns="0">
            <a:spAutoFit/>
          </a:bodyPr>
          <a:lstStyle/>
          <a:p>
            <a:r>
              <a:rPr sz="1100" b="0">
                <a:solidFill>
                  <a:srgbClr val="2E2E2E"/>
                </a:solidFill>
                <a:latin typeface="Calibri"/>
              </a:rPr>
              <a:t>● Rice-based:</a:t>
            </a:r>
          </a:p>
        </p:txBody>
      </p:sp>
      <p:pic>
        <p:nvPicPr>
          <p:cNvPr id="96" name="Picture 95" descr="lock.png"/>
          <p:cNvPicPr>
            <a:picLocks noChangeAspect="1"/>
          </p:cNvPicPr>
          <p:nvPr/>
        </p:nvPicPr>
        <p:blipFill>
          <a:blip r:embed="rId16"/>
          <a:stretch>
            <a:fillRect/>
          </a:stretch>
        </p:blipFill>
        <p:spPr>
          <a:xfrm>
            <a:off x="4633632" y="4219658"/>
            <a:ext cx="128699" cy="187198"/>
          </a:xfrm>
          <a:prstGeom prst="rect">
            <a:avLst/>
          </a:prstGeom>
        </p:spPr>
      </p:pic>
      <p:sp>
        <p:nvSpPr>
          <p:cNvPr id="97" name="TextBox 96"/>
          <p:cNvSpPr txBox="1"/>
          <p:nvPr/>
        </p:nvSpPr>
        <p:spPr>
          <a:xfrm>
            <a:off x="480112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660578" y="4219658"/>
            <a:ext cx="128699" cy="187198"/>
          </a:xfrm>
          <a:prstGeom prst="rect">
            <a:avLst/>
          </a:prstGeom>
        </p:spPr>
      </p:pic>
      <p:sp>
        <p:nvSpPr>
          <p:cNvPr id="99" name="TextBox 98"/>
          <p:cNvSpPr txBox="1"/>
          <p:nvPr/>
        </p:nvSpPr>
        <p:spPr>
          <a:xfrm>
            <a:off x="582807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816446" cy="186689"/>
          </a:xfrm>
          <a:prstGeom prst="rect">
            <a:avLst/>
          </a:prstGeom>
          <a:noFill/>
        </p:spPr>
        <p:txBody>
          <a:bodyPr wrap="none" lIns="0" rIns="0" tIns="0" bIns="0">
            <a:spAutoFit/>
          </a:bodyPr>
          <a:lstStyle/>
          <a:p>
            <a:r>
              <a:rPr sz="1100" b="0">
                <a:solidFill>
                  <a:srgbClr val="2E2E2E"/>
                </a:solidFill>
                <a:latin typeface="Calibri"/>
              </a:rPr>
              <a:t>● Oat-based:</a:t>
            </a:r>
          </a:p>
        </p:txBody>
      </p:sp>
      <p:pic>
        <p:nvPicPr>
          <p:cNvPr id="101" name="Picture 100" descr="lock.png"/>
          <p:cNvPicPr>
            <a:picLocks noChangeAspect="1"/>
          </p:cNvPicPr>
          <p:nvPr/>
        </p:nvPicPr>
        <p:blipFill>
          <a:blip r:embed="rId16"/>
          <a:stretch>
            <a:fillRect/>
          </a:stretch>
        </p:blipFill>
        <p:spPr>
          <a:xfrm>
            <a:off x="4603072" y="4437590"/>
            <a:ext cx="128699" cy="187198"/>
          </a:xfrm>
          <a:prstGeom prst="rect">
            <a:avLst/>
          </a:prstGeom>
        </p:spPr>
      </p:pic>
      <p:sp>
        <p:nvSpPr>
          <p:cNvPr id="102" name="TextBox 101"/>
          <p:cNvSpPr txBox="1"/>
          <p:nvPr/>
        </p:nvSpPr>
        <p:spPr>
          <a:xfrm>
            <a:off x="477056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5630018" y="4437590"/>
            <a:ext cx="128699" cy="187198"/>
          </a:xfrm>
          <a:prstGeom prst="rect">
            <a:avLst/>
          </a:prstGeom>
        </p:spPr>
      </p:pic>
      <p:sp>
        <p:nvSpPr>
          <p:cNvPr id="104" name="TextBox 103"/>
          <p:cNvSpPr txBox="1"/>
          <p:nvPr/>
        </p:nvSpPr>
        <p:spPr>
          <a:xfrm>
            <a:off x="5797514"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91344" cy="186689"/>
          </a:xfrm>
          <a:prstGeom prst="rect">
            <a:avLst/>
          </a:prstGeom>
          <a:noFill/>
        </p:spPr>
        <p:txBody>
          <a:bodyPr wrap="none" lIns="0" rIns="0" tIns="0" bIns="0">
            <a:spAutoFit/>
          </a:bodyPr>
          <a:lstStyle/>
          <a:p>
            <a:r>
              <a:rPr sz="1100" b="0">
                <a:solidFill>
                  <a:srgbClr val="2E2E2E"/>
                </a:solidFill>
                <a:latin typeface="Calibri"/>
              </a:rPr>
              <a:t>● Wheat-based:</a:t>
            </a:r>
          </a:p>
        </p:txBody>
      </p:sp>
      <p:pic>
        <p:nvPicPr>
          <p:cNvPr id="106" name="Picture 105" descr="lock.png"/>
          <p:cNvPicPr>
            <a:picLocks noChangeAspect="1"/>
          </p:cNvPicPr>
          <p:nvPr/>
        </p:nvPicPr>
        <p:blipFill>
          <a:blip r:embed="rId16"/>
          <a:stretch>
            <a:fillRect/>
          </a:stretch>
        </p:blipFill>
        <p:spPr>
          <a:xfrm>
            <a:off x="4777970" y="4655522"/>
            <a:ext cx="128699" cy="187198"/>
          </a:xfrm>
          <a:prstGeom prst="rect">
            <a:avLst/>
          </a:prstGeom>
        </p:spPr>
      </p:pic>
      <p:sp>
        <p:nvSpPr>
          <p:cNvPr id="107" name="TextBox 106"/>
          <p:cNvSpPr txBox="1"/>
          <p:nvPr/>
        </p:nvSpPr>
        <p:spPr>
          <a:xfrm>
            <a:off x="494546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04916" y="4655522"/>
            <a:ext cx="128699" cy="187198"/>
          </a:xfrm>
          <a:prstGeom prst="rect">
            <a:avLst/>
          </a:prstGeom>
        </p:spPr>
      </p:pic>
      <p:sp>
        <p:nvSpPr>
          <p:cNvPr id="109" name="TextBox 108"/>
          <p:cNvSpPr txBox="1"/>
          <p:nvPr/>
        </p:nvSpPr>
        <p:spPr>
          <a:xfrm>
            <a:off x="5972412"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880566" cy="186689"/>
          </a:xfrm>
          <a:prstGeom prst="rect">
            <a:avLst/>
          </a:prstGeom>
          <a:noFill/>
        </p:spPr>
        <p:txBody>
          <a:bodyPr wrap="none" lIns="0" rIns="0" tIns="0" bIns="0">
            <a:spAutoFit/>
          </a:bodyPr>
          <a:lstStyle/>
          <a:p>
            <a:r>
              <a:rPr sz="1100" b="0">
                <a:solidFill>
                  <a:srgbClr val="2E2E2E"/>
                </a:solidFill>
                <a:latin typeface="Calibri"/>
              </a:rPr>
              <a:t>● Corn-based:</a:t>
            </a:r>
          </a:p>
        </p:txBody>
      </p:sp>
      <p:pic>
        <p:nvPicPr>
          <p:cNvPr id="111" name="Picture 110" descr="lock.png"/>
          <p:cNvPicPr>
            <a:picLocks noChangeAspect="1"/>
          </p:cNvPicPr>
          <p:nvPr/>
        </p:nvPicPr>
        <p:blipFill>
          <a:blip r:embed="rId16"/>
          <a:stretch>
            <a:fillRect/>
          </a:stretch>
        </p:blipFill>
        <p:spPr>
          <a:xfrm>
            <a:off x="4667193" y="4873454"/>
            <a:ext cx="128699" cy="187198"/>
          </a:xfrm>
          <a:prstGeom prst="rect">
            <a:avLst/>
          </a:prstGeom>
        </p:spPr>
      </p:pic>
      <p:sp>
        <p:nvSpPr>
          <p:cNvPr id="112" name="TextBox 111"/>
          <p:cNvSpPr txBox="1"/>
          <p:nvPr/>
        </p:nvSpPr>
        <p:spPr>
          <a:xfrm>
            <a:off x="483468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694139" y="4873454"/>
            <a:ext cx="128699" cy="187198"/>
          </a:xfrm>
          <a:prstGeom prst="rect">
            <a:avLst/>
          </a:prstGeom>
        </p:spPr>
      </p:pic>
      <p:sp>
        <p:nvSpPr>
          <p:cNvPr id="114" name="TextBox 113"/>
          <p:cNvSpPr txBox="1"/>
          <p:nvPr/>
        </p:nvSpPr>
        <p:spPr>
          <a:xfrm>
            <a:off x="586163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2937867" cy="194310"/>
          </a:xfrm>
          <a:prstGeom prst="rect">
            <a:avLst/>
          </a:prstGeom>
          <a:noFill/>
        </p:spPr>
        <p:txBody>
          <a:bodyPr wrap="none" lIns="0" rIns="0" tIns="0" bIns="0">
            <a:spAutoFit/>
          </a:bodyPr>
          <a:lstStyle/>
          <a:p>
            <a:r>
              <a:rPr sz="1150" b="1">
                <a:solidFill>
                  <a:srgbClr val="0B2E4A"/>
                </a:solidFill>
                <a:latin typeface="Calibri"/>
              </a:rPr>
              <a:t>The Primary Flour Base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Primary Flour Base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Primary Flour Base,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Primary Flour Base segment categorizes the market by primary flour base.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single-flour bases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291226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4395788"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Multigrain and blended flour bases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544115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6924675"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Millet-based</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7970044"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9453562"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Almond and other nut flour-based</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46" name="Oval 45"/>
          <p:cNvSpPr/>
          <p:nvPr/>
        </p:nvSpPr>
        <p:spPr>
          <a:xfrm>
            <a:off x="10498931"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1_318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2_297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5_7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831_0_605E5C.png"/>
          <p:cNvPicPr>
            <a:picLocks noChangeAspect="1"/>
          </p:cNvPicPr>
          <p:nvPr/>
        </p:nvPicPr>
        <p:blipFill>
          <a:blip r:embed="rId7"/>
          <a:stretch>
            <a:fillRect/>
          </a:stretch>
        </p:blipFill>
        <p:spPr>
          <a:xfrm>
            <a:off x="5005218" y="2286582"/>
            <a:ext cx="1195728" cy="361950"/>
          </a:xfrm>
          <a:prstGeom prst="rect">
            <a:avLst/>
          </a:prstGeom>
        </p:spPr>
      </p:pic>
      <p:pic>
        <p:nvPicPr>
          <p:cNvPr id="57" name="Picture 56" descr="984_0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1_7__605E5C.png"/>
          <p:cNvPicPr>
            <a:picLocks noChangeAspect="1"/>
          </p:cNvPicPr>
          <p:nvPr/>
        </p:nvPicPr>
        <p:blipFill>
          <a:blip r:embed="rId9"/>
          <a:stretch>
            <a:fillRect/>
          </a:stretch>
        </p:blipFill>
        <p:spPr>
          <a:xfrm>
            <a:off x="5111864" y="3272281"/>
            <a:ext cx="982436" cy="361950"/>
          </a:xfrm>
          <a:prstGeom prst="rect">
            <a:avLst/>
          </a:prstGeom>
        </p:spPr>
      </p:pic>
      <p:pic>
        <p:nvPicPr>
          <p:cNvPr id="59" name="Picture 58" descr="744_5_605E5C.png"/>
          <p:cNvPicPr>
            <a:picLocks noChangeAspect="1"/>
          </p:cNvPicPr>
          <p:nvPr/>
        </p:nvPicPr>
        <p:blipFill>
          <a:blip r:embed="rId10"/>
          <a:stretch>
            <a:fillRect/>
          </a:stretch>
        </p:blipFill>
        <p:spPr>
          <a:xfrm>
            <a:off x="7534105" y="2286582"/>
            <a:ext cx="1195728" cy="361950"/>
          </a:xfrm>
          <a:prstGeom prst="rect">
            <a:avLst/>
          </a:prstGeom>
        </p:spPr>
      </p:pic>
      <p:pic>
        <p:nvPicPr>
          <p:cNvPr id="60" name="Picture 59" descr="1_437_605E5C.png"/>
          <p:cNvPicPr>
            <a:picLocks noChangeAspect="1"/>
          </p:cNvPicPr>
          <p:nvPr/>
        </p:nvPicPr>
        <p:blipFill>
          <a:blip r:embed="rId11"/>
          <a:stretch>
            <a:fillRect/>
          </a:stretch>
        </p:blipFill>
        <p:spPr>
          <a:xfrm>
            <a:off x="7534105" y="2779432"/>
            <a:ext cx="1195728" cy="361950"/>
          </a:xfrm>
          <a:prstGeom prst="rect">
            <a:avLst/>
          </a:prstGeom>
        </p:spPr>
      </p:pic>
      <p:pic>
        <p:nvPicPr>
          <p:cNvPr id="61" name="Picture 60" descr="6_8__605E5C.png"/>
          <p:cNvPicPr>
            <a:picLocks noChangeAspect="1"/>
          </p:cNvPicPr>
          <p:nvPr/>
        </p:nvPicPr>
        <p:blipFill>
          <a:blip r:embed="rId12"/>
          <a:stretch>
            <a:fillRect/>
          </a:stretch>
        </p:blipFill>
        <p:spPr>
          <a:xfrm>
            <a:off x="7640751" y="3272281"/>
            <a:ext cx="982436" cy="361950"/>
          </a:xfrm>
          <a:prstGeom prst="rect">
            <a:avLst/>
          </a:prstGeom>
        </p:spPr>
      </p:pic>
      <p:pic>
        <p:nvPicPr>
          <p:cNvPr id="62" name="Picture 61" descr="295_9_605E5C.png"/>
          <p:cNvPicPr>
            <a:picLocks noChangeAspect="1"/>
          </p:cNvPicPr>
          <p:nvPr/>
        </p:nvPicPr>
        <p:blipFill>
          <a:blip r:embed="rId13"/>
          <a:stretch>
            <a:fillRect/>
          </a:stretch>
        </p:blipFill>
        <p:spPr>
          <a:xfrm>
            <a:off x="10062992" y="2286582"/>
            <a:ext cx="1195728" cy="361950"/>
          </a:xfrm>
          <a:prstGeom prst="rect">
            <a:avLst/>
          </a:prstGeom>
        </p:spPr>
      </p:pic>
      <p:pic>
        <p:nvPicPr>
          <p:cNvPr id="63" name="Picture 62" descr="488_5_605E5C.png"/>
          <p:cNvPicPr>
            <a:picLocks noChangeAspect="1"/>
          </p:cNvPicPr>
          <p:nvPr/>
        </p:nvPicPr>
        <p:blipFill>
          <a:blip r:embed="rId14"/>
          <a:stretch>
            <a:fillRect/>
          </a:stretch>
        </p:blipFill>
        <p:spPr>
          <a:xfrm>
            <a:off x="10062992" y="2779432"/>
            <a:ext cx="1195728" cy="361950"/>
          </a:xfrm>
          <a:prstGeom prst="rect">
            <a:avLst/>
          </a:prstGeom>
        </p:spPr>
      </p:pic>
      <p:pic>
        <p:nvPicPr>
          <p:cNvPr id="64" name="Picture 63" descr="5_1__605E5C.png"/>
          <p:cNvPicPr>
            <a:picLocks noChangeAspect="1"/>
          </p:cNvPicPr>
          <p:nvPr/>
        </p:nvPicPr>
        <p:blipFill>
          <a:blip r:embed="rId15"/>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6"/>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6"/>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6"/>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6"/>
          <a:stretch>
            <a:fillRect/>
          </a:stretch>
        </p:blipFill>
        <p:spPr>
          <a:xfrm>
            <a:off x="10567511" y="2827057"/>
            <a:ext cx="183356" cy="266700"/>
          </a:xfrm>
          <a:prstGeom prst="rect">
            <a:avLst/>
          </a:prstGeom>
        </p:spPr>
      </p:pic>
      <p:sp>
        <p:nvSpPr>
          <p:cNvPr id="69" name="TextBox 68"/>
          <p:cNvSpPr txBox="1"/>
          <p:nvPr/>
        </p:nvSpPr>
        <p:spPr>
          <a:xfrm>
            <a:off x="485775" y="4229437"/>
            <a:ext cx="1584250" cy="186689"/>
          </a:xfrm>
          <a:prstGeom prst="rect">
            <a:avLst/>
          </a:prstGeom>
          <a:noFill/>
        </p:spPr>
        <p:txBody>
          <a:bodyPr wrap="none" lIns="0" rIns="0" tIns="0" bIns="0">
            <a:spAutoFit/>
          </a:bodyPr>
          <a:lstStyle/>
          <a:p>
            <a:r>
              <a:rPr sz="1100" b="0">
                <a:solidFill>
                  <a:srgbClr val="2E2E2E"/>
                </a:solidFill>
                <a:latin typeface="Calibri"/>
              </a:rPr>
              <a:t>● Other single-flour bases:</a:t>
            </a:r>
          </a:p>
        </p:txBody>
      </p:sp>
      <p:pic>
        <p:nvPicPr>
          <p:cNvPr id="70" name="Picture 69" descr="lock.png"/>
          <p:cNvPicPr>
            <a:picLocks noChangeAspect="1"/>
          </p:cNvPicPr>
          <p:nvPr/>
        </p:nvPicPr>
        <p:blipFill>
          <a:blip r:embed="rId16"/>
          <a:stretch>
            <a:fillRect/>
          </a:stretch>
        </p:blipFill>
        <p:spPr>
          <a:xfrm>
            <a:off x="2018077" y="4219658"/>
            <a:ext cx="128699" cy="187198"/>
          </a:xfrm>
          <a:prstGeom prst="rect">
            <a:avLst/>
          </a:prstGeom>
        </p:spPr>
      </p:pic>
      <p:sp>
        <p:nvSpPr>
          <p:cNvPr id="71" name="TextBox 70"/>
          <p:cNvSpPr txBox="1"/>
          <p:nvPr/>
        </p:nvSpPr>
        <p:spPr>
          <a:xfrm>
            <a:off x="218557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6"/>
          <a:stretch>
            <a:fillRect/>
          </a:stretch>
        </p:blipFill>
        <p:spPr>
          <a:xfrm>
            <a:off x="3045023" y="4219658"/>
            <a:ext cx="128699" cy="187198"/>
          </a:xfrm>
          <a:prstGeom prst="rect">
            <a:avLst/>
          </a:prstGeom>
        </p:spPr>
      </p:pic>
      <p:sp>
        <p:nvSpPr>
          <p:cNvPr id="73" name="TextBox 72"/>
          <p:cNvSpPr txBox="1"/>
          <p:nvPr/>
        </p:nvSpPr>
        <p:spPr>
          <a:xfrm>
            <a:off x="321251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2215629" cy="186689"/>
          </a:xfrm>
          <a:prstGeom prst="rect">
            <a:avLst/>
          </a:prstGeom>
          <a:noFill/>
        </p:spPr>
        <p:txBody>
          <a:bodyPr wrap="none" lIns="0" rIns="0" tIns="0" bIns="0">
            <a:spAutoFit/>
          </a:bodyPr>
          <a:lstStyle/>
          <a:p>
            <a:r>
              <a:rPr sz="1100" b="0">
                <a:solidFill>
                  <a:srgbClr val="2E2E2E"/>
                </a:solidFill>
                <a:latin typeface="Calibri"/>
              </a:rPr>
              <a:t>● Multigrain and blended flour bases:</a:t>
            </a:r>
          </a:p>
        </p:txBody>
      </p:sp>
      <p:pic>
        <p:nvPicPr>
          <p:cNvPr id="75" name="Picture 74" descr="lock.png"/>
          <p:cNvPicPr>
            <a:picLocks noChangeAspect="1"/>
          </p:cNvPicPr>
          <p:nvPr/>
        </p:nvPicPr>
        <p:blipFill>
          <a:blip r:embed="rId16"/>
          <a:stretch>
            <a:fillRect/>
          </a:stretch>
        </p:blipFill>
        <p:spPr>
          <a:xfrm>
            <a:off x="2649455" y="4437590"/>
            <a:ext cx="128699" cy="187198"/>
          </a:xfrm>
          <a:prstGeom prst="rect">
            <a:avLst/>
          </a:prstGeom>
        </p:spPr>
      </p:pic>
      <p:sp>
        <p:nvSpPr>
          <p:cNvPr id="76" name="TextBox 75"/>
          <p:cNvSpPr txBox="1"/>
          <p:nvPr/>
        </p:nvSpPr>
        <p:spPr>
          <a:xfrm>
            <a:off x="2816951"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6"/>
          <a:stretch>
            <a:fillRect/>
          </a:stretch>
        </p:blipFill>
        <p:spPr>
          <a:xfrm>
            <a:off x="3676401" y="4437590"/>
            <a:ext cx="128699" cy="187198"/>
          </a:xfrm>
          <a:prstGeom prst="rect">
            <a:avLst/>
          </a:prstGeom>
        </p:spPr>
      </p:pic>
      <p:sp>
        <p:nvSpPr>
          <p:cNvPr id="78" name="TextBox 77"/>
          <p:cNvSpPr txBox="1"/>
          <p:nvPr/>
        </p:nvSpPr>
        <p:spPr>
          <a:xfrm>
            <a:off x="3843897"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942776" cy="186689"/>
          </a:xfrm>
          <a:prstGeom prst="rect">
            <a:avLst/>
          </a:prstGeom>
          <a:noFill/>
        </p:spPr>
        <p:txBody>
          <a:bodyPr wrap="none" lIns="0" rIns="0" tIns="0" bIns="0">
            <a:spAutoFit/>
          </a:bodyPr>
          <a:lstStyle/>
          <a:p>
            <a:r>
              <a:rPr sz="1100" b="0">
                <a:solidFill>
                  <a:srgbClr val="2E2E2E"/>
                </a:solidFill>
                <a:latin typeface="Calibri"/>
              </a:rPr>
              <a:t>● Millet-based:</a:t>
            </a:r>
          </a:p>
        </p:txBody>
      </p:sp>
      <p:pic>
        <p:nvPicPr>
          <p:cNvPr id="80" name="Picture 79" descr="lock.png"/>
          <p:cNvPicPr>
            <a:picLocks noChangeAspect="1"/>
          </p:cNvPicPr>
          <p:nvPr/>
        </p:nvPicPr>
        <p:blipFill>
          <a:blip r:embed="rId16"/>
          <a:stretch>
            <a:fillRect/>
          </a:stretch>
        </p:blipFill>
        <p:spPr>
          <a:xfrm>
            <a:off x="1376603" y="4655522"/>
            <a:ext cx="128699" cy="187198"/>
          </a:xfrm>
          <a:prstGeom prst="rect">
            <a:avLst/>
          </a:prstGeom>
        </p:spPr>
      </p:pic>
      <p:sp>
        <p:nvSpPr>
          <p:cNvPr id="81" name="TextBox 80"/>
          <p:cNvSpPr txBox="1"/>
          <p:nvPr/>
        </p:nvSpPr>
        <p:spPr>
          <a:xfrm>
            <a:off x="154409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6"/>
          <a:stretch>
            <a:fillRect/>
          </a:stretch>
        </p:blipFill>
        <p:spPr>
          <a:xfrm>
            <a:off x="2403549" y="4655522"/>
            <a:ext cx="128699" cy="187198"/>
          </a:xfrm>
          <a:prstGeom prst="rect">
            <a:avLst/>
          </a:prstGeom>
        </p:spPr>
      </p:pic>
      <p:sp>
        <p:nvSpPr>
          <p:cNvPr id="83" name="TextBox 82"/>
          <p:cNvSpPr txBox="1"/>
          <p:nvPr/>
        </p:nvSpPr>
        <p:spPr>
          <a:xfrm>
            <a:off x="2571045"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485775" y="4883233"/>
            <a:ext cx="2172245" cy="186689"/>
          </a:xfrm>
          <a:prstGeom prst="rect">
            <a:avLst/>
          </a:prstGeom>
          <a:noFill/>
        </p:spPr>
        <p:txBody>
          <a:bodyPr wrap="none" lIns="0" rIns="0" tIns="0" bIns="0">
            <a:spAutoFit/>
          </a:bodyPr>
          <a:lstStyle/>
          <a:p>
            <a:r>
              <a:rPr sz="1100" b="0">
                <a:solidFill>
                  <a:srgbClr val="2E2E2E"/>
                </a:solidFill>
                <a:latin typeface="Calibri"/>
              </a:rPr>
              <a:t>● Almond and other nut flour-based:</a:t>
            </a:r>
          </a:p>
        </p:txBody>
      </p:sp>
      <p:pic>
        <p:nvPicPr>
          <p:cNvPr id="85" name="Picture 84" descr="lock.png"/>
          <p:cNvPicPr>
            <a:picLocks noChangeAspect="1"/>
          </p:cNvPicPr>
          <p:nvPr/>
        </p:nvPicPr>
        <p:blipFill>
          <a:blip r:embed="rId16"/>
          <a:stretch>
            <a:fillRect/>
          </a:stretch>
        </p:blipFill>
        <p:spPr>
          <a:xfrm>
            <a:off x="2606072" y="4873454"/>
            <a:ext cx="128699" cy="187198"/>
          </a:xfrm>
          <a:prstGeom prst="rect">
            <a:avLst/>
          </a:prstGeom>
        </p:spPr>
      </p:pic>
      <p:sp>
        <p:nvSpPr>
          <p:cNvPr id="86" name="TextBox 85"/>
          <p:cNvSpPr txBox="1"/>
          <p:nvPr/>
        </p:nvSpPr>
        <p:spPr>
          <a:xfrm>
            <a:off x="2773568"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6"/>
          <a:stretch>
            <a:fillRect/>
          </a:stretch>
        </p:blipFill>
        <p:spPr>
          <a:xfrm>
            <a:off x="3633018" y="4873454"/>
            <a:ext cx="128699" cy="187198"/>
          </a:xfrm>
          <a:prstGeom prst="rect">
            <a:avLst/>
          </a:prstGeom>
        </p:spPr>
      </p:pic>
      <p:sp>
        <p:nvSpPr>
          <p:cNvPr id="88" name="TextBox 87"/>
          <p:cNvSpPr txBox="1"/>
          <p:nvPr/>
        </p:nvSpPr>
        <p:spPr>
          <a:xfrm>
            <a:off x="3800514"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Primary Flour Base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Primary Flour Base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Primary Flour Base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Primary Flour Base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21225" cy="186689"/>
          </a:xfrm>
          <a:prstGeom prst="rect">
            <a:avLst/>
          </a:prstGeom>
          <a:noFill/>
        </p:spPr>
        <p:txBody>
          <a:bodyPr wrap="none" lIns="0" rIns="0" tIns="0" bIns="0">
            <a:spAutoFit/>
          </a:bodyPr>
          <a:lstStyle/>
          <a:p>
            <a:r>
              <a:rPr sz="1100" b="0">
                <a:solidFill>
                  <a:srgbClr val="2E2E2E"/>
                </a:solidFill>
                <a:latin typeface="Calibri"/>
              </a:rPr>
              <a:t>Between 2026 and 2036, 'Oat-based' gains the most share in the Global market (+</a:t>
            </a:r>
          </a:p>
        </p:txBody>
      </p:sp>
      <p:pic>
        <p:nvPicPr>
          <p:cNvPr id="21" name="Picture 20" descr="lock.png"/>
          <p:cNvPicPr>
            <a:picLocks noChangeAspect="1"/>
          </p:cNvPicPr>
          <p:nvPr/>
        </p:nvPicPr>
        <p:blipFill>
          <a:blip r:embed="rId6"/>
          <a:stretch>
            <a:fillRect/>
          </a:stretch>
        </p:blipFill>
        <p:spPr>
          <a:xfrm>
            <a:off x="4926451" y="5935726"/>
            <a:ext cx="128699" cy="187198"/>
          </a:xfrm>
          <a:prstGeom prst="rect">
            <a:avLst/>
          </a:prstGeom>
        </p:spPr>
      </p:pic>
      <p:sp>
        <p:nvSpPr>
          <p:cNvPr id="22" name="TextBox 21"/>
          <p:cNvSpPr txBox="1"/>
          <p:nvPr/>
        </p:nvSpPr>
        <p:spPr>
          <a:xfrm>
            <a:off x="5093947" y="5945505"/>
            <a:ext cx="1738684" cy="186689"/>
          </a:xfrm>
          <a:prstGeom prst="rect">
            <a:avLst/>
          </a:prstGeom>
          <a:noFill/>
        </p:spPr>
        <p:txBody>
          <a:bodyPr wrap="none" lIns="0" rIns="0" tIns="0" bIns="0">
            <a:spAutoFit/>
          </a:bodyPr>
          <a:lstStyle/>
          <a:p>
            <a:r>
              <a:rPr sz="1100" b="0">
                <a:solidFill>
                  <a:srgbClr val="2E2E2E"/>
                </a:solidFill>
                <a:latin typeface="Calibri"/>
              </a:rPr>
              <a:t>BPS) while 'Rice-based' cedes</a:t>
            </a:r>
          </a:p>
        </p:txBody>
      </p:sp>
      <p:pic>
        <p:nvPicPr>
          <p:cNvPr id="23" name="Picture 22" descr="lock.png"/>
          <p:cNvPicPr>
            <a:picLocks noChangeAspect="1"/>
          </p:cNvPicPr>
          <p:nvPr/>
        </p:nvPicPr>
        <p:blipFill>
          <a:blip r:embed="rId6"/>
          <a:stretch>
            <a:fillRect/>
          </a:stretch>
        </p:blipFill>
        <p:spPr>
          <a:xfrm>
            <a:off x="6780683" y="5935726"/>
            <a:ext cx="128699" cy="187198"/>
          </a:xfrm>
          <a:prstGeom prst="rect">
            <a:avLst/>
          </a:prstGeom>
        </p:spPr>
      </p:pic>
      <p:sp>
        <p:nvSpPr>
          <p:cNvPr id="24" name="TextBox 23"/>
          <p:cNvSpPr txBox="1"/>
          <p:nvPr/>
        </p:nvSpPr>
        <p:spPr>
          <a:xfrm>
            <a:off x="6948179"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Flour Base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Wheat-based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Oat-based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Rice-based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Corn-based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Primary Flour Base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Primary Flour Base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Millet-based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Almond and other nut flour-based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single-flour bases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Multigrain and blended flour bases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Primary Flour Base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895725"/>
          </a:xfrm>
          <a:prstGeom prst="roundRect">
            <a:avLst>
              <a:gd name="adj" fmla="val 19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Primary Flour Base (MT)</a:t>
            </a:r>
          </a:p>
        </p:txBody>
      </p:sp>
      <p:graphicFrame>
        <p:nvGraphicFramePr>
          <p:cNvPr id="13" name="Table 12"/>
          <p:cNvGraphicFramePr>
            <a:graphicFrameLocks noGrp="1"/>
          </p:cNvGraphicFramePr>
          <p:nvPr/>
        </p:nvGraphicFramePr>
        <p:xfrm>
          <a:off x="152400" y="1238250"/>
          <a:ext cx="11887208" cy="342899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Primary Flour Base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49">
                <a:tc>
                  <a:txBody>
                    <a:bodyPr wrap="none"/>
                    <a:lstStyle/>
                    <a:p>
                      <a:pPr algn="l"/>
                      <a:r>
                        <a:rPr sz="1100" b="1">
                          <a:solidFill>
                            <a:srgbClr val="2E2E2E"/>
                          </a:solidFill>
                          <a:latin typeface="Calibri"/>
                        </a:rPr>
                        <a:t>Wheat-based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49">
                <a:tc>
                  <a:txBody>
                    <a:bodyPr wrap="none"/>
                    <a:lstStyle/>
                    <a:p>
                      <a:pPr algn="l"/>
                      <a:r>
                        <a:rPr sz="1100" b="1">
                          <a:solidFill>
                            <a:srgbClr val="2E2E2E"/>
                          </a:solidFill>
                          <a:latin typeface="Calibri"/>
                        </a:rPr>
                        <a:t>Oat-based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Rice-based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49">
                <a:tc>
                  <a:txBody>
                    <a:bodyPr wrap="none"/>
                    <a:lstStyle/>
                    <a:p>
                      <a:pPr algn="l"/>
                      <a:r>
                        <a:rPr sz="1100" b="1">
                          <a:solidFill>
                            <a:srgbClr val="2E2E2E"/>
                          </a:solidFill>
                          <a:latin typeface="Calibri"/>
                        </a:rPr>
                        <a:t>Corn-based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Millet-based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35">
                <a:tc>
                  <a:txBody>
                    <a:bodyPr wrap="none"/>
                    <a:lstStyle/>
                    <a:p>
                      <a:pPr algn="l"/>
                      <a:r>
                        <a:rPr sz="1100" b="1">
                          <a:solidFill>
                            <a:srgbClr val="2E2E2E"/>
                          </a:solidFill>
                          <a:latin typeface="Calibri"/>
                        </a:rPr>
                        <a:t>Almond and other</a:t>
                      </a:r>
                      <a:endParaRPr sz="1100"/>
                    </a:p>
                    <a:p>
                      <a:pPr algn="l"/>
                      <a:r>
                        <a:rPr sz="1100" b="1">
                          <a:solidFill>
                            <a:srgbClr val="2E2E2E"/>
                          </a:solidFill>
                          <a:latin typeface="Calibri"/>
                        </a:rPr>
                        <a:t>nut flour-based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335">
                <a:tc>
                  <a:txBody>
                    <a:bodyPr wrap="none"/>
                    <a:lstStyle/>
                    <a:p>
                      <a:pPr algn="l"/>
                      <a:r>
                        <a:rPr sz="1100" b="1">
                          <a:solidFill>
                            <a:srgbClr val="2E2E2E"/>
                          </a:solidFill>
                          <a:latin typeface="Calibri"/>
                        </a:rPr>
                        <a:t>Other single-flour</a:t>
                      </a:r>
                      <a:endParaRPr sz="1100"/>
                    </a:p>
                    <a:p>
                      <a:pPr algn="l"/>
                      <a:r>
                        <a:rPr sz="1100" b="1">
                          <a:solidFill>
                            <a:srgbClr val="2E2E2E"/>
                          </a:solidFill>
                          <a:latin typeface="Calibri"/>
                        </a:rPr>
                        <a:t>bases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21">
                <a:tc>
                  <a:txBody>
                    <a:bodyPr wrap="none"/>
                    <a:lstStyle/>
                    <a:p>
                      <a:pPr algn="l"/>
                      <a:r>
                        <a:rPr sz="1100" b="1">
                          <a:solidFill>
                            <a:srgbClr val="2E2E2E"/>
                          </a:solidFill>
                          <a:latin typeface="Calibri"/>
                        </a:rPr>
                        <a:t>Multigrain and</a:t>
                      </a:r>
                      <a:endParaRPr sz="1100"/>
                    </a:p>
                    <a:p>
                      <a:pPr algn="l"/>
                      <a:r>
                        <a:rPr sz="1100" b="1">
                          <a:solidFill>
                            <a:srgbClr val="2E2E2E"/>
                          </a:solidFill>
                          <a:latin typeface="Calibri"/>
                        </a:rPr>
                        <a:t>blended flour</a:t>
                      </a:r>
                      <a:endParaRPr sz="1100"/>
                    </a:p>
                    <a:p>
                      <a:pPr algn="l"/>
                      <a:r>
                        <a:rPr sz="1100" b="1">
                          <a:solidFill>
                            <a:srgbClr val="2E2E2E"/>
                          </a:solidFill>
                          <a:latin typeface="Calibri"/>
                        </a:rPr>
                        <a:t>bases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49">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6767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10150"/>
            <a:ext cx="11906250" cy="1619250"/>
          </a:xfrm>
          <a:prstGeom prst="roundRect">
            <a:avLst>
              <a:gd name="adj" fmla="val 47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0958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Primary Flour Base</a:t>
            </a:r>
          </a:p>
        </p:txBody>
      </p:sp>
      <p:sp>
        <p:nvSpPr>
          <p:cNvPr id="17" name="Rectangle 16"/>
          <p:cNvSpPr/>
          <p:nvPr/>
        </p:nvSpPr>
        <p:spPr>
          <a:xfrm>
            <a:off x="276225" y="53340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19725"/>
            <a:ext cx="11639550" cy="11334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905504"/>
            <a:ext cx="366712" cy="533400"/>
          </a:xfrm>
          <a:prstGeom prst="rect">
            <a:avLst/>
          </a:prstGeom>
        </p:spPr>
      </p:pic>
      <p:sp>
        <p:nvSpPr>
          <p:cNvPr id="21" name="TextBox 20"/>
          <p:cNvSpPr txBox="1"/>
          <p:nvPr/>
        </p:nvSpPr>
        <p:spPr>
          <a:xfrm>
            <a:off x="276225" y="5429250"/>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5419026"/>
            <a:ext cx="134549" cy="195707"/>
          </a:xfrm>
          <a:prstGeom prst="rect">
            <a:avLst/>
          </a:prstGeom>
        </p:spPr>
      </p:pic>
      <p:sp>
        <p:nvSpPr>
          <p:cNvPr id="23" name="TextBox 22"/>
          <p:cNvSpPr txBox="1"/>
          <p:nvPr/>
        </p:nvSpPr>
        <p:spPr>
          <a:xfrm>
            <a:off x="3306121" y="54292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35854" y="5419026"/>
            <a:ext cx="134549" cy="195707"/>
          </a:xfrm>
          <a:prstGeom prst="rect">
            <a:avLst/>
          </a:prstGeom>
        </p:spPr>
      </p:pic>
      <p:sp>
        <p:nvSpPr>
          <p:cNvPr id="25" name="TextBox 24"/>
          <p:cNvSpPr txBox="1"/>
          <p:nvPr/>
        </p:nvSpPr>
        <p:spPr>
          <a:xfrm>
            <a:off x="4510963" y="54292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657088"/>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5646864"/>
            <a:ext cx="134549" cy="195707"/>
          </a:xfrm>
          <a:prstGeom prst="rect">
            <a:avLst/>
          </a:prstGeom>
        </p:spPr>
      </p:pic>
      <p:sp>
        <p:nvSpPr>
          <p:cNvPr id="28" name="TextBox 27"/>
          <p:cNvSpPr txBox="1"/>
          <p:nvPr/>
        </p:nvSpPr>
        <p:spPr>
          <a:xfrm>
            <a:off x="2195342" y="56570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884925"/>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5874702"/>
            <a:ext cx="134549" cy="195707"/>
          </a:xfrm>
          <a:prstGeom prst="rect">
            <a:avLst/>
          </a:prstGeom>
        </p:spPr>
      </p:pic>
      <p:sp>
        <p:nvSpPr>
          <p:cNvPr id="31" name="TextBox 30"/>
          <p:cNvSpPr txBox="1"/>
          <p:nvPr/>
        </p:nvSpPr>
        <p:spPr>
          <a:xfrm>
            <a:off x="2572448" y="5884925"/>
            <a:ext cx="3560861" cy="194310"/>
          </a:xfrm>
          <a:prstGeom prst="rect">
            <a:avLst/>
          </a:prstGeom>
          <a:noFill/>
        </p:spPr>
        <p:txBody>
          <a:bodyPr wrap="none" lIns="0" rIns="0" tIns="0" bIns="0">
            <a:spAutoFit/>
          </a:bodyPr>
          <a:lstStyle/>
          <a:p>
            <a:r>
              <a:rPr sz="1150" b="0">
                <a:solidFill>
                  <a:srgbClr val="2E2E2E"/>
                </a:solidFill>
                <a:latin typeface="Calibri"/>
              </a:rPr>
              <a:t>BPS) and away from 'Multigrain and blended flour bases' (-</a:t>
            </a:r>
          </a:p>
        </p:txBody>
      </p:sp>
      <p:pic>
        <p:nvPicPr>
          <p:cNvPr id="32" name="Picture 31" descr="lock.png"/>
          <p:cNvPicPr>
            <a:picLocks noChangeAspect="1"/>
          </p:cNvPicPr>
          <p:nvPr/>
        </p:nvPicPr>
        <p:blipFill>
          <a:blip r:embed="rId4"/>
          <a:stretch>
            <a:fillRect/>
          </a:stretch>
        </p:blipFill>
        <p:spPr>
          <a:xfrm>
            <a:off x="6082464" y="5874702"/>
            <a:ext cx="134549" cy="195707"/>
          </a:xfrm>
          <a:prstGeom prst="rect">
            <a:avLst/>
          </a:prstGeom>
        </p:spPr>
      </p:pic>
      <p:sp>
        <p:nvSpPr>
          <p:cNvPr id="33" name="TextBox 32"/>
          <p:cNvSpPr txBox="1"/>
          <p:nvPr/>
        </p:nvSpPr>
        <p:spPr>
          <a:xfrm>
            <a:off x="6257573" y="58849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61127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6102540"/>
            <a:ext cx="134549" cy="195707"/>
          </a:xfrm>
          <a:prstGeom prst="rect">
            <a:avLst/>
          </a:prstGeom>
        </p:spPr>
      </p:pic>
      <p:sp>
        <p:nvSpPr>
          <p:cNvPr id="36" name="TextBox 35"/>
          <p:cNvSpPr txBox="1"/>
          <p:nvPr/>
        </p:nvSpPr>
        <p:spPr>
          <a:xfrm>
            <a:off x="1965143" y="61127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6102540"/>
            <a:ext cx="134549" cy="195707"/>
          </a:xfrm>
          <a:prstGeom prst="rect">
            <a:avLst/>
          </a:prstGeom>
        </p:spPr>
      </p:pic>
      <p:sp>
        <p:nvSpPr>
          <p:cNvPr id="38" name="TextBox 37"/>
          <p:cNvSpPr txBox="1"/>
          <p:nvPr/>
        </p:nvSpPr>
        <p:spPr>
          <a:xfrm>
            <a:off x="2291688" y="6112763"/>
            <a:ext cx="1470521" cy="194310"/>
          </a:xfrm>
          <a:prstGeom prst="rect">
            <a:avLst/>
          </a:prstGeom>
          <a:noFill/>
        </p:spPr>
        <p:txBody>
          <a:bodyPr wrap="none" lIns="0" rIns="0" tIns="0" bIns="0">
            <a:spAutoFit/>
          </a:bodyPr>
          <a:lstStyle/>
          <a:p>
            <a:r>
              <a:rPr sz="1150" b="0">
                <a:solidFill>
                  <a:srgbClr val="2E2E2E"/>
                </a:solidFill>
                <a:latin typeface="Calibri"/>
              </a:rPr>
              <a:t>MT across 8 categories.</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Primary Flour Base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Primary Flour Base,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Primary Flour Base (US$ Mn)</a:t>
            </a:r>
          </a:p>
        </p:txBody>
      </p:sp>
      <p:graphicFrame>
        <p:nvGraphicFramePr>
          <p:cNvPr id="13" name="Table 12"/>
          <p:cNvGraphicFramePr>
            <a:graphicFrameLocks noGrp="1"/>
          </p:cNvGraphicFramePr>
          <p:nvPr/>
        </p:nvGraphicFramePr>
        <p:xfrm>
          <a:off x="152400" y="1238250"/>
          <a:ext cx="11887196" cy="2466975"/>
        </p:xfrm>
        <a:graphic>
          <a:graphicData uri="http://schemas.openxmlformats.org/drawingml/2006/table">
            <a:tbl>
              <a:tblPr>
                <a:tableStyleId>{5C22544A-7EE6-4342-B048-85BDC9FD1C3A}</a:tableStyleId>
              </a:tblPr>
              <a:tblGrid>
                <a:gridCol w="2264040"/>
                <a:gridCol w="566068"/>
                <a:gridCol w="566068"/>
                <a:gridCol w="566068"/>
                <a:gridCol w="566068"/>
                <a:gridCol w="566068"/>
                <a:gridCol w="566068"/>
                <a:gridCol w="566068"/>
                <a:gridCol w="566068"/>
                <a:gridCol w="566068"/>
                <a:gridCol w="566068"/>
                <a:gridCol w="566068"/>
                <a:gridCol w="566068"/>
                <a:gridCol w="566068"/>
                <a:gridCol w="566068"/>
                <a:gridCol w="566068"/>
                <a:gridCol w="566068"/>
                <a:gridCol w="566068"/>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Primary Flour Base</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41327" y="2328100"/>
            <a:ext cx="366712" cy="533400"/>
          </a:xfrm>
          <a:prstGeom prst="rect">
            <a:avLst/>
          </a:prstGeom>
        </p:spPr>
      </p:pic>
      <p:sp>
        <p:nvSpPr>
          <p:cNvPr id="21" name="TextBox 20"/>
          <p:cNvSpPr txBox="1"/>
          <p:nvPr/>
        </p:nvSpPr>
        <p:spPr>
          <a:xfrm>
            <a:off x="276225" y="4467225"/>
            <a:ext cx="2905633" cy="194310"/>
          </a:xfrm>
          <a:prstGeom prst="rect">
            <a:avLst/>
          </a:prstGeom>
          <a:noFill/>
        </p:spPr>
        <p:txBody>
          <a:bodyPr wrap="none" lIns="0" rIns="0" tIns="0" bIns="0">
            <a:spAutoFit/>
          </a:bodyPr>
          <a:lstStyle/>
          <a:p>
            <a:r>
              <a:rPr sz="1150" b="0">
                <a:solidFill>
                  <a:srgbClr val="2E2E2E"/>
                </a:solidFill>
                <a:latin typeface="Calibri"/>
              </a:rPr>
              <a:t>▪ 'Oat-based' is the largest primary flour base at</a:t>
            </a:r>
          </a:p>
        </p:txBody>
      </p:sp>
      <p:pic>
        <p:nvPicPr>
          <p:cNvPr id="22" name="Picture 21" descr="lock.png"/>
          <p:cNvPicPr>
            <a:picLocks noChangeAspect="1"/>
          </p:cNvPicPr>
          <p:nvPr/>
        </p:nvPicPr>
        <p:blipFill>
          <a:blip r:embed="rId4"/>
          <a:stretch>
            <a:fillRect/>
          </a:stretch>
        </p:blipFill>
        <p:spPr>
          <a:xfrm>
            <a:off x="3131012" y="4457001"/>
            <a:ext cx="134549" cy="195707"/>
          </a:xfrm>
          <a:prstGeom prst="rect">
            <a:avLst/>
          </a:prstGeom>
        </p:spPr>
      </p:pic>
      <p:sp>
        <p:nvSpPr>
          <p:cNvPr id="23" name="TextBox 22"/>
          <p:cNvSpPr txBox="1"/>
          <p:nvPr/>
        </p:nvSpPr>
        <p:spPr>
          <a:xfrm>
            <a:off x="3306121" y="44672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12054" y="4457001"/>
            <a:ext cx="134549" cy="195707"/>
          </a:xfrm>
          <a:prstGeom prst="rect">
            <a:avLst/>
          </a:prstGeom>
        </p:spPr>
      </p:pic>
      <p:sp>
        <p:nvSpPr>
          <p:cNvPr id="25" name="TextBox 24"/>
          <p:cNvSpPr txBox="1"/>
          <p:nvPr/>
        </p:nvSpPr>
        <p:spPr>
          <a:xfrm>
            <a:off x="4387163" y="44672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695063"/>
            <a:ext cx="1794854" cy="194310"/>
          </a:xfrm>
          <a:prstGeom prst="rect">
            <a:avLst/>
          </a:prstGeom>
          <a:noFill/>
        </p:spPr>
        <p:txBody>
          <a:bodyPr wrap="none" lIns="0" rIns="0" tIns="0" bIns="0">
            <a:spAutoFit/>
          </a:bodyPr>
          <a:lstStyle/>
          <a:p>
            <a:r>
              <a:rPr sz="1150" b="0">
                <a:solidFill>
                  <a:srgbClr val="2E2E2E"/>
                </a:solidFill>
                <a:latin typeface="Calibri"/>
              </a:rPr>
              <a:t>▪ 'Millet-based' grows fastest</a:t>
            </a:r>
          </a:p>
        </p:txBody>
      </p:sp>
      <p:pic>
        <p:nvPicPr>
          <p:cNvPr id="27" name="Picture 26" descr="lock.png"/>
          <p:cNvPicPr>
            <a:picLocks noChangeAspect="1"/>
          </p:cNvPicPr>
          <p:nvPr/>
        </p:nvPicPr>
        <p:blipFill>
          <a:blip r:embed="rId4"/>
          <a:stretch>
            <a:fillRect/>
          </a:stretch>
        </p:blipFill>
        <p:spPr>
          <a:xfrm>
            <a:off x="2020233" y="4684839"/>
            <a:ext cx="134549" cy="195707"/>
          </a:xfrm>
          <a:prstGeom prst="rect">
            <a:avLst/>
          </a:prstGeom>
        </p:spPr>
      </p:pic>
      <p:sp>
        <p:nvSpPr>
          <p:cNvPr id="28" name="TextBox 27"/>
          <p:cNvSpPr txBox="1"/>
          <p:nvPr/>
        </p:nvSpPr>
        <p:spPr>
          <a:xfrm>
            <a:off x="2195342" y="46950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22900"/>
            <a:ext cx="2171960" cy="194310"/>
          </a:xfrm>
          <a:prstGeom prst="rect">
            <a:avLst/>
          </a:prstGeom>
          <a:noFill/>
        </p:spPr>
        <p:txBody>
          <a:bodyPr wrap="none" lIns="0" rIns="0" tIns="0" bIns="0">
            <a:spAutoFit/>
          </a:bodyPr>
          <a:lstStyle/>
          <a:p>
            <a:r>
              <a:rPr sz="1150" b="0">
                <a:solidFill>
                  <a:srgbClr val="2E2E2E"/>
                </a:solidFill>
                <a:latin typeface="Calibri"/>
              </a:rPr>
              <a:t>▪ Share shifts toward 'Oat-based' (+</a:t>
            </a:r>
          </a:p>
        </p:txBody>
      </p:sp>
      <p:pic>
        <p:nvPicPr>
          <p:cNvPr id="30" name="Picture 29" descr="lock.png"/>
          <p:cNvPicPr>
            <a:picLocks noChangeAspect="1"/>
          </p:cNvPicPr>
          <p:nvPr/>
        </p:nvPicPr>
        <p:blipFill>
          <a:blip r:embed="rId4"/>
          <a:stretch>
            <a:fillRect/>
          </a:stretch>
        </p:blipFill>
        <p:spPr>
          <a:xfrm>
            <a:off x="2397339" y="4912677"/>
            <a:ext cx="134549" cy="195707"/>
          </a:xfrm>
          <a:prstGeom prst="rect">
            <a:avLst/>
          </a:prstGeom>
        </p:spPr>
      </p:pic>
      <p:sp>
        <p:nvSpPr>
          <p:cNvPr id="31" name="TextBox 30"/>
          <p:cNvSpPr txBox="1"/>
          <p:nvPr/>
        </p:nvSpPr>
        <p:spPr>
          <a:xfrm>
            <a:off x="2572448" y="4922900"/>
            <a:ext cx="2130028" cy="194310"/>
          </a:xfrm>
          <a:prstGeom prst="rect">
            <a:avLst/>
          </a:prstGeom>
          <a:noFill/>
        </p:spPr>
        <p:txBody>
          <a:bodyPr wrap="none" lIns="0" rIns="0" tIns="0" bIns="0">
            <a:spAutoFit/>
          </a:bodyPr>
          <a:lstStyle/>
          <a:p>
            <a:r>
              <a:rPr sz="1150" b="0">
                <a:solidFill>
                  <a:srgbClr val="2E2E2E"/>
                </a:solidFill>
                <a:latin typeface="Calibri"/>
              </a:rPr>
              <a:t>BPS) and away from 'Rice-based' (-</a:t>
            </a:r>
          </a:p>
        </p:txBody>
      </p:sp>
      <p:pic>
        <p:nvPicPr>
          <p:cNvPr id="32" name="Picture 31" descr="lock.png"/>
          <p:cNvPicPr>
            <a:picLocks noChangeAspect="1"/>
          </p:cNvPicPr>
          <p:nvPr/>
        </p:nvPicPr>
        <p:blipFill>
          <a:blip r:embed="rId4"/>
          <a:stretch>
            <a:fillRect/>
          </a:stretch>
        </p:blipFill>
        <p:spPr>
          <a:xfrm>
            <a:off x="4651630" y="4912677"/>
            <a:ext cx="134549" cy="195707"/>
          </a:xfrm>
          <a:prstGeom prst="rect">
            <a:avLst/>
          </a:prstGeom>
        </p:spPr>
      </p:pic>
      <p:sp>
        <p:nvSpPr>
          <p:cNvPr id="33" name="TextBox 32"/>
          <p:cNvSpPr txBox="1"/>
          <p:nvPr/>
        </p:nvSpPr>
        <p:spPr>
          <a:xfrm>
            <a:off x="4826739" y="49229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507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5140515"/>
            <a:ext cx="134549" cy="195707"/>
          </a:xfrm>
          <a:prstGeom prst="rect">
            <a:avLst/>
          </a:prstGeom>
        </p:spPr>
      </p:pic>
      <p:sp>
        <p:nvSpPr>
          <p:cNvPr id="36" name="TextBox 35"/>
          <p:cNvSpPr txBox="1"/>
          <p:nvPr/>
        </p:nvSpPr>
        <p:spPr>
          <a:xfrm>
            <a:off x="1841342" y="51507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5140515"/>
            <a:ext cx="134549" cy="195707"/>
          </a:xfrm>
          <a:prstGeom prst="rect">
            <a:avLst/>
          </a:prstGeom>
        </p:spPr>
      </p:pic>
      <p:sp>
        <p:nvSpPr>
          <p:cNvPr id="38" name="TextBox 37"/>
          <p:cNvSpPr txBox="1"/>
          <p:nvPr/>
        </p:nvSpPr>
        <p:spPr>
          <a:xfrm>
            <a:off x="2167888" y="5150738"/>
            <a:ext cx="1744079" cy="194310"/>
          </a:xfrm>
          <a:prstGeom prst="rect">
            <a:avLst/>
          </a:prstGeom>
          <a:noFill/>
        </p:spPr>
        <p:txBody>
          <a:bodyPr wrap="none" lIns="0" rIns="0" tIns="0" bIns="0">
            <a:spAutoFit/>
          </a:bodyPr>
          <a:lstStyle/>
          <a:p>
            <a:r>
              <a:rPr sz="1150" b="0">
                <a:solidFill>
                  <a:srgbClr val="2E2E2E"/>
                </a:solidFill>
                <a:latin typeface="Calibri"/>
              </a:rPr>
              <a:t>US$ Mn across 8 categories.</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Primary Flour Base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Primary Flour Base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Primary Flour Base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34191"/>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294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532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Almond and other nut flour-based</a:t>
            </a:r>
          </a:p>
        </p:txBody>
      </p:sp>
      <p:sp>
        <p:nvSpPr>
          <p:cNvPr id="19" name="BPS Value 1"/>
          <p:cNvSpPr txBox="1"/>
          <p:nvPr/>
        </p:nvSpPr>
        <p:spPr>
          <a:xfrm>
            <a:off x="6896100" y="171514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192390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19191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8429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Multigrain and blended flour bases</a:t>
            </a:r>
          </a:p>
        </p:txBody>
      </p:sp>
      <p:sp>
        <p:nvSpPr>
          <p:cNvPr id="23" name="BPS Value 2"/>
          <p:cNvSpPr txBox="1"/>
          <p:nvPr/>
        </p:nvSpPr>
        <p:spPr>
          <a:xfrm>
            <a:off x="6896100" y="19048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23577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2310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5481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Millet-based</a:t>
            </a:r>
          </a:p>
        </p:txBody>
      </p:sp>
      <p:sp>
        <p:nvSpPr>
          <p:cNvPr id="27" name="BPS Value 3"/>
          <p:cNvSpPr txBox="1"/>
          <p:nvPr/>
        </p:nvSpPr>
        <p:spPr>
          <a:xfrm>
            <a:off x="6896100" y="221672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2716736"/>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7119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6357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single-flour bases</a:t>
            </a:r>
          </a:p>
        </p:txBody>
      </p:sp>
      <p:sp>
        <p:nvSpPr>
          <p:cNvPr id="31" name="BPS Value 4"/>
          <p:cNvSpPr txBox="1"/>
          <p:nvPr/>
        </p:nvSpPr>
        <p:spPr>
          <a:xfrm>
            <a:off x="6896100" y="269768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36062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35586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2796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Corn-based</a:t>
            </a:r>
          </a:p>
        </p:txBody>
      </p:sp>
      <p:sp>
        <p:nvSpPr>
          <p:cNvPr id="35" name="BPS Value 5"/>
          <p:cNvSpPr txBox="1"/>
          <p:nvPr/>
        </p:nvSpPr>
        <p:spPr>
          <a:xfrm>
            <a:off x="6896100" y="334157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09069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0859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0097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Rice-based</a:t>
            </a:r>
          </a:p>
        </p:txBody>
      </p:sp>
      <p:sp>
        <p:nvSpPr>
          <p:cNvPr id="39" name="BPS Value 6"/>
          <p:cNvSpPr txBox="1"/>
          <p:nvPr/>
        </p:nvSpPr>
        <p:spPr>
          <a:xfrm>
            <a:off x="6896100" y="40716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FMI Legend Chip"/>
          <p:cNvSpPr/>
          <p:nvPr/>
        </p:nvSpPr>
        <p:spPr>
          <a:xfrm>
            <a:off x="4928997" y="48591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48543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47781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Wheat-based</a:t>
            </a:r>
          </a:p>
        </p:txBody>
      </p:sp>
      <p:sp>
        <p:nvSpPr>
          <p:cNvPr id="43" name="BPS Value 7"/>
          <p:cNvSpPr txBox="1"/>
          <p:nvPr/>
        </p:nvSpPr>
        <p:spPr>
          <a:xfrm>
            <a:off x="6896100" y="48401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FMI Legend Chip"/>
          <p:cNvSpPr/>
          <p:nvPr/>
        </p:nvSpPr>
        <p:spPr>
          <a:xfrm>
            <a:off x="4928997" y="574461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5090922" y="573985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56636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Oat-based</a:t>
            </a:r>
          </a:p>
        </p:txBody>
      </p:sp>
      <p:sp>
        <p:nvSpPr>
          <p:cNvPr id="47" name="BPS Value 8"/>
          <p:cNvSpPr txBox="1"/>
          <p:nvPr/>
        </p:nvSpPr>
        <p:spPr>
          <a:xfrm>
            <a:off x="6896100" y="572556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8" name="Rounded Rectangle 4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Primary Flour Base</a:t>
            </a:r>
          </a:p>
        </p:txBody>
      </p:sp>
      <p:sp>
        <p:nvSpPr>
          <p:cNvPr id="50" name="Rectangle 4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lock.png"/>
          <p:cNvPicPr>
            <a:picLocks noChangeAspect="1"/>
          </p:cNvPicPr>
          <p:nvPr/>
        </p:nvPicPr>
        <p:blipFill>
          <a:blip r:embed="rId5"/>
          <a:stretch>
            <a:fillRect/>
          </a:stretch>
        </p:blipFill>
        <p:spPr>
          <a:xfrm>
            <a:off x="2557843" y="3833622"/>
            <a:ext cx="275034" cy="400050"/>
          </a:xfrm>
          <a:prstGeom prst="rect">
            <a:avLst/>
          </a:prstGeom>
        </p:spPr>
      </p:pic>
      <p:sp>
        <p:nvSpPr>
          <p:cNvPr id="54" name="TextBox 53"/>
          <p:cNvSpPr txBox="1"/>
          <p:nvPr/>
        </p:nvSpPr>
        <p:spPr>
          <a:xfrm>
            <a:off x="7829550" y="1400175"/>
            <a:ext cx="2209043" cy="194310"/>
          </a:xfrm>
          <a:prstGeom prst="rect">
            <a:avLst/>
          </a:prstGeom>
          <a:noFill/>
        </p:spPr>
        <p:txBody>
          <a:bodyPr wrap="none" lIns="0" rIns="0" tIns="0" bIns="0">
            <a:spAutoFit/>
          </a:bodyPr>
          <a:lstStyle/>
          <a:p>
            <a:r>
              <a:rPr sz="1150" b="0">
                <a:solidFill>
                  <a:srgbClr val="2E2E2E"/>
                </a:solidFill>
                <a:latin typeface="Calibri"/>
              </a:rPr>
              <a:t>▪ 'Oat-based' gains the most share +</a:t>
            </a:r>
          </a:p>
        </p:txBody>
      </p:sp>
      <p:pic>
        <p:nvPicPr>
          <p:cNvPr id="55" name="Picture 54" descr="lock.png"/>
          <p:cNvPicPr>
            <a:picLocks noChangeAspect="1"/>
          </p:cNvPicPr>
          <p:nvPr/>
        </p:nvPicPr>
        <p:blipFill>
          <a:blip r:embed="rId5"/>
          <a:stretch>
            <a:fillRect/>
          </a:stretch>
        </p:blipFill>
        <p:spPr>
          <a:xfrm>
            <a:off x="9987747" y="1389951"/>
            <a:ext cx="134549" cy="195707"/>
          </a:xfrm>
          <a:prstGeom prst="rect">
            <a:avLst/>
          </a:prstGeom>
        </p:spPr>
      </p:pic>
      <p:sp>
        <p:nvSpPr>
          <p:cNvPr id="56" name="TextBox 55"/>
          <p:cNvSpPr txBox="1"/>
          <p:nvPr/>
        </p:nvSpPr>
        <p:spPr>
          <a:xfrm>
            <a:off x="1016285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57" name="TextBox 5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58" name="TextBox 57"/>
          <p:cNvSpPr txBox="1"/>
          <p:nvPr/>
        </p:nvSpPr>
        <p:spPr>
          <a:xfrm>
            <a:off x="7829550" y="1803273"/>
            <a:ext cx="1887562" cy="194310"/>
          </a:xfrm>
          <a:prstGeom prst="rect">
            <a:avLst/>
          </a:prstGeom>
          <a:noFill/>
        </p:spPr>
        <p:txBody>
          <a:bodyPr wrap="none" lIns="0" rIns="0" tIns="0" bIns="0">
            <a:spAutoFit/>
          </a:bodyPr>
          <a:lstStyle/>
          <a:p>
            <a:r>
              <a:rPr sz="1150" b="0">
                <a:solidFill>
                  <a:srgbClr val="2E2E2E"/>
                </a:solidFill>
                <a:latin typeface="Calibri"/>
              </a:rPr>
              <a:t>▪ 'Rice-based' cedes the most -</a:t>
            </a:r>
          </a:p>
        </p:txBody>
      </p:sp>
      <p:pic>
        <p:nvPicPr>
          <p:cNvPr id="59" name="Picture 58" descr="lock.png"/>
          <p:cNvPicPr>
            <a:picLocks noChangeAspect="1"/>
          </p:cNvPicPr>
          <p:nvPr/>
        </p:nvPicPr>
        <p:blipFill>
          <a:blip r:embed="rId5"/>
          <a:stretch>
            <a:fillRect/>
          </a:stretch>
        </p:blipFill>
        <p:spPr>
          <a:xfrm>
            <a:off x="9666266" y="1793049"/>
            <a:ext cx="134549" cy="195707"/>
          </a:xfrm>
          <a:prstGeom prst="rect">
            <a:avLst/>
          </a:prstGeom>
        </p:spPr>
      </p:pic>
      <p:sp>
        <p:nvSpPr>
          <p:cNvPr id="60" name="TextBox 59"/>
          <p:cNvSpPr txBox="1"/>
          <p:nvPr/>
        </p:nvSpPr>
        <p:spPr>
          <a:xfrm>
            <a:off x="9841375"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61" name="TextBox 60"/>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62" name="TextBox 61"/>
          <p:cNvSpPr txBox="1"/>
          <p:nvPr/>
        </p:nvSpPr>
        <p:spPr>
          <a:xfrm>
            <a:off x="7829550" y="2206371"/>
            <a:ext cx="3560005" cy="194310"/>
          </a:xfrm>
          <a:prstGeom prst="rect">
            <a:avLst/>
          </a:prstGeom>
          <a:noFill/>
        </p:spPr>
        <p:txBody>
          <a:bodyPr wrap="none" lIns="0" rIns="0" tIns="0" bIns="0">
            <a:spAutoFit/>
          </a:bodyPr>
          <a:lstStyle/>
          <a:p>
            <a:r>
              <a:rPr sz="1150" b="0">
                <a:solidFill>
                  <a:srgbClr val="2E2E2E"/>
                </a:solidFill>
                <a:latin typeface="Calibri"/>
              </a:rPr>
              <a:t>▪ 'Millet-based' is the fastest-growing primary flour base at</a:t>
            </a:r>
          </a:p>
        </p:txBody>
      </p:sp>
      <p:pic>
        <p:nvPicPr>
          <p:cNvPr id="63" name="Picture 62" descr="lock.png"/>
          <p:cNvPicPr>
            <a:picLocks noChangeAspect="1"/>
          </p:cNvPicPr>
          <p:nvPr/>
        </p:nvPicPr>
        <p:blipFill>
          <a:blip r:embed="rId5"/>
          <a:stretch>
            <a:fillRect/>
          </a:stretch>
        </p:blipFill>
        <p:spPr>
          <a:xfrm>
            <a:off x="11338709" y="2196147"/>
            <a:ext cx="134549" cy="195707"/>
          </a:xfrm>
          <a:prstGeom prst="rect">
            <a:avLst/>
          </a:prstGeom>
        </p:spPr>
      </p:pic>
      <p:sp>
        <p:nvSpPr>
          <p:cNvPr id="64" name="TextBox 63"/>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5" name="TextBox 6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6" name="Picture 65" descr="lock.png"/>
          <p:cNvPicPr>
            <a:picLocks noChangeAspect="1"/>
          </p:cNvPicPr>
          <p:nvPr/>
        </p:nvPicPr>
        <p:blipFill>
          <a:blip r:embed="rId5"/>
          <a:stretch>
            <a:fillRect/>
          </a:stretch>
        </p:blipFill>
        <p:spPr>
          <a:xfrm>
            <a:off x="9327669" y="2599245"/>
            <a:ext cx="134549" cy="195707"/>
          </a:xfrm>
          <a:prstGeom prst="rect">
            <a:avLst/>
          </a:prstGeom>
        </p:spPr>
      </p:pic>
      <p:sp>
        <p:nvSpPr>
          <p:cNvPr id="67" name="TextBox 6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8" name="Picture 67" descr="lock.png"/>
          <p:cNvPicPr>
            <a:picLocks noChangeAspect="1"/>
          </p:cNvPicPr>
          <p:nvPr/>
        </p:nvPicPr>
        <p:blipFill>
          <a:blip r:embed="rId5"/>
          <a:stretch>
            <a:fillRect/>
          </a:stretch>
        </p:blipFill>
        <p:spPr>
          <a:xfrm>
            <a:off x="9654215" y="2599245"/>
            <a:ext cx="134549" cy="195707"/>
          </a:xfrm>
          <a:prstGeom prst="rect">
            <a:avLst/>
          </a:prstGeom>
        </p:spPr>
      </p:pic>
      <p:sp>
        <p:nvSpPr>
          <p:cNvPr id="69" name="TextBox 6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70" name="TextBox 6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71" name="TextBox 7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7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Primary Flour Base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Primary Flour Base,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Primary Flour Base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2461476"/>
                <a:gridCol w="628382"/>
                <a:gridCol w="628382"/>
                <a:gridCol w="628382"/>
                <a:gridCol w="628382"/>
                <a:gridCol w="628382"/>
                <a:gridCol w="628382"/>
                <a:gridCol w="628382"/>
                <a:gridCol w="628382"/>
                <a:gridCol w="628382"/>
                <a:gridCol w="628382"/>
                <a:gridCol w="628382"/>
                <a:gridCol w="628382"/>
                <a:gridCol w="628382"/>
                <a:gridCol w="628382"/>
                <a:gridCol w="628382"/>
              </a:tblGrid>
              <a:tr h="246126">
                <a:tc>
                  <a:txBody>
                    <a:bodyPr wrap="none"/>
                    <a:lstStyle/>
                    <a:p>
                      <a:pPr algn="l"/>
                      <a:r>
                        <a:rPr sz="1100" b="1">
                          <a:solidFill>
                            <a:srgbClr val="0B2E4A"/>
                          </a:solidFill>
                          <a:latin typeface="Calibri"/>
                        </a:rPr>
                        <a:t>Primary Flour Base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Wheat-based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Oat-based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Rice-based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Corn-based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Millet-based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Almond and other nut flour-based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single-flour bases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Multigrain and blended flour bases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Primary Flour Base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Wheat-based</a:t>
            </a:r>
          </a:p>
        </p:txBody>
      </p:sp>
      <p:sp>
        <p:nvSpPr>
          <p:cNvPr id="33" name="Rectangle 32"/>
          <p:cNvSpPr/>
          <p:nvPr/>
        </p:nvSpPr>
        <p:spPr>
          <a:xfrm>
            <a:off x="1857375" y="4229100"/>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Oat-based</a:t>
            </a:r>
          </a:p>
        </p:txBody>
      </p:sp>
      <p:sp>
        <p:nvSpPr>
          <p:cNvPr id="49" name="Rectangle 48"/>
          <p:cNvSpPr/>
          <p:nvPr/>
        </p:nvSpPr>
        <p:spPr>
          <a:xfrm>
            <a:off x="185737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Rice-based</a:t>
            </a:r>
          </a:p>
        </p:txBody>
      </p:sp>
      <p:sp>
        <p:nvSpPr>
          <p:cNvPr id="65" name="Rectangle 64"/>
          <p:cNvSpPr/>
          <p:nvPr/>
        </p:nvSpPr>
        <p:spPr>
          <a:xfrm>
            <a:off x="185737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Corn-based</a:t>
            </a:r>
          </a:p>
        </p:txBody>
      </p:sp>
      <p:sp>
        <p:nvSpPr>
          <p:cNvPr id="81" name="Rectangle 80"/>
          <p:cNvSpPr/>
          <p:nvPr/>
        </p:nvSpPr>
        <p:spPr>
          <a:xfrm>
            <a:off x="185737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Millet-based</a:t>
            </a:r>
          </a:p>
        </p:txBody>
      </p:sp>
      <p:sp>
        <p:nvSpPr>
          <p:cNvPr id="97" name="Rectangle 96"/>
          <p:cNvSpPr/>
          <p:nvPr/>
        </p:nvSpPr>
        <p:spPr>
          <a:xfrm>
            <a:off x="1857375" y="5400675"/>
            <a:ext cx="643890" cy="292894"/>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Almond and other nut flour-based</a:t>
            </a:r>
          </a:p>
        </p:txBody>
      </p:sp>
      <p:sp>
        <p:nvSpPr>
          <p:cNvPr id="113" name="Rectangle 112"/>
          <p:cNvSpPr/>
          <p:nvPr/>
        </p:nvSpPr>
        <p:spPr>
          <a:xfrm>
            <a:off x="1857375" y="5693569"/>
            <a:ext cx="643890" cy="292894"/>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Other single-flour bases</a:t>
            </a:r>
          </a:p>
        </p:txBody>
      </p:sp>
      <p:sp>
        <p:nvSpPr>
          <p:cNvPr id="129" name="Rectangle 128"/>
          <p:cNvSpPr/>
          <p:nvPr/>
        </p:nvSpPr>
        <p:spPr>
          <a:xfrm>
            <a:off x="1857375" y="5986462"/>
            <a:ext cx="643890" cy="292894"/>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Multigrain and blended flour bases</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140051" y="2204276"/>
            <a:ext cx="366712" cy="533400"/>
          </a:xfrm>
          <a:prstGeom prst="rect">
            <a:avLst/>
          </a:prstGeom>
        </p:spPr>
      </p:pic>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Dietary Formulation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Dietary Formulation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Dietary Formulation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Dietary Formulation,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Dietary Formulation segment categorizes the market by dietary formulation.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(base)</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and vegan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Vegan</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Dietary Formulation split shows how demand is distributed across dietary formulation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95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_42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4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44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185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03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_275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90_8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857_2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2_2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650281" cy="186689"/>
          </a:xfrm>
          <a:prstGeom prst="rect">
            <a:avLst/>
          </a:prstGeom>
          <a:noFill/>
        </p:spPr>
        <p:txBody>
          <a:bodyPr wrap="none" lIns="0" rIns="0" tIns="0" bIns="0">
            <a:spAutoFit/>
          </a:bodyPr>
          <a:lstStyle/>
          <a:p>
            <a:r>
              <a:rPr sz="1100" b="0">
                <a:solidFill>
                  <a:srgbClr val="2E2E2E"/>
                </a:solidFill>
                <a:latin typeface="Calibri"/>
              </a:rPr>
              <a:t>▪ 'Gluten-free' holds the largest share in 2026</a:t>
            </a:r>
          </a:p>
        </p:txBody>
      </p:sp>
      <p:pic>
        <p:nvPicPr>
          <p:cNvPr id="81" name="Picture 80" descr="lock.png"/>
          <p:cNvPicPr>
            <a:picLocks noChangeAspect="1"/>
          </p:cNvPicPr>
          <p:nvPr/>
        </p:nvPicPr>
        <p:blipFill>
          <a:blip r:embed="rId16"/>
          <a:stretch>
            <a:fillRect/>
          </a:stretch>
        </p:blipFill>
        <p:spPr>
          <a:xfrm>
            <a:off x="308410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227634" cy="186689"/>
          </a:xfrm>
          <a:prstGeom prst="rect">
            <a:avLst/>
          </a:prstGeom>
          <a:noFill/>
        </p:spPr>
        <p:txBody>
          <a:bodyPr wrap="none" lIns="0" rIns="0" tIns="0" bIns="0">
            <a:spAutoFit/>
          </a:bodyPr>
          <a:lstStyle/>
          <a:p>
            <a:r>
              <a:rPr sz="1100" b="0">
                <a:solidFill>
                  <a:srgbClr val="2E2E2E"/>
                </a:solidFill>
                <a:latin typeface="Calibri"/>
              </a:rPr>
              <a:t>▪ 'Conventional'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dietary formulation</a:t>
            </a:r>
          </a:p>
        </p:txBody>
      </p:sp>
      <p:sp>
        <p:nvSpPr>
          <p:cNvPr id="94" name="TextBox 9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5" name="TextBox 94"/>
          <p:cNvSpPr txBox="1"/>
          <p:nvPr/>
        </p:nvSpPr>
        <p:spPr>
          <a:xfrm>
            <a:off x="3838575" y="4229437"/>
            <a:ext cx="886569" cy="186689"/>
          </a:xfrm>
          <a:prstGeom prst="rect">
            <a:avLst/>
          </a:prstGeom>
          <a:noFill/>
        </p:spPr>
        <p:txBody>
          <a:bodyPr wrap="none" lIns="0" rIns="0" tIns="0" bIns="0">
            <a:spAutoFit/>
          </a:bodyPr>
          <a:lstStyle/>
          <a:p>
            <a:r>
              <a:rPr sz="1100" b="0">
                <a:solidFill>
                  <a:srgbClr val="2E2E2E"/>
                </a:solidFill>
                <a:latin typeface="Calibri"/>
              </a:rPr>
              <a:t>● Gluten-free:</a:t>
            </a:r>
          </a:p>
        </p:txBody>
      </p:sp>
      <p:pic>
        <p:nvPicPr>
          <p:cNvPr id="96" name="Picture 95" descr="lock.png"/>
          <p:cNvPicPr>
            <a:picLocks noChangeAspect="1"/>
          </p:cNvPicPr>
          <p:nvPr/>
        </p:nvPicPr>
        <p:blipFill>
          <a:blip r:embed="rId16"/>
          <a:stretch>
            <a:fillRect/>
          </a:stretch>
        </p:blipFill>
        <p:spPr>
          <a:xfrm>
            <a:off x="4673195" y="4219658"/>
            <a:ext cx="128699" cy="187198"/>
          </a:xfrm>
          <a:prstGeom prst="rect">
            <a:avLst/>
          </a:prstGeom>
        </p:spPr>
      </p:pic>
      <p:sp>
        <p:nvSpPr>
          <p:cNvPr id="97" name="TextBox 96"/>
          <p:cNvSpPr txBox="1"/>
          <p:nvPr/>
        </p:nvSpPr>
        <p:spPr>
          <a:xfrm>
            <a:off x="484069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5700141" y="4219658"/>
            <a:ext cx="128699" cy="187198"/>
          </a:xfrm>
          <a:prstGeom prst="rect">
            <a:avLst/>
          </a:prstGeom>
        </p:spPr>
      </p:pic>
      <p:sp>
        <p:nvSpPr>
          <p:cNvPr id="99" name="TextBox 98"/>
          <p:cNvSpPr txBox="1"/>
          <p:nvPr/>
        </p:nvSpPr>
        <p:spPr>
          <a:xfrm>
            <a:off x="58676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502122" cy="186689"/>
          </a:xfrm>
          <a:prstGeom prst="rect">
            <a:avLst/>
          </a:prstGeom>
          <a:noFill/>
        </p:spPr>
        <p:txBody>
          <a:bodyPr wrap="none" lIns="0" rIns="0" tIns="0" bIns="0">
            <a:spAutoFit/>
          </a:bodyPr>
          <a:lstStyle/>
          <a:p>
            <a:r>
              <a:rPr sz="1100" b="0">
                <a:solidFill>
                  <a:srgbClr val="2E2E2E"/>
                </a:solidFill>
                <a:latin typeface="Calibri"/>
              </a:rPr>
              <a:t>● Gluten-free and vegan:</a:t>
            </a:r>
          </a:p>
        </p:txBody>
      </p:sp>
      <p:pic>
        <p:nvPicPr>
          <p:cNvPr id="101" name="Picture 100" descr="lock.png"/>
          <p:cNvPicPr>
            <a:picLocks noChangeAspect="1"/>
          </p:cNvPicPr>
          <p:nvPr/>
        </p:nvPicPr>
        <p:blipFill>
          <a:blip r:embed="rId16"/>
          <a:stretch>
            <a:fillRect/>
          </a:stretch>
        </p:blipFill>
        <p:spPr>
          <a:xfrm>
            <a:off x="5288748" y="4437590"/>
            <a:ext cx="128699" cy="187198"/>
          </a:xfrm>
          <a:prstGeom prst="rect">
            <a:avLst/>
          </a:prstGeom>
        </p:spPr>
      </p:pic>
      <p:sp>
        <p:nvSpPr>
          <p:cNvPr id="102" name="TextBox 101"/>
          <p:cNvSpPr txBox="1"/>
          <p:nvPr/>
        </p:nvSpPr>
        <p:spPr>
          <a:xfrm>
            <a:off x="545624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315694" y="4437590"/>
            <a:ext cx="128699" cy="187198"/>
          </a:xfrm>
          <a:prstGeom prst="rect">
            <a:avLst/>
          </a:prstGeom>
        </p:spPr>
      </p:pic>
      <p:sp>
        <p:nvSpPr>
          <p:cNvPr id="104" name="TextBox 103"/>
          <p:cNvSpPr txBox="1"/>
          <p:nvPr/>
        </p:nvSpPr>
        <p:spPr>
          <a:xfrm>
            <a:off x="648319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106" name="Picture 105" descr="lock.png"/>
          <p:cNvPicPr>
            <a:picLocks noChangeAspect="1"/>
          </p:cNvPicPr>
          <p:nvPr/>
        </p:nvPicPr>
        <p:blipFill>
          <a:blip r:embed="rId16"/>
          <a:stretch>
            <a:fillRect/>
          </a:stretch>
        </p:blipFill>
        <p:spPr>
          <a:xfrm>
            <a:off x="4768966" y="4655522"/>
            <a:ext cx="128699" cy="187198"/>
          </a:xfrm>
          <a:prstGeom prst="rect">
            <a:avLst/>
          </a:prstGeom>
        </p:spPr>
      </p:pic>
      <p:sp>
        <p:nvSpPr>
          <p:cNvPr id="107" name="TextBox 106"/>
          <p:cNvSpPr txBox="1"/>
          <p:nvPr/>
        </p:nvSpPr>
        <p:spPr>
          <a:xfrm>
            <a:off x="49364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795912" y="4655522"/>
            <a:ext cx="128699" cy="187198"/>
          </a:xfrm>
          <a:prstGeom prst="rect">
            <a:avLst/>
          </a:prstGeom>
        </p:spPr>
      </p:pic>
      <p:sp>
        <p:nvSpPr>
          <p:cNvPr id="109" name="TextBox 108"/>
          <p:cNvSpPr txBox="1"/>
          <p:nvPr/>
        </p:nvSpPr>
        <p:spPr>
          <a:xfrm>
            <a:off x="5963408"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0" name="TextBox 109"/>
          <p:cNvSpPr txBox="1"/>
          <p:nvPr/>
        </p:nvSpPr>
        <p:spPr>
          <a:xfrm>
            <a:off x="3838575" y="4883233"/>
            <a:ext cx="584522" cy="186689"/>
          </a:xfrm>
          <a:prstGeom prst="rect">
            <a:avLst/>
          </a:prstGeom>
          <a:noFill/>
        </p:spPr>
        <p:txBody>
          <a:bodyPr wrap="none" lIns="0" rIns="0" tIns="0" bIns="0">
            <a:spAutoFit/>
          </a:bodyPr>
          <a:lstStyle/>
          <a:p>
            <a:r>
              <a:rPr sz="1100" b="0">
                <a:solidFill>
                  <a:srgbClr val="2E2E2E"/>
                </a:solidFill>
                <a:latin typeface="Calibri"/>
              </a:rPr>
              <a:t>● Vegan:</a:t>
            </a:r>
          </a:p>
        </p:txBody>
      </p:sp>
      <p:pic>
        <p:nvPicPr>
          <p:cNvPr id="111" name="Picture 110" descr="lock.png"/>
          <p:cNvPicPr>
            <a:picLocks noChangeAspect="1"/>
          </p:cNvPicPr>
          <p:nvPr/>
        </p:nvPicPr>
        <p:blipFill>
          <a:blip r:embed="rId16"/>
          <a:stretch>
            <a:fillRect/>
          </a:stretch>
        </p:blipFill>
        <p:spPr>
          <a:xfrm>
            <a:off x="4371149" y="4873454"/>
            <a:ext cx="128699" cy="187198"/>
          </a:xfrm>
          <a:prstGeom prst="rect">
            <a:avLst/>
          </a:prstGeom>
        </p:spPr>
      </p:pic>
      <p:sp>
        <p:nvSpPr>
          <p:cNvPr id="112" name="TextBox 111"/>
          <p:cNvSpPr txBox="1"/>
          <p:nvPr/>
        </p:nvSpPr>
        <p:spPr>
          <a:xfrm>
            <a:off x="453864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5398095" y="4873454"/>
            <a:ext cx="128699" cy="187198"/>
          </a:xfrm>
          <a:prstGeom prst="rect">
            <a:avLst/>
          </a:prstGeom>
        </p:spPr>
      </p:pic>
      <p:sp>
        <p:nvSpPr>
          <p:cNvPr id="114" name="TextBox 113"/>
          <p:cNvSpPr txBox="1"/>
          <p:nvPr/>
        </p:nvSpPr>
        <p:spPr>
          <a:xfrm>
            <a:off x="5565590"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5" name="TextBox 114"/>
          <p:cNvSpPr txBox="1"/>
          <p:nvPr/>
        </p:nvSpPr>
        <p:spPr>
          <a:xfrm>
            <a:off x="8524875" y="5842641"/>
            <a:ext cx="3021419" cy="194310"/>
          </a:xfrm>
          <a:prstGeom prst="rect">
            <a:avLst/>
          </a:prstGeom>
          <a:noFill/>
        </p:spPr>
        <p:txBody>
          <a:bodyPr wrap="none" lIns="0" rIns="0" tIns="0" bIns="0">
            <a:spAutoFit/>
          </a:bodyPr>
          <a:lstStyle/>
          <a:p>
            <a:r>
              <a:rPr sz="1150" b="1">
                <a:solidFill>
                  <a:srgbClr val="0B2E4A"/>
                </a:solidFill>
                <a:latin typeface="Calibri"/>
              </a:rPr>
              <a:t>The Dietary Formulation segment is projected to</a:t>
            </a:r>
          </a:p>
        </p:txBody>
      </p:sp>
      <p:sp>
        <p:nvSpPr>
          <p:cNvPr id="116" name="TextBox 11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7" name="Picture 116" descr="lock.png"/>
          <p:cNvPicPr>
            <a:picLocks noChangeAspect="1"/>
          </p:cNvPicPr>
          <p:nvPr/>
        </p:nvPicPr>
        <p:blipFill>
          <a:blip r:embed="rId16"/>
          <a:stretch>
            <a:fillRect/>
          </a:stretch>
        </p:blipFill>
        <p:spPr>
          <a:xfrm>
            <a:off x="9651852" y="6007677"/>
            <a:ext cx="134549" cy="195707"/>
          </a:xfrm>
          <a:prstGeom prst="rect">
            <a:avLst/>
          </a:prstGeom>
        </p:spPr>
      </p:pic>
      <p:sp>
        <p:nvSpPr>
          <p:cNvPr id="118" name="TextBox 11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Dietary Formulation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Dietary Formulation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Dietary Formulation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Dietary Formulation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791347" cy="186689"/>
          </a:xfrm>
          <a:prstGeom prst="rect">
            <a:avLst/>
          </a:prstGeom>
          <a:noFill/>
        </p:spPr>
        <p:txBody>
          <a:bodyPr wrap="none" lIns="0" rIns="0" tIns="0" bIns="0">
            <a:spAutoFit/>
          </a:bodyPr>
          <a:lstStyle/>
          <a:p>
            <a:r>
              <a:rPr sz="1100" b="0">
                <a:solidFill>
                  <a:srgbClr val="2E2E2E"/>
                </a:solidFill>
                <a:latin typeface="Calibri"/>
              </a:rPr>
              <a:t>Between 2026 and 2036, 'Gluten-free' gains the most share in the Global market (+</a:t>
            </a:r>
          </a:p>
        </p:txBody>
      </p:sp>
      <p:pic>
        <p:nvPicPr>
          <p:cNvPr id="21" name="Picture 20" descr="lock.png"/>
          <p:cNvPicPr>
            <a:picLocks noChangeAspect="1"/>
          </p:cNvPicPr>
          <p:nvPr/>
        </p:nvPicPr>
        <p:blipFill>
          <a:blip r:embed="rId6"/>
          <a:stretch>
            <a:fillRect/>
          </a:stretch>
        </p:blipFill>
        <p:spPr>
          <a:xfrm>
            <a:off x="4996574" y="5851905"/>
            <a:ext cx="128699" cy="187198"/>
          </a:xfrm>
          <a:prstGeom prst="rect">
            <a:avLst/>
          </a:prstGeom>
        </p:spPr>
      </p:pic>
      <p:sp>
        <p:nvSpPr>
          <p:cNvPr id="22" name="TextBox 21"/>
          <p:cNvSpPr txBox="1"/>
          <p:nvPr/>
        </p:nvSpPr>
        <p:spPr>
          <a:xfrm>
            <a:off x="5164070" y="5861685"/>
            <a:ext cx="2393801" cy="186689"/>
          </a:xfrm>
          <a:prstGeom prst="rect">
            <a:avLst/>
          </a:prstGeom>
          <a:noFill/>
        </p:spPr>
        <p:txBody>
          <a:bodyPr wrap="none" lIns="0" rIns="0" tIns="0" bIns="0">
            <a:spAutoFit/>
          </a:bodyPr>
          <a:lstStyle/>
          <a:p>
            <a:r>
              <a:rPr sz="1100" b="0">
                <a:solidFill>
                  <a:srgbClr val="2E2E2E"/>
                </a:solidFill>
                <a:latin typeface="Calibri"/>
              </a:rPr>
              <a:t>BPS) while 'Gluten-free and vegan' cedes</a:t>
            </a:r>
          </a:p>
        </p:txBody>
      </p:sp>
      <p:pic>
        <p:nvPicPr>
          <p:cNvPr id="23" name="Picture 22" descr="lock.png"/>
          <p:cNvPicPr>
            <a:picLocks noChangeAspect="1"/>
          </p:cNvPicPr>
          <p:nvPr/>
        </p:nvPicPr>
        <p:blipFill>
          <a:blip r:embed="rId6"/>
          <a:stretch>
            <a:fillRect/>
          </a:stretch>
        </p:blipFill>
        <p:spPr>
          <a:xfrm>
            <a:off x="7505923" y="5851905"/>
            <a:ext cx="128699" cy="187198"/>
          </a:xfrm>
          <a:prstGeom prst="rect">
            <a:avLst/>
          </a:prstGeom>
        </p:spPr>
      </p:pic>
      <p:sp>
        <p:nvSpPr>
          <p:cNvPr id="24" name="TextBox 23"/>
          <p:cNvSpPr txBox="1"/>
          <p:nvPr/>
        </p:nvSpPr>
        <p:spPr>
          <a:xfrm>
            <a:off x="7673418"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Dietary Formulation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Gluten-free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Vegan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Gluten-free and vegan</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Dietary Formulation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Dietary Formulation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Dietary</a:t>
                      </a:r>
                      <a:endParaRPr sz="1100"/>
                    </a:p>
                    <a:p>
                      <a:pPr algn="l"/>
                      <a:r>
                        <a:rPr sz="1100" b="1">
                          <a:solidFill>
                            <a:srgbClr val="0B2E4A"/>
                          </a:solidFill>
                          <a:latin typeface="Calibri"/>
                        </a:rPr>
                        <a:t>Formulation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Conventional</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Gluten-free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Vegan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Gluten-free and</a:t>
                      </a:r>
                      <a:endParaRPr sz="1100"/>
                    </a:p>
                    <a:p>
                      <a:pPr algn="l"/>
                      <a:r>
                        <a:rPr sz="1100" b="1">
                          <a:solidFill>
                            <a:srgbClr val="2E2E2E"/>
                          </a:solidFill>
                          <a:latin typeface="Calibri"/>
                        </a:rPr>
                        <a:t>vegan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Dietary Formulation</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856926"/>
            <a:ext cx="134549" cy="195707"/>
          </a:xfrm>
          <a:prstGeom prst="rect">
            <a:avLst/>
          </a:prstGeom>
        </p:spPr>
      </p:pic>
      <p:sp>
        <p:nvSpPr>
          <p:cNvPr id="23" name="TextBox 22"/>
          <p:cNvSpPr txBox="1"/>
          <p:nvPr/>
        </p:nvSpPr>
        <p:spPr>
          <a:xfrm>
            <a:off x="3447037"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6770" y="3856926"/>
            <a:ext cx="134549" cy="195707"/>
          </a:xfrm>
          <a:prstGeom prst="rect">
            <a:avLst/>
          </a:prstGeom>
        </p:spPr>
      </p:pic>
      <p:sp>
        <p:nvSpPr>
          <p:cNvPr id="25" name="TextBox 24"/>
          <p:cNvSpPr txBox="1"/>
          <p:nvPr/>
        </p:nvSpPr>
        <p:spPr>
          <a:xfrm>
            <a:off x="4651879"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4084764"/>
            <a:ext cx="134549" cy="195707"/>
          </a:xfrm>
          <a:prstGeom prst="rect">
            <a:avLst/>
          </a:prstGeom>
        </p:spPr>
      </p:pic>
      <p:sp>
        <p:nvSpPr>
          <p:cNvPr id="28" name="TextBox 27"/>
          <p:cNvSpPr txBox="1"/>
          <p:nvPr/>
        </p:nvSpPr>
        <p:spPr>
          <a:xfrm>
            <a:off x="2236704"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2345394" cy="194310"/>
          </a:xfrm>
          <a:prstGeom prst="rect">
            <a:avLst/>
          </a:prstGeom>
          <a:noFill/>
        </p:spPr>
        <p:txBody>
          <a:bodyPr wrap="none" lIns="0" rIns="0" tIns="0" bIns="0">
            <a:spAutoFit/>
          </a:bodyPr>
          <a:lstStyle/>
          <a:p>
            <a:r>
              <a:rPr sz="1150" b="0">
                <a:solidFill>
                  <a:srgbClr val="2E2E2E"/>
                </a:solidFill>
                <a:latin typeface="Calibri"/>
              </a:rPr>
              <a:t>▪ Share shifts toward 'Conventional' (+</a:t>
            </a:r>
          </a:p>
        </p:txBody>
      </p:sp>
      <p:pic>
        <p:nvPicPr>
          <p:cNvPr id="30" name="Picture 29" descr="lock.png"/>
          <p:cNvPicPr>
            <a:picLocks noChangeAspect="1"/>
          </p:cNvPicPr>
          <p:nvPr/>
        </p:nvPicPr>
        <p:blipFill>
          <a:blip r:embed="rId4"/>
          <a:stretch>
            <a:fillRect/>
          </a:stretch>
        </p:blipFill>
        <p:spPr>
          <a:xfrm>
            <a:off x="2570773" y="4312602"/>
            <a:ext cx="134549" cy="195707"/>
          </a:xfrm>
          <a:prstGeom prst="rect">
            <a:avLst/>
          </a:prstGeom>
        </p:spPr>
      </p:pic>
      <p:sp>
        <p:nvSpPr>
          <p:cNvPr id="31" name="TextBox 30"/>
          <p:cNvSpPr txBox="1"/>
          <p:nvPr/>
        </p:nvSpPr>
        <p:spPr>
          <a:xfrm>
            <a:off x="2745883" y="4322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509959" y="4312602"/>
            <a:ext cx="134549" cy="195707"/>
          </a:xfrm>
          <a:prstGeom prst="rect">
            <a:avLst/>
          </a:prstGeom>
        </p:spPr>
      </p:pic>
      <p:sp>
        <p:nvSpPr>
          <p:cNvPr id="33" name="TextBox 32"/>
          <p:cNvSpPr txBox="1"/>
          <p:nvPr/>
        </p:nvSpPr>
        <p:spPr>
          <a:xfrm>
            <a:off x="5685068"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Dietary Formulation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Dietary Formulation,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Dietary Formulation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1590585"/>
                <a:gridCol w="605683"/>
                <a:gridCol w="605683"/>
                <a:gridCol w="605683"/>
                <a:gridCol w="605683"/>
                <a:gridCol w="605683"/>
                <a:gridCol w="605683"/>
                <a:gridCol w="605683"/>
                <a:gridCol w="605683"/>
                <a:gridCol w="605683"/>
                <a:gridCol w="605683"/>
                <a:gridCol w="605683"/>
                <a:gridCol w="605683"/>
                <a:gridCol w="605683"/>
                <a:gridCol w="605683"/>
                <a:gridCol w="605683"/>
                <a:gridCol w="605683"/>
                <a:gridCol w="605683"/>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Dietary Formulation</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04600" y="1837563"/>
            <a:ext cx="366712" cy="533400"/>
          </a:xfrm>
          <a:prstGeom prst="rect">
            <a:avLst/>
          </a:prstGeom>
        </p:spPr>
      </p:pic>
      <p:sp>
        <p:nvSpPr>
          <p:cNvPr id="21" name="TextBox 20"/>
          <p:cNvSpPr txBox="1"/>
          <p:nvPr/>
        </p:nvSpPr>
        <p:spPr>
          <a:xfrm>
            <a:off x="276225" y="3486150"/>
            <a:ext cx="3046548" cy="194310"/>
          </a:xfrm>
          <a:prstGeom prst="rect">
            <a:avLst/>
          </a:prstGeom>
          <a:noFill/>
        </p:spPr>
        <p:txBody>
          <a:bodyPr wrap="none" lIns="0" rIns="0" tIns="0" bIns="0">
            <a:spAutoFit/>
          </a:bodyPr>
          <a:lstStyle/>
          <a:p>
            <a:r>
              <a:rPr sz="1150" b="0">
                <a:solidFill>
                  <a:srgbClr val="2E2E2E"/>
                </a:solidFill>
                <a:latin typeface="Calibri"/>
              </a:rPr>
              <a:t>▪ 'Gluten-free' is the largest dietary formulation at</a:t>
            </a:r>
          </a:p>
        </p:txBody>
      </p:sp>
      <p:pic>
        <p:nvPicPr>
          <p:cNvPr id="22" name="Picture 21" descr="lock.png"/>
          <p:cNvPicPr>
            <a:picLocks noChangeAspect="1"/>
          </p:cNvPicPr>
          <p:nvPr/>
        </p:nvPicPr>
        <p:blipFill>
          <a:blip r:embed="rId4"/>
          <a:stretch>
            <a:fillRect/>
          </a:stretch>
        </p:blipFill>
        <p:spPr>
          <a:xfrm>
            <a:off x="3271927" y="3475926"/>
            <a:ext cx="134549" cy="195707"/>
          </a:xfrm>
          <a:prstGeom prst="rect">
            <a:avLst/>
          </a:prstGeom>
        </p:spPr>
      </p:pic>
      <p:sp>
        <p:nvSpPr>
          <p:cNvPr id="23" name="TextBox 22"/>
          <p:cNvSpPr txBox="1"/>
          <p:nvPr/>
        </p:nvSpPr>
        <p:spPr>
          <a:xfrm>
            <a:off x="3447037"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2969" y="3475926"/>
            <a:ext cx="134549" cy="195707"/>
          </a:xfrm>
          <a:prstGeom prst="rect">
            <a:avLst/>
          </a:prstGeom>
        </p:spPr>
      </p:pic>
      <p:sp>
        <p:nvSpPr>
          <p:cNvPr id="25" name="TextBox 24"/>
          <p:cNvSpPr txBox="1"/>
          <p:nvPr/>
        </p:nvSpPr>
        <p:spPr>
          <a:xfrm>
            <a:off x="4528079"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836216" cy="194310"/>
          </a:xfrm>
          <a:prstGeom prst="rect">
            <a:avLst/>
          </a:prstGeom>
          <a:noFill/>
        </p:spPr>
        <p:txBody>
          <a:bodyPr wrap="none" lIns="0" rIns="0" tIns="0" bIns="0">
            <a:spAutoFit/>
          </a:bodyPr>
          <a:lstStyle/>
          <a:p>
            <a:r>
              <a:rPr sz="1150" b="0">
                <a:solidFill>
                  <a:srgbClr val="2E2E2E"/>
                </a:solidFill>
                <a:latin typeface="Calibri"/>
              </a:rPr>
              <a:t>▪ 'Conventional' grows fastest</a:t>
            </a:r>
          </a:p>
        </p:txBody>
      </p:sp>
      <p:pic>
        <p:nvPicPr>
          <p:cNvPr id="27" name="Picture 26" descr="lock.png"/>
          <p:cNvPicPr>
            <a:picLocks noChangeAspect="1"/>
          </p:cNvPicPr>
          <p:nvPr/>
        </p:nvPicPr>
        <p:blipFill>
          <a:blip r:embed="rId4"/>
          <a:stretch>
            <a:fillRect/>
          </a:stretch>
        </p:blipFill>
        <p:spPr>
          <a:xfrm>
            <a:off x="2061595" y="3703764"/>
            <a:ext cx="134549" cy="195707"/>
          </a:xfrm>
          <a:prstGeom prst="rect">
            <a:avLst/>
          </a:prstGeom>
        </p:spPr>
      </p:pic>
      <p:sp>
        <p:nvSpPr>
          <p:cNvPr id="28" name="TextBox 27"/>
          <p:cNvSpPr txBox="1"/>
          <p:nvPr/>
        </p:nvSpPr>
        <p:spPr>
          <a:xfrm>
            <a:off x="22367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45270" cy="194310"/>
          </a:xfrm>
          <a:prstGeom prst="rect">
            <a:avLst/>
          </a:prstGeom>
          <a:noFill/>
        </p:spPr>
        <p:txBody>
          <a:bodyPr wrap="none" lIns="0" rIns="0" tIns="0" bIns="0">
            <a:spAutoFit/>
          </a:bodyPr>
          <a:lstStyle/>
          <a:p>
            <a:r>
              <a:rPr sz="1150" b="0">
                <a:solidFill>
                  <a:srgbClr val="2E2E2E"/>
                </a:solidFill>
                <a:latin typeface="Calibri"/>
              </a:rPr>
              <a:t>▪ Share shifts toward 'Gluten-free' (+</a:t>
            </a:r>
          </a:p>
        </p:txBody>
      </p:sp>
      <p:pic>
        <p:nvPicPr>
          <p:cNvPr id="30" name="Picture 29" descr="lock.png"/>
          <p:cNvPicPr>
            <a:picLocks noChangeAspect="1"/>
          </p:cNvPicPr>
          <p:nvPr/>
        </p:nvPicPr>
        <p:blipFill>
          <a:blip r:embed="rId4"/>
          <a:stretch>
            <a:fillRect/>
          </a:stretch>
        </p:blipFill>
        <p:spPr>
          <a:xfrm>
            <a:off x="2470649" y="3931602"/>
            <a:ext cx="134549" cy="195707"/>
          </a:xfrm>
          <a:prstGeom prst="rect">
            <a:avLst/>
          </a:prstGeom>
        </p:spPr>
      </p:pic>
      <p:sp>
        <p:nvSpPr>
          <p:cNvPr id="31" name="TextBox 30"/>
          <p:cNvSpPr txBox="1"/>
          <p:nvPr/>
        </p:nvSpPr>
        <p:spPr>
          <a:xfrm>
            <a:off x="2645758" y="3941825"/>
            <a:ext cx="2814922" cy="194310"/>
          </a:xfrm>
          <a:prstGeom prst="rect">
            <a:avLst/>
          </a:prstGeom>
          <a:noFill/>
        </p:spPr>
        <p:txBody>
          <a:bodyPr wrap="none" lIns="0" rIns="0" tIns="0" bIns="0">
            <a:spAutoFit/>
          </a:bodyPr>
          <a:lstStyle/>
          <a:p>
            <a:r>
              <a:rPr sz="1150" b="0">
                <a:solidFill>
                  <a:srgbClr val="2E2E2E"/>
                </a:solidFill>
                <a:latin typeface="Calibri"/>
              </a:rPr>
              <a:t>BPS) and away from 'Gluten-free and vegan' (-</a:t>
            </a:r>
          </a:p>
        </p:txBody>
      </p:sp>
      <p:pic>
        <p:nvPicPr>
          <p:cNvPr id="32" name="Picture 31" descr="lock.png"/>
          <p:cNvPicPr>
            <a:picLocks noChangeAspect="1"/>
          </p:cNvPicPr>
          <p:nvPr/>
        </p:nvPicPr>
        <p:blipFill>
          <a:blip r:embed="rId4"/>
          <a:stretch>
            <a:fillRect/>
          </a:stretch>
        </p:blipFill>
        <p:spPr>
          <a:xfrm>
            <a:off x="5409835" y="3931602"/>
            <a:ext cx="134549" cy="195707"/>
          </a:xfrm>
          <a:prstGeom prst="rect">
            <a:avLst/>
          </a:prstGeom>
        </p:spPr>
      </p:pic>
      <p:sp>
        <p:nvSpPr>
          <p:cNvPr id="33" name="TextBox 32"/>
          <p:cNvSpPr txBox="1"/>
          <p:nvPr/>
        </p:nvSpPr>
        <p:spPr>
          <a:xfrm>
            <a:off x="5584944"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Dietary Formulation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Dietary Formulation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Dietary Formulation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168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769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07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Vegan</a:t>
            </a:r>
          </a:p>
        </p:txBody>
      </p:sp>
      <p:sp>
        <p:nvSpPr>
          <p:cNvPr id="19" name="BPS Value 1"/>
          <p:cNvSpPr txBox="1"/>
          <p:nvPr/>
        </p:nvSpPr>
        <p:spPr>
          <a:xfrm>
            <a:off x="6896100" y="17626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1406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30930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331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23" name="BPS Value 2"/>
          <p:cNvSpPr txBox="1"/>
          <p:nvPr/>
        </p:nvSpPr>
        <p:spPr>
          <a:xfrm>
            <a:off x="6896100" y="229501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0399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992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230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and vegan</a:t>
            </a:r>
          </a:p>
        </p:txBody>
      </p:sp>
      <p:sp>
        <p:nvSpPr>
          <p:cNvPr id="27" name="BPS Value 3"/>
          <p:cNvSpPr txBox="1"/>
          <p:nvPr/>
        </p:nvSpPr>
        <p:spPr>
          <a:xfrm>
            <a:off x="6896100" y="33849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578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5304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7684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(base)</a:t>
            </a:r>
          </a:p>
        </p:txBody>
      </p:sp>
      <p:sp>
        <p:nvSpPr>
          <p:cNvPr id="31" name="BPS Value 4"/>
          <p:cNvSpPr txBox="1"/>
          <p:nvPr/>
        </p:nvSpPr>
        <p:spPr>
          <a:xfrm>
            <a:off x="6896100" y="51387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Dietary Formulation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82353" cy="194310"/>
          </a:xfrm>
          <a:prstGeom prst="rect">
            <a:avLst/>
          </a:prstGeom>
          <a:noFill/>
        </p:spPr>
        <p:txBody>
          <a:bodyPr wrap="none" lIns="0" rIns="0" tIns="0" bIns="0">
            <a:spAutoFit/>
          </a:bodyPr>
          <a:lstStyle/>
          <a:p>
            <a:r>
              <a:rPr sz="1150" b="0">
                <a:solidFill>
                  <a:srgbClr val="2E2E2E"/>
                </a:solidFill>
                <a:latin typeface="Calibri"/>
              </a:rPr>
              <a:t>▪ 'Gluten-free' gains the most share +</a:t>
            </a:r>
          </a:p>
        </p:txBody>
      </p:sp>
      <p:pic>
        <p:nvPicPr>
          <p:cNvPr id="39" name="Picture 38" descr="lock.png"/>
          <p:cNvPicPr>
            <a:picLocks noChangeAspect="1"/>
          </p:cNvPicPr>
          <p:nvPr/>
        </p:nvPicPr>
        <p:blipFill>
          <a:blip r:embed="rId5"/>
          <a:stretch>
            <a:fillRect/>
          </a:stretch>
        </p:blipFill>
        <p:spPr>
          <a:xfrm>
            <a:off x="10061057" y="1389951"/>
            <a:ext cx="134549" cy="195707"/>
          </a:xfrm>
          <a:prstGeom prst="rect">
            <a:avLst/>
          </a:prstGeom>
        </p:spPr>
      </p:pic>
      <p:sp>
        <p:nvSpPr>
          <p:cNvPr id="40" name="TextBox 39"/>
          <p:cNvSpPr txBox="1"/>
          <p:nvPr/>
        </p:nvSpPr>
        <p:spPr>
          <a:xfrm>
            <a:off x="10236166"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572456" cy="194310"/>
          </a:xfrm>
          <a:prstGeom prst="rect">
            <a:avLst/>
          </a:prstGeom>
          <a:noFill/>
        </p:spPr>
        <p:txBody>
          <a:bodyPr wrap="none" lIns="0" rIns="0" tIns="0" bIns="0">
            <a:spAutoFit/>
          </a:bodyPr>
          <a:lstStyle/>
          <a:p>
            <a:r>
              <a:rPr sz="1150" b="0">
                <a:solidFill>
                  <a:srgbClr val="2E2E2E"/>
                </a:solidFill>
                <a:latin typeface="Calibri"/>
              </a:rPr>
              <a:t>▪ 'Gluten-free and vegan' cedes the most -</a:t>
            </a:r>
          </a:p>
        </p:txBody>
      </p:sp>
      <p:pic>
        <p:nvPicPr>
          <p:cNvPr id="43" name="Picture 42" descr="lock.png"/>
          <p:cNvPicPr>
            <a:picLocks noChangeAspect="1"/>
          </p:cNvPicPr>
          <p:nvPr/>
        </p:nvPicPr>
        <p:blipFill>
          <a:blip r:embed="rId5"/>
          <a:stretch>
            <a:fillRect/>
          </a:stretch>
        </p:blipFill>
        <p:spPr>
          <a:xfrm>
            <a:off x="10351160" y="1793049"/>
            <a:ext cx="134549" cy="195707"/>
          </a:xfrm>
          <a:prstGeom prst="rect">
            <a:avLst/>
          </a:prstGeom>
        </p:spPr>
      </p:pic>
      <p:sp>
        <p:nvSpPr>
          <p:cNvPr id="44" name="TextBox 43"/>
          <p:cNvSpPr txBox="1"/>
          <p:nvPr/>
        </p:nvSpPr>
        <p:spPr>
          <a:xfrm>
            <a:off x="10526270"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668972" cy="194310"/>
          </a:xfrm>
          <a:prstGeom prst="rect">
            <a:avLst/>
          </a:prstGeom>
          <a:noFill/>
        </p:spPr>
        <p:txBody>
          <a:bodyPr wrap="none" lIns="0" rIns="0" tIns="0" bIns="0">
            <a:spAutoFit/>
          </a:bodyPr>
          <a:lstStyle/>
          <a:p>
            <a:r>
              <a:rPr sz="1150" b="0">
                <a:solidFill>
                  <a:srgbClr val="2E2E2E"/>
                </a:solidFill>
                <a:latin typeface="Calibri"/>
              </a:rPr>
              <a:t>▪ 'Conventional' is the fastest-growing dietary formulation at</a:t>
            </a:r>
          </a:p>
        </p:txBody>
      </p:sp>
      <p:pic>
        <p:nvPicPr>
          <p:cNvPr id="47" name="Picture 46" descr="lock.png"/>
          <p:cNvPicPr>
            <a:picLocks noChangeAspect="1"/>
          </p:cNvPicPr>
          <p:nvPr/>
        </p:nvPicPr>
        <p:blipFill>
          <a:blip r:embed="rId5"/>
          <a:stretch>
            <a:fillRect/>
          </a:stretch>
        </p:blipFill>
        <p:spPr>
          <a:xfrm>
            <a:off x="11447676" y="2196147"/>
            <a:ext cx="134549" cy="195707"/>
          </a:xfrm>
          <a:prstGeom prst="rect">
            <a:avLst/>
          </a:prstGeom>
        </p:spPr>
      </p:pic>
      <p:sp>
        <p:nvSpPr>
          <p:cNvPr id="48" name="TextBox 47"/>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9" name="TextBox 48"/>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0" name="Picture 49" descr="lock.png"/>
          <p:cNvPicPr>
            <a:picLocks noChangeAspect="1"/>
          </p:cNvPicPr>
          <p:nvPr/>
        </p:nvPicPr>
        <p:blipFill>
          <a:blip r:embed="rId5"/>
          <a:stretch>
            <a:fillRect/>
          </a:stretch>
        </p:blipFill>
        <p:spPr>
          <a:xfrm>
            <a:off x="9327669" y="2599245"/>
            <a:ext cx="134549" cy="195707"/>
          </a:xfrm>
          <a:prstGeom prst="rect">
            <a:avLst/>
          </a:prstGeom>
        </p:spPr>
      </p:pic>
      <p:sp>
        <p:nvSpPr>
          <p:cNvPr id="51" name="TextBox 50"/>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2" name="Picture 51" descr="lock.png"/>
          <p:cNvPicPr>
            <a:picLocks noChangeAspect="1"/>
          </p:cNvPicPr>
          <p:nvPr/>
        </p:nvPicPr>
        <p:blipFill>
          <a:blip r:embed="rId5"/>
          <a:stretch>
            <a:fillRect/>
          </a:stretch>
        </p:blipFill>
        <p:spPr>
          <a:xfrm>
            <a:off x="9654215" y="2599245"/>
            <a:ext cx="134549" cy="195707"/>
          </a:xfrm>
          <a:prstGeom prst="rect">
            <a:avLst/>
          </a:prstGeom>
        </p:spPr>
      </p:pic>
      <p:sp>
        <p:nvSpPr>
          <p:cNvPr id="53" name="TextBox 52"/>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4" name="TextBox 53"/>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5" name="TextBox 54"/>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Dietary Formulation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Dietary Formulation,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Dietary Formulation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1238250"/>
        </p:xfrm>
        <a:graphic>
          <a:graphicData uri="http://schemas.openxmlformats.org/drawingml/2006/table">
            <a:tbl>
              <a:tblPr>
                <a:tableStyleId>{5C22544A-7EE6-4342-B048-85BDC9FD1C3A}</a:tableStyleId>
              </a:tblPr>
              <a:tblGrid>
                <a:gridCol w="1739911"/>
                <a:gridCol w="676486"/>
                <a:gridCol w="676486"/>
                <a:gridCol w="676486"/>
                <a:gridCol w="676486"/>
                <a:gridCol w="676486"/>
                <a:gridCol w="676486"/>
                <a:gridCol w="676486"/>
                <a:gridCol w="676486"/>
                <a:gridCol w="676486"/>
                <a:gridCol w="676486"/>
                <a:gridCol w="676486"/>
                <a:gridCol w="676486"/>
                <a:gridCol w="676486"/>
                <a:gridCol w="676486"/>
                <a:gridCol w="676486"/>
              </a:tblGrid>
              <a:tr h="246126">
                <a:tc>
                  <a:txBody>
                    <a:bodyPr wrap="none"/>
                    <a:lstStyle/>
                    <a:p>
                      <a:pPr algn="l"/>
                      <a:r>
                        <a:rPr sz="1100" b="1">
                          <a:solidFill>
                            <a:srgbClr val="0B2E4A"/>
                          </a:solidFill>
                          <a:latin typeface="Calibri"/>
                        </a:rPr>
                        <a:t>Dietary Formulation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Conventional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Vegan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Gluten-free and vegan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Dietary Formulation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33" name="Rectangle 32"/>
          <p:cNvSpPr/>
          <p:nvPr/>
        </p:nvSpPr>
        <p:spPr>
          <a:xfrm>
            <a:off x="1857375" y="3248025"/>
            <a:ext cx="643890" cy="831056"/>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a:t>
            </a:r>
          </a:p>
        </p:txBody>
      </p:sp>
      <p:sp>
        <p:nvSpPr>
          <p:cNvPr id="49" name="Rectangle 48"/>
          <p:cNvSpPr/>
          <p:nvPr/>
        </p:nvSpPr>
        <p:spPr>
          <a:xfrm>
            <a:off x="1857375" y="4079081"/>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Vegan</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Gluten-free and vegan</a:t>
            </a:r>
          </a:p>
        </p:txBody>
      </p:sp>
      <p:sp>
        <p:nvSpPr>
          <p:cNvPr id="81" name="Rectangle 80"/>
          <p:cNvSpPr/>
          <p:nvPr/>
        </p:nvSpPr>
        <p:spPr>
          <a:xfrm>
            <a:off x="1857375" y="5741194"/>
            <a:ext cx="643890" cy="831056"/>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779266"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Nutritional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Nutritional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Protein-enriched</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indulgent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Reduced-sugar</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nutrition-focused formulati…</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Nutritional Positioning split shows how demand is distributed across nutritional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2_288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4_184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6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08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3_280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86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_308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9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21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20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2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'Protein-enriched' holds the largest share in 2026</a:t>
            </a:r>
          </a:p>
        </p:txBody>
      </p:sp>
      <p:pic>
        <p:nvPicPr>
          <p:cNvPr id="81" name="Picture 80" descr="lock.png"/>
          <p:cNvPicPr>
            <a:picLocks noChangeAspect="1"/>
          </p:cNvPicPr>
          <p:nvPr/>
        </p:nvPicPr>
        <p:blipFill>
          <a:blip r:embed="rId16"/>
          <a:stretch>
            <a:fillRect/>
          </a:stretch>
        </p:blipFill>
        <p:spPr>
          <a:xfrm>
            <a:off x="472307" y="4387298"/>
            <a:ext cx="128699" cy="187198"/>
          </a:xfrm>
          <a:prstGeom prst="rect">
            <a:avLst/>
          </a:prstGeom>
        </p:spPr>
      </p:pic>
      <p:sp>
        <p:nvSpPr>
          <p:cNvPr id="82" name="TextBox 81"/>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305397" cy="186689"/>
          </a:xfrm>
          <a:prstGeom prst="rect">
            <a:avLst/>
          </a:prstGeom>
          <a:noFill/>
        </p:spPr>
        <p:txBody>
          <a:bodyPr wrap="none" lIns="0" rIns="0" tIns="0" bIns="0">
            <a:spAutoFit/>
          </a:bodyPr>
          <a:lstStyle/>
          <a:p>
            <a:r>
              <a:rPr sz="1100" b="0">
                <a:solidFill>
                  <a:srgbClr val="2E2E2E"/>
                </a:solidFill>
                <a:latin typeface="Calibri"/>
              </a:rPr>
              <a:t>▪ 'Fibre-enriched' is the fastest-growing</a:t>
            </a:r>
          </a:p>
        </p:txBody>
      </p:sp>
      <p:sp>
        <p:nvSpPr>
          <p:cNvPr id="84" name="TextBox 8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5" name="Picture 84" descr="lock.png"/>
          <p:cNvPicPr>
            <a:picLocks noChangeAspect="1"/>
          </p:cNvPicPr>
          <p:nvPr/>
        </p:nvPicPr>
        <p:blipFill>
          <a:blip r:embed="rId16"/>
          <a:stretch>
            <a:fillRect/>
          </a:stretch>
        </p:blipFill>
        <p:spPr>
          <a:xfrm>
            <a:off x="1391064" y="4772870"/>
            <a:ext cx="128699" cy="187198"/>
          </a:xfrm>
          <a:prstGeom prst="rect">
            <a:avLst/>
          </a:prstGeom>
        </p:spPr>
      </p:pic>
      <p:sp>
        <p:nvSpPr>
          <p:cNvPr id="86" name="TextBox 8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424906" cy="186689"/>
          </a:xfrm>
          <a:prstGeom prst="rect">
            <a:avLst/>
          </a:prstGeom>
          <a:noFill/>
        </p:spPr>
        <p:txBody>
          <a:bodyPr wrap="none" lIns="0" rIns="0" tIns="0" bIns="0">
            <a:spAutoFit/>
          </a:bodyPr>
          <a:lstStyle/>
          <a:p>
            <a:r>
              <a:rPr sz="1100" b="0">
                <a:solidFill>
                  <a:srgbClr val="2E2E2E"/>
                </a:solidFill>
                <a:latin typeface="Calibri"/>
              </a:rPr>
              <a:t>▪ 7 sub-segments make up the nutritional</a:t>
            </a:r>
          </a:p>
        </p:txBody>
      </p:sp>
      <p:sp>
        <p:nvSpPr>
          <p:cNvPr id="94" name="TextBox 93"/>
          <p:cNvSpPr txBox="1"/>
          <p:nvPr/>
        </p:nvSpPr>
        <p:spPr>
          <a:xfrm>
            <a:off x="485775" y="5553793"/>
            <a:ext cx="1343868" cy="186689"/>
          </a:xfrm>
          <a:prstGeom prst="rect">
            <a:avLst/>
          </a:prstGeom>
          <a:noFill/>
        </p:spPr>
        <p:txBody>
          <a:bodyPr wrap="none" lIns="0" rIns="0" tIns="0" bIns="0">
            <a:spAutoFit/>
          </a:bodyPr>
          <a:lstStyle/>
          <a:p>
            <a:r>
              <a:rPr sz="1100" b="0">
                <a:solidFill>
                  <a:srgbClr val="2E2E2E"/>
                </a:solidFill>
                <a:latin typeface="Calibri"/>
              </a:rPr>
              <a:t>positioning landscape.</a:t>
            </a:r>
          </a:p>
        </p:txBody>
      </p:sp>
      <p:sp>
        <p:nvSpPr>
          <p:cNvPr id="95" name="TextBox 94"/>
          <p:cNvSpPr txBox="1"/>
          <p:nvPr/>
        </p:nvSpPr>
        <p:spPr>
          <a:xfrm>
            <a:off x="3838575" y="4229437"/>
            <a:ext cx="1188888" cy="186689"/>
          </a:xfrm>
          <a:prstGeom prst="rect">
            <a:avLst/>
          </a:prstGeom>
          <a:noFill/>
        </p:spPr>
        <p:txBody>
          <a:bodyPr wrap="none" lIns="0" rIns="0" tIns="0" bIns="0">
            <a:spAutoFit/>
          </a:bodyPr>
          <a:lstStyle/>
          <a:p>
            <a:r>
              <a:rPr sz="1100" b="0">
                <a:solidFill>
                  <a:srgbClr val="2E2E2E"/>
                </a:solidFill>
                <a:latin typeface="Calibri"/>
              </a:rPr>
              <a:t>● Protein-enriched:</a:t>
            </a:r>
          </a:p>
        </p:txBody>
      </p:sp>
      <p:pic>
        <p:nvPicPr>
          <p:cNvPr id="96" name="Picture 95" descr="lock.png"/>
          <p:cNvPicPr>
            <a:picLocks noChangeAspect="1"/>
          </p:cNvPicPr>
          <p:nvPr/>
        </p:nvPicPr>
        <p:blipFill>
          <a:blip r:embed="rId16"/>
          <a:stretch>
            <a:fillRect/>
          </a:stretch>
        </p:blipFill>
        <p:spPr>
          <a:xfrm>
            <a:off x="4975515" y="4219658"/>
            <a:ext cx="128699" cy="187198"/>
          </a:xfrm>
          <a:prstGeom prst="rect">
            <a:avLst/>
          </a:prstGeom>
        </p:spPr>
      </p:pic>
      <p:sp>
        <p:nvSpPr>
          <p:cNvPr id="97" name="TextBox 96"/>
          <p:cNvSpPr txBox="1"/>
          <p:nvPr/>
        </p:nvSpPr>
        <p:spPr>
          <a:xfrm>
            <a:off x="51430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8" name="Picture 97" descr="lock.png"/>
          <p:cNvPicPr>
            <a:picLocks noChangeAspect="1"/>
          </p:cNvPicPr>
          <p:nvPr/>
        </p:nvPicPr>
        <p:blipFill>
          <a:blip r:embed="rId16"/>
          <a:stretch>
            <a:fillRect/>
          </a:stretch>
        </p:blipFill>
        <p:spPr>
          <a:xfrm>
            <a:off x="6002461" y="4219658"/>
            <a:ext cx="128699" cy="187198"/>
          </a:xfrm>
          <a:prstGeom prst="rect">
            <a:avLst/>
          </a:prstGeom>
        </p:spPr>
      </p:pic>
      <p:sp>
        <p:nvSpPr>
          <p:cNvPr id="99" name="TextBox 98"/>
          <p:cNvSpPr txBox="1"/>
          <p:nvPr/>
        </p:nvSpPr>
        <p:spPr>
          <a:xfrm>
            <a:off x="616995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0" name="TextBox 99"/>
          <p:cNvSpPr txBox="1"/>
          <p:nvPr/>
        </p:nvSpPr>
        <p:spPr>
          <a:xfrm>
            <a:off x="3838575" y="4447369"/>
            <a:ext cx="1400894" cy="186689"/>
          </a:xfrm>
          <a:prstGeom prst="rect">
            <a:avLst/>
          </a:prstGeom>
          <a:noFill/>
        </p:spPr>
        <p:txBody>
          <a:bodyPr wrap="none" lIns="0" rIns="0" tIns="0" bIns="0">
            <a:spAutoFit/>
          </a:bodyPr>
          <a:lstStyle/>
          <a:p>
            <a:r>
              <a:rPr sz="1100" b="0">
                <a:solidFill>
                  <a:srgbClr val="2E2E2E"/>
                </a:solidFill>
                <a:latin typeface="Calibri"/>
              </a:rPr>
              <a:t>● Standard / indulgent:</a:t>
            </a:r>
          </a:p>
        </p:txBody>
      </p:sp>
      <p:pic>
        <p:nvPicPr>
          <p:cNvPr id="101" name="Picture 100" descr="lock.png"/>
          <p:cNvPicPr>
            <a:picLocks noChangeAspect="1"/>
          </p:cNvPicPr>
          <p:nvPr/>
        </p:nvPicPr>
        <p:blipFill>
          <a:blip r:embed="rId16"/>
          <a:stretch>
            <a:fillRect/>
          </a:stretch>
        </p:blipFill>
        <p:spPr>
          <a:xfrm>
            <a:off x="5187520" y="4437590"/>
            <a:ext cx="128699" cy="187198"/>
          </a:xfrm>
          <a:prstGeom prst="rect">
            <a:avLst/>
          </a:prstGeom>
        </p:spPr>
      </p:pic>
      <p:sp>
        <p:nvSpPr>
          <p:cNvPr id="102" name="TextBox 101"/>
          <p:cNvSpPr txBox="1"/>
          <p:nvPr/>
        </p:nvSpPr>
        <p:spPr>
          <a:xfrm>
            <a:off x="535501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3" name="Picture 102" descr="lock.png"/>
          <p:cNvPicPr>
            <a:picLocks noChangeAspect="1"/>
          </p:cNvPicPr>
          <p:nvPr/>
        </p:nvPicPr>
        <p:blipFill>
          <a:blip r:embed="rId16"/>
          <a:stretch>
            <a:fillRect/>
          </a:stretch>
        </p:blipFill>
        <p:spPr>
          <a:xfrm>
            <a:off x="6214466" y="4437590"/>
            <a:ext cx="128699" cy="187198"/>
          </a:xfrm>
          <a:prstGeom prst="rect">
            <a:avLst/>
          </a:prstGeom>
        </p:spPr>
      </p:pic>
      <p:sp>
        <p:nvSpPr>
          <p:cNvPr id="104" name="TextBox 103"/>
          <p:cNvSpPr txBox="1"/>
          <p:nvPr/>
        </p:nvSpPr>
        <p:spPr>
          <a:xfrm>
            <a:off x="638196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5" name="TextBox 104"/>
          <p:cNvSpPr txBox="1"/>
          <p:nvPr/>
        </p:nvSpPr>
        <p:spPr>
          <a:xfrm>
            <a:off x="3838575" y="4665301"/>
            <a:ext cx="1076200" cy="186689"/>
          </a:xfrm>
          <a:prstGeom prst="rect">
            <a:avLst/>
          </a:prstGeom>
          <a:noFill/>
        </p:spPr>
        <p:txBody>
          <a:bodyPr wrap="none" lIns="0" rIns="0" tIns="0" bIns="0">
            <a:spAutoFit/>
          </a:bodyPr>
          <a:lstStyle/>
          <a:p>
            <a:r>
              <a:rPr sz="1100" b="0">
                <a:solidFill>
                  <a:srgbClr val="2E2E2E"/>
                </a:solidFill>
                <a:latin typeface="Calibri"/>
              </a:rPr>
              <a:t>● Reduced-sugar:</a:t>
            </a:r>
          </a:p>
        </p:txBody>
      </p:sp>
      <p:pic>
        <p:nvPicPr>
          <p:cNvPr id="106" name="Picture 105" descr="lock.png"/>
          <p:cNvPicPr>
            <a:picLocks noChangeAspect="1"/>
          </p:cNvPicPr>
          <p:nvPr/>
        </p:nvPicPr>
        <p:blipFill>
          <a:blip r:embed="rId16"/>
          <a:stretch>
            <a:fillRect/>
          </a:stretch>
        </p:blipFill>
        <p:spPr>
          <a:xfrm>
            <a:off x="4862827" y="4655522"/>
            <a:ext cx="128699" cy="187198"/>
          </a:xfrm>
          <a:prstGeom prst="rect">
            <a:avLst/>
          </a:prstGeom>
        </p:spPr>
      </p:pic>
      <p:sp>
        <p:nvSpPr>
          <p:cNvPr id="107" name="TextBox 106"/>
          <p:cNvSpPr txBox="1"/>
          <p:nvPr/>
        </p:nvSpPr>
        <p:spPr>
          <a:xfrm>
            <a:off x="50303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8" name="Picture 107" descr="lock.png"/>
          <p:cNvPicPr>
            <a:picLocks noChangeAspect="1"/>
          </p:cNvPicPr>
          <p:nvPr/>
        </p:nvPicPr>
        <p:blipFill>
          <a:blip r:embed="rId16"/>
          <a:stretch>
            <a:fillRect/>
          </a:stretch>
        </p:blipFill>
        <p:spPr>
          <a:xfrm>
            <a:off x="5889773" y="4655522"/>
            <a:ext cx="128699" cy="187198"/>
          </a:xfrm>
          <a:prstGeom prst="rect">
            <a:avLst/>
          </a:prstGeom>
        </p:spPr>
      </p:pic>
      <p:sp>
        <p:nvSpPr>
          <p:cNvPr id="109" name="TextBox 108"/>
          <p:cNvSpPr txBox="1"/>
          <p:nvPr/>
        </p:nvSpPr>
        <p:spPr>
          <a:xfrm>
            <a:off x="6057269"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0" name="TextBox 109"/>
          <p:cNvSpPr txBox="1"/>
          <p:nvPr/>
        </p:nvSpPr>
        <p:spPr>
          <a:xfrm>
            <a:off x="3838575" y="4883233"/>
            <a:ext cx="2344142" cy="186689"/>
          </a:xfrm>
          <a:prstGeom prst="rect">
            <a:avLst/>
          </a:prstGeom>
          <a:noFill/>
        </p:spPr>
        <p:txBody>
          <a:bodyPr wrap="none" lIns="0" rIns="0" tIns="0" bIns="0">
            <a:spAutoFit/>
          </a:bodyPr>
          <a:lstStyle/>
          <a:p>
            <a:r>
              <a:rPr sz="1100" b="0">
                <a:solidFill>
                  <a:srgbClr val="2E2E2E"/>
                </a:solidFill>
                <a:latin typeface="Calibri"/>
              </a:rPr>
              <a:t>● Other nutrition-focused formulations:</a:t>
            </a:r>
          </a:p>
        </p:txBody>
      </p:sp>
      <p:pic>
        <p:nvPicPr>
          <p:cNvPr id="111" name="Picture 110" descr="lock.png"/>
          <p:cNvPicPr>
            <a:picLocks noChangeAspect="1"/>
          </p:cNvPicPr>
          <p:nvPr/>
        </p:nvPicPr>
        <p:blipFill>
          <a:blip r:embed="rId16"/>
          <a:stretch>
            <a:fillRect/>
          </a:stretch>
        </p:blipFill>
        <p:spPr>
          <a:xfrm>
            <a:off x="6130768" y="4873454"/>
            <a:ext cx="128699" cy="187198"/>
          </a:xfrm>
          <a:prstGeom prst="rect">
            <a:avLst/>
          </a:prstGeom>
        </p:spPr>
      </p:pic>
      <p:sp>
        <p:nvSpPr>
          <p:cNvPr id="112" name="TextBox 111"/>
          <p:cNvSpPr txBox="1"/>
          <p:nvPr/>
        </p:nvSpPr>
        <p:spPr>
          <a:xfrm>
            <a:off x="629826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3" name="Picture 112" descr="lock.png"/>
          <p:cNvPicPr>
            <a:picLocks noChangeAspect="1"/>
          </p:cNvPicPr>
          <p:nvPr/>
        </p:nvPicPr>
        <p:blipFill>
          <a:blip r:embed="rId16"/>
          <a:stretch>
            <a:fillRect/>
          </a:stretch>
        </p:blipFill>
        <p:spPr>
          <a:xfrm>
            <a:off x="7157714" y="4873454"/>
            <a:ext cx="128699" cy="187198"/>
          </a:xfrm>
          <a:prstGeom prst="rect">
            <a:avLst/>
          </a:prstGeom>
        </p:spPr>
      </p:pic>
      <p:sp>
        <p:nvSpPr>
          <p:cNvPr id="114" name="TextBox 113"/>
          <p:cNvSpPr txBox="1"/>
          <p:nvPr/>
        </p:nvSpPr>
        <p:spPr>
          <a:xfrm>
            <a:off x="7325210" y="4883233"/>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115" name="TextBox 114"/>
          <p:cNvSpPr txBox="1"/>
          <p:nvPr/>
        </p:nvSpPr>
        <p:spPr>
          <a:xfrm>
            <a:off x="3838575" y="5050873"/>
            <a:ext cx="909488" cy="186689"/>
          </a:xfrm>
          <a:prstGeom prst="rect">
            <a:avLst/>
          </a:prstGeom>
          <a:noFill/>
        </p:spPr>
        <p:txBody>
          <a:bodyPr wrap="none" lIns="0" rIns="0" tIns="0" bIns="0">
            <a:spAutoFit/>
          </a:bodyPr>
          <a:lstStyle/>
          <a:p>
            <a:r>
              <a:rPr sz="1100" b="0">
                <a:solidFill>
                  <a:srgbClr val="2E2E2E"/>
                </a:solidFill>
                <a:latin typeface="Calibri"/>
              </a:rPr>
              <a:t>serves a niche.</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Nutritional Positioning segment is projected to</a:t>
            </a:r>
          </a:p>
        </p:txBody>
      </p:sp>
      <p:sp>
        <p:nvSpPr>
          <p:cNvPr id="117" name="TextBox 11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18" name="Picture 117" descr="lock.png"/>
          <p:cNvPicPr>
            <a:picLocks noChangeAspect="1"/>
          </p:cNvPicPr>
          <p:nvPr/>
        </p:nvPicPr>
        <p:blipFill>
          <a:blip r:embed="rId16"/>
          <a:stretch>
            <a:fillRect/>
          </a:stretch>
        </p:blipFill>
        <p:spPr>
          <a:xfrm>
            <a:off x="9651852" y="6007677"/>
            <a:ext cx="134549" cy="195707"/>
          </a:xfrm>
          <a:prstGeom prst="rect">
            <a:avLst/>
          </a:prstGeom>
        </p:spPr>
      </p:pic>
      <p:sp>
        <p:nvSpPr>
          <p:cNvPr id="119" name="TextBox 11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Nutritional Positioning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Nutritional Positioning,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Nutritional Positioning segment categorizes the market by nutritional positioning.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Reduced-fat</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No-added-sugar</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Fibre-enriched</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6" name="Picture 45" descr="1_621_605E5C.png"/>
          <p:cNvPicPr>
            <a:picLocks noChangeAspect="1"/>
          </p:cNvPicPr>
          <p:nvPr/>
        </p:nvPicPr>
        <p:blipFill>
          <a:blip r:embed="rId4"/>
          <a:stretch>
            <a:fillRect/>
          </a:stretch>
        </p:blipFill>
        <p:spPr>
          <a:xfrm>
            <a:off x="2897811" y="2286582"/>
            <a:ext cx="1195728" cy="361950"/>
          </a:xfrm>
          <a:prstGeom prst="rect">
            <a:avLst/>
          </a:prstGeom>
        </p:spPr>
      </p:pic>
      <p:pic>
        <p:nvPicPr>
          <p:cNvPr id="47" name="Picture 46" descr="2_574_605E5C.png"/>
          <p:cNvPicPr>
            <a:picLocks noChangeAspect="1"/>
          </p:cNvPicPr>
          <p:nvPr/>
        </p:nvPicPr>
        <p:blipFill>
          <a:blip r:embed="rId5"/>
          <a:stretch>
            <a:fillRect/>
          </a:stretch>
        </p:blipFill>
        <p:spPr>
          <a:xfrm>
            <a:off x="2897811" y="2779432"/>
            <a:ext cx="1195728" cy="361950"/>
          </a:xfrm>
          <a:prstGeom prst="rect">
            <a:avLst/>
          </a:prstGeom>
        </p:spPr>
      </p:pic>
      <p:pic>
        <p:nvPicPr>
          <p:cNvPr id="48" name="Picture 47" descr="4_7__605E5C.png"/>
          <p:cNvPicPr>
            <a:picLocks noChangeAspect="1"/>
          </p:cNvPicPr>
          <p:nvPr/>
        </p:nvPicPr>
        <p:blipFill>
          <a:blip r:embed="rId6"/>
          <a:stretch>
            <a:fillRect/>
          </a:stretch>
        </p:blipFill>
        <p:spPr>
          <a:xfrm>
            <a:off x="3004457" y="3272281"/>
            <a:ext cx="982436" cy="361950"/>
          </a:xfrm>
          <a:prstGeom prst="rect">
            <a:avLst/>
          </a:prstGeom>
        </p:spPr>
      </p:pic>
      <p:pic>
        <p:nvPicPr>
          <p:cNvPr id="49" name="Picture 48" descr="978_4_605E5C.png"/>
          <p:cNvPicPr>
            <a:picLocks noChangeAspect="1"/>
          </p:cNvPicPr>
          <p:nvPr/>
        </p:nvPicPr>
        <p:blipFill>
          <a:blip r:embed="rId7"/>
          <a:stretch>
            <a:fillRect/>
          </a:stretch>
        </p:blipFill>
        <p:spPr>
          <a:xfrm>
            <a:off x="6269661" y="2286582"/>
            <a:ext cx="1195728" cy="361950"/>
          </a:xfrm>
          <a:prstGeom prst="rect">
            <a:avLst/>
          </a:prstGeom>
        </p:spPr>
      </p:pic>
      <p:pic>
        <p:nvPicPr>
          <p:cNvPr id="50" name="Picture 49" descr="1_501_605E5C.png"/>
          <p:cNvPicPr>
            <a:picLocks noChangeAspect="1"/>
          </p:cNvPicPr>
          <p:nvPr/>
        </p:nvPicPr>
        <p:blipFill>
          <a:blip r:embed="rId8"/>
          <a:stretch>
            <a:fillRect/>
          </a:stretch>
        </p:blipFill>
        <p:spPr>
          <a:xfrm>
            <a:off x="6269661" y="2779432"/>
            <a:ext cx="1195728" cy="361950"/>
          </a:xfrm>
          <a:prstGeom prst="rect">
            <a:avLst/>
          </a:prstGeom>
        </p:spPr>
      </p:pic>
      <p:pic>
        <p:nvPicPr>
          <p:cNvPr id="51" name="Picture 50" descr="4_4__605E5C.png"/>
          <p:cNvPicPr>
            <a:picLocks noChangeAspect="1"/>
          </p:cNvPicPr>
          <p:nvPr/>
        </p:nvPicPr>
        <p:blipFill>
          <a:blip r:embed="rId9"/>
          <a:stretch>
            <a:fillRect/>
          </a:stretch>
        </p:blipFill>
        <p:spPr>
          <a:xfrm>
            <a:off x="6376307" y="3272281"/>
            <a:ext cx="982436" cy="361950"/>
          </a:xfrm>
          <a:prstGeom prst="rect">
            <a:avLst/>
          </a:prstGeom>
        </p:spPr>
      </p:pic>
      <p:pic>
        <p:nvPicPr>
          <p:cNvPr id="52" name="Picture 51" descr="341_6_605E5C.png"/>
          <p:cNvPicPr>
            <a:picLocks noChangeAspect="1"/>
          </p:cNvPicPr>
          <p:nvPr/>
        </p:nvPicPr>
        <p:blipFill>
          <a:blip r:embed="rId10"/>
          <a:stretch>
            <a:fillRect/>
          </a:stretch>
        </p:blipFill>
        <p:spPr>
          <a:xfrm>
            <a:off x="9641511" y="2286582"/>
            <a:ext cx="1195728" cy="361950"/>
          </a:xfrm>
          <a:prstGeom prst="rect">
            <a:avLst/>
          </a:prstGeom>
        </p:spPr>
      </p:pic>
      <p:pic>
        <p:nvPicPr>
          <p:cNvPr id="53" name="Picture 52" descr="697_0_605E5C.png"/>
          <p:cNvPicPr>
            <a:picLocks noChangeAspect="1"/>
          </p:cNvPicPr>
          <p:nvPr/>
        </p:nvPicPr>
        <p:blipFill>
          <a:blip r:embed="rId11"/>
          <a:stretch>
            <a:fillRect/>
          </a:stretch>
        </p:blipFill>
        <p:spPr>
          <a:xfrm>
            <a:off x="9641511" y="2779432"/>
            <a:ext cx="1195728" cy="361950"/>
          </a:xfrm>
          <a:prstGeom prst="rect">
            <a:avLst/>
          </a:prstGeom>
        </p:spPr>
      </p:pic>
      <p:pic>
        <p:nvPicPr>
          <p:cNvPr id="54" name="Picture 53" descr="7_4__605E5C.png"/>
          <p:cNvPicPr>
            <a:picLocks noChangeAspect="1"/>
          </p:cNvPicPr>
          <p:nvPr/>
        </p:nvPicPr>
        <p:blipFill>
          <a:blip r:embed="rId12"/>
          <a:stretch>
            <a:fillRect/>
          </a:stretch>
        </p:blipFill>
        <p:spPr>
          <a:xfrm>
            <a:off x="9748157" y="3272281"/>
            <a:ext cx="982436" cy="361950"/>
          </a:xfrm>
          <a:prstGeom prst="rect">
            <a:avLst/>
          </a:prstGeom>
        </p:spPr>
      </p:pic>
      <p:pic>
        <p:nvPicPr>
          <p:cNvPr id="55" name="Picture 54" descr="lock.png"/>
          <p:cNvPicPr>
            <a:picLocks noChangeAspect="1"/>
          </p:cNvPicPr>
          <p:nvPr/>
        </p:nvPicPr>
        <p:blipFill>
          <a:blip r:embed="rId13"/>
          <a:stretch>
            <a:fillRect/>
          </a:stretch>
        </p:blipFill>
        <p:spPr>
          <a:xfrm>
            <a:off x="3402330" y="2827057"/>
            <a:ext cx="183356" cy="266700"/>
          </a:xfrm>
          <a:prstGeom prst="rect">
            <a:avLst/>
          </a:prstGeom>
        </p:spPr>
      </p:pic>
      <p:pic>
        <p:nvPicPr>
          <p:cNvPr id="56" name="Picture 55" descr="lock.png"/>
          <p:cNvPicPr>
            <a:picLocks noChangeAspect="1"/>
          </p:cNvPicPr>
          <p:nvPr/>
        </p:nvPicPr>
        <p:blipFill>
          <a:blip r:embed="rId13"/>
          <a:stretch>
            <a:fillRect/>
          </a:stretch>
        </p:blipFill>
        <p:spPr>
          <a:xfrm>
            <a:off x="6774180" y="2827057"/>
            <a:ext cx="183356" cy="266700"/>
          </a:xfrm>
          <a:prstGeom prst="rect">
            <a:avLst/>
          </a:prstGeom>
        </p:spPr>
      </p:pic>
      <p:pic>
        <p:nvPicPr>
          <p:cNvPr id="57" name="Picture 56" descr="lock.png"/>
          <p:cNvPicPr>
            <a:picLocks noChangeAspect="1"/>
          </p:cNvPicPr>
          <p:nvPr/>
        </p:nvPicPr>
        <p:blipFill>
          <a:blip r:embed="rId13"/>
          <a:stretch>
            <a:fillRect/>
          </a:stretch>
        </p:blipFill>
        <p:spPr>
          <a:xfrm>
            <a:off x="10146030" y="2827057"/>
            <a:ext cx="183356" cy="266700"/>
          </a:xfrm>
          <a:prstGeom prst="rect">
            <a:avLst/>
          </a:prstGeom>
        </p:spPr>
      </p:pic>
      <p:sp>
        <p:nvSpPr>
          <p:cNvPr id="58" name="TextBox 57"/>
          <p:cNvSpPr txBox="1"/>
          <p:nvPr/>
        </p:nvSpPr>
        <p:spPr>
          <a:xfrm>
            <a:off x="485775" y="4229437"/>
            <a:ext cx="923131" cy="186689"/>
          </a:xfrm>
          <a:prstGeom prst="rect">
            <a:avLst/>
          </a:prstGeom>
          <a:noFill/>
        </p:spPr>
        <p:txBody>
          <a:bodyPr wrap="none" lIns="0" rIns="0" tIns="0" bIns="0">
            <a:spAutoFit/>
          </a:bodyPr>
          <a:lstStyle/>
          <a:p>
            <a:r>
              <a:rPr sz="1100" b="0">
                <a:solidFill>
                  <a:srgbClr val="2E2E2E"/>
                </a:solidFill>
                <a:latin typeface="Calibri"/>
              </a:rPr>
              <a:t>● Reduced-fat:</a:t>
            </a:r>
          </a:p>
        </p:txBody>
      </p:sp>
      <p:pic>
        <p:nvPicPr>
          <p:cNvPr id="59" name="Picture 58" descr="lock.png"/>
          <p:cNvPicPr>
            <a:picLocks noChangeAspect="1"/>
          </p:cNvPicPr>
          <p:nvPr/>
        </p:nvPicPr>
        <p:blipFill>
          <a:blip r:embed="rId13"/>
          <a:stretch>
            <a:fillRect/>
          </a:stretch>
        </p:blipFill>
        <p:spPr>
          <a:xfrm>
            <a:off x="1356957" y="4219658"/>
            <a:ext cx="128699" cy="187198"/>
          </a:xfrm>
          <a:prstGeom prst="rect">
            <a:avLst/>
          </a:prstGeom>
        </p:spPr>
      </p:pic>
      <p:sp>
        <p:nvSpPr>
          <p:cNvPr id="60" name="TextBox 59"/>
          <p:cNvSpPr txBox="1"/>
          <p:nvPr/>
        </p:nvSpPr>
        <p:spPr>
          <a:xfrm>
            <a:off x="152445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1" name="Picture 60" descr="lock.png"/>
          <p:cNvPicPr>
            <a:picLocks noChangeAspect="1"/>
          </p:cNvPicPr>
          <p:nvPr/>
        </p:nvPicPr>
        <p:blipFill>
          <a:blip r:embed="rId13"/>
          <a:stretch>
            <a:fillRect/>
          </a:stretch>
        </p:blipFill>
        <p:spPr>
          <a:xfrm>
            <a:off x="2383903" y="4219658"/>
            <a:ext cx="128699" cy="187198"/>
          </a:xfrm>
          <a:prstGeom prst="rect">
            <a:avLst/>
          </a:prstGeom>
        </p:spPr>
      </p:pic>
      <p:sp>
        <p:nvSpPr>
          <p:cNvPr id="62" name="TextBox 61"/>
          <p:cNvSpPr txBox="1"/>
          <p:nvPr/>
        </p:nvSpPr>
        <p:spPr>
          <a:xfrm>
            <a:off x="2551399"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3" name="TextBox 62"/>
          <p:cNvSpPr txBox="1"/>
          <p:nvPr/>
        </p:nvSpPr>
        <p:spPr>
          <a:xfrm>
            <a:off x="485775" y="4447369"/>
            <a:ext cx="1145232" cy="186689"/>
          </a:xfrm>
          <a:prstGeom prst="rect">
            <a:avLst/>
          </a:prstGeom>
          <a:noFill/>
        </p:spPr>
        <p:txBody>
          <a:bodyPr wrap="none" lIns="0" rIns="0" tIns="0" bIns="0">
            <a:spAutoFit/>
          </a:bodyPr>
          <a:lstStyle/>
          <a:p>
            <a:r>
              <a:rPr sz="1100" b="0">
                <a:solidFill>
                  <a:srgbClr val="2E2E2E"/>
                </a:solidFill>
                <a:latin typeface="Calibri"/>
              </a:rPr>
              <a:t>● No-added-sugar:</a:t>
            </a:r>
          </a:p>
        </p:txBody>
      </p:sp>
      <p:pic>
        <p:nvPicPr>
          <p:cNvPr id="64" name="Picture 63" descr="lock.png"/>
          <p:cNvPicPr>
            <a:picLocks noChangeAspect="1"/>
          </p:cNvPicPr>
          <p:nvPr/>
        </p:nvPicPr>
        <p:blipFill>
          <a:blip r:embed="rId13"/>
          <a:stretch>
            <a:fillRect/>
          </a:stretch>
        </p:blipFill>
        <p:spPr>
          <a:xfrm>
            <a:off x="1579059" y="4437590"/>
            <a:ext cx="128699" cy="187198"/>
          </a:xfrm>
          <a:prstGeom prst="rect">
            <a:avLst/>
          </a:prstGeom>
        </p:spPr>
      </p:pic>
      <p:sp>
        <p:nvSpPr>
          <p:cNvPr id="65" name="TextBox 64"/>
          <p:cNvSpPr txBox="1"/>
          <p:nvPr/>
        </p:nvSpPr>
        <p:spPr>
          <a:xfrm>
            <a:off x="174655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66" name="Picture 65" descr="lock.png"/>
          <p:cNvPicPr>
            <a:picLocks noChangeAspect="1"/>
          </p:cNvPicPr>
          <p:nvPr/>
        </p:nvPicPr>
        <p:blipFill>
          <a:blip r:embed="rId13"/>
          <a:stretch>
            <a:fillRect/>
          </a:stretch>
        </p:blipFill>
        <p:spPr>
          <a:xfrm>
            <a:off x="2606005" y="4437590"/>
            <a:ext cx="128699" cy="187198"/>
          </a:xfrm>
          <a:prstGeom prst="rect">
            <a:avLst/>
          </a:prstGeom>
        </p:spPr>
      </p:pic>
      <p:sp>
        <p:nvSpPr>
          <p:cNvPr id="67" name="TextBox 66"/>
          <p:cNvSpPr txBox="1"/>
          <p:nvPr/>
        </p:nvSpPr>
        <p:spPr>
          <a:xfrm>
            <a:off x="277350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68" name="TextBox 67"/>
          <p:cNvSpPr txBox="1"/>
          <p:nvPr/>
        </p:nvSpPr>
        <p:spPr>
          <a:xfrm>
            <a:off x="485775" y="4665301"/>
            <a:ext cx="1060102" cy="186689"/>
          </a:xfrm>
          <a:prstGeom prst="rect">
            <a:avLst/>
          </a:prstGeom>
          <a:noFill/>
        </p:spPr>
        <p:txBody>
          <a:bodyPr wrap="none" lIns="0" rIns="0" tIns="0" bIns="0">
            <a:spAutoFit/>
          </a:bodyPr>
          <a:lstStyle/>
          <a:p>
            <a:r>
              <a:rPr sz="1100" b="0">
                <a:solidFill>
                  <a:srgbClr val="2E2E2E"/>
                </a:solidFill>
                <a:latin typeface="Calibri"/>
              </a:rPr>
              <a:t>● Fibre-enriched:</a:t>
            </a:r>
          </a:p>
        </p:txBody>
      </p:sp>
      <p:pic>
        <p:nvPicPr>
          <p:cNvPr id="69" name="Picture 68" descr="lock.png"/>
          <p:cNvPicPr>
            <a:picLocks noChangeAspect="1"/>
          </p:cNvPicPr>
          <p:nvPr/>
        </p:nvPicPr>
        <p:blipFill>
          <a:blip r:embed="rId13"/>
          <a:stretch>
            <a:fillRect/>
          </a:stretch>
        </p:blipFill>
        <p:spPr>
          <a:xfrm>
            <a:off x="1493929" y="4655522"/>
            <a:ext cx="128699" cy="187198"/>
          </a:xfrm>
          <a:prstGeom prst="rect">
            <a:avLst/>
          </a:prstGeom>
        </p:spPr>
      </p:pic>
      <p:sp>
        <p:nvSpPr>
          <p:cNvPr id="70" name="TextBox 69"/>
          <p:cNvSpPr txBox="1"/>
          <p:nvPr/>
        </p:nvSpPr>
        <p:spPr>
          <a:xfrm>
            <a:off x="166142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1" name="Picture 70" descr="lock.png"/>
          <p:cNvPicPr>
            <a:picLocks noChangeAspect="1"/>
          </p:cNvPicPr>
          <p:nvPr/>
        </p:nvPicPr>
        <p:blipFill>
          <a:blip r:embed="rId13"/>
          <a:stretch>
            <a:fillRect/>
          </a:stretch>
        </p:blipFill>
        <p:spPr>
          <a:xfrm>
            <a:off x="2520875" y="4655522"/>
            <a:ext cx="128699" cy="187198"/>
          </a:xfrm>
          <a:prstGeom prst="rect">
            <a:avLst/>
          </a:prstGeom>
        </p:spPr>
      </p:pic>
      <p:sp>
        <p:nvSpPr>
          <p:cNvPr id="72" name="TextBox 71"/>
          <p:cNvSpPr txBox="1"/>
          <p:nvPr/>
        </p:nvSpPr>
        <p:spPr>
          <a:xfrm>
            <a:off x="2688371"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Nutritional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Nutritional Positioning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Nutritional Positioning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Nutritional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093667" cy="186689"/>
          </a:xfrm>
          <a:prstGeom prst="rect">
            <a:avLst/>
          </a:prstGeom>
          <a:noFill/>
        </p:spPr>
        <p:txBody>
          <a:bodyPr wrap="none" lIns="0" rIns="0" tIns="0" bIns="0">
            <a:spAutoFit/>
          </a:bodyPr>
          <a:lstStyle/>
          <a:p>
            <a:r>
              <a:rPr sz="1100" b="0">
                <a:solidFill>
                  <a:srgbClr val="2E2E2E"/>
                </a:solidFill>
                <a:latin typeface="Calibri"/>
              </a:rPr>
              <a:t>Between 2026 and 2036, 'Protein-enriched' gains the most share in the Global market (+</a:t>
            </a:r>
          </a:p>
        </p:txBody>
      </p:sp>
      <p:pic>
        <p:nvPicPr>
          <p:cNvPr id="21" name="Picture 20" descr="lock.png"/>
          <p:cNvPicPr>
            <a:picLocks noChangeAspect="1"/>
          </p:cNvPicPr>
          <p:nvPr/>
        </p:nvPicPr>
        <p:blipFill>
          <a:blip r:embed="rId6"/>
          <a:stretch>
            <a:fillRect/>
          </a:stretch>
        </p:blipFill>
        <p:spPr>
          <a:xfrm>
            <a:off x="5298893" y="5851905"/>
            <a:ext cx="128699" cy="187198"/>
          </a:xfrm>
          <a:prstGeom prst="rect">
            <a:avLst/>
          </a:prstGeom>
        </p:spPr>
      </p:pic>
      <p:sp>
        <p:nvSpPr>
          <p:cNvPr id="22" name="TextBox 21"/>
          <p:cNvSpPr txBox="1"/>
          <p:nvPr/>
        </p:nvSpPr>
        <p:spPr>
          <a:xfrm>
            <a:off x="5466389" y="5861685"/>
            <a:ext cx="3235821" cy="186689"/>
          </a:xfrm>
          <a:prstGeom prst="rect">
            <a:avLst/>
          </a:prstGeom>
          <a:noFill/>
        </p:spPr>
        <p:txBody>
          <a:bodyPr wrap="none" lIns="0" rIns="0" tIns="0" bIns="0">
            <a:spAutoFit/>
          </a:bodyPr>
          <a:lstStyle/>
          <a:p>
            <a:r>
              <a:rPr sz="1100" b="0">
                <a:solidFill>
                  <a:srgbClr val="2E2E2E"/>
                </a:solidFill>
                <a:latin typeface="Calibri"/>
              </a:rPr>
              <a:t>BPS) while 'Other nutrition-focused formulations' cedes</a:t>
            </a:r>
          </a:p>
        </p:txBody>
      </p:sp>
      <p:pic>
        <p:nvPicPr>
          <p:cNvPr id="23" name="Picture 22" descr="lock.png"/>
          <p:cNvPicPr>
            <a:picLocks noChangeAspect="1"/>
          </p:cNvPicPr>
          <p:nvPr/>
        </p:nvPicPr>
        <p:blipFill>
          <a:blip r:embed="rId6"/>
          <a:stretch>
            <a:fillRect/>
          </a:stretch>
        </p:blipFill>
        <p:spPr>
          <a:xfrm>
            <a:off x="8650262" y="5851905"/>
            <a:ext cx="128699" cy="187198"/>
          </a:xfrm>
          <a:prstGeom prst="rect">
            <a:avLst/>
          </a:prstGeom>
        </p:spPr>
      </p:pic>
      <p:sp>
        <p:nvSpPr>
          <p:cNvPr id="24" name="TextBox 23"/>
          <p:cNvSpPr txBox="1"/>
          <p:nvPr/>
        </p:nvSpPr>
        <p:spPr>
          <a:xfrm>
            <a:off x="8817758"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Nutritional Positioning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 indulgent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Protein-enriched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Fibre-enriched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Reduced-sugar</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Nutritional Positioning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Nutritional Positioning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No-added-sugar</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Reduced-fat</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nutrition-focused formulations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Nutritional Positioning</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7"/>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286250"/>
            <a:ext cx="3568278" cy="194310"/>
          </a:xfrm>
          <a:prstGeom prst="rect">
            <a:avLst/>
          </a:prstGeom>
          <a:noFill/>
        </p:spPr>
        <p:txBody>
          <a:bodyPr wrap="none" lIns="0" rIns="0" tIns="0" bIns="0">
            <a:spAutoFit/>
          </a:bodyPr>
          <a:lstStyle/>
          <a:p>
            <a:r>
              <a:rPr sz="1150" b="0">
                <a:solidFill>
                  <a:srgbClr val="2E2E2E"/>
                </a:solidFill>
                <a:latin typeface="Calibri"/>
              </a:rPr>
              <a:t>▪ Across its 7 sub-segments, by nutritional positioning adds</a:t>
            </a:r>
          </a:p>
        </p:txBody>
      </p:sp>
      <p:pic>
        <p:nvPicPr>
          <p:cNvPr id="28" name="Picture 27" descr="lock.png"/>
          <p:cNvPicPr>
            <a:picLocks noChangeAspect="1"/>
          </p:cNvPicPr>
          <p:nvPr/>
        </p:nvPicPr>
        <p:blipFill>
          <a:blip r:embed="rId7"/>
          <a:stretch>
            <a:fillRect/>
          </a:stretch>
        </p:blipFill>
        <p:spPr>
          <a:xfrm>
            <a:off x="9822982" y="4276026"/>
            <a:ext cx="134549" cy="195707"/>
          </a:xfrm>
          <a:prstGeom prst="rect">
            <a:avLst/>
          </a:prstGeom>
        </p:spPr>
      </p:pic>
      <p:sp>
        <p:nvSpPr>
          <p:cNvPr id="29" name="TextBox 28"/>
          <p:cNvSpPr txBox="1"/>
          <p:nvPr/>
        </p:nvSpPr>
        <p:spPr>
          <a:xfrm>
            <a:off x="9998091"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0" name="TextBox 29"/>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1" name="TextBox 30"/>
          <p:cNvSpPr txBox="1"/>
          <p:nvPr/>
        </p:nvSpPr>
        <p:spPr>
          <a:xfrm>
            <a:off x="6305550" y="4689347"/>
            <a:ext cx="1541834" cy="194310"/>
          </a:xfrm>
          <a:prstGeom prst="rect">
            <a:avLst/>
          </a:prstGeom>
          <a:noFill/>
        </p:spPr>
        <p:txBody>
          <a:bodyPr wrap="none" lIns="0" rIns="0" tIns="0" bIns="0">
            <a:spAutoFit/>
          </a:bodyPr>
          <a:lstStyle/>
          <a:p>
            <a:r>
              <a:rPr sz="1150" b="0">
                <a:solidFill>
                  <a:srgbClr val="2E2E2E"/>
                </a:solidFill>
                <a:latin typeface="Calibri"/>
              </a:rPr>
              <a:t>▪ 'Protein-enriched' adds</a:t>
            </a:r>
          </a:p>
        </p:txBody>
      </p:sp>
      <p:pic>
        <p:nvPicPr>
          <p:cNvPr id="32" name="Picture 31" descr="lock.png"/>
          <p:cNvPicPr>
            <a:picLocks noChangeAspect="1"/>
          </p:cNvPicPr>
          <p:nvPr/>
        </p:nvPicPr>
        <p:blipFill>
          <a:blip r:embed="rId7"/>
          <a:stretch>
            <a:fillRect/>
          </a:stretch>
        </p:blipFill>
        <p:spPr>
          <a:xfrm>
            <a:off x="7796538" y="4679124"/>
            <a:ext cx="134549" cy="195707"/>
          </a:xfrm>
          <a:prstGeom prst="rect">
            <a:avLst/>
          </a:prstGeom>
        </p:spPr>
      </p:pic>
      <p:sp>
        <p:nvSpPr>
          <p:cNvPr id="33" name="TextBox 32"/>
          <p:cNvSpPr txBox="1"/>
          <p:nvPr/>
        </p:nvSpPr>
        <p:spPr>
          <a:xfrm>
            <a:off x="7971647"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4" name="Picture 33" descr="lock.png"/>
          <p:cNvPicPr>
            <a:picLocks noChangeAspect="1"/>
          </p:cNvPicPr>
          <p:nvPr/>
        </p:nvPicPr>
        <p:blipFill>
          <a:blip r:embed="rId7"/>
          <a:stretch>
            <a:fillRect/>
          </a:stretch>
        </p:blipFill>
        <p:spPr>
          <a:xfrm>
            <a:off x="8544118" y="4679124"/>
            <a:ext cx="134549" cy="195707"/>
          </a:xfrm>
          <a:prstGeom prst="rect">
            <a:avLst/>
          </a:prstGeom>
        </p:spPr>
      </p:pic>
      <p:sp>
        <p:nvSpPr>
          <p:cNvPr id="35" name="TextBox 34"/>
          <p:cNvSpPr txBox="1"/>
          <p:nvPr/>
        </p:nvSpPr>
        <p:spPr>
          <a:xfrm>
            <a:off x="8719227"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6" name="TextBox 35"/>
          <p:cNvSpPr txBox="1"/>
          <p:nvPr/>
        </p:nvSpPr>
        <p:spPr>
          <a:xfrm>
            <a:off x="6305550" y="4917185"/>
            <a:ext cx="1424024" cy="194310"/>
          </a:xfrm>
          <a:prstGeom prst="rect">
            <a:avLst/>
          </a:prstGeom>
          <a:noFill/>
        </p:spPr>
        <p:txBody>
          <a:bodyPr wrap="none" lIns="0" rIns="0" tIns="0" bIns="0">
            <a:spAutoFit/>
          </a:bodyPr>
          <a:lstStyle/>
          <a:p>
            <a:r>
              <a:rPr sz="1150" b="0">
                <a:solidFill>
                  <a:srgbClr val="2E2E2E"/>
                </a:solidFill>
                <a:latin typeface="Calibri"/>
              </a:rPr>
              <a:t>▪ 'Reduced-sugar' adds</a:t>
            </a:r>
          </a:p>
        </p:txBody>
      </p:sp>
      <p:pic>
        <p:nvPicPr>
          <p:cNvPr id="37" name="Picture 36" descr="lock.png"/>
          <p:cNvPicPr>
            <a:picLocks noChangeAspect="1"/>
          </p:cNvPicPr>
          <p:nvPr/>
        </p:nvPicPr>
        <p:blipFill>
          <a:blip r:embed="rId7"/>
          <a:stretch>
            <a:fillRect/>
          </a:stretch>
        </p:blipFill>
        <p:spPr>
          <a:xfrm>
            <a:off x="7678728" y="4906962"/>
            <a:ext cx="134549" cy="195707"/>
          </a:xfrm>
          <a:prstGeom prst="rect">
            <a:avLst/>
          </a:prstGeom>
        </p:spPr>
      </p:pic>
      <p:sp>
        <p:nvSpPr>
          <p:cNvPr id="38" name="TextBox 37"/>
          <p:cNvSpPr txBox="1"/>
          <p:nvPr/>
        </p:nvSpPr>
        <p:spPr>
          <a:xfrm>
            <a:off x="7853837"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9" name="Picture 38" descr="lock.png"/>
          <p:cNvPicPr>
            <a:picLocks noChangeAspect="1"/>
          </p:cNvPicPr>
          <p:nvPr/>
        </p:nvPicPr>
        <p:blipFill>
          <a:blip r:embed="rId7"/>
          <a:stretch>
            <a:fillRect/>
          </a:stretch>
        </p:blipFill>
        <p:spPr>
          <a:xfrm>
            <a:off x="8426308" y="4906962"/>
            <a:ext cx="134549" cy="195707"/>
          </a:xfrm>
          <a:prstGeom prst="rect">
            <a:avLst/>
          </a:prstGeom>
        </p:spPr>
      </p:pic>
      <p:sp>
        <p:nvSpPr>
          <p:cNvPr id="40" name="TextBox 39"/>
          <p:cNvSpPr txBox="1"/>
          <p:nvPr/>
        </p:nvSpPr>
        <p:spPr>
          <a:xfrm>
            <a:off x="8601418"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1" name="TextBox 40"/>
          <p:cNvSpPr txBox="1"/>
          <p:nvPr/>
        </p:nvSpPr>
        <p:spPr>
          <a:xfrm>
            <a:off x="6305550" y="5145023"/>
            <a:ext cx="1763476" cy="194310"/>
          </a:xfrm>
          <a:prstGeom prst="rect">
            <a:avLst/>
          </a:prstGeom>
          <a:noFill/>
        </p:spPr>
        <p:txBody>
          <a:bodyPr wrap="none" lIns="0" rIns="0" tIns="0" bIns="0">
            <a:spAutoFit/>
          </a:bodyPr>
          <a:lstStyle/>
          <a:p>
            <a:r>
              <a:rPr sz="1150" b="0">
                <a:solidFill>
                  <a:srgbClr val="2E2E2E"/>
                </a:solidFill>
                <a:latin typeface="Calibri"/>
              </a:rPr>
              <a:t>▪ 'Standard / indulgent' adds</a:t>
            </a:r>
          </a:p>
        </p:txBody>
      </p:sp>
      <p:pic>
        <p:nvPicPr>
          <p:cNvPr id="42" name="Picture 41" descr="lock.png"/>
          <p:cNvPicPr>
            <a:picLocks noChangeAspect="1"/>
          </p:cNvPicPr>
          <p:nvPr/>
        </p:nvPicPr>
        <p:blipFill>
          <a:blip r:embed="rId7"/>
          <a:stretch>
            <a:fillRect/>
          </a:stretch>
        </p:blipFill>
        <p:spPr>
          <a:xfrm>
            <a:off x="8018180" y="5134800"/>
            <a:ext cx="134549" cy="195707"/>
          </a:xfrm>
          <a:prstGeom prst="rect">
            <a:avLst/>
          </a:prstGeom>
        </p:spPr>
      </p:pic>
      <p:sp>
        <p:nvSpPr>
          <p:cNvPr id="43" name="TextBox 42"/>
          <p:cNvSpPr txBox="1"/>
          <p:nvPr/>
        </p:nvSpPr>
        <p:spPr>
          <a:xfrm>
            <a:off x="8193290"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4" name="Picture 43" descr="lock.png"/>
          <p:cNvPicPr>
            <a:picLocks noChangeAspect="1"/>
          </p:cNvPicPr>
          <p:nvPr/>
        </p:nvPicPr>
        <p:blipFill>
          <a:blip r:embed="rId7"/>
          <a:stretch>
            <a:fillRect/>
          </a:stretch>
        </p:blipFill>
        <p:spPr>
          <a:xfrm>
            <a:off x="8765760" y="5134800"/>
            <a:ext cx="134549" cy="195707"/>
          </a:xfrm>
          <a:prstGeom prst="rect">
            <a:avLst/>
          </a:prstGeom>
        </p:spPr>
      </p:pic>
      <p:sp>
        <p:nvSpPr>
          <p:cNvPr id="45" name="TextBox 44"/>
          <p:cNvSpPr txBox="1"/>
          <p:nvPr/>
        </p:nvSpPr>
        <p:spPr>
          <a:xfrm>
            <a:off x="8940870"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6" name="TextBox 45"/>
          <p:cNvSpPr txBox="1"/>
          <p:nvPr/>
        </p:nvSpPr>
        <p:spPr>
          <a:xfrm>
            <a:off x="6305550" y="5372861"/>
            <a:ext cx="1993391" cy="194310"/>
          </a:xfrm>
          <a:prstGeom prst="rect">
            <a:avLst/>
          </a:prstGeom>
          <a:noFill/>
        </p:spPr>
        <p:txBody>
          <a:bodyPr wrap="none" lIns="0" rIns="0" tIns="0" bIns="0">
            <a:spAutoFit/>
          </a:bodyPr>
          <a:lstStyle/>
          <a:p>
            <a:r>
              <a:rPr sz="1150" b="0">
                <a:solidFill>
                  <a:srgbClr val="2E2E2E"/>
                </a:solidFill>
                <a:latin typeface="Calibri"/>
              </a:rPr>
              <a:t>▪ 'Fibre-enriched' adds the least:</a:t>
            </a:r>
          </a:p>
        </p:txBody>
      </p:sp>
      <p:pic>
        <p:nvPicPr>
          <p:cNvPr id="47" name="Picture 46" descr="lock.png"/>
          <p:cNvPicPr>
            <a:picLocks noChangeAspect="1"/>
          </p:cNvPicPr>
          <p:nvPr/>
        </p:nvPicPr>
        <p:blipFill>
          <a:blip r:embed="rId7"/>
          <a:stretch>
            <a:fillRect/>
          </a:stretch>
        </p:blipFill>
        <p:spPr>
          <a:xfrm>
            <a:off x="8248095" y="5362638"/>
            <a:ext cx="134549" cy="195707"/>
          </a:xfrm>
          <a:prstGeom prst="rect">
            <a:avLst/>
          </a:prstGeom>
        </p:spPr>
      </p:pic>
      <p:sp>
        <p:nvSpPr>
          <p:cNvPr id="48" name="TextBox 47"/>
          <p:cNvSpPr txBox="1"/>
          <p:nvPr/>
        </p:nvSpPr>
        <p:spPr>
          <a:xfrm>
            <a:off x="8423204" y="537286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9" name="Picture 48" descr="lock.png"/>
          <p:cNvPicPr>
            <a:picLocks noChangeAspect="1"/>
          </p:cNvPicPr>
          <p:nvPr/>
        </p:nvPicPr>
        <p:blipFill>
          <a:blip r:embed="rId7"/>
          <a:stretch>
            <a:fillRect/>
          </a:stretch>
        </p:blipFill>
        <p:spPr>
          <a:xfrm>
            <a:off x="8995675" y="5362638"/>
            <a:ext cx="134549" cy="195707"/>
          </a:xfrm>
          <a:prstGeom prst="rect">
            <a:avLst/>
          </a:prstGeom>
        </p:spPr>
      </p:pic>
      <p:sp>
        <p:nvSpPr>
          <p:cNvPr id="50" name="TextBox 49"/>
          <p:cNvSpPr txBox="1"/>
          <p:nvPr/>
        </p:nvSpPr>
        <p:spPr>
          <a:xfrm>
            <a:off x="9170784" y="5372861"/>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1"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Nutritional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457575"/>
          </a:xfrm>
          <a:prstGeom prst="roundRect">
            <a:avLst>
              <a:gd name="adj" fmla="val 22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Nutritional Positioning (MT)</a:t>
            </a:r>
          </a:p>
        </p:txBody>
      </p:sp>
      <p:graphicFrame>
        <p:nvGraphicFramePr>
          <p:cNvPr id="13" name="Table 12"/>
          <p:cNvGraphicFramePr>
            <a:graphicFrameLocks noGrp="1"/>
          </p:cNvGraphicFramePr>
          <p:nvPr/>
        </p:nvGraphicFramePr>
        <p:xfrm>
          <a:off x="152400" y="1238250"/>
          <a:ext cx="11887208" cy="2990852"/>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Nutritional</a:t>
                      </a:r>
                      <a:endParaRPr sz="1100"/>
                    </a:p>
                    <a:p>
                      <a:pPr algn="l"/>
                      <a:r>
                        <a:rPr sz="1100" b="1">
                          <a:solidFill>
                            <a:srgbClr val="0B2E4A"/>
                          </a:solidFill>
                          <a:latin typeface="Calibri"/>
                        </a:rPr>
                        <a:t>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483">
                <a:tc>
                  <a:txBody>
                    <a:bodyPr wrap="none"/>
                    <a:lstStyle/>
                    <a:p>
                      <a:pPr algn="l"/>
                      <a:r>
                        <a:rPr sz="1100" b="1">
                          <a:solidFill>
                            <a:srgbClr val="2E2E2E"/>
                          </a:solidFill>
                          <a:latin typeface="Calibri"/>
                        </a:rPr>
                        <a:t>Standard /</a:t>
                      </a:r>
                      <a:endParaRPr sz="1100"/>
                    </a:p>
                    <a:p>
                      <a:pPr algn="l"/>
                      <a:r>
                        <a:rPr sz="1100" b="1">
                          <a:solidFill>
                            <a:srgbClr val="2E2E2E"/>
                          </a:solidFill>
                          <a:latin typeface="Calibri"/>
                        </a:rPr>
                        <a:t>indulgent</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Protein-enriched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98">
                <a:tc>
                  <a:txBody>
                    <a:bodyPr wrap="none"/>
                    <a:lstStyle/>
                    <a:p>
                      <a:pPr algn="l"/>
                      <a:r>
                        <a:rPr sz="1100" b="1">
                          <a:solidFill>
                            <a:srgbClr val="2E2E2E"/>
                          </a:solidFill>
                          <a:latin typeface="Calibri"/>
                        </a:rPr>
                        <a:t>Fibre-enriched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Reduced-sugar</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698">
                <a:tc>
                  <a:txBody>
                    <a:bodyPr wrap="none"/>
                    <a:lstStyle/>
                    <a:p>
                      <a:pPr algn="l"/>
                      <a:r>
                        <a:rPr sz="1100" b="1">
                          <a:solidFill>
                            <a:srgbClr val="2E2E2E"/>
                          </a:solidFill>
                          <a:latin typeface="Calibri"/>
                        </a:rPr>
                        <a:t>No-added-sugar</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Reduced-fat</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269">
                <a:tc>
                  <a:txBody>
                    <a:bodyPr wrap="none"/>
                    <a:lstStyle/>
                    <a:p>
                      <a:pPr algn="l"/>
                      <a:r>
                        <a:rPr sz="1100" b="1">
                          <a:solidFill>
                            <a:srgbClr val="2E2E2E"/>
                          </a:solidFill>
                          <a:latin typeface="Calibri"/>
                        </a:rPr>
                        <a:t>Other nutrition-</a:t>
                      </a:r>
                      <a:endParaRPr sz="1100"/>
                    </a:p>
                    <a:p>
                      <a:pPr algn="l"/>
                      <a:r>
                        <a:rPr sz="1100" b="1">
                          <a:solidFill>
                            <a:srgbClr val="2E2E2E"/>
                          </a:solidFill>
                          <a:latin typeface="Calibri"/>
                        </a:rPr>
                        <a:t>focused</a:t>
                      </a:r>
                      <a:endParaRPr sz="1100"/>
                    </a:p>
                    <a:p>
                      <a:pPr algn="l"/>
                      <a:r>
                        <a:rPr sz="1100" b="1">
                          <a:solidFill>
                            <a:srgbClr val="2E2E2E"/>
                          </a:solidFill>
                          <a:latin typeface="Calibri"/>
                        </a:rPr>
                        <a:t>formulations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6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42386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57200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577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Nutritional Positioning</a:t>
            </a:r>
          </a:p>
        </p:txBody>
      </p:sp>
      <p:sp>
        <p:nvSpPr>
          <p:cNvPr id="17" name="Rectangle 16"/>
          <p:cNvSpPr/>
          <p:nvPr/>
        </p:nvSpPr>
        <p:spPr>
          <a:xfrm>
            <a:off x="276225" y="4895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98157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686432"/>
            <a:ext cx="366712" cy="533400"/>
          </a:xfrm>
          <a:prstGeom prst="rect">
            <a:avLst/>
          </a:prstGeom>
        </p:spPr>
      </p:pic>
      <p:sp>
        <p:nvSpPr>
          <p:cNvPr id="21" name="TextBox 20"/>
          <p:cNvSpPr txBox="1"/>
          <p:nvPr/>
        </p:nvSpPr>
        <p:spPr>
          <a:xfrm>
            <a:off x="276225" y="4991100"/>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980876"/>
            <a:ext cx="134549" cy="195707"/>
          </a:xfrm>
          <a:prstGeom prst="rect">
            <a:avLst/>
          </a:prstGeom>
        </p:spPr>
      </p:pic>
      <p:sp>
        <p:nvSpPr>
          <p:cNvPr id="23" name="TextBox 22"/>
          <p:cNvSpPr txBox="1"/>
          <p:nvPr/>
        </p:nvSpPr>
        <p:spPr>
          <a:xfrm>
            <a:off x="3925122" y="49911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54855" y="4980876"/>
            <a:ext cx="134549" cy="195707"/>
          </a:xfrm>
          <a:prstGeom prst="rect">
            <a:avLst/>
          </a:prstGeom>
        </p:spPr>
      </p:pic>
      <p:sp>
        <p:nvSpPr>
          <p:cNvPr id="25" name="TextBox 24"/>
          <p:cNvSpPr txBox="1"/>
          <p:nvPr/>
        </p:nvSpPr>
        <p:spPr>
          <a:xfrm>
            <a:off x="5129964" y="49911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5218938"/>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5208714"/>
            <a:ext cx="134549" cy="195707"/>
          </a:xfrm>
          <a:prstGeom prst="rect">
            <a:avLst/>
          </a:prstGeom>
        </p:spPr>
      </p:pic>
      <p:sp>
        <p:nvSpPr>
          <p:cNvPr id="28" name="TextBox 27"/>
          <p:cNvSpPr txBox="1"/>
          <p:nvPr/>
        </p:nvSpPr>
        <p:spPr>
          <a:xfrm>
            <a:off x="2318002" y="521893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446775"/>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5436552"/>
            <a:ext cx="134549" cy="195707"/>
          </a:xfrm>
          <a:prstGeom prst="rect">
            <a:avLst/>
          </a:prstGeom>
        </p:spPr>
      </p:pic>
      <p:sp>
        <p:nvSpPr>
          <p:cNvPr id="31" name="TextBox 30"/>
          <p:cNvSpPr txBox="1"/>
          <p:nvPr/>
        </p:nvSpPr>
        <p:spPr>
          <a:xfrm>
            <a:off x="2961820" y="5446775"/>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5436552"/>
            <a:ext cx="134549" cy="195707"/>
          </a:xfrm>
          <a:prstGeom prst="rect">
            <a:avLst/>
          </a:prstGeom>
        </p:spPr>
      </p:pic>
      <p:sp>
        <p:nvSpPr>
          <p:cNvPr id="33" name="TextBox 32"/>
          <p:cNvSpPr txBox="1"/>
          <p:nvPr/>
        </p:nvSpPr>
        <p:spPr>
          <a:xfrm>
            <a:off x="6781299" y="54467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6746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664390"/>
            <a:ext cx="134549" cy="195707"/>
          </a:xfrm>
          <a:prstGeom prst="rect">
            <a:avLst/>
          </a:prstGeom>
        </p:spPr>
      </p:pic>
      <p:sp>
        <p:nvSpPr>
          <p:cNvPr id="36" name="TextBox 35"/>
          <p:cNvSpPr txBox="1"/>
          <p:nvPr/>
        </p:nvSpPr>
        <p:spPr>
          <a:xfrm>
            <a:off x="1965143" y="56746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664390"/>
            <a:ext cx="134549" cy="195707"/>
          </a:xfrm>
          <a:prstGeom prst="rect">
            <a:avLst/>
          </a:prstGeom>
        </p:spPr>
      </p:pic>
      <p:sp>
        <p:nvSpPr>
          <p:cNvPr id="38" name="TextBox 37"/>
          <p:cNvSpPr txBox="1"/>
          <p:nvPr/>
        </p:nvSpPr>
        <p:spPr>
          <a:xfrm>
            <a:off x="2291688" y="5674613"/>
            <a:ext cx="1470521" cy="194310"/>
          </a:xfrm>
          <a:prstGeom prst="rect">
            <a:avLst/>
          </a:prstGeom>
          <a:noFill/>
        </p:spPr>
        <p:txBody>
          <a:bodyPr wrap="none" lIns="0" rIns="0" tIns="0" bIns="0">
            <a:spAutoFit/>
          </a:bodyPr>
          <a:lstStyle/>
          <a:p>
            <a:r>
              <a:rPr sz="1150" b="0">
                <a:solidFill>
                  <a:srgbClr val="2E2E2E"/>
                </a:solidFill>
                <a:latin typeface="Calibri"/>
              </a:rPr>
              <a:t>MT across 7 categories.</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Nutritional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Nutritional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Nutritional Positioning (US$ Mn)</a:t>
            </a:r>
          </a:p>
        </p:txBody>
      </p:sp>
      <p:graphicFrame>
        <p:nvGraphicFramePr>
          <p:cNvPr id="13" name="Table 12"/>
          <p:cNvGraphicFramePr>
            <a:graphicFrameLocks noGrp="1"/>
          </p:cNvGraphicFramePr>
          <p:nvPr/>
        </p:nvGraphicFramePr>
        <p:xfrm>
          <a:off x="152400" y="1238250"/>
          <a:ext cx="11887203" cy="2219326"/>
        </p:xfrm>
        <a:graphic>
          <a:graphicData uri="http://schemas.openxmlformats.org/drawingml/2006/table">
            <a:tbl>
              <a:tblPr>
                <a:tableStyleId>{5C22544A-7EE6-4342-B048-85BDC9FD1C3A}</a:tableStyleId>
              </a:tblPr>
              <a:tblGrid>
                <a:gridCol w="2374428"/>
                <a:gridCol w="559575"/>
                <a:gridCol w="559575"/>
                <a:gridCol w="559575"/>
                <a:gridCol w="559575"/>
                <a:gridCol w="559575"/>
                <a:gridCol w="559575"/>
                <a:gridCol w="559575"/>
                <a:gridCol w="559575"/>
                <a:gridCol w="559575"/>
                <a:gridCol w="559575"/>
                <a:gridCol w="559575"/>
                <a:gridCol w="559575"/>
                <a:gridCol w="559575"/>
                <a:gridCol w="559575"/>
                <a:gridCol w="559575"/>
                <a:gridCol w="559575"/>
                <a:gridCol w="559575"/>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Nutritional Positioning</a:t>
            </a:r>
          </a:p>
        </p:txBody>
      </p:sp>
      <p:sp>
        <p:nvSpPr>
          <p:cNvPr id="17" name="Rectangle 16"/>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96525" y="2204276"/>
            <a:ext cx="366712" cy="533400"/>
          </a:xfrm>
          <a:prstGeom prst="rect">
            <a:avLst/>
          </a:prstGeom>
        </p:spPr>
      </p:pic>
      <p:sp>
        <p:nvSpPr>
          <p:cNvPr id="21" name="TextBox 20"/>
          <p:cNvSpPr txBox="1"/>
          <p:nvPr/>
        </p:nvSpPr>
        <p:spPr>
          <a:xfrm>
            <a:off x="276225" y="4219575"/>
            <a:ext cx="3524634" cy="194310"/>
          </a:xfrm>
          <a:prstGeom prst="rect">
            <a:avLst/>
          </a:prstGeom>
          <a:noFill/>
        </p:spPr>
        <p:txBody>
          <a:bodyPr wrap="none" lIns="0" rIns="0" tIns="0" bIns="0">
            <a:spAutoFit/>
          </a:bodyPr>
          <a:lstStyle/>
          <a:p>
            <a:r>
              <a:rPr sz="1150" b="0">
                <a:solidFill>
                  <a:srgbClr val="2E2E2E"/>
                </a:solidFill>
                <a:latin typeface="Calibri"/>
              </a:rPr>
              <a:t>▪ 'Protein-enriched' is the largest nutritional positioning at</a:t>
            </a:r>
          </a:p>
        </p:txBody>
      </p:sp>
      <p:pic>
        <p:nvPicPr>
          <p:cNvPr id="22" name="Picture 21" descr="lock.png"/>
          <p:cNvPicPr>
            <a:picLocks noChangeAspect="1"/>
          </p:cNvPicPr>
          <p:nvPr/>
        </p:nvPicPr>
        <p:blipFill>
          <a:blip r:embed="rId4"/>
          <a:stretch>
            <a:fillRect/>
          </a:stretch>
        </p:blipFill>
        <p:spPr>
          <a:xfrm>
            <a:off x="3750013" y="4209351"/>
            <a:ext cx="134549" cy="195707"/>
          </a:xfrm>
          <a:prstGeom prst="rect">
            <a:avLst/>
          </a:prstGeom>
        </p:spPr>
      </p:pic>
      <p:sp>
        <p:nvSpPr>
          <p:cNvPr id="23" name="TextBox 22"/>
          <p:cNvSpPr txBox="1"/>
          <p:nvPr/>
        </p:nvSpPr>
        <p:spPr>
          <a:xfrm>
            <a:off x="3925122" y="421957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31055" y="4209351"/>
            <a:ext cx="134549" cy="195707"/>
          </a:xfrm>
          <a:prstGeom prst="rect">
            <a:avLst/>
          </a:prstGeom>
        </p:spPr>
      </p:pic>
      <p:sp>
        <p:nvSpPr>
          <p:cNvPr id="25" name="TextBox 24"/>
          <p:cNvSpPr txBox="1"/>
          <p:nvPr/>
        </p:nvSpPr>
        <p:spPr>
          <a:xfrm>
            <a:off x="5006164" y="421957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447413"/>
            <a:ext cx="1917513" cy="194310"/>
          </a:xfrm>
          <a:prstGeom prst="rect">
            <a:avLst/>
          </a:prstGeom>
          <a:noFill/>
        </p:spPr>
        <p:txBody>
          <a:bodyPr wrap="none" lIns="0" rIns="0" tIns="0" bIns="0">
            <a:spAutoFit/>
          </a:bodyPr>
          <a:lstStyle/>
          <a:p>
            <a:r>
              <a:rPr sz="1150" b="0">
                <a:solidFill>
                  <a:srgbClr val="2E2E2E"/>
                </a:solidFill>
                <a:latin typeface="Calibri"/>
              </a:rPr>
              <a:t>▪ 'Fibre-enriched' grows fastest</a:t>
            </a:r>
          </a:p>
        </p:txBody>
      </p:sp>
      <p:pic>
        <p:nvPicPr>
          <p:cNvPr id="27" name="Picture 26" descr="lock.png"/>
          <p:cNvPicPr>
            <a:picLocks noChangeAspect="1"/>
          </p:cNvPicPr>
          <p:nvPr/>
        </p:nvPicPr>
        <p:blipFill>
          <a:blip r:embed="rId4"/>
          <a:stretch>
            <a:fillRect/>
          </a:stretch>
        </p:blipFill>
        <p:spPr>
          <a:xfrm>
            <a:off x="2142892" y="4437189"/>
            <a:ext cx="134549" cy="195707"/>
          </a:xfrm>
          <a:prstGeom prst="rect">
            <a:avLst/>
          </a:prstGeom>
        </p:spPr>
      </p:pic>
      <p:sp>
        <p:nvSpPr>
          <p:cNvPr id="28" name="TextBox 27"/>
          <p:cNvSpPr txBox="1"/>
          <p:nvPr/>
        </p:nvSpPr>
        <p:spPr>
          <a:xfrm>
            <a:off x="2318002" y="44474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675250"/>
            <a:ext cx="2561332" cy="194310"/>
          </a:xfrm>
          <a:prstGeom prst="rect">
            <a:avLst/>
          </a:prstGeom>
          <a:noFill/>
        </p:spPr>
        <p:txBody>
          <a:bodyPr wrap="none" lIns="0" rIns="0" tIns="0" bIns="0">
            <a:spAutoFit/>
          </a:bodyPr>
          <a:lstStyle/>
          <a:p>
            <a:r>
              <a:rPr sz="1150" b="0">
                <a:solidFill>
                  <a:srgbClr val="2E2E2E"/>
                </a:solidFill>
                <a:latin typeface="Calibri"/>
              </a:rPr>
              <a:t>▪ Share shifts toward 'Protein-enriched' (+</a:t>
            </a:r>
          </a:p>
        </p:txBody>
      </p:sp>
      <p:pic>
        <p:nvPicPr>
          <p:cNvPr id="30" name="Picture 29" descr="lock.png"/>
          <p:cNvPicPr>
            <a:picLocks noChangeAspect="1"/>
          </p:cNvPicPr>
          <p:nvPr/>
        </p:nvPicPr>
        <p:blipFill>
          <a:blip r:embed="rId4"/>
          <a:stretch>
            <a:fillRect/>
          </a:stretch>
        </p:blipFill>
        <p:spPr>
          <a:xfrm>
            <a:off x="2786710" y="4665027"/>
            <a:ext cx="134549" cy="195707"/>
          </a:xfrm>
          <a:prstGeom prst="rect">
            <a:avLst/>
          </a:prstGeom>
        </p:spPr>
      </p:pic>
      <p:sp>
        <p:nvSpPr>
          <p:cNvPr id="31" name="TextBox 30"/>
          <p:cNvSpPr txBox="1"/>
          <p:nvPr/>
        </p:nvSpPr>
        <p:spPr>
          <a:xfrm>
            <a:off x="2961820" y="4675250"/>
            <a:ext cx="3695216" cy="194310"/>
          </a:xfrm>
          <a:prstGeom prst="rect">
            <a:avLst/>
          </a:prstGeom>
          <a:noFill/>
        </p:spPr>
        <p:txBody>
          <a:bodyPr wrap="none" lIns="0" rIns="0" tIns="0" bIns="0">
            <a:spAutoFit/>
          </a:bodyPr>
          <a:lstStyle/>
          <a:p>
            <a:r>
              <a:rPr sz="1150" b="0">
                <a:solidFill>
                  <a:srgbClr val="2E2E2E"/>
                </a:solidFill>
                <a:latin typeface="Calibri"/>
              </a:rPr>
              <a:t>BPS) and away from 'Other nutrition-focused formulations' (-</a:t>
            </a:r>
          </a:p>
        </p:txBody>
      </p:sp>
      <p:pic>
        <p:nvPicPr>
          <p:cNvPr id="32" name="Picture 31" descr="lock.png"/>
          <p:cNvPicPr>
            <a:picLocks noChangeAspect="1"/>
          </p:cNvPicPr>
          <p:nvPr/>
        </p:nvPicPr>
        <p:blipFill>
          <a:blip r:embed="rId4"/>
          <a:stretch>
            <a:fillRect/>
          </a:stretch>
        </p:blipFill>
        <p:spPr>
          <a:xfrm>
            <a:off x="6606190" y="4665027"/>
            <a:ext cx="134549" cy="195707"/>
          </a:xfrm>
          <a:prstGeom prst="rect">
            <a:avLst/>
          </a:prstGeom>
        </p:spPr>
      </p:pic>
      <p:sp>
        <p:nvSpPr>
          <p:cNvPr id="33" name="TextBox 32"/>
          <p:cNvSpPr txBox="1"/>
          <p:nvPr/>
        </p:nvSpPr>
        <p:spPr>
          <a:xfrm>
            <a:off x="6781299" y="46752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90308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892865"/>
            <a:ext cx="134549" cy="195707"/>
          </a:xfrm>
          <a:prstGeom prst="rect">
            <a:avLst/>
          </a:prstGeom>
        </p:spPr>
      </p:pic>
      <p:sp>
        <p:nvSpPr>
          <p:cNvPr id="36" name="TextBox 35"/>
          <p:cNvSpPr txBox="1"/>
          <p:nvPr/>
        </p:nvSpPr>
        <p:spPr>
          <a:xfrm>
            <a:off x="1841342" y="49030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892865"/>
            <a:ext cx="134549" cy="195707"/>
          </a:xfrm>
          <a:prstGeom prst="rect">
            <a:avLst/>
          </a:prstGeom>
        </p:spPr>
      </p:pic>
      <p:sp>
        <p:nvSpPr>
          <p:cNvPr id="38" name="TextBox 37"/>
          <p:cNvSpPr txBox="1"/>
          <p:nvPr/>
        </p:nvSpPr>
        <p:spPr>
          <a:xfrm>
            <a:off x="2167888" y="4903088"/>
            <a:ext cx="1744079" cy="194310"/>
          </a:xfrm>
          <a:prstGeom prst="rect">
            <a:avLst/>
          </a:prstGeom>
          <a:noFill/>
        </p:spPr>
        <p:txBody>
          <a:bodyPr wrap="none" lIns="0" rIns="0" tIns="0" bIns="0">
            <a:spAutoFit/>
          </a:bodyPr>
          <a:lstStyle/>
          <a:p>
            <a:r>
              <a:rPr sz="1150" b="0">
                <a:solidFill>
                  <a:srgbClr val="2E2E2E"/>
                </a:solidFill>
                <a:latin typeface="Calibri"/>
              </a:rPr>
              <a:t>US$ Mn across 7 categories.</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Nutritional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Nutritional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Nutritional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104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562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00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Fibre-enriched</a:t>
            </a:r>
          </a:p>
        </p:txBody>
      </p:sp>
      <p:sp>
        <p:nvSpPr>
          <p:cNvPr id="19" name="BPS Value 1"/>
          <p:cNvSpPr txBox="1"/>
          <p:nvPr/>
        </p:nvSpPr>
        <p:spPr>
          <a:xfrm>
            <a:off x="6896100" y="174199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0442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394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32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No-added-sugar</a:t>
            </a:r>
          </a:p>
        </p:txBody>
      </p:sp>
      <p:sp>
        <p:nvSpPr>
          <p:cNvPr id="23" name="BPS Value 2"/>
          <p:cNvSpPr txBox="1"/>
          <p:nvPr/>
        </p:nvSpPr>
        <p:spPr>
          <a:xfrm>
            <a:off x="6896100" y="20251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52113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5163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4401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nutrition-focused formulations</a:t>
            </a:r>
          </a:p>
        </p:txBody>
      </p:sp>
      <p:sp>
        <p:nvSpPr>
          <p:cNvPr id="27" name="BPS Value 3"/>
          <p:cNvSpPr txBox="1"/>
          <p:nvPr/>
        </p:nvSpPr>
        <p:spPr>
          <a:xfrm>
            <a:off x="6896100" y="25020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313629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31315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30553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Reduced-fat</a:t>
            </a:r>
          </a:p>
        </p:txBody>
      </p:sp>
      <p:sp>
        <p:nvSpPr>
          <p:cNvPr id="31" name="BPS Value 4"/>
          <p:cNvSpPr txBox="1"/>
          <p:nvPr/>
        </p:nvSpPr>
        <p:spPr>
          <a:xfrm>
            <a:off x="6896100" y="31172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FMI Legend Chip"/>
          <p:cNvSpPr/>
          <p:nvPr/>
        </p:nvSpPr>
        <p:spPr>
          <a:xfrm>
            <a:off x="4928997" y="389054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5090922" y="38857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8095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indulgent</a:t>
            </a:r>
          </a:p>
        </p:txBody>
      </p:sp>
      <p:sp>
        <p:nvSpPr>
          <p:cNvPr id="35" name="BPS Value 5"/>
          <p:cNvSpPr txBox="1"/>
          <p:nvPr/>
        </p:nvSpPr>
        <p:spPr>
          <a:xfrm>
            <a:off x="6896100" y="387149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928997" y="47393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47345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65835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Reduced-sugar</a:t>
            </a:r>
          </a:p>
        </p:txBody>
      </p:sp>
      <p:sp>
        <p:nvSpPr>
          <p:cNvPr id="39" name="BPS Value 6"/>
          <p:cNvSpPr txBox="1"/>
          <p:nvPr/>
        </p:nvSpPr>
        <p:spPr>
          <a:xfrm>
            <a:off x="6896100" y="47202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FMI Legend Chip"/>
          <p:cNvSpPr/>
          <p:nvPr/>
        </p:nvSpPr>
        <p:spPr>
          <a:xfrm>
            <a:off x="4928997" y="57045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5090922" y="56997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62359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Protein-enriched</a:t>
            </a:r>
          </a:p>
        </p:txBody>
      </p:sp>
      <p:sp>
        <p:nvSpPr>
          <p:cNvPr id="43" name="BPS Value 7"/>
          <p:cNvSpPr txBox="1"/>
          <p:nvPr/>
        </p:nvSpPr>
        <p:spPr>
          <a:xfrm>
            <a:off x="6896100" y="568551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Nutritional Positioning</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5"/>
          <a:stretch>
            <a:fillRect/>
          </a:stretch>
        </p:blipFill>
        <p:spPr>
          <a:xfrm>
            <a:off x="2557843" y="3833622"/>
            <a:ext cx="275034" cy="400050"/>
          </a:xfrm>
          <a:prstGeom prst="rect">
            <a:avLst/>
          </a:prstGeom>
        </p:spPr>
      </p:pic>
      <p:sp>
        <p:nvSpPr>
          <p:cNvPr id="50" name="TextBox 49"/>
          <p:cNvSpPr txBox="1"/>
          <p:nvPr/>
        </p:nvSpPr>
        <p:spPr>
          <a:xfrm>
            <a:off x="7829550" y="1400175"/>
            <a:ext cx="2598415" cy="194310"/>
          </a:xfrm>
          <a:prstGeom prst="rect">
            <a:avLst/>
          </a:prstGeom>
          <a:noFill/>
        </p:spPr>
        <p:txBody>
          <a:bodyPr wrap="none" lIns="0" rIns="0" tIns="0" bIns="0">
            <a:spAutoFit/>
          </a:bodyPr>
          <a:lstStyle/>
          <a:p>
            <a:r>
              <a:rPr sz="1150" b="0">
                <a:solidFill>
                  <a:srgbClr val="2E2E2E"/>
                </a:solidFill>
                <a:latin typeface="Calibri"/>
              </a:rPr>
              <a:t>▪ 'Protein-enriched' gains the most share +</a:t>
            </a:r>
          </a:p>
        </p:txBody>
      </p:sp>
      <p:pic>
        <p:nvPicPr>
          <p:cNvPr id="51" name="Picture 50" descr="lock.png"/>
          <p:cNvPicPr>
            <a:picLocks noChangeAspect="1"/>
          </p:cNvPicPr>
          <p:nvPr/>
        </p:nvPicPr>
        <p:blipFill>
          <a:blip r:embed="rId5"/>
          <a:stretch>
            <a:fillRect/>
          </a:stretch>
        </p:blipFill>
        <p:spPr>
          <a:xfrm>
            <a:off x="10377118" y="1389951"/>
            <a:ext cx="134549" cy="195707"/>
          </a:xfrm>
          <a:prstGeom prst="rect">
            <a:avLst/>
          </a:prstGeom>
        </p:spPr>
      </p:pic>
      <p:sp>
        <p:nvSpPr>
          <p:cNvPr id="52" name="TextBox 51"/>
          <p:cNvSpPr txBox="1"/>
          <p:nvPr/>
        </p:nvSpPr>
        <p:spPr>
          <a:xfrm>
            <a:off x="10552228" y="1400175"/>
            <a:ext cx="1186408" cy="194310"/>
          </a:xfrm>
          <a:prstGeom prst="rect">
            <a:avLst/>
          </a:prstGeom>
          <a:noFill/>
        </p:spPr>
        <p:txBody>
          <a:bodyPr wrap="none" lIns="0" rIns="0" tIns="0" bIns="0">
            <a:spAutoFit/>
          </a:bodyPr>
          <a:lstStyle/>
          <a:p>
            <a:r>
              <a:rPr sz="1150" b="0">
                <a:solidFill>
                  <a:srgbClr val="2E2E2E"/>
                </a:solidFill>
                <a:latin typeface="Calibri"/>
              </a:rPr>
              <a:t>BPS between 2026</a:t>
            </a:r>
          </a:p>
        </p:txBody>
      </p:sp>
      <p:sp>
        <p:nvSpPr>
          <p:cNvPr id="53" name="TextBox 52"/>
          <p:cNvSpPr txBox="1"/>
          <p:nvPr/>
        </p:nvSpPr>
        <p:spPr>
          <a:xfrm>
            <a:off x="7829550" y="1575435"/>
            <a:ext cx="1983692" cy="194310"/>
          </a:xfrm>
          <a:prstGeom prst="rect">
            <a:avLst/>
          </a:prstGeom>
          <a:noFill/>
        </p:spPr>
        <p:txBody>
          <a:bodyPr wrap="none" lIns="0" rIns="0" tIns="0" bIns="0">
            <a:spAutoFit/>
          </a:bodyPr>
          <a:lstStyle/>
          <a:p>
            <a:r>
              <a:rPr sz="1150" b="0">
                <a:solidFill>
                  <a:srgbClr val="2E2E2E"/>
                </a:solidFill>
                <a:latin typeface="Calibri"/>
              </a:rPr>
              <a:t>and 2036 (</a:t>
            </a:r>
            <a:r>
              <a:rPr sz="1150" b="0">
                <a:solidFill>
                  <a:srgbClr val="2E7D32"/>
                </a:solidFill>
                <a:latin typeface="Calibri"/>
              </a:rPr>
              <a:t>green ▲</a:t>
            </a:r>
            <a:r>
              <a:rPr sz="1150" b="0">
                <a:solidFill>
                  <a:srgbClr val="2E2E2E"/>
                </a:solidFill>
                <a:latin typeface="Calibri"/>
              </a:rPr>
              <a:t> on the scale).</a:t>
            </a:r>
          </a:p>
        </p:txBody>
      </p:sp>
      <p:sp>
        <p:nvSpPr>
          <p:cNvPr id="54" name="TextBox 53"/>
          <p:cNvSpPr txBox="1"/>
          <p:nvPr/>
        </p:nvSpPr>
        <p:spPr>
          <a:xfrm>
            <a:off x="7829550" y="1803273"/>
            <a:ext cx="3452750" cy="194310"/>
          </a:xfrm>
          <a:prstGeom prst="rect">
            <a:avLst/>
          </a:prstGeom>
          <a:noFill/>
        </p:spPr>
        <p:txBody>
          <a:bodyPr wrap="none" lIns="0" rIns="0" tIns="0" bIns="0">
            <a:spAutoFit/>
          </a:bodyPr>
          <a:lstStyle/>
          <a:p>
            <a:r>
              <a:rPr sz="1150" b="0">
                <a:solidFill>
                  <a:srgbClr val="2E2E2E"/>
                </a:solidFill>
                <a:latin typeface="Calibri"/>
              </a:rPr>
              <a:t>▪ 'Other nutrition-focused formulations' cedes the most -</a:t>
            </a:r>
          </a:p>
        </p:txBody>
      </p:sp>
      <p:pic>
        <p:nvPicPr>
          <p:cNvPr id="55" name="Picture 54" descr="lock.png"/>
          <p:cNvPicPr>
            <a:picLocks noChangeAspect="1"/>
          </p:cNvPicPr>
          <p:nvPr/>
        </p:nvPicPr>
        <p:blipFill>
          <a:blip r:embed="rId5"/>
          <a:stretch>
            <a:fillRect/>
          </a:stretch>
        </p:blipFill>
        <p:spPr>
          <a:xfrm>
            <a:off x="11231454" y="1793049"/>
            <a:ext cx="134549" cy="195707"/>
          </a:xfrm>
          <a:prstGeom prst="rect">
            <a:avLst/>
          </a:prstGeom>
        </p:spPr>
      </p:pic>
      <p:sp>
        <p:nvSpPr>
          <p:cNvPr id="56" name="TextBox 55"/>
          <p:cNvSpPr txBox="1"/>
          <p:nvPr/>
        </p:nvSpPr>
        <p:spPr>
          <a:xfrm>
            <a:off x="11406563" y="180327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7" name="TextBox 56"/>
          <p:cNvSpPr txBox="1"/>
          <p:nvPr/>
        </p:nvSpPr>
        <p:spPr>
          <a:xfrm>
            <a:off x="7829550" y="1978533"/>
            <a:ext cx="1896119" cy="194310"/>
          </a:xfrm>
          <a:prstGeom prst="rect">
            <a:avLst/>
          </a:prstGeom>
          <a:noFill/>
        </p:spPr>
        <p:txBody>
          <a:bodyPr wrap="none" lIns="0" rIns="0" tIns="0" bIns="0">
            <a:spAutoFit/>
          </a:bodyPr>
          <a:lstStyle/>
          <a:p>
            <a:r>
              <a:rPr sz="1150" b="0">
                <a:solidFill>
                  <a:srgbClr val="2E2E2E"/>
                </a:solidFill>
                <a:latin typeface="Calibri"/>
              </a:rPr>
              <a:t>over the same window (</a:t>
            </a:r>
            <a:r>
              <a:rPr sz="1150" b="0">
                <a:solidFill>
                  <a:srgbClr val="E44D3A"/>
                </a:solidFill>
                <a:latin typeface="Calibri"/>
              </a:rPr>
              <a:t>red ▼</a:t>
            </a:r>
            <a:r>
              <a:rPr sz="1150" b="0">
                <a:solidFill>
                  <a:srgbClr val="2E2E2E"/>
                </a:solidFill>
                <a:latin typeface="Calibri"/>
              </a:rPr>
              <a:t>).</a:t>
            </a:r>
          </a:p>
        </p:txBody>
      </p:sp>
      <p:sp>
        <p:nvSpPr>
          <p:cNvPr id="58" name="TextBox 57"/>
          <p:cNvSpPr txBox="1"/>
          <p:nvPr/>
        </p:nvSpPr>
        <p:spPr>
          <a:xfrm>
            <a:off x="7829550" y="2206371"/>
            <a:ext cx="3912294" cy="194310"/>
          </a:xfrm>
          <a:prstGeom prst="rect">
            <a:avLst/>
          </a:prstGeom>
          <a:noFill/>
        </p:spPr>
        <p:txBody>
          <a:bodyPr wrap="none" lIns="0" rIns="0" tIns="0" bIns="0">
            <a:spAutoFit/>
          </a:bodyPr>
          <a:lstStyle/>
          <a:p>
            <a:r>
              <a:rPr sz="1150" b="0">
                <a:solidFill>
                  <a:srgbClr val="2E2E2E"/>
                </a:solidFill>
                <a:latin typeface="Calibri"/>
              </a:rPr>
              <a:t>▪ 'Fibre-enriched' is the fastest-growing nutritional positioning at</a:t>
            </a:r>
          </a:p>
        </p:txBody>
      </p:sp>
      <p:pic>
        <p:nvPicPr>
          <p:cNvPr id="59" name="Picture 58" descr="lock.png"/>
          <p:cNvPicPr>
            <a:picLocks noChangeAspect="1"/>
          </p:cNvPicPr>
          <p:nvPr/>
        </p:nvPicPr>
        <p:blipFill>
          <a:blip r:embed="rId5"/>
          <a:stretch>
            <a:fillRect/>
          </a:stretch>
        </p:blipFill>
        <p:spPr>
          <a:xfrm>
            <a:off x="7815470" y="2371407"/>
            <a:ext cx="134549" cy="195707"/>
          </a:xfrm>
          <a:prstGeom prst="rect">
            <a:avLst/>
          </a:prstGeom>
        </p:spPr>
      </p:pic>
      <p:sp>
        <p:nvSpPr>
          <p:cNvPr id="60" name="TextBox 59"/>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61" name="TextBox 6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62" name="Picture 61" descr="lock.png"/>
          <p:cNvPicPr>
            <a:picLocks noChangeAspect="1"/>
          </p:cNvPicPr>
          <p:nvPr/>
        </p:nvPicPr>
        <p:blipFill>
          <a:blip r:embed="rId5"/>
          <a:stretch>
            <a:fillRect/>
          </a:stretch>
        </p:blipFill>
        <p:spPr>
          <a:xfrm>
            <a:off x="9327669" y="2599245"/>
            <a:ext cx="134549" cy="195707"/>
          </a:xfrm>
          <a:prstGeom prst="rect">
            <a:avLst/>
          </a:prstGeom>
        </p:spPr>
      </p:pic>
      <p:sp>
        <p:nvSpPr>
          <p:cNvPr id="63" name="TextBox 6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4" name="Picture 63" descr="lock.png"/>
          <p:cNvPicPr>
            <a:picLocks noChangeAspect="1"/>
          </p:cNvPicPr>
          <p:nvPr/>
        </p:nvPicPr>
        <p:blipFill>
          <a:blip r:embed="rId5"/>
          <a:stretch>
            <a:fillRect/>
          </a:stretch>
        </p:blipFill>
        <p:spPr>
          <a:xfrm>
            <a:off x="9654215" y="2599245"/>
            <a:ext cx="134549" cy="195707"/>
          </a:xfrm>
          <a:prstGeom prst="rect">
            <a:avLst/>
          </a:prstGeom>
        </p:spPr>
      </p:pic>
      <p:sp>
        <p:nvSpPr>
          <p:cNvPr id="65" name="TextBox 6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6" name="TextBox 6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7" name="TextBox 6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Nutritional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Nutritional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Nutritional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1971675"/>
        </p:xfrm>
        <a:graphic>
          <a:graphicData uri="http://schemas.openxmlformats.org/drawingml/2006/table">
            <a:tbl>
              <a:tblPr>
                <a:tableStyleId>{5C22544A-7EE6-4342-B048-85BDC9FD1C3A}</a:tableStyleId>
              </a:tblPr>
              <a:tblGrid>
                <a:gridCol w="2578911"/>
                <a:gridCol w="620553"/>
                <a:gridCol w="620553"/>
                <a:gridCol w="620553"/>
                <a:gridCol w="620553"/>
                <a:gridCol w="620553"/>
                <a:gridCol w="620553"/>
                <a:gridCol w="620553"/>
                <a:gridCol w="620553"/>
                <a:gridCol w="620553"/>
                <a:gridCol w="620553"/>
                <a:gridCol w="620553"/>
                <a:gridCol w="620553"/>
                <a:gridCol w="620553"/>
                <a:gridCol w="620553"/>
                <a:gridCol w="620553"/>
              </a:tblGrid>
              <a:tr h="246126">
                <a:tc>
                  <a:txBody>
                    <a:bodyPr wrap="none"/>
                    <a:lstStyle/>
                    <a:p>
                      <a:pPr algn="l"/>
                      <a:r>
                        <a:rPr sz="1100" b="1">
                          <a:solidFill>
                            <a:srgbClr val="0B2E4A"/>
                          </a:solidFill>
                          <a:latin typeface="Calibri"/>
                        </a:rPr>
                        <a:t>Nutritional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Standard / indulgent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Protein-enriched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Fibre-enriched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Reduced-sugar</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No-added-sugar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Reduced-fat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nutrition-focused formulations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609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Nutritional Positioning (%)  ·  light = lower, dark = higher growth</a:t>
            </a:r>
          </a:p>
        </p:txBody>
      </p:sp>
      <p:sp>
        <p:nvSpPr>
          <p:cNvPr id="17" name="TextBox 16"/>
          <p:cNvSpPr txBox="1"/>
          <p:nvPr/>
        </p:nvSpPr>
        <p:spPr>
          <a:xfrm>
            <a:off x="18573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83857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981450"/>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Standard / indulgent</a:t>
            </a:r>
          </a:p>
        </p:txBody>
      </p:sp>
      <p:sp>
        <p:nvSpPr>
          <p:cNvPr id="33" name="Rectangle 32"/>
          <p:cNvSpPr/>
          <p:nvPr/>
        </p:nvSpPr>
        <p:spPr>
          <a:xfrm>
            <a:off x="185737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981450"/>
            <a:ext cx="643890" cy="37011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981450"/>
            <a:ext cx="643890" cy="37011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981450"/>
            <a:ext cx="643890" cy="370114"/>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981450"/>
            <a:ext cx="643890" cy="370114"/>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981450"/>
            <a:ext cx="643890" cy="370114"/>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351564"/>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Protein-enriched</a:t>
            </a:r>
          </a:p>
        </p:txBody>
      </p:sp>
      <p:sp>
        <p:nvSpPr>
          <p:cNvPr id="49" name="Rectangle 48"/>
          <p:cNvSpPr/>
          <p:nvPr/>
        </p:nvSpPr>
        <p:spPr>
          <a:xfrm>
            <a:off x="1857375" y="4351564"/>
            <a:ext cx="643890" cy="370114"/>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351564"/>
            <a:ext cx="643890" cy="370114"/>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351564"/>
            <a:ext cx="643890" cy="37011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351564"/>
            <a:ext cx="643890" cy="370114"/>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351564"/>
            <a:ext cx="643890" cy="370114"/>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351564"/>
            <a:ext cx="643890" cy="370114"/>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351564"/>
            <a:ext cx="643890" cy="370114"/>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351564"/>
            <a:ext cx="643890" cy="370114"/>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351564"/>
            <a:ext cx="643890" cy="370114"/>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351564"/>
            <a:ext cx="643890" cy="370114"/>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351564"/>
            <a:ext cx="643890" cy="370114"/>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351564"/>
            <a:ext cx="643890" cy="370114"/>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351564"/>
            <a:ext cx="643890" cy="370114"/>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351564"/>
            <a:ext cx="643890" cy="37011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351564"/>
            <a:ext cx="643890" cy="370114"/>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721679"/>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Fibre-enriched</a:t>
            </a:r>
          </a:p>
        </p:txBody>
      </p:sp>
      <p:sp>
        <p:nvSpPr>
          <p:cNvPr id="65" name="Rectangle 64"/>
          <p:cNvSpPr/>
          <p:nvPr/>
        </p:nvSpPr>
        <p:spPr>
          <a:xfrm>
            <a:off x="1857375" y="4721679"/>
            <a:ext cx="643890" cy="37011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721679"/>
            <a:ext cx="643890" cy="37011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721679"/>
            <a:ext cx="643890" cy="37011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721679"/>
            <a:ext cx="643890" cy="37011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721679"/>
            <a:ext cx="643890" cy="37011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721679"/>
            <a:ext cx="643890" cy="370114"/>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721679"/>
            <a:ext cx="643890" cy="370114"/>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721679"/>
            <a:ext cx="643890" cy="370114"/>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721679"/>
            <a:ext cx="643890" cy="370114"/>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721679"/>
            <a:ext cx="643890" cy="370114"/>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721679"/>
            <a:ext cx="643890" cy="370114"/>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721679"/>
            <a:ext cx="643890" cy="370114"/>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721679"/>
            <a:ext cx="643890" cy="37011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721679"/>
            <a:ext cx="643890" cy="370114"/>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091793"/>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Reduced-sugar</a:t>
            </a:r>
          </a:p>
        </p:txBody>
      </p:sp>
      <p:sp>
        <p:nvSpPr>
          <p:cNvPr id="81" name="Rectangle 80"/>
          <p:cNvSpPr/>
          <p:nvPr/>
        </p:nvSpPr>
        <p:spPr>
          <a:xfrm>
            <a:off x="1857375" y="5091793"/>
            <a:ext cx="643890" cy="370114"/>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091793"/>
            <a:ext cx="643890" cy="370114"/>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091793"/>
            <a:ext cx="643890" cy="370114"/>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091793"/>
            <a:ext cx="643890" cy="370114"/>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091793"/>
            <a:ext cx="643890" cy="37011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091793"/>
            <a:ext cx="643890" cy="370114"/>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091793"/>
            <a:ext cx="643890" cy="370114"/>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091793"/>
            <a:ext cx="643890" cy="37011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091793"/>
            <a:ext cx="643890" cy="37011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091793"/>
            <a:ext cx="643890" cy="37011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091793"/>
            <a:ext cx="643890" cy="37011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091793"/>
            <a:ext cx="643890" cy="37011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091793"/>
            <a:ext cx="643890" cy="37011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091793"/>
            <a:ext cx="643890" cy="37011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091793"/>
            <a:ext cx="643890" cy="370114"/>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61907"/>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No-added-sugar</a:t>
            </a:r>
          </a:p>
        </p:txBody>
      </p:sp>
      <p:sp>
        <p:nvSpPr>
          <p:cNvPr id="97" name="Rectangle 96"/>
          <p:cNvSpPr/>
          <p:nvPr/>
        </p:nvSpPr>
        <p:spPr>
          <a:xfrm>
            <a:off x="185737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61907"/>
            <a:ext cx="643890" cy="37011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61907"/>
            <a:ext cx="643890" cy="37011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61907"/>
            <a:ext cx="643890" cy="370114"/>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832021"/>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Reduced-fat</a:t>
            </a:r>
          </a:p>
        </p:txBody>
      </p:sp>
      <p:sp>
        <p:nvSpPr>
          <p:cNvPr id="113" name="Rectangle 112"/>
          <p:cNvSpPr/>
          <p:nvPr/>
        </p:nvSpPr>
        <p:spPr>
          <a:xfrm>
            <a:off x="185737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832021"/>
            <a:ext cx="643890" cy="37011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832021"/>
            <a:ext cx="643890" cy="37011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832021"/>
            <a:ext cx="643890" cy="370114"/>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832021"/>
            <a:ext cx="643890" cy="370114"/>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832021"/>
            <a:ext cx="643890" cy="370114"/>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832021"/>
            <a:ext cx="643890" cy="370114"/>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832021"/>
            <a:ext cx="643890" cy="370114"/>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6202136"/>
            <a:ext cx="1590675" cy="370114"/>
          </a:xfrm>
          <a:prstGeom prst="rect">
            <a:avLst/>
          </a:prstGeom>
          <a:noFill/>
        </p:spPr>
        <p:txBody>
          <a:bodyPr wrap="square" lIns="28575" rIns="28575" tIns="9525" bIns="9525" anchor="ctr">
            <a:spAutoFit/>
          </a:bodyPr>
          <a:lstStyle/>
          <a:p>
            <a:pPr algn="l"/>
            <a:r>
              <a:rPr sz="1100" b="0">
                <a:solidFill>
                  <a:srgbClr val="2E2E2E"/>
                </a:solidFill>
                <a:latin typeface="Calibri"/>
              </a:rPr>
              <a:t>Other nutrition-focused formulations</a:t>
            </a:r>
          </a:p>
        </p:txBody>
      </p:sp>
      <p:sp>
        <p:nvSpPr>
          <p:cNvPr id="129" name="Rectangle 128"/>
          <p:cNvSpPr/>
          <p:nvPr/>
        </p:nvSpPr>
        <p:spPr>
          <a:xfrm>
            <a:off x="1857375" y="6202136"/>
            <a:ext cx="643890" cy="37011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6202136"/>
            <a:ext cx="643890" cy="37011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6202136"/>
            <a:ext cx="643890" cy="370114"/>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6202136"/>
            <a:ext cx="643890" cy="37011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6202136"/>
            <a:ext cx="643890" cy="370114"/>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6202136"/>
            <a:ext cx="643890" cy="37011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6202136"/>
            <a:ext cx="643890" cy="370114"/>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6202136"/>
            <a:ext cx="643890" cy="37011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6202136"/>
            <a:ext cx="643890" cy="37011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6202136"/>
            <a:ext cx="643890" cy="37011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6202136"/>
            <a:ext cx="643890" cy="37011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6202136"/>
            <a:ext cx="643890" cy="370114"/>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6202136"/>
            <a:ext cx="643890" cy="37011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6202136"/>
            <a:ext cx="643890" cy="37011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019550"/>
            <a:ext cx="104775" cy="7048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082415"/>
            <a:ext cx="104775" cy="70485"/>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4145280"/>
            <a:ext cx="104775" cy="70485"/>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4208145"/>
            <a:ext cx="104775" cy="70485"/>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4271010"/>
            <a:ext cx="104775" cy="70485"/>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4333875"/>
            <a:ext cx="104775" cy="70485"/>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4396740"/>
            <a:ext cx="104775" cy="70485"/>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4459605"/>
            <a:ext cx="104775" cy="70485"/>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4522470"/>
            <a:ext cx="104775" cy="70485"/>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4585335"/>
            <a:ext cx="104775" cy="70485"/>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4648200"/>
            <a:ext cx="104775" cy="70485"/>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4711065"/>
            <a:ext cx="104775" cy="70485"/>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4773930"/>
            <a:ext cx="104775" cy="70485"/>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4836795"/>
            <a:ext cx="104775" cy="70485"/>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4899660"/>
            <a:ext cx="104775" cy="70485"/>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4962525"/>
            <a:ext cx="104775" cy="70485"/>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025390"/>
            <a:ext cx="104775" cy="70485"/>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5088255"/>
            <a:ext cx="104775" cy="70485"/>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5151120"/>
            <a:ext cx="104775" cy="70485"/>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5213985"/>
            <a:ext cx="104775" cy="70485"/>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5276850"/>
            <a:ext cx="104775" cy="70485"/>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5339715"/>
            <a:ext cx="104775" cy="70485"/>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5402580"/>
            <a:ext cx="104775" cy="70485"/>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5465445"/>
            <a:ext cx="104775" cy="70485"/>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5528310"/>
            <a:ext cx="104775" cy="70485"/>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5591175"/>
            <a:ext cx="104775" cy="70485"/>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5654040"/>
            <a:ext cx="104775" cy="70485"/>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5716905"/>
            <a:ext cx="104775" cy="70485"/>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5779770"/>
            <a:ext cx="104775" cy="70485"/>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842635"/>
            <a:ext cx="104775" cy="70485"/>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905500"/>
            <a:ext cx="104775" cy="70485"/>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968365"/>
            <a:ext cx="104775" cy="70485"/>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6031230"/>
            <a:ext cx="104775" cy="70485"/>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6094095"/>
            <a:ext cx="104775" cy="70485"/>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6156960"/>
            <a:ext cx="104775" cy="70485"/>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6219825"/>
            <a:ext cx="104775" cy="70485"/>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6282690"/>
            <a:ext cx="104775" cy="70485"/>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6345555"/>
            <a:ext cx="104775" cy="70485"/>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6408420"/>
            <a:ext cx="104775" cy="70485"/>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6471285"/>
            <a:ext cx="104775" cy="70485"/>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4019550"/>
            <a:ext cx="104775" cy="251460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11687175" y="39528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6" name="TextBox 185"/>
          <p:cNvSpPr txBox="1"/>
          <p:nvPr/>
        </p:nvSpPr>
        <p:spPr>
          <a:xfrm>
            <a:off x="11687175" y="52101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7" name="TextBox 18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9" name="Picture 188" descr="lock.png"/>
          <p:cNvPicPr>
            <a:picLocks noChangeAspect="1"/>
          </p:cNvPicPr>
          <p:nvPr/>
        </p:nvPicPr>
        <p:blipFill>
          <a:blip r:embed="rId4"/>
          <a:stretch>
            <a:fillRect/>
          </a:stretch>
        </p:blipFill>
        <p:spPr>
          <a:xfrm>
            <a:off x="7198768" y="2080450"/>
            <a:ext cx="366712" cy="533400"/>
          </a:xfrm>
          <a:prstGeom prst="rect">
            <a:avLst/>
          </a:prstGeom>
        </p:spPr>
      </p:pic>
      <p:pic>
        <p:nvPicPr>
          <p:cNvPr id="190" name="Picture 189" descr="lock.png"/>
          <p:cNvPicPr>
            <a:picLocks noChangeAspect="1"/>
          </p:cNvPicPr>
          <p:nvPr/>
        </p:nvPicPr>
        <p:blipFill>
          <a:blip r:embed="rId4"/>
          <a:stretch>
            <a:fillRect/>
          </a:stretch>
        </p:blipFill>
        <p:spPr>
          <a:xfrm>
            <a:off x="11760938" y="3925951"/>
            <a:ext cx="128699" cy="187198"/>
          </a:xfrm>
          <a:prstGeom prst="rect">
            <a:avLst/>
          </a:prstGeom>
        </p:spPr>
      </p:pic>
      <p:pic>
        <p:nvPicPr>
          <p:cNvPr id="191" name="Picture 190" descr="lock.png"/>
          <p:cNvPicPr>
            <a:picLocks noChangeAspect="1"/>
          </p:cNvPicPr>
          <p:nvPr/>
        </p:nvPicPr>
        <p:blipFill>
          <a:blip r:embed="rId4"/>
          <a:stretch>
            <a:fillRect/>
          </a:stretch>
        </p:blipFill>
        <p:spPr>
          <a:xfrm>
            <a:off x="11760938" y="5183251"/>
            <a:ext cx="128699" cy="187198"/>
          </a:xfrm>
          <a:prstGeom prst="rect">
            <a:avLst/>
          </a:prstGeom>
        </p:spPr>
      </p:pic>
      <p:pic>
        <p:nvPicPr>
          <p:cNvPr id="192" name="Picture 191"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Recipe and Ingredient Claims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Recipe and Ingredient Claims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Recipe and Ingredient Claims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Recipe and Ingredient Claims,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Recipe and Ingredient Claims segment categorizes the market by recipe and ingredient claims.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Additional claim mapping</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Organic-certified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 non-organic</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Recipe and Ingredient Claims split shows how demand is distributed across recipe and ingredient claims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8_721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4_712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5_4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1_973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2_756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3_4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205_4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78_2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3_1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'Additional claim mapping' holds the largest share</a:t>
            </a:r>
          </a:p>
        </p:txBody>
      </p:sp>
      <p:sp>
        <p:nvSpPr>
          <p:cNvPr id="70" name="TextBox 69"/>
          <p:cNvSpPr txBox="1"/>
          <p:nvPr/>
        </p:nvSpPr>
        <p:spPr>
          <a:xfrm>
            <a:off x="485775" y="4397077"/>
            <a:ext cx="497209" cy="186689"/>
          </a:xfrm>
          <a:prstGeom prst="rect">
            <a:avLst/>
          </a:prstGeom>
          <a:noFill/>
        </p:spPr>
        <p:txBody>
          <a:bodyPr wrap="none" lIns="0" rIns="0" tIns="0" bIns="0">
            <a:spAutoFit/>
          </a:bodyPr>
          <a:lstStyle/>
          <a:p>
            <a:r>
              <a:rPr sz="1100" b="0">
                <a:solidFill>
                  <a:srgbClr val="2E2E2E"/>
                </a:solidFill>
                <a:latin typeface="Calibri"/>
              </a:rPr>
              <a:t>in 2026</a:t>
            </a:r>
          </a:p>
        </p:txBody>
      </p:sp>
      <p:pic>
        <p:nvPicPr>
          <p:cNvPr id="71" name="Picture 70" descr="lock.png"/>
          <p:cNvPicPr>
            <a:picLocks noChangeAspect="1"/>
          </p:cNvPicPr>
          <p:nvPr/>
        </p:nvPicPr>
        <p:blipFill>
          <a:blip r:embed="rId13"/>
          <a:stretch>
            <a:fillRect/>
          </a:stretch>
        </p:blipFill>
        <p:spPr>
          <a:xfrm>
            <a:off x="931036" y="4387298"/>
            <a:ext cx="128699" cy="187198"/>
          </a:xfrm>
          <a:prstGeom prst="rect">
            <a:avLst/>
          </a:prstGeom>
        </p:spPr>
      </p:pic>
      <p:sp>
        <p:nvSpPr>
          <p:cNvPr id="72" name="TextBox 71"/>
          <p:cNvSpPr txBox="1"/>
          <p:nvPr/>
        </p:nvSpPr>
        <p:spPr>
          <a:xfrm>
            <a:off x="1098532"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914650" cy="186689"/>
          </a:xfrm>
          <a:prstGeom prst="rect">
            <a:avLst/>
          </a:prstGeom>
          <a:noFill/>
        </p:spPr>
        <p:txBody>
          <a:bodyPr wrap="none" lIns="0" rIns="0" tIns="0" bIns="0">
            <a:spAutoFit/>
          </a:bodyPr>
          <a:lstStyle/>
          <a:p>
            <a:r>
              <a:rPr sz="1100" b="0">
                <a:solidFill>
                  <a:srgbClr val="2E2E2E"/>
                </a:solidFill>
                <a:latin typeface="Calibri"/>
              </a:rPr>
              <a:t>▪ 'Additional claim mapping'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422996" cy="186689"/>
          </a:xfrm>
          <a:prstGeom prst="rect">
            <a:avLst/>
          </a:prstGeom>
          <a:noFill/>
        </p:spPr>
        <p:txBody>
          <a:bodyPr wrap="none" lIns="0" rIns="0" tIns="0" bIns="0">
            <a:spAutoFit/>
          </a:bodyPr>
          <a:lstStyle/>
          <a:p>
            <a:r>
              <a:rPr sz="1100" b="0">
                <a:solidFill>
                  <a:srgbClr val="2E2E2E"/>
                </a:solidFill>
                <a:latin typeface="Calibri"/>
              </a:rPr>
              <a:t>▪ 3 sub-segments make up the recipe and</a:t>
            </a:r>
          </a:p>
        </p:txBody>
      </p:sp>
      <p:sp>
        <p:nvSpPr>
          <p:cNvPr id="84" name="TextBox 83"/>
          <p:cNvSpPr txBox="1"/>
          <p:nvPr/>
        </p:nvSpPr>
        <p:spPr>
          <a:xfrm>
            <a:off x="485775" y="5553793"/>
            <a:ext cx="1686024" cy="186689"/>
          </a:xfrm>
          <a:prstGeom prst="rect">
            <a:avLst/>
          </a:prstGeom>
          <a:noFill/>
        </p:spPr>
        <p:txBody>
          <a:bodyPr wrap="none" lIns="0" rIns="0" tIns="0" bIns="0">
            <a:spAutoFit/>
          </a:bodyPr>
          <a:lstStyle/>
          <a:p>
            <a:r>
              <a:rPr sz="1100" b="0">
                <a:solidFill>
                  <a:srgbClr val="2E2E2E"/>
                </a:solidFill>
                <a:latin typeface="Calibri"/>
              </a:rPr>
              <a:t>ingredient claims landscape.</a:t>
            </a:r>
          </a:p>
        </p:txBody>
      </p:sp>
      <p:sp>
        <p:nvSpPr>
          <p:cNvPr id="85" name="TextBox 84"/>
          <p:cNvSpPr txBox="1"/>
          <p:nvPr/>
        </p:nvSpPr>
        <p:spPr>
          <a:xfrm>
            <a:off x="3838575" y="4229437"/>
            <a:ext cx="1676474" cy="186689"/>
          </a:xfrm>
          <a:prstGeom prst="rect">
            <a:avLst/>
          </a:prstGeom>
          <a:noFill/>
        </p:spPr>
        <p:txBody>
          <a:bodyPr wrap="none" lIns="0" rIns="0" tIns="0" bIns="0">
            <a:spAutoFit/>
          </a:bodyPr>
          <a:lstStyle/>
          <a:p>
            <a:r>
              <a:rPr sz="1100" b="0">
                <a:solidFill>
                  <a:srgbClr val="2E2E2E"/>
                </a:solidFill>
                <a:latin typeface="Calibri"/>
              </a:rPr>
              <a:t>● Additional claim mapping:</a:t>
            </a:r>
          </a:p>
        </p:txBody>
      </p:sp>
      <p:pic>
        <p:nvPicPr>
          <p:cNvPr id="86" name="Picture 85" descr="lock.png"/>
          <p:cNvPicPr>
            <a:picLocks noChangeAspect="1"/>
          </p:cNvPicPr>
          <p:nvPr/>
        </p:nvPicPr>
        <p:blipFill>
          <a:blip r:embed="rId13"/>
          <a:stretch>
            <a:fillRect/>
          </a:stretch>
        </p:blipFill>
        <p:spPr>
          <a:xfrm>
            <a:off x="5463101" y="4219658"/>
            <a:ext cx="128699" cy="187198"/>
          </a:xfrm>
          <a:prstGeom prst="rect">
            <a:avLst/>
          </a:prstGeom>
        </p:spPr>
      </p:pic>
      <p:sp>
        <p:nvSpPr>
          <p:cNvPr id="87" name="TextBox 86"/>
          <p:cNvSpPr txBox="1"/>
          <p:nvPr/>
        </p:nvSpPr>
        <p:spPr>
          <a:xfrm>
            <a:off x="563059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490047" y="4219658"/>
            <a:ext cx="128699" cy="187198"/>
          </a:xfrm>
          <a:prstGeom prst="rect">
            <a:avLst/>
          </a:prstGeom>
        </p:spPr>
      </p:pic>
      <p:sp>
        <p:nvSpPr>
          <p:cNvPr id="89" name="TextBox 88"/>
          <p:cNvSpPr txBox="1"/>
          <p:nvPr/>
        </p:nvSpPr>
        <p:spPr>
          <a:xfrm>
            <a:off x="665754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185614" cy="186689"/>
          </a:xfrm>
          <a:prstGeom prst="rect">
            <a:avLst/>
          </a:prstGeom>
          <a:noFill/>
        </p:spPr>
        <p:txBody>
          <a:bodyPr wrap="none" lIns="0" rIns="0" tIns="0" bIns="0">
            <a:spAutoFit/>
          </a:bodyPr>
          <a:lstStyle/>
          <a:p>
            <a:r>
              <a:rPr sz="1100" b="0">
                <a:solidFill>
                  <a:srgbClr val="2E2E2E"/>
                </a:solidFill>
                <a:latin typeface="Calibri"/>
              </a:rPr>
              <a:t>● Organic-certified:</a:t>
            </a:r>
          </a:p>
        </p:txBody>
      </p:sp>
      <p:pic>
        <p:nvPicPr>
          <p:cNvPr id="92" name="Picture 91" descr="lock.png"/>
          <p:cNvPicPr>
            <a:picLocks noChangeAspect="1"/>
          </p:cNvPicPr>
          <p:nvPr/>
        </p:nvPicPr>
        <p:blipFill>
          <a:blip r:embed="rId13"/>
          <a:stretch>
            <a:fillRect/>
          </a:stretch>
        </p:blipFill>
        <p:spPr>
          <a:xfrm>
            <a:off x="4972241" y="4605230"/>
            <a:ext cx="128699" cy="187198"/>
          </a:xfrm>
          <a:prstGeom prst="rect">
            <a:avLst/>
          </a:prstGeom>
        </p:spPr>
      </p:pic>
      <p:sp>
        <p:nvSpPr>
          <p:cNvPr id="93" name="TextBox 92"/>
          <p:cNvSpPr txBox="1"/>
          <p:nvPr/>
        </p:nvSpPr>
        <p:spPr>
          <a:xfrm>
            <a:off x="513973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5999187" y="4605230"/>
            <a:ext cx="128699" cy="187198"/>
          </a:xfrm>
          <a:prstGeom prst="rect">
            <a:avLst/>
          </a:prstGeom>
        </p:spPr>
      </p:pic>
      <p:sp>
        <p:nvSpPr>
          <p:cNvPr id="95" name="TextBox 94"/>
          <p:cNvSpPr txBox="1"/>
          <p:nvPr/>
        </p:nvSpPr>
        <p:spPr>
          <a:xfrm>
            <a:off x="616668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6" name="TextBox 95"/>
          <p:cNvSpPr txBox="1"/>
          <p:nvPr/>
        </p:nvSpPr>
        <p:spPr>
          <a:xfrm>
            <a:off x="3838575" y="4832941"/>
            <a:ext cx="1782886" cy="186689"/>
          </a:xfrm>
          <a:prstGeom prst="rect">
            <a:avLst/>
          </a:prstGeom>
          <a:noFill/>
        </p:spPr>
        <p:txBody>
          <a:bodyPr wrap="none" lIns="0" rIns="0" tIns="0" bIns="0">
            <a:spAutoFit/>
          </a:bodyPr>
          <a:lstStyle/>
          <a:p>
            <a:r>
              <a:rPr sz="1100" b="0">
                <a:solidFill>
                  <a:srgbClr val="2E2E2E"/>
                </a:solidFill>
                <a:latin typeface="Calibri"/>
              </a:rPr>
              <a:t>● Conventional / non-organic:</a:t>
            </a:r>
          </a:p>
        </p:txBody>
      </p:sp>
      <p:pic>
        <p:nvPicPr>
          <p:cNvPr id="97" name="Picture 96" descr="lock.png"/>
          <p:cNvPicPr>
            <a:picLocks noChangeAspect="1"/>
          </p:cNvPicPr>
          <p:nvPr/>
        </p:nvPicPr>
        <p:blipFill>
          <a:blip r:embed="rId13"/>
          <a:stretch>
            <a:fillRect/>
          </a:stretch>
        </p:blipFill>
        <p:spPr>
          <a:xfrm>
            <a:off x="5569513" y="4823162"/>
            <a:ext cx="128699" cy="187198"/>
          </a:xfrm>
          <a:prstGeom prst="rect">
            <a:avLst/>
          </a:prstGeom>
        </p:spPr>
      </p:pic>
      <p:sp>
        <p:nvSpPr>
          <p:cNvPr id="98" name="TextBox 97"/>
          <p:cNvSpPr txBox="1"/>
          <p:nvPr/>
        </p:nvSpPr>
        <p:spPr>
          <a:xfrm>
            <a:off x="5737008"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596459" y="4823162"/>
            <a:ext cx="128699" cy="187198"/>
          </a:xfrm>
          <a:prstGeom prst="rect">
            <a:avLst/>
          </a:prstGeom>
        </p:spPr>
      </p:pic>
      <p:sp>
        <p:nvSpPr>
          <p:cNvPr id="100" name="TextBox 99"/>
          <p:cNvSpPr txBox="1"/>
          <p:nvPr/>
        </p:nvSpPr>
        <p:spPr>
          <a:xfrm>
            <a:off x="676395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56661"/>
            <a:ext cx="3129352" cy="180289"/>
          </a:xfrm>
          <a:prstGeom prst="rect">
            <a:avLst/>
          </a:prstGeom>
          <a:noFill/>
        </p:spPr>
        <p:txBody>
          <a:bodyPr wrap="none" lIns="0" rIns="0" tIns="0" bIns="0">
            <a:spAutoFit/>
          </a:bodyPr>
          <a:lstStyle/>
          <a:p>
            <a:r>
              <a:rPr sz="1057" b="1">
                <a:solidFill>
                  <a:srgbClr val="0B2E4A"/>
                </a:solidFill>
                <a:latin typeface="Calibri"/>
              </a:rPr>
              <a:t>The Recipe and Ingredient Claims segment is projected</a:t>
            </a:r>
          </a:p>
        </p:txBody>
      </p:sp>
      <p:sp>
        <p:nvSpPr>
          <p:cNvPr id="103" name="TextBox 102"/>
          <p:cNvSpPr txBox="1"/>
          <p:nvPr/>
        </p:nvSpPr>
        <p:spPr>
          <a:xfrm>
            <a:off x="8524875" y="6017901"/>
            <a:ext cx="1239018" cy="180289"/>
          </a:xfrm>
          <a:prstGeom prst="rect">
            <a:avLst/>
          </a:prstGeom>
          <a:noFill/>
        </p:spPr>
        <p:txBody>
          <a:bodyPr wrap="none" lIns="0" rIns="0" tIns="0" bIns="0">
            <a:spAutoFit/>
          </a:bodyPr>
          <a:lstStyle/>
          <a:p>
            <a:r>
              <a:rPr sz="1057" b="1">
                <a:solidFill>
                  <a:srgbClr val="0B2E4A"/>
                </a:solidFill>
                <a:latin typeface="Calibri"/>
              </a:rPr>
              <a:t>to grow at a CAGR of</a:t>
            </a:r>
          </a:p>
        </p:txBody>
      </p:sp>
      <p:pic>
        <p:nvPicPr>
          <p:cNvPr id="104" name="Picture 103" descr="lock.png"/>
          <p:cNvPicPr>
            <a:picLocks noChangeAspect="1"/>
          </p:cNvPicPr>
          <p:nvPr/>
        </p:nvPicPr>
        <p:blipFill>
          <a:blip r:embed="rId13"/>
          <a:stretch>
            <a:fillRect/>
          </a:stretch>
        </p:blipFill>
        <p:spPr>
          <a:xfrm>
            <a:off x="9711019" y="6008495"/>
            <a:ext cx="123784" cy="180050"/>
          </a:xfrm>
          <a:prstGeom prst="rect">
            <a:avLst/>
          </a:prstGeom>
        </p:spPr>
      </p:pic>
      <p:sp>
        <p:nvSpPr>
          <p:cNvPr id="105" name="TextBox 104"/>
          <p:cNvSpPr txBox="1"/>
          <p:nvPr/>
        </p:nvSpPr>
        <p:spPr>
          <a:xfrm>
            <a:off x="9872119" y="6017901"/>
            <a:ext cx="1140105" cy="180289"/>
          </a:xfrm>
          <a:prstGeom prst="rect">
            <a:avLst/>
          </a:prstGeom>
          <a:noFill/>
        </p:spPr>
        <p:txBody>
          <a:bodyPr wrap="none" lIns="0" rIns="0" tIns="0" bIns="0">
            <a:spAutoFit/>
          </a:bodyPr>
          <a:lstStyle/>
          <a:p>
            <a:r>
              <a:rPr sz="1057" b="1">
                <a:solidFill>
                  <a:srgbClr val="0B2E4A"/>
                </a:solidFill>
                <a:latin typeface="Calibri"/>
              </a:rPr>
              <a:t>from 2026 to 2036.</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Recipe and Ingredient Claims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Recipe and Ingredient Claims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Recipe and Ingredient Claims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Recipe and Ingredient Claims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81253" cy="186689"/>
          </a:xfrm>
          <a:prstGeom prst="rect">
            <a:avLst/>
          </a:prstGeom>
          <a:noFill/>
        </p:spPr>
        <p:txBody>
          <a:bodyPr wrap="none" lIns="0" rIns="0" tIns="0" bIns="0">
            <a:spAutoFit/>
          </a:bodyPr>
          <a:lstStyle/>
          <a:p>
            <a:r>
              <a:rPr sz="1100" b="0">
                <a:solidFill>
                  <a:srgbClr val="2E2E2E"/>
                </a:solidFill>
                <a:latin typeface="Calibri"/>
              </a:rPr>
              <a:t>Between 2026 and 2036, 'Additional claim mapping' gains the most share in the Global market (+</a:t>
            </a:r>
          </a:p>
        </p:txBody>
      </p:sp>
      <p:pic>
        <p:nvPicPr>
          <p:cNvPr id="21" name="Picture 20" descr="lock.png"/>
          <p:cNvPicPr>
            <a:picLocks noChangeAspect="1"/>
          </p:cNvPicPr>
          <p:nvPr/>
        </p:nvPicPr>
        <p:blipFill>
          <a:blip r:embed="rId6"/>
          <a:stretch>
            <a:fillRect/>
          </a:stretch>
        </p:blipFill>
        <p:spPr>
          <a:xfrm>
            <a:off x="5786479" y="5851905"/>
            <a:ext cx="128699" cy="187198"/>
          </a:xfrm>
          <a:prstGeom prst="rect">
            <a:avLst/>
          </a:prstGeom>
        </p:spPr>
      </p:pic>
      <p:sp>
        <p:nvSpPr>
          <p:cNvPr id="22" name="TextBox 21"/>
          <p:cNvSpPr txBox="1"/>
          <p:nvPr/>
        </p:nvSpPr>
        <p:spPr>
          <a:xfrm>
            <a:off x="5953975" y="5861685"/>
            <a:ext cx="2077293" cy="186689"/>
          </a:xfrm>
          <a:prstGeom prst="rect">
            <a:avLst/>
          </a:prstGeom>
          <a:noFill/>
        </p:spPr>
        <p:txBody>
          <a:bodyPr wrap="none" lIns="0" rIns="0" tIns="0" bIns="0">
            <a:spAutoFit/>
          </a:bodyPr>
          <a:lstStyle/>
          <a:p>
            <a:r>
              <a:rPr sz="1100" b="0">
                <a:solidFill>
                  <a:srgbClr val="2E2E2E"/>
                </a:solidFill>
                <a:latin typeface="Calibri"/>
              </a:rPr>
              <a:t>BPS) while 'Organic-certified' cedes</a:t>
            </a:r>
          </a:p>
        </p:txBody>
      </p:sp>
      <p:pic>
        <p:nvPicPr>
          <p:cNvPr id="23" name="Picture 22" descr="lock.png"/>
          <p:cNvPicPr>
            <a:picLocks noChangeAspect="1"/>
          </p:cNvPicPr>
          <p:nvPr/>
        </p:nvPicPr>
        <p:blipFill>
          <a:blip r:embed="rId6"/>
          <a:stretch>
            <a:fillRect/>
          </a:stretch>
        </p:blipFill>
        <p:spPr>
          <a:xfrm>
            <a:off x="7979320" y="5851905"/>
            <a:ext cx="128699" cy="187198"/>
          </a:xfrm>
          <a:prstGeom prst="rect">
            <a:avLst/>
          </a:prstGeom>
        </p:spPr>
      </p:pic>
      <p:sp>
        <p:nvSpPr>
          <p:cNvPr id="24" name="TextBox 23"/>
          <p:cNvSpPr txBox="1"/>
          <p:nvPr/>
        </p:nvSpPr>
        <p:spPr>
          <a:xfrm>
            <a:off x="8146816"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Recipe and Ingredient Claims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Organic-certified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 non-organic</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Additional claim mapping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Recipe and Ingredient Claims</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923989" cy="194310"/>
          </a:xfrm>
          <a:prstGeom prst="rect">
            <a:avLst/>
          </a:prstGeom>
          <a:noFill/>
        </p:spPr>
        <p:txBody>
          <a:bodyPr wrap="none" lIns="0" rIns="0" tIns="0" bIns="0">
            <a:spAutoFit/>
          </a:bodyPr>
          <a:lstStyle/>
          <a:p>
            <a:r>
              <a:rPr sz="1150" b="0">
                <a:solidFill>
                  <a:srgbClr val="2E2E2E"/>
                </a:solidFill>
                <a:latin typeface="Calibri"/>
              </a:rPr>
              <a:t>▪ Across its 3 sub-segments, by recipe and ingredient claims adds</a:t>
            </a:r>
          </a:p>
        </p:txBody>
      </p:sp>
      <p:pic>
        <p:nvPicPr>
          <p:cNvPr id="29" name="Picture 28" descr="lock.png"/>
          <p:cNvPicPr>
            <a:picLocks noChangeAspect="1"/>
          </p:cNvPicPr>
          <p:nvPr/>
        </p:nvPicPr>
        <p:blipFill>
          <a:blip r:embed="rId7"/>
          <a:stretch>
            <a:fillRect/>
          </a:stretch>
        </p:blipFill>
        <p:spPr>
          <a:xfrm>
            <a:off x="10178693" y="4276026"/>
            <a:ext cx="134549" cy="195707"/>
          </a:xfrm>
          <a:prstGeom prst="rect">
            <a:avLst/>
          </a:prstGeom>
        </p:spPr>
      </p:pic>
      <p:sp>
        <p:nvSpPr>
          <p:cNvPr id="30" name="TextBox 29"/>
          <p:cNvSpPr txBox="1"/>
          <p:nvPr/>
        </p:nvSpPr>
        <p:spPr>
          <a:xfrm>
            <a:off x="10353803" y="4286250"/>
            <a:ext cx="1352996" cy="194310"/>
          </a:xfrm>
          <a:prstGeom prst="rect">
            <a:avLst/>
          </a:prstGeom>
          <a:noFill/>
        </p:spPr>
        <p:txBody>
          <a:bodyPr wrap="none" lIns="0" rIns="0" tIns="0" bIns="0">
            <a:spAutoFit/>
          </a:bodyPr>
          <a:lstStyle/>
          <a:p>
            <a:r>
              <a:rPr sz="1150" b="0">
                <a:solidFill>
                  <a:srgbClr val="2E2E2E"/>
                </a:solidFill>
                <a:latin typeface="Calibri"/>
              </a:rPr>
              <a:t>US$ Mn to the Global</a:t>
            </a:r>
          </a:p>
        </p:txBody>
      </p:sp>
      <p:sp>
        <p:nvSpPr>
          <p:cNvPr id="31" name="TextBox 30"/>
          <p:cNvSpPr txBox="1"/>
          <p:nvPr/>
        </p:nvSpPr>
        <p:spPr>
          <a:xfrm>
            <a:off x="6305550" y="4461510"/>
            <a:ext cx="2013074" cy="194310"/>
          </a:xfrm>
          <a:prstGeom prst="rect">
            <a:avLst/>
          </a:prstGeom>
          <a:noFill/>
        </p:spPr>
        <p:txBody>
          <a:bodyPr wrap="none" lIns="0" rIns="0" tIns="0" bIns="0">
            <a:spAutoFit/>
          </a:bodyPr>
          <a:lstStyle/>
          <a:p>
            <a:r>
              <a:rPr sz="1150" b="0">
                <a:solidFill>
                  <a:srgbClr val="2E2E2E"/>
                </a:solidFill>
                <a:latin typeface="Calibri"/>
              </a:rPr>
              <a:t>market between 2026 and 2036.</a:t>
            </a:r>
          </a:p>
        </p:txBody>
      </p:sp>
      <p:sp>
        <p:nvSpPr>
          <p:cNvPr id="32" name="TextBox 31"/>
          <p:cNvSpPr txBox="1"/>
          <p:nvPr/>
        </p:nvSpPr>
        <p:spPr>
          <a:xfrm>
            <a:off x="6305550" y="4689347"/>
            <a:ext cx="2051583" cy="194310"/>
          </a:xfrm>
          <a:prstGeom prst="rect">
            <a:avLst/>
          </a:prstGeom>
          <a:noFill/>
        </p:spPr>
        <p:txBody>
          <a:bodyPr wrap="none" lIns="0" rIns="0" tIns="0" bIns="0">
            <a:spAutoFit/>
          </a:bodyPr>
          <a:lstStyle/>
          <a:p>
            <a:r>
              <a:rPr sz="1150" b="0">
                <a:solidFill>
                  <a:srgbClr val="2E2E2E"/>
                </a:solidFill>
                <a:latin typeface="Calibri"/>
              </a:rPr>
              <a:t>▪ 'Additional claim mapping' adds</a:t>
            </a:r>
          </a:p>
        </p:txBody>
      </p:sp>
      <p:pic>
        <p:nvPicPr>
          <p:cNvPr id="33" name="Picture 32" descr="lock.png"/>
          <p:cNvPicPr>
            <a:picLocks noChangeAspect="1"/>
          </p:cNvPicPr>
          <p:nvPr/>
        </p:nvPicPr>
        <p:blipFill>
          <a:blip r:embed="rId7"/>
          <a:stretch>
            <a:fillRect/>
          </a:stretch>
        </p:blipFill>
        <p:spPr>
          <a:xfrm>
            <a:off x="8306287" y="4679124"/>
            <a:ext cx="134549" cy="195707"/>
          </a:xfrm>
          <a:prstGeom prst="rect">
            <a:avLst/>
          </a:prstGeom>
        </p:spPr>
      </p:pic>
      <p:sp>
        <p:nvSpPr>
          <p:cNvPr id="34" name="TextBox 33"/>
          <p:cNvSpPr txBox="1"/>
          <p:nvPr/>
        </p:nvSpPr>
        <p:spPr>
          <a:xfrm>
            <a:off x="848139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9053867" y="4679124"/>
            <a:ext cx="134549" cy="195707"/>
          </a:xfrm>
          <a:prstGeom prst="rect">
            <a:avLst/>
          </a:prstGeom>
        </p:spPr>
      </p:pic>
      <p:sp>
        <p:nvSpPr>
          <p:cNvPr id="36" name="TextBox 35"/>
          <p:cNvSpPr txBox="1"/>
          <p:nvPr/>
        </p:nvSpPr>
        <p:spPr>
          <a:xfrm>
            <a:off x="922897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538411" cy="194310"/>
          </a:xfrm>
          <a:prstGeom prst="rect">
            <a:avLst/>
          </a:prstGeom>
          <a:noFill/>
        </p:spPr>
        <p:txBody>
          <a:bodyPr wrap="none" lIns="0" rIns="0" tIns="0" bIns="0">
            <a:spAutoFit/>
          </a:bodyPr>
          <a:lstStyle/>
          <a:p>
            <a:r>
              <a:rPr sz="1150" b="0">
                <a:solidFill>
                  <a:srgbClr val="2E2E2E"/>
                </a:solidFill>
                <a:latin typeface="Calibri"/>
              </a:rPr>
              <a:t>▪ 'Organic-certified' adds</a:t>
            </a:r>
          </a:p>
        </p:txBody>
      </p:sp>
      <p:pic>
        <p:nvPicPr>
          <p:cNvPr id="38" name="Picture 37" descr="lock.png"/>
          <p:cNvPicPr>
            <a:picLocks noChangeAspect="1"/>
          </p:cNvPicPr>
          <p:nvPr/>
        </p:nvPicPr>
        <p:blipFill>
          <a:blip r:embed="rId7"/>
          <a:stretch>
            <a:fillRect/>
          </a:stretch>
        </p:blipFill>
        <p:spPr>
          <a:xfrm>
            <a:off x="7793115" y="4906962"/>
            <a:ext cx="134549" cy="195707"/>
          </a:xfrm>
          <a:prstGeom prst="rect">
            <a:avLst/>
          </a:prstGeom>
        </p:spPr>
      </p:pic>
      <p:sp>
        <p:nvSpPr>
          <p:cNvPr id="39" name="TextBox 38"/>
          <p:cNvSpPr txBox="1"/>
          <p:nvPr/>
        </p:nvSpPr>
        <p:spPr>
          <a:xfrm>
            <a:off x="7968224"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540695" y="4906962"/>
            <a:ext cx="134549" cy="195707"/>
          </a:xfrm>
          <a:prstGeom prst="rect">
            <a:avLst/>
          </a:prstGeom>
        </p:spPr>
      </p:pic>
      <p:sp>
        <p:nvSpPr>
          <p:cNvPr id="41" name="TextBox 40"/>
          <p:cNvSpPr txBox="1"/>
          <p:nvPr/>
        </p:nvSpPr>
        <p:spPr>
          <a:xfrm>
            <a:off x="8715804"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162832" cy="194310"/>
          </a:xfrm>
          <a:prstGeom prst="rect">
            <a:avLst/>
          </a:prstGeom>
          <a:noFill/>
        </p:spPr>
        <p:txBody>
          <a:bodyPr wrap="none" lIns="0" rIns="0" tIns="0" bIns="0">
            <a:spAutoFit/>
          </a:bodyPr>
          <a:lstStyle/>
          <a:p>
            <a:r>
              <a:rPr sz="1150" b="0">
                <a:solidFill>
                  <a:srgbClr val="2E2E2E"/>
                </a:solidFill>
                <a:latin typeface="Calibri"/>
              </a:rPr>
              <a:t>▪ 'Conventional / non-organic' adds</a:t>
            </a:r>
          </a:p>
        </p:txBody>
      </p:sp>
      <p:pic>
        <p:nvPicPr>
          <p:cNvPr id="43" name="Picture 42" descr="lock.png"/>
          <p:cNvPicPr>
            <a:picLocks noChangeAspect="1"/>
          </p:cNvPicPr>
          <p:nvPr/>
        </p:nvPicPr>
        <p:blipFill>
          <a:blip r:embed="rId7"/>
          <a:stretch>
            <a:fillRect/>
          </a:stretch>
        </p:blipFill>
        <p:spPr>
          <a:xfrm>
            <a:off x="8417536" y="5134800"/>
            <a:ext cx="134549" cy="195707"/>
          </a:xfrm>
          <a:prstGeom prst="rect">
            <a:avLst/>
          </a:prstGeom>
        </p:spPr>
      </p:pic>
      <p:sp>
        <p:nvSpPr>
          <p:cNvPr id="44" name="TextBox 43"/>
          <p:cNvSpPr txBox="1"/>
          <p:nvPr/>
        </p:nvSpPr>
        <p:spPr>
          <a:xfrm>
            <a:off x="8592645"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165116" y="5134800"/>
            <a:ext cx="134549" cy="195707"/>
          </a:xfrm>
          <a:prstGeom prst="rect">
            <a:avLst/>
          </a:prstGeom>
        </p:spPr>
      </p:pic>
      <p:sp>
        <p:nvSpPr>
          <p:cNvPr id="46" name="TextBox 45"/>
          <p:cNvSpPr txBox="1"/>
          <p:nvPr/>
        </p:nvSpPr>
        <p:spPr>
          <a:xfrm>
            <a:off x="9340225"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Recipe and Ingredient Claims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Recipe and Ingredient Claims (MT)</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Recipe and</a:t>
                      </a:r>
                      <a:endParaRPr sz="1100"/>
                    </a:p>
                    <a:p>
                      <a:pPr algn="l"/>
                      <a:r>
                        <a:rPr sz="1100" b="1">
                          <a:solidFill>
                            <a:srgbClr val="0B2E4A"/>
                          </a:solidFill>
                          <a:latin typeface="Calibri"/>
                        </a:rPr>
                        <a:t>Ingredient Claims</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Organic-certified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Conventional /</a:t>
                      </a:r>
                      <a:endParaRPr sz="1100"/>
                    </a:p>
                    <a:p>
                      <a:pPr algn="l"/>
                      <a:r>
                        <a:rPr sz="1100" b="1">
                          <a:solidFill>
                            <a:srgbClr val="2E2E2E"/>
                          </a:solidFill>
                          <a:latin typeface="Calibri"/>
                        </a:rPr>
                        <a:t>non-organic</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Additional claim</a:t>
                      </a:r>
                      <a:endParaRPr sz="1100"/>
                    </a:p>
                    <a:p>
                      <a:pPr algn="l"/>
                      <a:r>
                        <a:rPr sz="1100" b="1">
                          <a:solidFill>
                            <a:srgbClr val="2E2E2E"/>
                          </a:solidFill>
                          <a:latin typeface="Calibri"/>
                        </a:rPr>
                        <a:t>mapping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Recipe and Ingredient Claims</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799776"/>
            <a:ext cx="134549" cy="195707"/>
          </a:xfrm>
          <a:prstGeom prst="rect">
            <a:avLst/>
          </a:prstGeom>
        </p:spPr>
      </p:pic>
      <p:sp>
        <p:nvSpPr>
          <p:cNvPr id="23" name="TextBox 22"/>
          <p:cNvSpPr txBox="1"/>
          <p:nvPr/>
        </p:nvSpPr>
        <p:spPr>
          <a:xfrm>
            <a:off x="4790583" y="3810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820315" y="3799776"/>
            <a:ext cx="134549" cy="195707"/>
          </a:xfrm>
          <a:prstGeom prst="rect">
            <a:avLst/>
          </a:prstGeom>
        </p:spPr>
      </p:pic>
      <p:sp>
        <p:nvSpPr>
          <p:cNvPr id="25" name="TextBox 24"/>
          <p:cNvSpPr txBox="1"/>
          <p:nvPr/>
        </p:nvSpPr>
        <p:spPr>
          <a:xfrm>
            <a:off x="5995425" y="3810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378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4027614"/>
            <a:ext cx="134549" cy="195707"/>
          </a:xfrm>
          <a:prstGeom prst="rect">
            <a:avLst/>
          </a:prstGeom>
        </p:spPr>
      </p:pic>
      <p:sp>
        <p:nvSpPr>
          <p:cNvPr id="28" name="TextBox 27"/>
          <p:cNvSpPr txBox="1"/>
          <p:nvPr/>
        </p:nvSpPr>
        <p:spPr>
          <a:xfrm>
            <a:off x="2962390" y="4037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2656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4255452"/>
            <a:ext cx="134549" cy="195707"/>
          </a:xfrm>
          <a:prstGeom prst="rect">
            <a:avLst/>
          </a:prstGeom>
        </p:spPr>
      </p:pic>
      <p:sp>
        <p:nvSpPr>
          <p:cNvPr id="31" name="TextBox 30"/>
          <p:cNvSpPr txBox="1"/>
          <p:nvPr/>
        </p:nvSpPr>
        <p:spPr>
          <a:xfrm>
            <a:off x="3471568" y="42656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4255452"/>
            <a:ext cx="134549" cy="195707"/>
          </a:xfrm>
          <a:prstGeom prst="rect">
            <a:avLst/>
          </a:prstGeom>
        </p:spPr>
      </p:pic>
      <p:sp>
        <p:nvSpPr>
          <p:cNvPr id="33" name="TextBox 32"/>
          <p:cNvSpPr txBox="1"/>
          <p:nvPr/>
        </p:nvSpPr>
        <p:spPr>
          <a:xfrm>
            <a:off x="6079860" y="4265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493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483290"/>
            <a:ext cx="134549" cy="195707"/>
          </a:xfrm>
          <a:prstGeom prst="rect">
            <a:avLst/>
          </a:prstGeom>
        </p:spPr>
      </p:pic>
      <p:sp>
        <p:nvSpPr>
          <p:cNvPr id="36" name="TextBox 35"/>
          <p:cNvSpPr txBox="1"/>
          <p:nvPr/>
        </p:nvSpPr>
        <p:spPr>
          <a:xfrm>
            <a:off x="1965143" y="4493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483290"/>
            <a:ext cx="134549" cy="195707"/>
          </a:xfrm>
          <a:prstGeom prst="rect">
            <a:avLst/>
          </a:prstGeom>
        </p:spPr>
      </p:pic>
      <p:sp>
        <p:nvSpPr>
          <p:cNvPr id="38" name="TextBox 37"/>
          <p:cNvSpPr txBox="1"/>
          <p:nvPr/>
        </p:nvSpPr>
        <p:spPr>
          <a:xfrm>
            <a:off x="2291688" y="4493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Recipe and Ingredient Claims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Recipe and Ingredient Claims,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Recipe and Ingredient Claims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700"/>
                <a:gridCol w="584441"/>
                <a:gridCol w="584441"/>
                <a:gridCol w="584441"/>
                <a:gridCol w="584441"/>
                <a:gridCol w="584441"/>
                <a:gridCol w="584441"/>
                <a:gridCol w="584441"/>
                <a:gridCol w="584441"/>
                <a:gridCol w="584441"/>
                <a:gridCol w="584441"/>
                <a:gridCol w="584441"/>
                <a:gridCol w="584441"/>
                <a:gridCol w="584441"/>
                <a:gridCol w="584441"/>
                <a:gridCol w="584441"/>
                <a:gridCol w="584441"/>
                <a:gridCol w="584441"/>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Recipe and Ingredient Claims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58" y="1713738"/>
            <a:ext cx="366712" cy="533400"/>
          </a:xfrm>
          <a:prstGeom prst="rect">
            <a:avLst/>
          </a:prstGeom>
        </p:spPr>
      </p:pic>
      <p:sp>
        <p:nvSpPr>
          <p:cNvPr id="21" name="TextBox 20"/>
          <p:cNvSpPr txBox="1"/>
          <p:nvPr/>
        </p:nvSpPr>
        <p:spPr>
          <a:xfrm>
            <a:off x="276225" y="3238500"/>
            <a:ext cx="4390094" cy="194310"/>
          </a:xfrm>
          <a:prstGeom prst="rect">
            <a:avLst/>
          </a:prstGeom>
          <a:noFill/>
        </p:spPr>
        <p:txBody>
          <a:bodyPr wrap="none" lIns="0" rIns="0" tIns="0" bIns="0">
            <a:spAutoFit/>
          </a:bodyPr>
          <a:lstStyle/>
          <a:p>
            <a:r>
              <a:rPr sz="1150" b="0">
                <a:solidFill>
                  <a:srgbClr val="2E2E2E"/>
                </a:solidFill>
                <a:latin typeface="Calibri"/>
              </a:rPr>
              <a:t>▪ 'Additional claim mapping' is the largest recipe and ingredient claims at</a:t>
            </a:r>
          </a:p>
        </p:txBody>
      </p:sp>
      <p:pic>
        <p:nvPicPr>
          <p:cNvPr id="22" name="Picture 21" descr="lock.png"/>
          <p:cNvPicPr>
            <a:picLocks noChangeAspect="1"/>
          </p:cNvPicPr>
          <p:nvPr/>
        </p:nvPicPr>
        <p:blipFill>
          <a:blip r:embed="rId4"/>
          <a:stretch>
            <a:fillRect/>
          </a:stretch>
        </p:blipFill>
        <p:spPr>
          <a:xfrm>
            <a:off x="4615473" y="3228276"/>
            <a:ext cx="134549" cy="195707"/>
          </a:xfrm>
          <a:prstGeom prst="rect">
            <a:avLst/>
          </a:prstGeom>
        </p:spPr>
      </p:pic>
      <p:sp>
        <p:nvSpPr>
          <p:cNvPr id="23" name="TextBox 22"/>
          <p:cNvSpPr txBox="1"/>
          <p:nvPr/>
        </p:nvSpPr>
        <p:spPr>
          <a:xfrm>
            <a:off x="4790583"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696515" y="3228276"/>
            <a:ext cx="134549" cy="195707"/>
          </a:xfrm>
          <a:prstGeom prst="rect">
            <a:avLst/>
          </a:prstGeom>
        </p:spPr>
      </p:pic>
      <p:sp>
        <p:nvSpPr>
          <p:cNvPr id="25" name="TextBox 24"/>
          <p:cNvSpPr txBox="1"/>
          <p:nvPr/>
        </p:nvSpPr>
        <p:spPr>
          <a:xfrm>
            <a:off x="5871625"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561902" cy="194310"/>
          </a:xfrm>
          <a:prstGeom prst="rect">
            <a:avLst/>
          </a:prstGeom>
          <a:noFill/>
        </p:spPr>
        <p:txBody>
          <a:bodyPr wrap="none" lIns="0" rIns="0" tIns="0" bIns="0">
            <a:spAutoFit/>
          </a:bodyPr>
          <a:lstStyle/>
          <a:p>
            <a:r>
              <a:rPr sz="1150" b="0">
                <a:solidFill>
                  <a:srgbClr val="2E2E2E"/>
                </a:solidFill>
                <a:latin typeface="Calibri"/>
              </a:rPr>
              <a:t>▪ 'Additional claim mapping' grows fastest</a:t>
            </a:r>
          </a:p>
        </p:txBody>
      </p:sp>
      <p:pic>
        <p:nvPicPr>
          <p:cNvPr id="27" name="Picture 26" descr="lock.png"/>
          <p:cNvPicPr>
            <a:picLocks noChangeAspect="1"/>
          </p:cNvPicPr>
          <p:nvPr/>
        </p:nvPicPr>
        <p:blipFill>
          <a:blip r:embed="rId4"/>
          <a:stretch>
            <a:fillRect/>
          </a:stretch>
        </p:blipFill>
        <p:spPr>
          <a:xfrm>
            <a:off x="2787281" y="3456114"/>
            <a:ext cx="134549" cy="195707"/>
          </a:xfrm>
          <a:prstGeom prst="rect">
            <a:avLst/>
          </a:prstGeom>
        </p:spPr>
      </p:pic>
      <p:sp>
        <p:nvSpPr>
          <p:cNvPr id="28" name="TextBox 27"/>
          <p:cNvSpPr txBox="1"/>
          <p:nvPr/>
        </p:nvSpPr>
        <p:spPr>
          <a:xfrm>
            <a:off x="2962390"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071080" cy="194310"/>
          </a:xfrm>
          <a:prstGeom prst="rect">
            <a:avLst/>
          </a:prstGeom>
          <a:noFill/>
        </p:spPr>
        <p:txBody>
          <a:bodyPr wrap="none" lIns="0" rIns="0" tIns="0" bIns="0">
            <a:spAutoFit/>
          </a:bodyPr>
          <a:lstStyle/>
          <a:p>
            <a:r>
              <a:rPr sz="1150" b="0">
                <a:solidFill>
                  <a:srgbClr val="2E2E2E"/>
                </a:solidFill>
                <a:latin typeface="Calibri"/>
              </a:rPr>
              <a:t>▪ Share shifts toward 'Additional claim mapping' (+</a:t>
            </a:r>
          </a:p>
        </p:txBody>
      </p:sp>
      <p:pic>
        <p:nvPicPr>
          <p:cNvPr id="30" name="Picture 29" descr="lock.png"/>
          <p:cNvPicPr>
            <a:picLocks noChangeAspect="1"/>
          </p:cNvPicPr>
          <p:nvPr/>
        </p:nvPicPr>
        <p:blipFill>
          <a:blip r:embed="rId4"/>
          <a:stretch>
            <a:fillRect/>
          </a:stretch>
        </p:blipFill>
        <p:spPr>
          <a:xfrm>
            <a:off x="3296459" y="3683952"/>
            <a:ext cx="134549" cy="195707"/>
          </a:xfrm>
          <a:prstGeom prst="rect">
            <a:avLst/>
          </a:prstGeom>
        </p:spPr>
      </p:pic>
      <p:sp>
        <p:nvSpPr>
          <p:cNvPr id="31" name="TextBox 30"/>
          <p:cNvSpPr txBox="1"/>
          <p:nvPr/>
        </p:nvSpPr>
        <p:spPr>
          <a:xfrm>
            <a:off x="3471568" y="3694175"/>
            <a:ext cx="2484028" cy="194310"/>
          </a:xfrm>
          <a:prstGeom prst="rect">
            <a:avLst/>
          </a:prstGeom>
          <a:noFill/>
        </p:spPr>
        <p:txBody>
          <a:bodyPr wrap="none" lIns="0" rIns="0" tIns="0" bIns="0">
            <a:spAutoFit/>
          </a:bodyPr>
          <a:lstStyle/>
          <a:p>
            <a:r>
              <a:rPr sz="1150" b="0">
                <a:solidFill>
                  <a:srgbClr val="2E2E2E"/>
                </a:solidFill>
                <a:latin typeface="Calibri"/>
              </a:rPr>
              <a:t>BPS) and away from 'Organic-certified' (-</a:t>
            </a:r>
          </a:p>
        </p:txBody>
      </p:sp>
      <p:pic>
        <p:nvPicPr>
          <p:cNvPr id="32" name="Picture 31" descr="lock.png"/>
          <p:cNvPicPr>
            <a:picLocks noChangeAspect="1"/>
          </p:cNvPicPr>
          <p:nvPr/>
        </p:nvPicPr>
        <p:blipFill>
          <a:blip r:embed="rId4"/>
          <a:stretch>
            <a:fillRect/>
          </a:stretch>
        </p:blipFill>
        <p:spPr>
          <a:xfrm>
            <a:off x="5904751" y="3683952"/>
            <a:ext cx="134549" cy="195707"/>
          </a:xfrm>
          <a:prstGeom prst="rect">
            <a:avLst/>
          </a:prstGeom>
        </p:spPr>
      </p:pic>
      <p:sp>
        <p:nvSpPr>
          <p:cNvPr id="33" name="TextBox 32"/>
          <p:cNvSpPr txBox="1"/>
          <p:nvPr/>
        </p:nvSpPr>
        <p:spPr>
          <a:xfrm>
            <a:off x="6079860"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Recipe and Ingredient Claims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Recipe and Ingredient Claims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Recipe and Ingredient Claims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071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0234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61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 non-organic</a:t>
            </a:r>
          </a:p>
        </p:txBody>
      </p:sp>
      <p:sp>
        <p:nvSpPr>
          <p:cNvPr id="19" name="BPS Value 1"/>
          <p:cNvSpPr txBox="1"/>
          <p:nvPr/>
        </p:nvSpPr>
        <p:spPr>
          <a:xfrm>
            <a:off x="6896100" y="168805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97957"/>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931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169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Organic-certified</a:t>
            </a:r>
          </a:p>
        </p:txBody>
      </p:sp>
      <p:sp>
        <p:nvSpPr>
          <p:cNvPr id="23" name="BPS Value 2"/>
          <p:cNvSpPr txBox="1"/>
          <p:nvPr/>
        </p:nvSpPr>
        <p:spPr>
          <a:xfrm>
            <a:off x="6896100" y="20789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34830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34353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2673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Additional claim mapping</a:t>
            </a:r>
          </a:p>
        </p:txBody>
      </p:sp>
      <p:sp>
        <p:nvSpPr>
          <p:cNvPr id="27" name="BPS Value 3"/>
          <p:cNvSpPr txBox="1"/>
          <p:nvPr/>
        </p:nvSpPr>
        <p:spPr>
          <a:xfrm>
            <a:off x="6896100" y="432925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Recipe and Ingredient Claims</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108163" cy="194310"/>
          </a:xfrm>
          <a:prstGeom prst="rect">
            <a:avLst/>
          </a:prstGeom>
          <a:noFill/>
        </p:spPr>
        <p:txBody>
          <a:bodyPr wrap="none" lIns="0" rIns="0" tIns="0" bIns="0">
            <a:spAutoFit/>
          </a:bodyPr>
          <a:lstStyle/>
          <a:p>
            <a:r>
              <a:rPr sz="1150" b="0">
                <a:solidFill>
                  <a:srgbClr val="2E2E2E"/>
                </a:solidFill>
                <a:latin typeface="Calibri"/>
              </a:rPr>
              <a:t>▪ 'Additional claim mapping' gains the most share +</a:t>
            </a:r>
          </a:p>
        </p:txBody>
      </p:sp>
      <p:pic>
        <p:nvPicPr>
          <p:cNvPr id="35" name="Picture 34" descr="lock.png"/>
          <p:cNvPicPr>
            <a:picLocks noChangeAspect="1"/>
          </p:cNvPicPr>
          <p:nvPr/>
        </p:nvPicPr>
        <p:blipFill>
          <a:blip r:embed="rId5"/>
          <a:stretch>
            <a:fillRect/>
          </a:stretch>
        </p:blipFill>
        <p:spPr>
          <a:xfrm>
            <a:off x="10886867" y="1389951"/>
            <a:ext cx="134549" cy="195707"/>
          </a:xfrm>
          <a:prstGeom prst="rect">
            <a:avLst/>
          </a:prstGeom>
        </p:spPr>
      </p:pic>
      <p:sp>
        <p:nvSpPr>
          <p:cNvPr id="36" name="TextBox 35"/>
          <p:cNvSpPr txBox="1"/>
          <p:nvPr/>
        </p:nvSpPr>
        <p:spPr>
          <a:xfrm>
            <a:off x="11061976"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241562" cy="194310"/>
          </a:xfrm>
          <a:prstGeom prst="rect">
            <a:avLst/>
          </a:prstGeom>
          <a:noFill/>
        </p:spPr>
        <p:txBody>
          <a:bodyPr wrap="none" lIns="0" rIns="0" tIns="0" bIns="0">
            <a:spAutoFit/>
          </a:bodyPr>
          <a:lstStyle/>
          <a:p>
            <a:r>
              <a:rPr sz="1150" b="0">
                <a:solidFill>
                  <a:srgbClr val="2E2E2E"/>
                </a:solidFill>
                <a:latin typeface="Calibri"/>
              </a:rPr>
              <a:t>▪ 'Organic-certified' cedes the most -</a:t>
            </a:r>
          </a:p>
        </p:txBody>
      </p:sp>
      <p:pic>
        <p:nvPicPr>
          <p:cNvPr id="39" name="Picture 38" descr="lock.png"/>
          <p:cNvPicPr>
            <a:picLocks noChangeAspect="1"/>
          </p:cNvPicPr>
          <p:nvPr/>
        </p:nvPicPr>
        <p:blipFill>
          <a:blip r:embed="rId5"/>
          <a:stretch>
            <a:fillRect/>
          </a:stretch>
        </p:blipFill>
        <p:spPr>
          <a:xfrm>
            <a:off x="10020266" y="1793049"/>
            <a:ext cx="134549" cy="195707"/>
          </a:xfrm>
          <a:prstGeom prst="rect">
            <a:avLst/>
          </a:prstGeom>
        </p:spPr>
      </p:pic>
      <p:sp>
        <p:nvSpPr>
          <p:cNvPr id="40" name="TextBox 39"/>
          <p:cNvSpPr txBox="1"/>
          <p:nvPr/>
        </p:nvSpPr>
        <p:spPr>
          <a:xfrm>
            <a:off x="1019537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41" name="TextBox 40"/>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709479" cy="194310"/>
          </a:xfrm>
          <a:prstGeom prst="rect">
            <a:avLst/>
          </a:prstGeom>
          <a:noFill/>
        </p:spPr>
        <p:txBody>
          <a:bodyPr wrap="none" lIns="0" rIns="0" tIns="0" bIns="0">
            <a:spAutoFit/>
          </a:bodyPr>
          <a:lstStyle/>
          <a:p>
            <a:r>
              <a:rPr sz="1150" b="0">
                <a:solidFill>
                  <a:srgbClr val="2E2E2E"/>
                </a:solidFill>
                <a:latin typeface="Calibri"/>
              </a:rPr>
              <a:t>▪ 'Additional claim mapping' is the fastest-growing recipe and</a:t>
            </a:r>
          </a:p>
        </p:txBody>
      </p:sp>
      <p:sp>
        <p:nvSpPr>
          <p:cNvPr id="43" name="TextBox 42"/>
          <p:cNvSpPr txBox="1"/>
          <p:nvPr/>
        </p:nvSpPr>
        <p:spPr>
          <a:xfrm>
            <a:off x="7829550" y="2381631"/>
            <a:ext cx="1246026" cy="194310"/>
          </a:xfrm>
          <a:prstGeom prst="rect">
            <a:avLst/>
          </a:prstGeom>
          <a:noFill/>
        </p:spPr>
        <p:txBody>
          <a:bodyPr wrap="none" lIns="0" rIns="0" tIns="0" bIns="0">
            <a:spAutoFit/>
          </a:bodyPr>
          <a:lstStyle/>
          <a:p>
            <a:r>
              <a:rPr sz="1150" b="0">
                <a:solidFill>
                  <a:srgbClr val="2E2E2E"/>
                </a:solidFill>
                <a:latin typeface="Calibri"/>
              </a:rPr>
              <a:t>ingredient claims at</a:t>
            </a:r>
          </a:p>
        </p:txBody>
      </p:sp>
      <p:pic>
        <p:nvPicPr>
          <p:cNvPr id="44" name="Picture 43" descr="lock.png"/>
          <p:cNvPicPr>
            <a:picLocks noChangeAspect="1"/>
          </p:cNvPicPr>
          <p:nvPr/>
        </p:nvPicPr>
        <p:blipFill>
          <a:blip r:embed="rId5"/>
          <a:stretch>
            <a:fillRect/>
          </a:stretch>
        </p:blipFill>
        <p:spPr>
          <a:xfrm>
            <a:off x="9024730" y="2371407"/>
            <a:ext cx="134549" cy="195707"/>
          </a:xfrm>
          <a:prstGeom prst="rect">
            <a:avLst/>
          </a:prstGeom>
        </p:spPr>
      </p:pic>
      <p:sp>
        <p:nvSpPr>
          <p:cNvPr id="45" name="TextBox 44"/>
          <p:cNvSpPr txBox="1"/>
          <p:nvPr/>
        </p:nvSpPr>
        <p:spPr>
          <a:xfrm>
            <a:off x="919983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Recipe and Ingredient Claims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Recipe and Ingredient Claims,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Recipe and Ingredient Claims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2127921"/>
                <a:gridCol w="650619"/>
                <a:gridCol w="650619"/>
                <a:gridCol w="650619"/>
                <a:gridCol w="650619"/>
                <a:gridCol w="650619"/>
                <a:gridCol w="650619"/>
                <a:gridCol w="650619"/>
                <a:gridCol w="650619"/>
                <a:gridCol w="650619"/>
                <a:gridCol w="650619"/>
                <a:gridCol w="650619"/>
                <a:gridCol w="650619"/>
                <a:gridCol w="650619"/>
                <a:gridCol w="650619"/>
                <a:gridCol w="650619"/>
              </a:tblGrid>
              <a:tr h="246126">
                <a:tc>
                  <a:txBody>
                    <a:bodyPr wrap="none"/>
                    <a:lstStyle/>
                    <a:p>
                      <a:pPr algn="l"/>
                      <a:r>
                        <a:rPr sz="1100" b="1">
                          <a:solidFill>
                            <a:srgbClr val="0B2E4A"/>
                          </a:solidFill>
                          <a:latin typeface="Calibri"/>
                        </a:rPr>
                        <a:t>Recipe and Ingredient Claims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Organic-certified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 / non-organic</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Additional claim mapping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Recipe and Ingredient Claims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Organic-certified</a:t>
            </a:r>
          </a:p>
        </p:txBody>
      </p:sp>
      <p:sp>
        <p:nvSpPr>
          <p:cNvPr id="33" name="Rectangle 32"/>
          <p:cNvSpPr/>
          <p:nvPr/>
        </p:nvSpPr>
        <p:spPr>
          <a:xfrm>
            <a:off x="1857375" y="300037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Conventional / non-organic</a:t>
            </a:r>
          </a:p>
        </p:txBody>
      </p:sp>
      <p:sp>
        <p:nvSpPr>
          <p:cNvPr id="49" name="Rectangle 48"/>
          <p:cNvSpPr/>
          <p:nvPr/>
        </p:nvSpPr>
        <p:spPr>
          <a:xfrm>
            <a:off x="185737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Additional claim mapping</a:t>
            </a:r>
          </a:p>
        </p:txBody>
      </p:sp>
      <p:sp>
        <p:nvSpPr>
          <p:cNvPr id="65" name="Rectangle 64"/>
          <p:cNvSpPr/>
          <p:nvPr/>
        </p:nvSpPr>
        <p:spPr>
          <a:xfrm>
            <a:off x="1857375" y="5381625"/>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73"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Structure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Structure segment categorizes the market by product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Filled muffins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Unfilled muffins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Structure split shows how demand is distributed across product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_807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1_233_605E5C.png"/>
          <p:cNvPicPr>
            <a:picLocks noChangeAspect="1"/>
          </p:cNvPicPr>
          <p:nvPr/>
        </p:nvPicPr>
        <p:blipFill>
          <a:blip r:embed="rId5"/>
          <a:stretch>
            <a:fillRect/>
          </a:stretch>
        </p:blipFill>
        <p:spPr>
          <a:xfrm>
            <a:off x="3634127" y="2779432"/>
            <a:ext cx="1409020" cy="361950"/>
          </a:xfrm>
          <a:prstGeom prst="rect">
            <a:avLst/>
          </a:prstGeom>
        </p:spPr>
      </p:pic>
      <p:pic>
        <p:nvPicPr>
          <p:cNvPr id="52" name="Picture 51" descr="5_1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_093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6_512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758876" cy="186689"/>
          </a:xfrm>
          <a:prstGeom prst="rect">
            <a:avLst/>
          </a:prstGeom>
          <a:noFill/>
        </p:spPr>
        <p:txBody>
          <a:bodyPr wrap="none" lIns="0" rIns="0" tIns="0" bIns="0">
            <a:spAutoFit/>
          </a:bodyPr>
          <a:lstStyle/>
          <a:p>
            <a:r>
              <a:rPr sz="1100" b="0">
                <a:solidFill>
                  <a:srgbClr val="2E2E2E"/>
                </a:solidFill>
                <a:latin typeface="Calibri"/>
              </a:rPr>
              <a:t>▪ 'Filled muffins' holds the largest share in 2026</a:t>
            </a:r>
          </a:p>
        </p:txBody>
      </p:sp>
      <p:pic>
        <p:nvPicPr>
          <p:cNvPr id="59" name="Picture 58" descr="lock.png"/>
          <p:cNvPicPr>
            <a:picLocks noChangeAspect="1"/>
          </p:cNvPicPr>
          <p:nvPr/>
        </p:nvPicPr>
        <p:blipFill>
          <a:blip r:embed="rId10"/>
          <a:stretch>
            <a:fillRect/>
          </a:stretch>
        </p:blipFill>
        <p:spPr>
          <a:xfrm>
            <a:off x="472307" y="4387298"/>
            <a:ext cx="128699" cy="187198"/>
          </a:xfrm>
          <a:prstGeom prst="rect">
            <a:avLst/>
          </a:prstGeom>
        </p:spPr>
      </p:pic>
      <p:sp>
        <p:nvSpPr>
          <p:cNvPr id="60" name="TextBox 59"/>
          <p:cNvSpPr txBox="1"/>
          <p:nvPr/>
        </p:nvSpPr>
        <p:spPr>
          <a:xfrm>
            <a:off x="63980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1" name="TextBox 60"/>
          <p:cNvSpPr txBox="1"/>
          <p:nvPr/>
        </p:nvSpPr>
        <p:spPr>
          <a:xfrm>
            <a:off x="485775" y="4615009"/>
            <a:ext cx="2240458" cy="186689"/>
          </a:xfrm>
          <a:prstGeom prst="rect">
            <a:avLst/>
          </a:prstGeom>
          <a:noFill/>
        </p:spPr>
        <p:txBody>
          <a:bodyPr wrap="none" lIns="0" rIns="0" tIns="0" bIns="0">
            <a:spAutoFit/>
          </a:bodyPr>
          <a:lstStyle/>
          <a:p>
            <a:r>
              <a:rPr sz="1100" b="0">
                <a:solidFill>
                  <a:srgbClr val="2E2E2E"/>
                </a:solidFill>
                <a:latin typeface="Calibri"/>
              </a:rPr>
              <a:t>▪ 'Filled muffins' is the fastest-growing</a:t>
            </a:r>
          </a:p>
        </p:txBody>
      </p:sp>
      <p:sp>
        <p:nvSpPr>
          <p:cNvPr id="62" name="TextBox 61"/>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63" name="Picture 62" descr="lock.png"/>
          <p:cNvPicPr>
            <a:picLocks noChangeAspect="1"/>
          </p:cNvPicPr>
          <p:nvPr/>
        </p:nvPicPr>
        <p:blipFill>
          <a:blip r:embed="rId10"/>
          <a:stretch>
            <a:fillRect/>
          </a:stretch>
        </p:blipFill>
        <p:spPr>
          <a:xfrm>
            <a:off x="1391064" y="4772870"/>
            <a:ext cx="128699" cy="187198"/>
          </a:xfrm>
          <a:prstGeom prst="rect">
            <a:avLst/>
          </a:prstGeom>
        </p:spPr>
      </p:pic>
      <p:sp>
        <p:nvSpPr>
          <p:cNvPr id="64" name="TextBox 63"/>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5" name="TextBox 64"/>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6" name="Picture 65" descr="lock.png"/>
          <p:cNvPicPr>
            <a:picLocks noChangeAspect="1"/>
          </p:cNvPicPr>
          <p:nvPr/>
        </p:nvPicPr>
        <p:blipFill>
          <a:blip r:embed="rId10"/>
          <a:stretch>
            <a:fillRect/>
          </a:stretch>
        </p:blipFill>
        <p:spPr>
          <a:xfrm>
            <a:off x="2240451" y="4990801"/>
            <a:ext cx="128699" cy="187198"/>
          </a:xfrm>
          <a:prstGeom prst="rect">
            <a:avLst/>
          </a:prstGeom>
        </p:spPr>
      </p:pic>
      <p:sp>
        <p:nvSpPr>
          <p:cNvPr id="67" name="TextBox 66"/>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8" name="Picture 67" descr="lock.png"/>
          <p:cNvPicPr>
            <a:picLocks noChangeAspect="1"/>
          </p:cNvPicPr>
          <p:nvPr/>
        </p:nvPicPr>
        <p:blipFill>
          <a:blip r:embed="rId10"/>
          <a:stretch>
            <a:fillRect/>
          </a:stretch>
        </p:blipFill>
        <p:spPr>
          <a:xfrm>
            <a:off x="2552799" y="4990801"/>
            <a:ext cx="128699" cy="187198"/>
          </a:xfrm>
          <a:prstGeom prst="rect">
            <a:avLst/>
          </a:prstGeom>
        </p:spPr>
      </p:pic>
      <p:sp>
        <p:nvSpPr>
          <p:cNvPr id="69" name="TextBox 68"/>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0" name="TextBox 69"/>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1" name="TextBox 70"/>
          <p:cNvSpPr txBox="1"/>
          <p:nvPr/>
        </p:nvSpPr>
        <p:spPr>
          <a:xfrm>
            <a:off x="485775" y="5386153"/>
            <a:ext cx="2827089" cy="186689"/>
          </a:xfrm>
          <a:prstGeom prst="rect">
            <a:avLst/>
          </a:prstGeom>
          <a:noFill/>
        </p:spPr>
        <p:txBody>
          <a:bodyPr wrap="none" lIns="0" rIns="0" tIns="0" bIns="0">
            <a:spAutoFit/>
          </a:bodyPr>
          <a:lstStyle/>
          <a:p>
            <a:r>
              <a:rPr sz="1100" b="0">
                <a:solidFill>
                  <a:srgbClr val="2E2E2E"/>
                </a:solidFill>
                <a:latin typeface="Calibri"/>
              </a:rPr>
              <a:t>▪ 2 sub-segments make up the product structure</a:t>
            </a:r>
          </a:p>
        </p:txBody>
      </p:sp>
      <p:sp>
        <p:nvSpPr>
          <p:cNvPr id="72" name="TextBox 71"/>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3" name="TextBox 72"/>
          <p:cNvSpPr txBox="1"/>
          <p:nvPr/>
        </p:nvSpPr>
        <p:spPr>
          <a:xfrm>
            <a:off x="3838575" y="4229437"/>
            <a:ext cx="995164" cy="186689"/>
          </a:xfrm>
          <a:prstGeom prst="rect">
            <a:avLst/>
          </a:prstGeom>
          <a:noFill/>
        </p:spPr>
        <p:txBody>
          <a:bodyPr wrap="none" lIns="0" rIns="0" tIns="0" bIns="0">
            <a:spAutoFit/>
          </a:bodyPr>
          <a:lstStyle/>
          <a:p>
            <a:r>
              <a:rPr sz="1100" b="0">
                <a:solidFill>
                  <a:srgbClr val="2E2E2E"/>
                </a:solidFill>
                <a:latin typeface="Calibri"/>
              </a:rPr>
              <a:t>● Filled muffins:</a:t>
            </a:r>
          </a:p>
        </p:txBody>
      </p:sp>
      <p:pic>
        <p:nvPicPr>
          <p:cNvPr id="74" name="Picture 73" descr="lock.png"/>
          <p:cNvPicPr>
            <a:picLocks noChangeAspect="1"/>
          </p:cNvPicPr>
          <p:nvPr/>
        </p:nvPicPr>
        <p:blipFill>
          <a:blip r:embed="rId10"/>
          <a:stretch>
            <a:fillRect/>
          </a:stretch>
        </p:blipFill>
        <p:spPr>
          <a:xfrm>
            <a:off x="4781790" y="4219658"/>
            <a:ext cx="128699" cy="187198"/>
          </a:xfrm>
          <a:prstGeom prst="rect">
            <a:avLst/>
          </a:prstGeom>
        </p:spPr>
      </p:pic>
      <p:sp>
        <p:nvSpPr>
          <p:cNvPr id="75" name="TextBox 74"/>
          <p:cNvSpPr txBox="1"/>
          <p:nvPr/>
        </p:nvSpPr>
        <p:spPr>
          <a:xfrm>
            <a:off x="49492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808736" y="4219658"/>
            <a:ext cx="128699" cy="187198"/>
          </a:xfrm>
          <a:prstGeom prst="rect">
            <a:avLst/>
          </a:prstGeom>
        </p:spPr>
      </p:pic>
      <p:sp>
        <p:nvSpPr>
          <p:cNvPr id="77" name="TextBox 76"/>
          <p:cNvSpPr txBox="1"/>
          <p:nvPr/>
        </p:nvSpPr>
        <p:spPr>
          <a:xfrm>
            <a:off x="597623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1136774" cy="186689"/>
          </a:xfrm>
          <a:prstGeom prst="rect">
            <a:avLst/>
          </a:prstGeom>
          <a:noFill/>
        </p:spPr>
        <p:txBody>
          <a:bodyPr wrap="none" lIns="0" rIns="0" tIns="0" bIns="0">
            <a:spAutoFit/>
          </a:bodyPr>
          <a:lstStyle/>
          <a:p>
            <a:r>
              <a:rPr sz="1100" b="0">
                <a:solidFill>
                  <a:srgbClr val="2E2E2E"/>
                </a:solidFill>
                <a:latin typeface="Calibri"/>
              </a:rPr>
              <a:t>● Unfilled muffins:</a:t>
            </a:r>
          </a:p>
        </p:txBody>
      </p:sp>
      <p:pic>
        <p:nvPicPr>
          <p:cNvPr id="79" name="Picture 78" descr="lock.png"/>
          <p:cNvPicPr>
            <a:picLocks noChangeAspect="1"/>
          </p:cNvPicPr>
          <p:nvPr/>
        </p:nvPicPr>
        <p:blipFill>
          <a:blip r:embed="rId10"/>
          <a:stretch>
            <a:fillRect/>
          </a:stretch>
        </p:blipFill>
        <p:spPr>
          <a:xfrm>
            <a:off x="4923400" y="4437590"/>
            <a:ext cx="128699" cy="187198"/>
          </a:xfrm>
          <a:prstGeom prst="rect">
            <a:avLst/>
          </a:prstGeom>
        </p:spPr>
      </p:pic>
      <p:sp>
        <p:nvSpPr>
          <p:cNvPr id="80" name="TextBox 79"/>
          <p:cNvSpPr txBox="1"/>
          <p:nvPr/>
        </p:nvSpPr>
        <p:spPr>
          <a:xfrm>
            <a:off x="509089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950346" y="4437590"/>
            <a:ext cx="128699" cy="187198"/>
          </a:xfrm>
          <a:prstGeom prst="rect">
            <a:avLst/>
          </a:prstGeom>
        </p:spPr>
      </p:pic>
      <p:sp>
        <p:nvSpPr>
          <p:cNvPr id="82" name="TextBox 81"/>
          <p:cNvSpPr txBox="1"/>
          <p:nvPr/>
        </p:nvSpPr>
        <p:spPr>
          <a:xfrm>
            <a:off x="611784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Structure segment is projected to grow</a:t>
            </a:r>
          </a:p>
        </p:txBody>
      </p:sp>
      <p:sp>
        <p:nvSpPr>
          <p:cNvPr id="84" name="TextBox 83"/>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85" name="Picture 84" descr="lock.png"/>
          <p:cNvPicPr>
            <a:picLocks noChangeAspect="1"/>
          </p:cNvPicPr>
          <p:nvPr/>
        </p:nvPicPr>
        <p:blipFill>
          <a:blip r:embed="rId10"/>
          <a:stretch>
            <a:fillRect/>
          </a:stretch>
        </p:blipFill>
        <p:spPr>
          <a:xfrm>
            <a:off x="9310118" y="6007677"/>
            <a:ext cx="134549" cy="195707"/>
          </a:xfrm>
          <a:prstGeom prst="rect">
            <a:avLst/>
          </a:prstGeom>
        </p:spPr>
      </p:pic>
      <p:sp>
        <p:nvSpPr>
          <p:cNvPr id="86" name="TextBox 85"/>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Structure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Structure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Structure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899942" cy="186689"/>
          </a:xfrm>
          <a:prstGeom prst="rect">
            <a:avLst/>
          </a:prstGeom>
          <a:noFill/>
        </p:spPr>
        <p:txBody>
          <a:bodyPr wrap="none" lIns="0" rIns="0" tIns="0" bIns="0">
            <a:spAutoFit/>
          </a:bodyPr>
          <a:lstStyle/>
          <a:p>
            <a:r>
              <a:rPr sz="1100" b="0">
                <a:solidFill>
                  <a:srgbClr val="2E2E2E"/>
                </a:solidFill>
                <a:latin typeface="Calibri"/>
              </a:rPr>
              <a:t>Between 2026 and 2036, 'Filled muffins' gains the most share in the Global market (+</a:t>
            </a:r>
          </a:p>
        </p:txBody>
      </p:sp>
      <p:pic>
        <p:nvPicPr>
          <p:cNvPr id="21" name="Picture 20" descr="lock.png"/>
          <p:cNvPicPr>
            <a:picLocks noChangeAspect="1"/>
          </p:cNvPicPr>
          <p:nvPr/>
        </p:nvPicPr>
        <p:blipFill>
          <a:blip r:embed="rId6"/>
          <a:stretch>
            <a:fillRect/>
          </a:stretch>
        </p:blipFill>
        <p:spPr>
          <a:xfrm>
            <a:off x="5105169" y="5851905"/>
            <a:ext cx="128699" cy="187198"/>
          </a:xfrm>
          <a:prstGeom prst="rect">
            <a:avLst/>
          </a:prstGeom>
        </p:spPr>
      </p:pic>
      <p:sp>
        <p:nvSpPr>
          <p:cNvPr id="22" name="TextBox 21"/>
          <p:cNvSpPr txBox="1"/>
          <p:nvPr/>
        </p:nvSpPr>
        <p:spPr>
          <a:xfrm>
            <a:off x="5272665" y="5861685"/>
            <a:ext cx="2028452" cy="186689"/>
          </a:xfrm>
          <a:prstGeom prst="rect">
            <a:avLst/>
          </a:prstGeom>
          <a:noFill/>
        </p:spPr>
        <p:txBody>
          <a:bodyPr wrap="none" lIns="0" rIns="0" tIns="0" bIns="0">
            <a:spAutoFit/>
          </a:bodyPr>
          <a:lstStyle/>
          <a:p>
            <a:r>
              <a:rPr sz="1100" b="0">
                <a:solidFill>
                  <a:srgbClr val="2E2E2E"/>
                </a:solidFill>
                <a:latin typeface="Calibri"/>
              </a:rPr>
              <a:t>BPS) while 'Unfilled muffins' cedes</a:t>
            </a:r>
          </a:p>
        </p:txBody>
      </p:sp>
      <p:pic>
        <p:nvPicPr>
          <p:cNvPr id="23" name="Picture 22" descr="lock.png"/>
          <p:cNvPicPr>
            <a:picLocks noChangeAspect="1"/>
          </p:cNvPicPr>
          <p:nvPr/>
        </p:nvPicPr>
        <p:blipFill>
          <a:blip r:embed="rId6"/>
          <a:stretch>
            <a:fillRect/>
          </a:stretch>
        </p:blipFill>
        <p:spPr>
          <a:xfrm>
            <a:off x="7249169" y="5851905"/>
            <a:ext cx="128699" cy="187198"/>
          </a:xfrm>
          <a:prstGeom prst="rect">
            <a:avLst/>
          </a:prstGeom>
        </p:spPr>
      </p:pic>
      <p:sp>
        <p:nvSpPr>
          <p:cNvPr id="24" name="TextBox 23"/>
          <p:cNvSpPr txBox="1"/>
          <p:nvPr/>
        </p:nvSpPr>
        <p:spPr>
          <a:xfrm>
            <a:off x="7416665"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Unfilled muffins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Filled muffins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Structure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Structure (MT)</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088520"/>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65960"/>
              </a:tblGrid>
              <a:tr h="438912">
                <a:tc>
                  <a:txBody>
                    <a:bodyPr wrap="none"/>
                    <a:lstStyle/>
                    <a:p>
                      <a:pPr algn="l"/>
                      <a:r>
                        <a:rPr sz="1100" b="1">
                          <a:solidFill>
                            <a:srgbClr val="0B2E4A"/>
                          </a:solidFill>
                          <a:latin typeface="Calibri"/>
                        </a:rPr>
                        <a:t>Product</a:t>
                      </a:r>
                      <a:endParaRPr sz="1100"/>
                    </a:p>
                    <a:p>
                      <a:pPr algn="l"/>
                      <a:r>
                        <a:rPr sz="1100" b="1">
                          <a:solidFill>
                            <a:srgbClr val="0B2E4A"/>
                          </a:solidFill>
                          <a:latin typeface="Calibri"/>
                        </a:rPr>
                        <a:t>Structure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Unfilled muffins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Filled muffins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Structure</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53569" y="1781556"/>
            <a:ext cx="366712" cy="533400"/>
          </a:xfrm>
          <a:prstGeom prst="rect">
            <a:avLst/>
          </a:prstGeom>
        </p:spPr>
      </p:pic>
      <p:sp>
        <p:nvSpPr>
          <p:cNvPr id="21" name="TextBox 20"/>
          <p:cNvSpPr txBox="1"/>
          <p:nvPr/>
        </p:nvSpPr>
        <p:spPr>
          <a:xfrm>
            <a:off x="276225" y="31813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3171126"/>
            <a:ext cx="134549" cy="195707"/>
          </a:xfrm>
          <a:prstGeom prst="rect">
            <a:avLst/>
          </a:prstGeom>
        </p:spPr>
      </p:pic>
      <p:sp>
        <p:nvSpPr>
          <p:cNvPr id="23" name="TextBox 22"/>
          <p:cNvSpPr txBox="1"/>
          <p:nvPr/>
        </p:nvSpPr>
        <p:spPr>
          <a:xfrm>
            <a:off x="3449889" y="31813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79622" y="3171126"/>
            <a:ext cx="134549" cy="195707"/>
          </a:xfrm>
          <a:prstGeom prst="rect">
            <a:avLst/>
          </a:prstGeom>
        </p:spPr>
      </p:pic>
      <p:sp>
        <p:nvSpPr>
          <p:cNvPr id="25" name="TextBox 24"/>
          <p:cNvSpPr txBox="1"/>
          <p:nvPr/>
        </p:nvSpPr>
        <p:spPr>
          <a:xfrm>
            <a:off x="4654731" y="31813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4091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398964"/>
            <a:ext cx="134549" cy="195707"/>
          </a:xfrm>
          <a:prstGeom prst="rect">
            <a:avLst/>
          </a:prstGeom>
        </p:spPr>
      </p:pic>
      <p:sp>
        <p:nvSpPr>
          <p:cNvPr id="28" name="TextBox 27"/>
          <p:cNvSpPr txBox="1"/>
          <p:nvPr/>
        </p:nvSpPr>
        <p:spPr>
          <a:xfrm>
            <a:off x="2250111" y="34091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370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626802"/>
            <a:ext cx="134549" cy="195707"/>
          </a:xfrm>
          <a:prstGeom prst="rect">
            <a:avLst/>
          </a:prstGeom>
        </p:spPr>
      </p:pic>
      <p:sp>
        <p:nvSpPr>
          <p:cNvPr id="31" name="TextBox 30"/>
          <p:cNvSpPr txBox="1"/>
          <p:nvPr/>
        </p:nvSpPr>
        <p:spPr>
          <a:xfrm>
            <a:off x="2759289" y="36370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626802"/>
            <a:ext cx="134549" cy="195707"/>
          </a:xfrm>
          <a:prstGeom prst="rect">
            <a:avLst/>
          </a:prstGeom>
        </p:spPr>
      </p:pic>
      <p:sp>
        <p:nvSpPr>
          <p:cNvPr id="33" name="TextBox 32"/>
          <p:cNvSpPr txBox="1"/>
          <p:nvPr/>
        </p:nvSpPr>
        <p:spPr>
          <a:xfrm>
            <a:off x="5316520" y="36370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8648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3854640"/>
            <a:ext cx="134549" cy="195707"/>
          </a:xfrm>
          <a:prstGeom prst="rect">
            <a:avLst/>
          </a:prstGeom>
        </p:spPr>
      </p:pic>
      <p:sp>
        <p:nvSpPr>
          <p:cNvPr id="36" name="TextBox 35"/>
          <p:cNvSpPr txBox="1"/>
          <p:nvPr/>
        </p:nvSpPr>
        <p:spPr>
          <a:xfrm>
            <a:off x="1965143" y="38648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3854640"/>
            <a:ext cx="134549" cy="195707"/>
          </a:xfrm>
          <a:prstGeom prst="rect">
            <a:avLst/>
          </a:prstGeom>
        </p:spPr>
      </p:pic>
      <p:sp>
        <p:nvSpPr>
          <p:cNvPr id="38" name="TextBox 37"/>
          <p:cNvSpPr txBox="1"/>
          <p:nvPr/>
        </p:nvSpPr>
        <p:spPr>
          <a:xfrm>
            <a:off x="2291688" y="3864863"/>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Structure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Structure (US$ Mn)</a:t>
            </a:r>
          </a:p>
        </p:txBody>
      </p:sp>
      <p:graphicFrame>
        <p:nvGraphicFramePr>
          <p:cNvPr id="13" name="Table 12"/>
          <p:cNvGraphicFramePr>
            <a:graphicFrameLocks noGrp="1"/>
          </p:cNvGraphicFramePr>
          <p:nvPr/>
        </p:nvGraphicFramePr>
        <p:xfrm>
          <a:off x="152400" y="1238250"/>
          <a:ext cx="11887206" cy="990600"/>
        </p:xfrm>
        <a:graphic>
          <a:graphicData uri="http://schemas.openxmlformats.org/drawingml/2006/table">
            <a:tbl>
              <a:tblPr>
                <a:tableStyleId>{5C22544A-7EE6-4342-B048-85BDC9FD1C3A}</a:tableStyleId>
              </a:tblPr>
              <a:tblGrid>
                <a:gridCol w="1316147"/>
                <a:gridCol w="621827"/>
                <a:gridCol w="621827"/>
                <a:gridCol w="621827"/>
                <a:gridCol w="621827"/>
                <a:gridCol w="621827"/>
                <a:gridCol w="621827"/>
                <a:gridCol w="621827"/>
                <a:gridCol w="621827"/>
                <a:gridCol w="621827"/>
                <a:gridCol w="621827"/>
                <a:gridCol w="621827"/>
                <a:gridCol w="621827"/>
                <a:gridCol w="621827"/>
                <a:gridCol w="621827"/>
                <a:gridCol w="621827"/>
                <a:gridCol w="621827"/>
                <a:gridCol w="621827"/>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Structure</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67386" y="1589913"/>
            <a:ext cx="366712" cy="533400"/>
          </a:xfrm>
          <a:prstGeom prst="rect">
            <a:avLst/>
          </a:prstGeom>
        </p:spPr>
      </p:pic>
      <p:sp>
        <p:nvSpPr>
          <p:cNvPr id="21" name="TextBox 20"/>
          <p:cNvSpPr txBox="1"/>
          <p:nvPr/>
        </p:nvSpPr>
        <p:spPr>
          <a:xfrm>
            <a:off x="276225" y="2990850"/>
            <a:ext cx="3049401" cy="194310"/>
          </a:xfrm>
          <a:prstGeom prst="rect">
            <a:avLst/>
          </a:prstGeom>
          <a:noFill/>
        </p:spPr>
        <p:txBody>
          <a:bodyPr wrap="none" lIns="0" rIns="0" tIns="0" bIns="0">
            <a:spAutoFit/>
          </a:bodyPr>
          <a:lstStyle/>
          <a:p>
            <a:r>
              <a:rPr sz="1150" b="0">
                <a:solidFill>
                  <a:srgbClr val="2E2E2E"/>
                </a:solidFill>
                <a:latin typeface="Calibri"/>
              </a:rPr>
              <a:t>▪ 'Filled muffins' is the largest product structure at</a:t>
            </a:r>
          </a:p>
        </p:txBody>
      </p:sp>
      <p:pic>
        <p:nvPicPr>
          <p:cNvPr id="22" name="Picture 21" descr="lock.png"/>
          <p:cNvPicPr>
            <a:picLocks noChangeAspect="1"/>
          </p:cNvPicPr>
          <p:nvPr/>
        </p:nvPicPr>
        <p:blipFill>
          <a:blip r:embed="rId4"/>
          <a:stretch>
            <a:fillRect/>
          </a:stretch>
        </p:blipFill>
        <p:spPr>
          <a:xfrm>
            <a:off x="3274780" y="2980626"/>
            <a:ext cx="134549" cy="195707"/>
          </a:xfrm>
          <a:prstGeom prst="rect">
            <a:avLst/>
          </a:prstGeom>
        </p:spPr>
      </p:pic>
      <p:sp>
        <p:nvSpPr>
          <p:cNvPr id="23" name="TextBox 22"/>
          <p:cNvSpPr txBox="1"/>
          <p:nvPr/>
        </p:nvSpPr>
        <p:spPr>
          <a:xfrm>
            <a:off x="3449889"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355822" y="2980626"/>
            <a:ext cx="134549" cy="195707"/>
          </a:xfrm>
          <a:prstGeom prst="rect">
            <a:avLst/>
          </a:prstGeom>
        </p:spPr>
      </p:pic>
      <p:sp>
        <p:nvSpPr>
          <p:cNvPr id="25" name="TextBox 24"/>
          <p:cNvSpPr txBox="1"/>
          <p:nvPr/>
        </p:nvSpPr>
        <p:spPr>
          <a:xfrm>
            <a:off x="4530931"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1849623" cy="194310"/>
          </a:xfrm>
          <a:prstGeom prst="rect">
            <a:avLst/>
          </a:prstGeom>
          <a:noFill/>
        </p:spPr>
        <p:txBody>
          <a:bodyPr wrap="none" lIns="0" rIns="0" tIns="0" bIns="0">
            <a:spAutoFit/>
          </a:bodyPr>
          <a:lstStyle/>
          <a:p>
            <a:r>
              <a:rPr sz="1150" b="0">
                <a:solidFill>
                  <a:srgbClr val="2E2E2E"/>
                </a:solidFill>
                <a:latin typeface="Calibri"/>
              </a:rPr>
              <a:t>▪ 'Filled muffins' grows fastest</a:t>
            </a:r>
          </a:p>
        </p:txBody>
      </p:sp>
      <p:pic>
        <p:nvPicPr>
          <p:cNvPr id="27" name="Picture 26" descr="lock.png"/>
          <p:cNvPicPr>
            <a:picLocks noChangeAspect="1"/>
          </p:cNvPicPr>
          <p:nvPr/>
        </p:nvPicPr>
        <p:blipFill>
          <a:blip r:embed="rId4"/>
          <a:stretch>
            <a:fillRect/>
          </a:stretch>
        </p:blipFill>
        <p:spPr>
          <a:xfrm>
            <a:off x="2075002" y="3208464"/>
            <a:ext cx="134549" cy="195707"/>
          </a:xfrm>
          <a:prstGeom prst="rect">
            <a:avLst/>
          </a:prstGeom>
        </p:spPr>
      </p:pic>
      <p:sp>
        <p:nvSpPr>
          <p:cNvPr id="28" name="TextBox 27"/>
          <p:cNvSpPr txBox="1"/>
          <p:nvPr/>
        </p:nvSpPr>
        <p:spPr>
          <a:xfrm>
            <a:off x="2250111"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2358801" cy="194310"/>
          </a:xfrm>
          <a:prstGeom prst="rect">
            <a:avLst/>
          </a:prstGeom>
          <a:noFill/>
        </p:spPr>
        <p:txBody>
          <a:bodyPr wrap="none" lIns="0" rIns="0" tIns="0" bIns="0">
            <a:spAutoFit/>
          </a:bodyPr>
          <a:lstStyle/>
          <a:p>
            <a:r>
              <a:rPr sz="1150" b="0">
                <a:solidFill>
                  <a:srgbClr val="2E2E2E"/>
                </a:solidFill>
                <a:latin typeface="Calibri"/>
              </a:rPr>
              <a:t>▪ Share shifts toward 'Filled muffins' (+</a:t>
            </a:r>
          </a:p>
        </p:txBody>
      </p:sp>
      <p:pic>
        <p:nvPicPr>
          <p:cNvPr id="30" name="Picture 29" descr="lock.png"/>
          <p:cNvPicPr>
            <a:picLocks noChangeAspect="1"/>
          </p:cNvPicPr>
          <p:nvPr/>
        </p:nvPicPr>
        <p:blipFill>
          <a:blip r:embed="rId4"/>
          <a:stretch>
            <a:fillRect/>
          </a:stretch>
        </p:blipFill>
        <p:spPr>
          <a:xfrm>
            <a:off x="2584180" y="3436302"/>
            <a:ext cx="134549" cy="195707"/>
          </a:xfrm>
          <a:prstGeom prst="rect">
            <a:avLst/>
          </a:prstGeom>
        </p:spPr>
      </p:pic>
      <p:sp>
        <p:nvSpPr>
          <p:cNvPr id="31" name="TextBox 30"/>
          <p:cNvSpPr txBox="1"/>
          <p:nvPr/>
        </p:nvSpPr>
        <p:spPr>
          <a:xfrm>
            <a:off x="2759289" y="3446525"/>
            <a:ext cx="2432967" cy="194310"/>
          </a:xfrm>
          <a:prstGeom prst="rect">
            <a:avLst/>
          </a:prstGeom>
          <a:noFill/>
        </p:spPr>
        <p:txBody>
          <a:bodyPr wrap="none" lIns="0" rIns="0" tIns="0" bIns="0">
            <a:spAutoFit/>
          </a:bodyPr>
          <a:lstStyle/>
          <a:p>
            <a:r>
              <a:rPr sz="1150" b="0">
                <a:solidFill>
                  <a:srgbClr val="2E2E2E"/>
                </a:solidFill>
                <a:latin typeface="Calibri"/>
              </a:rPr>
              <a:t>BPS) and away from 'Unfilled muffins' (-</a:t>
            </a:r>
          </a:p>
        </p:txBody>
      </p:sp>
      <p:pic>
        <p:nvPicPr>
          <p:cNvPr id="32" name="Picture 31" descr="lock.png"/>
          <p:cNvPicPr>
            <a:picLocks noChangeAspect="1"/>
          </p:cNvPicPr>
          <p:nvPr/>
        </p:nvPicPr>
        <p:blipFill>
          <a:blip r:embed="rId4"/>
          <a:stretch>
            <a:fillRect/>
          </a:stretch>
        </p:blipFill>
        <p:spPr>
          <a:xfrm>
            <a:off x="5141411" y="3436302"/>
            <a:ext cx="134549" cy="195707"/>
          </a:xfrm>
          <a:prstGeom prst="rect">
            <a:avLst/>
          </a:prstGeom>
        </p:spPr>
      </p:pic>
      <p:sp>
        <p:nvSpPr>
          <p:cNvPr id="33" name="TextBox 32"/>
          <p:cNvSpPr txBox="1"/>
          <p:nvPr/>
        </p:nvSpPr>
        <p:spPr>
          <a:xfrm>
            <a:off x="5316520"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5102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5055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4293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Unfilled muffins</a:t>
            </a:r>
          </a:p>
        </p:txBody>
      </p:sp>
      <p:sp>
        <p:nvSpPr>
          <p:cNvPr id="19" name="BPS Value 1"/>
          <p:cNvSpPr txBox="1"/>
          <p:nvPr/>
        </p:nvSpPr>
        <p:spPr>
          <a:xfrm>
            <a:off x="6896100" y="24912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96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7917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7155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Filled muffins</a:t>
            </a:r>
          </a:p>
        </p:txBody>
      </p:sp>
      <p:sp>
        <p:nvSpPr>
          <p:cNvPr id="23" name="BPS Value 2"/>
          <p:cNvSpPr txBox="1"/>
          <p:nvPr/>
        </p:nvSpPr>
        <p:spPr>
          <a:xfrm>
            <a:off x="6896100" y="47774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Structure</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2395884" cy="194310"/>
          </a:xfrm>
          <a:prstGeom prst="rect">
            <a:avLst/>
          </a:prstGeom>
          <a:noFill/>
        </p:spPr>
        <p:txBody>
          <a:bodyPr wrap="none" lIns="0" rIns="0" tIns="0" bIns="0">
            <a:spAutoFit/>
          </a:bodyPr>
          <a:lstStyle/>
          <a:p>
            <a:r>
              <a:rPr sz="1150" b="0">
                <a:solidFill>
                  <a:srgbClr val="2E2E2E"/>
                </a:solidFill>
                <a:latin typeface="Calibri"/>
              </a:rPr>
              <a:t>▪ 'Filled muffins' gains the most share +</a:t>
            </a:r>
          </a:p>
        </p:txBody>
      </p:sp>
      <p:pic>
        <p:nvPicPr>
          <p:cNvPr id="31" name="Picture 30" descr="lock.png"/>
          <p:cNvPicPr>
            <a:picLocks noChangeAspect="1"/>
          </p:cNvPicPr>
          <p:nvPr/>
        </p:nvPicPr>
        <p:blipFill>
          <a:blip r:embed="rId5"/>
          <a:stretch>
            <a:fillRect/>
          </a:stretch>
        </p:blipFill>
        <p:spPr>
          <a:xfrm>
            <a:off x="10174588" y="1389951"/>
            <a:ext cx="134549" cy="195707"/>
          </a:xfrm>
          <a:prstGeom prst="rect">
            <a:avLst/>
          </a:prstGeom>
        </p:spPr>
      </p:pic>
      <p:sp>
        <p:nvSpPr>
          <p:cNvPr id="32" name="TextBox 31"/>
          <p:cNvSpPr txBox="1"/>
          <p:nvPr/>
        </p:nvSpPr>
        <p:spPr>
          <a:xfrm>
            <a:off x="10349697"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3" name="TextBox 32"/>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2190501" cy="194310"/>
          </a:xfrm>
          <a:prstGeom prst="rect">
            <a:avLst/>
          </a:prstGeom>
          <a:noFill/>
        </p:spPr>
        <p:txBody>
          <a:bodyPr wrap="none" lIns="0" rIns="0" tIns="0" bIns="0">
            <a:spAutoFit/>
          </a:bodyPr>
          <a:lstStyle/>
          <a:p>
            <a:r>
              <a:rPr sz="1150" b="0">
                <a:solidFill>
                  <a:srgbClr val="2E2E2E"/>
                </a:solidFill>
                <a:latin typeface="Calibri"/>
              </a:rPr>
              <a:t>▪ 'Unfilled muffins' cedes the most -</a:t>
            </a:r>
          </a:p>
        </p:txBody>
      </p:sp>
      <p:pic>
        <p:nvPicPr>
          <p:cNvPr id="35" name="Picture 34" descr="lock.png"/>
          <p:cNvPicPr>
            <a:picLocks noChangeAspect="1"/>
          </p:cNvPicPr>
          <p:nvPr/>
        </p:nvPicPr>
        <p:blipFill>
          <a:blip r:embed="rId5"/>
          <a:stretch>
            <a:fillRect/>
          </a:stretch>
        </p:blipFill>
        <p:spPr>
          <a:xfrm>
            <a:off x="9969205" y="1793049"/>
            <a:ext cx="134549" cy="195707"/>
          </a:xfrm>
          <a:prstGeom prst="rect">
            <a:avLst/>
          </a:prstGeom>
        </p:spPr>
      </p:pic>
      <p:sp>
        <p:nvSpPr>
          <p:cNvPr id="36" name="TextBox 35"/>
          <p:cNvSpPr txBox="1"/>
          <p:nvPr/>
        </p:nvSpPr>
        <p:spPr>
          <a:xfrm>
            <a:off x="10144315"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37" name="TextBox 36"/>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38" name="TextBox 37"/>
          <p:cNvSpPr txBox="1"/>
          <p:nvPr/>
        </p:nvSpPr>
        <p:spPr>
          <a:xfrm>
            <a:off x="7829550" y="2206371"/>
            <a:ext cx="3571701" cy="194310"/>
          </a:xfrm>
          <a:prstGeom prst="rect">
            <a:avLst/>
          </a:prstGeom>
          <a:noFill/>
        </p:spPr>
        <p:txBody>
          <a:bodyPr wrap="none" lIns="0" rIns="0" tIns="0" bIns="0">
            <a:spAutoFit/>
          </a:bodyPr>
          <a:lstStyle/>
          <a:p>
            <a:r>
              <a:rPr sz="1150" b="0">
                <a:solidFill>
                  <a:srgbClr val="2E2E2E"/>
                </a:solidFill>
                <a:latin typeface="Calibri"/>
              </a:rPr>
              <a:t>▪ 'Filled muffins' is the fastest-growing product structure at</a:t>
            </a:r>
          </a:p>
        </p:txBody>
      </p:sp>
      <p:pic>
        <p:nvPicPr>
          <p:cNvPr id="39" name="Picture 38" descr="lock.png"/>
          <p:cNvPicPr>
            <a:picLocks noChangeAspect="1"/>
          </p:cNvPicPr>
          <p:nvPr/>
        </p:nvPicPr>
        <p:blipFill>
          <a:blip r:embed="rId5"/>
          <a:stretch>
            <a:fillRect/>
          </a:stretch>
        </p:blipFill>
        <p:spPr>
          <a:xfrm>
            <a:off x="11350405" y="2196147"/>
            <a:ext cx="134549" cy="195707"/>
          </a:xfrm>
          <a:prstGeom prst="rect">
            <a:avLst/>
          </a:prstGeom>
        </p:spPr>
      </p:pic>
      <p:sp>
        <p:nvSpPr>
          <p:cNvPr id="40" name="TextBox 39"/>
          <p:cNvSpPr txBox="1"/>
          <p:nvPr/>
        </p:nvSpPr>
        <p:spPr>
          <a:xfrm>
            <a:off x="7829550"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Structure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742948"/>
        </p:xfrm>
        <a:graphic>
          <a:graphicData uri="http://schemas.openxmlformats.org/drawingml/2006/table">
            <a:tbl>
              <a:tblPr>
                <a:tableStyleId>{5C22544A-7EE6-4342-B048-85BDC9FD1C3A}</a:tableStyleId>
              </a:tblPr>
              <a:tblGrid>
                <a:gridCol w="1443320"/>
                <a:gridCol w="696259"/>
                <a:gridCol w="696259"/>
                <a:gridCol w="696259"/>
                <a:gridCol w="696259"/>
                <a:gridCol w="696259"/>
                <a:gridCol w="696259"/>
                <a:gridCol w="696259"/>
                <a:gridCol w="696259"/>
                <a:gridCol w="696259"/>
                <a:gridCol w="696259"/>
                <a:gridCol w="696259"/>
                <a:gridCol w="696259"/>
                <a:gridCol w="696259"/>
                <a:gridCol w="696259"/>
                <a:gridCol w="696259"/>
              </a:tblGrid>
              <a:tr h="246126">
                <a:tc>
                  <a:txBody>
                    <a:bodyPr wrap="none"/>
                    <a:lstStyle/>
                    <a:p>
                      <a:pPr algn="l"/>
                      <a:r>
                        <a:rPr sz="1100" b="1">
                          <a:solidFill>
                            <a:srgbClr val="0B2E4A"/>
                          </a:solidFill>
                          <a:latin typeface="Calibri"/>
                        </a:rPr>
                        <a:t>Product Structure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Unfilled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Filled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Structure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Unfilled muffins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4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Filled muffins</a:t>
            </a:r>
          </a:p>
        </p:txBody>
      </p:sp>
      <p:sp>
        <p:nvSpPr>
          <p:cNvPr id="49" name="Rectangle 48"/>
          <p:cNvSpPr/>
          <p:nvPr/>
        </p:nvSpPr>
        <p:spPr>
          <a:xfrm>
            <a:off x="1857375" y="4662488"/>
            <a:ext cx="643890" cy="190976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49641" y="1482090"/>
            <a:ext cx="330041" cy="480060"/>
          </a:xfrm>
          <a:prstGeom prst="rect">
            <a:avLst/>
          </a:prstGeom>
        </p:spPr>
      </p:pic>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Surface Finish</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Surface Finish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Surface Finish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Surface Finish,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Surface Finish segment categorizes the market by surface finish.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Nut and seed-topped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Glazed / drizzled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Sugar-topped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Untopped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toppings</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Crumb / streusel-topped</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Surface Finish split shows how demand is distributed across surface finish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_728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6_855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6_3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3_224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5_347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2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_198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1_526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2_4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_026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1_249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2_0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1_022_605E5C.png"/>
          <p:cNvPicPr>
            <a:picLocks noChangeAspect="1"/>
          </p:cNvPicPr>
          <p:nvPr/>
        </p:nvPicPr>
        <p:blipFill>
          <a:blip r:embed="rId16"/>
          <a:stretch>
            <a:fillRect/>
          </a:stretch>
        </p:blipFill>
        <p:spPr>
          <a:xfrm>
            <a:off x="8798548" y="2286582"/>
            <a:ext cx="1195728" cy="361950"/>
          </a:xfrm>
          <a:prstGeom prst="rect">
            <a:avLst/>
          </a:prstGeom>
        </p:spPr>
      </p:pic>
      <p:pic>
        <p:nvPicPr>
          <p:cNvPr id="91" name="Picture 90" descr="1_886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6_3__605E5C.png"/>
          <p:cNvPicPr>
            <a:picLocks noChangeAspect="1"/>
          </p:cNvPicPr>
          <p:nvPr/>
        </p:nvPicPr>
        <p:blipFill>
          <a:blip r:embed="rId6"/>
          <a:stretch>
            <a:fillRect/>
          </a:stretch>
        </p:blipFill>
        <p:spPr>
          <a:xfrm>
            <a:off x="8905194" y="3272281"/>
            <a:ext cx="982436" cy="361950"/>
          </a:xfrm>
          <a:prstGeom prst="rect">
            <a:avLst/>
          </a:prstGeom>
        </p:spPr>
      </p:pic>
      <p:pic>
        <p:nvPicPr>
          <p:cNvPr id="93" name="Picture 92" descr="702_8_605E5C.png"/>
          <p:cNvPicPr>
            <a:picLocks noChangeAspect="1"/>
          </p:cNvPicPr>
          <p:nvPr/>
        </p:nvPicPr>
        <p:blipFill>
          <a:blip r:embed="rId18"/>
          <a:stretch>
            <a:fillRect/>
          </a:stretch>
        </p:blipFill>
        <p:spPr>
          <a:xfrm>
            <a:off x="10484473" y="2286582"/>
            <a:ext cx="1195728" cy="361950"/>
          </a:xfrm>
          <a:prstGeom prst="rect">
            <a:avLst/>
          </a:prstGeom>
        </p:spPr>
      </p:pic>
      <p:pic>
        <p:nvPicPr>
          <p:cNvPr id="94" name="Picture 93" descr="882_6_605E5C.png"/>
          <p:cNvPicPr>
            <a:picLocks noChangeAspect="1"/>
          </p:cNvPicPr>
          <p:nvPr/>
        </p:nvPicPr>
        <p:blipFill>
          <a:blip r:embed="rId19"/>
          <a:stretch>
            <a:fillRect/>
          </a:stretch>
        </p:blipFill>
        <p:spPr>
          <a:xfrm>
            <a:off x="10484473" y="2779432"/>
            <a:ext cx="1195728" cy="361950"/>
          </a:xfrm>
          <a:prstGeom prst="rect">
            <a:avLst/>
          </a:prstGeom>
        </p:spPr>
      </p:pic>
      <p:pic>
        <p:nvPicPr>
          <p:cNvPr id="95" name="Picture 94" descr="2_3__605E5C.png"/>
          <p:cNvPicPr>
            <a:picLocks noChangeAspect="1"/>
          </p:cNvPicPr>
          <p:nvPr/>
        </p:nvPicPr>
        <p:blipFill>
          <a:blip r:embed="rId20"/>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1"/>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1"/>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1"/>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1"/>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1"/>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1"/>
          <a:stretch>
            <a:fillRect/>
          </a:stretch>
        </p:blipFill>
        <p:spPr>
          <a:xfrm>
            <a:off x="10988992" y="2827057"/>
            <a:ext cx="183356" cy="266700"/>
          </a:xfrm>
          <a:prstGeom prst="rect">
            <a:avLst/>
          </a:prstGeom>
        </p:spPr>
      </p:pic>
      <p:sp>
        <p:nvSpPr>
          <p:cNvPr id="102" name="TextBox 101"/>
          <p:cNvSpPr txBox="1"/>
          <p:nvPr/>
        </p:nvSpPr>
        <p:spPr>
          <a:xfrm>
            <a:off x="485775" y="4229437"/>
            <a:ext cx="2885752" cy="186689"/>
          </a:xfrm>
          <a:prstGeom prst="rect">
            <a:avLst/>
          </a:prstGeom>
          <a:noFill/>
        </p:spPr>
        <p:txBody>
          <a:bodyPr wrap="none" lIns="0" rIns="0" tIns="0" bIns="0">
            <a:spAutoFit/>
          </a:bodyPr>
          <a:lstStyle/>
          <a:p>
            <a:r>
              <a:rPr sz="1100" b="0">
                <a:solidFill>
                  <a:srgbClr val="2E2E2E"/>
                </a:solidFill>
                <a:latin typeface="Calibri"/>
              </a:rPr>
              <a:t>▪ 'Nut and seed-topped' holds the largest share in</a:t>
            </a:r>
          </a:p>
        </p:txBody>
      </p:sp>
      <p:sp>
        <p:nvSpPr>
          <p:cNvPr id="103" name="TextBox 102"/>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104" name="Picture 103" descr="lock.png"/>
          <p:cNvPicPr>
            <a:picLocks noChangeAspect="1"/>
          </p:cNvPicPr>
          <p:nvPr/>
        </p:nvPicPr>
        <p:blipFill>
          <a:blip r:embed="rId21"/>
          <a:stretch>
            <a:fillRect/>
          </a:stretch>
        </p:blipFill>
        <p:spPr>
          <a:xfrm>
            <a:off x="793792" y="4387298"/>
            <a:ext cx="128699" cy="187198"/>
          </a:xfrm>
          <a:prstGeom prst="rect">
            <a:avLst/>
          </a:prstGeom>
        </p:spPr>
      </p:pic>
      <p:sp>
        <p:nvSpPr>
          <p:cNvPr id="105" name="TextBox 104"/>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106" name="TextBox 105"/>
          <p:cNvSpPr txBox="1"/>
          <p:nvPr/>
        </p:nvSpPr>
        <p:spPr>
          <a:xfrm>
            <a:off x="485775" y="4615009"/>
            <a:ext cx="2331045" cy="186689"/>
          </a:xfrm>
          <a:prstGeom prst="rect">
            <a:avLst/>
          </a:prstGeom>
          <a:noFill/>
        </p:spPr>
        <p:txBody>
          <a:bodyPr wrap="none" lIns="0" rIns="0" tIns="0" bIns="0">
            <a:spAutoFit/>
          </a:bodyPr>
          <a:lstStyle/>
          <a:p>
            <a:r>
              <a:rPr sz="1100" b="0">
                <a:solidFill>
                  <a:srgbClr val="2E2E2E"/>
                </a:solidFill>
                <a:latin typeface="Calibri"/>
              </a:rPr>
              <a:t>▪ 'Other toppings' is the fastest-growing</a:t>
            </a:r>
          </a:p>
        </p:txBody>
      </p:sp>
      <p:sp>
        <p:nvSpPr>
          <p:cNvPr id="107" name="TextBox 106"/>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108" name="Picture 107" descr="lock.png"/>
          <p:cNvPicPr>
            <a:picLocks noChangeAspect="1"/>
          </p:cNvPicPr>
          <p:nvPr/>
        </p:nvPicPr>
        <p:blipFill>
          <a:blip r:embed="rId21"/>
          <a:stretch>
            <a:fillRect/>
          </a:stretch>
        </p:blipFill>
        <p:spPr>
          <a:xfrm>
            <a:off x="1391064" y="4772870"/>
            <a:ext cx="128699" cy="187198"/>
          </a:xfrm>
          <a:prstGeom prst="rect">
            <a:avLst/>
          </a:prstGeom>
        </p:spPr>
      </p:pic>
      <p:sp>
        <p:nvSpPr>
          <p:cNvPr id="109" name="TextBox 108"/>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110" name="TextBox 109"/>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111" name="Picture 110" descr="lock.png"/>
          <p:cNvPicPr>
            <a:picLocks noChangeAspect="1"/>
          </p:cNvPicPr>
          <p:nvPr/>
        </p:nvPicPr>
        <p:blipFill>
          <a:blip r:embed="rId21"/>
          <a:stretch>
            <a:fillRect/>
          </a:stretch>
        </p:blipFill>
        <p:spPr>
          <a:xfrm>
            <a:off x="2240451" y="4990801"/>
            <a:ext cx="128699" cy="187198"/>
          </a:xfrm>
          <a:prstGeom prst="rect">
            <a:avLst/>
          </a:prstGeom>
        </p:spPr>
      </p:pic>
      <p:sp>
        <p:nvSpPr>
          <p:cNvPr id="112" name="TextBox 111"/>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113" name="Picture 112" descr="lock.png"/>
          <p:cNvPicPr>
            <a:picLocks noChangeAspect="1"/>
          </p:cNvPicPr>
          <p:nvPr/>
        </p:nvPicPr>
        <p:blipFill>
          <a:blip r:embed="rId21"/>
          <a:stretch>
            <a:fillRect/>
          </a:stretch>
        </p:blipFill>
        <p:spPr>
          <a:xfrm>
            <a:off x="2552799" y="4990801"/>
            <a:ext cx="128699" cy="187198"/>
          </a:xfrm>
          <a:prstGeom prst="rect">
            <a:avLst/>
          </a:prstGeom>
        </p:spPr>
      </p:pic>
      <p:sp>
        <p:nvSpPr>
          <p:cNvPr id="114" name="TextBox 113"/>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5" name="TextBox 114"/>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116" name="TextBox 115"/>
          <p:cNvSpPr txBox="1"/>
          <p:nvPr/>
        </p:nvSpPr>
        <p:spPr>
          <a:xfrm>
            <a:off x="485775" y="5386153"/>
            <a:ext cx="2579885" cy="186689"/>
          </a:xfrm>
          <a:prstGeom prst="rect">
            <a:avLst/>
          </a:prstGeom>
          <a:noFill/>
        </p:spPr>
        <p:txBody>
          <a:bodyPr wrap="none" lIns="0" rIns="0" tIns="0" bIns="0">
            <a:spAutoFit/>
          </a:bodyPr>
          <a:lstStyle/>
          <a:p>
            <a:r>
              <a:rPr sz="1100" b="0">
                <a:solidFill>
                  <a:srgbClr val="2E2E2E"/>
                </a:solidFill>
                <a:latin typeface="Calibri"/>
              </a:rPr>
              <a:t>▪ 6 sub-segments make up the surface finish</a:t>
            </a:r>
          </a:p>
        </p:txBody>
      </p:sp>
      <p:sp>
        <p:nvSpPr>
          <p:cNvPr id="117" name="TextBox 116"/>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118" name="TextBox 117"/>
          <p:cNvSpPr txBox="1"/>
          <p:nvPr/>
        </p:nvSpPr>
        <p:spPr>
          <a:xfrm>
            <a:off x="3838575" y="4229437"/>
            <a:ext cx="1437456" cy="186689"/>
          </a:xfrm>
          <a:prstGeom prst="rect">
            <a:avLst/>
          </a:prstGeom>
          <a:noFill/>
        </p:spPr>
        <p:txBody>
          <a:bodyPr wrap="none" lIns="0" rIns="0" tIns="0" bIns="0">
            <a:spAutoFit/>
          </a:bodyPr>
          <a:lstStyle/>
          <a:p>
            <a:r>
              <a:rPr sz="1100" b="0">
                <a:solidFill>
                  <a:srgbClr val="2E2E2E"/>
                </a:solidFill>
                <a:latin typeface="Calibri"/>
              </a:rPr>
              <a:t>● Nut and seed-topped:</a:t>
            </a:r>
          </a:p>
        </p:txBody>
      </p:sp>
      <p:pic>
        <p:nvPicPr>
          <p:cNvPr id="119" name="Picture 118" descr="lock.png"/>
          <p:cNvPicPr>
            <a:picLocks noChangeAspect="1"/>
          </p:cNvPicPr>
          <p:nvPr/>
        </p:nvPicPr>
        <p:blipFill>
          <a:blip r:embed="rId21"/>
          <a:stretch>
            <a:fillRect/>
          </a:stretch>
        </p:blipFill>
        <p:spPr>
          <a:xfrm>
            <a:off x="5224083" y="4219658"/>
            <a:ext cx="128699" cy="187198"/>
          </a:xfrm>
          <a:prstGeom prst="rect">
            <a:avLst/>
          </a:prstGeom>
        </p:spPr>
      </p:pic>
      <p:sp>
        <p:nvSpPr>
          <p:cNvPr id="120" name="TextBox 119"/>
          <p:cNvSpPr txBox="1"/>
          <p:nvPr/>
        </p:nvSpPr>
        <p:spPr>
          <a:xfrm>
            <a:off x="539157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1"/>
          <a:stretch>
            <a:fillRect/>
          </a:stretch>
        </p:blipFill>
        <p:spPr>
          <a:xfrm>
            <a:off x="6251029" y="4219658"/>
            <a:ext cx="128699" cy="187198"/>
          </a:xfrm>
          <a:prstGeom prst="rect">
            <a:avLst/>
          </a:prstGeom>
        </p:spPr>
      </p:pic>
      <p:sp>
        <p:nvSpPr>
          <p:cNvPr id="122" name="TextBox 121"/>
          <p:cNvSpPr txBox="1"/>
          <p:nvPr/>
        </p:nvSpPr>
        <p:spPr>
          <a:xfrm>
            <a:off x="6418524"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23" name="TextBox 122"/>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24" name="TextBox 123"/>
          <p:cNvSpPr txBox="1"/>
          <p:nvPr/>
        </p:nvSpPr>
        <p:spPr>
          <a:xfrm>
            <a:off x="3838575" y="4615009"/>
            <a:ext cx="1171971" cy="186689"/>
          </a:xfrm>
          <a:prstGeom prst="rect">
            <a:avLst/>
          </a:prstGeom>
          <a:noFill/>
        </p:spPr>
        <p:txBody>
          <a:bodyPr wrap="none" lIns="0" rIns="0" tIns="0" bIns="0">
            <a:spAutoFit/>
          </a:bodyPr>
          <a:lstStyle/>
          <a:p>
            <a:r>
              <a:rPr sz="1100" b="0">
                <a:solidFill>
                  <a:srgbClr val="2E2E2E"/>
                </a:solidFill>
                <a:latin typeface="Calibri"/>
              </a:rPr>
              <a:t>● Glazed / drizzled:</a:t>
            </a:r>
          </a:p>
        </p:txBody>
      </p:sp>
      <p:pic>
        <p:nvPicPr>
          <p:cNvPr id="125" name="Picture 124" descr="lock.png"/>
          <p:cNvPicPr>
            <a:picLocks noChangeAspect="1"/>
          </p:cNvPicPr>
          <p:nvPr/>
        </p:nvPicPr>
        <p:blipFill>
          <a:blip r:embed="rId21"/>
          <a:stretch>
            <a:fillRect/>
          </a:stretch>
        </p:blipFill>
        <p:spPr>
          <a:xfrm>
            <a:off x="4958598" y="4605230"/>
            <a:ext cx="128699" cy="187198"/>
          </a:xfrm>
          <a:prstGeom prst="rect">
            <a:avLst/>
          </a:prstGeom>
        </p:spPr>
      </p:pic>
      <p:sp>
        <p:nvSpPr>
          <p:cNvPr id="126" name="TextBox 125"/>
          <p:cNvSpPr txBox="1"/>
          <p:nvPr/>
        </p:nvSpPr>
        <p:spPr>
          <a:xfrm>
            <a:off x="5126094"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7" name="Picture 126" descr="lock.png"/>
          <p:cNvPicPr>
            <a:picLocks noChangeAspect="1"/>
          </p:cNvPicPr>
          <p:nvPr/>
        </p:nvPicPr>
        <p:blipFill>
          <a:blip r:embed="rId21"/>
          <a:stretch>
            <a:fillRect/>
          </a:stretch>
        </p:blipFill>
        <p:spPr>
          <a:xfrm>
            <a:off x="5985544" y="4605230"/>
            <a:ext cx="128699" cy="187198"/>
          </a:xfrm>
          <a:prstGeom prst="rect">
            <a:avLst/>
          </a:prstGeom>
        </p:spPr>
      </p:pic>
      <p:sp>
        <p:nvSpPr>
          <p:cNvPr id="128" name="TextBox 127"/>
          <p:cNvSpPr txBox="1"/>
          <p:nvPr/>
        </p:nvSpPr>
        <p:spPr>
          <a:xfrm>
            <a:off x="6153040"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9" name="TextBox 128"/>
          <p:cNvSpPr txBox="1"/>
          <p:nvPr/>
        </p:nvSpPr>
        <p:spPr>
          <a:xfrm>
            <a:off x="3838575" y="4832941"/>
            <a:ext cx="1001712" cy="186689"/>
          </a:xfrm>
          <a:prstGeom prst="rect">
            <a:avLst/>
          </a:prstGeom>
          <a:noFill/>
        </p:spPr>
        <p:txBody>
          <a:bodyPr wrap="none" lIns="0" rIns="0" tIns="0" bIns="0">
            <a:spAutoFit/>
          </a:bodyPr>
          <a:lstStyle/>
          <a:p>
            <a:r>
              <a:rPr sz="1100" b="0">
                <a:solidFill>
                  <a:srgbClr val="2E2E2E"/>
                </a:solidFill>
                <a:latin typeface="Calibri"/>
              </a:rPr>
              <a:t>● Sugar-topped:</a:t>
            </a:r>
          </a:p>
        </p:txBody>
      </p:sp>
      <p:pic>
        <p:nvPicPr>
          <p:cNvPr id="130" name="Picture 129" descr="lock.png"/>
          <p:cNvPicPr>
            <a:picLocks noChangeAspect="1"/>
          </p:cNvPicPr>
          <p:nvPr/>
        </p:nvPicPr>
        <p:blipFill>
          <a:blip r:embed="rId21"/>
          <a:stretch>
            <a:fillRect/>
          </a:stretch>
        </p:blipFill>
        <p:spPr>
          <a:xfrm>
            <a:off x="4788339" y="4823162"/>
            <a:ext cx="128699" cy="187198"/>
          </a:xfrm>
          <a:prstGeom prst="rect">
            <a:avLst/>
          </a:prstGeom>
        </p:spPr>
      </p:pic>
      <p:sp>
        <p:nvSpPr>
          <p:cNvPr id="131" name="TextBox 130"/>
          <p:cNvSpPr txBox="1"/>
          <p:nvPr/>
        </p:nvSpPr>
        <p:spPr>
          <a:xfrm>
            <a:off x="4955834"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1"/>
          <a:stretch>
            <a:fillRect/>
          </a:stretch>
        </p:blipFill>
        <p:spPr>
          <a:xfrm>
            <a:off x="5815285" y="4823162"/>
            <a:ext cx="128699" cy="187198"/>
          </a:xfrm>
          <a:prstGeom prst="rect">
            <a:avLst/>
          </a:prstGeom>
        </p:spPr>
      </p:pic>
      <p:sp>
        <p:nvSpPr>
          <p:cNvPr id="133" name="TextBox 132"/>
          <p:cNvSpPr txBox="1"/>
          <p:nvPr/>
        </p:nvSpPr>
        <p:spPr>
          <a:xfrm>
            <a:off x="5982780"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4" name="TextBox 133"/>
          <p:cNvSpPr txBox="1"/>
          <p:nvPr/>
        </p:nvSpPr>
        <p:spPr>
          <a:xfrm>
            <a:off x="3838575" y="5050872"/>
            <a:ext cx="803076" cy="186689"/>
          </a:xfrm>
          <a:prstGeom prst="rect">
            <a:avLst/>
          </a:prstGeom>
          <a:noFill/>
        </p:spPr>
        <p:txBody>
          <a:bodyPr wrap="none" lIns="0" rIns="0" tIns="0" bIns="0">
            <a:spAutoFit/>
          </a:bodyPr>
          <a:lstStyle/>
          <a:p>
            <a:r>
              <a:rPr sz="1100" b="0">
                <a:solidFill>
                  <a:srgbClr val="2E2E2E"/>
                </a:solidFill>
                <a:latin typeface="Calibri"/>
              </a:rPr>
              <a:t>● Untopped:</a:t>
            </a:r>
          </a:p>
        </p:txBody>
      </p:sp>
      <p:pic>
        <p:nvPicPr>
          <p:cNvPr id="135" name="Picture 134" descr="lock.png"/>
          <p:cNvPicPr>
            <a:picLocks noChangeAspect="1"/>
          </p:cNvPicPr>
          <p:nvPr/>
        </p:nvPicPr>
        <p:blipFill>
          <a:blip r:embed="rId21"/>
          <a:stretch>
            <a:fillRect/>
          </a:stretch>
        </p:blipFill>
        <p:spPr>
          <a:xfrm>
            <a:off x="4589703" y="5041093"/>
            <a:ext cx="128699" cy="187198"/>
          </a:xfrm>
          <a:prstGeom prst="rect">
            <a:avLst/>
          </a:prstGeom>
        </p:spPr>
      </p:pic>
      <p:sp>
        <p:nvSpPr>
          <p:cNvPr id="136" name="TextBox 135"/>
          <p:cNvSpPr txBox="1"/>
          <p:nvPr/>
        </p:nvSpPr>
        <p:spPr>
          <a:xfrm>
            <a:off x="4757198"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1"/>
          <a:stretch>
            <a:fillRect/>
          </a:stretch>
        </p:blipFill>
        <p:spPr>
          <a:xfrm>
            <a:off x="5616649" y="5041093"/>
            <a:ext cx="128699" cy="187198"/>
          </a:xfrm>
          <a:prstGeom prst="rect">
            <a:avLst/>
          </a:prstGeom>
        </p:spPr>
      </p:pic>
      <p:sp>
        <p:nvSpPr>
          <p:cNvPr id="138" name="TextBox 137"/>
          <p:cNvSpPr txBox="1"/>
          <p:nvPr/>
        </p:nvSpPr>
        <p:spPr>
          <a:xfrm>
            <a:off x="5784145"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9" name="TextBox 138"/>
          <p:cNvSpPr txBox="1"/>
          <p:nvPr/>
        </p:nvSpPr>
        <p:spPr>
          <a:xfrm>
            <a:off x="3838575" y="5268804"/>
            <a:ext cx="1085750" cy="186689"/>
          </a:xfrm>
          <a:prstGeom prst="rect">
            <a:avLst/>
          </a:prstGeom>
          <a:noFill/>
        </p:spPr>
        <p:txBody>
          <a:bodyPr wrap="none" lIns="0" rIns="0" tIns="0" bIns="0">
            <a:spAutoFit/>
          </a:bodyPr>
          <a:lstStyle/>
          <a:p>
            <a:r>
              <a:rPr sz="1100" b="0">
                <a:solidFill>
                  <a:srgbClr val="2E2E2E"/>
                </a:solidFill>
                <a:latin typeface="Calibri"/>
              </a:rPr>
              <a:t>● Other toppings:</a:t>
            </a:r>
          </a:p>
        </p:txBody>
      </p:sp>
      <p:pic>
        <p:nvPicPr>
          <p:cNvPr id="140" name="Picture 139" descr="lock.png"/>
          <p:cNvPicPr>
            <a:picLocks noChangeAspect="1"/>
          </p:cNvPicPr>
          <p:nvPr/>
        </p:nvPicPr>
        <p:blipFill>
          <a:blip r:embed="rId21"/>
          <a:stretch>
            <a:fillRect/>
          </a:stretch>
        </p:blipFill>
        <p:spPr>
          <a:xfrm>
            <a:off x="4872377" y="5259025"/>
            <a:ext cx="128699" cy="187198"/>
          </a:xfrm>
          <a:prstGeom prst="rect">
            <a:avLst/>
          </a:prstGeom>
        </p:spPr>
      </p:pic>
      <p:sp>
        <p:nvSpPr>
          <p:cNvPr id="141" name="TextBox 140"/>
          <p:cNvSpPr txBox="1"/>
          <p:nvPr/>
        </p:nvSpPr>
        <p:spPr>
          <a:xfrm>
            <a:off x="5039873"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1"/>
          <a:stretch>
            <a:fillRect/>
          </a:stretch>
        </p:blipFill>
        <p:spPr>
          <a:xfrm>
            <a:off x="5899323" y="5259025"/>
            <a:ext cx="128699" cy="187198"/>
          </a:xfrm>
          <a:prstGeom prst="rect">
            <a:avLst/>
          </a:prstGeom>
        </p:spPr>
      </p:pic>
      <p:sp>
        <p:nvSpPr>
          <p:cNvPr id="143" name="TextBox 142"/>
          <p:cNvSpPr txBox="1"/>
          <p:nvPr/>
        </p:nvSpPr>
        <p:spPr>
          <a:xfrm>
            <a:off x="6066819" y="5268804"/>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4" name="TextBox 143"/>
          <p:cNvSpPr txBox="1"/>
          <p:nvPr/>
        </p:nvSpPr>
        <p:spPr>
          <a:xfrm>
            <a:off x="3838575" y="5486736"/>
            <a:ext cx="1631453" cy="186689"/>
          </a:xfrm>
          <a:prstGeom prst="rect">
            <a:avLst/>
          </a:prstGeom>
          <a:noFill/>
        </p:spPr>
        <p:txBody>
          <a:bodyPr wrap="none" lIns="0" rIns="0" tIns="0" bIns="0">
            <a:spAutoFit/>
          </a:bodyPr>
          <a:lstStyle/>
          <a:p>
            <a:r>
              <a:rPr sz="1100" b="0">
                <a:solidFill>
                  <a:srgbClr val="2E2E2E"/>
                </a:solidFill>
                <a:latin typeface="Calibri"/>
              </a:rPr>
              <a:t>● Crumb / streusel-topped:</a:t>
            </a:r>
          </a:p>
        </p:txBody>
      </p:sp>
      <p:pic>
        <p:nvPicPr>
          <p:cNvPr id="145" name="Picture 144" descr="lock.png"/>
          <p:cNvPicPr>
            <a:picLocks noChangeAspect="1"/>
          </p:cNvPicPr>
          <p:nvPr/>
        </p:nvPicPr>
        <p:blipFill>
          <a:blip r:embed="rId21"/>
          <a:stretch>
            <a:fillRect/>
          </a:stretch>
        </p:blipFill>
        <p:spPr>
          <a:xfrm>
            <a:off x="5418080" y="5476957"/>
            <a:ext cx="128699" cy="187198"/>
          </a:xfrm>
          <a:prstGeom prst="rect">
            <a:avLst/>
          </a:prstGeom>
        </p:spPr>
      </p:pic>
      <p:sp>
        <p:nvSpPr>
          <p:cNvPr id="146" name="TextBox 145"/>
          <p:cNvSpPr txBox="1"/>
          <p:nvPr/>
        </p:nvSpPr>
        <p:spPr>
          <a:xfrm>
            <a:off x="5585576" y="5486736"/>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1"/>
          <a:stretch>
            <a:fillRect/>
          </a:stretch>
        </p:blipFill>
        <p:spPr>
          <a:xfrm>
            <a:off x="6445026" y="5476957"/>
            <a:ext cx="128699" cy="187198"/>
          </a:xfrm>
          <a:prstGeom prst="rect">
            <a:avLst/>
          </a:prstGeom>
        </p:spPr>
      </p:pic>
      <p:sp>
        <p:nvSpPr>
          <p:cNvPr id="148" name="TextBox 147"/>
          <p:cNvSpPr txBox="1"/>
          <p:nvPr/>
        </p:nvSpPr>
        <p:spPr>
          <a:xfrm>
            <a:off x="6612522" y="5486736"/>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65437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133266" cy="194310"/>
          </a:xfrm>
          <a:prstGeom prst="rect">
            <a:avLst/>
          </a:prstGeom>
          <a:noFill/>
        </p:spPr>
        <p:txBody>
          <a:bodyPr wrap="none" lIns="0" rIns="0" tIns="0" bIns="0">
            <a:spAutoFit/>
          </a:bodyPr>
          <a:lstStyle/>
          <a:p>
            <a:r>
              <a:rPr sz="1150" b="1">
                <a:solidFill>
                  <a:srgbClr val="0B2E4A"/>
                </a:solidFill>
                <a:latin typeface="Calibri"/>
              </a:rPr>
              <a:t>The Surface Finish segment is projected to grow at</a:t>
            </a:r>
          </a:p>
        </p:txBody>
      </p:sp>
      <p:sp>
        <p:nvSpPr>
          <p:cNvPr id="151" name="TextBox 150"/>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52" name="Picture 151" descr="lock.png"/>
          <p:cNvPicPr>
            <a:picLocks noChangeAspect="1"/>
          </p:cNvPicPr>
          <p:nvPr/>
        </p:nvPicPr>
        <p:blipFill>
          <a:blip r:embed="rId21"/>
          <a:stretch>
            <a:fillRect/>
          </a:stretch>
        </p:blipFill>
        <p:spPr>
          <a:xfrm>
            <a:off x="9154084" y="6007677"/>
            <a:ext cx="134549" cy="195707"/>
          </a:xfrm>
          <a:prstGeom prst="rect">
            <a:avLst/>
          </a:prstGeom>
        </p:spPr>
      </p:pic>
      <p:sp>
        <p:nvSpPr>
          <p:cNvPr id="153" name="TextBox 152"/>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Surface Finish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Surface Finish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Surface Finish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Surface Finish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42235" cy="186689"/>
          </a:xfrm>
          <a:prstGeom prst="rect">
            <a:avLst/>
          </a:prstGeom>
          <a:noFill/>
        </p:spPr>
        <p:txBody>
          <a:bodyPr wrap="none" lIns="0" rIns="0" tIns="0" bIns="0">
            <a:spAutoFit/>
          </a:bodyPr>
          <a:lstStyle/>
          <a:p>
            <a:r>
              <a:rPr sz="1100" b="0">
                <a:solidFill>
                  <a:srgbClr val="2E2E2E"/>
                </a:solidFill>
                <a:latin typeface="Calibri"/>
              </a:rPr>
              <a:t>Between 2026 and 2036, 'Nut and seed-topped' gains the most share in the Global market (+</a:t>
            </a:r>
          </a:p>
        </p:txBody>
      </p:sp>
      <p:pic>
        <p:nvPicPr>
          <p:cNvPr id="21" name="Picture 20" descr="lock.png"/>
          <p:cNvPicPr>
            <a:picLocks noChangeAspect="1"/>
          </p:cNvPicPr>
          <p:nvPr/>
        </p:nvPicPr>
        <p:blipFill>
          <a:blip r:embed="rId6"/>
          <a:stretch>
            <a:fillRect/>
          </a:stretch>
        </p:blipFill>
        <p:spPr>
          <a:xfrm>
            <a:off x="5547461" y="5851905"/>
            <a:ext cx="128699" cy="187198"/>
          </a:xfrm>
          <a:prstGeom prst="rect">
            <a:avLst/>
          </a:prstGeom>
        </p:spPr>
      </p:pic>
      <p:sp>
        <p:nvSpPr>
          <p:cNvPr id="22" name="TextBox 21"/>
          <p:cNvSpPr txBox="1"/>
          <p:nvPr/>
        </p:nvSpPr>
        <p:spPr>
          <a:xfrm>
            <a:off x="5714957" y="5861685"/>
            <a:ext cx="1893391" cy="186689"/>
          </a:xfrm>
          <a:prstGeom prst="rect">
            <a:avLst/>
          </a:prstGeom>
          <a:noFill/>
        </p:spPr>
        <p:txBody>
          <a:bodyPr wrap="none" lIns="0" rIns="0" tIns="0" bIns="0">
            <a:spAutoFit/>
          </a:bodyPr>
          <a:lstStyle/>
          <a:p>
            <a:r>
              <a:rPr sz="1100" b="0">
                <a:solidFill>
                  <a:srgbClr val="2E2E2E"/>
                </a:solidFill>
                <a:latin typeface="Calibri"/>
              </a:rPr>
              <a:t>BPS) while 'Sugar-topped' cedes</a:t>
            </a:r>
          </a:p>
        </p:txBody>
      </p:sp>
      <p:pic>
        <p:nvPicPr>
          <p:cNvPr id="23" name="Picture 22" descr="lock.png"/>
          <p:cNvPicPr>
            <a:picLocks noChangeAspect="1"/>
          </p:cNvPicPr>
          <p:nvPr/>
        </p:nvPicPr>
        <p:blipFill>
          <a:blip r:embed="rId6"/>
          <a:stretch>
            <a:fillRect/>
          </a:stretch>
        </p:blipFill>
        <p:spPr>
          <a:xfrm>
            <a:off x="7556400" y="5851905"/>
            <a:ext cx="128699" cy="187198"/>
          </a:xfrm>
          <a:prstGeom prst="rect">
            <a:avLst/>
          </a:prstGeom>
        </p:spPr>
      </p:pic>
      <p:sp>
        <p:nvSpPr>
          <p:cNvPr id="24" name="TextBox 23"/>
          <p:cNvSpPr txBox="1"/>
          <p:nvPr/>
        </p:nvSpPr>
        <p:spPr>
          <a:xfrm>
            <a:off x="7723896"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Surface Finish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Untopped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Crumb / streusel-topped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Sugar-topped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Nut and seed-topped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Surface Finish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Surface Finish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Glazed / drizzled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toppings</a:t>
            </a:r>
          </a:p>
        </p:txBody>
      </p:sp>
      <p:graphicFrame>
        <p:nvGraphicFramePr>
          <p:cNvPr id="15" name="Chart 14"/>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Surface Finish</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094826" y="2237234"/>
            <a:ext cx="263506" cy="383281"/>
          </a:xfrm>
          <a:prstGeom prst="rect">
            <a:avLst/>
          </a:prstGeom>
        </p:spPr>
      </p:pic>
      <p:pic>
        <p:nvPicPr>
          <p:cNvPr id="22" name="Picture 21" descr="lock.png"/>
          <p:cNvPicPr>
            <a:picLocks noChangeAspect="1"/>
          </p:cNvPicPr>
          <p:nvPr/>
        </p:nvPicPr>
        <p:blipFill>
          <a:blip r:embed="rId6"/>
          <a:stretch>
            <a:fillRect/>
          </a:stretch>
        </p:blipFill>
        <p:spPr>
          <a:xfrm>
            <a:off x="3094826" y="5123309"/>
            <a:ext cx="263506" cy="383281"/>
          </a:xfrm>
          <a:prstGeom prst="rect">
            <a:avLst/>
          </a:prstGeom>
        </p:spPr>
      </p:pic>
      <p:sp>
        <p:nvSpPr>
          <p:cNvPr id="23" name="TextBox 22"/>
          <p:cNvSpPr txBox="1"/>
          <p:nvPr/>
        </p:nvSpPr>
        <p:spPr>
          <a:xfrm>
            <a:off x="6305550" y="1400175"/>
            <a:ext cx="3037135" cy="194310"/>
          </a:xfrm>
          <a:prstGeom prst="rect">
            <a:avLst/>
          </a:prstGeom>
          <a:noFill/>
        </p:spPr>
        <p:txBody>
          <a:bodyPr wrap="none" lIns="0" rIns="0" tIns="0" bIns="0">
            <a:spAutoFit/>
          </a:bodyPr>
          <a:lstStyle/>
          <a:p>
            <a:r>
              <a:rPr sz="1150" b="0">
                <a:solidFill>
                  <a:srgbClr val="2E2E2E"/>
                </a:solidFill>
                <a:latin typeface="Calibri"/>
              </a:rPr>
              <a:t>▪ Across its 6 sub-segments, by surface finish adds</a:t>
            </a:r>
          </a:p>
        </p:txBody>
      </p:sp>
      <p:pic>
        <p:nvPicPr>
          <p:cNvPr id="24" name="Picture 23" descr="lock.png"/>
          <p:cNvPicPr>
            <a:picLocks noChangeAspect="1"/>
          </p:cNvPicPr>
          <p:nvPr/>
        </p:nvPicPr>
        <p:blipFill>
          <a:blip r:embed="rId6"/>
          <a:stretch>
            <a:fillRect/>
          </a:stretch>
        </p:blipFill>
        <p:spPr>
          <a:xfrm>
            <a:off x="9291839" y="1389951"/>
            <a:ext cx="134549" cy="195707"/>
          </a:xfrm>
          <a:prstGeom prst="rect">
            <a:avLst/>
          </a:prstGeom>
        </p:spPr>
      </p:pic>
      <p:sp>
        <p:nvSpPr>
          <p:cNvPr id="25" name="TextBox 24"/>
          <p:cNvSpPr txBox="1"/>
          <p:nvPr/>
        </p:nvSpPr>
        <p:spPr>
          <a:xfrm>
            <a:off x="9466948" y="1400175"/>
            <a:ext cx="2370211" cy="194310"/>
          </a:xfrm>
          <a:prstGeom prst="rect">
            <a:avLst/>
          </a:prstGeom>
          <a:noFill/>
        </p:spPr>
        <p:txBody>
          <a:bodyPr wrap="none" lIns="0" rIns="0" tIns="0" bIns="0">
            <a:spAutoFit/>
          </a:bodyPr>
          <a:lstStyle/>
          <a:p>
            <a:r>
              <a:rPr sz="1150" b="0">
                <a:solidFill>
                  <a:srgbClr val="2E2E2E"/>
                </a:solidFill>
                <a:latin typeface="Calibri"/>
              </a:rPr>
              <a:t>US$ Mn to the Global market between</a:t>
            </a:r>
          </a:p>
        </p:txBody>
      </p:sp>
      <p:sp>
        <p:nvSpPr>
          <p:cNvPr id="26" name="TextBox 25"/>
          <p:cNvSpPr txBox="1"/>
          <p:nvPr/>
        </p:nvSpPr>
        <p:spPr>
          <a:xfrm>
            <a:off x="6305550" y="1575435"/>
            <a:ext cx="995858" cy="194310"/>
          </a:xfrm>
          <a:prstGeom prst="rect">
            <a:avLst/>
          </a:prstGeom>
          <a:noFill/>
        </p:spPr>
        <p:txBody>
          <a:bodyPr wrap="none" lIns="0" rIns="0" tIns="0" bIns="0">
            <a:spAutoFit/>
          </a:bodyPr>
          <a:lstStyle/>
          <a:p>
            <a:r>
              <a:rPr sz="1150" b="0">
                <a:solidFill>
                  <a:srgbClr val="2E2E2E"/>
                </a:solidFill>
                <a:latin typeface="Calibri"/>
              </a:rPr>
              <a:t>2026 and 2036.</a:t>
            </a:r>
          </a:p>
        </p:txBody>
      </p:sp>
      <p:sp>
        <p:nvSpPr>
          <p:cNvPr id="27" name="TextBox 26"/>
          <p:cNvSpPr txBox="1"/>
          <p:nvPr/>
        </p:nvSpPr>
        <p:spPr>
          <a:xfrm>
            <a:off x="6305550" y="1803273"/>
            <a:ext cx="1801700" cy="194310"/>
          </a:xfrm>
          <a:prstGeom prst="rect">
            <a:avLst/>
          </a:prstGeom>
          <a:noFill/>
        </p:spPr>
        <p:txBody>
          <a:bodyPr wrap="none" lIns="0" rIns="0" tIns="0" bIns="0">
            <a:spAutoFit/>
          </a:bodyPr>
          <a:lstStyle/>
          <a:p>
            <a:r>
              <a:rPr sz="1150" b="0">
                <a:solidFill>
                  <a:srgbClr val="2E2E2E"/>
                </a:solidFill>
                <a:latin typeface="Calibri"/>
              </a:rPr>
              <a:t>▪ 'Nut and seed-topped' adds</a:t>
            </a:r>
          </a:p>
        </p:txBody>
      </p:sp>
      <p:pic>
        <p:nvPicPr>
          <p:cNvPr id="28" name="Picture 27" descr="lock.png"/>
          <p:cNvPicPr>
            <a:picLocks noChangeAspect="1"/>
          </p:cNvPicPr>
          <p:nvPr/>
        </p:nvPicPr>
        <p:blipFill>
          <a:blip r:embed="rId6"/>
          <a:stretch>
            <a:fillRect/>
          </a:stretch>
        </p:blipFill>
        <p:spPr>
          <a:xfrm>
            <a:off x="8056404" y="1793049"/>
            <a:ext cx="134549" cy="195707"/>
          </a:xfrm>
          <a:prstGeom prst="rect">
            <a:avLst/>
          </a:prstGeom>
        </p:spPr>
      </p:pic>
      <p:sp>
        <p:nvSpPr>
          <p:cNvPr id="29" name="TextBox 28"/>
          <p:cNvSpPr txBox="1"/>
          <p:nvPr/>
        </p:nvSpPr>
        <p:spPr>
          <a:xfrm>
            <a:off x="8231514" y="180327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0" name="Picture 29" descr="lock.png"/>
          <p:cNvPicPr>
            <a:picLocks noChangeAspect="1"/>
          </p:cNvPicPr>
          <p:nvPr/>
        </p:nvPicPr>
        <p:blipFill>
          <a:blip r:embed="rId6"/>
          <a:stretch>
            <a:fillRect/>
          </a:stretch>
        </p:blipFill>
        <p:spPr>
          <a:xfrm>
            <a:off x="8803985" y="1793049"/>
            <a:ext cx="134549" cy="195707"/>
          </a:xfrm>
          <a:prstGeom prst="rect">
            <a:avLst/>
          </a:prstGeom>
        </p:spPr>
      </p:pic>
      <p:sp>
        <p:nvSpPr>
          <p:cNvPr id="31" name="TextBox 30"/>
          <p:cNvSpPr txBox="1"/>
          <p:nvPr/>
        </p:nvSpPr>
        <p:spPr>
          <a:xfrm>
            <a:off x="8979094" y="180327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2" name="TextBox 31"/>
          <p:cNvSpPr txBox="1"/>
          <p:nvPr/>
        </p:nvSpPr>
        <p:spPr>
          <a:xfrm>
            <a:off x="6305550" y="2031111"/>
            <a:ext cx="1524148" cy="194310"/>
          </a:xfrm>
          <a:prstGeom prst="rect">
            <a:avLst/>
          </a:prstGeom>
          <a:noFill/>
        </p:spPr>
        <p:txBody>
          <a:bodyPr wrap="none" lIns="0" rIns="0" tIns="0" bIns="0">
            <a:spAutoFit/>
          </a:bodyPr>
          <a:lstStyle/>
          <a:p>
            <a:r>
              <a:rPr sz="1150" b="0">
                <a:solidFill>
                  <a:srgbClr val="2E2E2E"/>
                </a:solidFill>
                <a:latin typeface="Calibri"/>
              </a:rPr>
              <a:t>▪ 'Glazed / drizzled' adds</a:t>
            </a:r>
          </a:p>
        </p:txBody>
      </p:sp>
      <p:pic>
        <p:nvPicPr>
          <p:cNvPr id="33" name="Picture 32" descr="lock.png"/>
          <p:cNvPicPr>
            <a:picLocks noChangeAspect="1"/>
          </p:cNvPicPr>
          <p:nvPr/>
        </p:nvPicPr>
        <p:blipFill>
          <a:blip r:embed="rId6"/>
          <a:stretch>
            <a:fillRect/>
          </a:stretch>
        </p:blipFill>
        <p:spPr>
          <a:xfrm>
            <a:off x="7778852" y="2020887"/>
            <a:ext cx="134549" cy="195707"/>
          </a:xfrm>
          <a:prstGeom prst="rect">
            <a:avLst/>
          </a:prstGeom>
        </p:spPr>
      </p:pic>
      <p:sp>
        <p:nvSpPr>
          <p:cNvPr id="34" name="TextBox 33"/>
          <p:cNvSpPr txBox="1"/>
          <p:nvPr/>
        </p:nvSpPr>
        <p:spPr>
          <a:xfrm>
            <a:off x="7953962" y="2031111"/>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6"/>
          <a:stretch>
            <a:fillRect/>
          </a:stretch>
        </p:blipFill>
        <p:spPr>
          <a:xfrm>
            <a:off x="8526432" y="2020887"/>
            <a:ext cx="134549" cy="195707"/>
          </a:xfrm>
          <a:prstGeom prst="rect">
            <a:avLst/>
          </a:prstGeom>
        </p:spPr>
      </p:pic>
      <p:sp>
        <p:nvSpPr>
          <p:cNvPr id="36" name="TextBox 35"/>
          <p:cNvSpPr txBox="1"/>
          <p:nvPr/>
        </p:nvSpPr>
        <p:spPr>
          <a:xfrm>
            <a:off x="8701542" y="2031111"/>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2258949"/>
            <a:ext cx="1434008" cy="194310"/>
          </a:xfrm>
          <a:prstGeom prst="rect">
            <a:avLst/>
          </a:prstGeom>
          <a:noFill/>
        </p:spPr>
        <p:txBody>
          <a:bodyPr wrap="none" lIns="0" rIns="0" tIns="0" bIns="0">
            <a:spAutoFit/>
          </a:bodyPr>
          <a:lstStyle/>
          <a:p>
            <a:r>
              <a:rPr sz="1150" b="0">
                <a:solidFill>
                  <a:srgbClr val="2E2E2E"/>
                </a:solidFill>
                <a:latin typeface="Calibri"/>
              </a:rPr>
              <a:t>▪ 'Other toppings' adds</a:t>
            </a:r>
          </a:p>
        </p:txBody>
      </p:sp>
      <p:pic>
        <p:nvPicPr>
          <p:cNvPr id="38" name="Picture 37" descr="lock.png"/>
          <p:cNvPicPr>
            <a:picLocks noChangeAspect="1"/>
          </p:cNvPicPr>
          <p:nvPr/>
        </p:nvPicPr>
        <p:blipFill>
          <a:blip r:embed="rId6"/>
          <a:stretch>
            <a:fillRect/>
          </a:stretch>
        </p:blipFill>
        <p:spPr>
          <a:xfrm>
            <a:off x="7688712" y="2248725"/>
            <a:ext cx="134549" cy="195707"/>
          </a:xfrm>
          <a:prstGeom prst="rect">
            <a:avLst/>
          </a:prstGeom>
        </p:spPr>
      </p:pic>
      <p:sp>
        <p:nvSpPr>
          <p:cNvPr id="39" name="TextBox 38"/>
          <p:cNvSpPr txBox="1"/>
          <p:nvPr/>
        </p:nvSpPr>
        <p:spPr>
          <a:xfrm>
            <a:off x="7863821" y="2258949"/>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6"/>
          <a:stretch>
            <a:fillRect/>
          </a:stretch>
        </p:blipFill>
        <p:spPr>
          <a:xfrm>
            <a:off x="8436292" y="2248725"/>
            <a:ext cx="134549" cy="195707"/>
          </a:xfrm>
          <a:prstGeom prst="rect">
            <a:avLst/>
          </a:prstGeom>
        </p:spPr>
      </p:pic>
      <p:sp>
        <p:nvSpPr>
          <p:cNvPr id="41" name="TextBox 40"/>
          <p:cNvSpPr txBox="1"/>
          <p:nvPr/>
        </p:nvSpPr>
        <p:spPr>
          <a:xfrm>
            <a:off x="8611402" y="2258949"/>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2486787"/>
            <a:ext cx="2590713" cy="194310"/>
          </a:xfrm>
          <a:prstGeom prst="rect">
            <a:avLst/>
          </a:prstGeom>
          <a:noFill/>
        </p:spPr>
        <p:txBody>
          <a:bodyPr wrap="none" lIns="0" rIns="0" tIns="0" bIns="0">
            <a:spAutoFit/>
          </a:bodyPr>
          <a:lstStyle/>
          <a:p>
            <a:r>
              <a:rPr sz="1150" b="0">
                <a:solidFill>
                  <a:srgbClr val="2E2E2E"/>
                </a:solidFill>
                <a:latin typeface="Calibri"/>
              </a:rPr>
              <a:t>▪ 'Crumb / streusel-topped' adds the least:</a:t>
            </a:r>
          </a:p>
        </p:txBody>
      </p:sp>
      <p:pic>
        <p:nvPicPr>
          <p:cNvPr id="43" name="Picture 42" descr="lock.png"/>
          <p:cNvPicPr>
            <a:picLocks noChangeAspect="1"/>
          </p:cNvPicPr>
          <p:nvPr/>
        </p:nvPicPr>
        <p:blipFill>
          <a:blip r:embed="rId6"/>
          <a:stretch>
            <a:fillRect/>
          </a:stretch>
        </p:blipFill>
        <p:spPr>
          <a:xfrm>
            <a:off x="8845417" y="2476563"/>
            <a:ext cx="134549" cy="195707"/>
          </a:xfrm>
          <a:prstGeom prst="rect">
            <a:avLst/>
          </a:prstGeom>
        </p:spPr>
      </p:pic>
      <p:sp>
        <p:nvSpPr>
          <p:cNvPr id="44" name="TextBox 43"/>
          <p:cNvSpPr txBox="1"/>
          <p:nvPr/>
        </p:nvSpPr>
        <p:spPr>
          <a:xfrm>
            <a:off x="9020526" y="248678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6"/>
          <a:stretch>
            <a:fillRect/>
          </a:stretch>
        </p:blipFill>
        <p:spPr>
          <a:xfrm>
            <a:off x="9592997" y="2476563"/>
            <a:ext cx="134549" cy="195707"/>
          </a:xfrm>
          <a:prstGeom prst="rect">
            <a:avLst/>
          </a:prstGeom>
        </p:spPr>
      </p:pic>
      <p:sp>
        <p:nvSpPr>
          <p:cNvPr id="46" name="TextBox 45"/>
          <p:cNvSpPr txBox="1"/>
          <p:nvPr/>
        </p:nvSpPr>
        <p:spPr>
          <a:xfrm>
            <a:off x="9768106" y="2486787"/>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5"/>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Surface Finish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Surface Finish (MT)</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Surface Finish</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Untopped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Crumb / streusel-</a:t>
                      </a:r>
                      <a:endParaRPr sz="1100"/>
                    </a:p>
                    <a:p>
                      <a:pPr algn="l"/>
                      <a:r>
                        <a:rPr sz="1100" b="1">
                          <a:solidFill>
                            <a:srgbClr val="2E2E2E"/>
                          </a:solidFill>
                          <a:latin typeface="Calibri"/>
                        </a:rPr>
                        <a:t>topped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Sugar-topped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Nut and seed-</a:t>
                      </a:r>
                      <a:endParaRPr sz="1100"/>
                    </a:p>
                    <a:p>
                      <a:pPr algn="l"/>
                      <a:r>
                        <a:rPr sz="1100" b="1">
                          <a:solidFill>
                            <a:srgbClr val="2E2E2E"/>
                          </a:solidFill>
                          <a:latin typeface="Calibri"/>
                        </a:rPr>
                        <a:t>topped</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Glazed / drizzled</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Other toppings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Surface Finish</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2975805" cy="194310"/>
          </a:xfrm>
          <a:prstGeom prst="rect">
            <a:avLst/>
          </a:prstGeom>
          <a:noFill/>
        </p:spPr>
        <p:txBody>
          <a:bodyPr wrap="none" lIns="0" rIns="0" tIns="0" bIns="0">
            <a:spAutoFit/>
          </a:bodyPr>
          <a:lstStyle/>
          <a:p>
            <a:r>
              <a:rPr sz="1150" b="0">
                <a:solidFill>
                  <a:srgbClr val="2E2E2E"/>
                </a:solidFill>
                <a:latin typeface="Calibri"/>
              </a:rPr>
              <a:t>▪ 'Glazed / drizzled' is the largest surface finish at</a:t>
            </a:r>
          </a:p>
        </p:txBody>
      </p:sp>
      <p:pic>
        <p:nvPicPr>
          <p:cNvPr id="22" name="Picture 21" descr="lock.png"/>
          <p:cNvPicPr>
            <a:picLocks noChangeAspect="1"/>
          </p:cNvPicPr>
          <p:nvPr/>
        </p:nvPicPr>
        <p:blipFill>
          <a:blip r:embed="rId4"/>
          <a:stretch>
            <a:fillRect/>
          </a:stretch>
        </p:blipFill>
        <p:spPr>
          <a:xfrm>
            <a:off x="3201184" y="4542726"/>
            <a:ext cx="134549" cy="195707"/>
          </a:xfrm>
          <a:prstGeom prst="rect">
            <a:avLst/>
          </a:prstGeom>
        </p:spPr>
      </p:pic>
      <p:sp>
        <p:nvSpPr>
          <p:cNvPr id="23" name="TextBox 22"/>
          <p:cNvSpPr txBox="1"/>
          <p:nvPr/>
        </p:nvSpPr>
        <p:spPr>
          <a:xfrm>
            <a:off x="3376294" y="45529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406027" y="4542726"/>
            <a:ext cx="134549" cy="195707"/>
          </a:xfrm>
          <a:prstGeom prst="rect">
            <a:avLst/>
          </a:prstGeom>
        </p:spPr>
      </p:pic>
      <p:sp>
        <p:nvSpPr>
          <p:cNvPr id="25" name="TextBox 24"/>
          <p:cNvSpPr txBox="1"/>
          <p:nvPr/>
        </p:nvSpPr>
        <p:spPr>
          <a:xfrm>
            <a:off x="4581136" y="45529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780788"/>
            <a:ext cx="1944327" cy="194310"/>
          </a:xfrm>
          <a:prstGeom prst="rect">
            <a:avLst/>
          </a:prstGeom>
          <a:noFill/>
        </p:spPr>
        <p:txBody>
          <a:bodyPr wrap="none" lIns="0" rIns="0" tIns="0" bIns="0">
            <a:spAutoFit/>
          </a:bodyPr>
          <a:lstStyle/>
          <a:p>
            <a:r>
              <a:rPr sz="1150" b="0">
                <a:solidFill>
                  <a:srgbClr val="2E2E2E"/>
                </a:solidFill>
                <a:latin typeface="Calibri"/>
              </a:rPr>
              <a:t>▪ 'Other toppings' grows fastest</a:t>
            </a:r>
          </a:p>
        </p:txBody>
      </p:sp>
      <p:pic>
        <p:nvPicPr>
          <p:cNvPr id="27" name="Picture 26" descr="lock.png"/>
          <p:cNvPicPr>
            <a:picLocks noChangeAspect="1"/>
          </p:cNvPicPr>
          <p:nvPr/>
        </p:nvPicPr>
        <p:blipFill>
          <a:blip r:embed="rId4"/>
          <a:stretch>
            <a:fillRect/>
          </a:stretch>
        </p:blipFill>
        <p:spPr>
          <a:xfrm>
            <a:off x="2169706" y="4770564"/>
            <a:ext cx="134549" cy="195707"/>
          </a:xfrm>
          <a:prstGeom prst="rect">
            <a:avLst/>
          </a:prstGeom>
        </p:spPr>
      </p:pic>
      <p:sp>
        <p:nvSpPr>
          <p:cNvPr id="28" name="TextBox 27"/>
          <p:cNvSpPr txBox="1"/>
          <p:nvPr/>
        </p:nvSpPr>
        <p:spPr>
          <a:xfrm>
            <a:off x="2344816" y="4780788"/>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5008625"/>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998402"/>
            <a:ext cx="134549" cy="195707"/>
          </a:xfrm>
          <a:prstGeom prst="rect">
            <a:avLst/>
          </a:prstGeom>
        </p:spPr>
      </p:pic>
      <p:sp>
        <p:nvSpPr>
          <p:cNvPr id="31" name="TextBox 30"/>
          <p:cNvSpPr txBox="1"/>
          <p:nvPr/>
        </p:nvSpPr>
        <p:spPr>
          <a:xfrm>
            <a:off x="3221686" y="5008625"/>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998402"/>
            <a:ext cx="134549" cy="195707"/>
          </a:xfrm>
          <a:prstGeom prst="rect">
            <a:avLst/>
          </a:prstGeom>
        </p:spPr>
      </p:pic>
      <p:sp>
        <p:nvSpPr>
          <p:cNvPr id="33" name="TextBox 32"/>
          <p:cNvSpPr txBox="1"/>
          <p:nvPr/>
        </p:nvSpPr>
        <p:spPr>
          <a:xfrm>
            <a:off x="5637716" y="50086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2364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226240"/>
            <a:ext cx="134549" cy="195707"/>
          </a:xfrm>
          <a:prstGeom prst="rect">
            <a:avLst/>
          </a:prstGeom>
        </p:spPr>
      </p:pic>
      <p:sp>
        <p:nvSpPr>
          <p:cNvPr id="36" name="TextBox 35"/>
          <p:cNvSpPr txBox="1"/>
          <p:nvPr/>
        </p:nvSpPr>
        <p:spPr>
          <a:xfrm>
            <a:off x="1965143" y="52364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226240"/>
            <a:ext cx="134549" cy="195707"/>
          </a:xfrm>
          <a:prstGeom prst="rect">
            <a:avLst/>
          </a:prstGeom>
        </p:spPr>
      </p:pic>
      <p:sp>
        <p:nvSpPr>
          <p:cNvPr id="38" name="TextBox 37"/>
          <p:cNvSpPr txBox="1"/>
          <p:nvPr/>
        </p:nvSpPr>
        <p:spPr>
          <a:xfrm>
            <a:off x="2291688" y="5236463"/>
            <a:ext cx="1470521" cy="194310"/>
          </a:xfrm>
          <a:prstGeom prst="rect">
            <a:avLst/>
          </a:prstGeom>
          <a:noFill/>
        </p:spPr>
        <p:txBody>
          <a:bodyPr wrap="none" lIns="0" rIns="0" tIns="0" bIns="0">
            <a:spAutoFit/>
          </a:bodyPr>
          <a:lstStyle/>
          <a:p>
            <a:r>
              <a:rPr sz="1150" b="0">
                <a:solidFill>
                  <a:srgbClr val="2E2E2E"/>
                </a:solidFill>
                <a:latin typeface="Calibri"/>
              </a:rPr>
              <a:t>MT across 6 categories.</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Surface Finish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Surface Finish,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Surface Finish (US$ Mn)</a:t>
            </a:r>
          </a:p>
        </p:txBody>
      </p:sp>
      <p:graphicFrame>
        <p:nvGraphicFramePr>
          <p:cNvPr id="13" name="Table 12"/>
          <p:cNvGraphicFramePr>
            <a:graphicFrameLocks noGrp="1"/>
          </p:cNvGraphicFramePr>
          <p:nvPr/>
        </p:nvGraphicFramePr>
        <p:xfrm>
          <a:off x="152400" y="1238250"/>
          <a:ext cx="11887204" cy="1971675"/>
        </p:xfrm>
        <a:graphic>
          <a:graphicData uri="http://schemas.openxmlformats.org/drawingml/2006/table">
            <a:tbl>
              <a:tblPr>
                <a:tableStyleId>{5C22544A-7EE6-4342-B048-85BDC9FD1C3A}</a:tableStyleId>
              </a:tblPr>
              <a:tblGrid>
                <a:gridCol w="1719130"/>
                <a:gridCol w="598122"/>
                <a:gridCol w="598122"/>
                <a:gridCol w="598122"/>
                <a:gridCol w="598122"/>
                <a:gridCol w="598122"/>
                <a:gridCol w="598122"/>
                <a:gridCol w="598122"/>
                <a:gridCol w="598122"/>
                <a:gridCol w="598122"/>
                <a:gridCol w="598122"/>
                <a:gridCol w="598122"/>
                <a:gridCol w="598122"/>
                <a:gridCol w="598122"/>
                <a:gridCol w="598122"/>
                <a:gridCol w="598122"/>
                <a:gridCol w="598122"/>
                <a:gridCol w="598122"/>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Surface Finish</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8877" y="2080450"/>
            <a:ext cx="366712" cy="533400"/>
          </a:xfrm>
          <a:prstGeom prst="rect">
            <a:avLst/>
          </a:prstGeom>
        </p:spPr>
      </p:pic>
      <p:sp>
        <p:nvSpPr>
          <p:cNvPr id="21" name="TextBox 20"/>
          <p:cNvSpPr txBox="1"/>
          <p:nvPr/>
        </p:nvSpPr>
        <p:spPr>
          <a:xfrm>
            <a:off x="276225" y="3971925"/>
            <a:ext cx="3253358" cy="194310"/>
          </a:xfrm>
          <a:prstGeom prst="rect">
            <a:avLst/>
          </a:prstGeom>
          <a:noFill/>
        </p:spPr>
        <p:txBody>
          <a:bodyPr wrap="none" lIns="0" rIns="0" tIns="0" bIns="0">
            <a:spAutoFit/>
          </a:bodyPr>
          <a:lstStyle/>
          <a:p>
            <a:r>
              <a:rPr sz="1150" b="0">
                <a:solidFill>
                  <a:srgbClr val="2E2E2E"/>
                </a:solidFill>
                <a:latin typeface="Calibri"/>
              </a:rPr>
              <a:t>▪ 'Nut and seed-topped' is the largest surface finish at</a:t>
            </a:r>
          </a:p>
        </p:txBody>
      </p:sp>
      <p:pic>
        <p:nvPicPr>
          <p:cNvPr id="22" name="Picture 21" descr="lock.png"/>
          <p:cNvPicPr>
            <a:picLocks noChangeAspect="1"/>
          </p:cNvPicPr>
          <p:nvPr/>
        </p:nvPicPr>
        <p:blipFill>
          <a:blip r:embed="rId4"/>
          <a:stretch>
            <a:fillRect/>
          </a:stretch>
        </p:blipFill>
        <p:spPr>
          <a:xfrm>
            <a:off x="3478736" y="3961701"/>
            <a:ext cx="134549" cy="195707"/>
          </a:xfrm>
          <a:prstGeom prst="rect">
            <a:avLst/>
          </a:prstGeom>
        </p:spPr>
      </p:pic>
      <p:sp>
        <p:nvSpPr>
          <p:cNvPr id="23" name="TextBox 22"/>
          <p:cNvSpPr txBox="1"/>
          <p:nvPr/>
        </p:nvSpPr>
        <p:spPr>
          <a:xfrm>
            <a:off x="3653846" y="3971925"/>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559778" y="3961701"/>
            <a:ext cx="134549" cy="195707"/>
          </a:xfrm>
          <a:prstGeom prst="rect">
            <a:avLst/>
          </a:prstGeom>
        </p:spPr>
      </p:pic>
      <p:sp>
        <p:nvSpPr>
          <p:cNvPr id="25" name="TextBox 24"/>
          <p:cNvSpPr txBox="1"/>
          <p:nvPr/>
        </p:nvSpPr>
        <p:spPr>
          <a:xfrm>
            <a:off x="4734888" y="39719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4199763"/>
            <a:ext cx="1944327" cy="194310"/>
          </a:xfrm>
          <a:prstGeom prst="rect">
            <a:avLst/>
          </a:prstGeom>
          <a:noFill/>
        </p:spPr>
        <p:txBody>
          <a:bodyPr wrap="none" lIns="0" rIns="0" tIns="0" bIns="0">
            <a:spAutoFit/>
          </a:bodyPr>
          <a:lstStyle/>
          <a:p>
            <a:r>
              <a:rPr sz="1150" b="0">
                <a:solidFill>
                  <a:srgbClr val="2E2E2E"/>
                </a:solidFill>
                <a:latin typeface="Calibri"/>
              </a:rPr>
              <a:t>▪ 'Other toppings' grows fastest</a:t>
            </a:r>
          </a:p>
        </p:txBody>
      </p:sp>
      <p:pic>
        <p:nvPicPr>
          <p:cNvPr id="27" name="Picture 26" descr="lock.png"/>
          <p:cNvPicPr>
            <a:picLocks noChangeAspect="1"/>
          </p:cNvPicPr>
          <p:nvPr/>
        </p:nvPicPr>
        <p:blipFill>
          <a:blip r:embed="rId4"/>
          <a:stretch>
            <a:fillRect/>
          </a:stretch>
        </p:blipFill>
        <p:spPr>
          <a:xfrm>
            <a:off x="2169706" y="4189539"/>
            <a:ext cx="134549" cy="195707"/>
          </a:xfrm>
          <a:prstGeom prst="rect">
            <a:avLst/>
          </a:prstGeom>
        </p:spPr>
      </p:pic>
      <p:sp>
        <p:nvSpPr>
          <p:cNvPr id="28" name="TextBox 27"/>
          <p:cNvSpPr txBox="1"/>
          <p:nvPr/>
        </p:nvSpPr>
        <p:spPr>
          <a:xfrm>
            <a:off x="2344816" y="41997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27600"/>
            <a:ext cx="2821198" cy="194310"/>
          </a:xfrm>
          <a:prstGeom prst="rect">
            <a:avLst/>
          </a:prstGeom>
          <a:noFill/>
        </p:spPr>
        <p:txBody>
          <a:bodyPr wrap="none" lIns="0" rIns="0" tIns="0" bIns="0">
            <a:spAutoFit/>
          </a:bodyPr>
          <a:lstStyle/>
          <a:p>
            <a:r>
              <a:rPr sz="1150" b="0">
                <a:solidFill>
                  <a:srgbClr val="2E2E2E"/>
                </a:solidFill>
                <a:latin typeface="Calibri"/>
              </a:rPr>
              <a:t>▪ Share shifts toward 'Nut and seed-topped' (+</a:t>
            </a:r>
          </a:p>
        </p:txBody>
      </p:sp>
      <p:pic>
        <p:nvPicPr>
          <p:cNvPr id="30" name="Picture 29" descr="lock.png"/>
          <p:cNvPicPr>
            <a:picLocks noChangeAspect="1"/>
          </p:cNvPicPr>
          <p:nvPr/>
        </p:nvPicPr>
        <p:blipFill>
          <a:blip r:embed="rId4"/>
          <a:stretch>
            <a:fillRect/>
          </a:stretch>
        </p:blipFill>
        <p:spPr>
          <a:xfrm>
            <a:off x="3046577" y="4417377"/>
            <a:ext cx="134549" cy="195707"/>
          </a:xfrm>
          <a:prstGeom prst="rect">
            <a:avLst/>
          </a:prstGeom>
        </p:spPr>
      </p:pic>
      <p:sp>
        <p:nvSpPr>
          <p:cNvPr id="31" name="TextBox 30"/>
          <p:cNvSpPr txBox="1"/>
          <p:nvPr/>
        </p:nvSpPr>
        <p:spPr>
          <a:xfrm>
            <a:off x="3221686" y="4427600"/>
            <a:ext cx="2291767" cy="194310"/>
          </a:xfrm>
          <a:prstGeom prst="rect">
            <a:avLst/>
          </a:prstGeom>
          <a:noFill/>
        </p:spPr>
        <p:txBody>
          <a:bodyPr wrap="none" lIns="0" rIns="0" tIns="0" bIns="0">
            <a:spAutoFit/>
          </a:bodyPr>
          <a:lstStyle/>
          <a:p>
            <a:r>
              <a:rPr sz="1150" b="0">
                <a:solidFill>
                  <a:srgbClr val="2E2E2E"/>
                </a:solidFill>
                <a:latin typeface="Calibri"/>
              </a:rPr>
              <a:t>BPS) and away from 'Sugar-topped' (-</a:t>
            </a:r>
          </a:p>
        </p:txBody>
      </p:sp>
      <p:pic>
        <p:nvPicPr>
          <p:cNvPr id="32" name="Picture 31" descr="lock.png"/>
          <p:cNvPicPr>
            <a:picLocks noChangeAspect="1"/>
          </p:cNvPicPr>
          <p:nvPr/>
        </p:nvPicPr>
        <p:blipFill>
          <a:blip r:embed="rId4"/>
          <a:stretch>
            <a:fillRect/>
          </a:stretch>
        </p:blipFill>
        <p:spPr>
          <a:xfrm>
            <a:off x="5462607" y="4417377"/>
            <a:ext cx="134549" cy="195707"/>
          </a:xfrm>
          <a:prstGeom prst="rect">
            <a:avLst/>
          </a:prstGeom>
        </p:spPr>
      </p:pic>
      <p:sp>
        <p:nvSpPr>
          <p:cNvPr id="33" name="TextBox 32"/>
          <p:cNvSpPr txBox="1"/>
          <p:nvPr/>
        </p:nvSpPr>
        <p:spPr>
          <a:xfrm>
            <a:off x="5637716" y="44276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55438"/>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645215"/>
            <a:ext cx="134549" cy="195707"/>
          </a:xfrm>
          <a:prstGeom prst="rect">
            <a:avLst/>
          </a:prstGeom>
        </p:spPr>
      </p:pic>
      <p:sp>
        <p:nvSpPr>
          <p:cNvPr id="36" name="TextBox 35"/>
          <p:cNvSpPr txBox="1"/>
          <p:nvPr/>
        </p:nvSpPr>
        <p:spPr>
          <a:xfrm>
            <a:off x="1841342" y="46554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645215"/>
            <a:ext cx="134549" cy="195707"/>
          </a:xfrm>
          <a:prstGeom prst="rect">
            <a:avLst/>
          </a:prstGeom>
        </p:spPr>
      </p:pic>
      <p:sp>
        <p:nvSpPr>
          <p:cNvPr id="38" name="TextBox 37"/>
          <p:cNvSpPr txBox="1"/>
          <p:nvPr/>
        </p:nvSpPr>
        <p:spPr>
          <a:xfrm>
            <a:off x="2167888" y="4655438"/>
            <a:ext cx="1744079" cy="194310"/>
          </a:xfrm>
          <a:prstGeom prst="rect">
            <a:avLst/>
          </a:prstGeom>
          <a:noFill/>
        </p:spPr>
        <p:txBody>
          <a:bodyPr wrap="none" lIns="0" rIns="0" tIns="0" bIns="0">
            <a:spAutoFit/>
          </a:bodyPr>
          <a:lstStyle/>
          <a:p>
            <a:r>
              <a:rPr sz="1150" b="0">
                <a:solidFill>
                  <a:srgbClr val="2E2E2E"/>
                </a:solidFill>
                <a:latin typeface="Calibri"/>
              </a:rPr>
              <a:t>US$ Mn across 6 categories.</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Surface Finish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Surface Finish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Surface Finish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84966"/>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8020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0400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Crumb / streusel-topped</a:t>
            </a:r>
          </a:p>
        </p:txBody>
      </p:sp>
      <p:sp>
        <p:nvSpPr>
          <p:cNvPr id="19" name="BPS Value 1"/>
          <p:cNvSpPr txBox="1"/>
          <p:nvPr/>
        </p:nvSpPr>
        <p:spPr>
          <a:xfrm>
            <a:off x="6896100" y="17659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05955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0547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785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Untopped</a:t>
            </a:r>
          </a:p>
        </p:txBody>
      </p:sp>
      <p:sp>
        <p:nvSpPr>
          <p:cNvPr id="23" name="BPS Value 2"/>
          <p:cNvSpPr txBox="1"/>
          <p:nvPr/>
        </p:nvSpPr>
        <p:spPr>
          <a:xfrm>
            <a:off x="6896100" y="204050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241697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24122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360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Sugar-topped</a:t>
            </a:r>
          </a:p>
        </p:txBody>
      </p:sp>
      <p:sp>
        <p:nvSpPr>
          <p:cNvPr id="27" name="BPS Value 3"/>
          <p:cNvSpPr txBox="1"/>
          <p:nvPr/>
        </p:nvSpPr>
        <p:spPr>
          <a:xfrm>
            <a:off x="6896100" y="23979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285648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5172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7552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toppings</a:t>
            </a:r>
          </a:p>
        </p:txBody>
      </p:sp>
      <p:sp>
        <p:nvSpPr>
          <p:cNvPr id="31" name="BPS Value 4"/>
          <p:cNvSpPr txBox="1"/>
          <p:nvPr/>
        </p:nvSpPr>
        <p:spPr>
          <a:xfrm>
            <a:off x="6896100" y="283743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928997" y="378836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7835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7073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Glazed / drizzled</a:t>
            </a:r>
          </a:p>
        </p:txBody>
      </p:sp>
      <p:sp>
        <p:nvSpPr>
          <p:cNvPr id="35" name="BPS Value 5"/>
          <p:cNvSpPr txBox="1"/>
          <p:nvPr/>
        </p:nvSpPr>
        <p:spPr>
          <a:xfrm>
            <a:off x="6896100" y="376931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928997" y="53604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0922" y="535568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52794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Nut and seed-topped</a:t>
            </a:r>
          </a:p>
        </p:txBody>
      </p:sp>
      <p:sp>
        <p:nvSpPr>
          <p:cNvPr id="39" name="BPS Value 6"/>
          <p:cNvSpPr txBox="1"/>
          <p:nvPr/>
        </p:nvSpPr>
        <p:spPr>
          <a:xfrm>
            <a:off x="6896100" y="53414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Surface Finish</a:t>
            </a:r>
          </a:p>
        </p:txBody>
      </p:sp>
      <p:sp>
        <p:nvSpPr>
          <p:cNvPr id="42" name="Rectangle 4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5" name="Picture 44" descr="lock.png"/>
          <p:cNvPicPr>
            <a:picLocks noChangeAspect="1"/>
          </p:cNvPicPr>
          <p:nvPr/>
        </p:nvPicPr>
        <p:blipFill>
          <a:blip r:embed="rId5"/>
          <a:stretch>
            <a:fillRect/>
          </a:stretch>
        </p:blipFill>
        <p:spPr>
          <a:xfrm>
            <a:off x="2557843" y="3833622"/>
            <a:ext cx="275034" cy="400050"/>
          </a:xfrm>
          <a:prstGeom prst="rect">
            <a:avLst/>
          </a:prstGeom>
        </p:spPr>
      </p:pic>
      <p:sp>
        <p:nvSpPr>
          <p:cNvPr id="46" name="TextBox 45"/>
          <p:cNvSpPr txBox="1"/>
          <p:nvPr/>
        </p:nvSpPr>
        <p:spPr>
          <a:xfrm>
            <a:off x="7829550" y="1400175"/>
            <a:ext cx="2858281" cy="194310"/>
          </a:xfrm>
          <a:prstGeom prst="rect">
            <a:avLst/>
          </a:prstGeom>
          <a:noFill/>
        </p:spPr>
        <p:txBody>
          <a:bodyPr wrap="none" lIns="0" rIns="0" tIns="0" bIns="0">
            <a:spAutoFit/>
          </a:bodyPr>
          <a:lstStyle/>
          <a:p>
            <a:r>
              <a:rPr sz="1150" b="0">
                <a:solidFill>
                  <a:srgbClr val="2E2E2E"/>
                </a:solidFill>
                <a:latin typeface="Calibri"/>
              </a:rPr>
              <a:t>▪ 'Nut and seed-topped' gains the most share +</a:t>
            </a:r>
          </a:p>
        </p:txBody>
      </p:sp>
      <p:pic>
        <p:nvPicPr>
          <p:cNvPr id="47" name="Picture 46" descr="lock.png"/>
          <p:cNvPicPr>
            <a:picLocks noChangeAspect="1"/>
          </p:cNvPicPr>
          <p:nvPr/>
        </p:nvPicPr>
        <p:blipFill>
          <a:blip r:embed="rId5"/>
          <a:stretch>
            <a:fillRect/>
          </a:stretch>
        </p:blipFill>
        <p:spPr>
          <a:xfrm>
            <a:off x="10636985" y="1389951"/>
            <a:ext cx="134549" cy="195707"/>
          </a:xfrm>
          <a:prstGeom prst="rect">
            <a:avLst/>
          </a:prstGeom>
        </p:spPr>
      </p:pic>
      <p:sp>
        <p:nvSpPr>
          <p:cNvPr id="48" name="TextBox 47"/>
          <p:cNvSpPr txBox="1"/>
          <p:nvPr/>
        </p:nvSpPr>
        <p:spPr>
          <a:xfrm>
            <a:off x="1081209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9" name="TextBox 48"/>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50" name="TextBox 49"/>
          <p:cNvSpPr txBox="1"/>
          <p:nvPr/>
        </p:nvSpPr>
        <p:spPr>
          <a:xfrm>
            <a:off x="7829550" y="1803273"/>
            <a:ext cx="2049301" cy="194310"/>
          </a:xfrm>
          <a:prstGeom prst="rect">
            <a:avLst/>
          </a:prstGeom>
          <a:noFill/>
        </p:spPr>
        <p:txBody>
          <a:bodyPr wrap="none" lIns="0" rIns="0" tIns="0" bIns="0">
            <a:spAutoFit/>
          </a:bodyPr>
          <a:lstStyle/>
          <a:p>
            <a:r>
              <a:rPr sz="1150" b="0">
                <a:solidFill>
                  <a:srgbClr val="2E2E2E"/>
                </a:solidFill>
                <a:latin typeface="Calibri"/>
              </a:rPr>
              <a:t>▪ 'Sugar-topped' cedes the most -</a:t>
            </a:r>
          </a:p>
        </p:txBody>
      </p:sp>
      <p:pic>
        <p:nvPicPr>
          <p:cNvPr id="51" name="Picture 50" descr="lock.png"/>
          <p:cNvPicPr>
            <a:picLocks noChangeAspect="1"/>
          </p:cNvPicPr>
          <p:nvPr/>
        </p:nvPicPr>
        <p:blipFill>
          <a:blip r:embed="rId5"/>
          <a:stretch>
            <a:fillRect/>
          </a:stretch>
        </p:blipFill>
        <p:spPr>
          <a:xfrm>
            <a:off x="9828005" y="1793049"/>
            <a:ext cx="134549" cy="195707"/>
          </a:xfrm>
          <a:prstGeom prst="rect">
            <a:avLst/>
          </a:prstGeom>
        </p:spPr>
      </p:pic>
      <p:sp>
        <p:nvSpPr>
          <p:cNvPr id="52" name="TextBox 51"/>
          <p:cNvSpPr txBox="1"/>
          <p:nvPr/>
        </p:nvSpPr>
        <p:spPr>
          <a:xfrm>
            <a:off x="10003114" y="1803273"/>
            <a:ext cx="1685317" cy="194310"/>
          </a:xfrm>
          <a:prstGeom prst="rect">
            <a:avLst/>
          </a:prstGeom>
          <a:noFill/>
        </p:spPr>
        <p:txBody>
          <a:bodyPr wrap="none" lIns="0" rIns="0" tIns="0" bIns="0">
            <a:spAutoFit/>
          </a:bodyPr>
          <a:lstStyle/>
          <a:p>
            <a:r>
              <a:rPr sz="1150" b="0">
                <a:solidFill>
                  <a:srgbClr val="2E2E2E"/>
                </a:solidFill>
                <a:latin typeface="Calibri"/>
              </a:rPr>
              <a:t>BPS over the same window</a:t>
            </a:r>
          </a:p>
        </p:txBody>
      </p:sp>
      <p:sp>
        <p:nvSpPr>
          <p:cNvPr id="53" name="TextBox 52"/>
          <p:cNvSpPr txBox="1"/>
          <p:nvPr/>
        </p:nvSpPr>
        <p:spPr>
          <a:xfrm>
            <a:off x="7829550" y="1978533"/>
            <a:ext cx="509215"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E44D3A"/>
                </a:solidFill>
                <a:latin typeface="Calibri"/>
              </a:rPr>
              <a:t>red ▼</a:t>
            </a:r>
            <a:r>
              <a:rPr sz="1150" b="0">
                <a:solidFill>
                  <a:srgbClr val="2E2E2E"/>
                </a:solidFill>
                <a:latin typeface="Calibri"/>
              </a:rPr>
              <a:t>).</a:t>
            </a:r>
          </a:p>
        </p:txBody>
      </p:sp>
      <p:sp>
        <p:nvSpPr>
          <p:cNvPr id="54" name="TextBox 53"/>
          <p:cNvSpPr txBox="1"/>
          <p:nvPr/>
        </p:nvSpPr>
        <p:spPr>
          <a:xfrm>
            <a:off x="7829550" y="2206371"/>
            <a:ext cx="3407965" cy="194310"/>
          </a:xfrm>
          <a:prstGeom prst="rect">
            <a:avLst/>
          </a:prstGeom>
          <a:noFill/>
        </p:spPr>
        <p:txBody>
          <a:bodyPr wrap="none" lIns="0" rIns="0" tIns="0" bIns="0">
            <a:spAutoFit/>
          </a:bodyPr>
          <a:lstStyle/>
          <a:p>
            <a:r>
              <a:rPr sz="1150" b="0">
                <a:solidFill>
                  <a:srgbClr val="2E2E2E"/>
                </a:solidFill>
                <a:latin typeface="Calibri"/>
              </a:rPr>
              <a:t>▪ 'Other toppings' is the fastest-growing surface finish at</a:t>
            </a:r>
          </a:p>
        </p:txBody>
      </p:sp>
      <p:pic>
        <p:nvPicPr>
          <p:cNvPr id="55" name="Picture 54" descr="lock.png"/>
          <p:cNvPicPr>
            <a:picLocks noChangeAspect="1"/>
          </p:cNvPicPr>
          <p:nvPr/>
        </p:nvPicPr>
        <p:blipFill>
          <a:blip r:embed="rId5"/>
          <a:stretch>
            <a:fillRect/>
          </a:stretch>
        </p:blipFill>
        <p:spPr>
          <a:xfrm>
            <a:off x="11186669" y="2196147"/>
            <a:ext cx="134549" cy="195707"/>
          </a:xfrm>
          <a:prstGeom prst="rect">
            <a:avLst/>
          </a:prstGeom>
        </p:spPr>
      </p:pic>
      <p:sp>
        <p:nvSpPr>
          <p:cNvPr id="56" name="TextBox 55"/>
          <p:cNvSpPr txBox="1"/>
          <p:nvPr/>
        </p:nvSpPr>
        <p:spPr>
          <a:xfrm>
            <a:off x="11361778"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7" name="TextBox 56"/>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8" name="TextBox 57"/>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9" name="Picture 58" descr="lock.png"/>
          <p:cNvPicPr>
            <a:picLocks noChangeAspect="1"/>
          </p:cNvPicPr>
          <p:nvPr/>
        </p:nvPicPr>
        <p:blipFill>
          <a:blip r:embed="rId5"/>
          <a:stretch>
            <a:fillRect/>
          </a:stretch>
        </p:blipFill>
        <p:spPr>
          <a:xfrm>
            <a:off x="9327669" y="2599245"/>
            <a:ext cx="134549" cy="195707"/>
          </a:xfrm>
          <a:prstGeom prst="rect">
            <a:avLst/>
          </a:prstGeom>
        </p:spPr>
      </p:pic>
      <p:sp>
        <p:nvSpPr>
          <p:cNvPr id="60" name="TextBox 59"/>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61" name="Picture 60" descr="lock.png"/>
          <p:cNvPicPr>
            <a:picLocks noChangeAspect="1"/>
          </p:cNvPicPr>
          <p:nvPr/>
        </p:nvPicPr>
        <p:blipFill>
          <a:blip r:embed="rId5"/>
          <a:stretch>
            <a:fillRect/>
          </a:stretch>
        </p:blipFill>
        <p:spPr>
          <a:xfrm>
            <a:off x="9654215" y="2599245"/>
            <a:ext cx="134549" cy="195707"/>
          </a:xfrm>
          <a:prstGeom prst="rect">
            <a:avLst/>
          </a:prstGeom>
        </p:spPr>
      </p:pic>
      <p:sp>
        <p:nvSpPr>
          <p:cNvPr id="62" name="TextBox 61"/>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63" name="TextBox 62"/>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64" name="TextBox 63"/>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6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pic>
        <p:nvPicPr>
          <p:cNvPr id="174" name="Picture 173" descr="lock.png"/>
          <p:cNvPicPr>
            <a:picLocks noChangeAspect="1"/>
          </p:cNvPicPr>
          <p:nvPr/>
        </p:nvPicPr>
        <p:blipFill>
          <a:blip r:embed="rId4"/>
          <a:stretch>
            <a:fillRect/>
          </a:stretch>
        </p:blipFill>
        <p:spPr>
          <a:xfrm>
            <a:off x="11760938" y="3678301"/>
            <a:ext cx="128699" cy="187198"/>
          </a:xfrm>
          <a:prstGeom prst="rect">
            <a:avLst/>
          </a:prstGeom>
        </p:spPr>
      </p:pic>
      <p:pic>
        <p:nvPicPr>
          <p:cNvPr id="175" name="Picture 174" descr="lock.png"/>
          <p:cNvPicPr>
            <a:picLocks noChangeAspect="1"/>
          </p:cNvPicPr>
          <p:nvPr/>
        </p:nvPicPr>
        <p:blipFill>
          <a:blip r:embed="rId4"/>
          <a:stretch>
            <a:fillRect/>
          </a:stretch>
        </p:blipFill>
        <p:spPr>
          <a:xfrm>
            <a:off x="11760938" y="5059426"/>
            <a:ext cx="128699" cy="187198"/>
          </a:xfrm>
          <a:prstGeom prst="rect">
            <a:avLst/>
          </a:prstGeom>
        </p:spPr>
      </p:pic>
      <p:pic>
        <p:nvPicPr>
          <p:cNvPr id="176" name="Picture 17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Surface Finish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Surface Finish,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Surface Finish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1724028"/>
        </p:xfrm>
        <a:graphic>
          <a:graphicData uri="http://schemas.openxmlformats.org/drawingml/2006/table">
            <a:tbl>
              <a:tblPr>
                <a:tableStyleId>{5C22544A-7EE6-4342-B048-85BDC9FD1C3A}</a:tableStyleId>
              </a:tblPr>
              <a:tblGrid>
                <a:gridCol w="1878323"/>
                <a:gridCol w="667258"/>
                <a:gridCol w="667258"/>
                <a:gridCol w="667258"/>
                <a:gridCol w="667258"/>
                <a:gridCol w="667258"/>
                <a:gridCol w="667258"/>
                <a:gridCol w="667258"/>
                <a:gridCol w="667258"/>
                <a:gridCol w="667258"/>
                <a:gridCol w="667258"/>
                <a:gridCol w="667258"/>
                <a:gridCol w="667258"/>
                <a:gridCol w="667258"/>
                <a:gridCol w="667258"/>
                <a:gridCol w="667258"/>
              </a:tblGrid>
              <a:tr h="246126">
                <a:tc>
                  <a:txBody>
                    <a:bodyPr wrap="none"/>
                    <a:lstStyle/>
                    <a:p>
                      <a:pPr algn="l"/>
                      <a:r>
                        <a:rPr sz="1100" b="1">
                          <a:solidFill>
                            <a:srgbClr val="0B2E4A"/>
                          </a:solidFill>
                          <a:latin typeface="Calibri"/>
                        </a:rPr>
                        <a:t>Surface Finish</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Untopped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Crumb / streusel-topped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Sugar-topped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Nut and seed-topped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Glazed / drizzled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Other toppings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3623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Surface Finish (%)  ·  light = lower, dark = higher growth</a:t>
            </a:r>
          </a:p>
        </p:txBody>
      </p:sp>
      <p:sp>
        <p:nvSpPr>
          <p:cNvPr id="17" name="TextBox 16"/>
          <p:cNvSpPr txBox="1"/>
          <p:nvPr/>
        </p:nvSpPr>
        <p:spPr>
          <a:xfrm>
            <a:off x="18573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5909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7338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Untopped</a:t>
            </a:r>
          </a:p>
        </p:txBody>
      </p:sp>
      <p:sp>
        <p:nvSpPr>
          <p:cNvPr id="33" name="Rectangle 32"/>
          <p:cNvSpPr/>
          <p:nvPr/>
        </p:nvSpPr>
        <p:spPr>
          <a:xfrm>
            <a:off x="1857375" y="3733800"/>
            <a:ext cx="643890" cy="47307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733800"/>
            <a:ext cx="643890" cy="47307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733800"/>
            <a:ext cx="643890" cy="47307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733800"/>
            <a:ext cx="643890" cy="47307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733800"/>
            <a:ext cx="643890" cy="47307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733800"/>
            <a:ext cx="643890" cy="473075"/>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733800"/>
            <a:ext cx="643890" cy="47307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733800"/>
            <a:ext cx="643890" cy="47307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733800"/>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733800"/>
            <a:ext cx="643890" cy="47307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733800"/>
            <a:ext cx="643890" cy="47307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73380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73380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733800"/>
            <a:ext cx="643890" cy="47307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733800"/>
            <a:ext cx="643890" cy="47307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2068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Crumb / streusel-topped</a:t>
            </a:r>
          </a:p>
        </p:txBody>
      </p:sp>
      <p:sp>
        <p:nvSpPr>
          <p:cNvPr id="49" name="Rectangle 48"/>
          <p:cNvSpPr/>
          <p:nvPr/>
        </p:nvSpPr>
        <p:spPr>
          <a:xfrm>
            <a:off x="1857375" y="4206875"/>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206875"/>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206875"/>
            <a:ext cx="643890" cy="47307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206875"/>
            <a:ext cx="643890" cy="47307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206875"/>
            <a:ext cx="643890" cy="47307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206875"/>
            <a:ext cx="643890" cy="473075"/>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206875"/>
            <a:ext cx="643890" cy="473075"/>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206875"/>
            <a:ext cx="643890" cy="47307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206875"/>
            <a:ext cx="643890" cy="47307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206875"/>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206875"/>
            <a:ext cx="643890" cy="473075"/>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206875"/>
            <a:ext cx="643890" cy="47307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206875"/>
            <a:ext cx="643890" cy="47307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206875"/>
            <a:ext cx="643890" cy="47307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206875"/>
            <a:ext cx="643890" cy="47307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67995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Sugar-topped</a:t>
            </a:r>
          </a:p>
        </p:txBody>
      </p:sp>
      <p:sp>
        <p:nvSpPr>
          <p:cNvPr id="65" name="Rectangle 64"/>
          <p:cNvSpPr/>
          <p:nvPr/>
        </p:nvSpPr>
        <p:spPr>
          <a:xfrm>
            <a:off x="1857375" y="4679950"/>
            <a:ext cx="643890" cy="47307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679950"/>
            <a:ext cx="643890" cy="47307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679950"/>
            <a:ext cx="643890" cy="47307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679950"/>
            <a:ext cx="643890" cy="47307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679950"/>
            <a:ext cx="643890" cy="47307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679950"/>
            <a:ext cx="643890" cy="47307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679950"/>
            <a:ext cx="643890" cy="47307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679950"/>
            <a:ext cx="643890" cy="47307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679950"/>
            <a:ext cx="643890" cy="47307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679950"/>
            <a:ext cx="643890" cy="47307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679950"/>
            <a:ext cx="643890" cy="473075"/>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679950"/>
            <a:ext cx="643890" cy="47307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679950"/>
            <a:ext cx="643890" cy="47307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679950"/>
            <a:ext cx="643890" cy="47307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679950"/>
            <a:ext cx="643890" cy="47307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5302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Nut and seed-topped</a:t>
            </a:r>
          </a:p>
        </p:txBody>
      </p:sp>
      <p:sp>
        <p:nvSpPr>
          <p:cNvPr id="81" name="Rectangle 80"/>
          <p:cNvSpPr/>
          <p:nvPr/>
        </p:nvSpPr>
        <p:spPr>
          <a:xfrm>
            <a:off x="1857375" y="515302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5302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5302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53025"/>
            <a:ext cx="643890" cy="473075"/>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53025"/>
            <a:ext cx="643890" cy="473075"/>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5302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5302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5302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53025"/>
            <a:ext cx="643890" cy="47307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53025"/>
            <a:ext cx="643890" cy="473075"/>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5302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53025"/>
            <a:ext cx="643890" cy="47307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53025"/>
            <a:ext cx="643890" cy="47307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53025"/>
            <a:ext cx="643890" cy="47307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53025"/>
            <a:ext cx="643890" cy="473075"/>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626100"/>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Glazed / drizzled</a:t>
            </a:r>
          </a:p>
        </p:txBody>
      </p:sp>
      <p:sp>
        <p:nvSpPr>
          <p:cNvPr id="97" name="Rectangle 96"/>
          <p:cNvSpPr/>
          <p:nvPr/>
        </p:nvSpPr>
        <p:spPr>
          <a:xfrm>
            <a:off x="1857375" y="5626100"/>
            <a:ext cx="643890" cy="473075"/>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626100"/>
            <a:ext cx="643890" cy="47307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626100"/>
            <a:ext cx="643890" cy="473075"/>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626100"/>
            <a:ext cx="643890" cy="473075"/>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626100"/>
            <a:ext cx="643890" cy="47307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626100"/>
            <a:ext cx="643890" cy="473075"/>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626100"/>
            <a:ext cx="643890" cy="47307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626100"/>
            <a:ext cx="643890" cy="47307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626100"/>
            <a:ext cx="643890" cy="47307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626100"/>
            <a:ext cx="643890" cy="473075"/>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626100"/>
            <a:ext cx="643890" cy="473075"/>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6099175"/>
            <a:ext cx="1590675" cy="473075"/>
          </a:xfrm>
          <a:prstGeom prst="rect">
            <a:avLst/>
          </a:prstGeom>
          <a:noFill/>
        </p:spPr>
        <p:txBody>
          <a:bodyPr wrap="square" lIns="28575" rIns="28575" tIns="9525" bIns="9525" anchor="ctr">
            <a:spAutoFit/>
          </a:bodyPr>
          <a:lstStyle/>
          <a:p>
            <a:pPr algn="l"/>
            <a:r>
              <a:rPr sz="1100" b="0">
                <a:solidFill>
                  <a:srgbClr val="2E2E2E"/>
                </a:solidFill>
                <a:latin typeface="Calibri"/>
              </a:rPr>
              <a:t>Other toppings</a:t>
            </a:r>
          </a:p>
        </p:txBody>
      </p:sp>
      <p:sp>
        <p:nvSpPr>
          <p:cNvPr id="113" name="Rectangle 112"/>
          <p:cNvSpPr/>
          <p:nvPr/>
        </p:nvSpPr>
        <p:spPr>
          <a:xfrm>
            <a:off x="1857375" y="6099175"/>
            <a:ext cx="643890" cy="473075"/>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6099175"/>
            <a:ext cx="643890" cy="473075"/>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6099175"/>
            <a:ext cx="643890" cy="473075"/>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6099175"/>
            <a:ext cx="643890" cy="473075"/>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6099175"/>
            <a:ext cx="643890" cy="473075"/>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6099175"/>
            <a:ext cx="643890" cy="47307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6099175"/>
            <a:ext cx="643890" cy="47307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6099175"/>
            <a:ext cx="643890" cy="47307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6099175"/>
            <a:ext cx="643890" cy="47307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6099175"/>
            <a:ext cx="643890" cy="473075"/>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6099175"/>
            <a:ext cx="643890" cy="47307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6099175"/>
            <a:ext cx="643890" cy="47307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6099175"/>
            <a:ext cx="643890" cy="47307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6099175"/>
            <a:ext cx="643890" cy="47307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6099175"/>
            <a:ext cx="643890" cy="47307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3771900"/>
            <a:ext cx="104775" cy="76676"/>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3840956"/>
            <a:ext cx="104775" cy="76676"/>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3910012"/>
            <a:ext cx="104775" cy="76676"/>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3979069"/>
            <a:ext cx="104775" cy="76676"/>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4048125"/>
            <a:ext cx="104775" cy="76676"/>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4117181"/>
            <a:ext cx="104775" cy="76676"/>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4186238"/>
            <a:ext cx="104775" cy="76676"/>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4255294"/>
            <a:ext cx="104775" cy="76676"/>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4324350"/>
            <a:ext cx="104775" cy="76676"/>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1572875" y="4393406"/>
            <a:ext cx="104775" cy="76676"/>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1572875" y="4462462"/>
            <a:ext cx="104775" cy="76676"/>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11572875" y="4531519"/>
            <a:ext cx="104775" cy="76676"/>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11572875" y="4600575"/>
            <a:ext cx="104775" cy="76676"/>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11572875" y="4669631"/>
            <a:ext cx="104775" cy="76676"/>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1572875" y="4738688"/>
            <a:ext cx="104775" cy="76676"/>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1572875" y="4807744"/>
            <a:ext cx="104775" cy="76676"/>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11572875" y="4876800"/>
            <a:ext cx="104775" cy="76676"/>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11572875" y="4945856"/>
            <a:ext cx="104775" cy="76676"/>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11572875" y="5014912"/>
            <a:ext cx="104775" cy="76676"/>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11572875" y="5083969"/>
            <a:ext cx="104775" cy="76676"/>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11572875" y="5153025"/>
            <a:ext cx="104775" cy="76676"/>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1572875" y="5222081"/>
            <a:ext cx="104775" cy="76676"/>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11572875" y="5291138"/>
            <a:ext cx="104775" cy="76676"/>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11572875" y="5360194"/>
            <a:ext cx="104775" cy="76676"/>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1572875" y="5429250"/>
            <a:ext cx="104775" cy="76676"/>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1572875" y="5498306"/>
            <a:ext cx="104775" cy="76676"/>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1572875" y="5567362"/>
            <a:ext cx="104775" cy="76676"/>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11572875" y="5636419"/>
            <a:ext cx="104775" cy="76676"/>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11572875" y="5705475"/>
            <a:ext cx="104775" cy="76676"/>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11572875" y="5774531"/>
            <a:ext cx="104775" cy="76676"/>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1572875" y="5843588"/>
            <a:ext cx="104775" cy="76676"/>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1572875" y="5912644"/>
            <a:ext cx="104775" cy="76676"/>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5981700"/>
            <a:ext cx="104775" cy="76676"/>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6050756"/>
            <a:ext cx="104775" cy="76676"/>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6119812"/>
            <a:ext cx="104775" cy="76676"/>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6188869"/>
            <a:ext cx="104775" cy="76676"/>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6257925"/>
            <a:ext cx="104775" cy="76676"/>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6326981"/>
            <a:ext cx="104775" cy="76676"/>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6396038"/>
            <a:ext cx="104775" cy="76676"/>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6465094"/>
            <a:ext cx="104775" cy="76676"/>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3771900"/>
            <a:ext cx="104775" cy="27622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11687175" y="37052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70" name="TextBox 169"/>
          <p:cNvSpPr txBox="1"/>
          <p:nvPr/>
        </p:nvSpPr>
        <p:spPr>
          <a:xfrm>
            <a:off x="11687175" y="50863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71" name="TextBox 17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72" name="TextBox 17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3" name="Picture 172" descr="lock.png"/>
          <p:cNvPicPr>
            <a:picLocks noChangeAspect="1"/>
          </p:cNvPicPr>
          <p:nvPr/>
        </p:nvPicPr>
        <p:blipFill>
          <a:blip r:embed="rId4"/>
          <a:stretch>
            <a:fillRect/>
          </a:stretch>
        </p:blipFill>
        <p:spPr>
          <a:xfrm>
            <a:off x="6848467" y="1956627"/>
            <a:ext cx="366712" cy="533400"/>
          </a:xfrm>
          <a:prstGeom prst="rect">
            <a:avLst/>
          </a:prstGeom>
        </p:spPr>
      </p:pic>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Individual Muffin Size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Individual Muffin Size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Individual Muffin Size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Individual Muffin Size,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Individual Muffin Size segment categorizes the market by individual muffin size.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- 60 g to below 100 g</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Small - 30 g to below 60 g</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Large / jumbo - 100 g and above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Mini / bite-sized - below 30 g</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Individual Muffin Size split shows how demand is distributed across individual muffin size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641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7_55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105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_14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9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_504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4_79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7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49_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25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'Standard - 60 g to below 100 g' holds the largest</a:t>
            </a:r>
          </a:p>
        </p:txBody>
      </p:sp>
      <p:sp>
        <p:nvSpPr>
          <p:cNvPr id="81" name="TextBox 80"/>
          <p:cNvSpPr txBox="1"/>
          <p:nvPr/>
        </p:nvSpPr>
        <p:spPr>
          <a:xfrm>
            <a:off x="485775" y="4397077"/>
            <a:ext cx="842094" cy="186689"/>
          </a:xfrm>
          <a:prstGeom prst="rect">
            <a:avLst/>
          </a:prstGeom>
          <a:noFill/>
        </p:spPr>
        <p:txBody>
          <a:bodyPr wrap="none" lIns="0" rIns="0" tIns="0" bIns="0">
            <a:spAutoFit/>
          </a:bodyPr>
          <a:lstStyle/>
          <a:p>
            <a:r>
              <a:rPr sz="1100" b="0">
                <a:solidFill>
                  <a:srgbClr val="2E2E2E"/>
                </a:solidFill>
                <a:latin typeface="Calibri"/>
              </a:rPr>
              <a:t>share in 2026</a:t>
            </a:r>
          </a:p>
        </p:txBody>
      </p:sp>
      <p:pic>
        <p:nvPicPr>
          <p:cNvPr id="82" name="Picture 81" descr="lock.png"/>
          <p:cNvPicPr>
            <a:picLocks noChangeAspect="1"/>
          </p:cNvPicPr>
          <p:nvPr/>
        </p:nvPicPr>
        <p:blipFill>
          <a:blip r:embed="rId16"/>
          <a:stretch>
            <a:fillRect/>
          </a:stretch>
        </p:blipFill>
        <p:spPr>
          <a:xfrm>
            <a:off x="1275920" y="4387298"/>
            <a:ext cx="128699" cy="187198"/>
          </a:xfrm>
          <a:prstGeom prst="rect">
            <a:avLst/>
          </a:prstGeom>
        </p:spPr>
      </p:pic>
      <p:sp>
        <p:nvSpPr>
          <p:cNvPr id="83" name="TextBox 82"/>
          <p:cNvSpPr txBox="1"/>
          <p:nvPr/>
        </p:nvSpPr>
        <p:spPr>
          <a:xfrm>
            <a:off x="1443416"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209080" cy="186689"/>
          </a:xfrm>
          <a:prstGeom prst="rect">
            <a:avLst/>
          </a:prstGeom>
          <a:noFill/>
        </p:spPr>
        <p:txBody>
          <a:bodyPr wrap="none" lIns="0" rIns="0" tIns="0" bIns="0">
            <a:spAutoFit/>
          </a:bodyPr>
          <a:lstStyle/>
          <a:p>
            <a:r>
              <a:rPr sz="1100" b="0">
                <a:solidFill>
                  <a:srgbClr val="2E2E2E"/>
                </a:solidFill>
                <a:latin typeface="Calibri"/>
              </a:rPr>
              <a:t>▪ 'Mini / bite-sized - below 30 g'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84524" cy="186689"/>
          </a:xfrm>
          <a:prstGeom prst="rect">
            <a:avLst/>
          </a:prstGeom>
          <a:noFill/>
        </p:spPr>
        <p:txBody>
          <a:bodyPr wrap="none" lIns="0" rIns="0" tIns="0" bIns="0">
            <a:spAutoFit/>
          </a:bodyPr>
          <a:lstStyle/>
          <a:p>
            <a:r>
              <a:rPr sz="1100" b="0">
                <a:solidFill>
                  <a:srgbClr val="2E2E2E"/>
                </a:solidFill>
                <a:latin typeface="Calibri"/>
              </a:rPr>
              <a:t>▪ 4 sub-segments make up the individual muffin</a:t>
            </a:r>
          </a:p>
        </p:txBody>
      </p:sp>
      <p:sp>
        <p:nvSpPr>
          <p:cNvPr id="96" name="TextBox 95"/>
          <p:cNvSpPr txBox="1"/>
          <p:nvPr/>
        </p:nvSpPr>
        <p:spPr>
          <a:xfrm>
            <a:off x="485775" y="5721433"/>
            <a:ext cx="923949" cy="186689"/>
          </a:xfrm>
          <a:prstGeom prst="rect">
            <a:avLst/>
          </a:prstGeom>
          <a:noFill/>
        </p:spPr>
        <p:txBody>
          <a:bodyPr wrap="none" lIns="0" rIns="0" tIns="0" bIns="0">
            <a:spAutoFit/>
          </a:bodyPr>
          <a:lstStyle/>
          <a:p>
            <a:r>
              <a:rPr sz="1100" b="0">
                <a:solidFill>
                  <a:srgbClr val="2E2E2E"/>
                </a:solidFill>
                <a:latin typeface="Calibri"/>
              </a:rPr>
              <a:t>size landscape.</a:t>
            </a:r>
          </a:p>
        </p:txBody>
      </p:sp>
      <p:sp>
        <p:nvSpPr>
          <p:cNvPr id="97" name="TextBox 96"/>
          <p:cNvSpPr txBox="1"/>
          <p:nvPr/>
        </p:nvSpPr>
        <p:spPr>
          <a:xfrm>
            <a:off x="3838575" y="4229437"/>
            <a:ext cx="1963241" cy="186689"/>
          </a:xfrm>
          <a:prstGeom prst="rect">
            <a:avLst/>
          </a:prstGeom>
          <a:noFill/>
        </p:spPr>
        <p:txBody>
          <a:bodyPr wrap="none" lIns="0" rIns="0" tIns="0" bIns="0">
            <a:spAutoFit/>
          </a:bodyPr>
          <a:lstStyle/>
          <a:p>
            <a:r>
              <a:rPr sz="1100" b="0">
                <a:solidFill>
                  <a:srgbClr val="2E2E2E"/>
                </a:solidFill>
                <a:latin typeface="Calibri"/>
              </a:rPr>
              <a:t>● Standard - 60 g to below 100 g:</a:t>
            </a:r>
          </a:p>
        </p:txBody>
      </p:sp>
      <p:pic>
        <p:nvPicPr>
          <p:cNvPr id="98" name="Picture 97" descr="lock.png"/>
          <p:cNvPicPr>
            <a:picLocks noChangeAspect="1"/>
          </p:cNvPicPr>
          <p:nvPr/>
        </p:nvPicPr>
        <p:blipFill>
          <a:blip r:embed="rId16"/>
          <a:stretch>
            <a:fillRect/>
          </a:stretch>
        </p:blipFill>
        <p:spPr>
          <a:xfrm>
            <a:off x="5749868" y="4219658"/>
            <a:ext cx="128699" cy="187198"/>
          </a:xfrm>
          <a:prstGeom prst="rect">
            <a:avLst/>
          </a:prstGeom>
        </p:spPr>
      </p:pic>
      <p:sp>
        <p:nvSpPr>
          <p:cNvPr id="99" name="TextBox 98"/>
          <p:cNvSpPr txBox="1"/>
          <p:nvPr/>
        </p:nvSpPr>
        <p:spPr>
          <a:xfrm>
            <a:off x="591736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776814" y="4219658"/>
            <a:ext cx="128699" cy="187198"/>
          </a:xfrm>
          <a:prstGeom prst="rect">
            <a:avLst/>
          </a:prstGeom>
        </p:spPr>
      </p:pic>
      <p:sp>
        <p:nvSpPr>
          <p:cNvPr id="101" name="TextBox 100"/>
          <p:cNvSpPr txBox="1"/>
          <p:nvPr/>
        </p:nvSpPr>
        <p:spPr>
          <a:xfrm>
            <a:off x="6944309" y="4229437"/>
            <a:ext cx="723659" cy="186689"/>
          </a:xfrm>
          <a:prstGeom prst="rect">
            <a:avLst/>
          </a:prstGeom>
          <a:noFill/>
        </p:spPr>
        <p:txBody>
          <a:bodyPr wrap="none" lIns="0" rIns="0" tIns="0" bIns="0">
            <a:spAutoFit/>
          </a:bodyPr>
          <a:lstStyle/>
          <a:p>
            <a:r>
              <a:rPr sz="1100" b="0">
                <a:solidFill>
                  <a:srgbClr val="2E2E2E"/>
                </a:solidFill>
                <a:latin typeface="Calibri"/>
              </a:rPr>
              <a:t>CAGR leads</a:t>
            </a:r>
          </a:p>
        </p:txBody>
      </p:sp>
      <p:sp>
        <p:nvSpPr>
          <p:cNvPr id="102" name="TextBox 101"/>
          <p:cNvSpPr txBox="1"/>
          <p:nvPr/>
        </p:nvSpPr>
        <p:spPr>
          <a:xfrm>
            <a:off x="3838575" y="4397077"/>
            <a:ext cx="824358" cy="186689"/>
          </a:xfrm>
          <a:prstGeom prst="rect">
            <a:avLst/>
          </a:prstGeom>
          <a:noFill/>
        </p:spPr>
        <p:txBody>
          <a:bodyPr wrap="none" lIns="0" rIns="0" tIns="0" bIns="0">
            <a:spAutoFit/>
          </a:bodyPr>
          <a:lstStyle/>
          <a:p>
            <a:r>
              <a:rPr sz="1100" b="0">
                <a:solidFill>
                  <a:srgbClr val="2E2E2E"/>
                </a:solidFill>
                <a:latin typeface="Calibri"/>
              </a:rPr>
              <a:t>the segment.</a:t>
            </a:r>
          </a:p>
        </p:txBody>
      </p:sp>
      <p:sp>
        <p:nvSpPr>
          <p:cNvPr id="103" name="TextBox 102"/>
          <p:cNvSpPr txBox="1"/>
          <p:nvPr/>
        </p:nvSpPr>
        <p:spPr>
          <a:xfrm>
            <a:off x="3838575" y="4615009"/>
            <a:ext cx="1685478" cy="186689"/>
          </a:xfrm>
          <a:prstGeom prst="rect">
            <a:avLst/>
          </a:prstGeom>
          <a:noFill/>
        </p:spPr>
        <p:txBody>
          <a:bodyPr wrap="none" lIns="0" rIns="0" tIns="0" bIns="0">
            <a:spAutoFit/>
          </a:bodyPr>
          <a:lstStyle/>
          <a:p>
            <a:r>
              <a:rPr sz="1100" b="0">
                <a:solidFill>
                  <a:srgbClr val="2E2E2E"/>
                </a:solidFill>
                <a:latin typeface="Calibri"/>
              </a:rPr>
              <a:t>● Small - 30 g to below 60 g:</a:t>
            </a:r>
          </a:p>
        </p:txBody>
      </p:sp>
      <p:pic>
        <p:nvPicPr>
          <p:cNvPr id="104" name="Picture 103" descr="lock.png"/>
          <p:cNvPicPr>
            <a:picLocks noChangeAspect="1"/>
          </p:cNvPicPr>
          <p:nvPr/>
        </p:nvPicPr>
        <p:blipFill>
          <a:blip r:embed="rId16"/>
          <a:stretch>
            <a:fillRect/>
          </a:stretch>
        </p:blipFill>
        <p:spPr>
          <a:xfrm>
            <a:off x="5472105" y="4605230"/>
            <a:ext cx="128699" cy="187198"/>
          </a:xfrm>
          <a:prstGeom prst="rect">
            <a:avLst/>
          </a:prstGeom>
        </p:spPr>
      </p:pic>
      <p:sp>
        <p:nvSpPr>
          <p:cNvPr id="105" name="TextBox 104"/>
          <p:cNvSpPr txBox="1"/>
          <p:nvPr/>
        </p:nvSpPr>
        <p:spPr>
          <a:xfrm>
            <a:off x="563960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6499051" y="4605230"/>
            <a:ext cx="128699" cy="187198"/>
          </a:xfrm>
          <a:prstGeom prst="rect">
            <a:avLst/>
          </a:prstGeom>
        </p:spPr>
      </p:pic>
      <p:sp>
        <p:nvSpPr>
          <p:cNvPr id="107" name="TextBox 106"/>
          <p:cNvSpPr txBox="1"/>
          <p:nvPr/>
        </p:nvSpPr>
        <p:spPr>
          <a:xfrm>
            <a:off x="6666546" y="461500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8" name="TextBox 107"/>
          <p:cNvSpPr txBox="1"/>
          <p:nvPr/>
        </p:nvSpPr>
        <p:spPr>
          <a:xfrm>
            <a:off x="3838575" y="478264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9" name="TextBox 108"/>
          <p:cNvSpPr txBox="1"/>
          <p:nvPr/>
        </p:nvSpPr>
        <p:spPr>
          <a:xfrm>
            <a:off x="3838575" y="5000581"/>
            <a:ext cx="2062013" cy="186689"/>
          </a:xfrm>
          <a:prstGeom prst="rect">
            <a:avLst/>
          </a:prstGeom>
          <a:noFill/>
        </p:spPr>
        <p:txBody>
          <a:bodyPr wrap="none" lIns="0" rIns="0" tIns="0" bIns="0">
            <a:spAutoFit/>
          </a:bodyPr>
          <a:lstStyle/>
          <a:p>
            <a:r>
              <a:rPr sz="1100" b="0">
                <a:solidFill>
                  <a:srgbClr val="2E2E2E"/>
                </a:solidFill>
                <a:latin typeface="Calibri"/>
              </a:rPr>
              <a:t>● Large / jumbo - 100 g and above:</a:t>
            </a:r>
          </a:p>
        </p:txBody>
      </p:sp>
      <p:pic>
        <p:nvPicPr>
          <p:cNvPr id="110" name="Picture 109" descr="lock.png"/>
          <p:cNvPicPr>
            <a:picLocks noChangeAspect="1"/>
          </p:cNvPicPr>
          <p:nvPr/>
        </p:nvPicPr>
        <p:blipFill>
          <a:blip r:embed="rId16"/>
          <a:stretch>
            <a:fillRect/>
          </a:stretch>
        </p:blipFill>
        <p:spPr>
          <a:xfrm>
            <a:off x="5848640" y="4990801"/>
            <a:ext cx="128699" cy="187198"/>
          </a:xfrm>
          <a:prstGeom prst="rect">
            <a:avLst/>
          </a:prstGeom>
        </p:spPr>
      </p:pic>
      <p:sp>
        <p:nvSpPr>
          <p:cNvPr id="111" name="TextBox 110"/>
          <p:cNvSpPr txBox="1"/>
          <p:nvPr/>
        </p:nvSpPr>
        <p:spPr>
          <a:xfrm>
            <a:off x="6016136"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875586" y="4990801"/>
            <a:ext cx="128699" cy="187198"/>
          </a:xfrm>
          <a:prstGeom prst="rect">
            <a:avLst/>
          </a:prstGeom>
        </p:spPr>
      </p:pic>
      <p:sp>
        <p:nvSpPr>
          <p:cNvPr id="113" name="TextBox 112"/>
          <p:cNvSpPr txBox="1"/>
          <p:nvPr/>
        </p:nvSpPr>
        <p:spPr>
          <a:xfrm>
            <a:off x="7043082" y="5000581"/>
            <a:ext cx="787234" cy="186689"/>
          </a:xfrm>
          <a:prstGeom prst="rect">
            <a:avLst/>
          </a:prstGeom>
          <a:noFill/>
        </p:spPr>
        <p:txBody>
          <a:bodyPr wrap="none" lIns="0" rIns="0" tIns="0" bIns="0">
            <a:spAutoFit/>
          </a:bodyPr>
          <a:lstStyle/>
          <a:p>
            <a:r>
              <a:rPr sz="1100" b="0">
                <a:solidFill>
                  <a:srgbClr val="2E2E2E"/>
                </a:solidFill>
                <a:latin typeface="Calibri"/>
              </a:rPr>
              <a:t>CAGR serves</a:t>
            </a:r>
          </a:p>
        </p:txBody>
      </p:sp>
      <p:sp>
        <p:nvSpPr>
          <p:cNvPr id="114" name="TextBox 113"/>
          <p:cNvSpPr txBox="1"/>
          <p:nvPr/>
        </p:nvSpPr>
        <p:spPr>
          <a:xfrm>
            <a:off x="3838575" y="5168221"/>
            <a:ext cx="517673" cy="186689"/>
          </a:xfrm>
          <a:prstGeom prst="rect">
            <a:avLst/>
          </a:prstGeom>
          <a:noFill/>
        </p:spPr>
        <p:txBody>
          <a:bodyPr wrap="none" lIns="0" rIns="0" tIns="0" bIns="0">
            <a:spAutoFit/>
          </a:bodyPr>
          <a:lstStyle/>
          <a:p>
            <a:r>
              <a:rPr sz="1100" b="0">
                <a:solidFill>
                  <a:srgbClr val="2E2E2E"/>
                </a:solidFill>
                <a:latin typeface="Calibri"/>
              </a:rPr>
              <a:t>a niche.</a:t>
            </a:r>
          </a:p>
        </p:txBody>
      </p:sp>
      <p:sp>
        <p:nvSpPr>
          <p:cNvPr id="115" name="TextBox 114"/>
          <p:cNvSpPr txBox="1"/>
          <p:nvPr/>
        </p:nvSpPr>
        <p:spPr>
          <a:xfrm>
            <a:off x="3838575" y="5386153"/>
            <a:ext cx="1879748" cy="186689"/>
          </a:xfrm>
          <a:prstGeom prst="rect">
            <a:avLst/>
          </a:prstGeom>
          <a:noFill/>
        </p:spPr>
        <p:txBody>
          <a:bodyPr wrap="none" lIns="0" rIns="0" tIns="0" bIns="0">
            <a:spAutoFit/>
          </a:bodyPr>
          <a:lstStyle/>
          <a:p>
            <a:r>
              <a:rPr sz="1100" b="0">
                <a:solidFill>
                  <a:srgbClr val="2E2E2E"/>
                </a:solidFill>
                <a:latin typeface="Calibri"/>
              </a:rPr>
              <a:t>● Mini / bite-sized - below 30 g:</a:t>
            </a:r>
          </a:p>
        </p:txBody>
      </p:sp>
      <p:pic>
        <p:nvPicPr>
          <p:cNvPr id="116" name="Picture 115" descr="lock.png"/>
          <p:cNvPicPr>
            <a:picLocks noChangeAspect="1"/>
          </p:cNvPicPr>
          <p:nvPr/>
        </p:nvPicPr>
        <p:blipFill>
          <a:blip r:embed="rId16"/>
          <a:stretch>
            <a:fillRect/>
          </a:stretch>
        </p:blipFill>
        <p:spPr>
          <a:xfrm>
            <a:off x="5666375" y="5376373"/>
            <a:ext cx="128699" cy="187198"/>
          </a:xfrm>
          <a:prstGeom prst="rect">
            <a:avLst/>
          </a:prstGeom>
        </p:spPr>
      </p:pic>
      <p:sp>
        <p:nvSpPr>
          <p:cNvPr id="117" name="TextBox 116"/>
          <p:cNvSpPr txBox="1"/>
          <p:nvPr/>
        </p:nvSpPr>
        <p:spPr>
          <a:xfrm>
            <a:off x="5833871"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8" name="Picture 117" descr="lock.png"/>
          <p:cNvPicPr>
            <a:picLocks noChangeAspect="1"/>
          </p:cNvPicPr>
          <p:nvPr/>
        </p:nvPicPr>
        <p:blipFill>
          <a:blip r:embed="rId16"/>
          <a:stretch>
            <a:fillRect/>
          </a:stretch>
        </p:blipFill>
        <p:spPr>
          <a:xfrm>
            <a:off x="6693321" y="5376373"/>
            <a:ext cx="128699" cy="187198"/>
          </a:xfrm>
          <a:prstGeom prst="rect">
            <a:avLst/>
          </a:prstGeom>
        </p:spPr>
      </p:pic>
      <p:sp>
        <p:nvSpPr>
          <p:cNvPr id="119" name="TextBox 118"/>
          <p:cNvSpPr txBox="1"/>
          <p:nvPr/>
        </p:nvSpPr>
        <p:spPr>
          <a:xfrm>
            <a:off x="6860817" y="538615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20" name="TextBox 119"/>
          <p:cNvSpPr txBox="1"/>
          <p:nvPr/>
        </p:nvSpPr>
        <p:spPr>
          <a:xfrm>
            <a:off x="3838575" y="555379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21" name="TextBox 120"/>
          <p:cNvSpPr txBox="1"/>
          <p:nvPr/>
        </p:nvSpPr>
        <p:spPr>
          <a:xfrm>
            <a:off x="8524875" y="5842641"/>
            <a:ext cx="3113868" cy="194310"/>
          </a:xfrm>
          <a:prstGeom prst="rect">
            <a:avLst/>
          </a:prstGeom>
          <a:noFill/>
        </p:spPr>
        <p:txBody>
          <a:bodyPr wrap="none" lIns="0" rIns="0" tIns="0" bIns="0">
            <a:spAutoFit/>
          </a:bodyPr>
          <a:lstStyle/>
          <a:p>
            <a:r>
              <a:rPr sz="1150" b="1">
                <a:solidFill>
                  <a:srgbClr val="0B2E4A"/>
                </a:solidFill>
                <a:latin typeface="Calibri"/>
              </a:rPr>
              <a:t>The Individual Muffin Size segment is projected to</a:t>
            </a:r>
          </a:p>
        </p:txBody>
      </p:sp>
      <p:sp>
        <p:nvSpPr>
          <p:cNvPr id="122" name="TextBox 121"/>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23" name="Picture 122" descr="lock.png"/>
          <p:cNvPicPr>
            <a:picLocks noChangeAspect="1"/>
          </p:cNvPicPr>
          <p:nvPr/>
        </p:nvPicPr>
        <p:blipFill>
          <a:blip r:embed="rId16"/>
          <a:stretch>
            <a:fillRect/>
          </a:stretch>
        </p:blipFill>
        <p:spPr>
          <a:xfrm>
            <a:off x="9651852" y="6007677"/>
            <a:ext cx="134549" cy="195707"/>
          </a:xfrm>
          <a:prstGeom prst="rect">
            <a:avLst/>
          </a:prstGeom>
        </p:spPr>
      </p:pic>
      <p:sp>
        <p:nvSpPr>
          <p:cNvPr id="124" name="TextBox 123"/>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Individual Muffin Size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Individual Muffin Size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Individual Muffin Size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Individual Muffin Size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966792" cy="186689"/>
          </a:xfrm>
          <a:prstGeom prst="rect">
            <a:avLst/>
          </a:prstGeom>
          <a:noFill/>
        </p:spPr>
        <p:txBody>
          <a:bodyPr wrap="none" lIns="0" rIns="0" tIns="0" bIns="0">
            <a:spAutoFit/>
          </a:bodyPr>
          <a:lstStyle/>
          <a:p>
            <a:r>
              <a:rPr sz="1100" b="0">
                <a:solidFill>
                  <a:srgbClr val="2E2E2E"/>
                </a:solidFill>
                <a:latin typeface="Calibri"/>
              </a:rPr>
              <a:t>Between 2026 and 2036, 'Large / jumbo - 100 g and above' gains the most share in the Global market (+</a:t>
            </a:r>
          </a:p>
        </p:txBody>
      </p:sp>
      <p:pic>
        <p:nvPicPr>
          <p:cNvPr id="21" name="Picture 20" descr="lock.png"/>
          <p:cNvPicPr>
            <a:picLocks noChangeAspect="1"/>
          </p:cNvPicPr>
          <p:nvPr/>
        </p:nvPicPr>
        <p:blipFill>
          <a:blip r:embed="rId6"/>
          <a:stretch>
            <a:fillRect/>
          </a:stretch>
        </p:blipFill>
        <p:spPr>
          <a:xfrm>
            <a:off x="6172018" y="5851905"/>
            <a:ext cx="128699" cy="187198"/>
          </a:xfrm>
          <a:prstGeom prst="rect">
            <a:avLst/>
          </a:prstGeom>
        </p:spPr>
      </p:pic>
      <p:sp>
        <p:nvSpPr>
          <p:cNvPr id="22" name="TextBox 21"/>
          <p:cNvSpPr txBox="1"/>
          <p:nvPr/>
        </p:nvSpPr>
        <p:spPr>
          <a:xfrm>
            <a:off x="6339514" y="5861685"/>
            <a:ext cx="2577157" cy="186689"/>
          </a:xfrm>
          <a:prstGeom prst="rect">
            <a:avLst/>
          </a:prstGeom>
          <a:noFill/>
        </p:spPr>
        <p:txBody>
          <a:bodyPr wrap="none" lIns="0" rIns="0" tIns="0" bIns="0">
            <a:spAutoFit/>
          </a:bodyPr>
          <a:lstStyle/>
          <a:p>
            <a:r>
              <a:rPr sz="1100" b="0">
                <a:solidFill>
                  <a:srgbClr val="2E2E2E"/>
                </a:solidFill>
                <a:latin typeface="Calibri"/>
              </a:rPr>
              <a:t>BPS) while 'Small - 30 g to below 60 g' cedes</a:t>
            </a:r>
          </a:p>
        </p:txBody>
      </p:sp>
      <p:pic>
        <p:nvPicPr>
          <p:cNvPr id="23" name="Picture 22" descr="lock.png"/>
          <p:cNvPicPr>
            <a:picLocks noChangeAspect="1"/>
          </p:cNvPicPr>
          <p:nvPr/>
        </p:nvPicPr>
        <p:blipFill>
          <a:blip r:embed="rId6"/>
          <a:stretch>
            <a:fillRect/>
          </a:stretch>
        </p:blipFill>
        <p:spPr>
          <a:xfrm>
            <a:off x="8864723" y="5851905"/>
            <a:ext cx="128699" cy="187198"/>
          </a:xfrm>
          <a:prstGeom prst="rect">
            <a:avLst/>
          </a:prstGeom>
        </p:spPr>
      </p:pic>
      <p:sp>
        <p:nvSpPr>
          <p:cNvPr id="24" name="TextBox 23"/>
          <p:cNvSpPr txBox="1"/>
          <p:nvPr/>
        </p:nvSpPr>
        <p:spPr>
          <a:xfrm>
            <a:off x="9032219" y="5861685"/>
            <a:ext cx="2741124"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a:t>
            </a:r>
          </a:p>
        </p:txBody>
      </p:sp>
      <p:sp>
        <p:nvSpPr>
          <p:cNvPr id="25" name="TextBox 24"/>
          <p:cNvSpPr txBox="1"/>
          <p:nvPr/>
        </p:nvSpPr>
        <p:spPr>
          <a:xfrm>
            <a:off x="257175" y="602932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Individual Muffin Size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Mini / bite-sized - below 30 g</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Small - 30 g to below 60 g</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- 60 g to below 100 g</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Large / jumbo - 100 g and above</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Individual Muffin Size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14650"/>
          </a:xfrm>
          <a:prstGeom prst="roundRect">
            <a:avLst>
              <a:gd name="adj" fmla="val 261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Individual Muffin Size (MT)</a:t>
            </a:r>
          </a:p>
        </p:txBody>
      </p:sp>
      <p:graphicFrame>
        <p:nvGraphicFramePr>
          <p:cNvPr id="13" name="Table 12"/>
          <p:cNvGraphicFramePr>
            <a:graphicFrameLocks noGrp="1"/>
          </p:cNvGraphicFramePr>
          <p:nvPr/>
        </p:nvGraphicFramePr>
        <p:xfrm>
          <a:off x="152400" y="1238250"/>
          <a:ext cx="11887208" cy="2447926"/>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Individual Muffin</a:t>
                      </a:r>
                      <a:endParaRPr sz="1100"/>
                    </a:p>
                    <a:p>
                      <a:pPr algn="l"/>
                      <a:r>
                        <a:rPr sz="1100" b="1">
                          <a:solidFill>
                            <a:srgbClr val="0B2E4A"/>
                          </a:solidFill>
                          <a:latin typeface="Calibri"/>
                        </a:rPr>
                        <a:t>Size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0360">
                <a:tc>
                  <a:txBody>
                    <a:bodyPr wrap="none"/>
                    <a:lstStyle/>
                    <a:p>
                      <a:pPr algn="l"/>
                      <a:r>
                        <a:rPr sz="1100" b="1">
                          <a:solidFill>
                            <a:srgbClr val="2E2E2E"/>
                          </a:solidFill>
                          <a:latin typeface="Calibri"/>
                        </a:rPr>
                        <a:t>Mini / bite-sized -</a:t>
                      </a:r>
                      <a:endParaRPr sz="1100"/>
                    </a:p>
                    <a:p>
                      <a:pPr algn="l"/>
                      <a:r>
                        <a:rPr sz="1100" b="1">
                          <a:solidFill>
                            <a:srgbClr val="2E2E2E"/>
                          </a:solidFill>
                          <a:latin typeface="Calibri"/>
                        </a:rPr>
                        <a:t>below 30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360">
                <a:tc>
                  <a:txBody>
                    <a:bodyPr wrap="none"/>
                    <a:lstStyle/>
                    <a:p>
                      <a:pPr algn="l"/>
                      <a:r>
                        <a:rPr sz="1100" b="1">
                          <a:solidFill>
                            <a:srgbClr val="2E2E2E"/>
                          </a:solidFill>
                          <a:latin typeface="Calibri"/>
                        </a:rPr>
                        <a:t>Small - 30 g to</a:t>
                      </a:r>
                      <a:endParaRPr sz="1100"/>
                    </a:p>
                    <a:p>
                      <a:pPr algn="l"/>
                      <a:r>
                        <a:rPr sz="1100" b="1">
                          <a:solidFill>
                            <a:srgbClr val="2E2E2E"/>
                          </a:solidFill>
                          <a:latin typeface="Calibri"/>
                        </a:rPr>
                        <a:t>below 60 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360">
                <a:tc>
                  <a:txBody>
                    <a:bodyPr wrap="none"/>
                    <a:lstStyle/>
                    <a:p>
                      <a:pPr algn="l"/>
                      <a:r>
                        <a:rPr sz="1100" b="1">
                          <a:solidFill>
                            <a:srgbClr val="2E2E2E"/>
                          </a:solidFill>
                          <a:latin typeface="Calibri"/>
                        </a:rPr>
                        <a:t>Standard - 60 g to</a:t>
                      </a:r>
                      <a:endParaRPr sz="1100"/>
                    </a:p>
                    <a:p>
                      <a:pPr algn="l"/>
                      <a:r>
                        <a:rPr sz="1100" b="1">
                          <a:solidFill>
                            <a:srgbClr val="2E2E2E"/>
                          </a:solidFill>
                          <a:latin typeface="Calibri"/>
                        </a:rPr>
                        <a:t>below 100 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360">
                <a:tc>
                  <a:txBody>
                    <a:bodyPr wrap="none"/>
                    <a:lstStyle/>
                    <a:p>
                      <a:pPr algn="l"/>
                      <a:r>
                        <a:rPr sz="1100" b="1">
                          <a:solidFill>
                            <a:srgbClr val="2E2E2E"/>
                          </a:solidFill>
                          <a:latin typeface="Calibri"/>
                        </a:rPr>
                        <a:t>Large / jumbo - 100</a:t>
                      </a:r>
                      <a:endParaRPr sz="1100"/>
                    </a:p>
                    <a:p>
                      <a:pPr algn="l"/>
                      <a:r>
                        <a:rPr sz="1100" b="1">
                          <a:solidFill>
                            <a:srgbClr val="2E2E2E"/>
                          </a:solidFill>
                          <a:latin typeface="Calibri"/>
                        </a:rPr>
                        <a:t>g and above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57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695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29075"/>
            <a:ext cx="11906250" cy="2600325"/>
          </a:xfrm>
          <a:prstGeom prst="roundRect">
            <a:avLst>
              <a:gd name="adj" fmla="val 29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148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Individual Muffin Size</a:t>
            </a:r>
          </a:p>
        </p:txBody>
      </p:sp>
      <p:sp>
        <p:nvSpPr>
          <p:cNvPr id="17" name="Rectangle 16"/>
          <p:cNvSpPr/>
          <p:nvPr/>
        </p:nvSpPr>
        <p:spPr>
          <a:xfrm>
            <a:off x="276225" y="4352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38650"/>
            <a:ext cx="11639550" cy="2114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14969"/>
            <a:ext cx="366712" cy="533400"/>
          </a:xfrm>
          <a:prstGeom prst="rect">
            <a:avLst/>
          </a:prstGeom>
        </p:spPr>
      </p:pic>
      <p:sp>
        <p:nvSpPr>
          <p:cNvPr id="21" name="TextBox 20"/>
          <p:cNvSpPr txBox="1"/>
          <p:nvPr/>
        </p:nvSpPr>
        <p:spPr>
          <a:xfrm>
            <a:off x="276225" y="4448175"/>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4437951"/>
            <a:ext cx="134549" cy="195707"/>
          </a:xfrm>
          <a:prstGeom prst="rect">
            <a:avLst/>
          </a:prstGeom>
        </p:spPr>
      </p:pic>
      <p:sp>
        <p:nvSpPr>
          <p:cNvPr id="23" name="TextBox 22"/>
          <p:cNvSpPr txBox="1"/>
          <p:nvPr/>
        </p:nvSpPr>
        <p:spPr>
          <a:xfrm>
            <a:off x="4671632" y="44481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5701365" y="4437951"/>
            <a:ext cx="134549" cy="195707"/>
          </a:xfrm>
          <a:prstGeom prst="rect">
            <a:avLst/>
          </a:prstGeom>
        </p:spPr>
      </p:pic>
      <p:sp>
        <p:nvSpPr>
          <p:cNvPr id="25" name="TextBox 24"/>
          <p:cNvSpPr txBox="1"/>
          <p:nvPr/>
        </p:nvSpPr>
        <p:spPr>
          <a:xfrm>
            <a:off x="5876474" y="44481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676013"/>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4665789"/>
            <a:ext cx="134549" cy="195707"/>
          </a:xfrm>
          <a:prstGeom prst="rect">
            <a:avLst/>
          </a:prstGeom>
        </p:spPr>
      </p:pic>
      <p:sp>
        <p:nvSpPr>
          <p:cNvPr id="28" name="TextBox 27"/>
          <p:cNvSpPr txBox="1"/>
          <p:nvPr/>
        </p:nvSpPr>
        <p:spPr>
          <a:xfrm>
            <a:off x="3174904" y="46760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903850"/>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4893627"/>
            <a:ext cx="134549" cy="195707"/>
          </a:xfrm>
          <a:prstGeom prst="rect">
            <a:avLst/>
          </a:prstGeom>
        </p:spPr>
      </p:pic>
      <p:sp>
        <p:nvSpPr>
          <p:cNvPr id="31" name="TextBox 30"/>
          <p:cNvSpPr txBox="1"/>
          <p:nvPr/>
        </p:nvSpPr>
        <p:spPr>
          <a:xfrm>
            <a:off x="3874632" y="4903850"/>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4893627"/>
            <a:ext cx="134549" cy="195707"/>
          </a:xfrm>
          <a:prstGeom prst="rect">
            <a:avLst/>
          </a:prstGeom>
        </p:spPr>
      </p:pic>
      <p:sp>
        <p:nvSpPr>
          <p:cNvPr id="33" name="TextBox 32"/>
          <p:cNvSpPr txBox="1"/>
          <p:nvPr/>
        </p:nvSpPr>
        <p:spPr>
          <a:xfrm>
            <a:off x="7005509" y="49038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51316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5121465"/>
            <a:ext cx="134549" cy="195707"/>
          </a:xfrm>
          <a:prstGeom prst="rect">
            <a:avLst/>
          </a:prstGeom>
        </p:spPr>
      </p:pic>
      <p:sp>
        <p:nvSpPr>
          <p:cNvPr id="36" name="TextBox 35"/>
          <p:cNvSpPr txBox="1"/>
          <p:nvPr/>
        </p:nvSpPr>
        <p:spPr>
          <a:xfrm>
            <a:off x="1965143" y="51316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5121465"/>
            <a:ext cx="134549" cy="195707"/>
          </a:xfrm>
          <a:prstGeom prst="rect">
            <a:avLst/>
          </a:prstGeom>
        </p:spPr>
      </p:pic>
      <p:sp>
        <p:nvSpPr>
          <p:cNvPr id="38" name="TextBox 37"/>
          <p:cNvSpPr txBox="1"/>
          <p:nvPr/>
        </p:nvSpPr>
        <p:spPr>
          <a:xfrm>
            <a:off x="2291688" y="5131688"/>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Individual Muffin Size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Individual Muffin Size,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Individual Muffin Size (US$ Mn)</a:t>
            </a:r>
          </a:p>
        </p:txBody>
      </p:sp>
      <p:graphicFrame>
        <p:nvGraphicFramePr>
          <p:cNvPr id="13" name="Table 12"/>
          <p:cNvGraphicFramePr>
            <a:graphicFrameLocks noGrp="1"/>
          </p:cNvGraphicFramePr>
          <p:nvPr/>
        </p:nvGraphicFramePr>
        <p:xfrm>
          <a:off x="152400" y="1238250"/>
          <a:ext cx="11887200" cy="1485896"/>
        </p:xfrm>
        <a:graphic>
          <a:graphicData uri="http://schemas.openxmlformats.org/drawingml/2006/table">
            <a:tbl>
              <a:tblPr>
                <a:tableStyleId>{5C22544A-7EE6-4342-B048-85BDC9FD1C3A}</a:tableStyleId>
              </a:tblPr>
              <a:tblGrid>
                <a:gridCol w="2115600"/>
                <a:gridCol w="574800"/>
                <a:gridCol w="574800"/>
                <a:gridCol w="574800"/>
                <a:gridCol w="574800"/>
                <a:gridCol w="574800"/>
                <a:gridCol w="574800"/>
                <a:gridCol w="574800"/>
                <a:gridCol w="574800"/>
                <a:gridCol w="574800"/>
                <a:gridCol w="574800"/>
                <a:gridCol w="574800"/>
                <a:gridCol w="574800"/>
                <a:gridCol w="574800"/>
                <a:gridCol w="574800"/>
                <a:gridCol w="574800"/>
                <a:gridCol w="574800"/>
                <a:gridCol w="574800"/>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Individual Muffin Size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67110" y="1837563"/>
            <a:ext cx="366712" cy="533400"/>
          </a:xfrm>
          <a:prstGeom prst="rect">
            <a:avLst/>
          </a:prstGeom>
        </p:spPr>
      </p:pic>
      <p:sp>
        <p:nvSpPr>
          <p:cNvPr id="21" name="TextBox 20"/>
          <p:cNvSpPr txBox="1"/>
          <p:nvPr/>
        </p:nvSpPr>
        <p:spPr>
          <a:xfrm>
            <a:off x="276225" y="3486150"/>
            <a:ext cx="4271143" cy="194310"/>
          </a:xfrm>
          <a:prstGeom prst="rect">
            <a:avLst/>
          </a:prstGeom>
          <a:noFill/>
        </p:spPr>
        <p:txBody>
          <a:bodyPr wrap="none" lIns="0" rIns="0" tIns="0" bIns="0">
            <a:spAutoFit/>
          </a:bodyPr>
          <a:lstStyle/>
          <a:p>
            <a:r>
              <a:rPr sz="1150" b="0">
                <a:solidFill>
                  <a:srgbClr val="2E2E2E"/>
                </a:solidFill>
                <a:latin typeface="Calibri"/>
              </a:rPr>
              <a:t>▪ 'Standard - 60 g to below 100 g' is the largest individual muffin size at</a:t>
            </a:r>
          </a:p>
        </p:txBody>
      </p:sp>
      <p:pic>
        <p:nvPicPr>
          <p:cNvPr id="22" name="Picture 21" descr="lock.png"/>
          <p:cNvPicPr>
            <a:picLocks noChangeAspect="1"/>
          </p:cNvPicPr>
          <p:nvPr/>
        </p:nvPicPr>
        <p:blipFill>
          <a:blip r:embed="rId4"/>
          <a:stretch>
            <a:fillRect/>
          </a:stretch>
        </p:blipFill>
        <p:spPr>
          <a:xfrm>
            <a:off x="4496522" y="3475926"/>
            <a:ext cx="134549" cy="195707"/>
          </a:xfrm>
          <a:prstGeom prst="rect">
            <a:avLst/>
          </a:prstGeom>
        </p:spPr>
      </p:pic>
      <p:sp>
        <p:nvSpPr>
          <p:cNvPr id="23" name="TextBox 22"/>
          <p:cNvSpPr txBox="1"/>
          <p:nvPr/>
        </p:nvSpPr>
        <p:spPr>
          <a:xfrm>
            <a:off x="4671632"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5577564" y="3475926"/>
            <a:ext cx="134549" cy="195707"/>
          </a:xfrm>
          <a:prstGeom prst="rect">
            <a:avLst/>
          </a:prstGeom>
        </p:spPr>
      </p:pic>
      <p:sp>
        <p:nvSpPr>
          <p:cNvPr id="25" name="TextBox 24"/>
          <p:cNvSpPr txBox="1"/>
          <p:nvPr/>
        </p:nvSpPr>
        <p:spPr>
          <a:xfrm>
            <a:off x="5752674"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774416" cy="194310"/>
          </a:xfrm>
          <a:prstGeom prst="rect">
            <a:avLst/>
          </a:prstGeom>
          <a:noFill/>
        </p:spPr>
        <p:txBody>
          <a:bodyPr wrap="none" lIns="0" rIns="0" tIns="0" bIns="0">
            <a:spAutoFit/>
          </a:bodyPr>
          <a:lstStyle/>
          <a:p>
            <a:r>
              <a:rPr sz="1150" b="0">
                <a:solidFill>
                  <a:srgbClr val="2E2E2E"/>
                </a:solidFill>
                <a:latin typeface="Calibri"/>
              </a:rPr>
              <a:t>▪ 'Mini / bite-sized - below 30 g' grows fastest</a:t>
            </a:r>
          </a:p>
        </p:txBody>
      </p:sp>
      <p:pic>
        <p:nvPicPr>
          <p:cNvPr id="27" name="Picture 26" descr="lock.png"/>
          <p:cNvPicPr>
            <a:picLocks noChangeAspect="1"/>
          </p:cNvPicPr>
          <p:nvPr/>
        </p:nvPicPr>
        <p:blipFill>
          <a:blip r:embed="rId4"/>
          <a:stretch>
            <a:fillRect/>
          </a:stretch>
        </p:blipFill>
        <p:spPr>
          <a:xfrm>
            <a:off x="2999795" y="3703764"/>
            <a:ext cx="134549" cy="195707"/>
          </a:xfrm>
          <a:prstGeom prst="rect">
            <a:avLst/>
          </a:prstGeom>
        </p:spPr>
      </p:pic>
      <p:sp>
        <p:nvSpPr>
          <p:cNvPr id="28" name="TextBox 27"/>
          <p:cNvSpPr txBox="1"/>
          <p:nvPr/>
        </p:nvSpPr>
        <p:spPr>
          <a:xfrm>
            <a:off x="3174904"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474144" cy="194310"/>
          </a:xfrm>
          <a:prstGeom prst="rect">
            <a:avLst/>
          </a:prstGeom>
          <a:noFill/>
        </p:spPr>
        <p:txBody>
          <a:bodyPr wrap="none" lIns="0" rIns="0" tIns="0" bIns="0">
            <a:spAutoFit/>
          </a:bodyPr>
          <a:lstStyle/>
          <a:p>
            <a:r>
              <a:rPr sz="1150" b="0">
                <a:solidFill>
                  <a:srgbClr val="2E2E2E"/>
                </a:solidFill>
                <a:latin typeface="Calibri"/>
              </a:rPr>
              <a:t>▪ Share shifts toward 'Large / jumbo - 100 g and above' (+</a:t>
            </a:r>
          </a:p>
        </p:txBody>
      </p:sp>
      <p:pic>
        <p:nvPicPr>
          <p:cNvPr id="30" name="Picture 29" descr="lock.png"/>
          <p:cNvPicPr>
            <a:picLocks noChangeAspect="1"/>
          </p:cNvPicPr>
          <p:nvPr/>
        </p:nvPicPr>
        <p:blipFill>
          <a:blip r:embed="rId4"/>
          <a:stretch>
            <a:fillRect/>
          </a:stretch>
        </p:blipFill>
        <p:spPr>
          <a:xfrm>
            <a:off x="3699523" y="3931602"/>
            <a:ext cx="134549" cy="195707"/>
          </a:xfrm>
          <a:prstGeom prst="rect">
            <a:avLst/>
          </a:prstGeom>
        </p:spPr>
      </p:pic>
      <p:sp>
        <p:nvSpPr>
          <p:cNvPr id="31" name="TextBox 30"/>
          <p:cNvSpPr txBox="1"/>
          <p:nvPr/>
        </p:nvSpPr>
        <p:spPr>
          <a:xfrm>
            <a:off x="3874632" y="3941825"/>
            <a:ext cx="3006613" cy="194310"/>
          </a:xfrm>
          <a:prstGeom prst="rect">
            <a:avLst/>
          </a:prstGeom>
          <a:noFill/>
        </p:spPr>
        <p:txBody>
          <a:bodyPr wrap="none" lIns="0" rIns="0" tIns="0" bIns="0">
            <a:spAutoFit/>
          </a:bodyPr>
          <a:lstStyle/>
          <a:p>
            <a:r>
              <a:rPr sz="1150" b="0">
                <a:solidFill>
                  <a:srgbClr val="2E2E2E"/>
                </a:solidFill>
                <a:latin typeface="Calibri"/>
              </a:rPr>
              <a:t>BPS) and away from 'Small - 30 g to below 60 g' (-</a:t>
            </a:r>
          </a:p>
        </p:txBody>
      </p:sp>
      <p:pic>
        <p:nvPicPr>
          <p:cNvPr id="32" name="Picture 31" descr="lock.png"/>
          <p:cNvPicPr>
            <a:picLocks noChangeAspect="1"/>
          </p:cNvPicPr>
          <p:nvPr/>
        </p:nvPicPr>
        <p:blipFill>
          <a:blip r:embed="rId4"/>
          <a:stretch>
            <a:fillRect/>
          </a:stretch>
        </p:blipFill>
        <p:spPr>
          <a:xfrm>
            <a:off x="6830400" y="3931602"/>
            <a:ext cx="134549" cy="195707"/>
          </a:xfrm>
          <a:prstGeom prst="rect">
            <a:avLst/>
          </a:prstGeom>
        </p:spPr>
      </p:pic>
      <p:sp>
        <p:nvSpPr>
          <p:cNvPr id="33" name="TextBox 32"/>
          <p:cNvSpPr txBox="1"/>
          <p:nvPr/>
        </p:nvSpPr>
        <p:spPr>
          <a:xfrm>
            <a:off x="7005509"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Individual Muffin Size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Individual Muffin Size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Individual Muffin Size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2628"/>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278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516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Mini / bite-sized - below 30 g</a:t>
            </a:r>
          </a:p>
        </p:txBody>
      </p:sp>
      <p:sp>
        <p:nvSpPr>
          <p:cNvPr id="19" name="BPS Value 1"/>
          <p:cNvSpPr txBox="1"/>
          <p:nvPr/>
        </p:nvSpPr>
        <p:spPr>
          <a:xfrm>
            <a:off x="6896100" y="181357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52815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2339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471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Small - 30 g to below 60 g</a:t>
            </a:r>
          </a:p>
        </p:txBody>
      </p:sp>
      <p:sp>
        <p:nvSpPr>
          <p:cNvPr id="23" name="BPS Value 2"/>
          <p:cNvSpPr txBox="1"/>
          <p:nvPr/>
        </p:nvSpPr>
        <p:spPr>
          <a:xfrm>
            <a:off x="6896100" y="25091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6799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6752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5990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Large / jumbo - 100 g and above</a:t>
            </a:r>
          </a:p>
        </p:txBody>
      </p:sp>
      <p:sp>
        <p:nvSpPr>
          <p:cNvPr id="27" name="BPS Value 3"/>
          <p:cNvSpPr txBox="1"/>
          <p:nvPr/>
        </p:nvSpPr>
        <p:spPr>
          <a:xfrm>
            <a:off x="6896100" y="366092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27063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2658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896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- 60 g to below 100 g</a:t>
            </a:r>
          </a:p>
        </p:txBody>
      </p:sp>
      <p:sp>
        <p:nvSpPr>
          <p:cNvPr id="31" name="BPS Value 4"/>
          <p:cNvSpPr txBox="1"/>
          <p:nvPr/>
        </p:nvSpPr>
        <p:spPr>
          <a:xfrm>
            <a:off x="6896100" y="52515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Individual Muffin Size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511227" cy="194310"/>
          </a:xfrm>
          <a:prstGeom prst="rect">
            <a:avLst/>
          </a:prstGeom>
          <a:noFill/>
        </p:spPr>
        <p:txBody>
          <a:bodyPr wrap="none" lIns="0" rIns="0" tIns="0" bIns="0">
            <a:spAutoFit/>
          </a:bodyPr>
          <a:lstStyle/>
          <a:p>
            <a:r>
              <a:rPr sz="1150" b="0">
                <a:solidFill>
                  <a:srgbClr val="2E2E2E"/>
                </a:solidFill>
                <a:latin typeface="Calibri"/>
              </a:rPr>
              <a:t>▪ 'Large / jumbo - 100 g and above' gains the most share +</a:t>
            </a:r>
          </a:p>
        </p:txBody>
      </p:sp>
      <p:pic>
        <p:nvPicPr>
          <p:cNvPr id="39" name="Picture 38" descr="lock.png"/>
          <p:cNvPicPr>
            <a:picLocks noChangeAspect="1"/>
          </p:cNvPicPr>
          <p:nvPr/>
        </p:nvPicPr>
        <p:blipFill>
          <a:blip r:embed="rId5"/>
          <a:stretch>
            <a:fillRect/>
          </a:stretch>
        </p:blipFill>
        <p:spPr>
          <a:xfrm>
            <a:off x="11289931" y="1389951"/>
            <a:ext cx="134549" cy="195707"/>
          </a:xfrm>
          <a:prstGeom prst="rect">
            <a:avLst/>
          </a:prstGeom>
        </p:spPr>
      </p:pic>
      <p:sp>
        <p:nvSpPr>
          <p:cNvPr id="40" name="TextBox 39"/>
          <p:cNvSpPr txBox="1"/>
          <p:nvPr/>
        </p:nvSpPr>
        <p:spPr>
          <a:xfrm>
            <a:off x="11465040"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41" name="TextBox 40"/>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764147" cy="194310"/>
          </a:xfrm>
          <a:prstGeom prst="rect">
            <a:avLst/>
          </a:prstGeom>
          <a:noFill/>
        </p:spPr>
        <p:txBody>
          <a:bodyPr wrap="none" lIns="0" rIns="0" tIns="0" bIns="0">
            <a:spAutoFit/>
          </a:bodyPr>
          <a:lstStyle/>
          <a:p>
            <a:r>
              <a:rPr sz="1150" b="0">
                <a:solidFill>
                  <a:srgbClr val="2E2E2E"/>
                </a:solidFill>
                <a:latin typeface="Calibri"/>
              </a:rPr>
              <a:t>▪ 'Small - 30 g to below 60 g' cedes the most -</a:t>
            </a:r>
          </a:p>
        </p:txBody>
      </p:sp>
      <p:pic>
        <p:nvPicPr>
          <p:cNvPr id="43" name="Picture 42" descr="lock.png"/>
          <p:cNvPicPr>
            <a:picLocks noChangeAspect="1"/>
          </p:cNvPicPr>
          <p:nvPr/>
        </p:nvPicPr>
        <p:blipFill>
          <a:blip r:embed="rId5"/>
          <a:stretch>
            <a:fillRect/>
          </a:stretch>
        </p:blipFill>
        <p:spPr>
          <a:xfrm>
            <a:off x="10542851" y="1793049"/>
            <a:ext cx="134549" cy="195707"/>
          </a:xfrm>
          <a:prstGeom prst="rect">
            <a:avLst/>
          </a:prstGeom>
        </p:spPr>
      </p:pic>
      <p:sp>
        <p:nvSpPr>
          <p:cNvPr id="44" name="TextBox 43"/>
          <p:cNvSpPr txBox="1"/>
          <p:nvPr/>
        </p:nvSpPr>
        <p:spPr>
          <a:xfrm>
            <a:off x="10717960" y="1803273"/>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45" name="TextBox 44"/>
          <p:cNvSpPr txBox="1"/>
          <p:nvPr/>
        </p:nvSpPr>
        <p:spPr>
          <a:xfrm>
            <a:off x="7829550" y="1978533"/>
            <a:ext cx="1364691" cy="194310"/>
          </a:xfrm>
          <a:prstGeom prst="rect">
            <a:avLst/>
          </a:prstGeom>
          <a:noFill/>
        </p:spPr>
        <p:txBody>
          <a:bodyPr wrap="none" lIns="0" rIns="0" tIns="0" bIns="0">
            <a:spAutoFit/>
          </a:bodyPr>
          <a:lstStyle/>
          <a:p>
            <a:r>
              <a:rPr sz="1150" b="0">
                <a:solidFill>
                  <a:srgbClr val="2E2E2E"/>
                </a:solidFill>
                <a:latin typeface="Calibri"/>
              </a:rPr>
              <a:t>same 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3874070" cy="194310"/>
          </a:xfrm>
          <a:prstGeom prst="rect">
            <a:avLst/>
          </a:prstGeom>
          <a:noFill/>
        </p:spPr>
        <p:txBody>
          <a:bodyPr wrap="none" lIns="0" rIns="0" tIns="0" bIns="0">
            <a:spAutoFit/>
          </a:bodyPr>
          <a:lstStyle/>
          <a:p>
            <a:r>
              <a:rPr sz="1150" b="0">
                <a:solidFill>
                  <a:srgbClr val="2E2E2E"/>
                </a:solidFill>
                <a:latin typeface="Calibri"/>
              </a:rPr>
              <a:t>▪ 'Mini / bite-sized - below 30 g' is the fastest-growing individual</a:t>
            </a:r>
          </a:p>
        </p:txBody>
      </p:sp>
      <p:sp>
        <p:nvSpPr>
          <p:cNvPr id="47" name="TextBox 46"/>
          <p:cNvSpPr txBox="1"/>
          <p:nvPr/>
        </p:nvSpPr>
        <p:spPr>
          <a:xfrm>
            <a:off x="7829550" y="2381631"/>
            <a:ext cx="875196" cy="194310"/>
          </a:xfrm>
          <a:prstGeom prst="rect">
            <a:avLst/>
          </a:prstGeom>
          <a:noFill/>
        </p:spPr>
        <p:txBody>
          <a:bodyPr wrap="none" lIns="0" rIns="0" tIns="0" bIns="0">
            <a:spAutoFit/>
          </a:bodyPr>
          <a:lstStyle/>
          <a:p>
            <a:r>
              <a:rPr sz="1150" b="0">
                <a:solidFill>
                  <a:srgbClr val="2E2E2E"/>
                </a:solidFill>
                <a:latin typeface="Calibri"/>
              </a:rPr>
              <a:t>muffin size at</a:t>
            </a:r>
          </a:p>
        </p:txBody>
      </p:sp>
      <p:pic>
        <p:nvPicPr>
          <p:cNvPr id="48" name="Picture 47" descr="lock.png"/>
          <p:cNvPicPr>
            <a:picLocks noChangeAspect="1"/>
          </p:cNvPicPr>
          <p:nvPr/>
        </p:nvPicPr>
        <p:blipFill>
          <a:blip r:embed="rId5"/>
          <a:stretch>
            <a:fillRect/>
          </a:stretch>
        </p:blipFill>
        <p:spPr>
          <a:xfrm>
            <a:off x="8653900" y="2371407"/>
            <a:ext cx="134549" cy="195707"/>
          </a:xfrm>
          <a:prstGeom prst="rect">
            <a:avLst/>
          </a:prstGeom>
        </p:spPr>
      </p:pic>
      <p:sp>
        <p:nvSpPr>
          <p:cNvPr id="49" name="TextBox 48"/>
          <p:cNvSpPr txBox="1"/>
          <p:nvPr/>
        </p:nvSpPr>
        <p:spPr>
          <a:xfrm>
            <a:off x="882900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Individual Muffin Size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Individual Muffin Size,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Individual Muffin Size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303190"/>
                <a:gridCol w="638934"/>
                <a:gridCol w="638934"/>
                <a:gridCol w="638934"/>
                <a:gridCol w="638934"/>
                <a:gridCol w="638934"/>
                <a:gridCol w="638934"/>
                <a:gridCol w="638934"/>
                <a:gridCol w="638934"/>
                <a:gridCol w="638934"/>
                <a:gridCol w="638934"/>
                <a:gridCol w="638934"/>
                <a:gridCol w="638934"/>
                <a:gridCol w="638934"/>
                <a:gridCol w="638934"/>
                <a:gridCol w="638934"/>
              </a:tblGrid>
              <a:tr h="246126">
                <a:tc>
                  <a:txBody>
                    <a:bodyPr wrap="none"/>
                    <a:lstStyle/>
                    <a:p>
                      <a:pPr algn="l"/>
                      <a:r>
                        <a:rPr sz="1100" b="1">
                          <a:solidFill>
                            <a:srgbClr val="0B2E4A"/>
                          </a:solidFill>
                          <a:latin typeface="Calibri"/>
                        </a:rPr>
                        <a:t>Individual Muffin Size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Mini / bite-sized - below 30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Small - 30 g to below 60 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Standard - 60 g to below 100 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Large / jumbo - 100 g and above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Individual Muffin Size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Mini / bite-sized - below 30 g</a:t>
            </a:r>
          </a:p>
        </p:txBody>
      </p:sp>
      <p:sp>
        <p:nvSpPr>
          <p:cNvPr id="33" name="Rectangle 32"/>
          <p:cNvSpPr/>
          <p:nvPr/>
        </p:nvSpPr>
        <p:spPr>
          <a:xfrm>
            <a:off x="185737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Small - 30 g to below 60 g</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Standard - 60 g to below 100 g</a:t>
            </a:r>
          </a:p>
        </p:txBody>
      </p:sp>
      <p:sp>
        <p:nvSpPr>
          <p:cNvPr id="65" name="Rectangle 64"/>
          <p:cNvSpPr/>
          <p:nvPr/>
        </p:nvSpPr>
        <p:spPr>
          <a:xfrm>
            <a:off x="1857375" y="4910138"/>
            <a:ext cx="643890" cy="831056"/>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Large / jumbo - 100 g and above</a:t>
            </a:r>
          </a:p>
        </p:txBody>
      </p:sp>
      <p:sp>
        <p:nvSpPr>
          <p:cNvPr id="81" name="Rectangle 80"/>
          <p:cNvSpPr/>
          <p:nvPr/>
        </p:nvSpPr>
        <p:spPr>
          <a:xfrm>
            <a:off x="185737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06090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Storage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Storage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Storage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Storage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Storage Format segment categorizes the market by storage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Frozen</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Chilled</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Ambient</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Storage Format split shows how demand is distributed across storage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162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8_984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3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401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_24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6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336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51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6_5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77975" cy="186689"/>
          </a:xfrm>
          <a:prstGeom prst="rect">
            <a:avLst/>
          </a:prstGeom>
          <a:noFill/>
        </p:spPr>
        <p:txBody>
          <a:bodyPr wrap="none" lIns="0" rIns="0" tIns="0" bIns="0">
            <a:spAutoFit/>
          </a:bodyPr>
          <a:lstStyle/>
          <a:p>
            <a:r>
              <a:rPr sz="1100" b="0">
                <a:solidFill>
                  <a:srgbClr val="2E2E2E"/>
                </a:solidFill>
                <a:latin typeface="Calibri"/>
              </a:rPr>
              <a:t>▪ 'Frozen' holds the largest share in 2026</a:t>
            </a:r>
          </a:p>
        </p:txBody>
      </p:sp>
      <p:pic>
        <p:nvPicPr>
          <p:cNvPr id="70" name="Picture 69" descr="lock.png"/>
          <p:cNvPicPr>
            <a:picLocks noChangeAspect="1"/>
          </p:cNvPicPr>
          <p:nvPr/>
        </p:nvPicPr>
        <p:blipFill>
          <a:blip r:embed="rId13"/>
          <a:stretch>
            <a:fillRect/>
          </a:stretch>
        </p:blipFill>
        <p:spPr>
          <a:xfrm>
            <a:off x="2811802" y="4219658"/>
            <a:ext cx="128699" cy="187198"/>
          </a:xfrm>
          <a:prstGeom prst="rect">
            <a:avLst/>
          </a:prstGeom>
        </p:spPr>
      </p:pic>
      <p:sp>
        <p:nvSpPr>
          <p:cNvPr id="71" name="TextBox 70"/>
          <p:cNvSpPr txBox="1"/>
          <p:nvPr/>
        </p:nvSpPr>
        <p:spPr>
          <a:xfrm>
            <a:off x="2979298"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875384" cy="186689"/>
          </a:xfrm>
          <a:prstGeom prst="rect">
            <a:avLst/>
          </a:prstGeom>
          <a:noFill/>
        </p:spPr>
        <p:txBody>
          <a:bodyPr wrap="none" lIns="0" rIns="0" tIns="0" bIns="0">
            <a:spAutoFit/>
          </a:bodyPr>
          <a:lstStyle/>
          <a:p>
            <a:r>
              <a:rPr sz="1100" b="0">
                <a:solidFill>
                  <a:srgbClr val="2E2E2E"/>
                </a:solidFill>
                <a:latin typeface="Calibri"/>
              </a:rPr>
              <a:t>▪ 'Ambient' is the fastest-growing sub-segment at</a:t>
            </a:r>
          </a:p>
        </p:txBody>
      </p:sp>
      <p:pic>
        <p:nvPicPr>
          <p:cNvPr id="74" name="Picture 73" descr="lock.png"/>
          <p:cNvPicPr>
            <a:picLocks noChangeAspect="1"/>
          </p:cNvPicPr>
          <p:nvPr/>
        </p:nvPicPr>
        <p:blipFill>
          <a:blip r:embed="rId13"/>
          <a:stretch>
            <a:fillRect/>
          </a:stretch>
        </p:blipFill>
        <p:spPr>
          <a:xfrm>
            <a:off x="472307" y="4772870"/>
            <a:ext cx="128699" cy="187198"/>
          </a:xfrm>
          <a:prstGeom prst="rect">
            <a:avLst/>
          </a:prstGeom>
        </p:spPr>
      </p:pic>
      <p:sp>
        <p:nvSpPr>
          <p:cNvPr id="75" name="TextBox 74"/>
          <p:cNvSpPr txBox="1"/>
          <p:nvPr/>
        </p:nvSpPr>
        <p:spPr>
          <a:xfrm>
            <a:off x="639803"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673201" cy="186689"/>
          </a:xfrm>
          <a:prstGeom prst="rect">
            <a:avLst/>
          </a:prstGeom>
          <a:noFill/>
        </p:spPr>
        <p:txBody>
          <a:bodyPr wrap="none" lIns="0" rIns="0" tIns="0" bIns="0">
            <a:spAutoFit/>
          </a:bodyPr>
          <a:lstStyle/>
          <a:p>
            <a:r>
              <a:rPr sz="1100" b="0">
                <a:solidFill>
                  <a:srgbClr val="2E2E2E"/>
                </a:solidFill>
                <a:latin typeface="Calibri"/>
              </a:rPr>
              <a:t>▪ 3 sub-segments make up the storage format</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614263" cy="186689"/>
          </a:xfrm>
          <a:prstGeom prst="rect">
            <a:avLst/>
          </a:prstGeom>
          <a:noFill/>
        </p:spPr>
        <p:txBody>
          <a:bodyPr wrap="none" lIns="0" rIns="0" tIns="0" bIns="0">
            <a:spAutoFit/>
          </a:bodyPr>
          <a:lstStyle/>
          <a:p>
            <a:r>
              <a:rPr sz="1100" b="0">
                <a:solidFill>
                  <a:srgbClr val="2E2E2E"/>
                </a:solidFill>
                <a:latin typeface="Calibri"/>
              </a:rPr>
              <a:t>● Frozen:</a:t>
            </a:r>
          </a:p>
        </p:txBody>
      </p:sp>
      <p:pic>
        <p:nvPicPr>
          <p:cNvPr id="85" name="Picture 84" descr="lock.png"/>
          <p:cNvPicPr>
            <a:picLocks noChangeAspect="1"/>
          </p:cNvPicPr>
          <p:nvPr/>
        </p:nvPicPr>
        <p:blipFill>
          <a:blip r:embed="rId13"/>
          <a:stretch>
            <a:fillRect/>
          </a:stretch>
        </p:blipFill>
        <p:spPr>
          <a:xfrm>
            <a:off x="4400889" y="4219658"/>
            <a:ext cx="128699" cy="187198"/>
          </a:xfrm>
          <a:prstGeom prst="rect">
            <a:avLst/>
          </a:prstGeom>
        </p:spPr>
      </p:pic>
      <p:sp>
        <p:nvSpPr>
          <p:cNvPr id="86" name="TextBox 85"/>
          <p:cNvSpPr txBox="1"/>
          <p:nvPr/>
        </p:nvSpPr>
        <p:spPr>
          <a:xfrm>
            <a:off x="456838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427835" y="4219658"/>
            <a:ext cx="128699" cy="187198"/>
          </a:xfrm>
          <a:prstGeom prst="rect">
            <a:avLst/>
          </a:prstGeom>
        </p:spPr>
      </p:pic>
      <p:sp>
        <p:nvSpPr>
          <p:cNvPr id="88" name="TextBox 87"/>
          <p:cNvSpPr txBox="1"/>
          <p:nvPr/>
        </p:nvSpPr>
        <p:spPr>
          <a:xfrm>
            <a:off x="5595331"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616991" cy="186689"/>
          </a:xfrm>
          <a:prstGeom prst="rect">
            <a:avLst/>
          </a:prstGeom>
          <a:noFill/>
        </p:spPr>
        <p:txBody>
          <a:bodyPr wrap="none" lIns="0" rIns="0" tIns="0" bIns="0">
            <a:spAutoFit/>
          </a:bodyPr>
          <a:lstStyle/>
          <a:p>
            <a:r>
              <a:rPr sz="1100" b="0">
                <a:solidFill>
                  <a:srgbClr val="2E2E2E"/>
                </a:solidFill>
                <a:latin typeface="Calibri"/>
              </a:rPr>
              <a:t>● Chilled:</a:t>
            </a:r>
          </a:p>
        </p:txBody>
      </p:sp>
      <p:pic>
        <p:nvPicPr>
          <p:cNvPr id="90" name="Picture 89" descr="lock.png"/>
          <p:cNvPicPr>
            <a:picLocks noChangeAspect="1"/>
          </p:cNvPicPr>
          <p:nvPr/>
        </p:nvPicPr>
        <p:blipFill>
          <a:blip r:embed="rId13"/>
          <a:stretch>
            <a:fillRect/>
          </a:stretch>
        </p:blipFill>
        <p:spPr>
          <a:xfrm>
            <a:off x="4403618" y="4437590"/>
            <a:ext cx="128699" cy="187198"/>
          </a:xfrm>
          <a:prstGeom prst="rect">
            <a:avLst/>
          </a:prstGeom>
        </p:spPr>
      </p:pic>
      <p:sp>
        <p:nvSpPr>
          <p:cNvPr id="91" name="TextBox 90"/>
          <p:cNvSpPr txBox="1"/>
          <p:nvPr/>
        </p:nvSpPr>
        <p:spPr>
          <a:xfrm>
            <a:off x="4571114"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5430564" y="4437590"/>
            <a:ext cx="128699" cy="187198"/>
          </a:xfrm>
          <a:prstGeom prst="rect">
            <a:avLst/>
          </a:prstGeom>
        </p:spPr>
      </p:pic>
      <p:sp>
        <p:nvSpPr>
          <p:cNvPr id="93" name="TextBox 92"/>
          <p:cNvSpPr txBox="1"/>
          <p:nvPr/>
        </p:nvSpPr>
        <p:spPr>
          <a:xfrm>
            <a:off x="5598060"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717401" cy="186689"/>
          </a:xfrm>
          <a:prstGeom prst="rect">
            <a:avLst/>
          </a:prstGeom>
          <a:noFill/>
        </p:spPr>
        <p:txBody>
          <a:bodyPr wrap="none" lIns="0" rIns="0" tIns="0" bIns="0">
            <a:spAutoFit/>
          </a:bodyPr>
          <a:lstStyle/>
          <a:p>
            <a:r>
              <a:rPr sz="1100" b="0">
                <a:solidFill>
                  <a:srgbClr val="2E2E2E"/>
                </a:solidFill>
                <a:latin typeface="Calibri"/>
              </a:rPr>
              <a:t>● Ambient:</a:t>
            </a:r>
          </a:p>
        </p:txBody>
      </p:sp>
      <p:pic>
        <p:nvPicPr>
          <p:cNvPr id="95" name="Picture 94" descr="lock.png"/>
          <p:cNvPicPr>
            <a:picLocks noChangeAspect="1"/>
          </p:cNvPicPr>
          <p:nvPr/>
        </p:nvPicPr>
        <p:blipFill>
          <a:blip r:embed="rId13"/>
          <a:stretch>
            <a:fillRect/>
          </a:stretch>
        </p:blipFill>
        <p:spPr>
          <a:xfrm>
            <a:off x="4504027" y="4655522"/>
            <a:ext cx="128699" cy="187198"/>
          </a:xfrm>
          <a:prstGeom prst="rect">
            <a:avLst/>
          </a:prstGeom>
        </p:spPr>
      </p:pic>
      <p:sp>
        <p:nvSpPr>
          <p:cNvPr id="96" name="TextBox 95"/>
          <p:cNvSpPr txBox="1"/>
          <p:nvPr/>
        </p:nvSpPr>
        <p:spPr>
          <a:xfrm>
            <a:off x="46715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5530973" y="4655522"/>
            <a:ext cx="128699" cy="187198"/>
          </a:xfrm>
          <a:prstGeom prst="rect">
            <a:avLst/>
          </a:prstGeom>
        </p:spPr>
      </p:pic>
      <p:sp>
        <p:nvSpPr>
          <p:cNvPr id="98" name="TextBox 97"/>
          <p:cNvSpPr txBox="1"/>
          <p:nvPr/>
        </p:nvSpPr>
        <p:spPr>
          <a:xfrm>
            <a:off x="5698469"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9" name="TextBox 9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Storage Format segment is projected to grow at</a:t>
            </a:r>
          </a:p>
        </p:txBody>
      </p:sp>
      <p:sp>
        <p:nvSpPr>
          <p:cNvPr id="100" name="TextBox 99"/>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01" name="Picture 100" descr="lock.png"/>
          <p:cNvPicPr>
            <a:picLocks noChangeAspect="1"/>
          </p:cNvPicPr>
          <p:nvPr/>
        </p:nvPicPr>
        <p:blipFill>
          <a:blip r:embed="rId13"/>
          <a:stretch>
            <a:fillRect/>
          </a:stretch>
        </p:blipFill>
        <p:spPr>
          <a:xfrm>
            <a:off x="9154084" y="6007677"/>
            <a:ext cx="134549" cy="195707"/>
          </a:xfrm>
          <a:prstGeom prst="rect">
            <a:avLst/>
          </a:prstGeom>
        </p:spPr>
      </p:pic>
      <p:sp>
        <p:nvSpPr>
          <p:cNvPr id="102" name="TextBox 101"/>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Storage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Storage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Storage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Storage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521770" cy="186689"/>
          </a:xfrm>
          <a:prstGeom prst="rect">
            <a:avLst/>
          </a:prstGeom>
          <a:noFill/>
        </p:spPr>
        <p:txBody>
          <a:bodyPr wrap="none" lIns="0" rIns="0" tIns="0" bIns="0">
            <a:spAutoFit/>
          </a:bodyPr>
          <a:lstStyle/>
          <a:p>
            <a:r>
              <a:rPr sz="1100" b="0">
                <a:solidFill>
                  <a:srgbClr val="2E2E2E"/>
                </a:solidFill>
                <a:latin typeface="Calibri"/>
              </a:rPr>
              <a:t>Between 2026 and 2036, 'Chilled' gains the most share in the Global market (+</a:t>
            </a:r>
          </a:p>
        </p:txBody>
      </p:sp>
      <p:pic>
        <p:nvPicPr>
          <p:cNvPr id="21" name="Picture 20" descr="lock.png"/>
          <p:cNvPicPr>
            <a:picLocks noChangeAspect="1"/>
          </p:cNvPicPr>
          <p:nvPr/>
        </p:nvPicPr>
        <p:blipFill>
          <a:blip r:embed="rId6"/>
          <a:stretch>
            <a:fillRect/>
          </a:stretch>
        </p:blipFill>
        <p:spPr>
          <a:xfrm>
            <a:off x="4726997" y="5935726"/>
            <a:ext cx="128699" cy="187198"/>
          </a:xfrm>
          <a:prstGeom prst="rect">
            <a:avLst/>
          </a:prstGeom>
        </p:spPr>
      </p:pic>
      <p:sp>
        <p:nvSpPr>
          <p:cNvPr id="22" name="TextBox 21"/>
          <p:cNvSpPr txBox="1"/>
          <p:nvPr/>
        </p:nvSpPr>
        <p:spPr>
          <a:xfrm>
            <a:off x="4894492" y="5945505"/>
            <a:ext cx="1505942" cy="186689"/>
          </a:xfrm>
          <a:prstGeom prst="rect">
            <a:avLst/>
          </a:prstGeom>
          <a:noFill/>
        </p:spPr>
        <p:txBody>
          <a:bodyPr wrap="none" lIns="0" rIns="0" tIns="0" bIns="0">
            <a:spAutoFit/>
          </a:bodyPr>
          <a:lstStyle/>
          <a:p>
            <a:r>
              <a:rPr sz="1100" b="0">
                <a:solidFill>
                  <a:srgbClr val="2E2E2E"/>
                </a:solidFill>
                <a:latin typeface="Calibri"/>
              </a:rPr>
              <a:t>BPS) while 'Frozen' cedes</a:t>
            </a:r>
          </a:p>
        </p:txBody>
      </p:sp>
      <p:pic>
        <p:nvPicPr>
          <p:cNvPr id="23" name="Picture 22" descr="lock.png"/>
          <p:cNvPicPr>
            <a:picLocks noChangeAspect="1"/>
          </p:cNvPicPr>
          <p:nvPr/>
        </p:nvPicPr>
        <p:blipFill>
          <a:blip r:embed="rId6"/>
          <a:stretch>
            <a:fillRect/>
          </a:stretch>
        </p:blipFill>
        <p:spPr>
          <a:xfrm>
            <a:off x="6348486" y="5935726"/>
            <a:ext cx="128699" cy="187198"/>
          </a:xfrm>
          <a:prstGeom prst="rect">
            <a:avLst/>
          </a:prstGeom>
        </p:spPr>
      </p:pic>
      <p:sp>
        <p:nvSpPr>
          <p:cNvPr id="24" name="TextBox 23"/>
          <p:cNvSpPr txBox="1"/>
          <p:nvPr/>
        </p:nvSpPr>
        <p:spPr>
          <a:xfrm>
            <a:off x="6515982"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Storage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Ambient</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Chilled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Frozen</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Storage Format</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134692" cy="194310"/>
          </a:xfrm>
          <a:prstGeom prst="rect">
            <a:avLst/>
          </a:prstGeom>
          <a:noFill/>
        </p:spPr>
        <p:txBody>
          <a:bodyPr wrap="none" lIns="0" rIns="0" tIns="0" bIns="0">
            <a:spAutoFit/>
          </a:bodyPr>
          <a:lstStyle/>
          <a:p>
            <a:r>
              <a:rPr sz="1150" b="0">
                <a:solidFill>
                  <a:srgbClr val="2E2E2E"/>
                </a:solidFill>
                <a:latin typeface="Calibri"/>
              </a:rPr>
              <a:t>▪ Across its 3 sub-segments, by storage format adds</a:t>
            </a:r>
          </a:p>
        </p:txBody>
      </p:sp>
      <p:pic>
        <p:nvPicPr>
          <p:cNvPr id="29" name="Picture 28" descr="lock.png"/>
          <p:cNvPicPr>
            <a:picLocks noChangeAspect="1"/>
          </p:cNvPicPr>
          <p:nvPr/>
        </p:nvPicPr>
        <p:blipFill>
          <a:blip r:embed="rId7"/>
          <a:stretch>
            <a:fillRect/>
          </a:stretch>
        </p:blipFill>
        <p:spPr>
          <a:xfrm>
            <a:off x="9389396" y="4276026"/>
            <a:ext cx="134549" cy="195707"/>
          </a:xfrm>
          <a:prstGeom prst="rect">
            <a:avLst/>
          </a:prstGeom>
        </p:spPr>
      </p:pic>
      <p:sp>
        <p:nvSpPr>
          <p:cNvPr id="30" name="TextBox 29"/>
          <p:cNvSpPr txBox="1"/>
          <p:nvPr/>
        </p:nvSpPr>
        <p:spPr>
          <a:xfrm>
            <a:off x="9564505"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943942" cy="194310"/>
          </a:xfrm>
          <a:prstGeom prst="rect">
            <a:avLst/>
          </a:prstGeom>
          <a:noFill/>
        </p:spPr>
        <p:txBody>
          <a:bodyPr wrap="none" lIns="0" rIns="0" tIns="0" bIns="0">
            <a:spAutoFit/>
          </a:bodyPr>
          <a:lstStyle/>
          <a:p>
            <a:r>
              <a:rPr sz="1150" b="0">
                <a:solidFill>
                  <a:srgbClr val="2E2E2E"/>
                </a:solidFill>
                <a:latin typeface="Calibri"/>
              </a:rPr>
              <a:t>▪ 'Chilled' adds</a:t>
            </a:r>
          </a:p>
        </p:txBody>
      </p:sp>
      <p:pic>
        <p:nvPicPr>
          <p:cNvPr id="33" name="Picture 32" descr="lock.png"/>
          <p:cNvPicPr>
            <a:picLocks noChangeAspect="1"/>
          </p:cNvPicPr>
          <p:nvPr/>
        </p:nvPicPr>
        <p:blipFill>
          <a:blip r:embed="rId7"/>
          <a:stretch>
            <a:fillRect/>
          </a:stretch>
        </p:blipFill>
        <p:spPr>
          <a:xfrm>
            <a:off x="7198646" y="4679124"/>
            <a:ext cx="134549" cy="195707"/>
          </a:xfrm>
          <a:prstGeom prst="rect">
            <a:avLst/>
          </a:prstGeom>
        </p:spPr>
      </p:pic>
      <p:sp>
        <p:nvSpPr>
          <p:cNvPr id="34" name="TextBox 33"/>
          <p:cNvSpPr txBox="1"/>
          <p:nvPr/>
        </p:nvSpPr>
        <p:spPr>
          <a:xfrm>
            <a:off x="7373755"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946226" y="4679124"/>
            <a:ext cx="134549" cy="195707"/>
          </a:xfrm>
          <a:prstGeom prst="rect">
            <a:avLst/>
          </a:prstGeom>
        </p:spPr>
      </p:pic>
      <p:sp>
        <p:nvSpPr>
          <p:cNvPr id="36" name="TextBox 35"/>
          <p:cNvSpPr txBox="1"/>
          <p:nvPr/>
        </p:nvSpPr>
        <p:spPr>
          <a:xfrm>
            <a:off x="8121335"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941089" cy="194310"/>
          </a:xfrm>
          <a:prstGeom prst="rect">
            <a:avLst/>
          </a:prstGeom>
          <a:noFill/>
        </p:spPr>
        <p:txBody>
          <a:bodyPr wrap="none" lIns="0" rIns="0" tIns="0" bIns="0">
            <a:spAutoFit/>
          </a:bodyPr>
          <a:lstStyle/>
          <a:p>
            <a:r>
              <a:rPr sz="1150" b="0">
                <a:solidFill>
                  <a:srgbClr val="2E2E2E"/>
                </a:solidFill>
                <a:latin typeface="Calibri"/>
              </a:rPr>
              <a:t>▪ 'Frozen' adds</a:t>
            </a:r>
          </a:p>
        </p:txBody>
      </p:sp>
      <p:pic>
        <p:nvPicPr>
          <p:cNvPr id="38" name="Picture 37" descr="lock.png"/>
          <p:cNvPicPr>
            <a:picLocks noChangeAspect="1"/>
          </p:cNvPicPr>
          <p:nvPr/>
        </p:nvPicPr>
        <p:blipFill>
          <a:blip r:embed="rId7"/>
          <a:stretch>
            <a:fillRect/>
          </a:stretch>
        </p:blipFill>
        <p:spPr>
          <a:xfrm>
            <a:off x="7195793" y="4906962"/>
            <a:ext cx="134549" cy="195707"/>
          </a:xfrm>
          <a:prstGeom prst="rect">
            <a:avLst/>
          </a:prstGeom>
        </p:spPr>
      </p:pic>
      <p:sp>
        <p:nvSpPr>
          <p:cNvPr id="39" name="TextBox 38"/>
          <p:cNvSpPr txBox="1"/>
          <p:nvPr/>
        </p:nvSpPr>
        <p:spPr>
          <a:xfrm>
            <a:off x="737090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7943373" y="4906962"/>
            <a:ext cx="134549" cy="195707"/>
          </a:xfrm>
          <a:prstGeom prst="rect">
            <a:avLst/>
          </a:prstGeom>
        </p:spPr>
      </p:pic>
      <p:sp>
        <p:nvSpPr>
          <p:cNvPr id="41" name="TextBox 40"/>
          <p:cNvSpPr txBox="1"/>
          <p:nvPr/>
        </p:nvSpPr>
        <p:spPr>
          <a:xfrm>
            <a:off x="811848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48915" cy="194310"/>
          </a:xfrm>
          <a:prstGeom prst="rect">
            <a:avLst/>
          </a:prstGeom>
          <a:noFill/>
        </p:spPr>
        <p:txBody>
          <a:bodyPr wrap="none" lIns="0" rIns="0" tIns="0" bIns="0">
            <a:spAutoFit/>
          </a:bodyPr>
          <a:lstStyle/>
          <a:p>
            <a:r>
              <a:rPr sz="1150" b="0">
                <a:solidFill>
                  <a:srgbClr val="2E2E2E"/>
                </a:solidFill>
                <a:latin typeface="Calibri"/>
              </a:rPr>
              <a:t>▪ 'Ambient' adds</a:t>
            </a:r>
          </a:p>
        </p:txBody>
      </p:sp>
      <p:pic>
        <p:nvPicPr>
          <p:cNvPr id="43" name="Picture 42" descr="lock.png"/>
          <p:cNvPicPr>
            <a:picLocks noChangeAspect="1"/>
          </p:cNvPicPr>
          <p:nvPr/>
        </p:nvPicPr>
        <p:blipFill>
          <a:blip r:embed="rId7"/>
          <a:stretch>
            <a:fillRect/>
          </a:stretch>
        </p:blipFill>
        <p:spPr>
          <a:xfrm>
            <a:off x="7303619" y="5134800"/>
            <a:ext cx="134549" cy="195707"/>
          </a:xfrm>
          <a:prstGeom prst="rect">
            <a:avLst/>
          </a:prstGeom>
        </p:spPr>
      </p:pic>
      <p:sp>
        <p:nvSpPr>
          <p:cNvPr id="44" name="TextBox 43"/>
          <p:cNvSpPr txBox="1"/>
          <p:nvPr/>
        </p:nvSpPr>
        <p:spPr>
          <a:xfrm>
            <a:off x="747872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51199" y="5134800"/>
            <a:ext cx="134549" cy="195707"/>
          </a:xfrm>
          <a:prstGeom prst="rect">
            <a:avLst/>
          </a:prstGeom>
        </p:spPr>
      </p:pic>
      <p:sp>
        <p:nvSpPr>
          <p:cNvPr id="46" name="TextBox 45"/>
          <p:cNvSpPr txBox="1"/>
          <p:nvPr/>
        </p:nvSpPr>
        <p:spPr>
          <a:xfrm>
            <a:off x="822630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Storage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Storage Format (MT)</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658741"/>
                <a:gridCol w="674370"/>
                <a:gridCol w="674370"/>
                <a:gridCol w="674370"/>
                <a:gridCol w="674370"/>
                <a:gridCol w="674370"/>
                <a:gridCol w="674370"/>
                <a:gridCol w="674370"/>
                <a:gridCol w="674370"/>
                <a:gridCol w="674370"/>
                <a:gridCol w="674370"/>
                <a:gridCol w="674370"/>
                <a:gridCol w="674370"/>
                <a:gridCol w="674370"/>
                <a:gridCol w="674370"/>
                <a:gridCol w="674370"/>
                <a:gridCol w="674370"/>
                <a:gridCol w="438539"/>
              </a:tblGrid>
              <a:tr h="438912">
                <a:tc>
                  <a:txBody>
                    <a:bodyPr wrap="none"/>
                    <a:lstStyle/>
                    <a:p>
                      <a:pPr algn="l"/>
                      <a:r>
                        <a:rPr sz="1100" b="1">
                          <a:solidFill>
                            <a:srgbClr val="0B2E4A"/>
                          </a:solidFill>
                          <a:latin typeface="Calibri"/>
                        </a:rPr>
                        <a:t>Storage</a:t>
                      </a:r>
                      <a:endParaRPr sz="1100"/>
                    </a:p>
                    <a:p>
                      <a:pPr algn="l"/>
                      <a:r>
                        <a:rPr sz="1100" b="1">
                          <a:solidFill>
                            <a:srgbClr val="0B2E4A"/>
                          </a:solidFill>
                          <a:latin typeface="Calibri"/>
                        </a:rPr>
                        <a:t>Format</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2021A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2022A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2023A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2024A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2025A</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2026E</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2027F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2028F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2029F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2030F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2031F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2032F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2033F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2034F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2035F</a:t>
                      </a:r>
                      <a:endParaRPr sz="1100"/>
                    </a:p>
                  </a:txBody>
                  <a:tcPr marL="38100" marR="28575" marT="19050" marB="19050" anchor="ctr">
                    <a:solidFill>
                      <a:srgbClr val="E0E8EF"/>
                    </a:solidFill>
                  </a:tcPr>
                </a:tc>
                <a:tc>
                  <a:txBody>
                    <a:bodyPr wrap="none"/>
                    <a:lstStyle/>
                    <a:p>
                      <a:pPr algn="ctr"/>
                      <a:r>
                        <a:rPr sz="1100" b="1">
                          <a:solidFill>
                            <a:srgbClr val="0B2E4A"/>
                          </a:solidFill>
                          <a:latin typeface="Calibri"/>
                        </a:rPr>
                        <a:t>2036F</a:t>
                      </a:r>
                      <a:endParaRPr sz="1100"/>
                    </a:p>
                  </a:txBody>
                  <a:tcPr marL="38100" marR="28575" marT="19050" marB="19050" anchor="ctr">
                    <a:solidFill>
                      <a:srgbClr val="E0E8EF"/>
                    </a:solidFill>
                  </a:tcPr>
                </a:tc>
                <a:tc>
                  <a:txBody>
                    <a:bodyPr wrap="square"/>
                    <a:lstStyle/>
                    <a:p>
                      <a:pPr algn="ctr"/>
                      <a:r>
                        <a:rPr sz="1100" b="1">
                          <a:solidFill>
                            <a:srgbClr val="0B2E4A"/>
                          </a:solidFill>
                          <a:latin typeface="Calibri"/>
                        </a:rPr>
                        <a:t>F-CAGR</a:t>
                      </a:r>
                      <a:endParaRPr sz="1100"/>
                    </a:p>
                  </a:txBody>
                  <a:tcPr marL="38100" marR="28575" marT="19050" marB="19050" anchor="ctr">
                    <a:solidFill>
                      <a:srgbClr val="E0E8EF"/>
                    </a:solidFill>
                  </a:tcPr>
                </a:tc>
              </a:tr>
              <a:tr h="247460">
                <a:tc>
                  <a:txBody>
                    <a:bodyPr wrap="none"/>
                    <a:lstStyle/>
                    <a:p>
                      <a:pPr algn="l"/>
                      <a:r>
                        <a:rPr sz="1100" b="1">
                          <a:solidFill>
                            <a:srgbClr val="2E2E2E"/>
                          </a:solidFill>
                          <a:latin typeface="Calibri"/>
                        </a:rPr>
                        <a:t>Ambient</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60">
                <a:tc>
                  <a:txBody>
                    <a:bodyPr wrap="none"/>
                    <a:lstStyle/>
                    <a:p>
                      <a:pPr algn="l"/>
                      <a:r>
                        <a:rPr sz="1100" b="1">
                          <a:solidFill>
                            <a:srgbClr val="2E2E2E"/>
                          </a:solidFill>
                          <a:latin typeface="Calibri"/>
                        </a:rPr>
                        <a:t>Chilled</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c>
                  <a:txBody>
                    <a:bodyPr wrap="none"/>
                    <a:lstStyle/>
                    <a:p>
                      <a:pPr algn="ctr"/>
                      <a:r>
                        <a:rPr sz="1100"/>
                        <a:t> </a:t>
                      </a:r>
                      <a:endParaRPr sz="1100"/>
                    </a:p>
                  </a:txBody>
                  <a:tcPr marL="38100" marR="28575" marT="19050" marB="19050" anchor="ctr">
                    <a:solidFill>
                      <a:srgbClr val="F5F8FA"/>
                    </a:solidFill>
                  </a:tcPr>
                </a:tc>
              </a:tr>
              <a:tr h="247460">
                <a:tc>
                  <a:txBody>
                    <a:bodyPr wrap="none"/>
                    <a:lstStyle/>
                    <a:p>
                      <a:pPr algn="l"/>
                      <a:r>
                        <a:rPr sz="1100" b="1">
                          <a:solidFill>
                            <a:srgbClr val="2E2E2E"/>
                          </a:solidFill>
                          <a:latin typeface="Calibri"/>
                        </a:rPr>
                        <a:t>Frozen</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c>
                  <a:txBody>
                    <a:bodyPr wrap="none"/>
                    <a:lstStyle/>
                    <a:p>
                      <a:pPr algn="ctr"/>
                      <a:r>
                        <a:rPr sz="1100"/>
                        <a:t> </a:t>
                      </a:r>
                      <a:endParaRPr sz="1100"/>
                    </a:p>
                  </a:txBody>
                  <a:tcPr marL="38100" marR="28575" marT="19050" marB="19050" anchor="ctr">
                    <a:solidFill>
                      <a:srgbClr val="FFFFFF"/>
                    </a:solidFill>
                  </a:tcPr>
                </a:tc>
              </a:tr>
              <a:tr h="247460">
                <a:tc>
                  <a:txBody>
                    <a:bodyPr wrap="none"/>
                    <a:lstStyle/>
                    <a:p>
                      <a:pPr algn="l"/>
                      <a:r>
                        <a:rPr sz="1100" b="1">
                          <a:solidFill>
                            <a:srgbClr val="2E2E2E"/>
                          </a:solidFill>
                          <a:latin typeface="Calibri"/>
                        </a:rPr>
                        <a:t>Total</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c>
                  <a:txBody>
                    <a:bodyPr wrap="none"/>
                    <a:lstStyle/>
                    <a:p>
                      <a:pPr algn="ctr"/>
                      <a:r>
                        <a:rPr sz="1100"/>
                        <a:t> </a:t>
                      </a:r>
                      <a:endParaRPr sz="1100"/>
                    </a:p>
                  </a:txBody>
                  <a:tcPr marL="38100" marR="28575"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Storage Format</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38680" y="1905381"/>
            <a:ext cx="366712" cy="533400"/>
          </a:xfrm>
          <a:prstGeom prst="rect">
            <a:avLst/>
          </a:prstGeom>
        </p:spPr>
      </p:pic>
      <p:sp>
        <p:nvSpPr>
          <p:cNvPr id="21" name="TextBox 20"/>
          <p:cNvSpPr txBox="1"/>
          <p:nvPr/>
        </p:nvSpPr>
        <p:spPr>
          <a:xfrm>
            <a:off x="276225" y="34290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418776"/>
            <a:ext cx="134549" cy="195707"/>
          </a:xfrm>
          <a:prstGeom prst="rect">
            <a:avLst/>
          </a:prstGeom>
        </p:spPr>
      </p:pic>
      <p:sp>
        <p:nvSpPr>
          <p:cNvPr id="23" name="TextBox 22"/>
          <p:cNvSpPr txBox="1"/>
          <p:nvPr/>
        </p:nvSpPr>
        <p:spPr>
          <a:xfrm>
            <a:off x="2890792" y="34290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920524" y="3418776"/>
            <a:ext cx="134549" cy="195707"/>
          </a:xfrm>
          <a:prstGeom prst="rect">
            <a:avLst/>
          </a:prstGeom>
        </p:spPr>
      </p:pic>
      <p:sp>
        <p:nvSpPr>
          <p:cNvPr id="25" name="TextBox 24"/>
          <p:cNvSpPr txBox="1"/>
          <p:nvPr/>
        </p:nvSpPr>
        <p:spPr>
          <a:xfrm>
            <a:off x="4095634" y="34290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6568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646614"/>
            <a:ext cx="134549" cy="195707"/>
          </a:xfrm>
          <a:prstGeom prst="rect">
            <a:avLst/>
          </a:prstGeom>
        </p:spPr>
      </p:pic>
      <p:sp>
        <p:nvSpPr>
          <p:cNvPr id="28" name="TextBox 27"/>
          <p:cNvSpPr txBox="1"/>
          <p:nvPr/>
        </p:nvSpPr>
        <p:spPr>
          <a:xfrm>
            <a:off x="1959723" y="36568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8846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874452"/>
            <a:ext cx="134549" cy="195707"/>
          </a:xfrm>
          <a:prstGeom prst="rect">
            <a:avLst/>
          </a:prstGeom>
        </p:spPr>
      </p:pic>
      <p:sp>
        <p:nvSpPr>
          <p:cNvPr id="31" name="TextBox 30"/>
          <p:cNvSpPr txBox="1"/>
          <p:nvPr/>
        </p:nvSpPr>
        <p:spPr>
          <a:xfrm>
            <a:off x="2363928" y="38846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874452"/>
            <a:ext cx="134549" cy="195707"/>
          </a:xfrm>
          <a:prstGeom prst="rect">
            <a:avLst/>
          </a:prstGeom>
        </p:spPr>
      </p:pic>
      <p:sp>
        <p:nvSpPr>
          <p:cNvPr id="33" name="TextBox 32"/>
          <p:cNvSpPr txBox="1"/>
          <p:nvPr/>
        </p:nvSpPr>
        <p:spPr>
          <a:xfrm>
            <a:off x="4374897" y="38846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125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102290"/>
            <a:ext cx="134549" cy="195707"/>
          </a:xfrm>
          <a:prstGeom prst="rect">
            <a:avLst/>
          </a:prstGeom>
        </p:spPr>
      </p:pic>
      <p:sp>
        <p:nvSpPr>
          <p:cNvPr id="36" name="TextBox 35"/>
          <p:cNvSpPr txBox="1"/>
          <p:nvPr/>
        </p:nvSpPr>
        <p:spPr>
          <a:xfrm>
            <a:off x="1965143" y="41125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102290"/>
            <a:ext cx="134549" cy="195707"/>
          </a:xfrm>
          <a:prstGeom prst="rect">
            <a:avLst/>
          </a:prstGeom>
        </p:spPr>
      </p:pic>
      <p:sp>
        <p:nvSpPr>
          <p:cNvPr id="38" name="TextBox 37"/>
          <p:cNvSpPr txBox="1"/>
          <p:nvPr/>
        </p:nvSpPr>
        <p:spPr>
          <a:xfrm>
            <a:off x="2291688" y="41125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Storage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Storage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Storage Format (US$ Mn)</a:t>
            </a:r>
          </a:p>
        </p:txBody>
      </p:sp>
      <p:graphicFrame>
        <p:nvGraphicFramePr>
          <p:cNvPr id="13" name="Table 12"/>
          <p:cNvGraphicFramePr>
            <a:graphicFrameLocks noGrp="1"/>
          </p:cNvGraphicFramePr>
          <p:nvPr/>
        </p:nvGraphicFramePr>
        <p:xfrm>
          <a:off x="152400" y="1238250"/>
          <a:ext cx="11887204" cy="1238250"/>
        </p:xfrm>
        <a:graphic>
          <a:graphicData uri="http://schemas.openxmlformats.org/drawingml/2006/table">
            <a:tbl>
              <a:tblPr>
                <a:tableStyleId>{5C22544A-7EE6-4342-B048-85BDC9FD1C3A}</a:tableStyleId>
              </a:tblPr>
              <a:tblGrid>
                <a:gridCol w="1174586"/>
                <a:gridCol w="630154"/>
                <a:gridCol w="630154"/>
                <a:gridCol w="630154"/>
                <a:gridCol w="630154"/>
                <a:gridCol w="630154"/>
                <a:gridCol w="630154"/>
                <a:gridCol w="630154"/>
                <a:gridCol w="630154"/>
                <a:gridCol w="630154"/>
                <a:gridCol w="630154"/>
                <a:gridCol w="630154"/>
                <a:gridCol w="630154"/>
                <a:gridCol w="630154"/>
                <a:gridCol w="630154"/>
                <a:gridCol w="630154"/>
                <a:gridCol w="630154"/>
                <a:gridCol w="630154"/>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Storage Format</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6605" y="1713738"/>
            <a:ext cx="366712" cy="533399"/>
          </a:xfrm>
          <a:prstGeom prst="rect">
            <a:avLst/>
          </a:prstGeom>
        </p:spPr>
      </p:pic>
      <p:sp>
        <p:nvSpPr>
          <p:cNvPr id="21" name="TextBox 20"/>
          <p:cNvSpPr txBox="1"/>
          <p:nvPr/>
        </p:nvSpPr>
        <p:spPr>
          <a:xfrm>
            <a:off x="276225" y="3238500"/>
            <a:ext cx="2490303" cy="194310"/>
          </a:xfrm>
          <a:prstGeom prst="rect">
            <a:avLst/>
          </a:prstGeom>
          <a:noFill/>
        </p:spPr>
        <p:txBody>
          <a:bodyPr wrap="none" lIns="0" rIns="0" tIns="0" bIns="0">
            <a:spAutoFit/>
          </a:bodyPr>
          <a:lstStyle/>
          <a:p>
            <a:r>
              <a:rPr sz="1150" b="0">
                <a:solidFill>
                  <a:srgbClr val="2E2E2E"/>
                </a:solidFill>
                <a:latin typeface="Calibri"/>
              </a:rPr>
              <a:t>▪ 'Frozen' is the largest storage format at</a:t>
            </a:r>
          </a:p>
        </p:txBody>
      </p:sp>
      <p:pic>
        <p:nvPicPr>
          <p:cNvPr id="22" name="Picture 21" descr="lock.png"/>
          <p:cNvPicPr>
            <a:picLocks noChangeAspect="1"/>
          </p:cNvPicPr>
          <p:nvPr/>
        </p:nvPicPr>
        <p:blipFill>
          <a:blip r:embed="rId4"/>
          <a:stretch>
            <a:fillRect/>
          </a:stretch>
        </p:blipFill>
        <p:spPr>
          <a:xfrm>
            <a:off x="2715682" y="3228276"/>
            <a:ext cx="134549" cy="195707"/>
          </a:xfrm>
          <a:prstGeom prst="rect">
            <a:avLst/>
          </a:prstGeom>
        </p:spPr>
      </p:pic>
      <p:sp>
        <p:nvSpPr>
          <p:cNvPr id="23" name="TextBox 22"/>
          <p:cNvSpPr txBox="1"/>
          <p:nvPr/>
        </p:nvSpPr>
        <p:spPr>
          <a:xfrm>
            <a:off x="2890792"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96724" y="3228276"/>
            <a:ext cx="134549" cy="195707"/>
          </a:xfrm>
          <a:prstGeom prst="rect">
            <a:avLst/>
          </a:prstGeom>
        </p:spPr>
      </p:pic>
      <p:sp>
        <p:nvSpPr>
          <p:cNvPr id="25" name="TextBox 24"/>
          <p:cNvSpPr txBox="1"/>
          <p:nvPr/>
        </p:nvSpPr>
        <p:spPr>
          <a:xfrm>
            <a:off x="3971834"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559235" cy="194310"/>
          </a:xfrm>
          <a:prstGeom prst="rect">
            <a:avLst/>
          </a:prstGeom>
          <a:noFill/>
        </p:spPr>
        <p:txBody>
          <a:bodyPr wrap="none" lIns="0" rIns="0" tIns="0" bIns="0">
            <a:spAutoFit/>
          </a:bodyPr>
          <a:lstStyle/>
          <a:p>
            <a:r>
              <a:rPr sz="1150" b="0">
                <a:solidFill>
                  <a:srgbClr val="2E2E2E"/>
                </a:solidFill>
                <a:latin typeface="Calibri"/>
              </a:rPr>
              <a:t>▪ 'Ambient' grows fastest</a:t>
            </a:r>
          </a:p>
        </p:txBody>
      </p:sp>
      <p:pic>
        <p:nvPicPr>
          <p:cNvPr id="27" name="Picture 26" descr="lock.png"/>
          <p:cNvPicPr>
            <a:picLocks noChangeAspect="1"/>
          </p:cNvPicPr>
          <p:nvPr/>
        </p:nvPicPr>
        <p:blipFill>
          <a:blip r:embed="rId4"/>
          <a:stretch>
            <a:fillRect/>
          </a:stretch>
        </p:blipFill>
        <p:spPr>
          <a:xfrm>
            <a:off x="1784613" y="3456114"/>
            <a:ext cx="134549" cy="195707"/>
          </a:xfrm>
          <a:prstGeom prst="rect">
            <a:avLst/>
          </a:prstGeom>
        </p:spPr>
      </p:pic>
      <p:sp>
        <p:nvSpPr>
          <p:cNvPr id="28" name="TextBox 27"/>
          <p:cNvSpPr txBox="1"/>
          <p:nvPr/>
        </p:nvSpPr>
        <p:spPr>
          <a:xfrm>
            <a:off x="1959723"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1963439" cy="194310"/>
          </a:xfrm>
          <a:prstGeom prst="rect">
            <a:avLst/>
          </a:prstGeom>
          <a:noFill/>
        </p:spPr>
        <p:txBody>
          <a:bodyPr wrap="none" lIns="0" rIns="0" tIns="0" bIns="0">
            <a:spAutoFit/>
          </a:bodyPr>
          <a:lstStyle/>
          <a:p>
            <a:r>
              <a:rPr sz="1150" b="0">
                <a:solidFill>
                  <a:srgbClr val="2E2E2E"/>
                </a:solidFill>
                <a:latin typeface="Calibri"/>
              </a:rPr>
              <a:t>▪ Share shifts toward 'Chilled' (+</a:t>
            </a:r>
          </a:p>
        </p:txBody>
      </p:sp>
      <p:pic>
        <p:nvPicPr>
          <p:cNvPr id="30" name="Picture 29" descr="lock.png"/>
          <p:cNvPicPr>
            <a:picLocks noChangeAspect="1"/>
          </p:cNvPicPr>
          <p:nvPr/>
        </p:nvPicPr>
        <p:blipFill>
          <a:blip r:embed="rId4"/>
          <a:stretch>
            <a:fillRect/>
          </a:stretch>
        </p:blipFill>
        <p:spPr>
          <a:xfrm>
            <a:off x="2188818" y="3683952"/>
            <a:ext cx="134549" cy="195707"/>
          </a:xfrm>
          <a:prstGeom prst="rect">
            <a:avLst/>
          </a:prstGeom>
        </p:spPr>
      </p:pic>
      <p:sp>
        <p:nvSpPr>
          <p:cNvPr id="31" name="TextBox 30"/>
          <p:cNvSpPr txBox="1"/>
          <p:nvPr/>
        </p:nvSpPr>
        <p:spPr>
          <a:xfrm>
            <a:off x="2363928" y="3694175"/>
            <a:ext cx="1886706" cy="194310"/>
          </a:xfrm>
          <a:prstGeom prst="rect">
            <a:avLst/>
          </a:prstGeom>
          <a:noFill/>
        </p:spPr>
        <p:txBody>
          <a:bodyPr wrap="none" lIns="0" rIns="0" tIns="0" bIns="0">
            <a:spAutoFit/>
          </a:bodyPr>
          <a:lstStyle/>
          <a:p>
            <a:r>
              <a:rPr sz="1150" b="0">
                <a:solidFill>
                  <a:srgbClr val="2E2E2E"/>
                </a:solidFill>
                <a:latin typeface="Calibri"/>
              </a:rPr>
              <a:t>BPS) and away from 'Frozen' (-</a:t>
            </a:r>
          </a:p>
        </p:txBody>
      </p:sp>
      <p:pic>
        <p:nvPicPr>
          <p:cNvPr id="32" name="Picture 31" descr="lock.png"/>
          <p:cNvPicPr>
            <a:picLocks noChangeAspect="1"/>
          </p:cNvPicPr>
          <p:nvPr/>
        </p:nvPicPr>
        <p:blipFill>
          <a:blip r:embed="rId4"/>
          <a:stretch>
            <a:fillRect/>
          </a:stretch>
        </p:blipFill>
        <p:spPr>
          <a:xfrm>
            <a:off x="4199788" y="3683952"/>
            <a:ext cx="134549" cy="195707"/>
          </a:xfrm>
          <a:prstGeom prst="rect">
            <a:avLst/>
          </a:prstGeom>
        </p:spPr>
      </p:pic>
      <p:sp>
        <p:nvSpPr>
          <p:cNvPr id="33" name="TextBox 32"/>
          <p:cNvSpPr txBox="1"/>
          <p:nvPr/>
        </p:nvSpPr>
        <p:spPr>
          <a:xfrm>
            <a:off x="4374897"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Storage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Storage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Storage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9546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9070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145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Ambient</a:t>
            </a:r>
          </a:p>
        </p:txBody>
      </p:sp>
      <p:sp>
        <p:nvSpPr>
          <p:cNvPr id="19" name="BPS Value 1"/>
          <p:cNvSpPr txBox="1"/>
          <p:nvPr/>
        </p:nvSpPr>
        <p:spPr>
          <a:xfrm>
            <a:off x="6896100" y="197641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31242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1195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0433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Chilled</a:t>
            </a:r>
          </a:p>
        </p:txBody>
      </p:sp>
      <p:sp>
        <p:nvSpPr>
          <p:cNvPr id="23" name="BPS Value 2"/>
          <p:cNvSpPr txBox="1"/>
          <p:nvPr/>
        </p:nvSpPr>
        <p:spPr>
          <a:xfrm>
            <a:off x="6896100" y="31052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508624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814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0052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Frozen</a:t>
            </a:r>
          </a:p>
        </p:txBody>
      </p:sp>
      <p:sp>
        <p:nvSpPr>
          <p:cNvPr id="27" name="BPS Value 3"/>
          <p:cNvSpPr txBox="1"/>
          <p:nvPr/>
        </p:nvSpPr>
        <p:spPr>
          <a:xfrm>
            <a:off x="6896100" y="50671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Storage Format</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000522" cy="194310"/>
          </a:xfrm>
          <a:prstGeom prst="rect">
            <a:avLst/>
          </a:prstGeom>
          <a:noFill/>
        </p:spPr>
        <p:txBody>
          <a:bodyPr wrap="none" lIns="0" rIns="0" tIns="0" bIns="0">
            <a:spAutoFit/>
          </a:bodyPr>
          <a:lstStyle/>
          <a:p>
            <a:r>
              <a:rPr sz="1150" b="0">
                <a:solidFill>
                  <a:srgbClr val="2E2E2E"/>
                </a:solidFill>
                <a:latin typeface="Calibri"/>
              </a:rPr>
              <a:t>▪ 'Chilled' gains the most share +</a:t>
            </a:r>
          </a:p>
        </p:txBody>
      </p:sp>
      <p:pic>
        <p:nvPicPr>
          <p:cNvPr id="35" name="Picture 34" descr="lock.png"/>
          <p:cNvPicPr>
            <a:picLocks noChangeAspect="1"/>
          </p:cNvPicPr>
          <p:nvPr/>
        </p:nvPicPr>
        <p:blipFill>
          <a:blip r:embed="rId5"/>
          <a:stretch>
            <a:fillRect/>
          </a:stretch>
        </p:blipFill>
        <p:spPr>
          <a:xfrm>
            <a:off x="9779226" y="1389951"/>
            <a:ext cx="134549" cy="195707"/>
          </a:xfrm>
          <a:prstGeom prst="rect">
            <a:avLst/>
          </a:prstGeom>
        </p:spPr>
      </p:pic>
      <p:sp>
        <p:nvSpPr>
          <p:cNvPr id="36" name="TextBox 35"/>
          <p:cNvSpPr txBox="1"/>
          <p:nvPr/>
        </p:nvSpPr>
        <p:spPr>
          <a:xfrm>
            <a:off x="9954336" y="1400175"/>
            <a:ext cx="1772604"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7" name="TextBox 36"/>
          <p:cNvSpPr txBox="1"/>
          <p:nvPr/>
        </p:nvSpPr>
        <p:spPr>
          <a:xfrm>
            <a:off x="7829550" y="1575435"/>
            <a:ext cx="1397496" cy="194310"/>
          </a:xfrm>
          <a:prstGeom prst="rect">
            <a:avLst/>
          </a:prstGeom>
          <a:noFill/>
        </p:spPr>
        <p:txBody>
          <a:bodyPr wrap="none" lIns="0" rIns="0" tIns="0" bIns="0">
            <a:spAutoFit/>
          </a:bodyPr>
          <a:lstStyle/>
          <a:p>
            <a:r>
              <a:rPr sz="1150" b="0">
                <a:solidFill>
                  <a:srgbClr val="2E2E2E"/>
                </a:solidFill>
                <a:latin typeface="Calibri"/>
              </a:rPr>
              <a:t>(</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644240" cy="194310"/>
          </a:xfrm>
          <a:prstGeom prst="rect">
            <a:avLst/>
          </a:prstGeom>
          <a:noFill/>
        </p:spPr>
        <p:txBody>
          <a:bodyPr wrap="none" lIns="0" rIns="0" tIns="0" bIns="0">
            <a:spAutoFit/>
          </a:bodyPr>
          <a:lstStyle/>
          <a:p>
            <a:r>
              <a:rPr sz="1150" b="0">
                <a:solidFill>
                  <a:srgbClr val="2E2E2E"/>
                </a:solidFill>
                <a:latin typeface="Calibri"/>
              </a:rPr>
              <a:t>▪ 'Frozen' cedes the most -</a:t>
            </a:r>
          </a:p>
        </p:txBody>
      </p:sp>
      <p:pic>
        <p:nvPicPr>
          <p:cNvPr id="39" name="Picture 38" descr="lock.png"/>
          <p:cNvPicPr>
            <a:picLocks noChangeAspect="1"/>
          </p:cNvPicPr>
          <p:nvPr/>
        </p:nvPicPr>
        <p:blipFill>
          <a:blip r:embed="rId5"/>
          <a:stretch>
            <a:fillRect/>
          </a:stretch>
        </p:blipFill>
        <p:spPr>
          <a:xfrm>
            <a:off x="9422944" y="1793049"/>
            <a:ext cx="134549" cy="195707"/>
          </a:xfrm>
          <a:prstGeom prst="rect">
            <a:avLst/>
          </a:prstGeom>
        </p:spPr>
      </p:pic>
      <p:sp>
        <p:nvSpPr>
          <p:cNvPr id="40" name="TextBox 39"/>
          <p:cNvSpPr txBox="1"/>
          <p:nvPr/>
        </p:nvSpPr>
        <p:spPr>
          <a:xfrm>
            <a:off x="9598053"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3120429" cy="194310"/>
          </a:xfrm>
          <a:prstGeom prst="rect">
            <a:avLst/>
          </a:prstGeom>
          <a:noFill/>
        </p:spPr>
        <p:txBody>
          <a:bodyPr wrap="none" lIns="0" rIns="0" tIns="0" bIns="0">
            <a:spAutoFit/>
          </a:bodyPr>
          <a:lstStyle/>
          <a:p>
            <a:r>
              <a:rPr sz="1150" b="0">
                <a:solidFill>
                  <a:srgbClr val="2E2E2E"/>
                </a:solidFill>
                <a:latin typeface="Calibri"/>
              </a:rPr>
              <a:t>▪ 'Ambient' is the fastest-growing storage format at</a:t>
            </a:r>
          </a:p>
        </p:txBody>
      </p:sp>
      <p:pic>
        <p:nvPicPr>
          <p:cNvPr id="42" name="Picture 41" descr="lock.png"/>
          <p:cNvPicPr>
            <a:picLocks noChangeAspect="1"/>
          </p:cNvPicPr>
          <p:nvPr/>
        </p:nvPicPr>
        <p:blipFill>
          <a:blip r:embed="rId5"/>
          <a:stretch>
            <a:fillRect/>
          </a:stretch>
        </p:blipFill>
        <p:spPr>
          <a:xfrm>
            <a:off x="10899133" y="2020887"/>
            <a:ext cx="134549" cy="195707"/>
          </a:xfrm>
          <a:prstGeom prst="rect">
            <a:avLst/>
          </a:prstGeom>
        </p:spPr>
      </p:pic>
      <p:sp>
        <p:nvSpPr>
          <p:cNvPr id="43" name="TextBox 42"/>
          <p:cNvSpPr txBox="1"/>
          <p:nvPr/>
        </p:nvSpPr>
        <p:spPr>
          <a:xfrm>
            <a:off x="11074242" y="203111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4" name="TextBox 43"/>
          <p:cNvSpPr txBox="1"/>
          <p:nvPr/>
        </p:nvSpPr>
        <p:spPr>
          <a:xfrm>
            <a:off x="7829550" y="220637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DF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Storage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Storage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Storage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1289750"/>
                <a:gridCol w="706497"/>
                <a:gridCol w="706497"/>
                <a:gridCol w="706497"/>
                <a:gridCol w="706497"/>
                <a:gridCol w="706497"/>
                <a:gridCol w="706497"/>
                <a:gridCol w="706497"/>
                <a:gridCol w="706497"/>
                <a:gridCol w="706497"/>
                <a:gridCol w="706497"/>
                <a:gridCol w="706497"/>
                <a:gridCol w="706497"/>
                <a:gridCol w="706497"/>
                <a:gridCol w="706497"/>
                <a:gridCol w="706497"/>
              </a:tblGrid>
              <a:tr h="246126">
                <a:tc>
                  <a:txBody>
                    <a:bodyPr wrap="none"/>
                    <a:lstStyle/>
                    <a:p>
                      <a:pPr algn="l"/>
                      <a:r>
                        <a:rPr sz="1100" b="1">
                          <a:solidFill>
                            <a:srgbClr val="0B2E4A"/>
                          </a:solidFill>
                          <a:latin typeface="Calibri"/>
                        </a:rPr>
                        <a:t>Storage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Ambient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Chilled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Frozen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Storage Format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Ambient</a:t>
            </a:r>
          </a:p>
        </p:txBody>
      </p:sp>
      <p:sp>
        <p:nvSpPr>
          <p:cNvPr id="33" name="Rectangle 32"/>
          <p:cNvSpPr/>
          <p:nvPr/>
        </p:nvSpPr>
        <p:spPr>
          <a:xfrm>
            <a:off x="185737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Chilled</a:t>
            </a:r>
          </a:p>
        </p:txBody>
      </p:sp>
      <p:sp>
        <p:nvSpPr>
          <p:cNvPr id="49" name="Rectangle 48"/>
          <p:cNvSpPr/>
          <p:nvPr/>
        </p:nvSpPr>
        <p:spPr>
          <a:xfrm>
            <a:off x="185737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Frozen</a:t>
            </a:r>
          </a:p>
        </p:txBody>
      </p:sp>
      <p:sp>
        <p:nvSpPr>
          <p:cNvPr id="65" name="Rectangle 64"/>
          <p:cNvSpPr/>
          <p:nvPr/>
        </p:nvSpPr>
        <p:spPr>
          <a:xfrm>
            <a:off x="185737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554187" y="1589913"/>
            <a:ext cx="366712" cy="533400"/>
          </a:xfrm>
          <a:prstGeom prst="rect">
            <a:avLst/>
          </a:prstGeom>
        </p:spPr>
      </p:pic>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Shelf Life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Shelf Life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Shelf Life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Shelf Life,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Shelf Life segment categorizes the market by shelf life.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Up to 7 days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8-30 days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31-90 days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More than 90 days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Shelf Life split shows how demand is distributed across shelf life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6_364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0_659_605E5C.png"/>
          <p:cNvPicPr>
            <a:picLocks noChangeAspect="1"/>
          </p:cNvPicPr>
          <p:nvPr/>
        </p:nvPicPr>
        <p:blipFill>
          <a:blip r:embed="rId5"/>
          <a:stretch>
            <a:fillRect/>
          </a:stretch>
        </p:blipFill>
        <p:spPr>
          <a:xfrm>
            <a:off x="2369684" y="2779432"/>
            <a:ext cx="1409020" cy="361950"/>
          </a:xfrm>
          <a:prstGeom prst="rect">
            <a:avLst/>
          </a:prstGeom>
        </p:spPr>
      </p:pic>
      <p:pic>
        <p:nvPicPr>
          <p:cNvPr id="66" name="Picture 65" descr="5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_69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2_193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6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451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683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3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389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2_210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1032" cy="186689"/>
          </a:xfrm>
          <a:prstGeom prst="rect">
            <a:avLst/>
          </a:prstGeom>
          <a:noFill/>
        </p:spPr>
        <p:txBody>
          <a:bodyPr wrap="none" lIns="0" rIns="0" tIns="0" bIns="0">
            <a:spAutoFit/>
          </a:bodyPr>
          <a:lstStyle/>
          <a:p>
            <a:r>
              <a:rPr sz="1100" b="0">
                <a:solidFill>
                  <a:srgbClr val="2E2E2E"/>
                </a:solidFill>
                <a:latin typeface="Calibri"/>
              </a:rPr>
              <a:t>▪ 'Up to 7 days' holds the largest share in 2026</a:t>
            </a:r>
          </a:p>
        </p:txBody>
      </p:sp>
      <p:pic>
        <p:nvPicPr>
          <p:cNvPr id="81" name="Picture 80" descr="lock.png"/>
          <p:cNvPicPr>
            <a:picLocks noChangeAspect="1"/>
          </p:cNvPicPr>
          <p:nvPr/>
        </p:nvPicPr>
        <p:blipFill>
          <a:blip r:embed="rId16"/>
          <a:stretch>
            <a:fillRect/>
          </a:stretch>
        </p:blipFill>
        <p:spPr>
          <a:xfrm>
            <a:off x="3134858" y="4219658"/>
            <a:ext cx="128699" cy="187198"/>
          </a:xfrm>
          <a:prstGeom prst="rect">
            <a:avLst/>
          </a:prstGeom>
        </p:spPr>
      </p:pic>
      <p:sp>
        <p:nvSpPr>
          <p:cNvPr id="82" name="TextBox 81"/>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3" name="TextBox 82"/>
          <p:cNvSpPr txBox="1"/>
          <p:nvPr/>
        </p:nvSpPr>
        <p:spPr>
          <a:xfrm>
            <a:off x="485775" y="4615009"/>
            <a:ext cx="2858467" cy="186689"/>
          </a:xfrm>
          <a:prstGeom prst="rect">
            <a:avLst/>
          </a:prstGeom>
          <a:noFill/>
        </p:spPr>
        <p:txBody>
          <a:bodyPr wrap="none" lIns="0" rIns="0" tIns="0" bIns="0">
            <a:spAutoFit/>
          </a:bodyPr>
          <a:lstStyle/>
          <a:p>
            <a:r>
              <a:rPr sz="1100" b="0">
                <a:solidFill>
                  <a:srgbClr val="2E2E2E"/>
                </a:solidFill>
                <a:latin typeface="Calibri"/>
              </a:rPr>
              <a:t>▪ '31-90 days' is the fastest-growing sub-segment</a:t>
            </a:r>
          </a:p>
        </p:txBody>
      </p:sp>
      <p:sp>
        <p:nvSpPr>
          <p:cNvPr id="84" name="TextBox 83"/>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85" name="Picture 84" descr="lock.png"/>
          <p:cNvPicPr>
            <a:picLocks noChangeAspect="1"/>
          </p:cNvPicPr>
          <p:nvPr/>
        </p:nvPicPr>
        <p:blipFill>
          <a:blip r:embed="rId16"/>
          <a:stretch>
            <a:fillRect/>
          </a:stretch>
        </p:blipFill>
        <p:spPr>
          <a:xfrm>
            <a:off x="623805" y="4772870"/>
            <a:ext cx="128699" cy="187198"/>
          </a:xfrm>
          <a:prstGeom prst="rect">
            <a:avLst/>
          </a:prstGeom>
        </p:spPr>
      </p:pic>
      <p:sp>
        <p:nvSpPr>
          <p:cNvPr id="86" name="TextBox 85"/>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7" name="TextBox 8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8" name="Picture 87" descr="lock.png"/>
          <p:cNvPicPr>
            <a:picLocks noChangeAspect="1"/>
          </p:cNvPicPr>
          <p:nvPr/>
        </p:nvPicPr>
        <p:blipFill>
          <a:blip r:embed="rId16"/>
          <a:stretch>
            <a:fillRect/>
          </a:stretch>
        </p:blipFill>
        <p:spPr>
          <a:xfrm>
            <a:off x="2240451" y="4990801"/>
            <a:ext cx="128699" cy="187198"/>
          </a:xfrm>
          <a:prstGeom prst="rect">
            <a:avLst/>
          </a:prstGeom>
        </p:spPr>
      </p:pic>
      <p:sp>
        <p:nvSpPr>
          <p:cNvPr id="89" name="TextBox 8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0" name="Picture 89" descr="lock.png"/>
          <p:cNvPicPr>
            <a:picLocks noChangeAspect="1"/>
          </p:cNvPicPr>
          <p:nvPr/>
        </p:nvPicPr>
        <p:blipFill>
          <a:blip r:embed="rId16"/>
          <a:stretch>
            <a:fillRect/>
          </a:stretch>
        </p:blipFill>
        <p:spPr>
          <a:xfrm>
            <a:off x="2552799" y="4990801"/>
            <a:ext cx="128699" cy="187198"/>
          </a:xfrm>
          <a:prstGeom prst="rect">
            <a:avLst/>
          </a:prstGeom>
        </p:spPr>
      </p:pic>
      <p:sp>
        <p:nvSpPr>
          <p:cNvPr id="91" name="TextBox 9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2" name="TextBox 9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3" name="TextBox 92"/>
          <p:cNvSpPr txBox="1"/>
          <p:nvPr/>
        </p:nvSpPr>
        <p:spPr>
          <a:xfrm>
            <a:off x="485775" y="5386153"/>
            <a:ext cx="2914650" cy="186689"/>
          </a:xfrm>
          <a:prstGeom prst="rect">
            <a:avLst/>
          </a:prstGeom>
          <a:noFill/>
        </p:spPr>
        <p:txBody>
          <a:bodyPr wrap="none" lIns="0" rIns="0" tIns="0" bIns="0">
            <a:spAutoFit/>
          </a:bodyPr>
          <a:lstStyle/>
          <a:p>
            <a:r>
              <a:rPr sz="1100" b="0">
                <a:solidFill>
                  <a:srgbClr val="2E2E2E"/>
                </a:solidFill>
                <a:latin typeface="Calibri"/>
              </a:rPr>
              <a:t>▪ 4 sub-segments make up the shelf life landscape.</a:t>
            </a:r>
          </a:p>
        </p:txBody>
      </p:sp>
      <p:sp>
        <p:nvSpPr>
          <p:cNvPr id="94" name="TextBox 93"/>
          <p:cNvSpPr txBox="1"/>
          <p:nvPr/>
        </p:nvSpPr>
        <p:spPr>
          <a:xfrm>
            <a:off x="3838575" y="4229437"/>
            <a:ext cx="937319" cy="186689"/>
          </a:xfrm>
          <a:prstGeom prst="rect">
            <a:avLst/>
          </a:prstGeom>
          <a:noFill/>
        </p:spPr>
        <p:txBody>
          <a:bodyPr wrap="none" lIns="0" rIns="0" tIns="0" bIns="0">
            <a:spAutoFit/>
          </a:bodyPr>
          <a:lstStyle/>
          <a:p>
            <a:r>
              <a:rPr sz="1100" b="0">
                <a:solidFill>
                  <a:srgbClr val="2E2E2E"/>
                </a:solidFill>
                <a:latin typeface="Calibri"/>
              </a:rPr>
              <a:t>● Up to 7 days:</a:t>
            </a:r>
          </a:p>
        </p:txBody>
      </p:sp>
      <p:pic>
        <p:nvPicPr>
          <p:cNvPr id="95" name="Picture 94" descr="lock.png"/>
          <p:cNvPicPr>
            <a:picLocks noChangeAspect="1"/>
          </p:cNvPicPr>
          <p:nvPr/>
        </p:nvPicPr>
        <p:blipFill>
          <a:blip r:embed="rId16"/>
          <a:stretch>
            <a:fillRect/>
          </a:stretch>
        </p:blipFill>
        <p:spPr>
          <a:xfrm>
            <a:off x="4723946" y="4219658"/>
            <a:ext cx="128699" cy="187198"/>
          </a:xfrm>
          <a:prstGeom prst="rect">
            <a:avLst/>
          </a:prstGeom>
        </p:spPr>
      </p:pic>
      <p:sp>
        <p:nvSpPr>
          <p:cNvPr id="96" name="TextBox 95"/>
          <p:cNvSpPr txBox="1"/>
          <p:nvPr/>
        </p:nvSpPr>
        <p:spPr>
          <a:xfrm>
            <a:off x="48914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6"/>
          <a:stretch>
            <a:fillRect/>
          </a:stretch>
        </p:blipFill>
        <p:spPr>
          <a:xfrm>
            <a:off x="5750892" y="4219658"/>
            <a:ext cx="128699" cy="187198"/>
          </a:xfrm>
          <a:prstGeom prst="rect">
            <a:avLst/>
          </a:prstGeom>
        </p:spPr>
      </p:pic>
      <p:sp>
        <p:nvSpPr>
          <p:cNvPr id="98" name="TextBox 97"/>
          <p:cNvSpPr txBox="1"/>
          <p:nvPr/>
        </p:nvSpPr>
        <p:spPr>
          <a:xfrm>
            <a:off x="59183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9" name="TextBox 98"/>
          <p:cNvSpPr txBox="1"/>
          <p:nvPr/>
        </p:nvSpPr>
        <p:spPr>
          <a:xfrm>
            <a:off x="3838575" y="4447369"/>
            <a:ext cx="774972" cy="186689"/>
          </a:xfrm>
          <a:prstGeom prst="rect">
            <a:avLst/>
          </a:prstGeom>
          <a:noFill/>
        </p:spPr>
        <p:txBody>
          <a:bodyPr wrap="none" lIns="0" rIns="0" tIns="0" bIns="0">
            <a:spAutoFit/>
          </a:bodyPr>
          <a:lstStyle/>
          <a:p>
            <a:r>
              <a:rPr sz="1100" b="0">
                <a:solidFill>
                  <a:srgbClr val="2E2E2E"/>
                </a:solidFill>
                <a:latin typeface="Calibri"/>
              </a:rPr>
              <a:t>● 8-30 days:</a:t>
            </a:r>
          </a:p>
        </p:txBody>
      </p:sp>
      <p:pic>
        <p:nvPicPr>
          <p:cNvPr id="100" name="Picture 99" descr="lock.png"/>
          <p:cNvPicPr>
            <a:picLocks noChangeAspect="1"/>
          </p:cNvPicPr>
          <p:nvPr/>
        </p:nvPicPr>
        <p:blipFill>
          <a:blip r:embed="rId16"/>
          <a:stretch>
            <a:fillRect/>
          </a:stretch>
        </p:blipFill>
        <p:spPr>
          <a:xfrm>
            <a:off x="4561599" y="4437590"/>
            <a:ext cx="128699" cy="187198"/>
          </a:xfrm>
          <a:prstGeom prst="rect">
            <a:avLst/>
          </a:prstGeom>
        </p:spPr>
      </p:pic>
      <p:sp>
        <p:nvSpPr>
          <p:cNvPr id="101" name="TextBox 100"/>
          <p:cNvSpPr txBox="1"/>
          <p:nvPr/>
        </p:nvSpPr>
        <p:spPr>
          <a:xfrm>
            <a:off x="472909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2" name="Picture 101" descr="lock.png"/>
          <p:cNvPicPr>
            <a:picLocks noChangeAspect="1"/>
          </p:cNvPicPr>
          <p:nvPr/>
        </p:nvPicPr>
        <p:blipFill>
          <a:blip r:embed="rId16"/>
          <a:stretch>
            <a:fillRect/>
          </a:stretch>
        </p:blipFill>
        <p:spPr>
          <a:xfrm>
            <a:off x="5588545" y="4437590"/>
            <a:ext cx="128699" cy="187198"/>
          </a:xfrm>
          <a:prstGeom prst="rect">
            <a:avLst/>
          </a:prstGeom>
        </p:spPr>
      </p:pic>
      <p:sp>
        <p:nvSpPr>
          <p:cNvPr id="103" name="TextBox 102"/>
          <p:cNvSpPr txBox="1"/>
          <p:nvPr/>
        </p:nvSpPr>
        <p:spPr>
          <a:xfrm>
            <a:off x="575604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4" name="TextBox 103"/>
          <p:cNvSpPr txBox="1"/>
          <p:nvPr/>
        </p:nvSpPr>
        <p:spPr>
          <a:xfrm>
            <a:off x="3838575" y="4665301"/>
            <a:ext cx="845914" cy="186689"/>
          </a:xfrm>
          <a:prstGeom prst="rect">
            <a:avLst/>
          </a:prstGeom>
          <a:noFill/>
        </p:spPr>
        <p:txBody>
          <a:bodyPr wrap="none" lIns="0" rIns="0" tIns="0" bIns="0">
            <a:spAutoFit/>
          </a:bodyPr>
          <a:lstStyle/>
          <a:p>
            <a:r>
              <a:rPr sz="1100" b="0">
                <a:solidFill>
                  <a:srgbClr val="2E2E2E"/>
                </a:solidFill>
                <a:latin typeface="Calibri"/>
              </a:rPr>
              <a:t>● 31-90 days:</a:t>
            </a:r>
          </a:p>
        </p:txBody>
      </p:sp>
      <p:pic>
        <p:nvPicPr>
          <p:cNvPr id="105" name="Picture 104" descr="lock.png"/>
          <p:cNvPicPr>
            <a:picLocks noChangeAspect="1"/>
          </p:cNvPicPr>
          <p:nvPr/>
        </p:nvPicPr>
        <p:blipFill>
          <a:blip r:embed="rId16"/>
          <a:stretch>
            <a:fillRect/>
          </a:stretch>
        </p:blipFill>
        <p:spPr>
          <a:xfrm>
            <a:off x="4632540" y="4655522"/>
            <a:ext cx="128699" cy="187198"/>
          </a:xfrm>
          <a:prstGeom prst="rect">
            <a:avLst/>
          </a:prstGeom>
        </p:spPr>
      </p:pic>
      <p:sp>
        <p:nvSpPr>
          <p:cNvPr id="106" name="TextBox 105"/>
          <p:cNvSpPr txBox="1"/>
          <p:nvPr/>
        </p:nvSpPr>
        <p:spPr>
          <a:xfrm>
            <a:off x="480003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7" name="Picture 106" descr="lock.png"/>
          <p:cNvPicPr>
            <a:picLocks noChangeAspect="1"/>
          </p:cNvPicPr>
          <p:nvPr/>
        </p:nvPicPr>
        <p:blipFill>
          <a:blip r:embed="rId16"/>
          <a:stretch>
            <a:fillRect/>
          </a:stretch>
        </p:blipFill>
        <p:spPr>
          <a:xfrm>
            <a:off x="5659486" y="4655522"/>
            <a:ext cx="128699" cy="187198"/>
          </a:xfrm>
          <a:prstGeom prst="rect">
            <a:avLst/>
          </a:prstGeom>
        </p:spPr>
      </p:pic>
      <p:sp>
        <p:nvSpPr>
          <p:cNvPr id="108" name="TextBox 107"/>
          <p:cNvSpPr txBox="1"/>
          <p:nvPr/>
        </p:nvSpPr>
        <p:spPr>
          <a:xfrm>
            <a:off x="5826982"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09" name="TextBox 108"/>
          <p:cNvSpPr txBox="1"/>
          <p:nvPr/>
        </p:nvSpPr>
        <p:spPr>
          <a:xfrm>
            <a:off x="3838575" y="4883233"/>
            <a:ext cx="1296665" cy="186689"/>
          </a:xfrm>
          <a:prstGeom prst="rect">
            <a:avLst/>
          </a:prstGeom>
          <a:noFill/>
        </p:spPr>
        <p:txBody>
          <a:bodyPr wrap="none" lIns="0" rIns="0" tIns="0" bIns="0">
            <a:spAutoFit/>
          </a:bodyPr>
          <a:lstStyle/>
          <a:p>
            <a:r>
              <a:rPr sz="1100" b="0">
                <a:solidFill>
                  <a:srgbClr val="2E2E2E"/>
                </a:solidFill>
                <a:latin typeface="Calibri"/>
              </a:rPr>
              <a:t>● More than 90 days:</a:t>
            </a:r>
          </a:p>
        </p:txBody>
      </p:sp>
      <p:pic>
        <p:nvPicPr>
          <p:cNvPr id="110" name="Picture 109" descr="lock.png"/>
          <p:cNvPicPr>
            <a:picLocks noChangeAspect="1"/>
          </p:cNvPicPr>
          <p:nvPr/>
        </p:nvPicPr>
        <p:blipFill>
          <a:blip r:embed="rId16"/>
          <a:stretch>
            <a:fillRect/>
          </a:stretch>
        </p:blipFill>
        <p:spPr>
          <a:xfrm>
            <a:off x="5083291" y="4873454"/>
            <a:ext cx="128699" cy="187198"/>
          </a:xfrm>
          <a:prstGeom prst="rect">
            <a:avLst/>
          </a:prstGeom>
        </p:spPr>
      </p:pic>
      <p:sp>
        <p:nvSpPr>
          <p:cNvPr id="111" name="TextBox 110"/>
          <p:cNvSpPr txBox="1"/>
          <p:nvPr/>
        </p:nvSpPr>
        <p:spPr>
          <a:xfrm>
            <a:off x="525078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2" name="Picture 111" descr="lock.png"/>
          <p:cNvPicPr>
            <a:picLocks noChangeAspect="1"/>
          </p:cNvPicPr>
          <p:nvPr/>
        </p:nvPicPr>
        <p:blipFill>
          <a:blip r:embed="rId16"/>
          <a:stretch>
            <a:fillRect/>
          </a:stretch>
        </p:blipFill>
        <p:spPr>
          <a:xfrm>
            <a:off x="6110237" y="4873454"/>
            <a:ext cx="128699" cy="187198"/>
          </a:xfrm>
          <a:prstGeom prst="rect">
            <a:avLst/>
          </a:prstGeom>
        </p:spPr>
      </p:pic>
      <p:sp>
        <p:nvSpPr>
          <p:cNvPr id="113" name="TextBox 112"/>
          <p:cNvSpPr txBox="1"/>
          <p:nvPr/>
        </p:nvSpPr>
        <p:spPr>
          <a:xfrm>
            <a:off x="6277733"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4" name="TextBox 113"/>
          <p:cNvSpPr txBox="1"/>
          <p:nvPr/>
        </p:nvSpPr>
        <p:spPr>
          <a:xfrm>
            <a:off x="8524875" y="5842641"/>
            <a:ext cx="2952985" cy="194310"/>
          </a:xfrm>
          <a:prstGeom prst="rect">
            <a:avLst/>
          </a:prstGeom>
          <a:noFill/>
        </p:spPr>
        <p:txBody>
          <a:bodyPr wrap="none" lIns="0" rIns="0" tIns="0" bIns="0">
            <a:spAutoFit/>
          </a:bodyPr>
          <a:lstStyle/>
          <a:p>
            <a:r>
              <a:rPr sz="1150" b="1">
                <a:solidFill>
                  <a:srgbClr val="0B2E4A"/>
                </a:solidFill>
                <a:latin typeface="Calibri"/>
              </a:rPr>
              <a:t>The Shelf Life segment is projected to grow at a</a:t>
            </a:r>
          </a:p>
        </p:txBody>
      </p:sp>
      <p:sp>
        <p:nvSpPr>
          <p:cNvPr id="115" name="TextBox 11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16" name="Picture 115" descr="lock.png"/>
          <p:cNvPicPr>
            <a:picLocks noChangeAspect="1"/>
          </p:cNvPicPr>
          <p:nvPr/>
        </p:nvPicPr>
        <p:blipFill>
          <a:blip r:embed="rId16"/>
          <a:stretch>
            <a:fillRect/>
          </a:stretch>
        </p:blipFill>
        <p:spPr>
          <a:xfrm>
            <a:off x="9048826" y="6007677"/>
            <a:ext cx="134549" cy="195707"/>
          </a:xfrm>
          <a:prstGeom prst="rect">
            <a:avLst/>
          </a:prstGeom>
        </p:spPr>
      </p:pic>
      <p:sp>
        <p:nvSpPr>
          <p:cNvPr id="117" name="TextBox 11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Shelf Life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Shelf Life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Shelf Life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Shelf Life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50692" cy="186689"/>
          </a:xfrm>
          <a:prstGeom prst="rect">
            <a:avLst/>
          </a:prstGeom>
          <a:noFill/>
        </p:spPr>
        <p:txBody>
          <a:bodyPr wrap="none" lIns="0" rIns="0" tIns="0" bIns="0">
            <a:spAutoFit/>
          </a:bodyPr>
          <a:lstStyle/>
          <a:p>
            <a:r>
              <a:rPr sz="1100" b="0">
                <a:solidFill>
                  <a:srgbClr val="2E2E2E"/>
                </a:solidFill>
                <a:latin typeface="Calibri"/>
              </a:rPr>
              <a:t>Between 2026 and 2036, '31-90 days' gains the most share in the Global market (+</a:t>
            </a:r>
          </a:p>
        </p:txBody>
      </p:sp>
      <p:pic>
        <p:nvPicPr>
          <p:cNvPr id="21" name="Picture 20" descr="lock.png"/>
          <p:cNvPicPr>
            <a:picLocks noChangeAspect="1"/>
          </p:cNvPicPr>
          <p:nvPr/>
        </p:nvPicPr>
        <p:blipFill>
          <a:blip r:embed="rId6"/>
          <a:stretch>
            <a:fillRect/>
          </a:stretch>
        </p:blipFill>
        <p:spPr>
          <a:xfrm>
            <a:off x="4955919" y="5935726"/>
            <a:ext cx="128699" cy="187198"/>
          </a:xfrm>
          <a:prstGeom prst="rect">
            <a:avLst/>
          </a:prstGeom>
        </p:spPr>
      </p:pic>
      <p:sp>
        <p:nvSpPr>
          <p:cNvPr id="22" name="TextBox 21"/>
          <p:cNvSpPr txBox="1"/>
          <p:nvPr/>
        </p:nvSpPr>
        <p:spPr>
          <a:xfrm>
            <a:off x="5123415" y="5945505"/>
            <a:ext cx="1666651" cy="186689"/>
          </a:xfrm>
          <a:prstGeom prst="rect">
            <a:avLst/>
          </a:prstGeom>
          <a:noFill/>
        </p:spPr>
        <p:txBody>
          <a:bodyPr wrap="none" lIns="0" rIns="0" tIns="0" bIns="0">
            <a:spAutoFit/>
          </a:bodyPr>
          <a:lstStyle/>
          <a:p>
            <a:r>
              <a:rPr sz="1100" b="0">
                <a:solidFill>
                  <a:srgbClr val="2E2E2E"/>
                </a:solidFill>
                <a:latin typeface="Calibri"/>
              </a:rPr>
              <a:t>BPS) while '8-30 days' cedes</a:t>
            </a:r>
          </a:p>
        </p:txBody>
      </p:sp>
      <p:pic>
        <p:nvPicPr>
          <p:cNvPr id="23" name="Picture 22" descr="lock.png"/>
          <p:cNvPicPr>
            <a:picLocks noChangeAspect="1"/>
          </p:cNvPicPr>
          <p:nvPr/>
        </p:nvPicPr>
        <p:blipFill>
          <a:blip r:embed="rId6"/>
          <a:stretch>
            <a:fillRect/>
          </a:stretch>
        </p:blipFill>
        <p:spPr>
          <a:xfrm>
            <a:off x="6738118" y="5935726"/>
            <a:ext cx="128699" cy="187198"/>
          </a:xfrm>
          <a:prstGeom prst="rect">
            <a:avLst/>
          </a:prstGeom>
        </p:spPr>
      </p:pic>
      <p:sp>
        <p:nvSpPr>
          <p:cNvPr id="24" name="TextBox 23"/>
          <p:cNvSpPr txBox="1"/>
          <p:nvPr/>
        </p:nvSpPr>
        <p:spPr>
          <a:xfrm>
            <a:off x="6905614"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Shelf Life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Up to 7 days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8-30 days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31-90 days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More than 90 days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4151" y="5123309"/>
            <a:ext cx="263506" cy="383281"/>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Shelf Life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43125"/>
          </a:xfrm>
          <a:prstGeom prst="roundRect">
            <a:avLst>
              <a:gd name="adj" fmla="val 35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Shelf Life (MT)</a:t>
            </a:r>
          </a:p>
        </p:txBody>
      </p:sp>
      <p:graphicFrame>
        <p:nvGraphicFramePr>
          <p:cNvPr id="13" name="Table 12"/>
          <p:cNvGraphicFramePr>
            <a:graphicFrameLocks noGrp="1"/>
          </p:cNvGraphicFramePr>
          <p:nvPr/>
        </p:nvGraphicFramePr>
        <p:xfrm>
          <a:off x="152400" y="1238250"/>
          <a:ext cx="11887208" cy="1676402"/>
        </p:xfrm>
        <a:graphic>
          <a:graphicData uri="http://schemas.openxmlformats.org/drawingml/2006/table">
            <a:tbl>
              <a:tblPr>
                <a:tableStyleId>{5C22544A-7EE6-4342-B048-85BDC9FD1C3A}</a:tableStyleId>
              </a:tblPr>
              <a:tblGrid>
                <a:gridCol w="1180624"/>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450056"/>
              </a:tblGrid>
              <a:tr h="438912">
                <a:tc>
                  <a:txBody>
                    <a:bodyPr wrap="none"/>
                    <a:lstStyle/>
                    <a:p>
                      <a:pPr algn="l"/>
                      <a:r>
                        <a:rPr sz="1100" b="1">
                          <a:solidFill>
                            <a:srgbClr val="0B2E4A"/>
                          </a:solidFill>
                          <a:latin typeface="Calibri"/>
                        </a:rPr>
                        <a:t>Shelf Life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498">
                <a:tc>
                  <a:txBody>
                    <a:bodyPr wrap="none"/>
                    <a:lstStyle/>
                    <a:p>
                      <a:pPr algn="l"/>
                      <a:r>
                        <a:rPr sz="1100" b="1">
                          <a:solidFill>
                            <a:srgbClr val="2E2E2E"/>
                          </a:solidFill>
                          <a:latin typeface="Calibri"/>
                        </a:rPr>
                        <a:t>Up to 7 days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8-30 days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31-90 days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498">
                <a:tc>
                  <a:txBody>
                    <a:bodyPr wrap="none"/>
                    <a:lstStyle/>
                    <a:p>
                      <a:pPr algn="l"/>
                      <a:r>
                        <a:rPr sz="1100" b="1">
                          <a:solidFill>
                            <a:srgbClr val="2E2E2E"/>
                          </a:solidFill>
                          <a:latin typeface="Calibri"/>
                        </a:rPr>
                        <a:t>More than 90 days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49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924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57550"/>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43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Shelf Life</a:t>
            </a:r>
          </a:p>
        </p:txBody>
      </p:sp>
      <p:sp>
        <p:nvSpPr>
          <p:cNvPr id="17" name="Rectangle 16"/>
          <p:cNvSpPr/>
          <p:nvPr/>
        </p:nvSpPr>
        <p:spPr>
          <a:xfrm>
            <a:off x="276225" y="3581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67125"/>
            <a:ext cx="11639550" cy="2886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99626" y="2029206"/>
            <a:ext cx="366712" cy="533400"/>
          </a:xfrm>
          <a:prstGeom prst="rect">
            <a:avLst/>
          </a:prstGeom>
        </p:spPr>
      </p:pic>
      <p:sp>
        <p:nvSpPr>
          <p:cNvPr id="21" name="TextBox 20"/>
          <p:cNvSpPr txBox="1"/>
          <p:nvPr/>
        </p:nvSpPr>
        <p:spPr>
          <a:xfrm>
            <a:off x="276225" y="36766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666426"/>
            <a:ext cx="134549" cy="195707"/>
          </a:xfrm>
          <a:prstGeom prst="rect">
            <a:avLst/>
          </a:prstGeom>
        </p:spPr>
      </p:pic>
      <p:sp>
        <p:nvSpPr>
          <p:cNvPr id="23" name="TextBox 22"/>
          <p:cNvSpPr txBox="1"/>
          <p:nvPr/>
        </p:nvSpPr>
        <p:spPr>
          <a:xfrm>
            <a:off x="2844010" y="36766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873743" y="3666426"/>
            <a:ext cx="134549" cy="195707"/>
          </a:xfrm>
          <a:prstGeom prst="rect">
            <a:avLst/>
          </a:prstGeom>
        </p:spPr>
      </p:pic>
      <p:sp>
        <p:nvSpPr>
          <p:cNvPr id="25" name="TextBox 24"/>
          <p:cNvSpPr txBox="1"/>
          <p:nvPr/>
        </p:nvSpPr>
        <p:spPr>
          <a:xfrm>
            <a:off x="4048852" y="36766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9044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894264"/>
            <a:ext cx="134549" cy="195707"/>
          </a:xfrm>
          <a:prstGeom prst="rect">
            <a:avLst/>
          </a:prstGeom>
        </p:spPr>
      </p:pic>
      <p:sp>
        <p:nvSpPr>
          <p:cNvPr id="28" name="TextBox 27"/>
          <p:cNvSpPr txBox="1"/>
          <p:nvPr/>
        </p:nvSpPr>
        <p:spPr>
          <a:xfrm>
            <a:off x="2094077" y="39044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132325"/>
            <a:ext cx="2298327" cy="194310"/>
          </a:xfrm>
          <a:prstGeom prst="rect">
            <a:avLst/>
          </a:prstGeom>
          <a:noFill/>
        </p:spPr>
        <p:txBody>
          <a:bodyPr wrap="none" lIns="0" rIns="0" tIns="0" bIns="0">
            <a:spAutoFit/>
          </a:bodyPr>
          <a:lstStyle/>
          <a:p>
            <a:r>
              <a:rPr sz="1150" b="0">
                <a:solidFill>
                  <a:srgbClr val="2E2E2E"/>
                </a:solidFill>
                <a:latin typeface="Calibri"/>
              </a:rPr>
              <a:t>▪ Share shifts toward 'Up to 7 days' (+</a:t>
            </a:r>
          </a:p>
        </p:txBody>
      </p:sp>
      <p:pic>
        <p:nvPicPr>
          <p:cNvPr id="30" name="Picture 29" descr="lock.png"/>
          <p:cNvPicPr>
            <a:picLocks noChangeAspect="1"/>
          </p:cNvPicPr>
          <p:nvPr/>
        </p:nvPicPr>
        <p:blipFill>
          <a:blip r:embed="rId4"/>
          <a:stretch>
            <a:fillRect/>
          </a:stretch>
        </p:blipFill>
        <p:spPr>
          <a:xfrm>
            <a:off x="2523706" y="4122102"/>
            <a:ext cx="134549" cy="195707"/>
          </a:xfrm>
          <a:prstGeom prst="rect">
            <a:avLst/>
          </a:prstGeom>
        </p:spPr>
      </p:pic>
      <p:sp>
        <p:nvSpPr>
          <p:cNvPr id="31" name="TextBox 30"/>
          <p:cNvSpPr txBox="1"/>
          <p:nvPr/>
        </p:nvSpPr>
        <p:spPr>
          <a:xfrm>
            <a:off x="2698816" y="41323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702691" y="4122102"/>
            <a:ext cx="134549" cy="195707"/>
          </a:xfrm>
          <a:prstGeom prst="rect">
            <a:avLst/>
          </a:prstGeom>
        </p:spPr>
      </p:pic>
      <p:sp>
        <p:nvSpPr>
          <p:cNvPr id="33" name="TextBox 32"/>
          <p:cNvSpPr txBox="1"/>
          <p:nvPr/>
        </p:nvSpPr>
        <p:spPr>
          <a:xfrm>
            <a:off x="4877800" y="41323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601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349940"/>
            <a:ext cx="134549" cy="195707"/>
          </a:xfrm>
          <a:prstGeom prst="rect">
            <a:avLst/>
          </a:prstGeom>
        </p:spPr>
      </p:pic>
      <p:sp>
        <p:nvSpPr>
          <p:cNvPr id="36" name="TextBox 35"/>
          <p:cNvSpPr txBox="1"/>
          <p:nvPr/>
        </p:nvSpPr>
        <p:spPr>
          <a:xfrm>
            <a:off x="1965143" y="43601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349940"/>
            <a:ext cx="134549" cy="195707"/>
          </a:xfrm>
          <a:prstGeom prst="rect">
            <a:avLst/>
          </a:prstGeom>
        </p:spPr>
      </p:pic>
      <p:sp>
        <p:nvSpPr>
          <p:cNvPr id="38" name="TextBox 37"/>
          <p:cNvSpPr txBox="1"/>
          <p:nvPr/>
        </p:nvSpPr>
        <p:spPr>
          <a:xfrm>
            <a:off x="2291688" y="43601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Shelf Life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Shelf Life,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Shelf Life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377045"/>
                <a:gridCol w="618244"/>
                <a:gridCol w="618244"/>
                <a:gridCol w="618244"/>
                <a:gridCol w="618244"/>
                <a:gridCol w="618244"/>
                <a:gridCol w="618244"/>
                <a:gridCol w="618244"/>
                <a:gridCol w="618244"/>
                <a:gridCol w="618244"/>
                <a:gridCol w="618244"/>
                <a:gridCol w="618244"/>
                <a:gridCol w="618244"/>
                <a:gridCol w="618244"/>
                <a:gridCol w="618244"/>
                <a:gridCol w="618244"/>
                <a:gridCol w="618244"/>
                <a:gridCol w="618244"/>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Shelf Life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97829" y="1837563"/>
            <a:ext cx="366712" cy="533400"/>
          </a:xfrm>
          <a:prstGeom prst="rect">
            <a:avLst/>
          </a:prstGeom>
        </p:spPr>
      </p:pic>
      <p:sp>
        <p:nvSpPr>
          <p:cNvPr id="21" name="TextBox 20"/>
          <p:cNvSpPr txBox="1"/>
          <p:nvPr/>
        </p:nvSpPr>
        <p:spPr>
          <a:xfrm>
            <a:off x="276225" y="3486150"/>
            <a:ext cx="2443522" cy="194310"/>
          </a:xfrm>
          <a:prstGeom prst="rect">
            <a:avLst/>
          </a:prstGeom>
          <a:noFill/>
        </p:spPr>
        <p:txBody>
          <a:bodyPr wrap="none" lIns="0" rIns="0" tIns="0" bIns="0">
            <a:spAutoFit/>
          </a:bodyPr>
          <a:lstStyle/>
          <a:p>
            <a:r>
              <a:rPr sz="1150" b="0">
                <a:solidFill>
                  <a:srgbClr val="2E2E2E"/>
                </a:solidFill>
                <a:latin typeface="Calibri"/>
              </a:rPr>
              <a:t>▪ 'Up to 7 days' is the largest shelf life at</a:t>
            </a:r>
          </a:p>
        </p:txBody>
      </p:sp>
      <p:pic>
        <p:nvPicPr>
          <p:cNvPr id="22" name="Picture 21" descr="lock.png"/>
          <p:cNvPicPr>
            <a:picLocks noChangeAspect="1"/>
          </p:cNvPicPr>
          <p:nvPr/>
        </p:nvPicPr>
        <p:blipFill>
          <a:blip r:embed="rId4"/>
          <a:stretch>
            <a:fillRect/>
          </a:stretch>
        </p:blipFill>
        <p:spPr>
          <a:xfrm>
            <a:off x="2668901" y="3475926"/>
            <a:ext cx="134549" cy="195707"/>
          </a:xfrm>
          <a:prstGeom prst="rect">
            <a:avLst/>
          </a:prstGeom>
        </p:spPr>
      </p:pic>
      <p:sp>
        <p:nvSpPr>
          <p:cNvPr id="23" name="TextBox 22"/>
          <p:cNvSpPr txBox="1"/>
          <p:nvPr/>
        </p:nvSpPr>
        <p:spPr>
          <a:xfrm>
            <a:off x="2844010"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749943" y="3475926"/>
            <a:ext cx="134549" cy="195707"/>
          </a:xfrm>
          <a:prstGeom prst="rect">
            <a:avLst/>
          </a:prstGeom>
        </p:spPr>
      </p:pic>
      <p:sp>
        <p:nvSpPr>
          <p:cNvPr id="25" name="TextBox 24"/>
          <p:cNvSpPr txBox="1"/>
          <p:nvPr/>
        </p:nvSpPr>
        <p:spPr>
          <a:xfrm>
            <a:off x="3925052"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1693589" cy="194310"/>
          </a:xfrm>
          <a:prstGeom prst="rect">
            <a:avLst/>
          </a:prstGeom>
          <a:noFill/>
        </p:spPr>
        <p:txBody>
          <a:bodyPr wrap="none" lIns="0" rIns="0" tIns="0" bIns="0">
            <a:spAutoFit/>
          </a:bodyPr>
          <a:lstStyle/>
          <a:p>
            <a:r>
              <a:rPr sz="1150" b="0">
                <a:solidFill>
                  <a:srgbClr val="2E2E2E"/>
                </a:solidFill>
                <a:latin typeface="Calibri"/>
              </a:rPr>
              <a:t>▪ '31-90 days' grows fastest</a:t>
            </a:r>
          </a:p>
        </p:txBody>
      </p:sp>
      <p:pic>
        <p:nvPicPr>
          <p:cNvPr id="27" name="Picture 26" descr="lock.png"/>
          <p:cNvPicPr>
            <a:picLocks noChangeAspect="1"/>
          </p:cNvPicPr>
          <p:nvPr/>
        </p:nvPicPr>
        <p:blipFill>
          <a:blip r:embed="rId4"/>
          <a:stretch>
            <a:fillRect/>
          </a:stretch>
        </p:blipFill>
        <p:spPr>
          <a:xfrm>
            <a:off x="1918968" y="3703764"/>
            <a:ext cx="134549" cy="195707"/>
          </a:xfrm>
          <a:prstGeom prst="rect">
            <a:avLst/>
          </a:prstGeom>
        </p:spPr>
      </p:pic>
      <p:sp>
        <p:nvSpPr>
          <p:cNvPr id="28" name="TextBox 27"/>
          <p:cNvSpPr txBox="1"/>
          <p:nvPr/>
        </p:nvSpPr>
        <p:spPr>
          <a:xfrm>
            <a:off x="2094077"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202767" cy="194310"/>
          </a:xfrm>
          <a:prstGeom prst="rect">
            <a:avLst/>
          </a:prstGeom>
          <a:noFill/>
        </p:spPr>
        <p:txBody>
          <a:bodyPr wrap="none" lIns="0" rIns="0" tIns="0" bIns="0">
            <a:spAutoFit/>
          </a:bodyPr>
          <a:lstStyle/>
          <a:p>
            <a:r>
              <a:rPr sz="1150" b="0">
                <a:solidFill>
                  <a:srgbClr val="2E2E2E"/>
                </a:solidFill>
                <a:latin typeface="Calibri"/>
              </a:rPr>
              <a:t>▪ Share shifts toward '31-90 days' (+</a:t>
            </a:r>
          </a:p>
        </p:txBody>
      </p:sp>
      <p:pic>
        <p:nvPicPr>
          <p:cNvPr id="30" name="Picture 29" descr="lock.png"/>
          <p:cNvPicPr>
            <a:picLocks noChangeAspect="1"/>
          </p:cNvPicPr>
          <p:nvPr/>
        </p:nvPicPr>
        <p:blipFill>
          <a:blip r:embed="rId4"/>
          <a:stretch>
            <a:fillRect/>
          </a:stretch>
        </p:blipFill>
        <p:spPr>
          <a:xfrm>
            <a:off x="2428146" y="3931602"/>
            <a:ext cx="134549" cy="195707"/>
          </a:xfrm>
          <a:prstGeom prst="rect">
            <a:avLst/>
          </a:prstGeom>
        </p:spPr>
      </p:pic>
      <p:sp>
        <p:nvSpPr>
          <p:cNvPr id="31" name="TextBox 30"/>
          <p:cNvSpPr txBox="1"/>
          <p:nvPr/>
        </p:nvSpPr>
        <p:spPr>
          <a:xfrm>
            <a:off x="2603256" y="3941825"/>
            <a:ext cx="2054721" cy="194310"/>
          </a:xfrm>
          <a:prstGeom prst="rect">
            <a:avLst/>
          </a:prstGeom>
          <a:noFill/>
        </p:spPr>
        <p:txBody>
          <a:bodyPr wrap="none" lIns="0" rIns="0" tIns="0" bIns="0">
            <a:spAutoFit/>
          </a:bodyPr>
          <a:lstStyle/>
          <a:p>
            <a:r>
              <a:rPr sz="1150" b="0">
                <a:solidFill>
                  <a:srgbClr val="2E2E2E"/>
                </a:solidFill>
                <a:latin typeface="Calibri"/>
              </a:rPr>
              <a:t>BPS) and away from '8-30 days' (-</a:t>
            </a:r>
          </a:p>
        </p:txBody>
      </p:sp>
      <p:pic>
        <p:nvPicPr>
          <p:cNvPr id="32" name="Picture 31" descr="lock.png"/>
          <p:cNvPicPr>
            <a:picLocks noChangeAspect="1"/>
          </p:cNvPicPr>
          <p:nvPr/>
        </p:nvPicPr>
        <p:blipFill>
          <a:blip r:embed="rId4"/>
          <a:stretch>
            <a:fillRect/>
          </a:stretch>
        </p:blipFill>
        <p:spPr>
          <a:xfrm>
            <a:off x="4607131" y="3931602"/>
            <a:ext cx="134549" cy="195707"/>
          </a:xfrm>
          <a:prstGeom prst="rect">
            <a:avLst/>
          </a:prstGeom>
        </p:spPr>
      </p:pic>
      <p:sp>
        <p:nvSpPr>
          <p:cNvPr id="33" name="TextBox 32"/>
          <p:cNvSpPr txBox="1"/>
          <p:nvPr/>
        </p:nvSpPr>
        <p:spPr>
          <a:xfrm>
            <a:off x="4782240"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Shelf Life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Shelf Life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Shelf Life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9939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946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184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8-30 days</a:t>
            </a:r>
          </a:p>
        </p:txBody>
      </p:sp>
      <p:sp>
        <p:nvSpPr>
          <p:cNvPr id="19" name="BPS Value 1"/>
          <p:cNvSpPr txBox="1"/>
          <p:nvPr/>
        </p:nvSpPr>
        <p:spPr>
          <a:xfrm>
            <a:off x="6896100" y="17803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3870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3823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3061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More than 90 days</a:t>
            </a:r>
          </a:p>
        </p:txBody>
      </p:sp>
      <p:sp>
        <p:nvSpPr>
          <p:cNvPr id="23" name="BPS Value 2"/>
          <p:cNvSpPr txBox="1"/>
          <p:nvPr/>
        </p:nvSpPr>
        <p:spPr>
          <a:xfrm>
            <a:off x="6896100" y="236803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0401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0354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9592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31-90 days</a:t>
            </a:r>
          </a:p>
        </p:txBody>
      </p:sp>
      <p:sp>
        <p:nvSpPr>
          <p:cNvPr id="27" name="BPS Value 3"/>
          <p:cNvSpPr txBox="1"/>
          <p:nvPr/>
        </p:nvSpPr>
        <p:spPr>
          <a:xfrm>
            <a:off x="6896100" y="302113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48209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48162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7400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Up to 7 days</a:t>
            </a:r>
          </a:p>
        </p:txBody>
      </p:sp>
      <p:sp>
        <p:nvSpPr>
          <p:cNvPr id="31" name="BPS Value 4"/>
          <p:cNvSpPr txBox="1"/>
          <p:nvPr/>
        </p:nvSpPr>
        <p:spPr>
          <a:xfrm>
            <a:off x="6896100" y="48019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Shelf Life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751325"/>
            <a:ext cx="275034" cy="400050"/>
          </a:xfrm>
          <a:prstGeom prst="rect">
            <a:avLst/>
          </a:prstGeom>
        </p:spPr>
      </p:pic>
      <p:sp>
        <p:nvSpPr>
          <p:cNvPr id="38" name="TextBox 37"/>
          <p:cNvSpPr txBox="1"/>
          <p:nvPr/>
        </p:nvSpPr>
        <p:spPr>
          <a:xfrm>
            <a:off x="7829550" y="1400175"/>
            <a:ext cx="2239850" cy="194310"/>
          </a:xfrm>
          <a:prstGeom prst="rect">
            <a:avLst/>
          </a:prstGeom>
          <a:noFill/>
        </p:spPr>
        <p:txBody>
          <a:bodyPr wrap="none" lIns="0" rIns="0" tIns="0" bIns="0">
            <a:spAutoFit/>
          </a:bodyPr>
          <a:lstStyle/>
          <a:p>
            <a:r>
              <a:rPr sz="1150" b="0">
                <a:solidFill>
                  <a:srgbClr val="2E2E2E"/>
                </a:solidFill>
                <a:latin typeface="Calibri"/>
              </a:rPr>
              <a:t>▪ '31-90 days' gains the most share +</a:t>
            </a:r>
          </a:p>
        </p:txBody>
      </p:sp>
      <p:pic>
        <p:nvPicPr>
          <p:cNvPr id="39" name="Picture 38" descr="lock.png"/>
          <p:cNvPicPr>
            <a:picLocks noChangeAspect="1"/>
          </p:cNvPicPr>
          <p:nvPr/>
        </p:nvPicPr>
        <p:blipFill>
          <a:blip r:embed="rId5"/>
          <a:stretch>
            <a:fillRect/>
          </a:stretch>
        </p:blipFill>
        <p:spPr>
          <a:xfrm>
            <a:off x="10018554" y="1389951"/>
            <a:ext cx="134549" cy="195707"/>
          </a:xfrm>
          <a:prstGeom prst="rect">
            <a:avLst/>
          </a:prstGeom>
        </p:spPr>
      </p:pic>
      <p:sp>
        <p:nvSpPr>
          <p:cNvPr id="40" name="TextBox 39"/>
          <p:cNvSpPr txBox="1"/>
          <p:nvPr/>
        </p:nvSpPr>
        <p:spPr>
          <a:xfrm>
            <a:off x="10193664"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812255" cy="194310"/>
          </a:xfrm>
          <a:prstGeom prst="rect">
            <a:avLst/>
          </a:prstGeom>
          <a:noFill/>
        </p:spPr>
        <p:txBody>
          <a:bodyPr wrap="none" lIns="0" rIns="0" tIns="0" bIns="0">
            <a:spAutoFit/>
          </a:bodyPr>
          <a:lstStyle/>
          <a:p>
            <a:r>
              <a:rPr sz="1150" b="0">
                <a:solidFill>
                  <a:srgbClr val="2E2E2E"/>
                </a:solidFill>
                <a:latin typeface="Calibri"/>
              </a:rPr>
              <a:t>▪ '8-30 days' cedes the most -</a:t>
            </a:r>
          </a:p>
        </p:txBody>
      </p:sp>
      <p:pic>
        <p:nvPicPr>
          <p:cNvPr id="43" name="Picture 42" descr="lock.png"/>
          <p:cNvPicPr>
            <a:picLocks noChangeAspect="1"/>
          </p:cNvPicPr>
          <p:nvPr/>
        </p:nvPicPr>
        <p:blipFill>
          <a:blip r:embed="rId5"/>
          <a:stretch>
            <a:fillRect/>
          </a:stretch>
        </p:blipFill>
        <p:spPr>
          <a:xfrm>
            <a:off x="9590959" y="1793049"/>
            <a:ext cx="134549" cy="195707"/>
          </a:xfrm>
          <a:prstGeom prst="rect">
            <a:avLst/>
          </a:prstGeom>
        </p:spPr>
      </p:pic>
      <p:sp>
        <p:nvSpPr>
          <p:cNvPr id="44" name="TextBox 43"/>
          <p:cNvSpPr txBox="1"/>
          <p:nvPr/>
        </p:nvSpPr>
        <p:spPr>
          <a:xfrm>
            <a:off x="9766068"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2870262" cy="194310"/>
          </a:xfrm>
          <a:prstGeom prst="rect">
            <a:avLst/>
          </a:prstGeom>
          <a:noFill/>
        </p:spPr>
        <p:txBody>
          <a:bodyPr wrap="none" lIns="0" rIns="0" tIns="0" bIns="0">
            <a:spAutoFit/>
          </a:bodyPr>
          <a:lstStyle/>
          <a:p>
            <a:r>
              <a:rPr sz="1150" b="0">
                <a:solidFill>
                  <a:srgbClr val="2E2E2E"/>
                </a:solidFill>
                <a:latin typeface="Calibri"/>
              </a:rPr>
              <a:t>▪ '31-90 days' is the fastest-growing shelf life at</a:t>
            </a:r>
          </a:p>
        </p:txBody>
      </p:sp>
      <p:pic>
        <p:nvPicPr>
          <p:cNvPr id="47" name="Picture 46" descr="lock.png"/>
          <p:cNvPicPr>
            <a:picLocks noChangeAspect="1"/>
          </p:cNvPicPr>
          <p:nvPr/>
        </p:nvPicPr>
        <p:blipFill>
          <a:blip r:embed="rId5"/>
          <a:stretch>
            <a:fillRect/>
          </a:stretch>
        </p:blipFill>
        <p:spPr>
          <a:xfrm>
            <a:off x="10648965" y="2196147"/>
            <a:ext cx="134549" cy="195707"/>
          </a:xfrm>
          <a:prstGeom prst="rect">
            <a:avLst/>
          </a:prstGeom>
        </p:spPr>
      </p:pic>
      <p:sp>
        <p:nvSpPr>
          <p:cNvPr id="48" name="TextBox 47"/>
          <p:cNvSpPr txBox="1"/>
          <p:nvPr/>
        </p:nvSpPr>
        <p:spPr>
          <a:xfrm>
            <a:off x="10824075"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Shelf Life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Shelf Life,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Shelf Life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7" cy="1238250"/>
        </p:xfrm>
        <a:graphic>
          <a:graphicData uri="http://schemas.openxmlformats.org/drawingml/2006/table">
            <a:tbl>
              <a:tblPr>
                <a:tableStyleId>{5C22544A-7EE6-4342-B048-85BDC9FD1C3A}</a:tableStyleId>
              </a:tblPr>
              <a:tblGrid>
                <a:gridCol w="1509262"/>
                <a:gridCol w="691863"/>
                <a:gridCol w="691863"/>
                <a:gridCol w="691863"/>
                <a:gridCol w="691863"/>
                <a:gridCol w="691863"/>
                <a:gridCol w="691863"/>
                <a:gridCol w="691863"/>
                <a:gridCol w="691863"/>
                <a:gridCol w="691863"/>
                <a:gridCol w="691863"/>
                <a:gridCol w="691863"/>
                <a:gridCol w="691863"/>
                <a:gridCol w="691863"/>
                <a:gridCol w="691863"/>
                <a:gridCol w="691863"/>
              </a:tblGrid>
              <a:tr h="246126">
                <a:tc>
                  <a:txBody>
                    <a:bodyPr wrap="none"/>
                    <a:lstStyle/>
                    <a:p>
                      <a:pPr algn="l"/>
                      <a:r>
                        <a:rPr sz="1100" b="1">
                          <a:solidFill>
                            <a:srgbClr val="0B2E4A"/>
                          </a:solidFill>
                          <a:latin typeface="Calibri"/>
                        </a:rPr>
                        <a:t>Shelf Life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Up to 7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8-30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31-90 days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More than 90 days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Shelf Life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Up to 7 days</a:t>
            </a:r>
          </a:p>
        </p:txBody>
      </p:sp>
      <p:sp>
        <p:nvSpPr>
          <p:cNvPr id="33" name="Rectangle 32"/>
          <p:cNvSpPr/>
          <p:nvPr/>
        </p:nvSpPr>
        <p:spPr>
          <a:xfrm>
            <a:off x="1857375" y="3248025"/>
            <a:ext cx="643890" cy="831056"/>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2B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8-30 days</a:t>
            </a:r>
          </a:p>
        </p:txBody>
      </p:sp>
      <p:sp>
        <p:nvSpPr>
          <p:cNvPr id="49" name="Rectangle 48"/>
          <p:cNvSpPr/>
          <p:nvPr/>
        </p:nvSpPr>
        <p:spPr>
          <a:xfrm>
            <a:off x="1857375" y="4079081"/>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31-90 days</a:t>
            </a:r>
          </a:p>
        </p:txBody>
      </p:sp>
      <p:sp>
        <p:nvSpPr>
          <p:cNvPr id="65" name="Rectangle 64"/>
          <p:cNvSpPr/>
          <p:nvPr/>
        </p:nvSpPr>
        <p:spPr>
          <a:xfrm>
            <a:off x="1857375" y="4910138"/>
            <a:ext cx="643890" cy="831056"/>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More than 90 days</a:t>
            </a:r>
          </a:p>
        </p:txBody>
      </p:sp>
      <p:sp>
        <p:nvSpPr>
          <p:cNvPr id="81" name="Rectangle 80"/>
          <p:cNvSpPr/>
          <p:nvPr/>
        </p:nvSpPr>
        <p:spPr>
          <a:xfrm>
            <a:off x="185737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663944" y="1713738"/>
            <a:ext cx="366712" cy="533400"/>
          </a:xfrm>
          <a:prstGeom prst="rect">
            <a:avLst/>
          </a:prstGeom>
        </p:spPr>
      </p:pic>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Format</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Format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Format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Packaging Format,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Format segment categorizes the market by packaging format.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Rigid plastic packs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Paperboard packs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packs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formats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Format split shows how demand is distributed across packaging format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5_200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8_691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5_3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_95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68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7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_292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360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452_0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_013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8_4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703487" cy="186689"/>
          </a:xfrm>
          <a:prstGeom prst="rect">
            <a:avLst/>
          </a:prstGeom>
          <a:noFill/>
        </p:spPr>
        <p:txBody>
          <a:bodyPr wrap="none" lIns="0" rIns="0" tIns="0" bIns="0">
            <a:spAutoFit/>
          </a:bodyPr>
          <a:lstStyle/>
          <a:p>
            <a:r>
              <a:rPr sz="1100" b="0">
                <a:solidFill>
                  <a:srgbClr val="2E2E2E"/>
                </a:solidFill>
                <a:latin typeface="Calibri"/>
              </a:rPr>
              <a:t>▪ 'Rigid plastic packs' holds the largest share in</a:t>
            </a:r>
          </a:p>
        </p:txBody>
      </p:sp>
      <p:sp>
        <p:nvSpPr>
          <p:cNvPr id="81" name="TextBox 80"/>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82" name="Picture 81" descr="lock.png"/>
          <p:cNvPicPr>
            <a:picLocks noChangeAspect="1"/>
          </p:cNvPicPr>
          <p:nvPr/>
        </p:nvPicPr>
        <p:blipFill>
          <a:blip r:embed="rId16"/>
          <a:stretch>
            <a:fillRect/>
          </a:stretch>
        </p:blipFill>
        <p:spPr>
          <a:xfrm>
            <a:off x="793792" y="4387298"/>
            <a:ext cx="128699" cy="187198"/>
          </a:xfrm>
          <a:prstGeom prst="rect">
            <a:avLst/>
          </a:prstGeom>
        </p:spPr>
      </p:pic>
      <p:sp>
        <p:nvSpPr>
          <p:cNvPr id="83" name="TextBox 82"/>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84" name="TextBox 83"/>
          <p:cNvSpPr txBox="1"/>
          <p:nvPr/>
        </p:nvSpPr>
        <p:spPr>
          <a:xfrm>
            <a:off x="485775" y="4615009"/>
            <a:ext cx="2881386" cy="186689"/>
          </a:xfrm>
          <a:prstGeom prst="rect">
            <a:avLst/>
          </a:prstGeom>
          <a:noFill/>
        </p:spPr>
        <p:txBody>
          <a:bodyPr wrap="none" lIns="0" rIns="0" tIns="0" bIns="0">
            <a:spAutoFit/>
          </a:bodyPr>
          <a:lstStyle/>
          <a:p>
            <a:r>
              <a:rPr sz="1100" b="0">
                <a:solidFill>
                  <a:srgbClr val="2E2E2E"/>
                </a:solidFill>
                <a:latin typeface="Calibri"/>
              </a:rPr>
              <a:t>▪ 'Other packaging formats' is the fastest-growing</a:t>
            </a:r>
          </a:p>
        </p:txBody>
      </p:sp>
      <p:sp>
        <p:nvSpPr>
          <p:cNvPr id="85" name="TextBox 84"/>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86" name="Picture 85" descr="lock.png"/>
          <p:cNvPicPr>
            <a:picLocks noChangeAspect="1"/>
          </p:cNvPicPr>
          <p:nvPr/>
        </p:nvPicPr>
        <p:blipFill>
          <a:blip r:embed="rId16"/>
          <a:stretch>
            <a:fillRect/>
          </a:stretch>
        </p:blipFill>
        <p:spPr>
          <a:xfrm>
            <a:off x="1391064" y="4772870"/>
            <a:ext cx="128699" cy="187198"/>
          </a:xfrm>
          <a:prstGeom prst="rect">
            <a:avLst/>
          </a:prstGeom>
        </p:spPr>
      </p:pic>
      <p:sp>
        <p:nvSpPr>
          <p:cNvPr id="87" name="TextBox 86"/>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88" name="TextBox 87"/>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89" name="Picture 88" descr="lock.png"/>
          <p:cNvPicPr>
            <a:picLocks noChangeAspect="1"/>
          </p:cNvPicPr>
          <p:nvPr/>
        </p:nvPicPr>
        <p:blipFill>
          <a:blip r:embed="rId16"/>
          <a:stretch>
            <a:fillRect/>
          </a:stretch>
        </p:blipFill>
        <p:spPr>
          <a:xfrm>
            <a:off x="2240451" y="4990801"/>
            <a:ext cx="128699" cy="187198"/>
          </a:xfrm>
          <a:prstGeom prst="rect">
            <a:avLst/>
          </a:prstGeom>
        </p:spPr>
      </p:pic>
      <p:sp>
        <p:nvSpPr>
          <p:cNvPr id="90" name="TextBox 89"/>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1" name="Picture 90" descr="lock.png"/>
          <p:cNvPicPr>
            <a:picLocks noChangeAspect="1"/>
          </p:cNvPicPr>
          <p:nvPr/>
        </p:nvPicPr>
        <p:blipFill>
          <a:blip r:embed="rId16"/>
          <a:stretch>
            <a:fillRect/>
          </a:stretch>
        </p:blipFill>
        <p:spPr>
          <a:xfrm>
            <a:off x="2552799" y="4990801"/>
            <a:ext cx="128699" cy="187198"/>
          </a:xfrm>
          <a:prstGeom prst="rect">
            <a:avLst/>
          </a:prstGeom>
        </p:spPr>
      </p:pic>
      <p:sp>
        <p:nvSpPr>
          <p:cNvPr id="92" name="TextBox 91"/>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3" name="TextBox 92"/>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4" name="TextBox 93"/>
          <p:cNvSpPr txBox="1"/>
          <p:nvPr/>
        </p:nvSpPr>
        <p:spPr>
          <a:xfrm>
            <a:off x="485775" y="5386153"/>
            <a:ext cx="2813992" cy="186689"/>
          </a:xfrm>
          <a:prstGeom prst="rect">
            <a:avLst/>
          </a:prstGeom>
          <a:noFill/>
        </p:spPr>
        <p:txBody>
          <a:bodyPr wrap="none" lIns="0" rIns="0" tIns="0" bIns="0">
            <a:spAutoFit/>
          </a:bodyPr>
          <a:lstStyle/>
          <a:p>
            <a:r>
              <a:rPr sz="1100" b="0">
                <a:solidFill>
                  <a:srgbClr val="2E2E2E"/>
                </a:solidFill>
                <a:latin typeface="Calibri"/>
              </a:rPr>
              <a:t>▪ 4 sub-segments make up the packaging format</a:t>
            </a:r>
          </a:p>
        </p:txBody>
      </p:sp>
      <p:sp>
        <p:nvSpPr>
          <p:cNvPr id="95" name="TextBox 94"/>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6" name="TextBox 95"/>
          <p:cNvSpPr txBox="1"/>
          <p:nvPr/>
        </p:nvSpPr>
        <p:spPr>
          <a:xfrm>
            <a:off x="3838575" y="4229437"/>
            <a:ext cx="1255191" cy="186689"/>
          </a:xfrm>
          <a:prstGeom prst="rect">
            <a:avLst/>
          </a:prstGeom>
          <a:noFill/>
        </p:spPr>
        <p:txBody>
          <a:bodyPr wrap="none" lIns="0" rIns="0" tIns="0" bIns="0">
            <a:spAutoFit/>
          </a:bodyPr>
          <a:lstStyle/>
          <a:p>
            <a:r>
              <a:rPr sz="1100" b="0">
                <a:solidFill>
                  <a:srgbClr val="2E2E2E"/>
                </a:solidFill>
                <a:latin typeface="Calibri"/>
              </a:rPr>
              <a:t>● Rigid plastic packs:</a:t>
            </a:r>
          </a:p>
        </p:txBody>
      </p:sp>
      <p:pic>
        <p:nvPicPr>
          <p:cNvPr id="97" name="Picture 96" descr="lock.png"/>
          <p:cNvPicPr>
            <a:picLocks noChangeAspect="1"/>
          </p:cNvPicPr>
          <p:nvPr/>
        </p:nvPicPr>
        <p:blipFill>
          <a:blip r:embed="rId16"/>
          <a:stretch>
            <a:fillRect/>
          </a:stretch>
        </p:blipFill>
        <p:spPr>
          <a:xfrm>
            <a:off x="5041818" y="4219658"/>
            <a:ext cx="128699" cy="187198"/>
          </a:xfrm>
          <a:prstGeom prst="rect">
            <a:avLst/>
          </a:prstGeom>
        </p:spPr>
      </p:pic>
      <p:sp>
        <p:nvSpPr>
          <p:cNvPr id="98" name="TextBox 97"/>
          <p:cNvSpPr txBox="1"/>
          <p:nvPr/>
        </p:nvSpPr>
        <p:spPr>
          <a:xfrm>
            <a:off x="520931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6"/>
          <a:stretch>
            <a:fillRect/>
          </a:stretch>
        </p:blipFill>
        <p:spPr>
          <a:xfrm>
            <a:off x="6068764" y="4219658"/>
            <a:ext cx="128699" cy="187198"/>
          </a:xfrm>
          <a:prstGeom prst="rect">
            <a:avLst/>
          </a:prstGeom>
        </p:spPr>
      </p:pic>
      <p:sp>
        <p:nvSpPr>
          <p:cNvPr id="100" name="TextBox 99"/>
          <p:cNvSpPr txBox="1"/>
          <p:nvPr/>
        </p:nvSpPr>
        <p:spPr>
          <a:xfrm>
            <a:off x="623626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1" name="TextBox 100"/>
          <p:cNvSpPr txBox="1"/>
          <p:nvPr/>
        </p:nvSpPr>
        <p:spPr>
          <a:xfrm>
            <a:off x="3838575" y="4447369"/>
            <a:ext cx="1245914" cy="186689"/>
          </a:xfrm>
          <a:prstGeom prst="rect">
            <a:avLst/>
          </a:prstGeom>
          <a:noFill/>
        </p:spPr>
        <p:txBody>
          <a:bodyPr wrap="none" lIns="0" rIns="0" tIns="0" bIns="0">
            <a:spAutoFit/>
          </a:bodyPr>
          <a:lstStyle/>
          <a:p>
            <a:r>
              <a:rPr sz="1100" b="0">
                <a:solidFill>
                  <a:srgbClr val="2E2E2E"/>
                </a:solidFill>
                <a:latin typeface="Calibri"/>
              </a:rPr>
              <a:t>● Paperboard packs:</a:t>
            </a:r>
          </a:p>
        </p:txBody>
      </p:sp>
      <p:pic>
        <p:nvPicPr>
          <p:cNvPr id="102" name="Picture 101" descr="lock.png"/>
          <p:cNvPicPr>
            <a:picLocks noChangeAspect="1"/>
          </p:cNvPicPr>
          <p:nvPr/>
        </p:nvPicPr>
        <p:blipFill>
          <a:blip r:embed="rId16"/>
          <a:stretch>
            <a:fillRect/>
          </a:stretch>
        </p:blipFill>
        <p:spPr>
          <a:xfrm>
            <a:off x="5032541" y="4437590"/>
            <a:ext cx="128699" cy="187198"/>
          </a:xfrm>
          <a:prstGeom prst="rect">
            <a:avLst/>
          </a:prstGeom>
        </p:spPr>
      </p:pic>
      <p:sp>
        <p:nvSpPr>
          <p:cNvPr id="103" name="TextBox 102"/>
          <p:cNvSpPr txBox="1"/>
          <p:nvPr/>
        </p:nvSpPr>
        <p:spPr>
          <a:xfrm>
            <a:off x="520003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4" name="Picture 103" descr="lock.png"/>
          <p:cNvPicPr>
            <a:picLocks noChangeAspect="1"/>
          </p:cNvPicPr>
          <p:nvPr/>
        </p:nvPicPr>
        <p:blipFill>
          <a:blip r:embed="rId16"/>
          <a:stretch>
            <a:fillRect/>
          </a:stretch>
        </p:blipFill>
        <p:spPr>
          <a:xfrm>
            <a:off x="6059487" y="4437590"/>
            <a:ext cx="128699" cy="187198"/>
          </a:xfrm>
          <a:prstGeom prst="rect">
            <a:avLst/>
          </a:prstGeom>
        </p:spPr>
      </p:pic>
      <p:sp>
        <p:nvSpPr>
          <p:cNvPr id="105" name="TextBox 104"/>
          <p:cNvSpPr txBox="1"/>
          <p:nvPr/>
        </p:nvSpPr>
        <p:spPr>
          <a:xfrm>
            <a:off x="6226983"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6" name="TextBox 105"/>
          <p:cNvSpPr txBox="1"/>
          <p:nvPr/>
        </p:nvSpPr>
        <p:spPr>
          <a:xfrm>
            <a:off x="3838575" y="4665301"/>
            <a:ext cx="1012626" cy="186689"/>
          </a:xfrm>
          <a:prstGeom prst="rect">
            <a:avLst/>
          </a:prstGeom>
          <a:noFill/>
        </p:spPr>
        <p:txBody>
          <a:bodyPr wrap="none" lIns="0" rIns="0" tIns="0" bIns="0">
            <a:spAutoFit/>
          </a:bodyPr>
          <a:lstStyle/>
          <a:p>
            <a:r>
              <a:rPr sz="1100" b="0">
                <a:solidFill>
                  <a:srgbClr val="2E2E2E"/>
                </a:solidFill>
                <a:latin typeface="Calibri"/>
              </a:rPr>
              <a:t>● Flexible packs:</a:t>
            </a:r>
          </a:p>
        </p:txBody>
      </p:sp>
      <p:pic>
        <p:nvPicPr>
          <p:cNvPr id="107" name="Picture 106" descr="lock.png"/>
          <p:cNvPicPr>
            <a:picLocks noChangeAspect="1"/>
          </p:cNvPicPr>
          <p:nvPr/>
        </p:nvPicPr>
        <p:blipFill>
          <a:blip r:embed="rId16"/>
          <a:stretch>
            <a:fillRect/>
          </a:stretch>
        </p:blipFill>
        <p:spPr>
          <a:xfrm>
            <a:off x="4799253" y="4655522"/>
            <a:ext cx="128699" cy="187198"/>
          </a:xfrm>
          <a:prstGeom prst="rect">
            <a:avLst/>
          </a:prstGeom>
        </p:spPr>
      </p:pic>
      <p:sp>
        <p:nvSpPr>
          <p:cNvPr id="108" name="TextBox 107"/>
          <p:cNvSpPr txBox="1"/>
          <p:nvPr/>
        </p:nvSpPr>
        <p:spPr>
          <a:xfrm>
            <a:off x="496674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6"/>
          <a:stretch>
            <a:fillRect/>
          </a:stretch>
        </p:blipFill>
        <p:spPr>
          <a:xfrm>
            <a:off x="5826199" y="4655522"/>
            <a:ext cx="128699" cy="187198"/>
          </a:xfrm>
          <a:prstGeom prst="rect">
            <a:avLst/>
          </a:prstGeom>
        </p:spPr>
      </p:pic>
      <p:sp>
        <p:nvSpPr>
          <p:cNvPr id="110" name="TextBox 109"/>
          <p:cNvSpPr txBox="1"/>
          <p:nvPr/>
        </p:nvSpPr>
        <p:spPr>
          <a:xfrm>
            <a:off x="5993695"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1" name="TextBox 110"/>
          <p:cNvSpPr txBox="1"/>
          <p:nvPr/>
        </p:nvSpPr>
        <p:spPr>
          <a:xfrm>
            <a:off x="3838575" y="4883233"/>
            <a:ext cx="1636092" cy="186689"/>
          </a:xfrm>
          <a:prstGeom prst="rect">
            <a:avLst/>
          </a:prstGeom>
          <a:noFill/>
        </p:spPr>
        <p:txBody>
          <a:bodyPr wrap="none" lIns="0" rIns="0" tIns="0" bIns="0">
            <a:spAutoFit/>
          </a:bodyPr>
          <a:lstStyle/>
          <a:p>
            <a:r>
              <a:rPr sz="1100" b="0">
                <a:solidFill>
                  <a:srgbClr val="2E2E2E"/>
                </a:solidFill>
                <a:latin typeface="Calibri"/>
              </a:rPr>
              <a:t>● Other packaging formats:</a:t>
            </a:r>
          </a:p>
        </p:txBody>
      </p:sp>
      <p:pic>
        <p:nvPicPr>
          <p:cNvPr id="112" name="Picture 111" descr="lock.png"/>
          <p:cNvPicPr>
            <a:picLocks noChangeAspect="1"/>
          </p:cNvPicPr>
          <p:nvPr/>
        </p:nvPicPr>
        <p:blipFill>
          <a:blip r:embed="rId16"/>
          <a:stretch>
            <a:fillRect/>
          </a:stretch>
        </p:blipFill>
        <p:spPr>
          <a:xfrm>
            <a:off x="5422718" y="4873454"/>
            <a:ext cx="128699" cy="187198"/>
          </a:xfrm>
          <a:prstGeom prst="rect">
            <a:avLst/>
          </a:prstGeom>
        </p:spPr>
      </p:pic>
      <p:sp>
        <p:nvSpPr>
          <p:cNvPr id="113" name="TextBox 112"/>
          <p:cNvSpPr txBox="1"/>
          <p:nvPr/>
        </p:nvSpPr>
        <p:spPr>
          <a:xfrm>
            <a:off x="559021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6"/>
          <a:stretch>
            <a:fillRect/>
          </a:stretch>
        </p:blipFill>
        <p:spPr>
          <a:xfrm>
            <a:off x="6449665" y="4873454"/>
            <a:ext cx="128699" cy="187198"/>
          </a:xfrm>
          <a:prstGeom prst="rect">
            <a:avLst/>
          </a:prstGeom>
        </p:spPr>
      </p:pic>
      <p:sp>
        <p:nvSpPr>
          <p:cNvPr id="115" name="TextBox 114"/>
          <p:cNvSpPr txBox="1"/>
          <p:nvPr/>
        </p:nvSpPr>
        <p:spPr>
          <a:xfrm>
            <a:off x="6617160"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6" name="TextBox 115"/>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Format segment is projected to grow</a:t>
            </a:r>
          </a:p>
        </p:txBody>
      </p:sp>
      <p:sp>
        <p:nvSpPr>
          <p:cNvPr id="117" name="TextBox 116"/>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18" name="Picture 117" descr="lock.png"/>
          <p:cNvPicPr>
            <a:picLocks noChangeAspect="1"/>
          </p:cNvPicPr>
          <p:nvPr/>
        </p:nvPicPr>
        <p:blipFill>
          <a:blip r:embed="rId16"/>
          <a:stretch>
            <a:fillRect/>
          </a:stretch>
        </p:blipFill>
        <p:spPr>
          <a:xfrm>
            <a:off x="9310118" y="6007677"/>
            <a:ext cx="134549" cy="195707"/>
          </a:xfrm>
          <a:prstGeom prst="rect">
            <a:avLst/>
          </a:prstGeom>
        </p:spPr>
      </p:pic>
      <p:sp>
        <p:nvSpPr>
          <p:cNvPr id="119" name="TextBox 118"/>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Packaging Format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Format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Format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Format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540871" cy="186689"/>
          </a:xfrm>
          <a:prstGeom prst="rect">
            <a:avLst/>
          </a:prstGeom>
          <a:noFill/>
        </p:spPr>
        <p:txBody>
          <a:bodyPr wrap="none" lIns="0" rIns="0" tIns="0" bIns="0">
            <a:spAutoFit/>
          </a:bodyPr>
          <a:lstStyle/>
          <a:p>
            <a:r>
              <a:rPr sz="1100" b="0">
                <a:solidFill>
                  <a:srgbClr val="2E2E2E"/>
                </a:solidFill>
                <a:latin typeface="Calibri"/>
              </a:rPr>
              <a:t>Between 2026 and 2036, 'Other packaging formats' gains the most share in the Global market (+</a:t>
            </a:r>
          </a:p>
        </p:txBody>
      </p:sp>
      <p:pic>
        <p:nvPicPr>
          <p:cNvPr id="21" name="Picture 20" descr="lock.png"/>
          <p:cNvPicPr>
            <a:picLocks noChangeAspect="1"/>
          </p:cNvPicPr>
          <p:nvPr/>
        </p:nvPicPr>
        <p:blipFill>
          <a:blip r:embed="rId6"/>
          <a:stretch>
            <a:fillRect/>
          </a:stretch>
        </p:blipFill>
        <p:spPr>
          <a:xfrm>
            <a:off x="5746097" y="5851905"/>
            <a:ext cx="128699" cy="187198"/>
          </a:xfrm>
          <a:prstGeom prst="rect">
            <a:avLst/>
          </a:prstGeom>
        </p:spPr>
      </p:pic>
      <p:sp>
        <p:nvSpPr>
          <p:cNvPr id="22" name="TextBox 21"/>
          <p:cNvSpPr txBox="1"/>
          <p:nvPr/>
        </p:nvSpPr>
        <p:spPr>
          <a:xfrm>
            <a:off x="5913593" y="5861685"/>
            <a:ext cx="2137593" cy="186689"/>
          </a:xfrm>
          <a:prstGeom prst="rect">
            <a:avLst/>
          </a:prstGeom>
          <a:noFill/>
        </p:spPr>
        <p:txBody>
          <a:bodyPr wrap="none" lIns="0" rIns="0" tIns="0" bIns="0">
            <a:spAutoFit/>
          </a:bodyPr>
          <a:lstStyle/>
          <a:p>
            <a:r>
              <a:rPr sz="1100" b="0">
                <a:solidFill>
                  <a:srgbClr val="2E2E2E"/>
                </a:solidFill>
                <a:latin typeface="Calibri"/>
              </a:rPr>
              <a:t>BPS) while 'Paperboard packs' cedes</a:t>
            </a:r>
          </a:p>
        </p:txBody>
      </p:sp>
      <p:pic>
        <p:nvPicPr>
          <p:cNvPr id="23" name="Picture 22" descr="lock.png"/>
          <p:cNvPicPr>
            <a:picLocks noChangeAspect="1"/>
          </p:cNvPicPr>
          <p:nvPr/>
        </p:nvPicPr>
        <p:blipFill>
          <a:blip r:embed="rId6"/>
          <a:stretch>
            <a:fillRect/>
          </a:stretch>
        </p:blipFill>
        <p:spPr>
          <a:xfrm>
            <a:off x="7999238" y="5851905"/>
            <a:ext cx="128699" cy="187198"/>
          </a:xfrm>
          <a:prstGeom prst="rect">
            <a:avLst/>
          </a:prstGeom>
        </p:spPr>
      </p:pic>
      <p:sp>
        <p:nvSpPr>
          <p:cNvPr id="24" name="TextBox 23"/>
          <p:cNvSpPr txBox="1"/>
          <p:nvPr/>
        </p:nvSpPr>
        <p:spPr>
          <a:xfrm>
            <a:off x="8166734"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Format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packs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Rigid plastic 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Paperboard packs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packaging formats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Packaging Format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Packaging Format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Packaging Format</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Flexible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Rigid plastic packs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Paperboard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Other packaging</a:t>
                      </a:r>
                      <a:endParaRPr sz="1100"/>
                    </a:p>
                    <a:p>
                      <a:pPr algn="l"/>
                      <a:r>
                        <a:rPr sz="1100" b="1">
                          <a:solidFill>
                            <a:srgbClr val="2E2E2E"/>
                          </a:solidFill>
                          <a:latin typeface="Calibri"/>
                        </a:rPr>
                        <a:t>formats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Packaging Format</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856926"/>
            <a:ext cx="134549" cy="195707"/>
          </a:xfrm>
          <a:prstGeom prst="rect">
            <a:avLst/>
          </a:prstGeom>
        </p:spPr>
      </p:pic>
      <p:sp>
        <p:nvSpPr>
          <p:cNvPr id="23" name="TextBox 22"/>
          <p:cNvSpPr txBox="1"/>
          <p:nvPr/>
        </p:nvSpPr>
        <p:spPr>
          <a:xfrm>
            <a:off x="3708044"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737777" y="3856926"/>
            <a:ext cx="134549" cy="195707"/>
          </a:xfrm>
          <a:prstGeom prst="rect">
            <a:avLst/>
          </a:prstGeom>
        </p:spPr>
      </p:pic>
      <p:sp>
        <p:nvSpPr>
          <p:cNvPr id="25" name="TextBox 24"/>
          <p:cNvSpPr txBox="1"/>
          <p:nvPr/>
        </p:nvSpPr>
        <p:spPr>
          <a:xfrm>
            <a:off x="4912886"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4084764"/>
            <a:ext cx="134549" cy="195707"/>
          </a:xfrm>
          <a:prstGeom prst="rect">
            <a:avLst/>
          </a:prstGeom>
        </p:spPr>
      </p:pic>
      <p:sp>
        <p:nvSpPr>
          <p:cNvPr id="28" name="TextBox 27"/>
          <p:cNvSpPr txBox="1"/>
          <p:nvPr/>
        </p:nvSpPr>
        <p:spPr>
          <a:xfrm>
            <a:off x="2920173"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4312602"/>
            <a:ext cx="134549" cy="195707"/>
          </a:xfrm>
          <a:prstGeom prst="rect">
            <a:avLst/>
          </a:prstGeom>
        </p:spPr>
      </p:pic>
      <p:sp>
        <p:nvSpPr>
          <p:cNvPr id="31" name="TextBox 30"/>
          <p:cNvSpPr txBox="1"/>
          <p:nvPr/>
        </p:nvSpPr>
        <p:spPr>
          <a:xfrm>
            <a:off x="3429351" y="4322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4312602"/>
            <a:ext cx="134549" cy="195707"/>
          </a:xfrm>
          <a:prstGeom prst="rect">
            <a:avLst/>
          </a:prstGeom>
        </p:spPr>
      </p:pic>
      <p:sp>
        <p:nvSpPr>
          <p:cNvPr id="33" name="TextBox 32"/>
          <p:cNvSpPr txBox="1"/>
          <p:nvPr/>
        </p:nvSpPr>
        <p:spPr>
          <a:xfrm>
            <a:off x="6100683"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Packaging Format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Format,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Packaging Format (US$ Mn)</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1721397"/>
                <a:gridCol w="597988"/>
                <a:gridCol w="597988"/>
                <a:gridCol w="597988"/>
                <a:gridCol w="597988"/>
                <a:gridCol w="597988"/>
                <a:gridCol w="597988"/>
                <a:gridCol w="597988"/>
                <a:gridCol w="597988"/>
                <a:gridCol w="597988"/>
                <a:gridCol w="597988"/>
                <a:gridCol w="597988"/>
                <a:gridCol w="597988"/>
                <a:gridCol w="597988"/>
                <a:gridCol w="597988"/>
                <a:gridCol w="597988"/>
                <a:gridCol w="597988"/>
                <a:gridCol w="597988"/>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Packaging Format</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70004" y="1837563"/>
            <a:ext cx="366712" cy="533400"/>
          </a:xfrm>
          <a:prstGeom prst="rect">
            <a:avLst/>
          </a:prstGeom>
        </p:spPr>
      </p:pic>
      <p:sp>
        <p:nvSpPr>
          <p:cNvPr id="21" name="TextBox 20"/>
          <p:cNvSpPr txBox="1"/>
          <p:nvPr/>
        </p:nvSpPr>
        <p:spPr>
          <a:xfrm>
            <a:off x="276225" y="3486150"/>
            <a:ext cx="3307556" cy="194310"/>
          </a:xfrm>
          <a:prstGeom prst="rect">
            <a:avLst/>
          </a:prstGeom>
          <a:noFill/>
        </p:spPr>
        <p:txBody>
          <a:bodyPr wrap="none" lIns="0" rIns="0" tIns="0" bIns="0">
            <a:spAutoFit/>
          </a:bodyPr>
          <a:lstStyle/>
          <a:p>
            <a:r>
              <a:rPr sz="1150" b="0">
                <a:solidFill>
                  <a:srgbClr val="2E2E2E"/>
                </a:solidFill>
                <a:latin typeface="Calibri"/>
              </a:rPr>
              <a:t>▪ 'Rigid plastic packs' is the largest packaging format at</a:t>
            </a:r>
          </a:p>
        </p:txBody>
      </p:sp>
      <p:pic>
        <p:nvPicPr>
          <p:cNvPr id="22" name="Picture 21" descr="lock.png"/>
          <p:cNvPicPr>
            <a:picLocks noChangeAspect="1"/>
          </p:cNvPicPr>
          <p:nvPr/>
        </p:nvPicPr>
        <p:blipFill>
          <a:blip r:embed="rId4"/>
          <a:stretch>
            <a:fillRect/>
          </a:stretch>
        </p:blipFill>
        <p:spPr>
          <a:xfrm>
            <a:off x="3532935" y="3475926"/>
            <a:ext cx="134549" cy="195707"/>
          </a:xfrm>
          <a:prstGeom prst="rect">
            <a:avLst/>
          </a:prstGeom>
        </p:spPr>
      </p:pic>
      <p:sp>
        <p:nvSpPr>
          <p:cNvPr id="23" name="TextBox 22"/>
          <p:cNvSpPr txBox="1"/>
          <p:nvPr/>
        </p:nvSpPr>
        <p:spPr>
          <a:xfrm>
            <a:off x="3708044"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613977" y="3475926"/>
            <a:ext cx="134549" cy="195707"/>
          </a:xfrm>
          <a:prstGeom prst="rect">
            <a:avLst/>
          </a:prstGeom>
        </p:spPr>
      </p:pic>
      <p:sp>
        <p:nvSpPr>
          <p:cNvPr id="25" name="TextBox 24"/>
          <p:cNvSpPr txBox="1"/>
          <p:nvPr/>
        </p:nvSpPr>
        <p:spPr>
          <a:xfrm>
            <a:off x="4789086"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519684" cy="194310"/>
          </a:xfrm>
          <a:prstGeom prst="rect">
            <a:avLst/>
          </a:prstGeom>
          <a:noFill/>
        </p:spPr>
        <p:txBody>
          <a:bodyPr wrap="none" lIns="0" rIns="0" tIns="0" bIns="0">
            <a:spAutoFit/>
          </a:bodyPr>
          <a:lstStyle/>
          <a:p>
            <a:r>
              <a:rPr sz="1150" b="0">
                <a:solidFill>
                  <a:srgbClr val="2E2E2E"/>
                </a:solidFill>
                <a:latin typeface="Calibri"/>
              </a:rPr>
              <a:t>▪ 'Other packaging formats' grows fastest</a:t>
            </a:r>
          </a:p>
        </p:txBody>
      </p:sp>
      <p:pic>
        <p:nvPicPr>
          <p:cNvPr id="27" name="Picture 26" descr="lock.png"/>
          <p:cNvPicPr>
            <a:picLocks noChangeAspect="1"/>
          </p:cNvPicPr>
          <p:nvPr/>
        </p:nvPicPr>
        <p:blipFill>
          <a:blip r:embed="rId4"/>
          <a:stretch>
            <a:fillRect/>
          </a:stretch>
        </p:blipFill>
        <p:spPr>
          <a:xfrm>
            <a:off x="2745063" y="3703764"/>
            <a:ext cx="134549" cy="195707"/>
          </a:xfrm>
          <a:prstGeom prst="rect">
            <a:avLst/>
          </a:prstGeom>
        </p:spPr>
      </p:pic>
      <p:sp>
        <p:nvSpPr>
          <p:cNvPr id="28" name="TextBox 27"/>
          <p:cNvSpPr txBox="1"/>
          <p:nvPr/>
        </p:nvSpPr>
        <p:spPr>
          <a:xfrm>
            <a:off x="2920173"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3028863" cy="194310"/>
          </a:xfrm>
          <a:prstGeom prst="rect">
            <a:avLst/>
          </a:prstGeom>
          <a:noFill/>
        </p:spPr>
        <p:txBody>
          <a:bodyPr wrap="none" lIns="0" rIns="0" tIns="0" bIns="0">
            <a:spAutoFit/>
          </a:bodyPr>
          <a:lstStyle/>
          <a:p>
            <a:r>
              <a:rPr sz="1150" b="0">
                <a:solidFill>
                  <a:srgbClr val="2E2E2E"/>
                </a:solidFill>
                <a:latin typeface="Calibri"/>
              </a:rPr>
              <a:t>▪ Share shifts toward 'Other packaging formats' (+</a:t>
            </a:r>
          </a:p>
        </p:txBody>
      </p:sp>
      <p:pic>
        <p:nvPicPr>
          <p:cNvPr id="30" name="Picture 29" descr="lock.png"/>
          <p:cNvPicPr>
            <a:picLocks noChangeAspect="1"/>
          </p:cNvPicPr>
          <p:nvPr/>
        </p:nvPicPr>
        <p:blipFill>
          <a:blip r:embed="rId4"/>
          <a:stretch>
            <a:fillRect/>
          </a:stretch>
        </p:blipFill>
        <p:spPr>
          <a:xfrm>
            <a:off x="3254242" y="3931602"/>
            <a:ext cx="134549" cy="195707"/>
          </a:xfrm>
          <a:prstGeom prst="rect">
            <a:avLst/>
          </a:prstGeom>
        </p:spPr>
      </p:pic>
      <p:sp>
        <p:nvSpPr>
          <p:cNvPr id="31" name="TextBox 30"/>
          <p:cNvSpPr txBox="1"/>
          <p:nvPr/>
        </p:nvSpPr>
        <p:spPr>
          <a:xfrm>
            <a:off x="3429351" y="3941825"/>
            <a:ext cx="2547069" cy="194310"/>
          </a:xfrm>
          <a:prstGeom prst="rect">
            <a:avLst/>
          </a:prstGeom>
          <a:noFill/>
        </p:spPr>
        <p:txBody>
          <a:bodyPr wrap="none" lIns="0" rIns="0" tIns="0" bIns="0">
            <a:spAutoFit/>
          </a:bodyPr>
          <a:lstStyle/>
          <a:p>
            <a:r>
              <a:rPr sz="1150" b="0">
                <a:solidFill>
                  <a:srgbClr val="2E2E2E"/>
                </a:solidFill>
                <a:latin typeface="Calibri"/>
              </a:rPr>
              <a:t>BPS) and away from 'Paperboard packs' (-</a:t>
            </a:r>
          </a:p>
        </p:txBody>
      </p:sp>
      <p:pic>
        <p:nvPicPr>
          <p:cNvPr id="32" name="Picture 31" descr="lock.png"/>
          <p:cNvPicPr>
            <a:picLocks noChangeAspect="1"/>
          </p:cNvPicPr>
          <p:nvPr/>
        </p:nvPicPr>
        <p:blipFill>
          <a:blip r:embed="rId4"/>
          <a:stretch>
            <a:fillRect/>
          </a:stretch>
        </p:blipFill>
        <p:spPr>
          <a:xfrm>
            <a:off x="5925574" y="3931602"/>
            <a:ext cx="134549" cy="195707"/>
          </a:xfrm>
          <a:prstGeom prst="rect">
            <a:avLst/>
          </a:prstGeom>
        </p:spPr>
      </p:pic>
      <p:sp>
        <p:nvSpPr>
          <p:cNvPr id="33" name="TextBox 32"/>
          <p:cNvSpPr txBox="1"/>
          <p:nvPr/>
        </p:nvSpPr>
        <p:spPr>
          <a:xfrm>
            <a:off x="6100683"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Packaging Format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Format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Packaging Format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0181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970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208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formats</a:t>
            </a:r>
          </a:p>
        </p:txBody>
      </p:sp>
      <p:sp>
        <p:nvSpPr>
          <p:cNvPr id="19" name="BPS Value 1"/>
          <p:cNvSpPr txBox="1"/>
          <p:nvPr/>
        </p:nvSpPr>
        <p:spPr>
          <a:xfrm>
            <a:off x="6896100" y="178276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3641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316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54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packs</a:t>
            </a:r>
          </a:p>
        </p:txBody>
      </p:sp>
      <p:sp>
        <p:nvSpPr>
          <p:cNvPr id="23" name="BPS Value 2"/>
          <p:cNvSpPr txBox="1"/>
          <p:nvPr/>
        </p:nvSpPr>
        <p:spPr>
          <a:xfrm>
            <a:off x="6896100" y="221736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27231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26755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1913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Paperboard packs</a:t>
            </a:r>
          </a:p>
        </p:txBody>
      </p:sp>
      <p:sp>
        <p:nvSpPr>
          <p:cNvPr id="27" name="BPS Value 3"/>
          <p:cNvSpPr txBox="1"/>
          <p:nvPr/>
        </p:nvSpPr>
        <p:spPr>
          <a:xfrm>
            <a:off x="6896100" y="325326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1239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1191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0429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Rigid plastic packs</a:t>
            </a:r>
          </a:p>
        </p:txBody>
      </p:sp>
      <p:sp>
        <p:nvSpPr>
          <p:cNvPr id="31" name="BPS Value 4"/>
          <p:cNvSpPr txBox="1"/>
          <p:nvPr/>
        </p:nvSpPr>
        <p:spPr>
          <a:xfrm>
            <a:off x="6896100" y="510485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Packaging Format</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065946" cy="194310"/>
          </a:xfrm>
          <a:prstGeom prst="rect">
            <a:avLst/>
          </a:prstGeom>
          <a:noFill/>
        </p:spPr>
        <p:txBody>
          <a:bodyPr wrap="none" lIns="0" rIns="0" tIns="0" bIns="0">
            <a:spAutoFit/>
          </a:bodyPr>
          <a:lstStyle/>
          <a:p>
            <a:r>
              <a:rPr sz="1150" b="0">
                <a:solidFill>
                  <a:srgbClr val="2E2E2E"/>
                </a:solidFill>
                <a:latin typeface="Calibri"/>
              </a:rPr>
              <a:t>▪ 'Other packaging formats' gains the most share +</a:t>
            </a:r>
          </a:p>
        </p:txBody>
      </p:sp>
      <p:pic>
        <p:nvPicPr>
          <p:cNvPr id="39" name="Picture 38" descr="lock.png"/>
          <p:cNvPicPr>
            <a:picLocks noChangeAspect="1"/>
          </p:cNvPicPr>
          <p:nvPr/>
        </p:nvPicPr>
        <p:blipFill>
          <a:blip r:embed="rId5"/>
          <a:stretch>
            <a:fillRect/>
          </a:stretch>
        </p:blipFill>
        <p:spPr>
          <a:xfrm>
            <a:off x="10844650" y="1389951"/>
            <a:ext cx="134549" cy="195707"/>
          </a:xfrm>
          <a:prstGeom prst="rect">
            <a:avLst/>
          </a:prstGeom>
        </p:spPr>
      </p:pic>
      <p:sp>
        <p:nvSpPr>
          <p:cNvPr id="40" name="TextBox 39"/>
          <p:cNvSpPr txBox="1"/>
          <p:nvPr/>
        </p:nvSpPr>
        <p:spPr>
          <a:xfrm>
            <a:off x="11019759"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41" name="TextBox 40"/>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2304603" cy="194310"/>
          </a:xfrm>
          <a:prstGeom prst="rect">
            <a:avLst/>
          </a:prstGeom>
          <a:noFill/>
        </p:spPr>
        <p:txBody>
          <a:bodyPr wrap="none" lIns="0" rIns="0" tIns="0" bIns="0">
            <a:spAutoFit/>
          </a:bodyPr>
          <a:lstStyle/>
          <a:p>
            <a:r>
              <a:rPr sz="1150" b="0">
                <a:solidFill>
                  <a:srgbClr val="2E2E2E"/>
                </a:solidFill>
                <a:latin typeface="Calibri"/>
              </a:rPr>
              <a:t>▪ 'Paperboard packs' cedes the most -</a:t>
            </a:r>
          </a:p>
        </p:txBody>
      </p:sp>
      <p:pic>
        <p:nvPicPr>
          <p:cNvPr id="43" name="Picture 42" descr="lock.png"/>
          <p:cNvPicPr>
            <a:picLocks noChangeAspect="1"/>
          </p:cNvPicPr>
          <p:nvPr/>
        </p:nvPicPr>
        <p:blipFill>
          <a:blip r:embed="rId5"/>
          <a:stretch>
            <a:fillRect/>
          </a:stretch>
        </p:blipFill>
        <p:spPr>
          <a:xfrm>
            <a:off x="10083307" y="1793049"/>
            <a:ext cx="134549" cy="195707"/>
          </a:xfrm>
          <a:prstGeom prst="rect">
            <a:avLst/>
          </a:prstGeom>
        </p:spPr>
      </p:pic>
      <p:sp>
        <p:nvSpPr>
          <p:cNvPr id="44" name="TextBox 43"/>
          <p:cNvSpPr txBox="1"/>
          <p:nvPr/>
        </p:nvSpPr>
        <p:spPr>
          <a:xfrm>
            <a:off x="10258416"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5" name="TextBox 44"/>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6" name="TextBox 45"/>
          <p:cNvSpPr txBox="1"/>
          <p:nvPr/>
        </p:nvSpPr>
        <p:spPr>
          <a:xfrm>
            <a:off x="7829550" y="2206371"/>
            <a:ext cx="4057650" cy="194310"/>
          </a:xfrm>
          <a:prstGeom prst="rect">
            <a:avLst/>
          </a:prstGeom>
          <a:noFill/>
        </p:spPr>
        <p:txBody>
          <a:bodyPr wrap="none" lIns="0" rIns="0" tIns="0" bIns="0">
            <a:spAutoFit/>
          </a:bodyPr>
          <a:lstStyle/>
          <a:p>
            <a:r>
              <a:rPr sz="1150" b="0">
                <a:solidFill>
                  <a:srgbClr val="2E2E2E"/>
                </a:solidFill>
                <a:latin typeface="Calibri"/>
              </a:rPr>
              <a:t>▪ 'Other packaging formats' is the fastest-growing packaging format</a:t>
            </a:r>
          </a:p>
        </p:txBody>
      </p:sp>
      <p:sp>
        <p:nvSpPr>
          <p:cNvPr id="47" name="TextBox 46"/>
          <p:cNvSpPr txBox="1"/>
          <p:nvPr/>
        </p:nvSpPr>
        <p:spPr>
          <a:xfrm>
            <a:off x="7829550" y="238163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8" name="Picture 47" descr="lock.png"/>
          <p:cNvPicPr>
            <a:picLocks noChangeAspect="1"/>
          </p:cNvPicPr>
          <p:nvPr/>
        </p:nvPicPr>
        <p:blipFill>
          <a:blip r:embed="rId5"/>
          <a:stretch>
            <a:fillRect/>
          </a:stretch>
        </p:blipFill>
        <p:spPr>
          <a:xfrm>
            <a:off x="7973854" y="2371407"/>
            <a:ext cx="134549" cy="195707"/>
          </a:xfrm>
          <a:prstGeom prst="rect">
            <a:avLst/>
          </a:prstGeom>
        </p:spPr>
      </p:pic>
      <p:sp>
        <p:nvSpPr>
          <p:cNvPr id="49" name="TextBox 48"/>
          <p:cNvSpPr txBox="1"/>
          <p:nvPr/>
        </p:nvSpPr>
        <p:spPr>
          <a:xfrm>
            <a:off x="8148964"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Packaging Format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Packaging Format,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Packaging Format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80760"/>
                <a:gridCol w="667096"/>
                <a:gridCol w="667096"/>
                <a:gridCol w="667096"/>
                <a:gridCol w="667096"/>
                <a:gridCol w="667096"/>
                <a:gridCol w="667096"/>
                <a:gridCol w="667096"/>
                <a:gridCol w="667096"/>
                <a:gridCol w="667096"/>
                <a:gridCol w="667096"/>
                <a:gridCol w="667096"/>
                <a:gridCol w="667096"/>
                <a:gridCol w="667096"/>
                <a:gridCol w="667096"/>
                <a:gridCol w="667096"/>
              </a:tblGrid>
              <a:tr h="246126">
                <a:tc>
                  <a:txBody>
                    <a:bodyPr wrap="none"/>
                    <a:lstStyle/>
                    <a:p>
                      <a:pPr algn="l"/>
                      <a:r>
                        <a:rPr sz="1100" b="1">
                          <a:solidFill>
                            <a:srgbClr val="0B2E4A"/>
                          </a:solidFill>
                          <a:latin typeface="Calibri"/>
                        </a:rPr>
                        <a:t>Packaging Format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Flexible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Rigid plastic 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Paperboard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Other packaging formats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Packaging Format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packs</a:t>
            </a:r>
          </a:p>
        </p:txBody>
      </p:sp>
      <p:sp>
        <p:nvSpPr>
          <p:cNvPr id="33" name="Rectangle 32"/>
          <p:cNvSpPr/>
          <p:nvPr/>
        </p:nvSpPr>
        <p:spPr>
          <a:xfrm>
            <a:off x="1857375" y="3248025"/>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Rigid plastic packs</a:t>
            </a:r>
          </a:p>
        </p:txBody>
      </p:sp>
      <p:sp>
        <p:nvSpPr>
          <p:cNvPr id="49" name="Rectangle 48"/>
          <p:cNvSpPr/>
          <p:nvPr/>
        </p:nvSpPr>
        <p:spPr>
          <a:xfrm>
            <a:off x="185737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Paperboard packs</a:t>
            </a:r>
          </a:p>
        </p:txBody>
      </p:sp>
      <p:sp>
        <p:nvSpPr>
          <p:cNvPr id="65" name="Rectangle 64"/>
          <p:cNvSpPr/>
          <p:nvPr/>
        </p:nvSpPr>
        <p:spPr>
          <a:xfrm>
            <a:off x="185737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formats</a:t>
            </a:r>
          </a:p>
        </p:txBody>
      </p:sp>
      <p:sp>
        <p:nvSpPr>
          <p:cNvPr id="81" name="Rectangle 80"/>
          <p:cNvSpPr/>
          <p:nvPr/>
        </p:nvSpPr>
        <p:spPr>
          <a:xfrm>
            <a:off x="1857375" y="5741194"/>
            <a:ext cx="643890" cy="831056"/>
          </a:xfrm>
          <a:prstGeom prst="rect">
            <a:avLst/>
          </a:prstGeom>
          <a:solidFill>
            <a:srgbClr val="0D5D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849689" y="1713738"/>
            <a:ext cx="366712" cy="533400"/>
          </a:xfrm>
          <a:prstGeom prst="rect">
            <a:avLst/>
          </a:prstGeom>
        </p:spPr>
      </p:pic>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 Configuration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 Configuration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 Configuration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Pack Configuration,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 Configuration segment categorizes the market by pack configuration.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Multipacks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Single-muffin packs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foodservice packs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 Configuration split shows how demand is distributed across pack configuration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05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0_776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5_9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19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4_81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4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650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157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615083" cy="186689"/>
          </a:xfrm>
          <a:prstGeom prst="rect">
            <a:avLst/>
          </a:prstGeom>
          <a:noFill/>
        </p:spPr>
        <p:txBody>
          <a:bodyPr wrap="none" lIns="0" rIns="0" tIns="0" bIns="0">
            <a:spAutoFit/>
          </a:bodyPr>
          <a:lstStyle/>
          <a:p>
            <a:r>
              <a:rPr sz="1100" b="0">
                <a:solidFill>
                  <a:srgbClr val="2E2E2E"/>
                </a:solidFill>
                <a:latin typeface="Calibri"/>
              </a:rPr>
              <a:t>▪ 'Multipacks' holds the largest share in 2026</a:t>
            </a:r>
          </a:p>
        </p:txBody>
      </p:sp>
      <p:pic>
        <p:nvPicPr>
          <p:cNvPr id="70" name="Picture 69" descr="lock.png"/>
          <p:cNvPicPr>
            <a:picLocks noChangeAspect="1"/>
          </p:cNvPicPr>
          <p:nvPr/>
        </p:nvPicPr>
        <p:blipFill>
          <a:blip r:embed="rId13"/>
          <a:stretch>
            <a:fillRect/>
          </a:stretch>
        </p:blipFill>
        <p:spPr>
          <a:xfrm>
            <a:off x="3048910" y="4219658"/>
            <a:ext cx="128699" cy="187198"/>
          </a:xfrm>
          <a:prstGeom prst="rect">
            <a:avLst/>
          </a:prstGeom>
        </p:spPr>
      </p:pic>
      <p:sp>
        <p:nvSpPr>
          <p:cNvPr id="71" name="TextBox 70"/>
          <p:cNvSpPr txBox="1"/>
          <p:nvPr/>
        </p:nvSpPr>
        <p:spPr>
          <a:xfrm>
            <a:off x="485775"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2" name="TextBox 71"/>
          <p:cNvSpPr txBox="1"/>
          <p:nvPr/>
        </p:nvSpPr>
        <p:spPr>
          <a:xfrm>
            <a:off x="485775" y="4615009"/>
            <a:ext cx="2863924" cy="186689"/>
          </a:xfrm>
          <a:prstGeom prst="rect">
            <a:avLst/>
          </a:prstGeom>
          <a:noFill/>
        </p:spPr>
        <p:txBody>
          <a:bodyPr wrap="none" lIns="0" rIns="0" tIns="0" bIns="0">
            <a:spAutoFit/>
          </a:bodyPr>
          <a:lstStyle/>
          <a:p>
            <a:r>
              <a:rPr sz="1100" b="0">
                <a:solidFill>
                  <a:srgbClr val="2E2E2E"/>
                </a:solidFill>
                <a:latin typeface="Calibri"/>
              </a:rPr>
              <a:t>▪ 'Multipacks' is the fastest-growing sub-segment</a:t>
            </a:r>
          </a:p>
        </p:txBody>
      </p:sp>
      <p:sp>
        <p:nvSpPr>
          <p:cNvPr id="73" name="TextBox 72"/>
          <p:cNvSpPr txBox="1"/>
          <p:nvPr/>
        </p:nvSpPr>
        <p:spPr>
          <a:xfrm>
            <a:off x="485775" y="4782649"/>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74" name="Picture 73" descr="lock.png"/>
          <p:cNvPicPr>
            <a:picLocks noChangeAspect="1"/>
          </p:cNvPicPr>
          <p:nvPr/>
        </p:nvPicPr>
        <p:blipFill>
          <a:blip r:embed="rId13"/>
          <a:stretch>
            <a:fillRect/>
          </a:stretch>
        </p:blipFill>
        <p:spPr>
          <a:xfrm>
            <a:off x="623805" y="4772870"/>
            <a:ext cx="128699" cy="187198"/>
          </a:xfrm>
          <a:prstGeom prst="rect">
            <a:avLst/>
          </a:prstGeom>
        </p:spPr>
      </p:pic>
      <p:sp>
        <p:nvSpPr>
          <p:cNvPr id="75" name="TextBox 74"/>
          <p:cNvSpPr txBox="1"/>
          <p:nvPr/>
        </p:nvSpPr>
        <p:spPr>
          <a:xfrm>
            <a:off x="791301"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6" name="TextBox 75"/>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7" name="Picture 76" descr="lock.png"/>
          <p:cNvPicPr>
            <a:picLocks noChangeAspect="1"/>
          </p:cNvPicPr>
          <p:nvPr/>
        </p:nvPicPr>
        <p:blipFill>
          <a:blip r:embed="rId13"/>
          <a:stretch>
            <a:fillRect/>
          </a:stretch>
        </p:blipFill>
        <p:spPr>
          <a:xfrm>
            <a:off x="2240451" y="4990801"/>
            <a:ext cx="128699" cy="187198"/>
          </a:xfrm>
          <a:prstGeom prst="rect">
            <a:avLst/>
          </a:prstGeom>
        </p:spPr>
      </p:pic>
      <p:sp>
        <p:nvSpPr>
          <p:cNvPr id="78" name="TextBox 77"/>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79" name="Picture 78" descr="lock.png"/>
          <p:cNvPicPr>
            <a:picLocks noChangeAspect="1"/>
          </p:cNvPicPr>
          <p:nvPr/>
        </p:nvPicPr>
        <p:blipFill>
          <a:blip r:embed="rId13"/>
          <a:stretch>
            <a:fillRect/>
          </a:stretch>
        </p:blipFill>
        <p:spPr>
          <a:xfrm>
            <a:off x="2552799" y="4990801"/>
            <a:ext cx="128699" cy="187198"/>
          </a:xfrm>
          <a:prstGeom prst="rect">
            <a:avLst/>
          </a:prstGeom>
        </p:spPr>
      </p:pic>
      <p:sp>
        <p:nvSpPr>
          <p:cNvPr id="80" name="TextBox 79"/>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1" name="TextBox 80"/>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2" name="TextBox 81"/>
          <p:cNvSpPr txBox="1"/>
          <p:nvPr/>
        </p:nvSpPr>
        <p:spPr>
          <a:xfrm>
            <a:off x="485775" y="5386153"/>
            <a:ext cx="2881659" cy="186689"/>
          </a:xfrm>
          <a:prstGeom prst="rect">
            <a:avLst/>
          </a:prstGeom>
          <a:noFill/>
        </p:spPr>
        <p:txBody>
          <a:bodyPr wrap="none" lIns="0" rIns="0" tIns="0" bIns="0">
            <a:spAutoFit/>
          </a:bodyPr>
          <a:lstStyle/>
          <a:p>
            <a:r>
              <a:rPr sz="1100" b="0">
                <a:solidFill>
                  <a:srgbClr val="2E2E2E"/>
                </a:solidFill>
                <a:latin typeface="Calibri"/>
              </a:rPr>
              <a:t>▪ 3 sub-segments make up the pack configuration</a:t>
            </a:r>
          </a:p>
        </p:txBody>
      </p:sp>
      <p:sp>
        <p:nvSpPr>
          <p:cNvPr id="83" name="TextBox 82"/>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4" name="TextBox 83"/>
          <p:cNvSpPr txBox="1"/>
          <p:nvPr/>
        </p:nvSpPr>
        <p:spPr>
          <a:xfrm>
            <a:off x="3838575" y="4229437"/>
            <a:ext cx="851371" cy="186689"/>
          </a:xfrm>
          <a:prstGeom prst="rect">
            <a:avLst/>
          </a:prstGeom>
          <a:noFill/>
        </p:spPr>
        <p:txBody>
          <a:bodyPr wrap="none" lIns="0" rIns="0" tIns="0" bIns="0">
            <a:spAutoFit/>
          </a:bodyPr>
          <a:lstStyle/>
          <a:p>
            <a:r>
              <a:rPr sz="1100" b="0">
                <a:solidFill>
                  <a:srgbClr val="2E2E2E"/>
                </a:solidFill>
                <a:latin typeface="Calibri"/>
              </a:rPr>
              <a:t>● Multipacks:</a:t>
            </a:r>
          </a:p>
        </p:txBody>
      </p:sp>
      <p:pic>
        <p:nvPicPr>
          <p:cNvPr id="85" name="Picture 84" descr="lock.png"/>
          <p:cNvPicPr>
            <a:picLocks noChangeAspect="1"/>
          </p:cNvPicPr>
          <p:nvPr/>
        </p:nvPicPr>
        <p:blipFill>
          <a:blip r:embed="rId13"/>
          <a:stretch>
            <a:fillRect/>
          </a:stretch>
        </p:blipFill>
        <p:spPr>
          <a:xfrm>
            <a:off x="4637997" y="4219658"/>
            <a:ext cx="128699" cy="187198"/>
          </a:xfrm>
          <a:prstGeom prst="rect">
            <a:avLst/>
          </a:prstGeom>
        </p:spPr>
      </p:pic>
      <p:sp>
        <p:nvSpPr>
          <p:cNvPr id="86" name="TextBox 85"/>
          <p:cNvSpPr txBox="1"/>
          <p:nvPr/>
        </p:nvSpPr>
        <p:spPr>
          <a:xfrm>
            <a:off x="4805493"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3"/>
          <a:stretch>
            <a:fillRect/>
          </a:stretch>
        </p:blipFill>
        <p:spPr>
          <a:xfrm>
            <a:off x="5664943" y="4219658"/>
            <a:ext cx="128699" cy="187198"/>
          </a:xfrm>
          <a:prstGeom prst="rect">
            <a:avLst/>
          </a:prstGeom>
        </p:spPr>
      </p:pic>
      <p:sp>
        <p:nvSpPr>
          <p:cNvPr id="88" name="TextBox 87"/>
          <p:cNvSpPr txBox="1"/>
          <p:nvPr/>
        </p:nvSpPr>
        <p:spPr>
          <a:xfrm>
            <a:off x="5832439"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9" name="TextBox 88"/>
          <p:cNvSpPr txBox="1"/>
          <p:nvPr/>
        </p:nvSpPr>
        <p:spPr>
          <a:xfrm>
            <a:off x="3838575" y="4447369"/>
            <a:ext cx="1334591" cy="186689"/>
          </a:xfrm>
          <a:prstGeom prst="rect">
            <a:avLst/>
          </a:prstGeom>
          <a:noFill/>
        </p:spPr>
        <p:txBody>
          <a:bodyPr wrap="none" lIns="0" rIns="0" tIns="0" bIns="0">
            <a:spAutoFit/>
          </a:bodyPr>
          <a:lstStyle/>
          <a:p>
            <a:r>
              <a:rPr sz="1100" b="0">
                <a:solidFill>
                  <a:srgbClr val="2E2E2E"/>
                </a:solidFill>
                <a:latin typeface="Calibri"/>
              </a:rPr>
              <a:t>● Single-muffin packs:</a:t>
            </a:r>
          </a:p>
        </p:txBody>
      </p:sp>
      <p:pic>
        <p:nvPicPr>
          <p:cNvPr id="90" name="Picture 89" descr="lock.png"/>
          <p:cNvPicPr>
            <a:picLocks noChangeAspect="1"/>
          </p:cNvPicPr>
          <p:nvPr/>
        </p:nvPicPr>
        <p:blipFill>
          <a:blip r:embed="rId13"/>
          <a:stretch>
            <a:fillRect/>
          </a:stretch>
        </p:blipFill>
        <p:spPr>
          <a:xfrm>
            <a:off x="5121218" y="4437590"/>
            <a:ext cx="128699" cy="187198"/>
          </a:xfrm>
          <a:prstGeom prst="rect">
            <a:avLst/>
          </a:prstGeom>
        </p:spPr>
      </p:pic>
      <p:sp>
        <p:nvSpPr>
          <p:cNvPr id="91" name="TextBox 90"/>
          <p:cNvSpPr txBox="1"/>
          <p:nvPr/>
        </p:nvSpPr>
        <p:spPr>
          <a:xfrm>
            <a:off x="528871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2" name="Picture 91" descr="lock.png"/>
          <p:cNvPicPr>
            <a:picLocks noChangeAspect="1"/>
          </p:cNvPicPr>
          <p:nvPr/>
        </p:nvPicPr>
        <p:blipFill>
          <a:blip r:embed="rId13"/>
          <a:stretch>
            <a:fillRect/>
          </a:stretch>
        </p:blipFill>
        <p:spPr>
          <a:xfrm>
            <a:off x="6148164" y="4437590"/>
            <a:ext cx="128699" cy="187198"/>
          </a:xfrm>
          <a:prstGeom prst="rect">
            <a:avLst/>
          </a:prstGeom>
        </p:spPr>
      </p:pic>
      <p:sp>
        <p:nvSpPr>
          <p:cNvPr id="93" name="TextBox 92"/>
          <p:cNvSpPr txBox="1"/>
          <p:nvPr/>
        </p:nvSpPr>
        <p:spPr>
          <a:xfrm>
            <a:off x="6315659"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4" name="TextBox 93"/>
          <p:cNvSpPr txBox="1"/>
          <p:nvPr/>
        </p:nvSpPr>
        <p:spPr>
          <a:xfrm>
            <a:off x="3838575" y="4665301"/>
            <a:ext cx="1516037" cy="186689"/>
          </a:xfrm>
          <a:prstGeom prst="rect">
            <a:avLst/>
          </a:prstGeom>
          <a:noFill/>
        </p:spPr>
        <p:txBody>
          <a:bodyPr wrap="none" lIns="0" rIns="0" tIns="0" bIns="0">
            <a:spAutoFit/>
          </a:bodyPr>
          <a:lstStyle/>
          <a:p>
            <a:r>
              <a:rPr sz="1100" b="0">
                <a:solidFill>
                  <a:srgbClr val="2E2E2E"/>
                </a:solidFill>
                <a:latin typeface="Calibri"/>
              </a:rPr>
              <a:t>● Bulk foodservice packs:</a:t>
            </a:r>
          </a:p>
        </p:txBody>
      </p:sp>
      <p:pic>
        <p:nvPicPr>
          <p:cNvPr id="95" name="Picture 94" descr="lock.png"/>
          <p:cNvPicPr>
            <a:picLocks noChangeAspect="1"/>
          </p:cNvPicPr>
          <p:nvPr/>
        </p:nvPicPr>
        <p:blipFill>
          <a:blip r:embed="rId13"/>
          <a:stretch>
            <a:fillRect/>
          </a:stretch>
        </p:blipFill>
        <p:spPr>
          <a:xfrm>
            <a:off x="5302664" y="4655522"/>
            <a:ext cx="128699" cy="187198"/>
          </a:xfrm>
          <a:prstGeom prst="rect">
            <a:avLst/>
          </a:prstGeom>
        </p:spPr>
      </p:pic>
      <p:sp>
        <p:nvSpPr>
          <p:cNvPr id="96" name="TextBox 95"/>
          <p:cNvSpPr txBox="1"/>
          <p:nvPr/>
        </p:nvSpPr>
        <p:spPr>
          <a:xfrm>
            <a:off x="547016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7" name="Picture 96" descr="lock.png"/>
          <p:cNvPicPr>
            <a:picLocks noChangeAspect="1"/>
          </p:cNvPicPr>
          <p:nvPr/>
        </p:nvPicPr>
        <p:blipFill>
          <a:blip r:embed="rId13"/>
          <a:stretch>
            <a:fillRect/>
          </a:stretch>
        </p:blipFill>
        <p:spPr>
          <a:xfrm>
            <a:off x="6329610" y="4655522"/>
            <a:ext cx="128699" cy="187198"/>
          </a:xfrm>
          <a:prstGeom prst="rect">
            <a:avLst/>
          </a:prstGeom>
        </p:spPr>
      </p:pic>
      <p:sp>
        <p:nvSpPr>
          <p:cNvPr id="98" name="TextBox 97"/>
          <p:cNvSpPr txBox="1"/>
          <p:nvPr/>
        </p:nvSpPr>
        <p:spPr>
          <a:xfrm>
            <a:off x="649710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99" name="TextBox 98"/>
          <p:cNvSpPr txBox="1"/>
          <p:nvPr/>
        </p:nvSpPr>
        <p:spPr>
          <a:xfrm>
            <a:off x="8524875" y="5842641"/>
            <a:ext cx="2942145" cy="194310"/>
          </a:xfrm>
          <a:prstGeom prst="rect">
            <a:avLst/>
          </a:prstGeom>
          <a:noFill/>
        </p:spPr>
        <p:txBody>
          <a:bodyPr wrap="none" lIns="0" rIns="0" tIns="0" bIns="0">
            <a:spAutoFit/>
          </a:bodyPr>
          <a:lstStyle/>
          <a:p>
            <a:r>
              <a:rPr sz="1150" b="1">
                <a:solidFill>
                  <a:srgbClr val="0B2E4A"/>
                </a:solidFill>
                <a:latin typeface="Calibri"/>
              </a:rPr>
              <a:t>The Pack Configuration segment is projected to</a:t>
            </a:r>
          </a:p>
        </p:txBody>
      </p:sp>
      <p:sp>
        <p:nvSpPr>
          <p:cNvPr id="100" name="TextBox 99"/>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1" name="Picture 100" descr="lock.png"/>
          <p:cNvPicPr>
            <a:picLocks noChangeAspect="1"/>
          </p:cNvPicPr>
          <p:nvPr/>
        </p:nvPicPr>
        <p:blipFill>
          <a:blip r:embed="rId13"/>
          <a:stretch>
            <a:fillRect/>
          </a:stretch>
        </p:blipFill>
        <p:spPr>
          <a:xfrm>
            <a:off x="9651852" y="6007677"/>
            <a:ext cx="134549" cy="195707"/>
          </a:xfrm>
          <a:prstGeom prst="rect">
            <a:avLst/>
          </a:prstGeom>
        </p:spPr>
      </p:pic>
      <p:sp>
        <p:nvSpPr>
          <p:cNvPr id="102" name="TextBox 101"/>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Pack Configuration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 Configuration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 Configuration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 Configuration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4756150" cy="186689"/>
          </a:xfrm>
          <a:prstGeom prst="rect">
            <a:avLst/>
          </a:prstGeom>
          <a:noFill/>
        </p:spPr>
        <p:txBody>
          <a:bodyPr wrap="none" lIns="0" rIns="0" tIns="0" bIns="0">
            <a:spAutoFit/>
          </a:bodyPr>
          <a:lstStyle/>
          <a:p>
            <a:r>
              <a:rPr sz="1100" b="0">
                <a:solidFill>
                  <a:srgbClr val="2E2E2E"/>
                </a:solidFill>
                <a:latin typeface="Calibri"/>
              </a:rPr>
              <a:t>Between 2026 and 2036, 'Multipacks' gains the most share in the Global market (+</a:t>
            </a:r>
          </a:p>
        </p:txBody>
      </p:sp>
      <p:pic>
        <p:nvPicPr>
          <p:cNvPr id="21" name="Picture 20" descr="lock.png"/>
          <p:cNvPicPr>
            <a:picLocks noChangeAspect="1"/>
          </p:cNvPicPr>
          <p:nvPr/>
        </p:nvPicPr>
        <p:blipFill>
          <a:blip r:embed="rId6"/>
          <a:stretch>
            <a:fillRect/>
          </a:stretch>
        </p:blipFill>
        <p:spPr>
          <a:xfrm>
            <a:off x="4961376" y="5851905"/>
            <a:ext cx="128699" cy="187198"/>
          </a:xfrm>
          <a:prstGeom prst="rect">
            <a:avLst/>
          </a:prstGeom>
        </p:spPr>
      </p:pic>
      <p:sp>
        <p:nvSpPr>
          <p:cNvPr id="22" name="TextBox 21"/>
          <p:cNvSpPr txBox="1"/>
          <p:nvPr/>
        </p:nvSpPr>
        <p:spPr>
          <a:xfrm>
            <a:off x="5128872" y="5861685"/>
            <a:ext cx="2407716" cy="186689"/>
          </a:xfrm>
          <a:prstGeom prst="rect">
            <a:avLst/>
          </a:prstGeom>
          <a:noFill/>
        </p:spPr>
        <p:txBody>
          <a:bodyPr wrap="none" lIns="0" rIns="0" tIns="0" bIns="0">
            <a:spAutoFit/>
          </a:bodyPr>
          <a:lstStyle/>
          <a:p>
            <a:r>
              <a:rPr sz="1100" b="0">
                <a:solidFill>
                  <a:srgbClr val="2E2E2E"/>
                </a:solidFill>
                <a:latin typeface="Calibri"/>
              </a:rPr>
              <a:t>BPS) while 'Bulk foodservice packs' cedes</a:t>
            </a:r>
          </a:p>
        </p:txBody>
      </p:sp>
      <p:pic>
        <p:nvPicPr>
          <p:cNvPr id="23" name="Picture 22" descr="lock.png"/>
          <p:cNvPicPr>
            <a:picLocks noChangeAspect="1"/>
          </p:cNvPicPr>
          <p:nvPr/>
        </p:nvPicPr>
        <p:blipFill>
          <a:blip r:embed="rId6"/>
          <a:stretch>
            <a:fillRect/>
          </a:stretch>
        </p:blipFill>
        <p:spPr>
          <a:xfrm>
            <a:off x="7484640" y="5851905"/>
            <a:ext cx="128699" cy="187198"/>
          </a:xfrm>
          <a:prstGeom prst="rect">
            <a:avLst/>
          </a:prstGeom>
        </p:spPr>
      </p:pic>
      <p:sp>
        <p:nvSpPr>
          <p:cNvPr id="24" name="TextBox 23"/>
          <p:cNvSpPr txBox="1"/>
          <p:nvPr/>
        </p:nvSpPr>
        <p:spPr>
          <a:xfrm>
            <a:off x="7652136" y="5861685"/>
            <a:ext cx="4138942"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a:t>
            </a:r>
          </a:p>
        </p:txBody>
      </p:sp>
      <p:sp>
        <p:nvSpPr>
          <p:cNvPr id="25" name="TextBox 24"/>
          <p:cNvSpPr txBox="1"/>
          <p:nvPr/>
        </p:nvSpPr>
        <p:spPr>
          <a:xfrm>
            <a:off x="257175" y="602932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 Configuration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Single-muffin packs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Multipacks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Bulk foodservice packs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Pack Configuration</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4151" y="2237234"/>
            <a:ext cx="263506" cy="383281"/>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352626" cy="194310"/>
          </a:xfrm>
          <a:prstGeom prst="rect">
            <a:avLst/>
          </a:prstGeom>
          <a:noFill/>
        </p:spPr>
        <p:txBody>
          <a:bodyPr wrap="none" lIns="0" rIns="0" tIns="0" bIns="0">
            <a:spAutoFit/>
          </a:bodyPr>
          <a:lstStyle/>
          <a:p>
            <a:r>
              <a:rPr sz="1150" b="0">
                <a:solidFill>
                  <a:srgbClr val="2E2E2E"/>
                </a:solidFill>
                <a:latin typeface="Calibri"/>
              </a:rPr>
              <a:t>▪ Across its 3 sub-segments, by pack configuration adds</a:t>
            </a:r>
          </a:p>
        </p:txBody>
      </p:sp>
      <p:pic>
        <p:nvPicPr>
          <p:cNvPr id="29" name="Picture 28" descr="lock.png"/>
          <p:cNvPicPr>
            <a:picLocks noChangeAspect="1"/>
          </p:cNvPicPr>
          <p:nvPr/>
        </p:nvPicPr>
        <p:blipFill>
          <a:blip r:embed="rId7"/>
          <a:stretch>
            <a:fillRect/>
          </a:stretch>
        </p:blipFill>
        <p:spPr>
          <a:xfrm>
            <a:off x="9607330" y="4276026"/>
            <a:ext cx="134549" cy="195707"/>
          </a:xfrm>
          <a:prstGeom prst="rect">
            <a:avLst/>
          </a:prstGeom>
        </p:spPr>
      </p:pic>
      <p:sp>
        <p:nvSpPr>
          <p:cNvPr id="30" name="TextBox 29"/>
          <p:cNvSpPr txBox="1"/>
          <p:nvPr/>
        </p:nvSpPr>
        <p:spPr>
          <a:xfrm>
            <a:off x="9782439"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1188975" cy="194310"/>
          </a:xfrm>
          <a:prstGeom prst="rect">
            <a:avLst/>
          </a:prstGeom>
          <a:noFill/>
        </p:spPr>
        <p:txBody>
          <a:bodyPr wrap="none" lIns="0" rIns="0" tIns="0" bIns="0">
            <a:spAutoFit/>
          </a:bodyPr>
          <a:lstStyle/>
          <a:p>
            <a:r>
              <a:rPr sz="1150" b="0">
                <a:solidFill>
                  <a:srgbClr val="2E2E2E"/>
                </a:solidFill>
                <a:latin typeface="Calibri"/>
              </a:rPr>
              <a:t>▪ 'Multipacks' adds</a:t>
            </a:r>
          </a:p>
        </p:txBody>
      </p:sp>
      <p:pic>
        <p:nvPicPr>
          <p:cNvPr id="33" name="Picture 32" descr="lock.png"/>
          <p:cNvPicPr>
            <a:picLocks noChangeAspect="1"/>
          </p:cNvPicPr>
          <p:nvPr/>
        </p:nvPicPr>
        <p:blipFill>
          <a:blip r:embed="rId7"/>
          <a:stretch>
            <a:fillRect/>
          </a:stretch>
        </p:blipFill>
        <p:spPr>
          <a:xfrm>
            <a:off x="7443679" y="4679124"/>
            <a:ext cx="134549" cy="195707"/>
          </a:xfrm>
          <a:prstGeom prst="rect">
            <a:avLst/>
          </a:prstGeom>
        </p:spPr>
      </p:pic>
      <p:sp>
        <p:nvSpPr>
          <p:cNvPr id="34" name="TextBox 33"/>
          <p:cNvSpPr txBox="1"/>
          <p:nvPr/>
        </p:nvSpPr>
        <p:spPr>
          <a:xfrm>
            <a:off x="7618788"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191259" y="4679124"/>
            <a:ext cx="134549" cy="195707"/>
          </a:xfrm>
          <a:prstGeom prst="rect">
            <a:avLst/>
          </a:prstGeom>
        </p:spPr>
      </p:pic>
      <p:sp>
        <p:nvSpPr>
          <p:cNvPr id="36" name="TextBox 35"/>
          <p:cNvSpPr txBox="1"/>
          <p:nvPr/>
        </p:nvSpPr>
        <p:spPr>
          <a:xfrm>
            <a:off x="8366368"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694160" cy="194310"/>
          </a:xfrm>
          <a:prstGeom prst="rect">
            <a:avLst/>
          </a:prstGeom>
          <a:noFill/>
        </p:spPr>
        <p:txBody>
          <a:bodyPr wrap="none" lIns="0" rIns="0" tIns="0" bIns="0">
            <a:spAutoFit/>
          </a:bodyPr>
          <a:lstStyle/>
          <a:p>
            <a:r>
              <a:rPr sz="1150" b="0">
                <a:solidFill>
                  <a:srgbClr val="2E2E2E"/>
                </a:solidFill>
                <a:latin typeface="Calibri"/>
              </a:rPr>
              <a:t>▪ 'Single-muffin packs' adds</a:t>
            </a:r>
          </a:p>
        </p:txBody>
      </p:sp>
      <p:pic>
        <p:nvPicPr>
          <p:cNvPr id="38" name="Picture 37" descr="lock.png"/>
          <p:cNvPicPr>
            <a:picLocks noChangeAspect="1"/>
          </p:cNvPicPr>
          <p:nvPr/>
        </p:nvPicPr>
        <p:blipFill>
          <a:blip r:embed="rId7"/>
          <a:stretch>
            <a:fillRect/>
          </a:stretch>
        </p:blipFill>
        <p:spPr>
          <a:xfrm>
            <a:off x="7948864" y="4906962"/>
            <a:ext cx="134549" cy="195707"/>
          </a:xfrm>
          <a:prstGeom prst="rect">
            <a:avLst/>
          </a:prstGeom>
        </p:spPr>
      </p:pic>
      <p:sp>
        <p:nvSpPr>
          <p:cNvPr id="39" name="TextBox 38"/>
          <p:cNvSpPr txBox="1"/>
          <p:nvPr/>
        </p:nvSpPr>
        <p:spPr>
          <a:xfrm>
            <a:off x="812397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696444" y="4906962"/>
            <a:ext cx="134549" cy="195707"/>
          </a:xfrm>
          <a:prstGeom prst="rect">
            <a:avLst/>
          </a:prstGeom>
        </p:spPr>
      </p:pic>
      <p:sp>
        <p:nvSpPr>
          <p:cNvPr id="41" name="TextBox 40"/>
          <p:cNvSpPr txBox="1"/>
          <p:nvPr/>
        </p:nvSpPr>
        <p:spPr>
          <a:xfrm>
            <a:off x="887155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883854" cy="194310"/>
          </a:xfrm>
          <a:prstGeom prst="rect">
            <a:avLst/>
          </a:prstGeom>
          <a:noFill/>
        </p:spPr>
        <p:txBody>
          <a:bodyPr wrap="none" lIns="0" rIns="0" tIns="0" bIns="0">
            <a:spAutoFit/>
          </a:bodyPr>
          <a:lstStyle/>
          <a:p>
            <a:r>
              <a:rPr sz="1150" b="0">
                <a:solidFill>
                  <a:srgbClr val="2E2E2E"/>
                </a:solidFill>
                <a:latin typeface="Calibri"/>
              </a:rPr>
              <a:t>▪ 'Bulk foodservice packs' adds</a:t>
            </a:r>
          </a:p>
        </p:txBody>
      </p:sp>
      <p:pic>
        <p:nvPicPr>
          <p:cNvPr id="43" name="Picture 42" descr="lock.png"/>
          <p:cNvPicPr>
            <a:picLocks noChangeAspect="1"/>
          </p:cNvPicPr>
          <p:nvPr/>
        </p:nvPicPr>
        <p:blipFill>
          <a:blip r:embed="rId7"/>
          <a:stretch>
            <a:fillRect/>
          </a:stretch>
        </p:blipFill>
        <p:spPr>
          <a:xfrm>
            <a:off x="8138557" y="5134800"/>
            <a:ext cx="134549" cy="195707"/>
          </a:xfrm>
          <a:prstGeom prst="rect">
            <a:avLst/>
          </a:prstGeom>
        </p:spPr>
      </p:pic>
      <p:sp>
        <p:nvSpPr>
          <p:cNvPr id="44" name="TextBox 43"/>
          <p:cNvSpPr txBox="1"/>
          <p:nvPr/>
        </p:nvSpPr>
        <p:spPr>
          <a:xfrm>
            <a:off x="8313667"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886138" y="5134800"/>
            <a:ext cx="134549" cy="195707"/>
          </a:xfrm>
          <a:prstGeom prst="rect">
            <a:avLst/>
          </a:prstGeom>
        </p:spPr>
      </p:pic>
      <p:sp>
        <p:nvSpPr>
          <p:cNvPr id="46" name="TextBox 45"/>
          <p:cNvSpPr txBox="1"/>
          <p:nvPr/>
        </p:nvSpPr>
        <p:spPr>
          <a:xfrm>
            <a:off x="9061247"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Pack Configuration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Pack Configuration (MT)</a:t>
            </a:r>
          </a:p>
        </p:txBody>
      </p:sp>
      <p:graphicFrame>
        <p:nvGraphicFramePr>
          <p:cNvPr id="13" name="Table 12"/>
          <p:cNvGraphicFramePr>
            <a:graphicFrameLocks noGrp="1"/>
          </p:cNvGraphicFramePr>
          <p:nvPr/>
        </p:nvGraphicFramePr>
        <p:xfrm>
          <a:off x="152400" y="1238250"/>
          <a:ext cx="11887208" cy="1619249"/>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Pack Configuration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Single-muffin 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Multipacks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Bulk foodservice</a:t>
                      </a:r>
                      <a:endParaRPr sz="1100"/>
                    </a:p>
                    <a:p>
                      <a:pPr algn="l"/>
                      <a:r>
                        <a:rPr sz="1100" b="1">
                          <a:solidFill>
                            <a:srgbClr val="2E2E2E"/>
                          </a:solidFill>
                          <a:latin typeface="Calibri"/>
                        </a:rPr>
                        <a:t>packs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Pack Configuration</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00630"/>
            <a:ext cx="366712" cy="533399"/>
          </a:xfrm>
          <a:prstGeom prst="rect">
            <a:avLst/>
          </a:prstGeom>
        </p:spPr>
      </p:pic>
      <p:sp>
        <p:nvSpPr>
          <p:cNvPr id="21" name="TextBox 20"/>
          <p:cNvSpPr txBox="1"/>
          <p:nvPr/>
        </p:nvSpPr>
        <p:spPr>
          <a:xfrm>
            <a:off x="276225" y="3619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609276"/>
            <a:ext cx="134549" cy="195707"/>
          </a:xfrm>
          <a:prstGeom prst="rect">
            <a:avLst/>
          </a:prstGeom>
        </p:spPr>
      </p:pic>
      <p:sp>
        <p:nvSpPr>
          <p:cNvPr id="23" name="TextBox 22"/>
          <p:cNvSpPr txBox="1"/>
          <p:nvPr/>
        </p:nvSpPr>
        <p:spPr>
          <a:xfrm>
            <a:off x="3356611" y="3619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386344" y="3609276"/>
            <a:ext cx="134549" cy="195707"/>
          </a:xfrm>
          <a:prstGeom prst="rect">
            <a:avLst/>
          </a:prstGeom>
        </p:spPr>
      </p:pic>
      <p:sp>
        <p:nvSpPr>
          <p:cNvPr id="25" name="TextBox 24"/>
          <p:cNvSpPr txBox="1"/>
          <p:nvPr/>
        </p:nvSpPr>
        <p:spPr>
          <a:xfrm>
            <a:off x="4561453" y="3619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847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837114"/>
            <a:ext cx="134549" cy="195707"/>
          </a:xfrm>
          <a:prstGeom prst="rect">
            <a:avLst/>
          </a:prstGeom>
        </p:spPr>
      </p:pic>
      <p:sp>
        <p:nvSpPr>
          <p:cNvPr id="28" name="TextBox 27"/>
          <p:cNvSpPr txBox="1"/>
          <p:nvPr/>
        </p:nvSpPr>
        <p:spPr>
          <a:xfrm>
            <a:off x="2099782" y="3847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75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4064952"/>
            <a:ext cx="134549" cy="195707"/>
          </a:xfrm>
          <a:prstGeom prst="rect">
            <a:avLst/>
          </a:prstGeom>
        </p:spPr>
      </p:pic>
      <p:sp>
        <p:nvSpPr>
          <p:cNvPr id="31" name="TextBox 30"/>
          <p:cNvSpPr txBox="1"/>
          <p:nvPr/>
        </p:nvSpPr>
        <p:spPr>
          <a:xfrm>
            <a:off x="2608961" y="4075175"/>
            <a:ext cx="2639776" cy="194310"/>
          </a:xfrm>
          <a:prstGeom prst="rect">
            <a:avLst/>
          </a:prstGeom>
          <a:noFill/>
        </p:spPr>
        <p:txBody>
          <a:bodyPr wrap="none" lIns="0" rIns="0" tIns="0" bIns="0">
            <a:spAutoFit/>
          </a:bodyPr>
          <a:lstStyle/>
          <a:p>
            <a:r>
              <a:rPr sz="1150" b="0">
                <a:solidFill>
                  <a:srgbClr val="2E2E2E"/>
                </a:solidFill>
                <a:latin typeface="Calibri"/>
              </a:rPr>
              <a:t>BPS) and away from 'Single-muffin packs' (-</a:t>
            </a:r>
          </a:p>
        </p:txBody>
      </p:sp>
      <p:pic>
        <p:nvPicPr>
          <p:cNvPr id="32" name="Picture 31" descr="lock.png"/>
          <p:cNvPicPr>
            <a:picLocks noChangeAspect="1"/>
          </p:cNvPicPr>
          <p:nvPr/>
        </p:nvPicPr>
        <p:blipFill>
          <a:blip r:embed="rId4"/>
          <a:stretch>
            <a:fillRect/>
          </a:stretch>
        </p:blipFill>
        <p:spPr>
          <a:xfrm>
            <a:off x="5197891" y="4064952"/>
            <a:ext cx="134549" cy="195707"/>
          </a:xfrm>
          <a:prstGeom prst="rect">
            <a:avLst/>
          </a:prstGeom>
        </p:spPr>
      </p:pic>
      <p:sp>
        <p:nvSpPr>
          <p:cNvPr id="33" name="TextBox 32"/>
          <p:cNvSpPr txBox="1"/>
          <p:nvPr/>
        </p:nvSpPr>
        <p:spPr>
          <a:xfrm>
            <a:off x="5373001" y="4075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03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92790"/>
            <a:ext cx="134549" cy="195707"/>
          </a:xfrm>
          <a:prstGeom prst="rect">
            <a:avLst/>
          </a:prstGeom>
        </p:spPr>
      </p:pic>
      <p:sp>
        <p:nvSpPr>
          <p:cNvPr id="36" name="TextBox 35"/>
          <p:cNvSpPr txBox="1"/>
          <p:nvPr/>
        </p:nvSpPr>
        <p:spPr>
          <a:xfrm>
            <a:off x="1965143" y="4303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92790"/>
            <a:ext cx="134549" cy="195707"/>
          </a:xfrm>
          <a:prstGeom prst="rect">
            <a:avLst/>
          </a:prstGeom>
        </p:spPr>
      </p:pic>
      <p:sp>
        <p:nvSpPr>
          <p:cNvPr id="38" name="TextBox 37"/>
          <p:cNvSpPr txBox="1"/>
          <p:nvPr/>
        </p:nvSpPr>
        <p:spPr>
          <a:xfrm>
            <a:off x="2291688" y="4303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Pack Configuration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 Configuration,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Pack Configuration (US$ Mn)</a:t>
            </a:r>
          </a:p>
        </p:txBody>
      </p:sp>
      <p:graphicFrame>
        <p:nvGraphicFramePr>
          <p:cNvPr id="13" name="Table 12"/>
          <p:cNvGraphicFramePr>
            <a:graphicFrameLocks noGrp="1"/>
          </p:cNvGraphicFramePr>
          <p:nvPr/>
        </p:nvGraphicFramePr>
        <p:xfrm>
          <a:off x="152400" y="1238250"/>
          <a:ext cx="11887195" cy="1238250"/>
        </p:xfrm>
        <a:graphic>
          <a:graphicData uri="http://schemas.openxmlformats.org/drawingml/2006/table">
            <a:tbl>
              <a:tblPr>
                <a:tableStyleId>{5C22544A-7EE6-4342-B048-85BDC9FD1C3A}</a:tableStyleId>
              </a:tblPr>
              <a:tblGrid>
                <a:gridCol w="1609148"/>
                <a:gridCol w="604591"/>
                <a:gridCol w="604591"/>
                <a:gridCol w="604591"/>
                <a:gridCol w="604591"/>
                <a:gridCol w="604591"/>
                <a:gridCol w="604591"/>
                <a:gridCol w="604591"/>
                <a:gridCol w="604591"/>
                <a:gridCol w="604591"/>
                <a:gridCol w="604591"/>
                <a:gridCol w="604591"/>
                <a:gridCol w="604591"/>
                <a:gridCol w="604591"/>
                <a:gridCol w="604591"/>
                <a:gridCol w="604591"/>
                <a:gridCol w="604591"/>
                <a:gridCol w="604591"/>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Pack Configuration</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13881" y="1713738"/>
            <a:ext cx="366712" cy="533400"/>
          </a:xfrm>
          <a:prstGeom prst="rect">
            <a:avLst/>
          </a:prstGeom>
        </p:spPr>
      </p:pic>
      <p:sp>
        <p:nvSpPr>
          <p:cNvPr id="21" name="TextBox 20"/>
          <p:cNvSpPr txBox="1"/>
          <p:nvPr/>
        </p:nvSpPr>
        <p:spPr>
          <a:xfrm>
            <a:off x="276225" y="3238500"/>
            <a:ext cx="2956123" cy="194310"/>
          </a:xfrm>
          <a:prstGeom prst="rect">
            <a:avLst/>
          </a:prstGeom>
          <a:noFill/>
        </p:spPr>
        <p:txBody>
          <a:bodyPr wrap="none" lIns="0" rIns="0" tIns="0" bIns="0">
            <a:spAutoFit/>
          </a:bodyPr>
          <a:lstStyle/>
          <a:p>
            <a:r>
              <a:rPr sz="1150" b="0">
                <a:solidFill>
                  <a:srgbClr val="2E2E2E"/>
                </a:solidFill>
                <a:latin typeface="Calibri"/>
              </a:rPr>
              <a:t>▪ 'Multipacks' is the largest pack configuration at</a:t>
            </a:r>
          </a:p>
        </p:txBody>
      </p:sp>
      <p:pic>
        <p:nvPicPr>
          <p:cNvPr id="22" name="Picture 21" descr="lock.png"/>
          <p:cNvPicPr>
            <a:picLocks noChangeAspect="1"/>
          </p:cNvPicPr>
          <p:nvPr/>
        </p:nvPicPr>
        <p:blipFill>
          <a:blip r:embed="rId4"/>
          <a:stretch>
            <a:fillRect/>
          </a:stretch>
        </p:blipFill>
        <p:spPr>
          <a:xfrm>
            <a:off x="3181502" y="3228276"/>
            <a:ext cx="134549" cy="195707"/>
          </a:xfrm>
          <a:prstGeom prst="rect">
            <a:avLst/>
          </a:prstGeom>
        </p:spPr>
      </p:pic>
      <p:sp>
        <p:nvSpPr>
          <p:cNvPr id="23" name="TextBox 22"/>
          <p:cNvSpPr txBox="1"/>
          <p:nvPr/>
        </p:nvSpPr>
        <p:spPr>
          <a:xfrm>
            <a:off x="3356611"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262544" y="3228276"/>
            <a:ext cx="134549" cy="195707"/>
          </a:xfrm>
          <a:prstGeom prst="rect">
            <a:avLst/>
          </a:prstGeom>
        </p:spPr>
      </p:pic>
      <p:sp>
        <p:nvSpPr>
          <p:cNvPr id="25" name="TextBox 24"/>
          <p:cNvSpPr txBox="1"/>
          <p:nvPr/>
        </p:nvSpPr>
        <p:spPr>
          <a:xfrm>
            <a:off x="4437653"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1699294" cy="194310"/>
          </a:xfrm>
          <a:prstGeom prst="rect">
            <a:avLst/>
          </a:prstGeom>
          <a:noFill/>
        </p:spPr>
        <p:txBody>
          <a:bodyPr wrap="none" lIns="0" rIns="0" tIns="0" bIns="0">
            <a:spAutoFit/>
          </a:bodyPr>
          <a:lstStyle/>
          <a:p>
            <a:r>
              <a:rPr sz="1150" b="0">
                <a:solidFill>
                  <a:srgbClr val="2E2E2E"/>
                </a:solidFill>
                <a:latin typeface="Calibri"/>
              </a:rPr>
              <a:t>▪ 'Multipacks' grows fastest</a:t>
            </a:r>
          </a:p>
        </p:txBody>
      </p:sp>
      <p:pic>
        <p:nvPicPr>
          <p:cNvPr id="27" name="Picture 26" descr="lock.png"/>
          <p:cNvPicPr>
            <a:picLocks noChangeAspect="1"/>
          </p:cNvPicPr>
          <p:nvPr/>
        </p:nvPicPr>
        <p:blipFill>
          <a:blip r:embed="rId4"/>
          <a:stretch>
            <a:fillRect/>
          </a:stretch>
        </p:blipFill>
        <p:spPr>
          <a:xfrm>
            <a:off x="1924673" y="3456114"/>
            <a:ext cx="134549" cy="195707"/>
          </a:xfrm>
          <a:prstGeom prst="rect">
            <a:avLst/>
          </a:prstGeom>
        </p:spPr>
      </p:pic>
      <p:sp>
        <p:nvSpPr>
          <p:cNvPr id="28" name="TextBox 27"/>
          <p:cNvSpPr txBox="1"/>
          <p:nvPr/>
        </p:nvSpPr>
        <p:spPr>
          <a:xfrm>
            <a:off x="2099782"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208472" cy="194310"/>
          </a:xfrm>
          <a:prstGeom prst="rect">
            <a:avLst/>
          </a:prstGeom>
          <a:noFill/>
        </p:spPr>
        <p:txBody>
          <a:bodyPr wrap="none" lIns="0" rIns="0" tIns="0" bIns="0">
            <a:spAutoFit/>
          </a:bodyPr>
          <a:lstStyle/>
          <a:p>
            <a:r>
              <a:rPr sz="1150" b="0">
                <a:solidFill>
                  <a:srgbClr val="2E2E2E"/>
                </a:solidFill>
                <a:latin typeface="Calibri"/>
              </a:rPr>
              <a:t>▪ Share shifts toward 'Multipacks' (+</a:t>
            </a:r>
          </a:p>
        </p:txBody>
      </p:sp>
      <p:pic>
        <p:nvPicPr>
          <p:cNvPr id="30" name="Picture 29" descr="lock.png"/>
          <p:cNvPicPr>
            <a:picLocks noChangeAspect="1"/>
          </p:cNvPicPr>
          <p:nvPr/>
        </p:nvPicPr>
        <p:blipFill>
          <a:blip r:embed="rId4"/>
          <a:stretch>
            <a:fillRect/>
          </a:stretch>
        </p:blipFill>
        <p:spPr>
          <a:xfrm>
            <a:off x="2433851" y="3683952"/>
            <a:ext cx="134549" cy="195707"/>
          </a:xfrm>
          <a:prstGeom prst="rect">
            <a:avLst/>
          </a:prstGeom>
        </p:spPr>
      </p:pic>
      <p:sp>
        <p:nvSpPr>
          <p:cNvPr id="31" name="TextBox 30"/>
          <p:cNvSpPr txBox="1"/>
          <p:nvPr/>
        </p:nvSpPr>
        <p:spPr>
          <a:xfrm>
            <a:off x="2608961" y="3694175"/>
            <a:ext cx="2829470" cy="194310"/>
          </a:xfrm>
          <a:prstGeom prst="rect">
            <a:avLst/>
          </a:prstGeom>
          <a:noFill/>
        </p:spPr>
        <p:txBody>
          <a:bodyPr wrap="none" lIns="0" rIns="0" tIns="0" bIns="0">
            <a:spAutoFit/>
          </a:bodyPr>
          <a:lstStyle/>
          <a:p>
            <a:r>
              <a:rPr sz="1150" b="0">
                <a:solidFill>
                  <a:srgbClr val="2E2E2E"/>
                </a:solidFill>
                <a:latin typeface="Calibri"/>
              </a:rPr>
              <a:t>BPS) and away from 'Bulk foodservice packs' (-</a:t>
            </a:r>
          </a:p>
        </p:txBody>
      </p:sp>
      <p:pic>
        <p:nvPicPr>
          <p:cNvPr id="32" name="Picture 31" descr="lock.png"/>
          <p:cNvPicPr>
            <a:picLocks noChangeAspect="1"/>
          </p:cNvPicPr>
          <p:nvPr/>
        </p:nvPicPr>
        <p:blipFill>
          <a:blip r:embed="rId4"/>
          <a:stretch>
            <a:fillRect/>
          </a:stretch>
        </p:blipFill>
        <p:spPr>
          <a:xfrm>
            <a:off x="5387585" y="3683952"/>
            <a:ext cx="134549" cy="195707"/>
          </a:xfrm>
          <a:prstGeom prst="rect">
            <a:avLst/>
          </a:prstGeom>
        </p:spPr>
      </p:pic>
      <p:sp>
        <p:nvSpPr>
          <p:cNvPr id="33" name="TextBox 32"/>
          <p:cNvSpPr txBox="1"/>
          <p:nvPr/>
        </p:nvSpPr>
        <p:spPr>
          <a:xfrm>
            <a:off x="556269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Pack Configuration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 Configuration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Pack Configuration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4910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9443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681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foodservice packs</a:t>
            </a:r>
          </a:p>
        </p:txBody>
      </p:sp>
      <p:sp>
        <p:nvSpPr>
          <p:cNvPr id="19" name="BPS Value 1"/>
          <p:cNvSpPr txBox="1"/>
          <p:nvPr/>
        </p:nvSpPr>
        <p:spPr>
          <a:xfrm>
            <a:off x="6896100" y="193005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469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8422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660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Single-muffin packs</a:t>
            </a:r>
          </a:p>
        </p:txBody>
      </p:sp>
      <p:sp>
        <p:nvSpPr>
          <p:cNvPr id="23" name="BPS Value 2"/>
          <p:cNvSpPr txBox="1"/>
          <p:nvPr/>
        </p:nvSpPr>
        <p:spPr>
          <a:xfrm>
            <a:off x="6896100" y="28279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485531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85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77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Multipacks</a:t>
            </a:r>
          </a:p>
        </p:txBody>
      </p:sp>
      <p:sp>
        <p:nvSpPr>
          <p:cNvPr id="27" name="BPS Value 3"/>
          <p:cNvSpPr txBox="1"/>
          <p:nvPr/>
        </p:nvSpPr>
        <p:spPr>
          <a:xfrm>
            <a:off x="6896100" y="483626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Pack Configuration</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245555" cy="194310"/>
          </a:xfrm>
          <a:prstGeom prst="rect">
            <a:avLst/>
          </a:prstGeom>
          <a:noFill/>
        </p:spPr>
        <p:txBody>
          <a:bodyPr wrap="none" lIns="0" rIns="0" tIns="0" bIns="0">
            <a:spAutoFit/>
          </a:bodyPr>
          <a:lstStyle/>
          <a:p>
            <a:r>
              <a:rPr sz="1150" b="0">
                <a:solidFill>
                  <a:srgbClr val="2E2E2E"/>
                </a:solidFill>
                <a:latin typeface="Calibri"/>
              </a:rPr>
              <a:t>▪ 'Multipacks' gains the most share +</a:t>
            </a:r>
          </a:p>
        </p:txBody>
      </p:sp>
      <p:pic>
        <p:nvPicPr>
          <p:cNvPr id="35" name="Picture 34" descr="lock.png"/>
          <p:cNvPicPr>
            <a:picLocks noChangeAspect="1"/>
          </p:cNvPicPr>
          <p:nvPr/>
        </p:nvPicPr>
        <p:blipFill>
          <a:blip r:embed="rId5"/>
          <a:stretch>
            <a:fillRect/>
          </a:stretch>
        </p:blipFill>
        <p:spPr>
          <a:xfrm>
            <a:off x="10024259" y="1389951"/>
            <a:ext cx="134549" cy="195707"/>
          </a:xfrm>
          <a:prstGeom prst="rect">
            <a:avLst/>
          </a:prstGeom>
        </p:spPr>
      </p:pic>
      <p:sp>
        <p:nvSpPr>
          <p:cNvPr id="36" name="TextBox 35"/>
          <p:cNvSpPr txBox="1"/>
          <p:nvPr/>
        </p:nvSpPr>
        <p:spPr>
          <a:xfrm>
            <a:off x="10199369"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37" name="TextBox 36"/>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87004" cy="194310"/>
          </a:xfrm>
          <a:prstGeom prst="rect">
            <a:avLst/>
          </a:prstGeom>
          <a:noFill/>
        </p:spPr>
        <p:txBody>
          <a:bodyPr wrap="none" lIns="0" rIns="0" tIns="0" bIns="0">
            <a:spAutoFit/>
          </a:bodyPr>
          <a:lstStyle/>
          <a:p>
            <a:r>
              <a:rPr sz="1150" b="0">
                <a:solidFill>
                  <a:srgbClr val="2E2E2E"/>
                </a:solidFill>
                <a:latin typeface="Calibri"/>
              </a:rPr>
              <a:t>▪ 'Bulk foodservice packs' cedes the most -</a:t>
            </a:r>
          </a:p>
        </p:txBody>
      </p:sp>
      <p:pic>
        <p:nvPicPr>
          <p:cNvPr id="39" name="Picture 38" descr="lock.png"/>
          <p:cNvPicPr>
            <a:picLocks noChangeAspect="1"/>
          </p:cNvPicPr>
          <p:nvPr/>
        </p:nvPicPr>
        <p:blipFill>
          <a:blip r:embed="rId5"/>
          <a:stretch>
            <a:fillRect/>
          </a:stretch>
        </p:blipFill>
        <p:spPr>
          <a:xfrm>
            <a:off x="10365708" y="1793049"/>
            <a:ext cx="134549" cy="195707"/>
          </a:xfrm>
          <a:prstGeom prst="rect">
            <a:avLst/>
          </a:prstGeom>
        </p:spPr>
      </p:pic>
      <p:sp>
        <p:nvSpPr>
          <p:cNvPr id="40" name="TextBox 39"/>
          <p:cNvSpPr txBox="1"/>
          <p:nvPr/>
        </p:nvSpPr>
        <p:spPr>
          <a:xfrm>
            <a:off x="10540818"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3478423" cy="194310"/>
          </a:xfrm>
          <a:prstGeom prst="rect">
            <a:avLst/>
          </a:prstGeom>
          <a:noFill/>
        </p:spPr>
        <p:txBody>
          <a:bodyPr wrap="none" lIns="0" rIns="0" tIns="0" bIns="0">
            <a:spAutoFit/>
          </a:bodyPr>
          <a:lstStyle/>
          <a:p>
            <a:r>
              <a:rPr sz="1150" b="0">
                <a:solidFill>
                  <a:srgbClr val="2E2E2E"/>
                </a:solidFill>
                <a:latin typeface="Calibri"/>
              </a:rPr>
              <a:t>▪ 'Multipacks' is the fastest-growing pack configuration at</a:t>
            </a:r>
          </a:p>
        </p:txBody>
      </p:sp>
      <p:pic>
        <p:nvPicPr>
          <p:cNvPr id="43" name="Picture 42" descr="lock.png"/>
          <p:cNvPicPr>
            <a:picLocks noChangeAspect="1"/>
          </p:cNvPicPr>
          <p:nvPr/>
        </p:nvPicPr>
        <p:blipFill>
          <a:blip r:embed="rId5"/>
          <a:stretch>
            <a:fillRect/>
          </a:stretch>
        </p:blipFill>
        <p:spPr>
          <a:xfrm>
            <a:off x="11257127" y="2196147"/>
            <a:ext cx="134549" cy="195707"/>
          </a:xfrm>
          <a:prstGeom prst="rect">
            <a:avLst/>
          </a:prstGeom>
        </p:spPr>
      </p:pic>
      <p:sp>
        <p:nvSpPr>
          <p:cNvPr id="44" name="TextBox 43"/>
          <p:cNvSpPr txBox="1"/>
          <p:nvPr/>
        </p:nvSpPr>
        <p:spPr>
          <a:xfrm>
            <a:off x="11432236" y="2206371"/>
            <a:ext cx="409929"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5" name="TextBox 44"/>
          <p:cNvSpPr txBox="1"/>
          <p:nvPr/>
        </p:nvSpPr>
        <p:spPr>
          <a:xfrm>
            <a:off x="7829550" y="2381631"/>
            <a:ext cx="867494" cy="194310"/>
          </a:xfrm>
          <a:prstGeom prst="rect">
            <a:avLst/>
          </a:prstGeom>
          <a:noFill/>
        </p:spPr>
        <p:txBody>
          <a:bodyPr wrap="none" lIns="0" rIns="0" tIns="0" bIns="0">
            <a:spAutoFit/>
          </a:bodyPr>
          <a:lstStyle/>
          <a:p>
            <a:r>
              <a:rPr sz="1150" b="0">
                <a:solidFill>
                  <a:srgbClr val="2E2E2E"/>
                </a:solidFill>
                <a:latin typeface="Calibri"/>
              </a:rPr>
              <a:t>(2026–2036).</a:t>
            </a:r>
          </a:p>
        </p:txBody>
      </p:sp>
      <p:sp>
        <p:nvSpPr>
          <p:cNvPr id="46" name="TextBox 45"/>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7" name="Picture 46" descr="lock.png"/>
          <p:cNvPicPr>
            <a:picLocks noChangeAspect="1"/>
          </p:cNvPicPr>
          <p:nvPr/>
        </p:nvPicPr>
        <p:blipFill>
          <a:blip r:embed="rId5"/>
          <a:stretch>
            <a:fillRect/>
          </a:stretch>
        </p:blipFill>
        <p:spPr>
          <a:xfrm>
            <a:off x="9327669" y="2599245"/>
            <a:ext cx="134549" cy="195707"/>
          </a:xfrm>
          <a:prstGeom prst="rect">
            <a:avLst/>
          </a:prstGeom>
        </p:spPr>
      </p:pic>
      <p:sp>
        <p:nvSpPr>
          <p:cNvPr id="48" name="TextBox 47"/>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9" name="Picture 48" descr="lock.png"/>
          <p:cNvPicPr>
            <a:picLocks noChangeAspect="1"/>
          </p:cNvPicPr>
          <p:nvPr/>
        </p:nvPicPr>
        <p:blipFill>
          <a:blip r:embed="rId5"/>
          <a:stretch>
            <a:fillRect/>
          </a:stretch>
        </p:blipFill>
        <p:spPr>
          <a:xfrm>
            <a:off x="9654215" y="2599245"/>
            <a:ext cx="134549" cy="195707"/>
          </a:xfrm>
          <a:prstGeom prst="rect">
            <a:avLst/>
          </a:prstGeom>
        </p:spPr>
      </p:pic>
      <p:sp>
        <p:nvSpPr>
          <p:cNvPr id="50" name="TextBox 49"/>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1" name="TextBox 50"/>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2" name="TextBox 51"/>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3"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Pack Configuration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Pack Configuration,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Pack Configuration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990600"/>
        </p:xfrm>
        <a:graphic>
          <a:graphicData uri="http://schemas.openxmlformats.org/drawingml/2006/table">
            <a:tbl>
              <a:tblPr>
                <a:tableStyleId>{5C22544A-7EE6-4342-B048-85BDC9FD1C3A}</a:tableStyleId>
              </a:tblPr>
              <a:tblGrid>
                <a:gridCol w="1759918"/>
                <a:gridCol w="675152"/>
                <a:gridCol w="675152"/>
                <a:gridCol w="675152"/>
                <a:gridCol w="675152"/>
                <a:gridCol w="675152"/>
                <a:gridCol w="675152"/>
                <a:gridCol w="675152"/>
                <a:gridCol w="675152"/>
                <a:gridCol w="675152"/>
                <a:gridCol w="675152"/>
                <a:gridCol w="675152"/>
                <a:gridCol w="675152"/>
                <a:gridCol w="675152"/>
                <a:gridCol w="675152"/>
                <a:gridCol w="675152"/>
              </a:tblGrid>
              <a:tr h="246126">
                <a:tc>
                  <a:txBody>
                    <a:bodyPr wrap="none"/>
                    <a:lstStyle/>
                    <a:p>
                      <a:pPr algn="l"/>
                      <a:r>
                        <a:rPr sz="1100" b="1">
                          <a:solidFill>
                            <a:srgbClr val="0B2E4A"/>
                          </a:solidFill>
                          <a:latin typeface="Calibri"/>
                        </a:rPr>
                        <a:t>Pack Configuration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Single-muffin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Multipacks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Bulk foodservice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Pack Configuration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Single-muffin packs</a:t>
            </a:r>
          </a:p>
        </p:txBody>
      </p:sp>
      <p:sp>
        <p:nvSpPr>
          <p:cNvPr id="33" name="Rectangle 32"/>
          <p:cNvSpPr/>
          <p:nvPr/>
        </p:nvSpPr>
        <p:spPr>
          <a:xfrm>
            <a:off x="185737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Multipacks</a:t>
            </a:r>
          </a:p>
        </p:txBody>
      </p:sp>
      <p:sp>
        <p:nvSpPr>
          <p:cNvPr id="49" name="Rectangle 48"/>
          <p:cNvSpPr/>
          <p:nvPr/>
        </p:nvSpPr>
        <p:spPr>
          <a:xfrm>
            <a:off x="1857375" y="4191000"/>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Bulk foodservice packs</a:t>
            </a:r>
          </a:p>
        </p:txBody>
      </p:sp>
      <p:sp>
        <p:nvSpPr>
          <p:cNvPr id="65" name="Rectangle 64"/>
          <p:cNvSpPr/>
          <p:nvPr/>
        </p:nvSpPr>
        <p:spPr>
          <a:xfrm>
            <a:off x="185737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789268" y="1589913"/>
            <a:ext cx="366712" cy="533400"/>
          </a:xfrm>
          <a:prstGeom prst="rect">
            <a:avLst/>
          </a:prstGeom>
        </p:spPr>
      </p:pic>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Multipack Wrapping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Multipack Wrapping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Multipack Wrapping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Multipack Wrapping,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Multipack Wrapping segment categorizes the market by multipack wrapping.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Shared pack without individual wr…</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Individually wrapped muffins with…</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Multipack Wrapping split shows how demand is distributed across multipack wrapping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5_586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8_944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8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5_314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8_801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75929" cy="186689"/>
          </a:xfrm>
          <a:prstGeom prst="rect">
            <a:avLst/>
          </a:prstGeom>
          <a:noFill/>
        </p:spPr>
        <p:txBody>
          <a:bodyPr wrap="none" lIns="0" rIns="0" tIns="0" bIns="0">
            <a:spAutoFit/>
          </a:bodyPr>
          <a:lstStyle/>
          <a:p>
            <a:r>
              <a:rPr sz="1100" b="0">
                <a:solidFill>
                  <a:srgbClr val="2E2E2E"/>
                </a:solidFill>
                <a:latin typeface="Calibri"/>
              </a:rPr>
              <a:t>▪ 'Shared pack without individual wrapping' holds</a:t>
            </a:r>
          </a:p>
        </p:txBody>
      </p:sp>
      <p:sp>
        <p:nvSpPr>
          <p:cNvPr id="59" name="TextBox 58"/>
          <p:cNvSpPr txBox="1"/>
          <p:nvPr/>
        </p:nvSpPr>
        <p:spPr>
          <a:xfrm>
            <a:off x="485775" y="4397077"/>
            <a:ext cx="1480021" cy="186689"/>
          </a:xfrm>
          <a:prstGeom prst="rect">
            <a:avLst/>
          </a:prstGeom>
          <a:noFill/>
        </p:spPr>
        <p:txBody>
          <a:bodyPr wrap="none" lIns="0" rIns="0" tIns="0" bIns="0">
            <a:spAutoFit/>
          </a:bodyPr>
          <a:lstStyle/>
          <a:p>
            <a:r>
              <a:rPr sz="1100" b="0">
                <a:solidFill>
                  <a:srgbClr val="2E2E2E"/>
                </a:solidFill>
                <a:latin typeface="Calibri"/>
              </a:rPr>
              <a:t>the largest share in 2026</a:t>
            </a:r>
          </a:p>
        </p:txBody>
      </p:sp>
      <p:pic>
        <p:nvPicPr>
          <p:cNvPr id="60" name="Picture 59" descr="lock.png"/>
          <p:cNvPicPr>
            <a:picLocks noChangeAspect="1"/>
          </p:cNvPicPr>
          <p:nvPr/>
        </p:nvPicPr>
        <p:blipFill>
          <a:blip r:embed="rId10"/>
          <a:stretch>
            <a:fillRect/>
          </a:stretch>
        </p:blipFill>
        <p:spPr>
          <a:xfrm>
            <a:off x="1913847" y="4387298"/>
            <a:ext cx="128699" cy="187198"/>
          </a:xfrm>
          <a:prstGeom prst="rect">
            <a:avLst/>
          </a:prstGeom>
        </p:spPr>
      </p:pic>
      <p:sp>
        <p:nvSpPr>
          <p:cNvPr id="61" name="TextBox 60"/>
          <p:cNvSpPr txBox="1"/>
          <p:nvPr/>
        </p:nvSpPr>
        <p:spPr>
          <a:xfrm>
            <a:off x="2081343"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62" name="TextBox 61"/>
          <p:cNvSpPr txBox="1"/>
          <p:nvPr/>
        </p:nvSpPr>
        <p:spPr>
          <a:xfrm>
            <a:off x="485775" y="4615009"/>
            <a:ext cx="2743324" cy="186689"/>
          </a:xfrm>
          <a:prstGeom prst="rect">
            <a:avLst/>
          </a:prstGeom>
          <a:noFill/>
        </p:spPr>
        <p:txBody>
          <a:bodyPr wrap="none" lIns="0" rIns="0" tIns="0" bIns="0">
            <a:spAutoFit/>
          </a:bodyPr>
          <a:lstStyle/>
          <a:p>
            <a:r>
              <a:rPr sz="1100" b="0">
                <a:solidFill>
                  <a:srgbClr val="2E2E2E"/>
                </a:solidFill>
                <a:latin typeface="Calibri"/>
              </a:rPr>
              <a:t>▪ 'Individually wrapped muffins within an outer</a:t>
            </a:r>
          </a:p>
        </p:txBody>
      </p:sp>
      <p:sp>
        <p:nvSpPr>
          <p:cNvPr id="63" name="TextBox 62"/>
          <p:cNvSpPr txBox="1"/>
          <p:nvPr/>
        </p:nvSpPr>
        <p:spPr>
          <a:xfrm>
            <a:off x="485775" y="4782649"/>
            <a:ext cx="2538685" cy="186689"/>
          </a:xfrm>
          <a:prstGeom prst="rect">
            <a:avLst/>
          </a:prstGeom>
          <a:noFill/>
        </p:spPr>
        <p:txBody>
          <a:bodyPr wrap="none" lIns="0" rIns="0" tIns="0" bIns="0">
            <a:spAutoFit/>
          </a:bodyPr>
          <a:lstStyle/>
          <a:p>
            <a:r>
              <a:rPr sz="1100" b="0">
                <a:solidFill>
                  <a:srgbClr val="2E2E2E"/>
                </a:solidFill>
                <a:latin typeface="Calibri"/>
              </a:rPr>
              <a:t>pack' is the fastest-growing sub-segment at</a:t>
            </a:r>
          </a:p>
        </p:txBody>
      </p:sp>
      <p:pic>
        <p:nvPicPr>
          <p:cNvPr id="64" name="Picture 63" descr="lock.png"/>
          <p:cNvPicPr>
            <a:picLocks noChangeAspect="1"/>
          </p:cNvPicPr>
          <p:nvPr/>
        </p:nvPicPr>
        <p:blipFill>
          <a:blip r:embed="rId10"/>
          <a:stretch>
            <a:fillRect/>
          </a:stretch>
        </p:blipFill>
        <p:spPr>
          <a:xfrm>
            <a:off x="2972511" y="4772870"/>
            <a:ext cx="128699" cy="187198"/>
          </a:xfrm>
          <a:prstGeom prst="rect">
            <a:avLst/>
          </a:prstGeom>
        </p:spPr>
      </p:pic>
      <p:sp>
        <p:nvSpPr>
          <p:cNvPr id="65" name="TextBox 64"/>
          <p:cNvSpPr txBox="1"/>
          <p:nvPr/>
        </p:nvSpPr>
        <p:spPr>
          <a:xfrm>
            <a:off x="485775" y="495028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66" name="TextBox 65"/>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67" name="Picture 66" descr="lock.png"/>
          <p:cNvPicPr>
            <a:picLocks noChangeAspect="1"/>
          </p:cNvPicPr>
          <p:nvPr/>
        </p:nvPicPr>
        <p:blipFill>
          <a:blip r:embed="rId10"/>
          <a:stretch>
            <a:fillRect/>
          </a:stretch>
        </p:blipFill>
        <p:spPr>
          <a:xfrm>
            <a:off x="2240451" y="5158441"/>
            <a:ext cx="128699" cy="187198"/>
          </a:xfrm>
          <a:prstGeom prst="rect">
            <a:avLst/>
          </a:prstGeom>
        </p:spPr>
      </p:pic>
      <p:sp>
        <p:nvSpPr>
          <p:cNvPr id="68" name="TextBox 67"/>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69" name="Picture 68" descr="lock.png"/>
          <p:cNvPicPr>
            <a:picLocks noChangeAspect="1"/>
          </p:cNvPicPr>
          <p:nvPr/>
        </p:nvPicPr>
        <p:blipFill>
          <a:blip r:embed="rId10"/>
          <a:stretch>
            <a:fillRect/>
          </a:stretch>
        </p:blipFill>
        <p:spPr>
          <a:xfrm>
            <a:off x="2552799" y="5158441"/>
            <a:ext cx="128699" cy="187198"/>
          </a:xfrm>
          <a:prstGeom prst="rect">
            <a:avLst/>
          </a:prstGeom>
        </p:spPr>
      </p:pic>
      <p:sp>
        <p:nvSpPr>
          <p:cNvPr id="70" name="TextBox 69"/>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72" name="TextBox 71"/>
          <p:cNvSpPr txBox="1"/>
          <p:nvPr/>
        </p:nvSpPr>
        <p:spPr>
          <a:xfrm>
            <a:off x="485775" y="5553793"/>
            <a:ext cx="2914650" cy="186689"/>
          </a:xfrm>
          <a:prstGeom prst="rect">
            <a:avLst/>
          </a:prstGeom>
          <a:noFill/>
        </p:spPr>
        <p:txBody>
          <a:bodyPr wrap="none" lIns="0" rIns="0" tIns="0" bIns="0">
            <a:spAutoFit/>
          </a:bodyPr>
          <a:lstStyle/>
          <a:p>
            <a:r>
              <a:rPr sz="1100" b="0">
                <a:solidFill>
                  <a:srgbClr val="2E2E2E"/>
                </a:solidFill>
                <a:latin typeface="Calibri"/>
              </a:rPr>
              <a:t>▪ 2 sub-segments make up the multipack wrapping</a:t>
            </a:r>
          </a:p>
        </p:txBody>
      </p:sp>
      <p:sp>
        <p:nvSpPr>
          <p:cNvPr id="73" name="TextBox 72"/>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74" name="TextBox 73"/>
          <p:cNvSpPr txBox="1"/>
          <p:nvPr/>
        </p:nvSpPr>
        <p:spPr>
          <a:xfrm>
            <a:off x="3838575" y="4229437"/>
            <a:ext cx="2547689" cy="186689"/>
          </a:xfrm>
          <a:prstGeom prst="rect">
            <a:avLst/>
          </a:prstGeom>
          <a:noFill/>
        </p:spPr>
        <p:txBody>
          <a:bodyPr wrap="none" lIns="0" rIns="0" tIns="0" bIns="0">
            <a:spAutoFit/>
          </a:bodyPr>
          <a:lstStyle/>
          <a:p>
            <a:r>
              <a:rPr sz="1100" b="0">
                <a:solidFill>
                  <a:srgbClr val="2E2E2E"/>
                </a:solidFill>
                <a:latin typeface="Calibri"/>
              </a:rPr>
              <a:t>● Shared pack without individual wrapping:</a:t>
            </a:r>
          </a:p>
        </p:txBody>
      </p:sp>
      <p:pic>
        <p:nvPicPr>
          <p:cNvPr id="75" name="Picture 74" descr="lock.png"/>
          <p:cNvPicPr>
            <a:picLocks noChangeAspect="1"/>
          </p:cNvPicPr>
          <p:nvPr/>
        </p:nvPicPr>
        <p:blipFill>
          <a:blip r:embed="rId10"/>
          <a:stretch>
            <a:fillRect/>
          </a:stretch>
        </p:blipFill>
        <p:spPr>
          <a:xfrm>
            <a:off x="6334316" y="4219658"/>
            <a:ext cx="128699" cy="187198"/>
          </a:xfrm>
          <a:prstGeom prst="rect">
            <a:avLst/>
          </a:prstGeom>
        </p:spPr>
      </p:pic>
      <p:sp>
        <p:nvSpPr>
          <p:cNvPr id="76" name="TextBox 75"/>
          <p:cNvSpPr txBox="1"/>
          <p:nvPr/>
        </p:nvSpPr>
        <p:spPr>
          <a:xfrm>
            <a:off x="650181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7361262" y="4219658"/>
            <a:ext cx="128699" cy="187198"/>
          </a:xfrm>
          <a:prstGeom prst="rect">
            <a:avLst/>
          </a:prstGeom>
        </p:spPr>
      </p:pic>
      <p:sp>
        <p:nvSpPr>
          <p:cNvPr id="78" name="TextBox 77"/>
          <p:cNvSpPr txBox="1"/>
          <p:nvPr/>
        </p:nvSpPr>
        <p:spPr>
          <a:xfrm>
            <a:off x="3838575" y="439707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9" name="TextBox 78"/>
          <p:cNvSpPr txBox="1"/>
          <p:nvPr/>
        </p:nvSpPr>
        <p:spPr>
          <a:xfrm>
            <a:off x="3838575" y="4615009"/>
            <a:ext cx="3161605" cy="186689"/>
          </a:xfrm>
          <a:prstGeom prst="rect">
            <a:avLst/>
          </a:prstGeom>
          <a:noFill/>
        </p:spPr>
        <p:txBody>
          <a:bodyPr wrap="none" lIns="0" rIns="0" tIns="0" bIns="0">
            <a:spAutoFit/>
          </a:bodyPr>
          <a:lstStyle/>
          <a:p>
            <a:r>
              <a:rPr sz="1100" b="1">
                <a:solidFill>
                  <a:srgbClr val="0E72AE"/>
                </a:solidFill>
                <a:latin typeface="Calibri"/>
              </a:rPr>
              <a:t>● Individually wrapped muffins within an outer pack:</a:t>
            </a:r>
          </a:p>
        </p:txBody>
      </p:sp>
      <p:pic>
        <p:nvPicPr>
          <p:cNvPr id="80" name="Picture 79" descr="lock.png"/>
          <p:cNvPicPr>
            <a:picLocks noChangeAspect="1"/>
          </p:cNvPicPr>
          <p:nvPr/>
        </p:nvPicPr>
        <p:blipFill>
          <a:blip r:embed="rId10"/>
          <a:stretch>
            <a:fillRect/>
          </a:stretch>
        </p:blipFill>
        <p:spPr>
          <a:xfrm>
            <a:off x="6948232" y="4605230"/>
            <a:ext cx="128699" cy="187198"/>
          </a:xfrm>
          <a:prstGeom prst="rect">
            <a:avLst/>
          </a:prstGeom>
        </p:spPr>
      </p:pic>
      <p:sp>
        <p:nvSpPr>
          <p:cNvPr id="81" name="TextBox 80"/>
          <p:cNvSpPr txBox="1"/>
          <p:nvPr/>
        </p:nvSpPr>
        <p:spPr>
          <a:xfrm>
            <a:off x="7115727" y="4615009"/>
            <a:ext cx="510852" cy="186689"/>
          </a:xfrm>
          <a:prstGeom prst="rect">
            <a:avLst/>
          </a:prstGeom>
          <a:noFill/>
        </p:spPr>
        <p:txBody>
          <a:bodyPr wrap="none" lIns="0" rIns="0" tIns="0" bIns="0">
            <a:spAutoFit/>
          </a:bodyPr>
          <a:lstStyle/>
          <a:p>
            <a:r>
              <a:rPr sz="1100" b="1">
                <a:solidFill>
                  <a:srgbClr val="0E72AE"/>
                </a:solidFill>
                <a:latin typeface="Calibri"/>
              </a:rPr>
              <a:t>of 2026</a:t>
            </a:r>
          </a:p>
        </p:txBody>
      </p:sp>
      <p:sp>
        <p:nvSpPr>
          <p:cNvPr id="82" name="TextBox 81"/>
          <p:cNvSpPr txBox="1"/>
          <p:nvPr/>
        </p:nvSpPr>
        <p:spPr>
          <a:xfrm>
            <a:off x="3838575" y="4782649"/>
            <a:ext cx="460102" cy="186689"/>
          </a:xfrm>
          <a:prstGeom prst="rect">
            <a:avLst/>
          </a:prstGeom>
          <a:noFill/>
        </p:spPr>
        <p:txBody>
          <a:bodyPr wrap="none" lIns="0" rIns="0" tIns="0" bIns="0">
            <a:spAutoFit/>
          </a:bodyPr>
          <a:lstStyle/>
          <a:p>
            <a:r>
              <a:rPr sz="1100" b="1">
                <a:solidFill>
                  <a:srgbClr val="0E72AE"/>
                </a:solidFill>
                <a:latin typeface="Calibri"/>
              </a:rPr>
              <a:t>value ·</a:t>
            </a:r>
          </a:p>
        </p:txBody>
      </p:sp>
      <p:pic>
        <p:nvPicPr>
          <p:cNvPr id="83" name="Picture 82" descr="lock.png"/>
          <p:cNvPicPr>
            <a:picLocks noChangeAspect="1"/>
          </p:cNvPicPr>
          <p:nvPr/>
        </p:nvPicPr>
        <p:blipFill>
          <a:blip r:embed="rId10"/>
          <a:stretch>
            <a:fillRect/>
          </a:stretch>
        </p:blipFill>
        <p:spPr>
          <a:xfrm>
            <a:off x="4246728" y="4772870"/>
            <a:ext cx="128699" cy="187198"/>
          </a:xfrm>
          <a:prstGeom prst="rect">
            <a:avLst/>
          </a:prstGeom>
        </p:spPr>
      </p:pic>
      <p:sp>
        <p:nvSpPr>
          <p:cNvPr id="84" name="TextBox 83"/>
          <p:cNvSpPr txBox="1"/>
          <p:nvPr/>
        </p:nvSpPr>
        <p:spPr>
          <a:xfrm>
            <a:off x="4414224" y="4782649"/>
            <a:ext cx="1245889" cy="186689"/>
          </a:xfrm>
          <a:prstGeom prst="rect">
            <a:avLst/>
          </a:prstGeom>
          <a:noFill/>
        </p:spPr>
        <p:txBody>
          <a:bodyPr wrap="none" lIns="0" rIns="0" tIns="0" bIns="0">
            <a:spAutoFit/>
          </a:bodyPr>
          <a:lstStyle/>
          <a:p>
            <a:r>
              <a:rPr sz="1100" b="1">
                <a:solidFill>
                  <a:srgbClr val="0E72AE"/>
                </a:solidFill>
                <a:latin typeface="Calibri"/>
              </a:rPr>
              <a:t>CAGR grows fastest.</a:t>
            </a:r>
          </a:p>
        </p:txBody>
      </p:sp>
      <p:sp>
        <p:nvSpPr>
          <p:cNvPr id="85" name="TextBox 84"/>
          <p:cNvSpPr txBox="1"/>
          <p:nvPr/>
        </p:nvSpPr>
        <p:spPr>
          <a:xfrm>
            <a:off x="8524875" y="5842641"/>
            <a:ext cx="3036850" cy="194310"/>
          </a:xfrm>
          <a:prstGeom prst="rect">
            <a:avLst/>
          </a:prstGeom>
          <a:noFill/>
        </p:spPr>
        <p:txBody>
          <a:bodyPr wrap="none" lIns="0" rIns="0" tIns="0" bIns="0">
            <a:spAutoFit/>
          </a:bodyPr>
          <a:lstStyle/>
          <a:p>
            <a:r>
              <a:rPr sz="1150" b="1">
                <a:solidFill>
                  <a:srgbClr val="0B2E4A"/>
                </a:solidFill>
                <a:latin typeface="Calibri"/>
              </a:rPr>
              <a:t>The Multipack Wrapping segment is projected to</a:t>
            </a:r>
          </a:p>
        </p:txBody>
      </p:sp>
      <p:sp>
        <p:nvSpPr>
          <p:cNvPr id="86" name="TextBox 85"/>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7" name="Picture 86" descr="lock.png"/>
          <p:cNvPicPr>
            <a:picLocks noChangeAspect="1"/>
          </p:cNvPicPr>
          <p:nvPr/>
        </p:nvPicPr>
        <p:blipFill>
          <a:blip r:embed="rId10"/>
          <a:stretch>
            <a:fillRect/>
          </a:stretch>
        </p:blipFill>
        <p:spPr>
          <a:xfrm>
            <a:off x="9651852" y="6007677"/>
            <a:ext cx="134549" cy="195707"/>
          </a:xfrm>
          <a:prstGeom prst="rect">
            <a:avLst/>
          </a:prstGeom>
        </p:spPr>
      </p:pic>
      <p:sp>
        <p:nvSpPr>
          <p:cNvPr id="88" name="TextBox 87"/>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Multipack Wrapping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Multipack Wrapping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Multipack Wrapping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Multipack Wrapping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6984255" cy="186689"/>
          </a:xfrm>
          <a:prstGeom prst="rect">
            <a:avLst/>
          </a:prstGeom>
          <a:noFill/>
        </p:spPr>
        <p:txBody>
          <a:bodyPr wrap="none" lIns="0" rIns="0" tIns="0" bIns="0">
            <a:spAutoFit/>
          </a:bodyPr>
          <a:lstStyle/>
          <a:p>
            <a:r>
              <a:rPr sz="1100" b="0">
                <a:solidFill>
                  <a:srgbClr val="2E2E2E"/>
                </a:solidFill>
                <a:latin typeface="Calibri"/>
              </a:rPr>
              <a:t>Between 2026 and 2036, 'Individually wrapped muffins within an outer pack' gains the most share in the Global market (+</a:t>
            </a:r>
          </a:p>
        </p:txBody>
      </p:sp>
      <p:pic>
        <p:nvPicPr>
          <p:cNvPr id="21" name="Picture 20" descr="lock.png"/>
          <p:cNvPicPr>
            <a:picLocks noChangeAspect="1"/>
          </p:cNvPicPr>
          <p:nvPr/>
        </p:nvPicPr>
        <p:blipFill>
          <a:blip r:embed="rId6"/>
          <a:stretch>
            <a:fillRect/>
          </a:stretch>
        </p:blipFill>
        <p:spPr>
          <a:xfrm>
            <a:off x="7189482" y="5851905"/>
            <a:ext cx="128699" cy="187198"/>
          </a:xfrm>
          <a:prstGeom prst="rect">
            <a:avLst/>
          </a:prstGeom>
        </p:spPr>
      </p:pic>
      <p:sp>
        <p:nvSpPr>
          <p:cNvPr id="22" name="TextBox 21"/>
          <p:cNvSpPr txBox="1"/>
          <p:nvPr/>
        </p:nvSpPr>
        <p:spPr>
          <a:xfrm>
            <a:off x="7356978" y="5861685"/>
            <a:ext cx="3439368" cy="186689"/>
          </a:xfrm>
          <a:prstGeom prst="rect">
            <a:avLst/>
          </a:prstGeom>
          <a:noFill/>
        </p:spPr>
        <p:txBody>
          <a:bodyPr wrap="none" lIns="0" rIns="0" tIns="0" bIns="0">
            <a:spAutoFit/>
          </a:bodyPr>
          <a:lstStyle/>
          <a:p>
            <a:r>
              <a:rPr sz="1100" b="0">
                <a:solidFill>
                  <a:srgbClr val="2E2E2E"/>
                </a:solidFill>
                <a:latin typeface="Calibri"/>
              </a:rPr>
              <a:t>BPS) while 'Shared pack without individual wrapping' cedes</a:t>
            </a:r>
          </a:p>
        </p:txBody>
      </p:sp>
      <p:pic>
        <p:nvPicPr>
          <p:cNvPr id="23" name="Picture 22" descr="lock.png"/>
          <p:cNvPicPr>
            <a:picLocks noChangeAspect="1"/>
          </p:cNvPicPr>
          <p:nvPr/>
        </p:nvPicPr>
        <p:blipFill>
          <a:blip r:embed="rId6"/>
          <a:stretch>
            <a:fillRect/>
          </a:stretch>
        </p:blipFill>
        <p:spPr>
          <a:xfrm>
            <a:off x="10744398" y="5851905"/>
            <a:ext cx="128699" cy="187198"/>
          </a:xfrm>
          <a:prstGeom prst="rect">
            <a:avLst/>
          </a:prstGeom>
        </p:spPr>
      </p:pic>
      <p:sp>
        <p:nvSpPr>
          <p:cNvPr id="24" name="TextBox 23"/>
          <p:cNvSpPr txBox="1"/>
          <p:nvPr/>
        </p:nvSpPr>
        <p:spPr>
          <a:xfrm>
            <a:off x="10911894" y="5861685"/>
            <a:ext cx="808260" cy="186689"/>
          </a:xfrm>
          <a:prstGeom prst="rect">
            <a:avLst/>
          </a:prstGeom>
          <a:noFill/>
        </p:spPr>
        <p:txBody>
          <a:bodyPr wrap="none" lIns="0" rIns="0" tIns="0" bIns="0">
            <a:spAutoFit/>
          </a:bodyPr>
          <a:lstStyle/>
          <a:p>
            <a:r>
              <a:rPr sz="1100" b="0">
                <a:solidFill>
                  <a:srgbClr val="2E2E2E"/>
                </a:solidFill>
                <a:latin typeface="Calibri"/>
              </a:rPr>
              <a:t>BPS. Bubbles</a:t>
            </a:r>
          </a:p>
        </p:txBody>
      </p:sp>
      <p:sp>
        <p:nvSpPr>
          <p:cNvPr id="25" name="TextBox 24"/>
          <p:cNvSpPr txBox="1"/>
          <p:nvPr/>
        </p:nvSpPr>
        <p:spPr>
          <a:xfrm>
            <a:off x="257175" y="602932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Multipack Wrapping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Individually wrapped muffins within an outer pack</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Shared pack without individual wrapping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Multipack Wrapping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09850"/>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Multipack Wrapping (MT)</a:t>
            </a:r>
          </a:p>
        </p:txBody>
      </p:sp>
      <p:graphicFrame>
        <p:nvGraphicFramePr>
          <p:cNvPr id="13" name="Table 12"/>
          <p:cNvGraphicFramePr>
            <a:graphicFrameLocks noGrp="1"/>
          </p:cNvGraphicFramePr>
          <p:nvPr/>
        </p:nvGraphicFramePr>
        <p:xfrm>
          <a:off x="152400" y="1238250"/>
          <a:ext cx="11887208" cy="214312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Multipack</a:t>
                      </a:r>
                      <a:endParaRPr sz="1100"/>
                    </a:p>
                    <a:p>
                      <a:pPr algn="l"/>
                      <a:r>
                        <a:rPr sz="1100" b="1">
                          <a:solidFill>
                            <a:srgbClr val="0B2E4A"/>
                          </a:solidFill>
                          <a:latin typeface="Calibri"/>
                        </a:rPr>
                        <a:t>Wrapping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825119">
                <a:tc>
                  <a:txBody>
                    <a:bodyPr wrap="none"/>
                    <a:lstStyle/>
                    <a:p>
                      <a:pPr algn="l"/>
                      <a:r>
                        <a:rPr sz="1100" b="1">
                          <a:solidFill>
                            <a:srgbClr val="2E2E2E"/>
                          </a:solidFill>
                          <a:latin typeface="Calibri"/>
                        </a:rPr>
                        <a:t>Individually</a:t>
                      </a:r>
                      <a:endParaRPr sz="1100"/>
                    </a:p>
                    <a:p>
                      <a:pPr algn="l"/>
                      <a:r>
                        <a:rPr sz="1100" b="1">
                          <a:solidFill>
                            <a:srgbClr val="2E2E2E"/>
                          </a:solidFill>
                          <a:latin typeface="Calibri"/>
                        </a:rPr>
                        <a:t>wrapped muffins</a:t>
                      </a:r>
                      <a:endParaRPr sz="1100"/>
                    </a:p>
                    <a:p>
                      <a:pPr algn="l"/>
                      <a:r>
                        <a:rPr sz="1100" b="1">
                          <a:solidFill>
                            <a:srgbClr val="2E2E2E"/>
                          </a:solidFill>
                          <a:latin typeface="Calibri"/>
                        </a:rPr>
                        <a:t>within an outer</a:t>
                      </a:r>
                      <a:endParaRPr sz="1100"/>
                    </a:p>
                    <a:p>
                      <a:pPr algn="l"/>
                      <a:r>
                        <a:rPr sz="1100" b="1">
                          <a:solidFill>
                            <a:srgbClr val="2E2E2E"/>
                          </a:solidFill>
                          <a:latin typeface="Calibri"/>
                        </a:rPr>
                        <a:t>pack</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333">
                <a:tc>
                  <a:txBody>
                    <a:bodyPr wrap="none"/>
                    <a:lstStyle/>
                    <a:p>
                      <a:pPr algn="l"/>
                      <a:r>
                        <a:rPr sz="1100" b="1">
                          <a:solidFill>
                            <a:srgbClr val="2E2E2E"/>
                          </a:solidFill>
                          <a:latin typeface="Calibri"/>
                        </a:rPr>
                        <a:t>Shared pack</a:t>
                      </a:r>
                      <a:endParaRPr sz="1100"/>
                    </a:p>
                    <a:p>
                      <a:pPr algn="l"/>
                      <a:r>
                        <a:rPr sz="1100" b="1">
                          <a:solidFill>
                            <a:srgbClr val="2E2E2E"/>
                          </a:solidFill>
                          <a:latin typeface="Calibri"/>
                        </a:rPr>
                        <a:t>without individual</a:t>
                      </a:r>
                      <a:endParaRPr sz="1100"/>
                    </a:p>
                    <a:p>
                      <a:pPr algn="l"/>
                      <a:r>
                        <a:rPr sz="1100" b="1">
                          <a:solidFill>
                            <a:srgbClr val="2E2E2E"/>
                          </a:solidFill>
                          <a:latin typeface="Calibri"/>
                        </a:rPr>
                        <a:t>wrapping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90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724275"/>
            <a:ext cx="11906250" cy="2905125"/>
          </a:xfrm>
          <a:prstGeom prst="roundRect">
            <a:avLst>
              <a:gd name="adj" fmla="val 26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8100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Multipack Wrapping</a:t>
            </a:r>
          </a:p>
        </p:txBody>
      </p:sp>
      <p:sp>
        <p:nvSpPr>
          <p:cNvPr id="17" name="Rectangle 16"/>
          <p:cNvSpPr/>
          <p:nvPr/>
        </p:nvSpPr>
        <p:spPr>
          <a:xfrm>
            <a:off x="276225" y="40481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133850"/>
            <a:ext cx="11639550" cy="24193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62568"/>
            <a:ext cx="366712" cy="533400"/>
          </a:xfrm>
          <a:prstGeom prst="rect">
            <a:avLst/>
          </a:prstGeom>
        </p:spPr>
      </p:pic>
      <p:sp>
        <p:nvSpPr>
          <p:cNvPr id="21" name="TextBox 20"/>
          <p:cNvSpPr txBox="1"/>
          <p:nvPr/>
        </p:nvSpPr>
        <p:spPr>
          <a:xfrm>
            <a:off x="276225" y="4143375"/>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4133151"/>
            <a:ext cx="134549" cy="195707"/>
          </a:xfrm>
          <a:prstGeom prst="rect">
            <a:avLst/>
          </a:prstGeom>
        </p:spPr>
      </p:pic>
      <p:sp>
        <p:nvSpPr>
          <p:cNvPr id="23" name="TextBox 22"/>
          <p:cNvSpPr txBox="1"/>
          <p:nvPr/>
        </p:nvSpPr>
        <p:spPr>
          <a:xfrm>
            <a:off x="5201063" y="414337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6230796" y="4133151"/>
            <a:ext cx="134549" cy="195707"/>
          </a:xfrm>
          <a:prstGeom prst="rect">
            <a:avLst/>
          </a:prstGeom>
        </p:spPr>
      </p:pic>
      <p:sp>
        <p:nvSpPr>
          <p:cNvPr id="25" name="TextBox 24"/>
          <p:cNvSpPr txBox="1"/>
          <p:nvPr/>
        </p:nvSpPr>
        <p:spPr>
          <a:xfrm>
            <a:off x="6405905" y="414337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371213"/>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4360989"/>
            <a:ext cx="134549" cy="195707"/>
          </a:xfrm>
          <a:prstGeom prst="rect">
            <a:avLst/>
          </a:prstGeom>
        </p:spPr>
      </p:pic>
      <p:sp>
        <p:nvSpPr>
          <p:cNvPr id="28" name="TextBox 27"/>
          <p:cNvSpPr txBox="1"/>
          <p:nvPr/>
        </p:nvSpPr>
        <p:spPr>
          <a:xfrm>
            <a:off x="4429166" y="437121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599050"/>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4588827"/>
            <a:ext cx="134549" cy="195707"/>
          </a:xfrm>
          <a:prstGeom prst="rect">
            <a:avLst/>
          </a:prstGeom>
        </p:spPr>
      </p:pic>
      <p:sp>
        <p:nvSpPr>
          <p:cNvPr id="31" name="TextBox 30"/>
          <p:cNvSpPr txBox="1"/>
          <p:nvPr/>
        </p:nvSpPr>
        <p:spPr>
          <a:xfrm>
            <a:off x="4938344" y="4599050"/>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4588827"/>
            <a:ext cx="134549" cy="195707"/>
          </a:xfrm>
          <a:prstGeom prst="rect">
            <a:avLst/>
          </a:prstGeom>
        </p:spPr>
      </p:pic>
      <p:sp>
        <p:nvSpPr>
          <p:cNvPr id="33" name="TextBox 32"/>
          <p:cNvSpPr txBox="1"/>
          <p:nvPr/>
        </p:nvSpPr>
        <p:spPr>
          <a:xfrm>
            <a:off x="8970623" y="459905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82688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816665"/>
            <a:ext cx="134549" cy="195707"/>
          </a:xfrm>
          <a:prstGeom prst="rect">
            <a:avLst/>
          </a:prstGeom>
        </p:spPr>
      </p:pic>
      <p:sp>
        <p:nvSpPr>
          <p:cNvPr id="36" name="TextBox 35"/>
          <p:cNvSpPr txBox="1"/>
          <p:nvPr/>
        </p:nvSpPr>
        <p:spPr>
          <a:xfrm>
            <a:off x="1965143" y="482688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816665"/>
            <a:ext cx="134549" cy="195707"/>
          </a:xfrm>
          <a:prstGeom prst="rect">
            <a:avLst/>
          </a:prstGeom>
        </p:spPr>
      </p:pic>
      <p:sp>
        <p:nvSpPr>
          <p:cNvPr id="38" name="TextBox 37"/>
          <p:cNvSpPr txBox="1"/>
          <p:nvPr/>
        </p:nvSpPr>
        <p:spPr>
          <a:xfrm>
            <a:off x="2291688" y="4826888"/>
            <a:ext cx="1470521" cy="194310"/>
          </a:xfrm>
          <a:prstGeom prst="rect">
            <a:avLst/>
          </a:prstGeom>
          <a:noFill/>
        </p:spPr>
        <p:txBody>
          <a:bodyPr wrap="none" lIns="0" rIns="0" tIns="0" bIns="0">
            <a:spAutoFit/>
          </a:bodyPr>
          <a:lstStyle/>
          <a:p>
            <a:r>
              <a:rPr sz="1150" b="0">
                <a:solidFill>
                  <a:srgbClr val="2E2E2E"/>
                </a:solidFill>
                <a:latin typeface="Calibri"/>
              </a:rPr>
              <a:t>MT across 2 categories.</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Multipack Wrapping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Multipack Wrapping,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Multipack Wrapping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3167958"/>
                <a:gridCol w="491930"/>
                <a:gridCol w="491930"/>
                <a:gridCol w="491930"/>
                <a:gridCol w="514209"/>
                <a:gridCol w="514209"/>
                <a:gridCol w="514209"/>
                <a:gridCol w="514209"/>
                <a:gridCol w="514209"/>
                <a:gridCol w="514209"/>
                <a:gridCol w="514209"/>
                <a:gridCol w="514209"/>
                <a:gridCol w="514209"/>
                <a:gridCol w="514209"/>
                <a:gridCol w="514209"/>
                <a:gridCol w="514209"/>
                <a:gridCol w="514209"/>
                <a:gridCol w="558730"/>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Multipack Wrapping</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495388" y="1592916"/>
            <a:ext cx="362582" cy="527392"/>
          </a:xfrm>
          <a:prstGeom prst="rect">
            <a:avLst/>
          </a:prstGeom>
        </p:spPr>
      </p:pic>
      <p:sp>
        <p:nvSpPr>
          <p:cNvPr id="21" name="TextBox 20"/>
          <p:cNvSpPr txBox="1"/>
          <p:nvPr/>
        </p:nvSpPr>
        <p:spPr>
          <a:xfrm>
            <a:off x="276225" y="2990850"/>
            <a:ext cx="4800575" cy="194310"/>
          </a:xfrm>
          <a:prstGeom prst="rect">
            <a:avLst/>
          </a:prstGeom>
          <a:noFill/>
        </p:spPr>
        <p:txBody>
          <a:bodyPr wrap="none" lIns="0" rIns="0" tIns="0" bIns="0">
            <a:spAutoFit/>
          </a:bodyPr>
          <a:lstStyle/>
          <a:p>
            <a:r>
              <a:rPr sz="1150" b="0">
                <a:solidFill>
                  <a:srgbClr val="2E2E2E"/>
                </a:solidFill>
                <a:latin typeface="Calibri"/>
              </a:rPr>
              <a:t>▪ 'Shared pack without individual wrapping' is the largest multipack wrapping at</a:t>
            </a:r>
          </a:p>
        </p:txBody>
      </p:sp>
      <p:pic>
        <p:nvPicPr>
          <p:cNvPr id="22" name="Picture 21" descr="lock.png"/>
          <p:cNvPicPr>
            <a:picLocks noChangeAspect="1"/>
          </p:cNvPicPr>
          <p:nvPr/>
        </p:nvPicPr>
        <p:blipFill>
          <a:blip r:embed="rId4"/>
          <a:stretch>
            <a:fillRect/>
          </a:stretch>
        </p:blipFill>
        <p:spPr>
          <a:xfrm>
            <a:off x="5025954" y="2980626"/>
            <a:ext cx="134549" cy="195707"/>
          </a:xfrm>
          <a:prstGeom prst="rect">
            <a:avLst/>
          </a:prstGeom>
        </p:spPr>
      </p:pic>
      <p:sp>
        <p:nvSpPr>
          <p:cNvPr id="23" name="TextBox 22"/>
          <p:cNvSpPr txBox="1"/>
          <p:nvPr/>
        </p:nvSpPr>
        <p:spPr>
          <a:xfrm>
            <a:off x="5201063" y="29908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6106996" y="2980626"/>
            <a:ext cx="134549" cy="195707"/>
          </a:xfrm>
          <a:prstGeom prst="rect">
            <a:avLst/>
          </a:prstGeom>
        </p:spPr>
      </p:pic>
      <p:sp>
        <p:nvSpPr>
          <p:cNvPr id="25" name="TextBox 24"/>
          <p:cNvSpPr txBox="1"/>
          <p:nvPr/>
        </p:nvSpPr>
        <p:spPr>
          <a:xfrm>
            <a:off x="6282105" y="29908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218687"/>
            <a:ext cx="4028678"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grows fastest</a:t>
            </a:r>
          </a:p>
        </p:txBody>
      </p:sp>
      <p:pic>
        <p:nvPicPr>
          <p:cNvPr id="27" name="Picture 26" descr="lock.png"/>
          <p:cNvPicPr>
            <a:picLocks noChangeAspect="1"/>
          </p:cNvPicPr>
          <p:nvPr/>
        </p:nvPicPr>
        <p:blipFill>
          <a:blip r:embed="rId4"/>
          <a:stretch>
            <a:fillRect/>
          </a:stretch>
        </p:blipFill>
        <p:spPr>
          <a:xfrm>
            <a:off x="4254057" y="3208464"/>
            <a:ext cx="134549" cy="195707"/>
          </a:xfrm>
          <a:prstGeom prst="rect">
            <a:avLst/>
          </a:prstGeom>
        </p:spPr>
      </p:pic>
      <p:sp>
        <p:nvSpPr>
          <p:cNvPr id="28" name="TextBox 27"/>
          <p:cNvSpPr txBox="1"/>
          <p:nvPr/>
        </p:nvSpPr>
        <p:spPr>
          <a:xfrm>
            <a:off x="4429166" y="32186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446525"/>
            <a:ext cx="4537856" cy="194310"/>
          </a:xfrm>
          <a:prstGeom prst="rect">
            <a:avLst/>
          </a:prstGeom>
          <a:noFill/>
        </p:spPr>
        <p:txBody>
          <a:bodyPr wrap="none" lIns="0" rIns="0" tIns="0" bIns="0">
            <a:spAutoFit/>
          </a:bodyPr>
          <a:lstStyle/>
          <a:p>
            <a:r>
              <a:rPr sz="1150" b="0">
                <a:solidFill>
                  <a:srgbClr val="2E2E2E"/>
                </a:solidFill>
                <a:latin typeface="Calibri"/>
              </a:rPr>
              <a:t>▪ Share shifts toward 'Individually wrapped muffins within an outer pack' (+</a:t>
            </a:r>
          </a:p>
        </p:txBody>
      </p:sp>
      <p:pic>
        <p:nvPicPr>
          <p:cNvPr id="30" name="Picture 29" descr="lock.png"/>
          <p:cNvPicPr>
            <a:picLocks noChangeAspect="1"/>
          </p:cNvPicPr>
          <p:nvPr/>
        </p:nvPicPr>
        <p:blipFill>
          <a:blip r:embed="rId4"/>
          <a:stretch>
            <a:fillRect/>
          </a:stretch>
        </p:blipFill>
        <p:spPr>
          <a:xfrm>
            <a:off x="4763235" y="3436302"/>
            <a:ext cx="134549" cy="195707"/>
          </a:xfrm>
          <a:prstGeom prst="rect">
            <a:avLst/>
          </a:prstGeom>
        </p:spPr>
      </p:pic>
      <p:sp>
        <p:nvSpPr>
          <p:cNvPr id="31" name="TextBox 30"/>
          <p:cNvSpPr txBox="1"/>
          <p:nvPr/>
        </p:nvSpPr>
        <p:spPr>
          <a:xfrm>
            <a:off x="4938344" y="3446525"/>
            <a:ext cx="3908015" cy="194310"/>
          </a:xfrm>
          <a:prstGeom prst="rect">
            <a:avLst/>
          </a:prstGeom>
          <a:noFill/>
        </p:spPr>
        <p:txBody>
          <a:bodyPr wrap="none" lIns="0" rIns="0" tIns="0" bIns="0">
            <a:spAutoFit/>
          </a:bodyPr>
          <a:lstStyle/>
          <a:p>
            <a:r>
              <a:rPr sz="1150" b="0">
                <a:solidFill>
                  <a:srgbClr val="2E2E2E"/>
                </a:solidFill>
                <a:latin typeface="Calibri"/>
              </a:rPr>
              <a:t>BPS) and away from 'Shared pack without individual wrapping' (-</a:t>
            </a:r>
          </a:p>
        </p:txBody>
      </p:sp>
      <p:pic>
        <p:nvPicPr>
          <p:cNvPr id="32" name="Picture 31" descr="lock.png"/>
          <p:cNvPicPr>
            <a:picLocks noChangeAspect="1"/>
          </p:cNvPicPr>
          <p:nvPr/>
        </p:nvPicPr>
        <p:blipFill>
          <a:blip r:embed="rId4"/>
          <a:stretch>
            <a:fillRect/>
          </a:stretch>
        </p:blipFill>
        <p:spPr>
          <a:xfrm>
            <a:off x="8795514" y="3436302"/>
            <a:ext cx="134549" cy="195707"/>
          </a:xfrm>
          <a:prstGeom prst="rect">
            <a:avLst/>
          </a:prstGeom>
        </p:spPr>
      </p:pic>
      <p:sp>
        <p:nvSpPr>
          <p:cNvPr id="33" name="TextBox 32"/>
          <p:cNvSpPr txBox="1"/>
          <p:nvPr/>
        </p:nvSpPr>
        <p:spPr>
          <a:xfrm>
            <a:off x="8970623" y="34465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6743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664140"/>
            <a:ext cx="134549" cy="195707"/>
          </a:xfrm>
          <a:prstGeom prst="rect">
            <a:avLst/>
          </a:prstGeom>
        </p:spPr>
      </p:pic>
      <p:sp>
        <p:nvSpPr>
          <p:cNvPr id="36" name="TextBox 35"/>
          <p:cNvSpPr txBox="1"/>
          <p:nvPr/>
        </p:nvSpPr>
        <p:spPr>
          <a:xfrm>
            <a:off x="1841342" y="36743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664140"/>
            <a:ext cx="134549" cy="195707"/>
          </a:xfrm>
          <a:prstGeom prst="rect">
            <a:avLst/>
          </a:prstGeom>
        </p:spPr>
      </p:pic>
      <p:sp>
        <p:nvSpPr>
          <p:cNvPr id="38" name="TextBox 37"/>
          <p:cNvSpPr txBox="1"/>
          <p:nvPr/>
        </p:nvSpPr>
        <p:spPr>
          <a:xfrm>
            <a:off x="2167888" y="3674363"/>
            <a:ext cx="1744079" cy="194310"/>
          </a:xfrm>
          <a:prstGeom prst="rect">
            <a:avLst/>
          </a:prstGeom>
          <a:noFill/>
        </p:spPr>
        <p:txBody>
          <a:bodyPr wrap="none" lIns="0" rIns="0" tIns="0" bIns="0">
            <a:spAutoFit/>
          </a:bodyPr>
          <a:lstStyle/>
          <a:p>
            <a:r>
              <a:rPr sz="1150" b="0">
                <a:solidFill>
                  <a:srgbClr val="2E2E2E"/>
                </a:solidFill>
                <a:latin typeface="Calibri"/>
              </a:rPr>
              <a:t>US$ Mn across 2 categories.</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Multipack Wrapping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Multipack Wrapping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Multipack Wrapping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80512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80036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72416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Individually wrapped muffins within an outer pack</a:t>
            </a:r>
          </a:p>
        </p:txBody>
      </p:sp>
      <p:sp>
        <p:nvSpPr>
          <p:cNvPr id="19" name="BPS Value 1"/>
          <p:cNvSpPr txBox="1"/>
          <p:nvPr/>
        </p:nvSpPr>
        <p:spPr>
          <a:xfrm>
            <a:off x="6896100" y="27860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509131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508655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50103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Shared pack without individual wrapping</a:t>
            </a:r>
          </a:p>
        </p:txBody>
      </p:sp>
      <p:sp>
        <p:nvSpPr>
          <p:cNvPr id="23" name="BPS Value 2"/>
          <p:cNvSpPr txBox="1"/>
          <p:nvPr/>
        </p:nvSpPr>
        <p:spPr>
          <a:xfrm>
            <a:off x="6896100" y="507226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Multipack Wrapping</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gains the most</a:t>
            </a:r>
          </a:p>
        </p:txBody>
      </p:sp>
      <p:sp>
        <p:nvSpPr>
          <p:cNvPr id="31" name="TextBox 30"/>
          <p:cNvSpPr txBox="1"/>
          <p:nvPr/>
        </p:nvSpPr>
        <p:spPr>
          <a:xfrm>
            <a:off x="7829550" y="1575435"/>
            <a:ext cx="509500" cy="194310"/>
          </a:xfrm>
          <a:prstGeom prst="rect">
            <a:avLst/>
          </a:prstGeom>
          <a:noFill/>
        </p:spPr>
        <p:txBody>
          <a:bodyPr wrap="none" lIns="0" rIns="0" tIns="0" bIns="0">
            <a:spAutoFit/>
          </a:bodyPr>
          <a:lstStyle/>
          <a:p>
            <a:r>
              <a:rPr sz="1150" b="0">
                <a:solidFill>
                  <a:srgbClr val="2E2E2E"/>
                </a:solidFill>
                <a:latin typeface="Calibri"/>
              </a:rPr>
              <a:t>share +</a:t>
            </a:r>
          </a:p>
        </p:txBody>
      </p:sp>
      <p:pic>
        <p:nvPicPr>
          <p:cNvPr id="32" name="Picture 31" descr="lock.png"/>
          <p:cNvPicPr>
            <a:picLocks noChangeAspect="1"/>
          </p:cNvPicPr>
          <p:nvPr/>
        </p:nvPicPr>
        <p:blipFill>
          <a:blip r:embed="rId5"/>
          <a:stretch>
            <a:fillRect/>
          </a:stretch>
        </p:blipFill>
        <p:spPr>
          <a:xfrm>
            <a:off x="8288204" y="1565211"/>
            <a:ext cx="134549" cy="195707"/>
          </a:xfrm>
          <a:prstGeom prst="rect">
            <a:avLst/>
          </a:prstGeom>
        </p:spPr>
      </p:pic>
      <p:sp>
        <p:nvSpPr>
          <p:cNvPr id="33" name="TextBox 32"/>
          <p:cNvSpPr txBox="1"/>
          <p:nvPr/>
        </p:nvSpPr>
        <p:spPr>
          <a:xfrm>
            <a:off x="8463313" y="1575435"/>
            <a:ext cx="3126990" cy="194310"/>
          </a:xfrm>
          <a:prstGeom prst="rect">
            <a:avLst/>
          </a:prstGeom>
          <a:noFill/>
        </p:spPr>
        <p:txBody>
          <a:bodyPr wrap="none" lIns="0" rIns="0" tIns="0" bIns="0">
            <a:spAutoFit/>
          </a:bodyPr>
          <a:lstStyle/>
          <a:p>
            <a:r>
              <a:rPr sz="1150" b="0">
                <a:solidFill>
                  <a:srgbClr val="2E2E2E"/>
                </a:solidFill>
                <a:latin typeface="Calibri"/>
              </a:rPr>
              <a:t>BPS between 2026 and 2036 (</a:t>
            </a:r>
            <a:r>
              <a:rPr sz="1150" b="0">
                <a:solidFill>
                  <a:srgbClr val="2E7D32"/>
                </a:solidFill>
                <a:latin typeface="Calibri"/>
              </a:rPr>
              <a:t>green ▲</a:t>
            </a:r>
            <a:r>
              <a:rPr sz="1150" b="0">
                <a:solidFill>
                  <a:srgbClr val="2E2E2E"/>
                </a:solidFill>
                <a:latin typeface="Calibri"/>
              </a:rPr>
              <a:t> on the scale).</a:t>
            </a:r>
          </a:p>
        </p:txBody>
      </p:sp>
      <p:sp>
        <p:nvSpPr>
          <p:cNvPr id="34" name="TextBox 33"/>
          <p:cNvSpPr txBox="1"/>
          <p:nvPr/>
        </p:nvSpPr>
        <p:spPr>
          <a:xfrm>
            <a:off x="7829550" y="1803273"/>
            <a:ext cx="3665549" cy="194310"/>
          </a:xfrm>
          <a:prstGeom prst="rect">
            <a:avLst/>
          </a:prstGeom>
          <a:noFill/>
        </p:spPr>
        <p:txBody>
          <a:bodyPr wrap="none" lIns="0" rIns="0" tIns="0" bIns="0">
            <a:spAutoFit/>
          </a:bodyPr>
          <a:lstStyle/>
          <a:p>
            <a:r>
              <a:rPr sz="1150" b="0">
                <a:solidFill>
                  <a:srgbClr val="2E2E2E"/>
                </a:solidFill>
                <a:latin typeface="Calibri"/>
              </a:rPr>
              <a:t>▪ 'Shared pack without individual wrapping' cedes the most -</a:t>
            </a:r>
          </a:p>
        </p:txBody>
      </p:sp>
      <p:pic>
        <p:nvPicPr>
          <p:cNvPr id="35" name="Picture 34" descr="lock.png"/>
          <p:cNvPicPr>
            <a:picLocks noChangeAspect="1"/>
          </p:cNvPicPr>
          <p:nvPr/>
        </p:nvPicPr>
        <p:blipFill>
          <a:blip r:embed="rId5"/>
          <a:stretch>
            <a:fillRect/>
          </a:stretch>
        </p:blipFill>
        <p:spPr>
          <a:xfrm>
            <a:off x="11444253" y="1793049"/>
            <a:ext cx="134549" cy="195707"/>
          </a:xfrm>
          <a:prstGeom prst="rect">
            <a:avLst/>
          </a:prstGeom>
        </p:spPr>
      </p:pic>
      <p:sp>
        <p:nvSpPr>
          <p:cNvPr id="36" name="TextBox 35"/>
          <p:cNvSpPr txBox="1"/>
          <p:nvPr/>
        </p:nvSpPr>
        <p:spPr>
          <a:xfrm>
            <a:off x="7829550" y="197853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37" name="TextBox 36"/>
          <p:cNvSpPr txBox="1"/>
          <p:nvPr/>
        </p:nvSpPr>
        <p:spPr>
          <a:xfrm>
            <a:off x="7829550" y="2206371"/>
            <a:ext cx="3560291" cy="194310"/>
          </a:xfrm>
          <a:prstGeom prst="rect">
            <a:avLst/>
          </a:prstGeom>
          <a:noFill/>
        </p:spPr>
        <p:txBody>
          <a:bodyPr wrap="none" lIns="0" rIns="0" tIns="0" bIns="0">
            <a:spAutoFit/>
          </a:bodyPr>
          <a:lstStyle/>
          <a:p>
            <a:r>
              <a:rPr sz="1150" b="0">
                <a:solidFill>
                  <a:srgbClr val="2E2E2E"/>
                </a:solidFill>
                <a:latin typeface="Calibri"/>
              </a:rPr>
              <a:t>▪ 'Individually wrapped muffins within an outer pack' is the</a:t>
            </a:r>
          </a:p>
        </p:txBody>
      </p:sp>
      <p:sp>
        <p:nvSpPr>
          <p:cNvPr id="38" name="TextBox 37"/>
          <p:cNvSpPr txBox="1"/>
          <p:nvPr/>
        </p:nvSpPr>
        <p:spPr>
          <a:xfrm>
            <a:off x="7829550" y="2381631"/>
            <a:ext cx="2361654" cy="194310"/>
          </a:xfrm>
          <a:prstGeom prst="rect">
            <a:avLst/>
          </a:prstGeom>
          <a:noFill/>
        </p:spPr>
        <p:txBody>
          <a:bodyPr wrap="none" lIns="0" rIns="0" tIns="0" bIns="0">
            <a:spAutoFit/>
          </a:bodyPr>
          <a:lstStyle/>
          <a:p>
            <a:r>
              <a:rPr sz="1150" b="0">
                <a:solidFill>
                  <a:srgbClr val="2E2E2E"/>
                </a:solidFill>
                <a:latin typeface="Calibri"/>
              </a:rPr>
              <a:t>fastest-growing multipack wrapping at</a:t>
            </a:r>
          </a:p>
        </p:txBody>
      </p:sp>
      <p:pic>
        <p:nvPicPr>
          <p:cNvPr id="39" name="Picture 38" descr="lock.png"/>
          <p:cNvPicPr>
            <a:picLocks noChangeAspect="1"/>
          </p:cNvPicPr>
          <p:nvPr/>
        </p:nvPicPr>
        <p:blipFill>
          <a:blip r:embed="rId5"/>
          <a:stretch>
            <a:fillRect/>
          </a:stretch>
        </p:blipFill>
        <p:spPr>
          <a:xfrm>
            <a:off x="10140358" y="2371407"/>
            <a:ext cx="134549" cy="195707"/>
          </a:xfrm>
          <a:prstGeom prst="rect">
            <a:avLst/>
          </a:prstGeom>
        </p:spPr>
      </p:pic>
      <p:sp>
        <p:nvSpPr>
          <p:cNvPr id="40" name="TextBox 39"/>
          <p:cNvSpPr txBox="1"/>
          <p:nvPr/>
        </p:nvSpPr>
        <p:spPr>
          <a:xfrm>
            <a:off x="10315467"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1" name="TextBox 40"/>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2" name="Picture 41" descr="lock.png"/>
          <p:cNvPicPr>
            <a:picLocks noChangeAspect="1"/>
          </p:cNvPicPr>
          <p:nvPr/>
        </p:nvPicPr>
        <p:blipFill>
          <a:blip r:embed="rId5"/>
          <a:stretch>
            <a:fillRect/>
          </a:stretch>
        </p:blipFill>
        <p:spPr>
          <a:xfrm>
            <a:off x="9327669" y="2599245"/>
            <a:ext cx="134549" cy="195707"/>
          </a:xfrm>
          <a:prstGeom prst="rect">
            <a:avLst/>
          </a:prstGeom>
        </p:spPr>
      </p:pic>
      <p:sp>
        <p:nvSpPr>
          <p:cNvPr id="43" name="TextBox 42"/>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4" name="Picture 43" descr="lock.png"/>
          <p:cNvPicPr>
            <a:picLocks noChangeAspect="1"/>
          </p:cNvPicPr>
          <p:nvPr/>
        </p:nvPicPr>
        <p:blipFill>
          <a:blip r:embed="rId5"/>
          <a:stretch>
            <a:fillRect/>
          </a:stretch>
        </p:blipFill>
        <p:spPr>
          <a:xfrm>
            <a:off x="9654215" y="2599245"/>
            <a:ext cx="134549" cy="195707"/>
          </a:xfrm>
          <a:prstGeom prst="rect">
            <a:avLst/>
          </a:prstGeom>
        </p:spPr>
      </p:pic>
      <p:sp>
        <p:nvSpPr>
          <p:cNvPr id="45" name="TextBox 44"/>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46" name="TextBox 45"/>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47" name="TextBox 46"/>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48"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Multipack Wrapping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Multipack Wrapping,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Multipack Wrapping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3211714"/>
                <a:gridCol w="578366"/>
                <a:gridCol w="578366"/>
                <a:gridCol w="578366"/>
                <a:gridCol w="578366"/>
                <a:gridCol w="578366"/>
                <a:gridCol w="578366"/>
                <a:gridCol w="578366"/>
                <a:gridCol w="578366"/>
                <a:gridCol w="578366"/>
                <a:gridCol w="578366"/>
                <a:gridCol w="578366"/>
                <a:gridCol w="578366"/>
                <a:gridCol w="578366"/>
                <a:gridCol w="578366"/>
                <a:gridCol w="578366"/>
              </a:tblGrid>
              <a:tr h="246126">
                <a:tc>
                  <a:txBody>
                    <a:bodyPr wrap="none"/>
                    <a:lstStyle/>
                    <a:p>
                      <a:pPr algn="l"/>
                      <a:r>
                        <a:rPr sz="1100" b="1">
                          <a:solidFill>
                            <a:srgbClr val="0B2E4A"/>
                          </a:solidFill>
                          <a:latin typeface="Calibri"/>
                        </a:rPr>
                        <a:t>Multipack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Individually wrapped muffins within an outer pack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Shared pack without individual wrapping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Multipack Wrapping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Individually wrapped muffins within an outer pack</a:t>
            </a:r>
          </a:p>
        </p:txBody>
      </p:sp>
      <p:sp>
        <p:nvSpPr>
          <p:cNvPr id="33" name="Rectangle 32"/>
          <p:cNvSpPr/>
          <p:nvPr/>
        </p:nvSpPr>
        <p:spPr>
          <a:xfrm>
            <a:off x="1857375" y="2752725"/>
            <a:ext cx="643890" cy="190976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Shared pack without individual wrapping</a:t>
            </a:r>
          </a:p>
        </p:txBody>
      </p:sp>
      <p:sp>
        <p:nvSpPr>
          <p:cNvPr id="49" name="Rectangle 48"/>
          <p:cNvSpPr/>
          <p:nvPr/>
        </p:nvSpPr>
        <p:spPr>
          <a:xfrm>
            <a:off x="1857375" y="4662488"/>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7533838" y="1482090"/>
            <a:ext cx="330041" cy="480060"/>
          </a:xfrm>
          <a:prstGeom prst="rect">
            <a:avLst/>
          </a:prstGeom>
        </p:spPr>
      </p:pic>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Price Positioning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Price Positioning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Price Positioning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Price Positioning,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Price Positioning segment categorizes the market by price positioning.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Mid-range</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Economy / value</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Super-premium / speciality</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Price Positioning split shows how demand is distributed across price positioning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_13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5_57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_660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5_501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7_5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_317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_84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2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_786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_81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7_9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512764" cy="186689"/>
          </a:xfrm>
          <a:prstGeom prst="rect">
            <a:avLst/>
          </a:prstGeom>
          <a:noFill/>
        </p:spPr>
        <p:txBody>
          <a:bodyPr wrap="none" lIns="0" rIns="0" tIns="0" bIns="0">
            <a:spAutoFit/>
          </a:bodyPr>
          <a:lstStyle/>
          <a:p>
            <a:r>
              <a:rPr sz="1100" b="0">
                <a:solidFill>
                  <a:srgbClr val="2E2E2E"/>
                </a:solidFill>
                <a:latin typeface="Calibri"/>
              </a:rPr>
              <a:t>▪ 'Premium' holds the largest share in 2026</a:t>
            </a:r>
          </a:p>
        </p:txBody>
      </p:sp>
      <p:pic>
        <p:nvPicPr>
          <p:cNvPr id="81" name="Picture 80" descr="lock.png"/>
          <p:cNvPicPr>
            <a:picLocks noChangeAspect="1"/>
          </p:cNvPicPr>
          <p:nvPr/>
        </p:nvPicPr>
        <p:blipFill>
          <a:blip r:embed="rId16"/>
          <a:stretch>
            <a:fillRect/>
          </a:stretch>
        </p:blipFill>
        <p:spPr>
          <a:xfrm>
            <a:off x="2946591" y="4219658"/>
            <a:ext cx="128699" cy="187198"/>
          </a:xfrm>
          <a:prstGeom prst="rect">
            <a:avLst/>
          </a:prstGeom>
        </p:spPr>
      </p:pic>
      <p:sp>
        <p:nvSpPr>
          <p:cNvPr id="82" name="TextBox 81"/>
          <p:cNvSpPr txBox="1"/>
          <p:nvPr/>
        </p:nvSpPr>
        <p:spPr>
          <a:xfrm>
            <a:off x="3114086"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83" name="TextBox 82"/>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84" name="TextBox 83"/>
          <p:cNvSpPr txBox="1"/>
          <p:nvPr/>
        </p:nvSpPr>
        <p:spPr>
          <a:xfrm>
            <a:off x="485775" y="4615009"/>
            <a:ext cx="2099394" cy="186689"/>
          </a:xfrm>
          <a:prstGeom prst="rect">
            <a:avLst/>
          </a:prstGeom>
          <a:noFill/>
        </p:spPr>
        <p:txBody>
          <a:bodyPr wrap="none" lIns="0" rIns="0" tIns="0" bIns="0">
            <a:spAutoFit/>
          </a:bodyPr>
          <a:lstStyle/>
          <a:p>
            <a:r>
              <a:rPr sz="1100" b="0">
                <a:solidFill>
                  <a:srgbClr val="2E2E2E"/>
                </a:solidFill>
                <a:latin typeface="Calibri"/>
              </a:rPr>
              <a:t>▪ 'Super-premium / speciality' is the</a:t>
            </a:r>
          </a:p>
        </p:txBody>
      </p:sp>
      <p:sp>
        <p:nvSpPr>
          <p:cNvPr id="85" name="TextBox 84"/>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86" name="Picture 85" descr="lock.png"/>
          <p:cNvPicPr>
            <a:picLocks noChangeAspect="1"/>
          </p:cNvPicPr>
          <p:nvPr/>
        </p:nvPicPr>
        <p:blipFill>
          <a:blip r:embed="rId16"/>
          <a:stretch>
            <a:fillRect/>
          </a:stretch>
        </p:blipFill>
        <p:spPr>
          <a:xfrm>
            <a:off x="2307026" y="4772870"/>
            <a:ext cx="128699" cy="187198"/>
          </a:xfrm>
          <a:prstGeom prst="rect">
            <a:avLst/>
          </a:prstGeom>
        </p:spPr>
      </p:pic>
      <p:sp>
        <p:nvSpPr>
          <p:cNvPr id="87" name="TextBox 86"/>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88" name="TextBox 87"/>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89" name="TextBox 88"/>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90" name="Picture 89" descr="lock.png"/>
          <p:cNvPicPr>
            <a:picLocks noChangeAspect="1"/>
          </p:cNvPicPr>
          <p:nvPr/>
        </p:nvPicPr>
        <p:blipFill>
          <a:blip r:embed="rId16"/>
          <a:stretch>
            <a:fillRect/>
          </a:stretch>
        </p:blipFill>
        <p:spPr>
          <a:xfrm>
            <a:off x="2240451" y="5158441"/>
            <a:ext cx="128699" cy="187198"/>
          </a:xfrm>
          <a:prstGeom prst="rect">
            <a:avLst/>
          </a:prstGeom>
        </p:spPr>
      </p:pic>
      <p:sp>
        <p:nvSpPr>
          <p:cNvPr id="91" name="TextBox 90"/>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92" name="Picture 91" descr="lock.png"/>
          <p:cNvPicPr>
            <a:picLocks noChangeAspect="1"/>
          </p:cNvPicPr>
          <p:nvPr/>
        </p:nvPicPr>
        <p:blipFill>
          <a:blip r:embed="rId16"/>
          <a:stretch>
            <a:fillRect/>
          </a:stretch>
        </p:blipFill>
        <p:spPr>
          <a:xfrm>
            <a:off x="2552799" y="5158441"/>
            <a:ext cx="128699" cy="187198"/>
          </a:xfrm>
          <a:prstGeom prst="rect">
            <a:avLst/>
          </a:prstGeom>
        </p:spPr>
      </p:pic>
      <p:sp>
        <p:nvSpPr>
          <p:cNvPr id="93" name="TextBox 92"/>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94" name="TextBox 93"/>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95" name="TextBox 94"/>
          <p:cNvSpPr txBox="1"/>
          <p:nvPr/>
        </p:nvSpPr>
        <p:spPr>
          <a:xfrm>
            <a:off x="485775" y="5553793"/>
            <a:ext cx="2771154" cy="186689"/>
          </a:xfrm>
          <a:prstGeom prst="rect">
            <a:avLst/>
          </a:prstGeom>
          <a:noFill/>
        </p:spPr>
        <p:txBody>
          <a:bodyPr wrap="none" lIns="0" rIns="0" tIns="0" bIns="0">
            <a:spAutoFit/>
          </a:bodyPr>
          <a:lstStyle/>
          <a:p>
            <a:r>
              <a:rPr sz="1100" b="0">
                <a:solidFill>
                  <a:srgbClr val="2E2E2E"/>
                </a:solidFill>
                <a:latin typeface="Calibri"/>
              </a:rPr>
              <a:t>▪ 4 sub-segments make up the price positioning</a:t>
            </a:r>
          </a:p>
        </p:txBody>
      </p:sp>
      <p:sp>
        <p:nvSpPr>
          <p:cNvPr id="96" name="TextBox 95"/>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97" name="TextBox 96"/>
          <p:cNvSpPr txBox="1"/>
          <p:nvPr/>
        </p:nvSpPr>
        <p:spPr>
          <a:xfrm>
            <a:off x="3838575" y="4229437"/>
            <a:ext cx="749051" cy="186689"/>
          </a:xfrm>
          <a:prstGeom prst="rect">
            <a:avLst/>
          </a:prstGeom>
          <a:noFill/>
        </p:spPr>
        <p:txBody>
          <a:bodyPr wrap="none" lIns="0" rIns="0" tIns="0" bIns="0">
            <a:spAutoFit/>
          </a:bodyPr>
          <a:lstStyle/>
          <a:p>
            <a:r>
              <a:rPr sz="1100" b="0">
                <a:solidFill>
                  <a:srgbClr val="2E2E2E"/>
                </a:solidFill>
                <a:latin typeface="Calibri"/>
              </a:rPr>
              <a:t>● Premium:</a:t>
            </a:r>
          </a:p>
        </p:txBody>
      </p:sp>
      <p:pic>
        <p:nvPicPr>
          <p:cNvPr id="98" name="Picture 97" descr="lock.png"/>
          <p:cNvPicPr>
            <a:picLocks noChangeAspect="1"/>
          </p:cNvPicPr>
          <p:nvPr/>
        </p:nvPicPr>
        <p:blipFill>
          <a:blip r:embed="rId16"/>
          <a:stretch>
            <a:fillRect/>
          </a:stretch>
        </p:blipFill>
        <p:spPr>
          <a:xfrm>
            <a:off x="4535678" y="4219658"/>
            <a:ext cx="128699" cy="187198"/>
          </a:xfrm>
          <a:prstGeom prst="rect">
            <a:avLst/>
          </a:prstGeom>
        </p:spPr>
      </p:pic>
      <p:sp>
        <p:nvSpPr>
          <p:cNvPr id="99" name="TextBox 98"/>
          <p:cNvSpPr txBox="1"/>
          <p:nvPr/>
        </p:nvSpPr>
        <p:spPr>
          <a:xfrm>
            <a:off x="470317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562624" y="4219658"/>
            <a:ext cx="128699" cy="187198"/>
          </a:xfrm>
          <a:prstGeom prst="rect">
            <a:avLst/>
          </a:prstGeom>
        </p:spPr>
      </p:pic>
      <p:sp>
        <p:nvSpPr>
          <p:cNvPr id="101" name="TextBox 100"/>
          <p:cNvSpPr txBox="1"/>
          <p:nvPr/>
        </p:nvSpPr>
        <p:spPr>
          <a:xfrm>
            <a:off x="573012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821903" cy="186689"/>
          </a:xfrm>
          <a:prstGeom prst="rect">
            <a:avLst/>
          </a:prstGeom>
          <a:noFill/>
        </p:spPr>
        <p:txBody>
          <a:bodyPr wrap="none" lIns="0" rIns="0" tIns="0" bIns="0">
            <a:spAutoFit/>
          </a:bodyPr>
          <a:lstStyle/>
          <a:p>
            <a:r>
              <a:rPr sz="1100" b="0">
                <a:solidFill>
                  <a:srgbClr val="2E2E2E"/>
                </a:solidFill>
                <a:latin typeface="Calibri"/>
              </a:rPr>
              <a:t>● Mid-range:</a:t>
            </a:r>
          </a:p>
        </p:txBody>
      </p:sp>
      <p:pic>
        <p:nvPicPr>
          <p:cNvPr id="103" name="Picture 102" descr="lock.png"/>
          <p:cNvPicPr>
            <a:picLocks noChangeAspect="1"/>
          </p:cNvPicPr>
          <p:nvPr/>
        </p:nvPicPr>
        <p:blipFill>
          <a:blip r:embed="rId16"/>
          <a:stretch>
            <a:fillRect/>
          </a:stretch>
        </p:blipFill>
        <p:spPr>
          <a:xfrm>
            <a:off x="4608529" y="4437590"/>
            <a:ext cx="128699" cy="187198"/>
          </a:xfrm>
          <a:prstGeom prst="rect">
            <a:avLst/>
          </a:prstGeom>
        </p:spPr>
      </p:pic>
      <p:sp>
        <p:nvSpPr>
          <p:cNvPr id="104" name="TextBox 103"/>
          <p:cNvSpPr txBox="1"/>
          <p:nvPr/>
        </p:nvSpPr>
        <p:spPr>
          <a:xfrm>
            <a:off x="4776025"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635475" y="4437590"/>
            <a:ext cx="128699" cy="187198"/>
          </a:xfrm>
          <a:prstGeom prst="rect">
            <a:avLst/>
          </a:prstGeom>
        </p:spPr>
      </p:pic>
      <p:sp>
        <p:nvSpPr>
          <p:cNvPr id="106" name="TextBox 105"/>
          <p:cNvSpPr txBox="1"/>
          <p:nvPr/>
        </p:nvSpPr>
        <p:spPr>
          <a:xfrm>
            <a:off x="5802971"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174943" cy="186689"/>
          </a:xfrm>
          <a:prstGeom prst="rect">
            <a:avLst/>
          </a:prstGeom>
          <a:noFill/>
        </p:spPr>
        <p:txBody>
          <a:bodyPr wrap="none" lIns="0" rIns="0" tIns="0" bIns="0">
            <a:spAutoFit/>
          </a:bodyPr>
          <a:lstStyle/>
          <a:p>
            <a:r>
              <a:rPr sz="1100" b="0">
                <a:solidFill>
                  <a:srgbClr val="2E2E2E"/>
                </a:solidFill>
                <a:latin typeface="Calibri"/>
              </a:rPr>
              <a:t>● Economy / value:</a:t>
            </a:r>
          </a:p>
        </p:txBody>
      </p:sp>
      <p:pic>
        <p:nvPicPr>
          <p:cNvPr id="108" name="Picture 107" descr="lock.png"/>
          <p:cNvPicPr>
            <a:picLocks noChangeAspect="1"/>
          </p:cNvPicPr>
          <p:nvPr/>
        </p:nvPicPr>
        <p:blipFill>
          <a:blip r:embed="rId16"/>
          <a:stretch>
            <a:fillRect/>
          </a:stretch>
        </p:blipFill>
        <p:spPr>
          <a:xfrm>
            <a:off x="4961569" y="4655522"/>
            <a:ext cx="128699" cy="187198"/>
          </a:xfrm>
          <a:prstGeom prst="rect">
            <a:avLst/>
          </a:prstGeom>
        </p:spPr>
      </p:pic>
      <p:sp>
        <p:nvSpPr>
          <p:cNvPr id="109" name="TextBox 108"/>
          <p:cNvSpPr txBox="1"/>
          <p:nvPr/>
        </p:nvSpPr>
        <p:spPr>
          <a:xfrm>
            <a:off x="5129065"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5988516" y="4655522"/>
            <a:ext cx="128699" cy="187198"/>
          </a:xfrm>
          <a:prstGeom prst="rect">
            <a:avLst/>
          </a:prstGeom>
        </p:spPr>
      </p:pic>
      <p:sp>
        <p:nvSpPr>
          <p:cNvPr id="111" name="TextBox 110"/>
          <p:cNvSpPr txBox="1"/>
          <p:nvPr/>
        </p:nvSpPr>
        <p:spPr>
          <a:xfrm>
            <a:off x="6156011"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770062" cy="186689"/>
          </a:xfrm>
          <a:prstGeom prst="rect">
            <a:avLst/>
          </a:prstGeom>
          <a:noFill/>
        </p:spPr>
        <p:txBody>
          <a:bodyPr wrap="none" lIns="0" rIns="0" tIns="0" bIns="0">
            <a:spAutoFit/>
          </a:bodyPr>
          <a:lstStyle/>
          <a:p>
            <a:r>
              <a:rPr sz="1100" b="0">
                <a:solidFill>
                  <a:srgbClr val="2E2E2E"/>
                </a:solidFill>
                <a:latin typeface="Calibri"/>
              </a:rPr>
              <a:t>● Super-premium / speciality:</a:t>
            </a:r>
          </a:p>
        </p:txBody>
      </p:sp>
      <p:pic>
        <p:nvPicPr>
          <p:cNvPr id="113" name="Picture 112" descr="lock.png"/>
          <p:cNvPicPr>
            <a:picLocks noChangeAspect="1"/>
          </p:cNvPicPr>
          <p:nvPr/>
        </p:nvPicPr>
        <p:blipFill>
          <a:blip r:embed="rId16"/>
          <a:stretch>
            <a:fillRect/>
          </a:stretch>
        </p:blipFill>
        <p:spPr>
          <a:xfrm>
            <a:off x="5556689" y="4873454"/>
            <a:ext cx="128699" cy="187198"/>
          </a:xfrm>
          <a:prstGeom prst="rect">
            <a:avLst/>
          </a:prstGeom>
        </p:spPr>
      </p:pic>
      <p:sp>
        <p:nvSpPr>
          <p:cNvPr id="114" name="TextBox 113"/>
          <p:cNvSpPr txBox="1"/>
          <p:nvPr/>
        </p:nvSpPr>
        <p:spPr>
          <a:xfrm>
            <a:off x="5724184"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583635" y="4873454"/>
            <a:ext cx="128699" cy="187198"/>
          </a:xfrm>
          <a:prstGeom prst="rect">
            <a:avLst/>
          </a:prstGeom>
        </p:spPr>
      </p:pic>
      <p:sp>
        <p:nvSpPr>
          <p:cNvPr id="116" name="TextBox 115"/>
          <p:cNvSpPr txBox="1"/>
          <p:nvPr/>
        </p:nvSpPr>
        <p:spPr>
          <a:xfrm>
            <a:off x="6751130"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8955" cy="194310"/>
          </a:xfrm>
          <a:prstGeom prst="rect">
            <a:avLst/>
          </a:prstGeom>
          <a:noFill/>
        </p:spPr>
        <p:txBody>
          <a:bodyPr wrap="none" lIns="0" rIns="0" tIns="0" bIns="0">
            <a:spAutoFit/>
          </a:bodyPr>
          <a:lstStyle/>
          <a:p>
            <a:r>
              <a:rPr sz="1150" b="1">
                <a:solidFill>
                  <a:srgbClr val="0B2E4A"/>
                </a:solidFill>
                <a:latin typeface="Calibri"/>
              </a:rPr>
              <a:t>The Price Positioning segment is projected to grow</a:t>
            </a:r>
          </a:p>
        </p:txBody>
      </p:sp>
      <p:sp>
        <p:nvSpPr>
          <p:cNvPr id="119" name="TextBox 118"/>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20" name="Picture 119" descr="lock.png"/>
          <p:cNvPicPr>
            <a:picLocks noChangeAspect="1"/>
          </p:cNvPicPr>
          <p:nvPr/>
        </p:nvPicPr>
        <p:blipFill>
          <a:blip r:embed="rId16"/>
          <a:stretch>
            <a:fillRect/>
          </a:stretch>
        </p:blipFill>
        <p:spPr>
          <a:xfrm>
            <a:off x="9310118" y="6007677"/>
            <a:ext cx="134549" cy="195707"/>
          </a:xfrm>
          <a:prstGeom prst="rect">
            <a:avLst/>
          </a:prstGeom>
        </p:spPr>
      </p:pic>
      <p:sp>
        <p:nvSpPr>
          <p:cNvPr id="121" name="TextBox 120"/>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Price Positioning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Price Positioning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Price Positioning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945505"/>
            <a:ext cx="4726682" cy="186689"/>
          </a:xfrm>
          <a:prstGeom prst="rect">
            <a:avLst/>
          </a:prstGeom>
          <a:noFill/>
        </p:spPr>
        <p:txBody>
          <a:bodyPr wrap="none" lIns="0" rIns="0" tIns="0" bIns="0">
            <a:spAutoFit/>
          </a:bodyPr>
          <a:lstStyle/>
          <a:p>
            <a:r>
              <a:rPr sz="1100" b="0">
                <a:solidFill>
                  <a:srgbClr val="2E2E2E"/>
                </a:solidFill>
                <a:latin typeface="Calibri"/>
              </a:rPr>
              <a:t>Between 2026 and 2036, 'Mid-range' gains the most share in the Global market (+</a:t>
            </a:r>
          </a:p>
        </p:txBody>
      </p:sp>
      <p:pic>
        <p:nvPicPr>
          <p:cNvPr id="21" name="Picture 20" descr="lock.png"/>
          <p:cNvPicPr>
            <a:picLocks noChangeAspect="1"/>
          </p:cNvPicPr>
          <p:nvPr/>
        </p:nvPicPr>
        <p:blipFill>
          <a:blip r:embed="rId6"/>
          <a:stretch>
            <a:fillRect/>
          </a:stretch>
        </p:blipFill>
        <p:spPr>
          <a:xfrm>
            <a:off x="4931908" y="5935726"/>
            <a:ext cx="128699" cy="187198"/>
          </a:xfrm>
          <a:prstGeom prst="rect">
            <a:avLst/>
          </a:prstGeom>
        </p:spPr>
      </p:pic>
      <p:sp>
        <p:nvSpPr>
          <p:cNvPr id="22" name="TextBox 21"/>
          <p:cNvSpPr txBox="1"/>
          <p:nvPr/>
        </p:nvSpPr>
        <p:spPr>
          <a:xfrm>
            <a:off x="5099404" y="5945505"/>
            <a:ext cx="1640730" cy="186689"/>
          </a:xfrm>
          <a:prstGeom prst="rect">
            <a:avLst/>
          </a:prstGeom>
          <a:noFill/>
        </p:spPr>
        <p:txBody>
          <a:bodyPr wrap="none" lIns="0" rIns="0" tIns="0" bIns="0">
            <a:spAutoFit/>
          </a:bodyPr>
          <a:lstStyle/>
          <a:p>
            <a:r>
              <a:rPr sz="1100" b="0">
                <a:solidFill>
                  <a:srgbClr val="2E2E2E"/>
                </a:solidFill>
                <a:latin typeface="Calibri"/>
              </a:rPr>
              <a:t>BPS) while 'Premium' cedes</a:t>
            </a:r>
          </a:p>
        </p:txBody>
      </p:sp>
      <p:pic>
        <p:nvPicPr>
          <p:cNvPr id="23" name="Picture 22" descr="lock.png"/>
          <p:cNvPicPr>
            <a:picLocks noChangeAspect="1"/>
          </p:cNvPicPr>
          <p:nvPr/>
        </p:nvPicPr>
        <p:blipFill>
          <a:blip r:embed="rId6"/>
          <a:stretch>
            <a:fillRect/>
          </a:stretch>
        </p:blipFill>
        <p:spPr>
          <a:xfrm>
            <a:off x="6688186" y="5935726"/>
            <a:ext cx="128699" cy="187198"/>
          </a:xfrm>
          <a:prstGeom prst="rect">
            <a:avLst/>
          </a:prstGeom>
        </p:spPr>
      </p:pic>
      <p:sp>
        <p:nvSpPr>
          <p:cNvPr id="24" name="TextBox 23"/>
          <p:cNvSpPr txBox="1"/>
          <p:nvPr/>
        </p:nvSpPr>
        <p:spPr>
          <a:xfrm>
            <a:off x="6855682" y="5945505"/>
            <a:ext cx="4656269"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 segment average.</a:t>
            </a:r>
          </a:p>
        </p:txBody>
      </p:sp>
      <p:sp>
        <p:nvSpPr>
          <p:cNvPr id="25"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Price Positioning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Economy / value</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Mid-range</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Premium</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Super-premium / speciality</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Price Positioning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Price Positioning (MT)</a:t>
            </a:r>
          </a:p>
        </p:txBody>
      </p:sp>
      <p:graphicFrame>
        <p:nvGraphicFramePr>
          <p:cNvPr id="13" name="Table 12"/>
          <p:cNvGraphicFramePr>
            <a:graphicFrameLocks noGrp="1"/>
          </p:cNvGraphicFramePr>
          <p:nvPr/>
        </p:nvGraphicFramePr>
        <p:xfrm>
          <a:off x="152400" y="1238250"/>
          <a:ext cx="11887208" cy="18668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Price Positioning</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Economy / value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Mid-range</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Super-premium /</a:t>
                      </a:r>
                      <a:endParaRPr sz="1100"/>
                    </a:p>
                    <a:p>
                      <a:pPr algn="l"/>
                      <a:r>
                        <a:rPr sz="1100" b="1">
                          <a:solidFill>
                            <a:srgbClr val="2E2E2E"/>
                          </a:solidFill>
                          <a:latin typeface="Calibri"/>
                        </a:rPr>
                        <a:t>speciality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Price Positioning</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24454"/>
            <a:ext cx="366712" cy="533399"/>
          </a:xfrm>
          <a:prstGeom prst="rect">
            <a:avLst/>
          </a:prstGeom>
        </p:spPr>
      </p:pic>
      <p:sp>
        <p:nvSpPr>
          <p:cNvPr id="21" name="TextBox 20"/>
          <p:cNvSpPr txBox="1"/>
          <p:nvPr/>
        </p:nvSpPr>
        <p:spPr>
          <a:xfrm>
            <a:off x="276225" y="3867150"/>
            <a:ext cx="2809788" cy="194310"/>
          </a:xfrm>
          <a:prstGeom prst="rect">
            <a:avLst/>
          </a:prstGeom>
          <a:noFill/>
        </p:spPr>
        <p:txBody>
          <a:bodyPr wrap="none" lIns="0" rIns="0" tIns="0" bIns="0">
            <a:spAutoFit/>
          </a:bodyPr>
          <a:lstStyle/>
          <a:p>
            <a:r>
              <a:rPr sz="1150" b="0">
                <a:solidFill>
                  <a:srgbClr val="2E2E2E"/>
                </a:solidFill>
                <a:latin typeface="Calibri"/>
              </a:rPr>
              <a:t>▪ 'Mid-range' is the largest price positioning at</a:t>
            </a:r>
          </a:p>
        </p:txBody>
      </p:sp>
      <p:pic>
        <p:nvPicPr>
          <p:cNvPr id="22" name="Picture 21" descr="lock.png"/>
          <p:cNvPicPr>
            <a:picLocks noChangeAspect="1"/>
          </p:cNvPicPr>
          <p:nvPr/>
        </p:nvPicPr>
        <p:blipFill>
          <a:blip r:embed="rId4"/>
          <a:stretch>
            <a:fillRect/>
          </a:stretch>
        </p:blipFill>
        <p:spPr>
          <a:xfrm>
            <a:off x="3035167" y="3856926"/>
            <a:ext cx="134549" cy="195707"/>
          </a:xfrm>
          <a:prstGeom prst="rect">
            <a:avLst/>
          </a:prstGeom>
        </p:spPr>
      </p:pic>
      <p:sp>
        <p:nvSpPr>
          <p:cNvPr id="23" name="TextBox 22"/>
          <p:cNvSpPr txBox="1"/>
          <p:nvPr/>
        </p:nvSpPr>
        <p:spPr>
          <a:xfrm>
            <a:off x="3210276" y="386715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240009" y="3856926"/>
            <a:ext cx="134549" cy="195707"/>
          </a:xfrm>
          <a:prstGeom prst="rect">
            <a:avLst/>
          </a:prstGeom>
        </p:spPr>
      </p:pic>
      <p:sp>
        <p:nvSpPr>
          <p:cNvPr id="25" name="TextBox 24"/>
          <p:cNvSpPr txBox="1"/>
          <p:nvPr/>
        </p:nvSpPr>
        <p:spPr>
          <a:xfrm>
            <a:off x="4415118" y="386715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094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4084764"/>
            <a:ext cx="134549" cy="195707"/>
          </a:xfrm>
          <a:prstGeom prst="rect">
            <a:avLst/>
          </a:prstGeom>
        </p:spPr>
      </p:pic>
      <p:sp>
        <p:nvSpPr>
          <p:cNvPr id="28" name="TextBox 27"/>
          <p:cNvSpPr txBox="1"/>
          <p:nvPr/>
        </p:nvSpPr>
        <p:spPr>
          <a:xfrm>
            <a:off x="3060232" y="4094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322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4312602"/>
            <a:ext cx="134549" cy="195707"/>
          </a:xfrm>
          <a:prstGeom prst="rect">
            <a:avLst/>
          </a:prstGeom>
        </p:spPr>
      </p:pic>
      <p:sp>
        <p:nvSpPr>
          <p:cNvPr id="31" name="TextBox 30"/>
          <p:cNvSpPr txBox="1"/>
          <p:nvPr/>
        </p:nvSpPr>
        <p:spPr>
          <a:xfrm>
            <a:off x="2578153" y="4322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4312602"/>
            <a:ext cx="134549" cy="195707"/>
          </a:xfrm>
          <a:prstGeom prst="rect">
            <a:avLst/>
          </a:prstGeom>
        </p:spPr>
      </p:pic>
      <p:sp>
        <p:nvSpPr>
          <p:cNvPr id="33" name="TextBox 32"/>
          <p:cNvSpPr txBox="1"/>
          <p:nvPr/>
        </p:nvSpPr>
        <p:spPr>
          <a:xfrm>
            <a:off x="4730038" y="4322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55066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540440"/>
            <a:ext cx="134549" cy="195707"/>
          </a:xfrm>
          <a:prstGeom prst="rect">
            <a:avLst/>
          </a:prstGeom>
        </p:spPr>
      </p:pic>
      <p:sp>
        <p:nvSpPr>
          <p:cNvPr id="36" name="TextBox 35"/>
          <p:cNvSpPr txBox="1"/>
          <p:nvPr/>
        </p:nvSpPr>
        <p:spPr>
          <a:xfrm>
            <a:off x="1965143" y="4550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540440"/>
            <a:ext cx="134549" cy="195707"/>
          </a:xfrm>
          <a:prstGeom prst="rect">
            <a:avLst/>
          </a:prstGeom>
        </p:spPr>
      </p:pic>
      <p:sp>
        <p:nvSpPr>
          <p:cNvPr id="38" name="TextBox 37"/>
          <p:cNvSpPr txBox="1"/>
          <p:nvPr/>
        </p:nvSpPr>
        <p:spPr>
          <a:xfrm>
            <a:off x="2291688" y="4550663"/>
            <a:ext cx="1470521" cy="194310"/>
          </a:xfrm>
          <a:prstGeom prst="rect">
            <a:avLst/>
          </a:prstGeom>
          <a:noFill/>
        </p:spPr>
        <p:txBody>
          <a:bodyPr wrap="none" lIns="0" rIns="0" tIns="0" bIns="0">
            <a:spAutoFit/>
          </a:bodyPr>
          <a:lstStyle/>
          <a:p>
            <a:r>
              <a:rPr sz="1150" b="0">
                <a:solidFill>
                  <a:srgbClr val="2E2E2E"/>
                </a:solidFill>
                <a:latin typeface="Calibri"/>
              </a:rPr>
              <a:t>MT across 4 categories.</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Price Positioning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Price Positioning,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Price Positioning (US$ Mn)</a:t>
            </a:r>
          </a:p>
        </p:txBody>
      </p:sp>
      <p:graphicFrame>
        <p:nvGraphicFramePr>
          <p:cNvPr id="13" name="Table 12"/>
          <p:cNvGraphicFramePr>
            <a:graphicFrameLocks noGrp="1"/>
          </p:cNvGraphicFramePr>
          <p:nvPr/>
        </p:nvGraphicFramePr>
        <p:xfrm>
          <a:off x="152400" y="1238250"/>
          <a:ext cx="11887199" cy="1485896"/>
        </p:xfrm>
        <a:graphic>
          <a:graphicData uri="http://schemas.openxmlformats.org/drawingml/2006/table">
            <a:tbl>
              <a:tblPr>
                <a:tableStyleId>{5C22544A-7EE6-4342-B048-85BDC9FD1C3A}</a:tableStyleId>
              </a:tblPr>
              <a:tblGrid>
                <a:gridCol w="1855550"/>
                <a:gridCol w="590097"/>
                <a:gridCol w="590097"/>
                <a:gridCol w="590097"/>
                <a:gridCol w="590097"/>
                <a:gridCol w="590097"/>
                <a:gridCol w="590097"/>
                <a:gridCol w="590097"/>
                <a:gridCol w="590097"/>
                <a:gridCol w="590097"/>
                <a:gridCol w="590097"/>
                <a:gridCol w="590097"/>
                <a:gridCol w="590097"/>
                <a:gridCol w="590097"/>
                <a:gridCol w="590097"/>
                <a:gridCol w="590097"/>
                <a:gridCol w="590097"/>
                <a:gridCol w="590097"/>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Price Positioning</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37084" y="1837563"/>
            <a:ext cx="366712" cy="533400"/>
          </a:xfrm>
          <a:prstGeom prst="rect">
            <a:avLst/>
          </a:prstGeom>
        </p:spPr>
      </p:pic>
      <p:sp>
        <p:nvSpPr>
          <p:cNvPr id="21" name="TextBox 20"/>
          <p:cNvSpPr txBox="1"/>
          <p:nvPr/>
        </p:nvSpPr>
        <p:spPr>
          <a:xfrm>
            <a:off x="276225" y="3486150"/>
            <a:ext cx="2733625" cy="194310"/>
          </a:xfrm>
          <a:prstGeom prst="rect">
            <a:avLst/>
          </a:prstGeom>
          <a:noFill/>
        </p:spPr>
        <p:txBody>
          <a:bodyPr wrap="none" lIns="0" rIns="0" tIns="0" bIns="0">
            <a:spAutoFit/>
          </a:bodyPr>
          <a:lstStyle/>
          <a:p>
            <a:r>
              <a:rPr sz="1150" b="0">
                <a:solidFill>
                  <a:srgbClr val="2E2E2E"/>
                </a:solidFill>
                <a:latin typeface="Calibri"/>
              </a:rPr>
              <a:t>▪ 'Premium' is the largest price positioning at</a:t>
            </a:r>
          </a:p>
        </p:txBody>
      </p:sp>
      <p:pic>
        <p:nvPicPr>
          <p:cNvPr id="22" name="Picture 21" descr="lock.png"/>
          <p:cNvPicPr>
            <a:picLocks noChangeAspect="1"/>
          </p:cNvPicPr>
          <p:nvPr/>
        </p:nvPicPr>
        <p:blipFill>
          <a:blip r:embed="rId4"/>
          <a:stretch>
            <a:fillRect/>
          </a:stretch>
        </p:blipFill>
        <p:spPr>
          <a:xfrm>
            <a:off x="2959004" y="3475926"/>
            <a:ext cx="134549" cy="195707"/>
          </a:xfrm>
          <a:prstGeom prst="rect">
            <a:avLst/>
          </a:prstGeom>
        </p:spPr>
      </p:pic>
      <p:sp>
        <p:nvSpPr>
          <p:cNvPr id="23" name="TextBox 22"/>
          <p:cNvSpPr txBox="1"/>
          <p:nvPr/>
        </p:nvSpPr>
        <p:spPr>
          <a:xfrm>
            <a:off x="3134113" y="348615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040046" y="3475926"/>
            <a:ext cx="134549" cy="195707"/>
          </a:xfrm>
          <a:prstGeom prst="rect">
            <a:avLst/>
          </a:prstGeom>
        </p:spPr>
      </p:pic>
      <p:sp>
        <p:nvSpPr>
          <p:cNvPr id="25" name="TextBox 24"/>
          <p:cNvSpPr txBox="1"/>
          <p:nvPr/>
        </p:nvSpPr>
        <p:spPr>
          <a:xfrm>
            <a:off x="4215155" y="348615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713987"/>
            <a:ext cx="2659744" cy="194310"/>
          </a:xfrm>
          <a:prstGeom prst="rect">
            <a:avLst/>
          </a:prstGeom>
          <a:noFill/>
        </p:spPr>
        <p:txBody>
          <a:bodyPr wrap="none" lIns="0" rIns="0" tIns="0" bIns="0">
            <a:spAutoFit/>
          </a:bodyPr>
          <a:lstStyle/>
          <a:p>
            <a:r>
              <a:rPr sz="1150" b="0">
                <a:solidFill>
                  <a:srgbClr val="2E2E2E"/>
                </a:solidFill>
                <a:latin typeface="Calibri"/>
              </a:rPr>
              <a:t>▪ 'Super-premium / speciality' grows fastest</a:t>
            </a:r>
          </a:p>
        </p:txBody>
      </p:sp>
      <p:pic>
        <p:nvPicPr>
          <p:cNvPr id="27" name="Picture 26" descr="lock.png"/>
          <p:cNvPicPr>
            <a:picLocks noChangeAspect="1"/>
          </p:cNvPicPr>
          <p:nvPr/>
        </p:nvPicPr>
        <p:blipFill>
          <a:blip r:embed="rId4"/>
          <a:stretch>
            <a:fillRect/>
          </a:stretch>
        </p:blipFill>
        <p:spPr>
          <a:xfrm>
            <a:off x="2885123" y="3703764"/>
            <a:ext cx="134549" cy="195707"/>
          </a:xfrm>
          <a:prstGeom prst="rect">
            <a:avLst/>
          </a:prstGeom>
        </p:spPr>
      </p:pic>
      <p:sp>
        <p:nvSpPr>
          <p:cNvPr id="28" name="TextBox 27"/>
          <p:cNvSpPr txBox="1"/>
          <p:nvPr/>
        </p:nvSpPr>
        <p:spPr>
          <a:xfrm>
            <a:off x="3060232" y="371398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941825"/>
            <a:ext cx="2177665" cy="194310"/>
          </a:xfrm>
          <a:prstGeom prst="rect">
            <a:avLst/>
          </a:prstGeom>
          <a:noFill/>
        </p:spPr>
        <p:txBody>
          <a:bodyPr wrap="none" lIns="0" rIns="0" tIns="0" bIns="0">
            <a:spAutoFit/>
          </a:bodyPr>
          <a:lstStyle/>
          <a:p>
            <a:r>
              <a:rPr sz="1150" b="0">
                <a:solidFill>
                  <a:srgbClr val="2E2E2E"/>
                </a:solidFill>
                <a:latin typeface="Calibri"/>
              </a:rPr>
              <a:t>▪ Share shifts toward 'Mid-range' (+</a:t>
            </a:r>
          </a:p>
        </p:txBody>
      </p:sp>
      <p:pic>
        <p:nvPicPr>
          <p:cNvPr id="30" name="Picture 29" descr="lock.png"/>
          <p:cNvPicPr>
            <a:picLocks noChangeAspect="1"/>
          </p:cNvPicPr>
          <p:nvPr/>
        </p:nvPicPr>
        <p:blipFill>
          <a:blip r:embed="rId4"/>
          <a:stretch>
            <a:fillRect/>
          </a:stretch>
        </p:blipFill>
        <p:spPr>
          <a:xfrm>
            <a:off x="2403044" y="3931602"/>
            <a:ext cx="134549" cy="195707"/>
          </a:xfrm>
          <a:prstGeom prst="rect">
            <a:avLst/>
          </a:prstGeom>
        </p:spPr>
      </p:pic>
      <p:sp>
        <p:nvSpPr>
          <p:cNvPr id="31" name="TextBox 30"/>
          <p:cNvSpPr txBox="1"/>
          <p:nvPr/>
        </p:nvSpPr>
        <p:spPr>
          <a:xfrm>
            <a:off x="2578153" y="3941825"/>
            <a:ext cx="2027621" cy="194310"/>
          </a:xfrm>
          <a:prstGeom prst="rect">
            <a:avLst/>
          </a:prstGeom>
          <a:noFill/>
        </p:spPr>
        <p:txBody>
          <a:bodyPr wrap="none" lIns="0" rIns="0" tIns="0" bIns="0">
            <a:spAutoFit/>
          </a:bodyPr>
          <a:lstStyle/>
          <a:p>
            <a:r>
              <a:rPr sz="1150" b="0">
                <a:solidFill>
                  <a:srgbClr val="2E2E2E"/>
                </a:solidFill>
                <a:latin typeface="Calibri"/>
              </a:rPr>
              <a:t>BPS) and away from 'Premium' (-</a:t>
            </a:r>
          </a:p>
        </p:txBody>
      </p:sp>
      <p:pic>
        <p:nvPicPr>
          <p:cNvPr id="32" name="Picture 31" descr="lock.png"/>
          <p:cNvPicPr>
            <a:picLocks noChangeAspect="1"/>
          </p:cNvPicPr>
          <p:nvPr/>
        </p:nvPicPr>
        <p:blipFill>
          <a:blip r:embed="rId4"/>
          <a:stretch>
            <a:fillRect/>
          </a:stretch>
        </p:blipFill>
        <p:spPr>
          <a:xfrm>
            <a:off x="4554929" y="3931602"/>
            <a:ext cx="134549" cy="195707"/>
          </a:xfrm>
          <a:prstGeom prst="rect">
            <a:avLst/>
          </a:prstGeom>
        </p:spPr>
      </p:pic>
      <p:sp>
        <p:nvSpPr>
          <p:cNvPr id="33" name="TextBox 32"/>
          <p:cNvSpPr txBox="1"/>
          <p:nvPr/>
        </p:nvSpPr>
        <p:spPr>
          <a:xfrm>
            <a:off x="4730038" y="394182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16966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4159440"/>
            <a:ext cx="134549" cy="195707"/>
          </a:xfrm>
          <a:prstGeom prst="rect">
            <a:avLst/>
          </a:prstGeom>
        </p:spPr>
      </p:pic>
      <p:sp>
        <p:nvSpPr>
          <p:cNvPr id="36" name="TextBox 35"/>
          <p:cNvSpPr txBox="1"/>
          <p:nvPr/>
        </p:nvSpPr>
        <p:spPr>
          <a:xfrm>
            <a:off x="1841342" y="416966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4159440"/>
            <a:ext cx="134549" cy="195707"/>
          </a:xfrm>
          <a:prstGeom prst="rect">
            <a:avLst/>
          </a:prstGeom>
        </p:spPr>
      </p:pic>
      <p:sp>
        <p:nvSpPr>
          <p:cNvPr id="38" name="TextBox 37"/>
          <p:cNvSpPr txBox="1"/>
          <p:nvPr/>
        </p:nvSpPr>
        <p:spPr>
          <a:xfrm>
            <a:off x="2167888" y="4169663"/>
            <a:ext cx="1744079" cy="194310"/>
          </a:xfrm>
          <a:prstGeom prst="rect">
            <a:avLst/>
          </a:prstGeom>
          <a:noFill/>
        </p:spPr>
        <p:txBody>
          <a:bodyPr wrap="none" lIns="0" rIns="0" tIns="0" bIns="0">
            <a:spAutoFit/>
          </a:bodyPr>
          <a:lstStyle/>
          <a:p>
            <a:r>
              <a:rPr sz="1150" b="0">
                <a:solidFill>
                  <a:srgbClr val="2E2E2E"/>
                </a:solidFill>
                <a:latin typeface="Calibri"/>
              </a:rPr>
              <a:t>US$ Mn across 4 categories.</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Price Positioning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Price Positioning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Price Positioning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829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335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573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Economy / value</a:t>
            </a:r>
          </a:p>
        </p:txBody>
      </p:sp>
      <p:sp>
        <p:nvSpPr>
          <p:cNvPr id="19" name="BPS Value 1"/>
          <p:cNvSpPr txBox="1"/>
          <p:nvPr/>
        </p:nvSpPr>
        <p:spPr>
          <a:xfrm>
            <a:off x="6896100" y="20192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9740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926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164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Super-premium / speciality</a:t>
            </a:r>
          </a:p>
        </p:txBody>
      </p:sp>
      <p:sp>
        <p:nvSpPr>
          <p:cNvPr id="23" name="BPS Value 2"/>
          <p:cNvSpPr txBox="1"/>
          <p:nvPr/>
        </p:nvSpPr>
        <p:spPr>
          <a:xfrm>
            <a:off x="6896100" y="287835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09822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09345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01725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Mid-range</a:t>
            </a:r>
          </a:p>
        </p:txBody>
      </p:sp>
      <p:sp>
        <p:nvSpPr>
          <p:cNvPr id="27" name="BPS Value 3"/>
          <p:cNvSpPr txBox="1"/>
          <p:nvPr/>
        </p:nvSpPr>
        <p:spPr>
          <a:xfrm>
            <a:off x="6896100" y="407917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253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05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43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a:t>
            </a:r>
          </a:p>
        </p:txBody>
      </p:sp>
      <p:sp>
        <p:nvSpPr>
          <p:cNvPr id="31" name="BPS Value 4"/>
          <p:cNvSpPr txBox="1"/>
          <p:nvPr/>
        </p:nvSpPr>
        <p:spPr>
          <a:xfrm>
            <a:off x="6896100" y="55062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Price Positioning</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2214748" cy="194310"/>
          </a:xfrm>
          <a:prstGeom prst="rect">
            <a:avLst/>
          </a:prstGeom>
          <a:noFill/>
        </p:spPr>
        <p:txBody>
          <a:bodyPr wrap="none" lIns="0" rIns="0" tIns="0" bIns="0">
            <a:spAutoFit/>
          </a:bodyPr>
          <a:lstStyle/>
          <a:p>
            <a:r>
              <a:rPr sz="1150" b="0">
                <a:solidFill>
                  <a:srgbClr val="2E2E2E"/>
                </a:solidFill>
                <a:latin typeface="Calibri"/>
              </a:rPr>
              <a:t>▪ 'Mid-range' gains the most share +</a:t>
            </a:r>
          </a:p>
        </p:txBody>
      </p:sp>
      <p:pic>
        <p:nvPicPr>
          <p:cNvPr id="39" name="Picture 38" descr="lock.png"/>
          <p:cNvPicPr>
            <a:picLocks noChangeAspect="1"/>
          </p:cNvPicPr>
          <p:nvPr/>
        </p:nvPicPr>
        <p:blipFill>
          <a:blip r:embed="rId5"/>
          <a:stretch>
            <a:fillRect/>
          </a:stretch>
        </p:blipFill>
        <p:spPr>
          <a:xfrm>
            <a:off x="9993452" y="1389951"/>
            <a:ext cx="134549" cy="195707"/>
          </a:xfrm>
          <a:prstGeom prst="rect">
            <a:avLst/>
          </a:prstGeom>
        </p:spPr>
      </p:pic>
      <p:sp>
        <p:nvSpPr>
          <p:cNvPr id="40" name="TextBox 39"/>
          <p:cNvSpPr txBox="1"/>
          <p:nvPr/>
        </p:nvSpPr>
        <p:spPr>
          <a:xfrm>
            <a:off x="10168561" y="1400175"/>
            <a:ext cx="1442851" cy="194310"/>
          </a:xfrm>
          <a:prstGeom prst="rect">
            <a:avLst/>
          </a:prstGeom>
          <a:noFill/>
        </p:spPr>
        <p:txBody>
          <a:bodyPr wrap="none" lIns="0" rIns="0" tIns="0" bIns="0">
            <a:spAutoFit/>
          </a:bodyPr>
          <a:lstStyle/>
          <a:p>
            <a:r>
              <a:rPr sz="1150" b="0">
                <a:solidFill>
                  <a:srgbClr val="2E2E2E"/>
                </a:solidFill>
                <a:latin typeface="Calibri"/>
              </a:rPr>
              <a:t>BPS between 2026 and</a:t>
            </a:r>
          </a:p>
        </p:txBody>
      </p:sp>
      <p:sp>
        <p:nvSpPr>
          <p:cNvPr id="41" name="TextBox 40"/>
          <p:cNvSpPr txBox="1"/>
          <p:nvPr/>
        </p:nvSpPr>
        <p:spPr>
          <a:xfrm>
            <a:off x="7829550" y="1575435"/>
            <a:ext cx="1727249" cy="194310"/>
          </a:xfrm>
          <a:prstGeom prst="rect">
            <a:avLst/>
          </a:prstGeom>
          <a:noFill/>
        </p:spPr>
        <p:txBody>
          <a:bodyPr wrap="none" lIns="0" rIns="0" tIns="0" bIns="0">
            <a:spAutoFit/>
          </a:bodyPr>
          <a:lstStyle/>
          <a:p>
            <a:r>
              <a:rPr sz="1150" b="0">
                <a:solidFill>
                  <a:srgbClr val="2E2E2E"/>
                </a:solidFill>
                <a:latin typeface="Calibri"/>
              </a:rPr>
              <a:t>2036 (</a:t>
            </a:r>
            <a:r>
              <a:rPr sz="1150" b="0">
                <a:solidFill>
                  <a:srgbClr val="2E7D32"/>
                </a:solidFill>
                <a:latin typeface="Calibri"/>
              </a:rPr>
              <a:t>green ▲</a:t>
            </a:r>
            <a:r>
              <a:rPr sz="1150" b="0">
                <a:solidFill>
                  <a:srgbClr val="2E2E2E"/>
                </a:solidFill>
                <a:latin typeface="Calibri"/>
              </a:rPr>
              <a:t> on the scale).</a:t>
            </a:r>
          </a:p>
        </p:txBody>
      </p:sp>
      <p:sp>
        <p:nvSpPr>
          <p:cNvPr id="42" name="TextBox 41"/>
          <p:cNvSpPr txBox="1"/>
          <p:nvPr/>
        </p:nvSpPr>
        <p:spPr>
          <a:xfrm>
            <a:off x="7829550" y="1803273"/>
            <a:ext cx="1785156" cy="194310"/>
          </a:xfrm>
          <a:prstGeom prst="rect">
            <a:avLst/>
          </a:prstGeom>
          <a:noFill/>
        </p:spPr>
        <p:txBody>
          <a:bodyPr wrap="none" lIns="0" rIns="0" tIns="0" bIns="0">
            <a:spAutoFit/>
          </a:bodyPr>
          <a:lstStyle/>
          <a:p>
            <a:r>
              <a:rPr sz="1150" b="0">
                <a:solidFill>
                  <a:srgbClr val="2E2E2E"/>
                </a:solidFill>
                <a:latin typeface="Calibri"/>
              </a:rPr>
              <a:t>▪ 'Premium' cedes the most -</a:t>
            </a:r>
          </a:p>
        </p:txBody>
      </p:sp>
      <p:pic>
        <p:nvPicPr>
          <p:cNvPr id="43" name="Picture 42" descr="lock.png"/>
          <p:cNvPicPr>
            <a:picLocks noChangeAspect="1"/>
          </p:cNvPicPr>
          <p:nvPr/>
        </p:nvPicPr>
        <p:blipFill>
          <a:blip r:embed="rId5"/>
          <a:stretch>
            <a:fillRect/>
          </a:stretch>
        </p:blipFill>
        <p:spPr>
          <a:xfrm>
            <a:off x="9563860" y="1793049"/>
            <a:ext cx="134549" cy="195707"/>
          </a:xfrm>
          <a:prstGeom prst="rect">
            <a:avLst/>
          </a:prstGeom>
        </p:spPr>
      </p:pic>
      <p:sp>
        <p:nvSpPr>
          <p:cNvPr id="44" name="TextBox 43"/>
          <p:cNvSpPr txBox="1"/>
          <p:nvPr/>
        </p:nvSpPr>
        <p:spPr>
          <a:xfrm>
            <a:off x="9738969" y="1803273"/>
            <a:ext cx="1963154" cy="194310"/>
          </a:xfrm>
          <a:prstGeom prst="rect">
            <a:avLst/>
          </a:prstGeom>
          <a:noFill/>
        </p:spPr>
        <p:txBody>
          <a:bodyPr wrap="none" lIns="0" rIns="0" tIns="0" bIns="0">
            <a:spAutoFit/>
          </a:bodyPr>
          <a:lstStyle/>
          <a:p>
            <a:r>
              <a:rPr sz="1150" b="0">
                <a:solidFill>
                  <a:srgbClr val="2E2E2E"/>
                </a:solidFill>
                <a:latin typeface="Calibri"/>
              </a:rPr>
              <a:t>BPS over the same window (red</a:t>
            </a:r>
          </a:p>
        </p:txBody>
      </p:sp>
      <p:sp>
        <p:nvSpPr>
          <p:cNvPr id="45" name="TextBox 44"/>
          <p:cNvSpPr txBox="1"/>
          <p:nvPr/>
        </p:nvSpPr>
        <p:spPr>
          <a:xfrm>
            <a:off x="7829550" y="1978533"/>
            <a:ext cx="231378" cy="194310"/>
          </a:xfrm>
          <a:prstGeom prst="rect">
            <a:avLst/>
          </a:prstGeom>
          <a:noFill/>
        </p:spPr>
        <p:txBody>
          <a:bodyPr wrap="none" lIns="0" rIns="0" tIns="0" bIns="0">
            <a:spAutoFit/>
          </a:bodyPr>
          <a:lstStyle/>
          <a:p>
            <a:r>
              <a:rPr sz="1150" b="0">
                <a:solidFill>
                  <a:srgbClr val="E44D3A"/>
                </a:solidFill>
                <a:latin typeface="Calibri"/>
              </a:rPr>
              <a:t>▼</a:t>
            </a:r>
            <a:r>
              <a:rPr sz="1150" b="0">
                <a:solidFill>
                  <a:srgbClr val="2E2E2E"/>
                </a:solidFill>
                <a:latin typeface="Calibri"/>
              </a:rPr>
              <a:t>).</a:t>
            </a:r>
          </a:p>
        </p:txBody>
      </p:sp>
      <p:sp>
        <p:nvSpPr>
          <p:cNvPr id="46" name="TextBox 45"/>
          <p:cNvSpPr txBox="1"/>
          <p:nvPr/>
        </p:nvSpPr>
        <p:spPr>
          <a:xfrm>
            <a:off x="7829550" y="2206371"/>
            <a:ext cx="3478138" cy="194310"/>
          </a:xfrm>
          <a:prstGeom prst="rect">
            <a:avLst/>
          </a:prstGeom>
          <a:noFill/>
        </p:spPr>
        <p:txBody>
          <a:bodyPr wrap="none" lIns="0" rIns="0" tIns="0" bIns="0">
            <a:spAutoFit/>
          </a:bodyPr>
          <a:lstStyle/>
          <a:p>
            <a:r>
              <a:rPr sz="1150" b="0">
                <a:solidFill>
                  <a:srgbClr val="2E2E2E"/>
                </a:solidFill>
                <a:latin typeface="Calibri"/>
              </a:rPr>
              <a:t>▪ 'Super-premium / speciality' is the fastest-growing price</a:t>
            </a:r>
          </a:p>
        </p:txBody>
      </p:sp>
      <p:sp>
        <p:nvSpPr>
          <p:cNvPr id="47" name="TextBox 46"/>
          <p:cNvSpPr txBox="1"/>
          <p:nvPr/>
        </p:nvSpPr>
        <p:spPr>
          <a:xfrm>
            <a:off x="7829550" y="2381631"/>
            <a:ext cx="888317" cy="194310"/>
          </a:xfrm>
          <a:prstGeom prst="rect">
            <a:avLst/>
          </a:prstGeom>
          <a:noFill/>
        </p:spPr>
        <p:txBody>
          <a:bodyPr wrap="none" lIns="0" rIns="0" tIns="0" bIns="0">
            <a:spAutoFit/>
          </a:bodyPr>
          <a:lstStyle/>
          <a:p>
            <a:r>
              <a:rPr sz="1150" b="0">
                <a:solidFill>
                  <a:srgbClr val="2E2E2E"/>
                </a:solidFill>
                <a:latin typeface="Calibri"/>
              </a:rPr>
              <a:t>positioning at</a:t>
            </a:r>
          </a:p>
        </p:txBody>
      </p:sp>
      <p:pic>
        <p:nvPicPr>
          <p:cNvPr id="48" name="Picture 47" descr="lock.png"/>
          <p:cNvPicPr>
            <a:picLocks noChangeAspect="1"/>
          </p:cNvPicPr>
          <p:nvPr/>
        </p:nvPicPr>
        <p:blipFill>
          <a:blip r:embed="rId5"/>
          <a:stretch>
            <a:fillRect/>
          </a:stretch>
        </p:blipFill>
        <p:spPr>
          <a:xfrm>
            <a:off x="8667021" y="2371407"/>
            <a:ext cx="134549" cy="195707"/>
          </a:xfrm>
          <a:prstGeom prst="rect">
            <a:avLst/>
          </a:prstGeom>
        </p:spPr>
      </p:pic>
      <p:sp>
        <p:nvSpPr>
          <p:cNvPr id="49" name="TextBox 48"/>
          <p:cNvSpPr txBox="1"/>
          <p:nvPr/>
        </p:nvSpPr>
        <p:spPr>
          <a:xfrm>
            <a:off x="8842131"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50" name="TextBox 49"/>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51" name="Picture 50" descr="lock.png"/>
          <p:cNvPicPr>
            <a:picLocks noChangeAspect="1"/>
          </p:cNvPicPr>
          <p:nvPr/>
        </p:nvPicPr>
        <p:blipFill>
          <a:blip r:embed="rId5"/>
          <a:stretch>
            <a:fillRect/>
          </a:stretch>
        </p:blipFill>
        <p:spPr>
          <a:xfrm>
            <a:off x="9327669" y="2599245"/>
            <a:ext cx="134549" cy="195707"/>
          </a:xfrm>
          <a:prstGeom prst="rect">
            <a:avLst/>
          </a:prstGeom>
        </p:spPr>
      </p:pic>
      <p:sp>
        <p:nvSpPr>
          <p:cNvPr id="52" name="TextBox 51"/>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53" name="Picture 52" descr="lock.png"/>
          <p:cNvPicPr>
            <a:picLocks noChangeAspect="1"/>
          </p:cNvPicPr>
          <p:nvPr/>
        </p:nvPicPr>
        <p:blipFill>
          <a:blip r:embed="rId5"/>
          <a:stretch>
            <a:fillRect/>
          </a:stretch>
        </p:blipFill>
        <p:spPr>
          <a:xfrm>
            <a:off x="9654215" y="2599245"/>
            <a:ext cx="134549" cy="195707"/>
          </a:xfrm>
          <a:prstGeom prst="rect">
            <a:avLst/>
          </a:prstGeom>
        </p:spPr>
      </p:pic>
      <p:sp>
        <p:nvSpPr>
          <p:cNvPr id="54" name="TextBox 53"/>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5" name="TextBox 54"/>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6" name="TextBox 55"/>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7"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D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7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Price Positioning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Price Positioning,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Price Positioning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4" cy="1238250"/>
        </p:xfrm>
        <a:graphic>
          <a:graphicData uri="http://schemas.openxmlformats.org/drawingml/2006/table">
            <a:tbl>
              <a:tblPr>
                <a:tableStyleId>{5C22544A-7EE6-4342-B048-85BDC9FD1C3A}</a:tableStyleId>
              </a:tblPr>
              <a:tblGrid>
                <a:gridCol w="2024859"/>
                <a:gridCol w="657489"/>
                <a:gridCol w="657489"/>
                <a:gridCol w="657489"/>
                <a:gridCol w="657489"/>
                <a:gridCol w="657489"/>
                <a:gridCol w="657489"/>
                <a:gridCol w="657489"/>
                <a:gridCol w="657489"/>
                <a:gridCol w="657489"/>
                <a:gridCol w="657489"/>
                <a:gridCol w="657489"/>
                <a:gridCol w="657489"/>
                <a:gridCol w="657489"/>
                <a:gridCol w="657489"/>
                <a:gridCol w="657489"/>
              </a:tblGrid>
              <a:tr h="246126">
                <a:tc>
                  <a:txBody>
                    <a:bodyPr wrap="none"/>
                    <a:lstStyle/>
                    <a:p>
                      <a:pPr algn="l"/>
                      <a:r>
                        <a:rPr sz="1100" b="1">
                          <a:solidFill>
                            <a:srgbClr val="0B2E4A"/>
                          </a:solidFill>
                          <a:latin typeface="Calibri"/>
                        </a:rPr>
                        <a:t>Price Positioning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Economy / value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Mid-range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Super-premium / speciality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Price Positioning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Economy / value</a:t>
            </a:r>
          </a:p>
        </p:txBody>
      </p:sp>
      <p:sp>
        <p:nvSpPr>
          <p:cNvPr id="33" name="Rectangle 32"/>
          <p:cNvSpPr/>
          <p:nvPr/>
        </p:nvSpPr>
        <p:spPr>
          <a:xfrm>
            <a:off x="1857375" y="3248025"/>
            <a:ext cx="643890" cy="831056"/>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Mid-range</a:t>
            </a:r>
          </a:p>
        </p:txBody>
      </p:sp>
      <p:sp>
        <p:nvSpPr>
          <p:cNvPr id="49" name="Rectangle 48"/>
          <p:cNvSpPr/>
          <p:nvPr/>
        </p:nvSpPr>
        <p:spPr>
          <a:xfrm>
            <a:off x="1857375" y="4079081"/>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Premium</a:t>
            </a:r>
          </a:p>
        </p:txBody>
      </p:sp>
      <p:sp>
        <p:nvSpPr>
          <p:cNvPr id="65" name="Rectangle 64"/>
          <p:cNvSpPr/>
          <p:nvPr/>
        </p:nvSpPr>
        <p:spPr>
          <a:xfrm>
            <a:off x="18573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Super-premium / speciality</a:t>
            </a:r>
          </a:p>
        </p:txBody>
      </p:sp>
      <p:sp>
        <p:nvSpPr>
          <p:cNvPr id="81" name="Rectangle 80"/>
          <p:cNvSpPr/>
          <p:nvPr/>
        </p:nvSpPr>
        <p:spPr>
          <a:xfrm>
            <a:off x="1857375" y="5741194"/>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6921736" y="1713738"/>
            <a:ext cx="366712" cy="533400"/>
          </a:xfrm>
          <a:prstGeom prst="rect">
            <a:avLst/>
          </a:prstGeom>
        </p:spPr>
      </p:pic>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Brand Ownership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Brand Ownership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Brand Ownership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Brand Ownership,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Brand Ownership segment categorizes the market by brand ownership.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Manufacturer brands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Retailer private labels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 operator brands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Brand Ownership split shows how demand is distributed across brand ownership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4_68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7_41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4_7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4_564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7_67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5_3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_649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2_65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9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889299" cy="186689"/>
          </a:xfrm>
          <a:prstGeom prst="rect">
            <a:avLst/>
          </a:prstGeom>
          <a:noFill/>
        </p:spPr>
        <p:txBody>
          <a:bodyPr wrap="none" lIns="0" rIns="0" tIns="0" bIns="0">
            <a:spAutoFit/>
          </a:bodyPr>
          <a:lstStyle/>
          <a:p>
            <a:r>
              <a:rPr sz="1100" b="0">
                <a:solidFill>
                  <a:srgbClr val="2E2E2E"/>
                </a:solidFill>
                <a:latin typeface="Calibri"/>
              </a:rPr>
              <a:t>▪ 'Manufacturer brands' holds the largest share in</a:t>
            </a:r>
          </a:p>
        </p:txBody>
      </p:sp>
      <p:sp>
        <p:nvSpPr>
          <p:cNvPr id="70" name="TextBox 69"/>
          <p:cNvSpPr txBox="1"/>
          <p:nvPr/>
        </p:nvSpPr>
        <p:spPr>
          <a:xfrm>
            <a:off x="485775" y="4397077"/>
            <a:ext cx="359965" cy="186689"/>
          </a:xfrm>
          <a:prstGeom prst="rect">
            <a:avLst/>
          </a:prstGeom>
          <a:noFill/>
        </p:spPr>
        <p:txBody>
          <a:bodyPr wrap="none" lIns="0" rIns="0" tIns="0" bIns="0">
            <a:spAutoFit/>
          </a:bodyPr>
          <a:lstStyle/>
          <a:p>
            <a:r>
              <a:rPr sz="1100" b="0">
                <a:solidFill>
                  <a:srgbClr val="2E2E2E"/>
                </a:solidFill>
                <a:latin typeface="Calibri"/>
              </a:rPr>
              <a:t>2026</a:t>
            </a:r>
          </a:p>
        </p:txBody>
      </p:sp>
      <p:pic>
        <p:nvPicPr>
          <p:cNvPr id="71" name="Picture 70" descr="lock.png"/>
          <p:cNvPicPr>
            <a:picLocks noChangeAspect="1"/>
          </p:cNvPicPr>
          <p:nvPr/>
        </p:nvPicPr>
        <p:blipFill>
          <a:blip r:embed="rId13"/>
          <a:stretch>
            <a:fillRect/>
          </a:stretch>
        </p:blipFill>
        <p:spPr>
          <a:xfrm>
            <a:off x="793792" y="4387298"/>
            <a:ext cx="128699" cy="187198"/>
          </a:xfrm>
          <a:prstGeom prst="rect">
            <a:avLst/>
          </a:prstGeom>
        </p:spPr>
      </p:pic>
      <p:sp>
        <p:nvSpPr>
          <p:cNvPr id="72" name="TextBox 71"/>
          <p:cNvSpPr txBox="1"/>
          <p:nvPr/>
        </p:nvSpPr>
        <p:spPr>
          <a:xfrm>
            <a:off x="961288" y="4397077"/>
            <a:ext cx="1087387" cy="186689"/>
          </a:xfrm>
          <a:prstGeom prst="rect">
            <a:avLst/>
          </a:prstGeom>
          <a:noFill/>
        </p:spPr>
        <p:txBody>
          <a:bodyPr wrap="none" lIns="0" rIns="0" tIns="0" bIns="0">
            <a:spAutoFit/>
          </a:bodyPr>
          <a:lstStyle/>
          <a:p>
            <a:r>
              <a:rPr sz="1100" b="0">
                <a:solidFill>
                  <a:srgbClr val="2E2E2E"/>
                </a:solidFill>
                <a:latin typeface="Calibri"/>
              </a:rPr>
              <a:t>of segment value.</a:t>
            </a:r>
          </a:p>
        </p:txBody>
      </p:sp>
      <p:sp>
        <p:nvSpPr>
          <p:cNvPr id="73" name="TextBox 72"/>
          <p:cNvSpPr txBox="1"/>
          <p:nvPr/>
        </p:nvSpPr>
        <p:spPr>
          <a:xfrm>
            <a:off x="485775" y="4615009"/>
            <a:ext cx="2709763" cy="186689"/>
          </a:xfrm>
          <a:prstGeom prst="rect">
            <a:avLst/>
          </a:prstGeom>
          <a:noFill/>
        </p:spPr>
        <p:txBody>
          <a:bodyPr wrap="none" lIns="0" rIns="0" tIns="0" bIns="0">
            <a:spAutoFit/>
          </a:bodyPr>
          <a:lstStyle/>
          <a:p>
            <a:r>
              <a:rPr sz="1100" b="0">
                <a:solidFill>
                  <a:srgbClr val="2E2E2E"/>
                </a:solidFill>
                <a:latin typeface="Calibri"/>
              </a:rPr>
              <a:t>▪ 'Retailer private labels' is the fastest-growing</a:t>
            </a:r>
          </a:p>
        </p:txBody>
      </p:sp>
      <p:sp>
        <p:nvSpPr>
          <p:cNvPr id="74" name="TextBox 73"/>
          <p:cNvSpPr txBox="1"/>
          <p:nvPr/>
        </p:nvSpPr>
        <p:spPr>
          <a:xfrm>
            <a:off x="485775" y="4782649"/>
            <a:ext cx="957237" cy="186689"/>
          </a:xfrm>
          <a:prstGeom prst="rect">
            <a:avLst/>
          </a:prstGeom>
          <a:noFill/>
        </p:spPr>
        <p:txBody>
          <a:bodyPr wrap="none" lIns="0" rIns="0" tIns="0" bIns="0">
            <a:spAutoFit/>
          </a:bodyPr>
          <a:lstStyle/>
          <a:p>
            <a:r>
              <a:rPr sz="1100" b="0">
                <a:solidFill>
                  <a:srgbClr val="2E2E2E"/>
                </a:solidFill>
                <a:latin typeface="Calibri"/>
              </a:rPr>
              <a:t>sub-segment at</a:t>
            </a:r>
          </a:p>
        </p:txBody>
      </p:sp>
      <p:pic>
        <p:nvPicPr>
          <p:cNvPr id="75" name="Picture 74" descr="lock.png"/>
          <p:cNvPicPr>
            <a:picLocks noChangeAspect="1"/>
          </p:cNvPicPr>
          <p:nvPr/>
        </p:nvPicPr>
        <p:blipFill>
          <a:blip r:embed="rId13"/>
          <a:stretch>
            <a:fillRect/>
          </a:stretch>
        </p:blipFill>
        <p:spPr>
          <a:xfrm>
            <a:off x="1391064" y="4772870"/>
            <a:ext cx="128699" cy="187198"/>
          </a:xfrm>
          <a:prstGeom prst="rect">
            <a:avLst/>
          </a:prstGeom>
        </p:spPr>
      </p:pic>
      <p:sp>
        <p:nvSpPr>
          <p:cNvPr id="76" name="TextBox 75"/>
          <p:cNvSpPr txBox="1"/>
          <p:nvPr/>
        </p:nvSpPr>
        <p:spPr>
          <a:xfrm>
            <a:off x="1558560" y="4782649"/>
            <a:ext cx="1233073" cy="186689"/>
          </a:xfrm>
          <a:prstGeom prst="rect">
            <a:avLst/>
          </a:prstGeom>
          <a:noFill/>
        </p:spPr>
        <p:txBody>
          <a:bodyPr wrap="none" lIns="0" rIns="0" tIns="0" bIns="0">
            <a:spAutoFit/>
          </a:bodyPr>
          <a:lstStyle/>
          <a:p>
            <a:r>
              <a:rPr sz="1100" b="0">
                <a:solidFill>
                  <a:srgbClr val="2E2E2E"/>
                </a:solidFill>
                <a:latin typeface="Calibri"/>
              </a:rPr>
              <a:t>CAGR through 2036.</a:t>
            </a:r>
          </a:p>
        </p:txBody>
      </p:sp>
      <p:sp>
        <p:nvSpPr>
          <p:cNvPr id="77" name="TextBox 76"/>
          <p:cNvSpPr txBox="1"/>
          <p:nvPr/>
        </p:nvSpPr>
        <p:spPr>
          <a:xfrm>
            <a:off x="485775" y="500058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8" name="Picture 77" descr="lock.png"/>
          <p:cNvPicPr>
            <a:picLocks noChangeAspect="1"/>
          </p:cNvPicPr>
          <p:nvPr/>
        </p:nvPicPr>
        <p:blipFill>
          <a:blip r:embed="rId13"/>
          <a:stretch>
            <a:fillRect/>
          </a:stretch>
        </p:blipFill>
        <p:spPr>
          <a:xfrm>
            <a:off x="2240451" y="4990801"/>
            <a:ext cx="128699" cy="187198"/>
          </a:xfrm>
          <a:prstGeom prst="rect">
            <a:avLst/>
          </a:prstGeom>
        </p:spPr>
      </p:pic>
      <p:sp>
        <p:nvSpPr>
          <p:cNvPr id="79" name="TextBox 78"/>
          <p:cNvSpPr txBox="1"/>
          <p:nvPr/>
        </p:nvSpPr>
        <p:spPr>
          <a:xfrm>
            <a:off x="2407947" y="500058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0" name="Picture 79" descr="lock.png"/>
          <p:cNvPicPr>
            <a:picLocks noChangeAspect="1"/>
          </p:cNvPicPr>
          <p:nvPr/>
        </p:nvPicPr>
        <p:blipFill>
          <a:blip r:embed="rId13"/>
          <a:stretch>
            <a:fillRect/>
          </a:stretch>
        </p:blipFill>
        <p:spPr>
          <a:xfrm>
            <a:off x="2552799" y="4990801"/>
            <a:ext cx="128699" cy="187198"/>
          </a:xfrm>
          <a:prstGeom prst="rect">
            <a:avLst/>
          </a:prstGeom>
        </p:spPr>
      </p:pic>
      <p:sp>
        <p:nvSpPr>
          <p:cNvPr id="81" name="TextBox 80"/>
          <p:cNvSpPr txBox="1"/>
          <p:nvPr/>
        </p:nvSpPr>
        <p:spPr>
          <a:xfrm>
            <a:off x="2720294" y="500058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2" name="TextBox 81"/>
          <p:cNvSpPr txBox="1"/>
          <p:nvPr/>
        </p:nvSpPr>
        <p:spPr>
          <a:xfrm>
            <a:off x="485775" y="516822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3" name="TextBox 82"/>
          <p:cNvSpPr txBox="1"/>
          <p:nvPr/>
        </p:nvSpPr>
        <p:spPr>
          <a:xfrm>
            <a:off x="485775" y="5386153"/>
            <a:ext cx="2791345" cy="186689"/>
          </a:xfrm>
          <a:prstGeom prst="rect">
            <a:avLst/>
          </a:prstGeom>
          <a:noFill/>
        </p:spPr>
        <p:txBody>
          <a:bodyPr wrap="none" lIns="0" rIns="0" tIns="0" bIns="0">
            <a:spAutoFit/>
          </a:bodyPr>
          <a:lstStyle/>
          <a:p>
            <a:r>
              <a:rPr sz="1100" b="0">
                <a:solidFill>
                  <a:srgbClr val="2E2E2E"/>
                </a:solidFill>
                <a:latin typeface="Calibri"/>
              </a:rPr>
              <a:t>▪ 3 sub-segments make up the brand ownership</a:t>
            </a:r>
          </a:p>
        </p:txBody>
      </p:sp>
      <p:sp>
        <p:nvSpPr>
          <p:cNvPr id="84" name="TextBox 83"/>
          <p:cNvSpPr txBox="1"/>
          <p:nvPr/>
        </p:nvSpPr>
        <p:spPr>
          <a:xfrm>
            <a:off x="485775" y="555379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5" name="TextBox 84"/>
          <p:cNvSpPr txBox="1"/>
          <p:nvPr/>
        </p:nvSpPr>
        <p:spPr>
          <a:xfrm>
            <a:off x="3838575" y="4229437"/>
            <a:ext cx="1441003" cy="186689"/>
          </a:xfrm>
          <a:prstGeom prst="rect">
            <a:avLst/>
          </a:prstGeom>
          <a:noFill/>
        </p:spPr>
        <p:txBody>
          <a:bodyPr wrap="none" lIns="0" rIns="0" tIns="0" bIns="0">
            <a:spAutoFit/>
          </a:bodyPr>
          <a:lstStyle/>
          <a:p>
            <a:r>
              <a:rPr sz="1100" b="0">
                <a:solidFill>
                  <a:srgbClr val="2E2E2E"/>
                </a:solidFill>
                <a:latin typeface="Calibri"/>
              </a:rPr>
              <a:t>● Manufacturer brands:</a:t>
            </a:r>
          </a:p>
        </p:txBody>
      </p:sp>
      <p:pic>
        <p:nvPicPr>
          <p:cNvPr id="86" name="Picture 85" descr="lock.png"/>
          <p:cNvPicPr>
            <a:picLocks noChangeAspect="1"/>
          </p:cNvPicPr>
          <p:nvPr/>
        </p:nvPicPr>
        <p:blipFill>
          <a:blip r:embed="rId13"/>
          <a:stretch>
            <a:fillRect/>
          </a:stretch>
        </p:blipFill>
        <p:spPr>
          <a:xfrm>
            <a:off x="5227630" y="4219658"/>
            <a:ext cx="128699" cy="187198"/>
          </a:xfrm>
          <a:prstGeom prst="rect">
            <a:avLst/>
          </a:prstGeom>
        </p:spPr>
      </p:pic>
      <p:sp>
        <p:nvSpPr>
          <p:cNvPr id="87" name="TextBox 86"/>
          <p:cNvSpPr txBox="1"/>
          <p:nvPr/>
        </p:nvSpPr>
        <p:spPr>
          <a:xfrm>
            <a:off x="539512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8" name="Picture 87" descr="lock.png"/>
          <p:cNvPicPr>
            <a:picLocks noChangeAspect="1"/>
          </p:cNvPicPr>
          <p:nvPr/>
        </p:nvPicPr>
        <p:blipFill>
          <a:blip r:embed="rId13"/>
          <a:stretch>
            <a:fillRect/>
          </a:stretch>
        </p:blipFill>
        <p:spPr>
          <a:xfrm>
            <a:off x="6254576" y="4219658"/>
            <a:ext cx="128699" cy="187198"/>
          </a:xfrm>
          <a:prstGeom prst="rect">
            <a:avLst/>
          </a:prstGeom>
        </p:spPr>
      </p:pic>
      <p:sp>
        <p:nvSpPr>
          <p:cNvPr id="89" name="TextBox 88"/>
          <p:cNvSpPr txBox="1"/>
          <p:nvPr/>
        </p:nvSpPr>
        <p:spPr>
          <a:xfrm>
            <a:off x="642207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0" name="TextBox 89"/>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1" name="TextBox 90"/>
          <p:cNvSpPr txBox="1"/>
          <p:nvPr/>
        </p:nvSpPr>
        <p:spPr>
          <a:xfrm>
            <a:off x="3838575" y="4615009"/>
            <a:ext cx="1464468" cy="186689"/>
          </a:xfrm>
          <a:prstGeom prst="rect">
            <a:avLst/>
          </a:prstGeom>
          <a:noFill/>
        </p:spPr>
        <p:txBody>
          <a:bodyPr wrap="none" lIns="0" rIns="0" tIns="0" bIns="0">
            <a:spAutoFit/>
          </a:bodyPr>
          <a:lstStyle/>
          <a:p>
            <a:r>
              <a:rPr sz="1100" b="0">
                <a:solidFill>
                  <a:srgbClr val="2E2E2E"/>
                </a:solidFill>
                <a:latin typeface="Calibri"/>
              </a:rPr>
              <a:t>● Retailer private labels:</a:t>
            </a:r>
          </a:p>
        </p:txBody>
      </p:sp>
      <p:pic>
        <p:nvPicPr>
          <p:cNvPr id="92" name="Picture 91" descr="lock.png"/>
          <p:cNvPicPr>
            <a:picLocks noChangeAspect="1"/>
          </p:cNvPicPr>
          <p:nvPr/>
        </p:nvPicPr>
        <p:blipFill>
          <a:blip r:embed="rId13"/>
          <a:stretch>
            <a:fillRect/>
          </a:stretch>
        </p:blipFill>
        <p:spPr>
          <a:xfrm>
            <a:off x="5251095" y="4605230"/>
            <a:ext cx="128699" cy="187198"/>
          </a:xfrm>
          <a:prstGeom prst="rect">
            <a:avLst/>
          </a:prstGeom>
        </p:spPr>
      </p:pic>
      <p:sp>
        <p:nvSpPr>
          <p:cNvPr id="93" name="TextBox 92"/>
          <p:cNvSpPr txBox="1"/>
          <p:nvPr/>
        </p:nvSpPr>
        <p:spPr>
          <a:xfrm>
            <a:off x="5418591"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278041" y="4605230"/>
            <a:ext cx="128699" cy="187198"/>
          </a:xfrm>
          <a:prstGeom prst="rect">
            <a:avLst/>
          </a:prstGeom>
        </p:spPr>
      </p:pic>
      <p:sp>
        <p:nvSpPr>
          <p:cNvPr id="95" name="TextBox 94"/>
          <p:cNvSpPr txBox="1"/>
          <p:nvPr/>
        </p:nvSpPr>
        <p:spPr>
          <a:xfrm>
            <a:off x="6445537"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6" name="TextBox 95"/>
          <p:cNvSpPr txBox="1"/>
          <p:nvPr/>
        </p:nvSpPr>
        <p:spPr>
          <a:xfrm>
            <a:off x="3838575" y="4832941"/>
            <a:ext cx="1952570" cy="186689"/>
          </a:xfrm>
          <a:prstGeom prst="rect">
            <a:avLst/>
          </a:prstGeom>
          <a:noFill/>
        </p:spPr>
        <p:txBody>
          <a:bodyPr wrap="none" lIns="0" rIns="0" tIns="0" bIns="0">
            <a:spAutoFit/>
          </a:bodyPr>
          <a:lstStyle/>
          <a:p>
            <a:r>
              <a:rPr sz="1100" b="0">
                <a:solidFill>
                  <a:srgbClr val="2E2E2E"/>
                </a:solidFill>
                <a:latin typeface="Calibri"/>
              </a:rPr>
              <a:t>● Foodservice / operator brands:</a:t>
            </a:r>
          </a:p>
        </p:txBody>
      </p:sp>
      <p:pic>
        <p:nvPicPr>
          <p:cNvPr id="97" name="Picture 96" descr="lock.png"/>
          <p:cNvPicPr>
            <a:picLocks noChangeAspect="1"/>
          </p:cNvPicPr>
          <p:nvPr/>
        </p:nvPicPr>
        <p:blipFill>
          <a:blip r:embed="rId13"/>
          <a:stretch>
            <a:fillRect/>
          </a:stretch>
        </p:blipFill>
        <p:spPr>
          <a:xfrm>
            <a:off x="5739196" y="4823162"/>
            <a:ext cx="128699" cy="187198"/>
          </a:xfrm>
          <a:prstGeom prst="rect">
            <a:avLst/>
          </a:prstGeom>
        </p:spPr>
      </p:pic>
      <p:sp>
        <p:nvSpPr>
          <p:cNvPr id="98" name="TextBox 97"/>
          <p:cNvSpPr txBox="1"/>
          <p:nvPr/>
        </p:nvSpPr>
        <p:spPr>
          <a:xfrm>
            <a:off x="5906692"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9" name="Picture 98" descr="lock.png"/>
          <p:cNvPicPr>
            <a:picLocks noChangeAspect="1"/>
          </p:cNvPicPr>
          <p:nvPr/>
        </p:nvPicPr>
        <p:blipFill>
          <a:blip r:embed="rId13"/>
          <a:stretch>
            <a:fillRect/>
          </a:stretch>
        </p:blipFill>
        <p:spPr>
          <a:xfrm>
            <a:off x="6766142" y="4823162"/>
            <a:ext cx="128699" cy="187198"/>
          </a:xfrm>
          <a:prstGeom prst="rect">
            <a:avLst/>
          </a:prstGeom>
        </p:spPr>
      </p:pic>
      <p:sp>
        <p:nvSpPr>
          <p:cNvPr id="100" name="TextBox 99"/>
          <p:cNvSpPr txBox="1"/>
          <p:nvPr/>
        </p:nvSpPr>
        <p:spPr>
          <a:xfrm>
            <a:off x="6933638"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1" name="TextBox 100"/>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Brand Ownership segment is projected to grow</a:t>
            </a:r>
          </a:p>
        </p:txBody>
      </p:sp>
      <p:sp>
        <p:nvSpPr>
          <p:cNvPr id="103" name="TextBox 102"/>
          <p:cNvSpPr txBox="1"/>
          <p:nvPr/>
        </p:nvSpPr>
        <p:spPr>
          <a:xfrm>
            <a:off x="8524875" y="6017901"/>
            <a:ext cx="836089" cy="194310"/>
          </a:xfrm>
          <a:prstGeom prst="rect">
            <a:avLst/>
          </a:prstGeom>
          <a:noFill/>
        </p:spPr>
        <p:txBody>
          <a:bodyPr wrap="none" lIns="0" rIns="0" tIns="0" bIns="0">
            <a:spAutoFit/>
          </a:bodyPr>
          <a:lstStyle/>
          <a:p>
            <a:r>
              <a:rPr sz="1150" b="1">
                <a:solidFill>
                  <a:srgbClr val="0B2E4A"/>
                </a:solidFill>
                <a:latin typeface="Calibri"/>
              </a:rPr>
              <a:t>at a CAGR of</a:t>
            </a:r>
          </a:p>
        </p:txBody>
      </p:sp>
      <p:pic>
        <p:nvPicPr>
          <p:cNvPr id="104" name="Picture 103" descr="lock.png"/>
          <p:cNvPicPr>
            <a:picLocks noChangeAspect="1"/>
          </p:cNvPicPr>
          <p:nvPr/>
        </p:nvPicPr>
        <p:blipFill>
          <a:blip r:embed="rId13"/>
          <a:stretch>
            <a:fillRect/>
          </a:stretch>
        </p:blipFill>
        <p:spPr>
          <a:xfrm>
            <a:off x="9310118" y="6007677"/>
            <a:ext cx="134549" cy="195707"/>
          </a:xfrm>
          <a:prstGeom prst="rect">
            <a:avLst/>
          </a:prstGeom>
        </p:spPr>
      </p:pic>
      <p:sp>
        <p:nvSpPr>
          <p:cNvPr id="105" name="TextBox 104"/>
          <p:cNvSpPr txBox="1"/>
          <p:nvPr/>
        </p:nvSpPr>
        <p:spPr>
          <a:xfrm>
            <a:off x="9485227"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Brand Ownership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Brand Ownership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Brand Ownership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Brand Ownership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369247" cy="186689"/>
          </a:xfrm>
          <a:prstGeom prst="rect">
            <a:avLst/>
          </a:prstGeom>
          <a:noFill/>
        </p:spPr>
        <p:txBody>
          <a:bodyPr wrap="none" lIns="0" rIns="0" tIns="0" bIns="0">
            <a:spAutoFit/>
          </a:bodyPr>
          <a:lstStyle/>
          <a:p>
            <a:r>
              <a:rPr sz="1100" b="0">
                <a:solidFill>
                  <a:srgbClr val="2E2E2E"/>
                </a:solidFill>
                <a:latin typeface="Calibri"/>
              </a:rPr>
              <a:t>Between 2026 and 2036, 'Retailer private labels' gains the most share in the Global market (+</a:t>
            </a:r>
          </a:p>
        </p:txBody>
      </p:sp>
      <p:pic>
        <p:nvPicPr>
          <p:cNvPr id="21" name="Picture 20" descr="lock.png"/>
          <p:cNvPicPr>
            <a:picLocks noChangeAspect="1"/>
          </p:cNvPicPr>
          <p:nvPr/>
        </p:nvPicPr>
        <p:blipFill>
          <a:blip r:embed="rId6"/>
          <a:stretch>
            <a:fillRect/>
          </a:stretch>
        </p:blipFill>
        <p:spPr>
          <a:xfrm>
            <a:off x="5574474" y="5851905"/>
            <a:ext cx="128699" cy="187198"/>
          </a:xfrm>
          <a:prstGeom prst="rect">
            <a:avLst/>
          </a:prstGeom>
        </p:spPr>
      </p:pic>
      <p:sp>
        <p:nvSpPr>
          <p:cNvPr id="22" name="TextBox 21"/>
          <p:cNvSpPr txBox="1"/>
          <p:nvPr/>
        </p:nvSpPr>
        <p:spPr>
          <a:xfrm>
            <a:off x="5741969" y="5861685"/>
            <a:ext cx="2332682" cy="186689"/>
          </a:xfrm>
          <a:prstGeom prst="rect">
            <a:avLst/>
          </a:prstGeom>
          <a:noFill/>
        </p:spPr>
        <p:txBody>
          <a:bodyPr wrap="none" lIns="0" rIns="0" tIns="0" bIns="0">
            <a:spAutoFit/>
          </a:bodyPr>
          <a:lstStyle/>
          <a:p>
            <a:r>
              <a:rPr sz="1100" b="0">
                <a:solidFill>
                  <a:srgbClr val="2E2E2E"/>
                </a:solidFill>
                <a:latin typeface="Calibri"/>
              </a:rPr>
              <a:t>BPS) while 'Manufacturer brands' cedes</a:t>
            </a:r>
          </a:p>
        </p:txBody>
      </p:sp>
      <p:pic>
        <p:nvPicPr>
          <p:cNvPr id="23" name="Picture 22" descr="lock.png"/>
          <p:cNvPicPr>
            <a:picLocks noChangeAspect="1"/>
          </p:cNvPicPr>
          <p:nvPr/>
        </p:nvPicPr>
        <p:blipFill>
          <a:blip r:embed="rId6"/>
          <a:stretch>
            <a:fillRect/>
          </a:stretch>
        </p:blipFill>
        <p:spPr>
          <a:xfrm>
            <a:off x="8022703" y="5851905"/>
            <a:ext cx="128699" cy="187198"/>
          </a:xfrm>
          <a:prstGeom prst="rect">
            <a:avLst/>
          </a:prstGeom>
        </p:spPr>
      </p:pic>
      <p:sp>
        <p:nvSpPr>
          <p:cNvPr id="24" name="TextBox 23"/>
          <p:cNvSpPr txBox="1"/>
          <p:nvPr/>
        </p:nvSpPr>
        <p:spPr>
          <a:xfrm>
            <a:off x="8190199"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Brand Ownership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Manufacturer brands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Retailer private labels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Foodservice / operator brands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Brand Ownership</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100230"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3258207" cy="194310"/>
          </a:xfrm>
          <a:prstGeom prst="rect">
            <a:avLst/>
          </a:prstGeom>
          <a:noFill/>
        </p:spPr>
        <p:txBody>
          <a:bodyPr wrap="none" lIns="0" rIns="0" tIns="0" bIns="0">
            <a:spAutoFit/>
          </a:bodyPr>
          <a:lstStyle/>
          <a:p>
            <a:r>
              <a:rPr sz="1150" b="0">
                <a:solidFill>
                  <a:srgbClr val="2E2E2E"/>
                </a:solidFill>
                <a:latin typeface="Calibri"/>
              </a:rPr>
              <a:t>▪ Across its 3 sub-segments, by brand ownership adds</a:t>
            </a:r>
          </a:p>
        </p:txBody>
      </p:sp>
      <p:pic>
        <p:nvPicPr>
          <p:cNvPr id="29" name="Picture 28" descr="lock.png"/>
          <p:cNvPicPr>
            <a:picLocks noChangeAspect="1"/>
          </p:cNvPicPr>
          <p:nvPr/>
        </p:nvPicPr>
        <p:blipFill>
          <a:blip r:embed="rId7"/>
          <a:stretch>
            <a:fillRect/>
          </a:stretch>
        </p:blipFill>
        <p:spPr>
          <a:xfrm>
            <a:off x="9512911" y="4276026"/>
            <a:ext cx="134549" cy="195707"/>
          </a:xfrm>
          <a:prstGeom prst="rect">
            <a:avLst/>
          </a:prstGeom>
        </p:spPr>
      </p:pic>
      <p:sp>
        <p:nvSpPr>
          <p:cNvPr id="30" name="TextBox 29"/>
          <p:cNvSpPr txBox="1"/>
          <p:nvPr/>
        </p:nvSpPr>
        <p:spPr>
          <a:xfrm>
            <a:off x="9688020" y="4286250"/>
            <a:ext cx="1811970" cy="194310"/>
          </a:xfrm>
          <a:prstGeom prst="rect">
            <a:avLst/>
          </a:prstGeom>
          <a:noFill/>
        </p:spPr>
        <p:txBody>
          <a:bodyPr wrap="none" lIns="0" rIns="0" tIns="0" bIns="0">
            <a:spAutoFit/>
          </a:bodyPr>
          <a:lstStyle/>
          <a:p>
            <a:r>
              <a:rPr sz="1150" b="0">
                <a:solidFill>
                  <a:srgbClr val="2E2E2E"/>
                </a:solidFill>
                <a:latin typeface="Calibri"/>
              </a:rPr>
              <a:t>US$ Mn to the Global market</a:t>
            </a:r>
          </a:p>
        </p:txBody>
      </p:sp>
      <p:sp>
        <p:nvSpPr>
          <p:cNvPr id="31" name="TextBox 30"/>
          <p:cNvSpPr txBox="1"/>
          <p:nvPr/>
        </p:nvSpPr>
        <p:spPr>
          <a:xfrm>
            <a:off x="6305550" y="4461510"/>
            <a:ext cx="1554100" cy="194310"/>
          </a:xfrm>
          <a:prstGeom prst="rect">
            <a:avLst/>
          </a:prstGeom>
          <a:noFill/>
        </p:spPr>
        <p:txBody>
          <a:bodyPr wrap="none" lIns="0" rIns="0" tIns="0" bIns="0">
            <a:spAutoFit/>
          </a:bodyPr>
          <a:lstStyle/>
          <a:p>
            <a:r>
              <a:rPr sz="1150" b="0">
                <a:solidFill>
                  <a:srgbClr val="2E2E2E"/>
                </a:solidFill>
                <a:latin typeface="Calibri"/>
              </a:rPr>
              <a:t>between 2026 and 2036.</a:t>
            </a:r>
          </a:p>
        </p:txBody>
      </p:sp>
      <p:sp>
        <p:nvSpPr>
          <p:cNvPr id="32" name="TextBox 31"/>
          <p:cNvSpPr txBox="1"/>
          <p:nvPr/>
        </p:nvSpPr>
        <p:spPr>
          <a:xfrm>
            <a:off x="6305550" y="4689347"/>
            <a:ext cx="1829941" cy="194310"/>
          </a:xfrm>
          <a:prstGeom prst="rect">
            <a:avLst/>
          </a:prstGeom>
          <a:noFill/>
        </p:spPr>
        <p:txBody>
          <a:bodyPr wrap="none" lIns="0" rIns="0" tIns="0" bIns="0">
            <a:spAutoFit/>
          </a:bodyPr>
          <a:lstStyle/>
          <a:p>
            <a:r>
              <a:rPr sz="1150" b="0">
                <a:solidFill>
                  <a:srgbClr val="2E2E2E"/>
                </a:solidFill>
                <a:latin typeface="Calibri"/>
              </a:rPr>
              <a:t>▪ 'Retailer private labels' adds</a:t>
            </a:r>
          </a:p>
        </p:txBody>
      </p:sp>
      <p:pic>
        <p:nvPicPr>
          <p:cNvPr id="33" name="Picture 32" descr="lock.png"/>
          <p:cNvPicPr>
            <a:picLocks noChangeAspect="1"/>
          </p:cNvPicPr>
          <p:nvPr/>
        </p:nvPicPr>
        <p:blipFill>
          <a:blip r:embed="rId7"/>
          <a:stretch>
            <a:fillRect/>
          </a:stretch>
        </p:blipFill>
        <p:spPr>
          <a:xfrm>
            <a:off x="8084644" y="4679124"/>
            <a:ext cx="134549" cy="195707"/>
          </a:xfrm>
          <a:prstGeom prst="rect">
            <a:avLst/>
          </a:prstGeom>
        </p:spPr>
      </p:pic>
      <p:sp>
        <p:nvSpPr>
          <p:cNvPr id="34" name="TextBox 33"/>
          <p:cNvSpPr txBox="1"/>
          <p:nvPr/>
        </p:nvSpPr>
        <p:spPr>
          <a:xfrm>
            <a:off x="8259754"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8832225" y="4679124"/>
            <a:ext cx="134549" cy="195707"/>
          </a:xfrm>
          <a:prstGeom prst="rect">
            <a:avLst/>
          </a:prstGeom>
        </p:spPr>
      </p:pic>
      <p:sp>
        <p:nvSpPr>
          <p:cNvPr id="36" name="TextBox 35"/>
          <p:cNvSpPr txBox="1"/>
          <p:nvPr/>
        </p:nvSpPr>
        <p:spPr>
          <a:xfrm>
            <a:off x="9007334"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1805409" cy="194310"/>
          </a:xfrm>
          <a:prstGeom prst="rect">
            <a:avLst/>
          </a:prstGeom>
          <a:noFill/>
        </p:spPr>
        <p:txBody>
          <a:bodyPr wrap="none" lIns="0" rIns="0" tIns="0" bIns="0">
            <a:spAutoFit/>
          </a:bodyPr>
          <a:lstStyle/>
          <a:p>
            <a:r>
              <a:rPr sz="1150" b="0">
                <a:solidFill>
                  <a:srgbClr val="2E2E2E"/>
                </a:solidFill>
                <a:latin typeface="Calibri"/>
              </a:rPr>
              <a:t>▪ 'Manufacturer brands' adds</a:t>
            </a:r>
          </a:p>
        </p:txBody>
      </p:sp>
      <p:pic>
        <p:nvPicPr>
          <p:cNvPr id="38" name="Picture 37" descr="lock.png"/>
          <p:cNvPicPr>
            <a:picLocks noChangeAspect="1"/>
          </p:cNvPicPr>
          <p:nvPr/>
        </p:nvPicPr>
        <p:blipFill>
          <a:blip r:embed="rId7"/>
          <a:stretch>
            <a:fillRect/>
          </a:stretch>
        </p:blipFill>
        <p:spPr>
          <a:xfrm>
            <a:off x="8060113" y="4906962"/>
            <a:ext cx="134549" cy="195707"/>
          </a:xfrm>
          <a:prstGeom prst="rect">
            <a:avLst/>
          </a:prstGeom>
        </p:spPr>
      </p:pic>
      <p:sp>
        <p:nvSpPr>
          <p:cNvPr id="39" name="TextBox 38"/>
          <p:cNvSpPr txBox="1"/>
          <p:nvPr/>
        </p:nvSpPr>
        <p:spPr>
          <a:xfrm>
            <a:off x="8235222"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8807693" y="4906962"/>
            <a:ext cx="134549" cy="195707"/>
          </a:xfrm>
          <a:prstGeom prst="rect">
            <a:avLst/>
          </a:prstGeom>
        </p:spPr>
      </p:pic>
      <p:sp>
        <p:nvSpPr>
          <p:cNvPr id="41" name="TextBox 40"/>
          <p:cNvSpPr txBox="1"/>
          <p:nvPr/>
        </p:nvSpPr>
        <p:spPr>
          <a:xfrm>
            <a:off x="8982802"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2340229" cy="194310"/>
          </a:xfrm>
          <a:prstGeom prst="rect">
            <a:avLst/>
          </a:prstGeom>
          <a:noFill/>
        </p:spPr>
        <p:txBody>
          <a:bodyPr wrap="none" lIns="0" rIns="0" tIns="0" bIns="0">
            <a:spAutoFit/>
          </a:bodyPr>
          <a:lstStyle/>
          <a:p>
            <a:r>
              <a:rPr sz="1150" b="0">
                <a:solidFill>
                  <a:srgbClr val="2E2E2E"/>
                </a:solidFill>
                <a:latin typeface="Calibri"/>
              </a:rPr>
              <a:t>▪ 'Foodservice / operator brands' adds</a:t>
            </a:r>
          </a:p>
        </p:txBody>
      </p:sp>
      <p:pic>
        <p:nvPicPr>
          <p:cNvPr id="43" name="Picture 42" descr="lock.png"/>
          <p:cNvPicPr>
            <a:picLocks noChangeAspect="1"/>
          </p:cNvPicPr>
          <p:nvPr/>
        </p:nvPicPr>
        <p:blipFill>
          <a:blip r:embed="rId7"/>
          <a:stretch>
            <a:fillRect/>
          </a:stretch>
        </p:blipFill>
        <p:spPr>
          <a:xfrm>
            <a:off x="8594932" y="5134800"/>
            <a:ext cx="134549" cy="195707"/>
          </a:xfrm>
          <a:prstGeom prst="rect">
            <a:avLst/>
          </a:prstGeom>
        </p:spPr>
      </p:pic>
      <p:sp>
        <p:nvSpPr>
          <p:cNvPr id="44" name="TextBox 43"/>
          <p:cNvSpPr txBox="1"/>
          <p:nvPr/>
        </p:nvSpPr>
        <p:spPr>
          <a:xfrm>
            <a:off x="8770042"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9342513" y="5134800"/>
            <a:ext cx="134549" cy="195707"/>
          </a:xfrm>
          <a:prstGeom prst="rect">
            <a:avLst/>
          </a:prstGeom>
        </p:spPr>
      </p:pic>
      <p:sp>
        <p:nvSpPr>
          <p:cNvPr id="46" name="TextBox 45"/>
          <p:cNvSpPr txBox="1"/>
          <p:nvPr/>
        </p:nvSpPr>
        <p:spPr>
          <a:xfrm>
            <a:off x="9517622"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Brand Ownership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76500"/>
          </a:xfrm>
          <a:prstGeom prst="roundRect">
            <a:avLst>
              <a:gd name="adj" fmla="val 30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Brand Ownership (MT)</a:t>
            </a:r>
          </a:p>
        </p:txBody>
      </p:sp>
      <p:graphicFrame>
        <p:nvGraphicFramePr>
          <p:cNvPr id="13" name="Table 12"/>
          <p:cNvGraphicFramePr>
            <a:graphicFrameLocks noGrp="1"/>
          </p:cNvGraphicFramePr>
          <p:nvPr/>
        </p:nvGraphicFramePr>
        <p:xfrm>
          <a:off x="152400" y="1238250"/>
          <a:ext cx="11887208" cy="2009773"/>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Brand Ownership</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40912">
                <a:tc>
                  <a:txBody>
                    <a:bodyPr wrap="none"/>
                    <a:lstStyle/>
                    <a:p>
                      <a:pPr algn="l"/>
                      <a:r>
                        <a:rPr sz="1100" b="1">
                          <a:solidFill>
                            <a:srgbClr val="2E2E2E"/>
                          </a:solidFill>
                          <a:latin typeface="Calibri"/>
                        </a:rPr>
                        <a:t>Manufacturer</a:t>
                      </a:r>
                      <a:endParaRPr sz="1100"/>
                    </a:p>
                    <a:p>
                      <a:pPr algn="l"/>
                      <a:r>
                        <a:rPr sz="1100" b="1">
                          <a:solidFill>
                            <a:srgbClr val="2E2E2E"/>
                          </a:solidFill>
                          <a:latin typeface="Calibri"/>
                        </a:rPr>
                        <a:t>brands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40912">
                <a:tc>
                  <a:txBody>
                    <a:bodyPr wrap="none"/>
                    <a:lstStyle/>
                    <a:p>
                      <a:pPr algn="l"/>
                      <a:r>
                        <a:rPr sz="1100" b="1">
                          <a:solidFill>
                            <a:srgbClr val="2E2E2E"/>
                          </a:solidFill>
                          <a:latin typeface="Calibri"/>
                        </a:rPr>
                        <a:t>Retailer private</a:t>
                      </a:r>
                      <a:endParaRPr sz="1100"/>
                    </a:p>
                    <a:p>
                      <a:pPr algn="l"/>
                      <a:r>
                        <a:rPr sz="1100" b="1">
                          <a:solidFill>
                            <a:srgbClr val="2E2E2E"/>
                          </a:solidFill>
                          <a:latin typeface="Calibri"/>
                        </a:rPr>
                        <a:t>labels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40912">
                <a:tc>
                  <a:txBody>
                    <a:bodyPr wrap="none"/>
                    <a:lstStyle/>
                    <a:p>
                      <a:pPr algn="l"/>
                      <a:r>
                        <a:rPr sz="1100" b="1">
                          <a:solidFill>
                            <a:srgbClr val="2E2E2E"/>
                          </a:solidFill>
                          <a:latin typeface="Calibri"/>
                        </a:rPr>
                        <a:t>Foodservice /</a:t>
                      </a:r>
                      <a:endParaRPr sz="1100"/>
                    </a:p>
                    <a:p>
                      <a:pPr algn="l"/>
                      <a:r>
                        <a:rPr sz="1100" b="1">
                          <a:solidFill>
                            <a:srgbClr val="2E2E2E"/>
                          </a:solidFill>
                          <a:latin typeface="Calibri"/>
                        </a:rPr>
                        <a:t>operator brands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8125">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257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90925"/>
            <a:ext cx="11906250" cy="3038475"/>
          </a:xfrm>
          <a:prstGeom prst="roundRect">
            <a:avLst>
              <a:gd name="adj" fmla="val 250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766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Brand Ownership</a:t>
            </a:r>
          </a:p>
        </p:txBody>
      </p:sp>
      <p:sp>
        <p:nvSpPr>
          <p:cNvPr id="17" name="Rectangle 16"/>
          <p:cNvSpPr/>
          <p:nvPr/>
        </p:nvSpPr>
        <p:spPr>
          <a:xfrm>
            <a:off x="276225" y="39147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00500"/>
            <a:ext cx="11639550" cy="25527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195893"/>
            <a:ext cx="366712" cy="533400"/>
          </a:xfrm>
          <a:prstGeom prst="rect">
            <a:avLst/>
          </a:prstGeom>
        </p:spPr>
      </p:pic>
      <p:sp>
        <p:nvSpPr>
          <p:cNvPr id="21" name="TextBox 20"/>
          <p:cNvSpPr txBox="1"/>
          <p:nvPr/>
        </p:nvSpPr>
        <p:spPr>
          <a:xfrm>
            <a:off x="276225" y="4010025"/>
            <a:ext cx="3478138" cy="194310"/>
          </a:xfrm>
          <a:prstGeom prst="rect">
            <a:avLst/>
          </a:prstGeom>
          <a:noFill/>
        </p:spPr>
        <p:txBody>
          <a:bodyPr wrap="none" lIns="0" rIns="0" tIns="0" bIns="0">
            <a:spAutoFit/>
          </a:bodyPr>
          <a:lstStyle/>
          <a:p>
            <a:r>
              <a:rPr sz="1150" b="0">
                <a:solidFill>
                  <a:srgbClr val="2E2E2E"/>
                </a:solidFill>
                <a:latin typeface="Calibri"/>
              </a:rPr>
              <a:t>▪ 'Manufacturer brands' is the largest brand ownership at</a:t>
            </a:r>
          </a:p>
        </p:txBody>
      </p:sp>
      <p:pic>
        <p:nvPicPr>
          <p:cNvPr id="22" name="Picture 21" descr="lock.png"/>
          <p:cNvPicPr>
            <a:picLocks noChangeAspect="1"/>
          </p:cNvPicPr>
          <p:nvPr/>
        </p:nvPicPr>
        <p:blipFill>
          <a:blip r:embed="rId4"/>
          <a:stretch>
            <a:fillRect/>
          </a:stretch>
        </p:blipFill>
        <p:spPr>
          <a:xfrm>
            <a:off x="3703517" y="3999801"/>
            <a:ext cx="134549" cy="195707"/>
          </a:xfrm>
          <a:prstGeom prst="rect">
            <a:avLst/>
          </a:prstGeom>
        </p:spPr>
      </p:pic>
      <p:sp>
        <p:nvSpPr>
          <p:cNvPr id="23" name="TextBox 22"/>
          <p:cNvSpPr txBox="1"/>
          <p:nvPr/>
        </p:nvSpPr>
        <p:spPr>
          <a:xfrm>
            <a:off x="3878626" y="4010025"/>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4908359" y="3999801"/>
            <a:ext cx="134549" cy="195707"/>
          </a:xfrm>
          <a:prstGeom prst="rect">
            <a:avLst/>
          </a:prstGeom>
        </p:spPr>
      </p:pic>
      <p:sp>
        <p:nvSpPr>
          <p:cNvPr id="25" name="TextBox 24"/>
          <p:cNvSpPr txBox="1"/>
          <p:nvPr/>
        </p:nvSpPr>
        <p:spPr>
          <a:xfrm>
            <a:off x="5083468" y="4010025"/>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4237863"/>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4227639"/>
            <a:ext cx="134549" cy="195707"/>
          </a:xfrm>
          <a:prstGeom prst="rect">
            <a:avLst/>
          </a:prstGeom>
        </p:spPr>
      </p:pic>
      <p:sp>
        <p:nvSpPr>
          <p:cNvPr id="28" name="TextBox 27"/>
          <p:cNvSpPr txBox="1"/>
          <p:nvPr/>
        </p:nvSpPr>
        <p:spPr>
          <a:xfrm>
            <a:off x="2740748" y="4237863"/>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465700"/>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4455477"/>
            <a:ext cx="134549" cy="195707"/>
          </a:xfrm>
          <a:prstGeom prst="rect">
            <a:avLst/>
          </a:prstGeom>
        </p:spPr>
      </p:pic>
      <p:sp>
        <p:nvSpPr>
          <p:cNvPr id="31" name="TextBox 30"/>
          <p:cNvSpPr txBox="1"/>
          <p:nvPr/>
        </p:nvSpPr>
        <p:spPr>
          <a:xfrm>
            <a:off x="3249926" y="4465700"/>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4455477"/>
            <a:ext cx="134549" cy="195707"/>
          </a:xfrm>
          <a:prstGeom prst="rect">
            <a:avLst/>
          </a:prstGeom>
        </p:spPr>
      </p:pic>
      <p:sp>
        <p:nvSpPr>
          <p:cNvPr id="33" name="TextBox 32"/>
          <p:cNvSpPr txBox="1"/>
          <p:nvPr/>
        </p:nvSpPr>
        <p:spPr>
          <a:xfrm>
            <a:off x="6125215" y="4465700"/>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693538"/>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683315"/>
            <a:ext cx="134549" cy="195707"/>
          </a:xfrm>
          <a:prstGeom prst="rect">
            <a:avLst/>
          </a:prstGeom>
        </p:spPr>
      </p:pic>
      <p:sp>
        <p:nvSpPr>
          <p:cNvPr id="36" name="TextBox 35"/>
          <p:cNvSpPr txBox="1"/>
          <p:nvPr/>
        </p:nvSpPr>
        <p:spPr>
          <a:xfrm>
            <a:off x="1965143" y="4693538"/>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683315"/>
            <a:ext cx="134549" cy="195707"/>
          </a:xfrm>
          <a:prstGeom prst="rect">
            <a:avLst/>
          </a:prstGeom>
        </p:spPr>
      </p:pic>
      <p:sp>
        <p:nvSpPr>
          <p:cNvPr id="38" name="TextBox 37"/>
          <p:cNvSpPr txBox="1"/>
          <p:nvPr/>
        </p:nvSpPr>
        <p:spPr>
          <a:xfrm>
            <a:off x="2291688" y="4693538"/>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Brand Ownership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Brand Ownership,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Brand Ownership (US$ Mn)</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2026843"/>
                <a:gridCol w="580021"/>
                <a:gridCol w="580021"/>
                <a:gridCol w="580021"/>
                <a:gridCol w="580021"/>
                <a:gridCol w="580021"/>
                <a:gridCol w="580021"/>
                <a:gridCol w="580021"/>
                <a:gridCol w="580021"/>
                <a:gridCol w="580021"/>
                <a:gridCol w="580021"/>
                <a:gridCol w="580021"/>
                <a:gridCol w="580021"/>
                <a:gridCol w="580021"/>
                <a:gridCol w="580021"/>
                <a:gridCol w="580021"/>
                <a:gridCol w="580021"/>
                <a:gridCol w="580021"/>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Brand Ownership</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22731" y="1713738"/>
            <a:ext cx="366712" cy="533400"/>
          </a:xfrm>
          <a:prstGeom prst="rect">
            <a:avLst/>
          </a:prstGeom>
        </p:spPr>
      </p:pic>
      <p:sp>
        <p:nvSpPr>
          <p:cNvPr id="21" name="TextBox 20"/>
          <p:cNvSpPr txBox="1"/>
          <p:nvPr/>
        </p:nvSpPr>
        <p:spPr>
          <a:xfrm>
            <a:off x="276225" y="3238500"/>
            <a:ext cx="3502669" cy="194310"/>
          </a:xfrm>
          <a:prstGeom prst="rect">
            <a:avLst/>
          </a:prstGeom>
          <a:noFill/>
        </p:spPr>
        <p:txBody>
          <a:bodyPr wrap="none" lIns="0" rIns="0" tIns="0" bIns="0">
            <a:spAutoFit/>
          </a:bodyPr>
          <a:lstStyle/>
          <a:p>
            <a:r>
              <a:rPr sz="1150" b="0">
                <a:solidFill>
                  <a:srgbClr val="2E2E2E"/>
                </a:solidFill>
                <a:latin typeface="Calibri"/>
              </a:rPr>
              <a:t>▪ 'Retailer private labels' is the largest brand ownership at</a:t>
            </a:r>
          </a:p>
        </p:txBody>
      </p:sp>
      <p:pic>
        <p:nvPicPr>
          <p:cNvPr id="22" name="Picture 21" descr="lock.png"/>
          <p:cNvPicPr>
            <a:picLocks noChangeAspect="1"/>
          </p:cNvPicPr>
          <p:nvPr/>
        </p:nvPicPr>
        <p:blipFill>
          <a:blip r:embed="rId4"/>
          <a:stretch>
            <a:fillRect/>
          </a:stretch>
        </p:blipFill>
        <p:spPr>
          <a:xfrm>
            <a:off x="3728048" y="3228276"/>
            <a:ext cx="134549" cy="195707"/>
          </a:xfrm>
          <a:prstGeom prst="rect">
            <a:avLst/>
          </a:prstGeom>
        </p:spPr>
      </p:pic>
      <p:sp>
        <p:nvSpPr>
          <p:cNvPr id="23" name="TextBox 22"/>
          <p:cNvSpPr txBox="1"/>
          <p:nvPr/>
        </p:nvSpPr>
        <p:spPr>
          <a:xfrm>
            <a:off x="3903158"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4809090" y="3228276"/>
            <a:ext cx="134549" cy="195707"/>
          </a:xfrm>
          <a:prstGeom prst="rect">
            <a:avLst/>
          </a:prstGeom>
        </p:spPr>
      </p:pic>
      <p:sp>
        <p:nvSpPr>
          <p:cNvPr id="25" name="TextBox 24"/>
          <p:cNvSpPr txBox="1"/>
          <p:nvPr/>
        </p:nvSpPr>
        <p:spPr>
          <a:xfrm>
            <a:off x="4984200"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340260" cy="194310"/>
          </a:xfrm>
          <a:prstGeom prst="rect">
            <a:avLst/>
          </a:prstGeom>
          <a:noFill/>
        </p:spPr>
        <p:txBody>
          <a:bodyPr wrap="none" lIns="0" rIns="0" tIns="0" bIns="0">
            <a:spAutoFit/>
          </a:bodyPr>
          <a:lstStyle/>
          <a:p>
            <a:r>
              <a:rPr sz="1150" b="0">
                <a:solidFill>
                  <a:srgbClr val="2E2E2E"/>
                </a:solidFill>
                <a:latin typeface="Calibri"/>
              </a:rPr>
              <a:t>▪ 'Retailer private labels' grows fastest</a:t>
            </a:r>
          </a:p>
        </p:txBody>
      </p:sp>
      <p:pic>
        <p:nvPicPr>
          <p:cNvPr id="27" name="Picture 26" descr="lock.png"/>
          <p:cNvPicPr>
            <a:picLocks noChangeAspect="1"/>
          </p:cNvPicPr>
          <p:nvPr/>
        </p:nvPicPr>
        <p:blipFill>
          <a:blip r:embed="rId4"/>
          <a:stretch>
            <a:fillRect/>
          </a:stretch>
        </p:blipFill>
        <p:spPr>
          <a:xfrm>
            <a:off x="2565639" y="3456114"/>
            <a:ext cx="134549" cy="195707"/>
          </a:xfrm>
          <a:prstGeom prst="rect">
            <a:avLst/>
          </a:prstGeom>
        </p:spPr>
      </p:pic>
      <p:sp>
        <p:nvSpPr>
          <p:cNvPr id="28" name="TextBox 27"/>
          <p:cNvSpPr txBox="1"/>
          <p:nvPr/>
        </p:nvSpPr>
        <p:spPr>
          <a:xfrm>
            <a:off x="2740748"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2849438" cy="194310"/>
          </a:xfrm>
          <a:prstGeom prst="rect">
            <a:avLst/>
          </a:prstGeom>
          <a:noFill/>
        </p:spPr>
        <p:txBody>
          <a:bodyPr wrap="none" lIns="0" rIns="0" tIns="0" bIns="0">
            <a:spAutoFit/>
          </a:bodyPr>
          <a:lstStyle/>
          <a:p>
            <a:r>
              <a:rPr sz="1150" b="0">
                <a:solidFill>
                  <a:srgbClr val="2E2E2E"/>
                </a:solidFill>
                <a:latin typeface="Calibri"/>
              </a:rPr>
              <a:t>▪ Share shifts toward 'Retailer private labels' (+</a:t>
            </a:r>
          </a:p>
        </p:txBody>
      </p:sp>
      <p:pic>
        <p:nvPicPr>
          <p:cNvPr id="30" name="Picture 29" descr="lock.png"/>
          <p:cNvPicPr>
            <a:picLocks noChangeAspect="1"/>
          </p:cNvPicPr>
          <p:nvPr/>
        </p:nvPicPr>
        <p:blipFill>
          <a:blip r:embed="rId4"/>
          <a:stretch>
            <a:fillRect/>
          </a:stretch>
        </p:blipFill>
        <p:spPr>
          <a:xfrm>
            <a:off x="3074817" y="3683952"/>
            <a:ext cx="134549" cy="195707"/>
          </a:xfrm>
          <a:prstGeom prst="rect">
            <a:avLst/>
          </a:prstGeom>
        </p:spPr>
      </p:pic>
      <p:sp>
        <p:nvSpPr>
          <p:cNvPr id="31" name="TextBox 30"/>
          <p:cNvSpPr txBox="1"/>
          <p:nvPr/>
        </p:nvSpPr>
        <p:spPr>
          <a:xfrm>
            <a:off x="3249926" y="3694175"/>
            <a:ext cx="2751025" cy="194310"/>
          </a:xfrm>
          <a:prstGeom prst="rect">
            <a:avLst/>
          </a:prstGeom>
          <a:noFill/>
        </p:spPr>
        <p:txBody>
          <a:bodyPr wrap="none" lIns="0" rIns="0" tIns="0" bIns="0">
            <a:spAutoFit/>
          </a:bodyPr>
          <a:lstStyle/>
          <a:p>
            <a:r>
              <a:rPr sz="1150" b="0">
                <a:solidFill>
                  <a:srgbClr val="2E2E2E"/>
                </a:solidFill>
                <a:latin typeface="Calibri"/>
              </a:rPr>
              <a:t>BPS) and away from 'Manufacturer brands' (-</a:t>
            </a:r>
          </a:p>
        </p:txBody>
      </p:sp>
      <p:pic>
        <p:nvPicPr>
          <p:cNvPr id="32" name="Picture 31" descr="lock.png"/>
          <p:cNvPicPr>
            <a:picLocks noChangeAspect="1"/>
          </p:cNvPicPr>
          <p:nvPr/>
        </p:nvPicPr>
        <p:blipFill>
          <a:blip r:embed="rId4"/>
          <a:stretch>
            <a:fillRect/>
          </a:stretch>
        </p:blipFill>
        <p:spPr>
          <a:xfrm>
            <a:off x="5950106" y="3683952"/>
            <a:ext cx="134549" cy="195707"/>
          </a:xfrm>
          <a:prstGeom prst="rect">
            <a:avLst/>
          </a:prstGeom>
        </p:spPr>
      </p:pic>
      <p:sp>
        <p:nvSpPr>
          <p:cNvPr id="33" name="TextBox 32"/>
          <p:cNvSpPr txBox="1"/>
          <p:nvPr/>
        </p:nvSpPr>
        <p:spPr>
          <a:xfrm>
            <a:off x="6125215"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Brand Ownership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Brand Ownership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Brand Ownership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1333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085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323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 operator brands</a:t>
            </a:r>
          </a:p>
        </p:txBody>
      </p:sp>
      <p:sp>
        <p:nvSpPr>
          <p:cNvPr id="19" name="BPS Value 1"/>
          <p:cNvSpPr txBox="1"/>
          <p:nvPr/>
        </p:nvSpPr>
        <p:spPr>
          <a:xfrm>
            <a:off x="6896100" y="199428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31079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330602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32298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Manufacturer brands</a:t>
            </a:r>
          </a:p>
        </p:txBody>
      </p:sp>
      <p:sp>
        <p:nvSpPr>
          <p:cNvPr id="23" name="BPS Value 2"/>
          <p:cNvSpPr txBox="1"/>
          <p:nvPr/>
        </p:nvSpPr>
        <p:spPr>
          <a:xfrm>
            <a:off x="6896100" y="329174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525490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52501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51739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Retailer private labels</a:t>
            </a:r>
          </a:p>
        </p:txBody>
      </p:sp>
      <p:sp>
        <p:nvSpPr>
          <p:cNvPr id="27" name="BPS Value 3"/>
          <p:cNvSpPr txBox="1"/>
          <p:nvPr/>
        </p:nvSpPr>
        <p:spPr>
          <a:xfrm>
            <a:off x="6896100" y="52358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Brand Ownership</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2886521" cy="194310"/>
          </a:xfrm>
          <a:prstGeom prst="rect">
            <a:avLst/>
          </a:prstGeom>
          <a:noFill/>
        </p:spPr>
        <p:txBody>
          <a:bodyPr wrap="none" lIns="0" rIns="0" tIns="0" bIns="0">
            <a:spAutoFit/>
          </a:bodyPr>
          <a:lstStyle/>
          <a:p>
            <a:r>
              <a:rPr sz="1150" b="0">
                <a:solidFill>
                  <a:srgbClr val="2E2E2E"/>
                </a:solidFill>
                <a:latin typeface="Calibri"/>
              </a:rPr>
              <a:t>▪ 'Retailer private labels' gains the most share +</a:t>
            </a:r>
          </a:p>
        </p:txBody>
      </p:sp>
      <p:pic>
        <p:nvPicPr>
          <p:cNvPr id="35" name="Picture 34" descr="lock.png"/>
          <p:cNvPicPr>
            <a:picLocks noChangeAspect="1"/>
          </p:cNvPicPr>
          <p:nvPr/>
        </p:nvPicPr>
        <p:blipFill>
          <a:blip r:embed="rId5"/>
          <a:stretch>
            <a:fillRect/>
          </a:stretch>
        </p:blipFill>
        <p:spPr>
          <a:xfrm>
            <a:off x="10665225" y="1389951"/>
            <a:ext cx="134549" cy="195707"/>
          </a:xfrm>
          <a:prstGeom prst="rect">
            <a:avLst/>
          </a:prstGeom>
        </p:spPr>
      </p:pic>
      <p:sp>
        <p:nvSpPr>
          <p:cNvPr id="36" name="TextBox 35"/>
          <p:cNvSpPr txBox="1"/>
          <p:nvPr/>
        </p:nvSpPr>
        <p:spPr>
          <a:xfrm>
            <a:off x="10840334" y="1400175"/>
            <a:ext cx="856654" cy="194310"/>
          </a:xfrm>
          <a:prstGeom prst="rect">
            <a:avLst/>
          </a:prstGeom>
          <a:noFill/>
        </p:spPr>
        <p:txBody>
          <a:bodyPr wrap="none" lIns="0" rIns="0" tIns="0" bIns="0">
            <a:spAutoFit/>
          </a:bodyPr>
          <a:lstStyle/>
          <a:p>
            <a:r>
              <a:rPr sz="1150" b="0">
                <a:solidFill>
                  <a:srgbClr val="2E2E2E"/>
                </a:solidFill>
                <a:latin typeface="Calibri"/>
              </a:rPr>
              <a:t>BPS between</a:t>
            </a:r>
          </a:p>
        </p:txBody>
      </p:sp>
      <p:sp>
        <p:nvSpPr>
          <p:cNvPr id="37" name="TextBox 36"/>
          <p:cNvSpPr txBox="1"/>
          <p:nvPr/>
        </p:nvSpPr>
        <p:spPr>
          <a:xfrm>
            <a:off x="7829550" y="1575435"/>
            <a:ext cx="2313446" cy="194310"/>
          </a:xfrm>
          <a:prstGeom prst="rect">
            <a:avLst/>
          </a:prstGeom>
          <a:noFill/>
        </p:spPr>
        <p:txBody>
          <a:bodyPr wrap="none" lIns="0" rIns="0" tIns="0" bIns="0">
            <a:spAutoFit/>
          </a:bodyPr>
          <a:lstStyle/>
          <a:p>
            <a:r>
              <a:rPr sz="1150" b="0">
                <a:solidFill>
                  <a:srgbClr val="2E2E2E"/>
                </a:solidFill>
                <a:latin typeface="Calibri"/>
              </a:rPr>
              <a:t>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2508560" cy="194310"/>
          </a:xfrm>
          <a:prstGeom prst="rect">
            <a:avLst/>
          </a:prstGeom>
          <a:noFill/>
        </p:spPr>
        <p:txBody>
          <a:bodyPr wrap="none" lIns="0" rIns="0" tIns="0" bIns="0">
            <a:spAutoFit/>
          </a:bodyPr>
          <a:lstStyle/>
          <a:p>
            <a:r>
              <a:rPr sz="1150" b="0">
                <a:solidFill>
                  <a:srgbClr val="2E2E2E"/>
                </a:solidFill>
                <a:latin typeface="Calibri"/>
              </a:rPr>
              <a:t>▪ 'Manufacturer brands' cedes the most -</a:t>
            </a:r>
          </a:p>
        </p:txBody>
      </p:sp>
      <p:pic>
        <p:nvPicPr>
          <p:cNvPr id="39" name="Picture 38" descr="lock.png"/>
          <p:cNvPicPr>
            <a:picLocks noChangeAspect="1"/>
          </p:cNvPicPr>
          <p:nvPr/>
        </p:nvPicPr>
        <p:blipFill>
          <a:blip r:embed="rId5"/>
          <a:stretch>
            <a:fillRect/>
          </a:stretch>
        </p:blipFill>
        <p:spPr>
          <a:xfrm>
            <a:off x="10287263" y="1793049"/>
            <a:ext cx="134549" cy="195707"/>
          </a:xfrm>
          <a:prstGeom prst="rect">
            <a:avLst/>
          </a:prstGeom>
        </p:spPr>
      </p:pic>
      <p:sp>
        <p:nvSpPr>
          <p:cNvPr id="40" name="TextBox 39"/>
          <p:cNvSpPr txBox="1"/>
          <p:nvPr/>
        </p:nvSpPr>
        <p:spPr>
          <a:xfrm>
            <a:off x="10462373" y="1803273"/>
            <a:ext cx="1179276" cy="194310"/>
          </a:xfrm>
          <a:prstGeom prst="rect">
            <a:avLst/>
          </a:prstGeom>
          <a:noFill/>
        </p:spPr>
        <p:txBody>
          <a:bodyPr wrap="none" lIns="0" rIns="0" tIns="0" bIns="0">
            <a:spAutoFit/>
          </a:bodyPr>
          <a:lstStyle/>
          <a:p>
            <a:r>
              <a:rPr sz="1150" b="0">
                <a:solidFill>
                  <a:srgbClr val="2E2E2E"/>
                </a:solidFill>
                <a:latin typeface="Calibri"/>
              </a:rPr>
              <a:t>BPS over the same</a:t>
            </a:r>
          </a:p>
        </p:txBody>
      </p:sp>
      <p:sp>
        <p:nvSpPr>
          <p:cNvPr id="41" name="TextBox 40"/>
          <p:cNvSpPr txBox="1"/>
          <p:nvPr/>
        </p:nvSpPr>
        <p:spPr>
          <a:xfrm>
            <a:off x="7829550" y="1978533"/>
            <a:ext cx="1015255" cy="194310"/>
          </a:xfrm>
          <a:prstGeom prst="rect">
            <a:avLst/>
          </a:prstGeom>
          <a:noFill/>
        </p:spPr>
        <p:txBody>
          <a:bodyPr wrap="none" lIns="0" rIns="0" tIns="0" bIns="0">
            <a:spAutoFit/>
          </a:bodyPr>
          <a:lstStyle/>
          <a:p>
            <a:r>
              <a:rPr sz="1150" b="0">
                <a:solidFill>
                  <a:srgbClr val="2E2E2E"/>
                </a:solidFill>
                <a:latin typeface="Calibri"/>
              </a:rPr>
              <a:t>window (</a:t>
            </a:r>
            <a:r>
              <a:rPr sz="1150" b="0">
                <a:solidFill>
                  <a:srgbClr val="E44D3A"/>
                </a:solidFill>
                <a:latin typeface="Calibri"/>
              </a:rPr>
              <a:t>red ▼</a:t>
            </a:r>
            <a:r>
              <a:rPr sz="1150" b="0">
                <a:solidFill>
                  <a:srgbClr val="2E2E2E"/>
                </a:solidFill>
                <a:latin typeface="Calibri"/>
              </a:rPr>
              <a:t>).</a:t>
            </a:r>
          </a:p>
        </p:txBody>
      </p:sp>
      <p:sp>
        <p:nvSpPr>
          <p:cNvPr id="42" name="TextBox 41"/>
          <p:cNvSpPr txBox="1"/>
          <p:nvPr/>
        </p:nvSpPr>
        <p:spPr>
          <a:xfrm>
            <a:off x="7829550" y="2206371"/>
            <a:ext cx="4024969" cy="194310"/>
          </a:xfrm>
          <a:prstGeom prst="rect">
            <a:avLst/>
          </a:prstGeom>
          <a:noFill/>
        </p:spPr>
        <p:txBody>
          <a:bodyPr wrap="none" lIns="0" rIns="0" tIns="0" bIns="0">
            <a:spAutoFit/>
          </a:bodyPr>
          <a:lstStyle/>
          <a:p>
            <a:r>
              <a:rPr sz="1150" b="0">
                <a:solidFill>
                  <a:srgbClr val="2E2E2E"/>
                </a:solidFill>
                <a:latin typeface="Calibri"/>
              </a:rPr>
              <a:t>▪ 'Retailer private labels' is the fastest-growing brand ownership at</a:t>
            </a:r>
          </a:p>
        </p:txBody>
      </p:sp>
      <p:pic>
        <p:nvPicPr>
          <p:cNvPr id="43" name="Picture 42" descr="lock.png"/>
          <p:cNvPicPr>
            <a:picLocks noChangeAspect="1"/>
          </p:cNvPicPr>
          <p:nvPr/>
        </p:nvPicPr>
        <p:blipFill>
          <a:blip r:embed="rId5"/>
          <a:stretch>
            <a:fillRect/>
          </a:stretch>
        </p:blipFill>
        <p:spPr>
          <a:xfrm>
            <a:off x="7815470" y="2371407"/>
            <a:ext cx="134549" cy="195707"/>
          </a:xfrm>
          <a:prstGeom prst="rect">
            <a:avLst/>
          </a:prstGeom>
        </p:spPr>
      </p:pic>
      <p:sp>
        <p:nvSpPr>
          <p:cNvPr id="44" name="TextBox 43"/>
          <p:cNvSpPr txBox="1"/>
          <p:nvPr/>
        </p:nvSpPr>
        <p:spPr>
          <a:xfrm>
            <a:off x="7990579" y="238163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60946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599245"/>
            <a:ext cx="134549" cy="195707"/>
          </a:xfrm>
          <a:prstGeom prst="rect">
            <a:avLst/>
          </a:prstGeom>
        </p:spPr>
      </p:pic>
      <p:sp>
        <p:nvSpPr>
          <p:cNvPr id="47" name="TextBox 46"/>
          <p:cNvSpPr txBox="1"/>
          <p:nvPr/>
        </p:nvSpPr>
        <p:spPr>
          <a:xfrm>
            <a:off x="9502779" y="260946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599245"/>
            <a:ext cx="134549" cy="195707"/>
          </a:xfrm>
          <a:prstGeom prst="rect">
            <a:avLst/>
          </a:prstGeom>
        </p:spPr>
      </p:pic>
      <p:sp>
        <p:nvSpPr>
          <p:cNvPr id="49" name="TextBox 48"/>
          <p:cNvSpPr txBox="1"/>
          <p:nvPr/>
        </p:nvSpPr>
        <p:spPr>
          <a:xfrm>
            <a:off x="9829324" y="260946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83730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3012566"/>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Brand Ownership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Brand Ownership,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Brand Ownership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990600"/>
        </p:xfrm>
        <a:graphic>
          <a:graphicData uri="http://schemas.openxmlformats.org/drawingml/2006/table">
            <a:tbl>
              <a:tblPr>
                <a:tableStyleId>{5C22544A-7EE6-4342-B048-85BDC9FD1C3A}</a:tableStyleId>
              </a:tblPr>
              <a:tblGrid>
                <a:gridCol w="2208341"/>
                <a:gridCol w="645257"/>
                <a:gridCol w="645257"/>
                <a:gridCol w="645257"/>
                <a:gridCol w="645257"/>
                <a:gridCol w="645257"/>
                <a:gridCol w="645257"/>
                <a:gridCol w="645257"/>
                <a:gridCol w="645257"/>
                <a:gridCol w="645257"/>
                <a:gridCol w="645257"/>
                <a:gridCol w="645257"/>
                <a:gridCol w="645257"/>
                <a:gridCol w="645257"/>
                <a:gridCol w="645257"/>
                <a:gridCol w="645257"/>
              </a:tblGrid>
              <a:tr h="246126">
                <a:tc>
                  <a:txBody>
                    <a:bodyPr wrap="none"/>
                    <a:lstStyle/>
                    <a:p>
                      <a:pPr algn="l"/>
                      <a:r>
                        <a:rPr sz="1100" b="1">
                          <a:solidFill>
                            <a:srgbClr val="0B2E4A"/>
                          </a:solidFill>
                          <a:latin typeface="Calibri"/>
                        </a:rPr>
                        <a:t>Brand Ownership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Manufacturer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Retailer private labels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Foodservice / operator brands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Brand Ownership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Manufacturer brands</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Retailer private labels</a:t>
            </a:r>
          </a:p>
        </p:txBody>
      </p:sp>
      <p:sp>
        <p:nvSpPr>
          <p:cNvPr id="49" name="Rectangle 48"/>
          <p:cNvSpPr/>
          <p:nvPr/>
        </p:nvSpPr>
        <p:spPr>
          <a:xfrm>
            <a:off x="1857375" y="4191000"/>
            <a:ext cx="643890" cy="1190625"/>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 operator brands</a:t>
            </a:r>
          </a:p>
        </p:txBody>
      </p:sp>
      <p:sp>
        <p:nvSpPr>
          <p:cNvPr id="65" name="Rectangle 64"/>
          <p:cNvSpPr/>
          <p:nvPr/>
        </p:nvSpPr>
        <p:spPr>
          <a:xfrm>
            <a:off x="1857375" y="5381625"/>
            <a:ext cx="643890" cy="1190625"/>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13478" y="1589913"/>
            <a:ext cx="366712" cy="533400"/>
          </a:xfrm>
          <a:prstGeom prst="rect">
            <a:avLst/>
          </a:prstGeom>
        </p:spPr>
      </p:pic>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Sales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Sales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Sales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Sales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Sales Channel segment categorizes the market by sales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Retail</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institutional</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Vending</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Sales Channel split shows how demand is distributed across sales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6_75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10_314_605E5C.png"/>
          <p:cNvPicPr>
            <a:picLocks noChangeAspect="1"/>
          </p:cNvPicPr>
          <p:nvPr/>
        </p:nvPicPr>
        <p:blipFill>
          <a:blip r:embed="rId5"/>
          <a:stretch>
            <a:fillRect/>
          </a:stretch>
        </p:blipFill>
        <p:spPr>
          <a:xfrm>
            <a:off x="2791165" y="2779432"/>
            <a:ext cx="1409020" cy="361950"/>
          </a:xfrm>
          <a:prstGeom prst="rect">
            <a:avLst/>
          </a:prstGeom>
        </p:spPr>
      </p:pic>
      <p:pic>
        <p:nvPicPr>
          <p:cNvPr id="59" name="Picture 58" descr="4_3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3_677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_68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6_2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466_5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746_6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4_8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316857" cy="186689"/>
          </a:xfrm>
          <a:prstGeom prst="rect">
            <a:avLst/>
          </a:prstGeom>
          <a:noFill/>
        </p:spPr>
        <p:txBody>
          <a:bodyPr wrap="none" lIns="0" rIns="0" tIns="0" bIns="0">
            <a:spAutoFit/>
          </a:bodyPr>
          <a:lstStyle/>
          <a:p>
            <a:r>
              <a:rPr sz="1100" b="0">
                <a:solidFill>
                  <a:srgbClr val="2E2E2E"/>
                </a:solidFill>
                <a:latin typeface="Calibri"/>
              </a:rPr>
              <a:t>▪ 'Retail' holds the largest share in 2026</a:t>
            </a:r>
          </a:p>
        </p:txBody>
      </p:sp>
      <p:pic>
        <p:nvPicPr>
          <p:cNvPr id="70" name="Picture 69" descr="lock.png"/>
          <p:cNvPicPr>
            <a:picLocks noChangeAspect="1"/>
          </p:cNvPicPr>
          <p:nvPr/>
        </p:nvPicPr>
        <p:blipFill>
          <a:blip r:embed="rId13"/>
          <a:stretch>
            <a:fillRect/>
          </a:stretch>
        </p:blipFill>
        <p:spPr>
          <a:xfrm>
            <a:off x="2750683" y="4219658"/>
            <a:ext cx="128699" cy="187198"/>
          </a:xfrm>
          <a:prstGeom prst="rect">
            <a:avLst/>
          </a:prstGeom>
        </p:spPr>
      </p:pic>
      <p:sp>
        <p:nvSpPr>
          <p:cNvPr id="71" name="TextBox 70"/>
          <p:cNvSpPr txBox="1"/>
          <p:nvPr/>
        </p:nvSpPr>
        <p:spPr>
          <a:xfrm>
            <a:off x="2918179" y="4229437"/>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72" name="TextBox 71"/>
          <p:cNvSpPr txBox="1"/>
          <p:nvPr/>
        </p:nvSpPr>
        <p:spPr>
          <a:xfrm>
            <a:off x="485775" y="4397077"/>
            <a:ext cx="939502" cy="186689"/>
          </a:xfrm>
          <a:prstGeom prst="rect">
            <a:avLst/>
          </a:prstGeom>
          <a:noFill/>
        </p:spPr>
        <p:txBody>
          <a:bodyPr wrap="none" lIns="0" rIns="0" tIns="0" bIns="0">
            <a:spAutoFit/>
          </a:bodyPr>
          <a:lstStyle/>
          <a:p>
            <a:r>
              <a:rPr sz="1100" b="0">
                <a:solidFill>
                  <a:srgbClr val="2E2E2E"/>
                </a:solidFill>
                <a:latin typeface="Calibri"/>
              </a:rPr>
              <a:t>segment value.</a:t>
            </a:r>
          </a:p>
        </p:txBody>
      </p:sp>
      <p:sp>
        <p:nvSpPr>
          <p:cNvPr id="73" name="TextBox 72"/>
          <p:cNvSpPr txBox="1"/>
          <p:nvPr/>
        </p:nvSpPr>
        <p:spPr>
          <a:xfrm>
            <a:off x="485775" y="4615009"/>
            <a:ext cx="2202502" cy="186689"/>
          </a:xfrm>
          <a:prstGeom prst="rect">
            <a:avLst/>
          </a:prstGeom>
          <a:noFill/>
        </p:spPr>
        <p:txBody>
          <a:bodyPr wrap="none" lIns="0" rIns="0" tIns="0" bIns="0">
            <a:spAutoFit/>
          </a:bodyPr>
          <a:lstStyle/>
          <a:p>
            <a:r>
              <a:rPr sz="1100" b="0">
                <a:solidFill>
                  <a:srgbClr val="2E2E2E"/>
                </a:solidFill>
                <a:latin typeface="Calibri"/>
              </a:rPr>
              <a:t>▪ 'Foodservice and institutional' is the</a:t>
            </a:r>
          </a:p>
        </p:txBody>
      </p:sp>
      <p:sp>
        <p:nvSpPr>
          <p:cNvPr id="74" name="TextBox 73"/>
          <p:cNvSpPr txBox="1"/>
          <p:nvPr/>
        </p:nvSpPr>
        <p:spPr>
          <a:xfrm>
            <a:off x="485775" y="4782649"/>
            <a:ext cx="1873200" cy="186689"/>
          </a:xfrm>
          <a:prstGeom prst="rect">
            <a:avLst/>
          </a:prstGeom>
          <a:noFill/>
        </p:spPr>
        <p:txBody>
          <a:bodyPr wrap="none" lIns="0" rIns="0" tIns="0" bIns="0">
            <a:spAutoFit/>
          </a:bodyPr>
          <a:lstStyle/>
          <a:p>
            <a:r>
              <a:rPr sz="1100" b="0">
                <a:solidFill>
                  <a:srgbClr val="2E2E2E"/>
                </a:solidFill>
                <a:latin typeface="Calibri"/>
              </a:rPr>
              <a:t>fastest-growing sub-segment at</a:t>
            </a:r>
          </a:p>
        </p:txBody>
      </p:sp>
      <p:pic>
        <p:nvPicPr>
          <p:cNvPr id="75" name="Picture 74" descr="lock.png"/>
          <p:cNvPicPr>
            <a:picLocks noChangeAspect="1"/>
          </p:cNvPicPr>
          <p:nvPr/>
        </p:nvPicPr>
        <p:blipFill>
          <a:blip r:embed="rId13"/>
          <a:stretch>
            <a:fillRect/>
          </a:stretch>
        </p:blipFill>
        <p:spPr>
          <a:xfrm>
            <a:off x="2307026" y="4772870"/>
            <a:ext cx="128699" cy="187198"/>
          </a:xfrm>
          <a:prstGeom prst="rect">
            <a:avLst/>
          </a:prstGeom>
        </p:spPr>
      </p:pic>
      <p:sp>
        <p:nvSpPr>
          <p:cNvPr id="76" name="TextBox 75"/>
          <p:cNvSpPr txBox="1"/>
          <p:nvPr/>
        </p:nvSpPr>
        <p:spPr>
          <a:xfrm>
            <a:off x="2474522" y="4782649"/>
            <a:ext cx="882459" cy="186689"/>
          </a:xfrm>
          <a:prstGeom prst="rect">
            <a:avLst/>
          </a:prstGeom>
          <a:noFill/>
        </p:spPr>
        <p:txBody>
          <a:bodyPr wrap="none" lIns="0" rIns="0" tIns="0" bIns="0">
            <a:spAutoFit/>
          </a:bodyPr>
          <a:lstStyle/>
          <a:p>
            <a:r>
              <a:rPr sz="1100" b="0">
                <a:solidFill>
                  <a:srgbClr val="2E2E2E"/>
                </a:solidFill>
                <a:latin typeface="Calibri"/>
              </a:rPr>
              <a:t>CAGR through</a:t>
            </a:r>
          </a:p>
        </p:txBody>
      </p:sp>
      <p:sp>
        <p:nvSpPr>
          <p:cNvPr id="77" name="TextBox 76"/>
          <p:cNvSpPr txBox="1"/>
          <p:nvPr/>
        </p:nvSpPr>
        <p:spPr>
          <a:xfrm>
            <a:off x="485775" y="49502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8" name="TextBox 77"/>
          <p:cNvSpPr txBox="1"/>
          <p:nvPr/>
        </p:nvSpPr>
        <p:spPr>
          <a:xfrm>
            <a:off x="485775" y="5168221"/>
            <a:ext cx="1806624" cy="186689"/>
          </a:xfrm>
          <a:prstGeom prst="rect">
            <a:avLst/>
          </a:prstGeom>
          <a:noFill/>
        </p:spPr>
        <p:txBody>
          <a:bodyPr wrap="none" lIns="0" rIns="0" tIns="0" bIns="0">
            <a:spAutoFit/>
          </a:bodyPr>
          <a:lstStyle/>
          <a:p>
            <a:r>
              <a:rPr sz="1100" b="0">
                <a:solidFill>
                  <a:srgbClr val="2E2E2E"/>
                </a:solidFill>
                <a:latin typeface="Calibri"/>
              </a:rPr>
              <a:t>▪ Segment value expands from</a:t>
            </a:r>
          </a:p>
        </p:txBody>
      </p:sp>
      <p:pic>
        <p:nvPicPr>
          <p:cNvPr id="79" name="Picture 78" descr="lock.png"/>
          <p:cNvPicPr>
            <a:picLocks noChangeAspect="1"/>
          </p:cNvPicPr>
          <p:nvPr/>
        </p:nvPicPr>
        <p:blipFill>
          <a:blip r:embed="rId13"/>
          <a:stretch>
            <a:fillRect/>
          </a:stretch>
        </p:blipFill>
        <p:spPr>
          <a:xfrm>
            <a:off x="2240451" y="5158441"/>
            <a:ext cx="128699" cy="187198"/>
          </a:xfrm>
          <a:prstGeom prst="rect">
            <a:avLst/>
          </a:prstGeom>
        </p:spPr>
      </p:pic>
      <p:sp>
        <p:nvSpPr>
          <p:cNvPr id="80" name="TextBox 79"/>
          <p:cNvSpPr txBox="1"/>
          <p:nvPr/>
        </p:nvSpPr>
        <p:spPr>
          <a:xfrm>
            <a:off x="2407947" y="5168221"/>
            <a:ext cx="196800" cy="186689"/>
          </a:xfrm>
          <a:prstGeom prst="rect">
            <a:avLst/>
          </a:prstGeom>
          <a:noFill/>
        </p:spPr>
        <p:txBody>
          <a:bodyPr wrap="none" lIns="0" rIns="0" tIns="0" bIns="0">
            <a:spAutoFit/>
          </a:bodyPr>
          <a:lstStyle/>
          <a:p>
            <a:r>
              <a:rPr sz="1100" b="0">
                <a:solidFill>
                  <a:srgbClr val="2E2E2E"/>
                </a:solidFill>
                <a:latin typeface="Calibri"/>
              </a:rPr>
              <a:t>to</a:t>
            </a:r>
          </a:p>
        </p:txBody>
      </p:sp>
      <p:pic>
        <p:nvPicPr>
          <p:cNvPr id="81" name="Picture 80" descr="lock.png"/>
          <p:cNvPicPr>
            <a:picLocks noChangeAspect="1"/>
          </p:cNvPicPr>
          <p:nvPr/>
        </p:nvPicPr>
        <p:blipFill>
          <a:blip r:embed="rId13"/>
          <a:stretch>
            <a:fillRect/>
          </a:stretch>
        </p:blipFill>
        <p:spPr>
          <a:xfrm>
            <a:off x="2552799" y="5158441"/>
            <a:ext cx="128699" cy="187198"/>
          </a:xfrm>
          <a:prstGeom prst="rect">
            <a:avLst/>
          </a:prstGeom>
        </p:spPr>
      </p:pic>
      <p:sp>
        <p:nvSpPr>
          <p:cNvPr id="82" name="TextBox 81"/>
          <p:cNvSpPr txBox="1"/>
          <p:nvPr/>
        </p:nvSpPr>
        <p:spPr>
          <a:xfrm>
            <a:off x="2720294" y="5168221"/>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3" name="TextBox 82"/>
          <p:cNvSpPr txBox="1"/>
          <p:nvPr/>
        </p:nvSpPr>
        <p:spPr>
          <a:xfrm>
            <a:off x="485775" y="5335861"/>
            <a:ext cx="1137865" cy="186689"/>
          </a:xfrm>
          <a:prstGeom prst="rect">
            <a:avLst/>
          </a:prstGeom>
          <a:noFill/>
        </p:spPr>
        <p:txBody>
          <a:bodyPr wrap="none" lIns="0" rIns="0" tIns="0" bIns="0">
            <a:spAutoFit/>
          </a:bodyPr>
          <a:lstStyle/>
          <a:p>
            <a:r>
              <a:rPr sz="1100" b="0">
                <a:solidFill>
                  <a:srgbClr val="2E2E2E"/>
                </a:solidFill>
                <a:latin typeface="Calibri"/>
              </a:rPr>
              <a:t>across 2026–2036.</a:t>
            </a:r>
          </a:p>
        </p:txBody>
      </p:sp>
      <p:sp>
        <p:nvSpPr>
          <p:cNvPr id="84" name="TextBox 83"/>
          <p:cNvSpPr txBox="1"/>
          <p:nvPr/>
        </p:nvSpPr>
        <p:spPr>
          <a:xfrm>
            <a:off x="485775" y="5553793"/>
            <a:ext cx="2582341" cy="186689"/>
          </a:xfrm>
          <a:prstGeom prst="rect">
            <a:avLst/>
          </a:prstGeom>
          <a:noFill/>
        </p:spPr>
        <p:txBody>
          <a:bodyPr wrap="none" lIns="0" rIns="0" tIns="0" bIns="0">
            <a:spAutoFit/>
          </a:bodyPr>
          <a:lstStyle/>
          <a:p>
            <a:r>
              <a:rPr sz="1100" b="0">
                <a:solidFill>
                  <a:srgbClr val="2E2E2E"/>
                </a:solidFill>
                <a:latin typeface="Calibri"/>
              </a:rPr>
              <a:t>▪ 3 sub-segments make up the sales channel</a:t>
            </a:r>
          </a:p>
        </p:txBody>
      </p:sp>
      <p:sp>
        <p:nvSpPr>
          <p:cNvPr id="85" name="TextBox 84"/>
          <p:cNvSpPr txBox="1"/>
          <p:nvPr/>
        </p:nvSpPr>
        <p:spPr>
          <a:xfrm>
            <a:off x="485775" y="5721433"/>
            <a:ext cx="680839" cy="186689"/>
          </a:xfrm>
          <a:prstGeom prst="rect">
            <a:avLst/>
          </a:prstGeom>
          <a:noFill/>
        </p:spPr>
        <p:txBody>
          <a:bodyPr wrap="none" lIns="0" rIns="0" tIns="0" bIns="0">
            <a:spAutoFit/>
          </a:bodyPr>
          <a:lstStyle/>
          <a:p>
            <a:r>
              <a:rPr sz="1100" b="0">
                <a:solidFill>
                  <a:srgbClr val="2E2E2E"/>
                </a:solidFill>
                <a:latin typeface="Calibri"/>
              </a:rPr>
              <a:t>landscape.</a:t>
            </a:r>
          </a:p>
        </p:txBody>
      </p:sp>
      <p:sp>
        <p:nvSpPr>
          <p:cNvPr id="86" name="TextBox 85"/>
          <p:cNvSpPr txBox="1"/>
          <p:nvPr/>
        </p:nvSpPr>
        <p:spPr>
          <a:xfrm>
            <a:off x="3838575" y="4229437"/>
            <a:ext cx="553144" cy="186689"/>
          </a:xfrm>
          <a:prstGeom prst="rect">
            <a:avLst/>
          </a:prstGeom>
          <a:noFill/>
        </p:spPr>
        <p:txBody>
          <a:bodyPr wrap="none" lIns="0" rIns="0" tIns="0" bIns="0">
            <a:spAutoFit/>
          </a:bodyPr>
          <a:lstStyle/>
          <a:p>
            <a:r>
              <a:rPr sz="1100" b="0">
                <a:solidFill>
                  <a:srgbClr val="2E2E2E"/>
                </a:solidFill>
                <a:latin typeface="Calibri"/>
              </a:rPr>
              <a:t>● Retail:</a:t>
            </a:r>
          </a:p>
        </p:txBody>
      </p:sp>
      <p:pic>
        <p:nvPicPr>
          <p:cNvPr id="87" name="Picture 86" descr="lock.png"/>
          <p:cNvPicPr>
            <a:picLocks noChangeAspect="1"/>
          </p:cNvPicPr>
          <p:nvPr/>
        </p:nvPicPr>
        <p:blipFill>
          <a:blip r:embed="rId13"/>
          <a:stretch>
            <a:fillRect/>
          </a:stretch>
        </p:blipFill>
        <p:spPr>
          <a:xfrm>
            <a:off x="4339771" y="4219658"/>
            <a:ext cx="128699" cy="187198"/>
          </a:xfrm>
          <a:prstGeom prst="rect">
            <a:avLst/>
          </a:prstGeom>
        </p:spPr>
      </p:pic>
      <p:sp>
        <p:nvSpPr>
          <p:cNvPr id="88" name="TextBox 87"/>
          <p:cNvSpPr txBox="1"/>
          <p:nvPr/>
        </p:nvSpPr>
        <p:spPr>
          <a:xfrm>
            <a:off x="4507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9" name="Picture 88" descr="lock.png"/>
          <p:cNvPicPr>
            <a:picLocks noChangeAspect="1"/>
          </p:cNvPicPr>
          <p:nvPr/>
        </p:nvPicPr>
        <p:blipFill>
          <a:blip r:embed="rId13"/>
          <a:stretch>
            <a:fillRect/>
          </a:stretch>
        </p:blipFill>
        <p:spPr>
          <a:xfrm>
            <a:off x="5366717" y="4219658"/>
            <a:ext cx="128699" cy="187198"/>
          </a:xfrm>
          <a:prstGeom prst="rect">
            <a:avLst/>
          </a:prstGeom>
        </p:spPr>
      </p:pic>
      <p:sp>
        <p:nvSpPr>
          <p:cNvPr id="90" name="TextBox 89"/>
          <p:cNvSpPr txBox="1"/>
          <p:nvPr/>
        </p:nvSpPr>
        <p:spPr>
          <a:xfrm>
            <a:off x="5534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91" name="TextBox 90"/>
          <p:cNvSpPr txBox="1"/>
          <p:nvPr/>
        </p:nvSpPr>
        <p:spPr>
          <a:xfrm>
            <a:off x="3838575" y="4447369"/>
            <a:ext cx="1873170" cy="186689"/>
          </a:xfrm>
          <a:prstGeom prst="rect">
            <a:avLst/>
          </a:prstGeom>
          <a:noFill/>
        </p:spPr>
        <p:txBody>
          <a:bodyPr wrap="none" lIns="0" rIns="0" tIns="0" bIns="0">
            <a:spAutoFit/>
          </a:bodyPr>
          <a:lstStyle/>
          <a:p>
            <a:r>
              <a:rPr sz="1100" b="0">
                <a:solidFill>
                  <a:srgbClr val="2E2E2E"/>
                </a:solidFill>
                <a:latin typeface="Calibri"/>
              </a:rPr>
              <a:t>● Foodservice and institutional:</a:t>
            </a:r>
          </a:p>
        </p:txBody>
      </p:sp>
      <p:pic>
        <p:nvPicPr>
          <p:cNvPr id="92" name="Picture 91" descr="lock.png"/>
          <p:cNvPicPr>
            <a:picLocks noChangeAspect="1"/>
          </p:cNvPicPr>
          <p:nvPr/>
        </p:nvPicPr>
        <p:blipFill>
          <a:blip r:embed="rId13"/>
          <a:stretch>
            <a:fillRect/>
          </a:stretch>
        </p:blipFill>
        <p:spPr>
          <a:xfrm>
            <a:off x="5659797" y="4437590"/>
            <a:ext cx="128699" cy="187198"/>
          </a:xfrm>
          <a:prstGeom prst="rect">
            <a:avLst/>
          </a:prstGeom>
        </p:spPr>
      </p:pic>
      <p:sp>
        <p:nvSpPr>
          <p:cNvPr id="93" name="TextBox 92"/>
          <p:cNvSpPr txBox="1"/>
          <p:nvPr/>
        </p:nvSpPr>
        <p:spPr>
          <a:xfrm>
            <a:off x="582729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4" name="Picture 93" descr="lock.png"/>
          <p:cNvPicPr>
            <a:picLocks noChangeAspect="1"/>
          </p:cNvPicPr>
          <p:nvPr/>
        </p:nvPicPr>
        <p:blipFill>
          <a:blip r:embed="rId13"/>
          <a:stretch>
            <a:fillRect/>
          </a:stretch>
        </p:blipFill>
        <p:spPr>
          <a:xfrm>
            <a:off x="6686743" y="4437590"/>
            <a:ext cx="128699" cy="187198"/>
          </a:xfrm>
          <a:prstGeom prst="rect">
            <a:avLst/>
          </a:prstGeom>
        </p:spPr>
      </p:pic>
      <p:sp>
        <p:nvSpPr>
          <p:cNvPr id="95" name="TextBox 94"/>
          <p:cNvSpPr txBox="1"/>
          <p:nvPr/>
        </p:nvSpPr>
        <p:spPr>
          <a:xfrm>
            <a:off x="6854239"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96" name="TextBox 9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97" name="TextBox 96"/>
          <p:cNvSpPr txBox="1"/>
          <p:nvPr/>
        </p:nvSpPr>
        <p:spPr>
          <a:xfrm>
            <a:off x="3838575" y="4832941"/>
            <a:ext cx="696664" cy="186689"/>
          </a:xfrm>
          <a:prstGeom prst="rect">
            <a:avLst/>
          </a:prstGeom>
          <a:noFill/>
        </p:spPr>
        <p:txBody>
          <a:bodyPr wrap="none" lIns="0" rIns="0" tIns="0" bIns="0">
            <a:spAutoFit/>
          </a:bodyPr>
          <a:lstStyle/>
          <a:p>
            <a:r>
              <a:rPr sz="1100" b="0">
                <a:solidFill>
                  <a:srgbClr val="2E2E2E"/>
                </a:solidFill>
                <a:latin typeface="Calibri"/>
              </a:rPr>
              <a:t>● Vending:</a:t>
            </a:r>
          </a:p>
        </p:txBody>
      </p:sp>
      <p:pic>
        <p:nvPicPr>
          <p:cNvPr id="98" name="Picture 97" descr="lock.png"/>
          <p:cNvPicPr>
            <a:picLocks noChangeAspect="1"/>
          </p:cNvPicPr>
          <p:nvPr/>
        </p:nvPicPr>
        <p:blipFill>
          <a:blip r:embed="rId13"/>
          <a:stretch>
            <a:fillRect/>
          </a:stretch>
        </p:blipFill>
        <p:spPr>
          <a:xfrm>
            <a:off x="4483291" y="4823162"/>
            <a:ext cx="128699" cy="187198"/>
          </a:xfrm>
          <a:prstGeom prst="rect">
            <a:avLst/>
          </a:prstGeom>
        </p:spPr>
      </p:pic>
      <p:sp>
        <p:nvSpPr>
          <p:cNvPr id="99" name="TextBox 98"/>
          <p:cNvSpPr txBox="1"/>
          <p:nvPr/>
        </p:nvSpPr>
        <p:spPr>
          <a:xfrm>
            <a:off x="4650786"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3"/>
          <a:stretch>
            <a:fillRect/>
          </a:stretch>
        </p:blipFill>
        <p:spPr>
          <a:xfrm>
            <a:off x="5510237" y="4823162"/>
            <a:ext cx="128699" cy="187198"/>
          </a:xfrm>
          <a:prstGeom prst="rect">
            <a:avLst/>
          </a:prstGeom>
        </p:spPr>
      </p:pic>
      <p:sp>
        <p:nvSpPr>
          <p:cNvPr id="101" name="TextBox 100"/>
          <p:cNvSpPr txBox="1"/>
          <p:nvPr/>
        </p:nvSpPr>
        <p:spPr>
          <a:xfrm>
            <a:off x="5677732"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2" name="TextBox 101"/>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Sales Channel segment is projected to grow at a</a:t>
            </a:r>
          </a:p>
        </p:txBody>
      </p:sp>
      <p:sp>
        <p:nvSpPr>
          <p:cNvPr id="103" name="TextBox 10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04" name="Picture 103" descr="lock.png"/>
          <p:cNvPicPr>
            <a:picLocks noChangeAspect="1"/>
          </p:cNvPicPr>
          <p:nvPr/>
        </p:nvPicPr>
        <p:blipFill>
          <a:blip r:embed="rId13"/>
          <a:stretch>
            <a:fillRect/>
          </a:stretch>
        </p:blipFill>
        <p:spPr>
          <a:xfrm>
            <a:off x="9048826" y="6007677"/>
            <a:ext cx="134549" cy="195707"/>
          </a:xfrm>
          <a:prstGeom prst="rect">
            <a:avLst/>
          </a:prstGeom>
        </p:spPr>
      </p:pic>
      <p:sp>
        <p:nvSpPr>
          <p:cNvPr id="105" name="TextBox 10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Sales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Sales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Sales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Sales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861685"/>
            <a:ext cx="5777949" cy="186689"/>
          </a:xfrm>
          <a:prstGeom prst="rect">
            <a:avLst/>
          </a:prstGeom>
          <a:noFill/>
        </p:spPr>
        <p:txBody>
          <a:bodyPr wrap="none" lIns="0" rIns="0" tIns="0" bIns="0">
            <a:spAutoFit/>
          </a:bodyPr>
          <a:lstStyle/>
          <a:p>
            <a:r>
              <a:rPr sz="1100" b="0">
                <a:solidFill>
                  <a:srgbClr val="2E2E2E"/>
                </a:solidFill>
                <a:latin typeface="Calibri"/>
              </a:rPr>
              <a:t>Between 2026 and 2036, 'Foodservice and institutional' gains the most share in the Global market (+</a:t>
            </a:r>
          </a:p>
        </p:txBody>
      </p:sp>
      <p:pic>
        <p:nvPicPr>
          <p:cNvPr id="21" name="Picture 20" descr="lock.png"/>
          <p:cNvPicPr>
            <a:picLocks noChangeAspect="1"/>
          </p:cNvPicPr>
          <p:nvPr/>
        </p:nvPicPr>
        <p:blipFill>
          <a:blip r:embed="rId6"/>
          <a:stretch>
            <a:fillRect/>
          </a:stretch>
        </p:blipFill>
        <p:spPr>
          <a:xfrm>
            <a:off x="5983175" y="5851905"/>
            <a:ext cx="128699" cy="187198"/>
          </a:xfrm>
          <a:prstGeom prst="rect">
            <a:avLst/>
          </a:prstGeom>
        </p:spPr>
      </p:pic>
      <p:sp>
        <p:nvSpPr>
          <p:cNvPr id="22" name="TextBox 21"/>
          <p:cNvSpPr txBox="1"/>
          <p:nvPr/>
        </p:nvSpPr>
        <p:spPr>
          <a:xfrm>
            <a:off x="6150671" y="5861685"/>
            <a:ext cx="1444823" cy="186689"/>
          </a:xfrm>
          <a:prstGeom prst="rect">
            <a:avLst/>
          </a:prstGeom>
          <a:noFill/>
        </p:spPr>
        <p:txBody>
          <a:bodyPr wrap="none" lIns="0" rIns="0" tIns="0" bIns="0">
            <a:spAutoFit/>
          </a:bodyPr>
          <a:lstStyle/>
          <a:p>
            <a:r>
              <a:rPr sz="1100" b="0">
                <a:solidFill>
                  <a:srgbClr val="2E2E2E"/>
                </a:solidFill>
                <a:latin typeface="Calibri"/>
              </a:rPr>
              <a:t>BPS) while 'Retail' cedes</a:t>
            </a:r>
          </a:p>
        </p:txBody>
      </p:sp>
      <p:pic>
        <p:nvPicPr>
          <p:cNvPr id="23" name="Picture 22" descr="lock.png"/>
          <p:cNvPicPr>
            <a:picLocks noChangeAspect="1"/>
          </p:cNvPicPr>
          <p:nvPr/>
        </p:nvPicPr>
        <p:blipFill>
          <a:blip r:embed="rId6"/>
          <a:stretch>
            <a:fillRect/>
          </a:stretch>
        </p:blipFill>
        <p:spPr>
          <a:xfrm>
            <a:off x="7543546" y="5851905"/>
            <a:ext cx="128699" cy="187198"/>
          </a:xfrm>
          <a:prstGeom prst="rect">
            <a:avLst/>
          </a:prstGeom>
        </p:spPr>
      </p:pic>
      <p:sp>
        <p:nvSpPr>
          <p:cNvPr id="24" name="TextBox 23"/>
          <p:cNvSpPr txBox="1"/>
          <p:nvPr/>
        </p:nvSpPr>
        <p:spPr>
          <a:xfrm>
            <a:off x="7711042" y="5861685"/>
            <a:ext cx="3615886" cy="186689"/>
          </a:xfrm>
          <a:prstGeom prst="rect">
            <a:avLst/>
          </a:prstGeom>
          <a:noFill/>
        </p:spPr>
        <p:txBody>
          <a:bodyPr wrap="none" lIns="0" rIns="0" tIns="0" bIns="0">
            <a:spAutoFit/>
          </a:bodyPr>
          <a:lstStyle/>
          <a:p>
            <a:r>
              <a:rPr sz="1100" b="0">
                <a:solidFill>
                  <a:srgbClr val="2E2E2E"/>
                </a:solidFill>
                <a:latin typeface="Calibri"/>
              </a:rPr>
              <a:t>BPS. Bubbles right of the CAGR-Index line grow faster than the</a:t>
            </a:r>
          </a:p>
        </p:txBody>
      </p:sp>
      <p:sp>
        <p:nvSpPr>
          <p:cNvPr id="25" name="TextBox 24"/>
          <p:cNvSpPr txBox="1"/>
          <p:nvPr/>
        </p:nvSpPr>
        <p:spPr>
          <a:xfrm>
            <a:off x="257175" y="602932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26"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Sales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Retail</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Foodservice and institutional</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Vending</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Sales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094826" y="5123309"/>
            <a:ext cx="263506" cy="383281"/>
          </a:xfrm>
          <a:prstGeom prst="rect">
            <a:avLst/>
          </a:prstGeom>
        </p:spPr>
      </p:pic>
      <p:sp>
        <p:nvSpPr>
          <p:cNvPr id="28" name="TextBox 27"/>
          <p:cNvSpPr txBox="1"/>
          <p:nvPr/>
        </p:nvSpPr>
        <p:spPr>
          <a:xfrm>
            <a:off x="6305550" y="4286250"/>
            <a:ext cx="3039702" cy="194310"/>
          </a:xfrm>
          <a:prstGeom prst="rect">
            <a:avLst/>
          </a:prstGeom>
          <a:noFill/>
        </p:spPr>
        <p:txBody>
          <a:bodyPr wrap="none" lIns="0" rIns="0" tIns="0" bIns="0">
            <a:spAutoFit/>
          </a:bodyPr>
          <a:lstStyle/>
          <a:p>
            <a:r>
              <a:rPr sz="1150" b="0">
                <a:solidFill>
                  <a:srgbClr val="2E2E2E"/>
                </a:solidFill>
                <a:latin typeface="Calibri"/>
              </a:rPr>
              <a:t>▪ Across its 3 sub-segments, by sales channel adds</a:t>
            </a:r>
          </a:p>
        </p:txBody>
      </p:sp>
      <p:pic>
        <p:nvPicPr>
          <p:cNvPr id="29" name="Picture 28" descr="lock.png"/>
          <p:cNvPicPr>
            <a:picLocks noChangeAspect="1"/>
          </p:cNvPicPr>
          <p:nvPr/>
        </p:nvPicPr>
        <p:blipFill>
          <a:blip r:embed="rId7"/>
          <a:stretch>
            <a:fillRect/>
          </a:stretch>
        </p:blipFill>
        <p:spPr>
          <a:xfrm>
            <a:off x="9294406" y="4276026"/>
            <a:ext cx="134549" cy="195707"/>
          </a:xfrm>
          <a:prstGeom prst="rect">
            <a:avLst/>
          </a:prstGeom>
        </p:spPr>
      </p:pic>
      <p:sp>
        <p:nvSpPr>
          <p:cNvPr id="30" name="TextBox 29"/>
          <p:cNvSpPr txBox="1"/>
          <p:nvPr/>
        </p:nvSpPr>
        <p:spPr>
          <a:xfrm>
            <a:off x="9469516" y="4286250"/>
            <a:ext cx="2370211" cy="194310"/>
          </a:xfrm>
          <a:prstGeom prst="rect">
            <a:avLst/>
          </a:prstGeom>
          <a:noFill/>
        </p:spPr>
        <p:txBody>
          <a:bodyPr wrap="none" lIns="0" rIns="0" tIns="0" bIns="0">
            <a:spAutoFit/>
          </a:bodyPr>
          <a:lstStyle/>
          <a:p>
            <a:r>
              <a:rPr sz="1150" b="0">
                <a:solidFill>
                  <a:srgbClr val="2E2E2E"/>
                </a:solidFill>
                <a:latin typeface="Calibri"/>
              </a:rPr>
              <a:t>US$ Mn to the Global market between</a:t>
            </a:r>
          </a:p>
        </p:txBody>
      </p:sp>
      <p:sp>
        <p:nvSpPr>
          <p:cNvPr id="31" name="TextBox 30"/>
          <p:cNvSpPr txBox="1"/>
          <p:nvPr/>
        </p:nvSpPr>
        <p:spPr>
          <a:xfrm>
            <a:off x="6305550" y="4461510"/>
            <a:ext cx="995858" cy="194310"/>
          </a:xfrm>
          <a:prstGeom prst="rect">
            <a:avLst/>
          </a:prstGeom>
          <a:noFill/>
        </p:spPr>
        <p:txBody>
          <a:bodyPr wrap="none" lIns="0" rIns="0" tIns="0" bIns="0">
            <a:spAutoFit/>
          </a:bodyPr>
          <a:lstStyle/>
          <a:p>
            <a:r>
              <a:rPr sz="1150" b="0">
                <a:solidFill>
                  <a:srgbClr val="2E2E2E"/>
                </a:solidFill>
                <a:latin typeface="Calibri"/>
              </a:rPr>
              <a:t>2026 and 2036.</a:t>
            </a:r>
          </a:p>
        </p:txBody>
      </p:sp>
      <p:sp>
        <p:nvSpPr>
          <p:cNvPr id="32" name="TextBox 31"/>
          <p:cNvSpPr txBox="1"/>
          <p:nvPr/>
        </p:nvSpPr>
        <p:spPr>
          <a:xfrm>
            <a:off x="6305550" y="4689347"/>
            <a:ext cx="877192" cy="194310"/>
          </a:xfrm>
          <a:prstGeom prst="rect">
            <a:avLst/>
          </a:prstGeom>
          <a:noFill/>
        </p:spPr>
        <p:txBody>
          <a:bodyPr wrap="none" lIns="0" rIns="0" tIns="0" bIns="0">
            <a:spAutoFit/>
          </a:bodyPr>
          <a:lstStyle/>
          <a:p>
            <a:r>
              <a:rPr sz="1150" b="0">
                <a:solidFill>
                  <a:srgbClr val="2E2E2E"/>
                </a:solidFill>
                <a:latin typeface="Calibri"/>
              </a:rPr>
              <a:t>▪ 'Retail' adds</a:t>
            </a:r>
          </a:p>
        </p:txBody>
      </p:sp>
      <p:pic>
        <p:nvPicPr>
          <p:cNvPr id="33" name="Picture 32" descr="lock.png"/>
          <p:cNvPicPr>
            <a:picLocks noChangeAspect="1"/>
          </p:cNvPicPr>
          <p:nvPr/>
        </p:nvPicPr>
        <p:blipFill>
          <a:blip r:embed="rId7"/>
          <a:stretch>
            <a:fillRect/>
          </a:stretch>
        </p:blipFill>
        <p:spPr>
          <a:xfrm>
            <a:off x="7131896" y="4679124"/>
            <a:ext cx="134549" cy="195707"/>
          </a:xfrm>
          <a:prstGeom prst="rect">
            <a:avLst/>
          </a:prstGeom>
        </p:spPr>
      </p:pic>
      <p:sp>
        <p:nvSpPr>
          <p:cNvPr id="34" name="TextBox 33"/>
          <p:cNvSpPr txBox="1"/>
          <p:nvPr/>
        </p:nvSpPr>
        <p:spPr>
          <a:xfrm>
            <a:off x="7307006" y="4689347"/>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35" name="Picture 34" descr="lock.png"/>
          <p:cNvPicPr>
            <a:picLocks noChangeAspect="1"/>
          </p:cNvPicPr>
          <p:nvPr/>
        </p:nvPicPr>
        <p:blipFill>
          <a:blip r:embed="rId7"/>
          <a:stretch>
            <a:fillRect/>
          </a:stretch>
        </p:blipFill>
        <p:spPr>
          <a:xfrm>
            <a:off x="7879477" y="4679124"/>
            <a:ext cx="134549" cy="195707"/>
          </a:xfrm>
          <a:prstGeom prst="rect">
            <a:avLst/>
          </a:prstGeom>
        </p:spPr>
      </p:pic>
      <p:sp>
        <p:nvSpPr>
          <p:cNvPr id="36" name="TextBox 35"/>
          <p:cNvSpPr txBox="1"/>
          <p:nvPr/>
        </p:nvSpPr>
        <p:spPr>
          <a:xfrm>
            <a:off x="8054586" y="4689347"/>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37" name="TextBox 36"/>
          <p:cNvSpPr txBox="1"/>
          <p:nvPr/>
        </p:nvSpPr>
        <p:spPr>
          <a:xfrm>
            <a:off x="6305550" y="4917185"/>
            <a:ext cx="2257220" cy="194310"/>
          </a:xfrm>
          <a:prstGeom prst="rect">
            <a:avLst/>
          </a:prstGeom>
          <a:noFill/>
        </p:spPr>
        <p:txBody>
          <a:bodyPr wrap="none" lIns="0" rIns="0" tIns="0" bIns="0">
            <a:spAutoFit/>
          </a:bodyPr>
          <a:lstStyle/>
          <a:p>
            <a:r>
              <a:rPr sz="1150" b="0">
                <a:solidFill>
                  <a:srgbClr val="2E2E2E"/>
                </a:solidFill>
                <a:latin typeface="Calibri"/>
              </a:rPr>
              <a:t>▪ 'Foodservice and institutional' adds</a:t>
            </a:r>
          </a:p>
        </p:txBody>
      </p:sp>
      <p:pic>
        <p:nvPicPr>
          <p:cNvPr id="38" name="Picture 37" descr="lock.png"/>
          <p:cNvPicPr>
            <a:picLocks noChangeAspect="1"/>
          </p:cNvPicPr>
          <p:nvPr/>
        </p:nvPicPr>
        <p:blipFill>
          <a:blip r:embed="rId7"/>
          <a:stretch>
            <a:fillRect/>
          </a:stretch>
        </p:blipFill>
        <p:spPr>
          <a:xfrm>
            <a:off x="8511924" y="4906962"/>
            <a:ext cx="134549" cy="195707"/>
          </a:xfrm>
          <a:prstGeom prst="rect">
            <a:avLst/>
          </a:prstGeom>
        </p:spPr>
      </p:pic>
      <p:sp>
        <p:nvSpPr>
          <p:cNvPr id="39" name="TextBox 38"/>
          <p:cNvSpPr txBox="1"/>
          <p:nvPr/>
        </p:nvSpPr>
        <p:spPr>
          <a:xfrm>
            <a:off x="8687033" y="491718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0" name="Picture 39" descr="lock.png"/>
          <p:cNvPicPr>
            <a:picLocks noChangeAspect="1"/>
          </p:cNvPicPr>
          <p:nvPr/>
        </p:nvPicPr>
        <p:blipFill>
          <a:blip r:embed="rId7"/>
          <a:stretch>
            <a:fillRect/>
          </a:stretch>
        </p:blipFill>
        <p:spPr>
          <a:xfrm>
            <a:off x="9259504" y="4906962"/>
            <a:ext cx="134549" cy="195707"/>
          </a:xfrm>
          <a:prstGeom prst="rect">
            <a:avLst/>
          </a:prstGeom>
        </p:spPr>
      </p:pic>
      <p:sp>
        <p:nvSpPr>
          <p:cNvPr id="41" name="TextBox 40"/>
          <p:cNvSpPr txBox="1"/>
          <p:nvPr/>
        </p:nvSpPr>
        <p:spPr>
          <a:xfrm>
            <a:off x="9434613" y="4917185"/>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2" name="TextBox 41"/>
          <p:cNvSpPr txBox="1"/>
          <p:nvPr/>
        </p:nvSpPr>
        <p:spPr>
          <a:xfrm>
            <a:off x="6305550" y="5145023"/>
            <a:ext cx="1027236" cy="194310"/>
          </a:xfrm>
          <a:prstGeom prst="rect">
            <a:avLst/>
          </a:prstGeom>
          <a:noFill/>
        </p:spPr>
        <p:txBody>
          <a:bodyPr wrap="none" lIns="0" rIns="0" tIns="0" bIns="0">
            <a:spAutoFit/>
          </a:bodyPr>
          <a:lstStyle/>
          <a:p>
            <a:r>
              <a:rPr sz="1150" b="0">
                <a:solidFill>
                  <a:srgbClr val="2E2E2E"/>
                </a:solidFill>
                <a:latin typeface="Calibri"/>
              </a:rPr>
              <a:t>▪ 'Vending' adds</a:t>
            </a:r>
          </a:p>
        </p:txBody>
      </p:sp>
      <p:pic>
        <p:nvPicPr>
          <p:cNvPr id="43" name="Picture 42" descr="lock.png"/>
          <p:cNvPicPr>
            <a:picLocks noChangeAspect="1"/>
          </p:cNvPicPr>
          <p:nvPr/>
        </p:nvPicPr>
        <p:blipFill>
          <a:blip r:embed="rId7"/>
          <a:stretch>
            <a:fillRect/>
          </a:stretch>
        </p:blipFill>
        <p:spPr>
          <a:xfrm>
            <a:off x="7281940" y="5134800"/>
            <a:ext cx="134549" cy="195707"/>
          </a:xfrm>
          <a:prstGeom prst="rect">
            <a:avLst/>
          </a:prstGeom>
        </p:spPr>
      </p:pic>
      <p:sp>
        <p:nvSpPr>
          <p:cNvPr id="44" name="TextBox 43"/>
          <p:cNvSpPr txBox="1"/>
          <p:nvPr/>
        </p:nvSpPr>
        <p:spPr>
          <a:xfrm>
            <a:off x="7457049" y="514502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45" name="Picture 44" descr="lock.png"/>
          <p:cNvPicPr>
            <a:picLocks noChangeAspect="1"/>
          </p:cNvPicPr>
          <p:nvPr/>
        </p:nvPicPr>
        <p:blipFill>
          <a:blip r:embed="rId7"/>
          <a:stretch>
            <a:fillRect/>
          </a:stretch>
        </p:blipFill>
        <p:spPr>
          <a:xfrm>
            <a:off x="8029520" y="5134800"/>
            <a:ext cx="134549" cy="195707"/>
          </a:xfrm>
          <a:prstGeom prst="rect">
            <a:avLst/>
          </a:prstGeom>
        </p:spPr>
      </p:pic>
      <p:sp>
        <p:nvSpPr>
          <p:cNvPr id="46" name="TextBox 45"/>
          <p:cNvSpPr txBox="1"/>
          <p:nvPr/>
        </p:nvSpPr>
        <p:spPr>
          <a:xfrm>
            <a:off x="8204629" y="5145023"/>
            <a:ext cx="1154745" cy="194310"/>
          </a:xfrm>
          <a:prstGeom prst="rect">
            <a:avLst/>
          </a:prstGeom>
          <a:noFill/>
        </p:spPr>
        <p:txBody>
          <a:bodyPr wrap="none" lIns="0" rIns="0" tIns="0" bIns="0">
            <a:spAutoFit/>
          </a:bodyPr>
          <a:lstStyle/>
          <a:p>
            <a:r>
              <a:rPr sz="1150" b="0">
                <a:solidFill>
                  <a:srgbClr val="2E2E2E"/>
                </a:solidFill>
                <a:latin typeface="Calibri"/>
              </a:rPr>
              <a:t>of the increment).</a:t>
            </a:r>
          </a:p>
        </p:txBody>
      </p:sp>
      <p:sp>
        <p:nvSpPr>
          <p:cNvPr id="47"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Sales Channel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Sales Channel (MT)</a:t>
            </a:r>
          </a:p>
        </p:txBody>
      </p:sp>
      <p:graphicFrame>
        <p:nvGraphicFramePr>
          <p:cNvPr id="13" name="Table 12"/>
          <p:cNvGraphicFramePr>
            <a:graphicFrameLocks noGrp="1"/>
          </p:cNvGraphicFramePr>
          <p:nvPr/>
        </p:nvGraphicFramePr>
        <p:xfrm>
          <a:off x="152400" y="1238250"/>
          <a:ext cx="11887208" cy="1619249"/>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Sales 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Retail</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Foodservice and</a:t>
                      </a:r>
                      <a:endParaRPr sz="1100"/>
                    </a:p>
                    <a:p>
                      <a:pPr algn="l"/>
                      <a:r>
                        <a:rPr sz="1100" b="1">
                          <a:solidFill>
                            <a:srgbClr val="2E2E2E"/>
                          </a:solidFill>
                          <a:latin typeface="Calibri"/>
                        </a:rPr>
                        <a:t>institutional</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Vending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Sales Channel</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00630"/>
            <a:ext cx="366712" cy="533399"/>
          </a:xfrm>
          <a:prstGeom prst="rect">
            <a:avLst/>
          </a:prstGeom>
        </p:spPr>
      </p:pic>
      <p:sp>
        <p:nvSpPr>
          <p:cNvPr id="21" name="TextBox 20"/>
          <p:cNvSpPr txBox="1"/>
          <p:nvPr/>
        </p:nvSpPr>
        <p:spPr>
          <a:xfrm>
            <a:off x="276225" y="3619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609276"/>
            <a:ext cx="134549" cy="195707"/>
          </a:xfrm>
          <a:prstGeom prst="rect">
            <a:avLst/>
          </a:prstGeom>
        </p:spPr>
      </p:pic>
      <p:sp>
        <p:nvSpPr>
          <p:cNvPr id="23" name="TextBox 22"/>
          <p:cNvSpPr txBox="1"/>
          <p:nvPr/>
        </p:nvSpPr>
        <p:spPr>
          <a:xfrm>
            <a:off x="2731905" y="3619500"/>
            <a:ext cx="1080579" cy="194310"/>
          </a:xfrm>
          <a:prstGeom prst="rect">
            <a:avLst/>
          </a:prstGeom>
          <a:noFill/>
        </p:spPr>
        <p:txBody>
          <a:bodyPr wrap="none" lIns="0" rIns="0" tIns="0" bIns="0">
            <a:spAutoFit/>
          </a:bodyPr>
          <a:lstStyle/>
          <a:p>
            <a:r>
              <a:rPr sz="1150" b="0">
                <a:solidFill>
                  <a:srgbClr val="2E2E2E"/>
                </a:solidFill>
                <a:latin typeface="Calibri"/>
              </a:rPr>
              <a:t>of 2036 volume (</a:t>
            </a:r>
          </a:p>
        </p:txBody>
      </p:sp>
      <p:pic>
        <p:nvPicPr>
          <p:cNvPr id="24" name="Picture 23" descr="lock.png"/>
          <p:cNvPicPr>
            <a:picLocks noChangeAspect="1"/>
          </p:cNvPicPr>
          <p:nvPr/>
        </p:nvPicPr>
        <p:blipFill>
          <a:blip r:embed="rId4"/>
          <a:stretch>
            <a:fillRect/>
          </a:stretch>
        </p:blipFill>
        <p:spPr>
          <a:xfrm>
            <a:off x="3761638" y="3609276"/>
            <a:ext cx="134549" cy="195707"/>
          </a:xfrm>
          <a:prstGeom prst="rect">
            <a:avLst/>
          </a:prstGeom>
        </p:spPr>
      </p:pic>
      <p:sp>
        <p:nvSpPr>
          <p:cNvPr id="25" name="TextBox 24"/>
          <p:cNvSpPr txBox="1"/>
          <p:nvPr/>
        </p:nvSpPr>
        <p:spPr>
          <a:xfrm>
            <a:off x="3936747" y="3619500"/>
            <a:ext cx="353466" cy="194310"/>
          </a:xfrm>
          <a:prstGeom prst="rect">
            <a:avLst/>
          </a:prstGeom>
          <a:noFill/>
        </p:spPr>
        <p:txBody>
          <a:bodyPr wrap="none" lIns="0" rIns="0" tIns="0" bIns="0">
            <a:spAutoFit/>
          </a:bodyPr>
          <a:lstStyle/>
          <a:p>
            <a:r>
              <a:rPr sz="1150" b="0">
                <a:solidFill>
                  <a:srgbClr val="2E2E2E"/>
                </a:solidFill>
                <a:latin typeface="Calibri"/>
              </a:rPr>
              <a:t>MT).</a:t>
            </a:r>
          </a:p>
        </p:txBody>
      </p:sp>
      <p:sp>
        <p:nvSpPr>
          <p:cNvPr id="26" name="TextBox 25"/>
          <p:cNvSpPr txBox="1"/>
          <p:nvPr/>
        </p:nvSpPr>
        <p:spPr>
          <a:xfrm>
            <a:off x="276225" y="3847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837114"/>
            <a:ext cx="134549" cy="195707"/>
          </a:xfrm>
          <a:prstGeom prst="rect">
            <a:avLst/>
          </a:prstGeom>
        </p:spPr>
      </p:pic>
      <p:sp>
        <p:nvSpPr>
          <p:cNvPr id="28" name="TextBox 27"/>
          <p:cNvSpPr txBox="1"/>
          <p:nvPr/>
        </p:nvSpPr>
        <p:spPr>
          <a:xfrm>
            <a:off x="3168027" y="3847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4075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4064952"/>
            <a:ext cx="134549" cy="195707"/>
          </a:xfrm>
          <a:prstGeom prst="rect">
            <a:avLst/>
          </a:prstGeom>
        </p:spPr>
      </p:pic>
      <p:sp>
        <p:nvSpPr>
          <p:cNvPr id="31" name="TextBox 30"/>
          <p:cNvSpPr txBox="1"/>
          <p:nvPr/>
        </p:nvSpPr>
        <p:spPr>
          <a:xfrm>
            <a:off x="3677205" y="4075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4064952"/>
            <a:ext cx="134549" cy="195707"/>
          </a:xfrm>
          <a:prstGeom prst="rect">
            <a:avLst/>
          </a:prstGeom>
        </p:spPr>
      </p:pic>
      <p:sp>
        <p:nvSpPr>
          <p:cNvPr id="33" name="TextBox 32"/>
          <p:cNvSpPr txBox="1"/>
          <p:nvPr/>
        </p:nvSpPr>
        <p:spPr>
          <a:xfrm>
            <a:off x="5624278" y="4075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4303013"/>
            <a:ext cx="1564654" cy="194310"/>
          </a:xfrm>
          <a:prstGeom prst="rect">
            <a:avLst/>
          </a:prstGeom>
          <a:noFill/>
        </p:spPr>
        <p:txBody>
          <a:bodyPr wrap="none" lIns="0" rIns="0" tIns="0" bIns="0">
            <a:spAutoFit/>
          </a:bodyPr>
          <a:lstStyle/>
          <a:p>
            <a:r>
              <a:rPr sz="1150" b="0">
                <a:solidFill>
                  <a:srgbClr val="2E2E2E"/>
                </a:solidFill>
                <a:latin typeface="Calibri"/>
              </a:rPr>
              <a:t>▪ Total volume rises from</a:t>
            </a:r>
          </a:p>
        </p:txBody>
      </p:sp>
      <p:pic>
        <p:nvPicPr>
          <p:cNvPr id="35" name="Picture 34" descr="lock.png"/>
          <p:cNvPicPr>
            <a:picLocks noChangeAspect="1"/>
          </p:cNvPicPr>
          <p:nvPr/>
        </p:nvPicPr>
        <p:blipFill>
          <a:blip r:embed="rId4"/>
          <a:stretch>
            <a:fillRect/>
          </a:stretch>
        </p:blipFill>
        <p:spPr>
          <a:xfrm>
            <a:off x="1790033" y="4292790"/>
            <a:ext cx="134549" cy="195707"/>
          </a:xfrm>
          <a:prstGeom prst="rect">
            <a:avLst/>
          </a:prstGeom>
        </p:spPr>
      </p:pic>
      <p:sp>
        <p:nvSpPr>
          <p:cNvPr id="36" name="TextBox 35"/>
          <p:cNvSpPr txBox="1"/>
          <p:nvPr/>
        </p:nvSpPr>
        <p:spPr>
          <a:xfrm>
            <a:off x="1965143" y="4303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2116579" y="4292790"/>
            <a:ext cx="134549" cy="195707"/>
          </a:xfrm>
          <a:prstGeom prst="rect">
            <a:avLst/>
          </a:prstGeom>
        </p:spPr>
      </p:pic>
      <p:sp>
        <p:nvSpPr>
          <p:cNvPr id="38" name="TextBox 37"/>
          <p:cNvSpPr txBox="1"/>
          <p:nvPr/>
        </p:nvSpPr>
        <p:spPr>
          <a:xfrm>
            <a:off x="2291688" y="4303013"/>
            <a:ext cx="1470521" cy="194310"/>
          </a:xfrm>
          <a:prstGeom prst="rect">
            <a:avLst/>
          </a:prstGeom>
          <a:noFill/>
        </p:spPr>
        <p:txBody>
          <a:bodyPr wrap="none" lIns="0" rIns="0" tIns="0" bIns="0">
            <a:spAutoFit/>
          </a:bodyPr>
          <a:lstStyle/>
          <a:p>
            <a:r>
              <a:rPr sz="1150" b="0">
                <a:solidFill>
                  <a:srgbClr val="2E2E2E"/>
                </a:solidFill>
                <a:latin typeface="Calibri"/>
              </a:rPr>
              <a:t>MT across 3 categories.</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Sales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Sales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Sales Channel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51666"/>
                <a:gridCol w="584443"/>
                <a:gridCol w="584443"/>
                <a:gridCol w="584443"/>
                <a:gridCol w="584443"/>
                <a:gridCol w="584443"/>
                <a:gridCol w="584443"/>
                <a:gridCol w="584443"/>
                <a:gridCol w="584443"/>
                <a:gridCol w="584443"/>
                <a:gridCol w="584443"/>
                <a:gridCol w="584443"/>
                <a:gridCol w="584443"/>
                <a:gridCol w="584443"/>
                <a:gridCol w="584443"/>
                <a:gridCol w="584443"/>
                <a:gridCol w="584443"/>
                <a:gridCol w="584443"/>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Sales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5141" y="1713738"/>
            <a:ext cx="366712" cy="533400"/>
          </a:xfrm>
          <a:prstGeom prst="rect">
            <a:avLst/>
          </a:prstGeom>
        </p:spPr>
      </p:pic>
      <p:sp>
        <p:nvSpPr>
          <p:cNvPr id="21" name="TextBox 20"/>
          <p:cNvSpPr txBox="1"/>
          <p:nvPr/>
        </p:nvSpPr>
        <p:spPr>
          <a:xfrm>
            <a:off x="276225" y="3238500"/>
            <a:ext cx="2331417" cy="194310"/>
          </a:xfrm>
          <a:prstGeom prst="rect">
            <a:avLst/>
          </a:prstGeom>
          <a:noFill/>
        </p:spPr>
        <p:txBody>
          <a:bodyPr wrap="none" lIns="0" rIns="0" tIns="0" bIns="0">
            <a:spAutoFit/>
          </a:bodyPr>
          <a:lstStyle/>
          <a:p>
            <a:r>
              <a:rPr sz="1150" b="0">
                <a:solidFill>
                  <a:srgbClr val="2E2E2E"/>
                </a:solidFill>
                <a:latin typeface="Calibri"/>
              </a:rPr>
              <a:t>▪ 'Retail' is the largest sales channel at</a:t>
            </a:r>
          </a:p>
        </p:txBody>
      </p:sp>
      <p:pic>
        <p:nvPicPr>
          <p:cNvPr id="22" name="Picture 21" descr="lock.png"/>
          <p:cNvPicPr>
            <a:picLocks noChangeAspect="1"/>
          </p:cNvPicPr>
          <p:nvPr/>
        </p:nvPicPr>
        <p:blipFill>
          <a:blip r:embed="rId4"/>
          <a:stretch>
            <a:fillRect/>
          </a:stretch>
        </p:blipFill>
        <p:spPr>
          <a:xfrm>
            <a:off x="2556796" y="3228276"/>
            <a:ext cx="134549" cy="195707"/>
          </a:xfrm>
          <a:prstGeom prst="rect">
            <a:avLst/>
          </a:prstGeom>
        </p:spPr>
      </p:pic>
      <p:sp>
        <p:nvSpPr>
          <p:cNvPr id="23" name="TextBox 22"/>
          <p:cNvSpPr txBox="1"/>
          <p:nvPr/>
        </p:nvSpPr>
        <p:spPr>
          <a:xfrm>
            <a:off x="2731905" y="3238500"/>
            <a:ext cx="956778" cy="194310"/>
          </a:xfrm>
          <a:prstGeom prst="rect">
            <a:avLst/>
          </a:prstGeom>
          <a:noFill/>
        </p:spPr>
        <p:txBody>
          <a:bodyPr wrap="none" lIns="0" rIns="0" tIns="0" bIns="0">
            <a:spAutoFit/>
          </a:bodyPr>
          <a:lstStyle/>
          <a:p>
            <a:r>
              <a:rPr sz="1150" b="0">
                <a:solidFill>
                  <a:srgbClr val="2E2E2E"/>
                </a:solidFill>
                <a:latin typeface="Calibri"/>
              </a:rPr>
              <a:t>of 2036 value (</a:t>
            </a:r>
          </a:p>
        </p:txBody>
      </p:sp>
      <p:pic>
        <p:nvPicPr>
          <p:cNvPr id="24" name="Picture 23" descr="lock.png"/>
          <p:cNvPicPr>
            <a:picLocks noChangeAspect="1"/>
          </p:cNvPicPr>
          <p:nvPr/>
        </p:nvPicPr>
        <p:blipFill>
          <a:blip r:embed="rId4"/>
          <a:stretch>
            <a:fillRect/>
          </a:stretch>
        </p:blipFill>
        <p:spPr>
          <a:xfrm>
            <a:off x="3637838" y="3228276"/>
            <a:ext cx="134549" cy="195707"/>
          </a:xfrm>
          <a:prstGeom prst="rect">
            <a:avLst/>
          </a:prstGeom>
        </p:spPr>
      </p:pic>
      <p:sp>
        <p:nvSpPr>
          <p:cNvPr id="25" name="TextBox 24"/>
          <p:cNvSpPr txBox="1"/>
          <p:nvPr/>
        </p:nvSpPr>
        <p:spPr>
          <a:xfrm>
            <a:off x="3812947" y="32385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6" name="TextBox 25"/>
          <p:cNvSpPr txBox="1"/>
          <p:nvPr/>
        </p:nvSpPr>
        <p:spPr>
          <a:xfrm>
            <a:off x="276225" y="3466337"/>
            <a:ext cx="2767539" cy="194310"/>
          </a:xfrm>
          <a:prstGeom prst="rect">
            <a:avLst/>
          </a:prstGeom>
          <a:noFill/>
        </p:spPr>
        <p:txBody>
          <a:bodyPr wrap="none" lIns="0" rIns="0" tIns="0" bIns="0">
            <a:spAutoFit/>
          </a:bodyPr>
          <a:lstStyle/>
          <a:p>
            <a:r>
              <a:rPr sz="1150" b="0">
                <a:solidFill>
                  <a:srgbClr val="2E2E2E"/>
                </a:solidFill>
                <a:latin typeface="Calibri"/>
              </a:rPr>
              <a:t>▪ 'Foodservice and institutional' grows fastest</a:t>
            </a:r>
          </a:p>
        </p:txBody>
      </p:sp>
      <p:pic>
        <p:nvPicPr>
          <p:cNvPr id="27" name="Picture 26" descr="lock.png"/>
          <p:cNvPicPr>
            <a:picLocks noChangeAspect="1"/>
          </p:cNvPicPr>
          <p:nvPr/>
        </p:nvPicPr>
        <p:blipFill>
          <a:blip r:embed="rId4"/>
          <a:stretch>
            <a:fillRect/>
          </a:stretch>
        </p:blipFill>
        <p:spPr>
          <a:xfrm>
            <a:off x="2992918" y="3456114"/>
            <a:ext cx="134549" cy="195707"/>
          </a:xfrm>
          <a:prstGeom prst="rect">
            <a:avLst/>
          </a:prstGeom>
        </p:spPr>
      </p:pic>
      <p:sp>
        <p:nvSpPr>
          <p:cNvPr id="28" name="TextBox 27"/>
          <p:cNvSpPr txBox="1"/>
          <p:nvPr/>
        </p:nvSpPr>
        <p:spPr>
          <a:xfrm>
            <a:off x="3168027" y="3466337"/>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29" name="TextBox 28"/>
          <p:cNvSpPr txBox="1"/>
          <p:nvPr/>
        </p:nvSpPr>
        <p:spPr>
          <a:xfrm>
            <a:off x="276225" y="3694175"/>
            <a:ext cx="3276717" cy="194310"/>
          </a:xfrm>
          <a:prstGeom prst="rect">
            <a:avLst/>
          </a:prstGeom>
          <a:noFill/>
        </p:spPr>
        <p:txBody>
          <a:bodyPr wrap="none" lIns="0" rIns="0" tIns="0" bIns="0">
            <a:spAutoFit/>
          </a:bodyPr>
          <a:lstStyle/>
          <a:p>
            <a:r>
              <a:rPr sz="1150" b="0">
                <a:solidFill>
                  <a:srgbClr val="2E2E2E"/>
                </a:solidFill>
                <a:latin typeface="Calibri"/>
              </a:rPr>
              <a:t>▪ Share shifts toward 'Foodservice and institutional' (+</a:t>
            </a:r>
          </a:p>
        </p:txBody>
      </p:sp>
      <p:pic>
        <p:nvPicPr>
          <p:cNvPr id="30" name="Picture 29" descr="lock.png"/>
          <p:cNvPicPr>
            <a:picLocks noChangeAspect="1"/>
          </p:cNvPicPr>
          <p:nvPr/>
        </p:nvPicPr>
        <p:blipFill>
          <a:blip r:embed="rId4"/>
          <a:stretch>
            <a:fillRect/>
          </a:stretch>
        </p:blipFill>
        <p:spPr>
          <a:xfrm>
            <a:off x="3502096" y="3683952"/>
            <a:ext cx="134549" cy="195707"/>
          </a:xfrm>
          <a:prstGeom prst="rect">
            <a:avLst/>
          </a:prstGeom>
        </p:spPr>
      </p:pic>
      <p:sp>
        <p:nvSpPr>
          <p:cNvPr id="31" name="TextBox 30"/>
          <p:cNvSpPr txBox="1"/>
          <p:nvPr/>
        </p:nvSpPr>
        <p:spPr>
          <a:xfrm>
            <a:off x="3677205" y="3694175"/>
            <a:ext cx="1822809" cy="194310"/>
          </a:xfrm>
          <a:prstGeom prst="rect">
            <a:avLst/>
          </a:prstGeom>
          <a:noFill/>
        </p:spPr>
        <p:txBody>
          <a:bodyPr wrap="none" lIns="0" rIns="0" tIns="0" bIns="0">
            <a:spAutoFit/>
          </a:bodyPr>
          <a:lstStyle/>
          <a:p>
            <a:r>
              <a:rPr sz="1150" b="0">
                <a:solidFill>
                  <a:srgbClr val="2E2E2E"/>
                </a:solidFill>
                <a:latin typeface="Calibri"/>
              </a:rPr>
              <a:t>BPS) and away from 'Retail' (-</a:t>
            </a:r>
          </a:p>
        </p:txBody>
      </p:sp>
      <p:pic>
        <p:nvPicPr>
          <p:cNvPr id="32" name="Picture 31" descr="lock.png"/>
          <p:cNvPicPr>
            <a:picLocks noChangeAspect="1"/>
          </p:cNvPicPr>
          <p:nvPr/>
        </p:nvPicPr>
        <p:blipFill>
          <a:blip r:embed="rId4"/>
          <a:stretch>
            <a:fillRect/>
          </a:stretch>
        </p:blipFill>
        <p:spPr>
          <a:xfrm>
            <a:off x="5449169" y="3683952"/>
            <a:ext cx="134549" cy="195707"/>
          </a:xfrm>
          <a:prstGeom prst="rect">
            <a:avLst/>
          </a:prstGeom>
        </p:spPr>
      </p:pic>
      <p:sp>
        <p:nvSpPr>
          <p:cNvPr id="33" name="TextBox 32"/>
          <p:cNvSpPr txBox="1"/>
          <p:nvPr/>
        </p:nvSpPr>
        <p:spPr>
          <a:xfrm>
            <a:off x="5624278" y="3694175"/>
            <a:ext cx="1853617" cy="194310"/>
          </a:xfrm>
          <a:prstGeom prst="rect">
            <a:avLst/>
          </a:prstGeom>
          <a:noFill/>
        </p:spPr>
        <p:txBody>
          <a:bodyPr wrap="none" lIns="0" rIns="0" tIns="0" bIns="0">
            <a:spAutoFit/>
          </a:bodyPr>
          <a:lstStyle/>
          <a:p>
            <a:r>
              <a:rPr sz="1150" b="0">
                <a:solidFill>
                  <a:srgbClr val="2E2E2E"/>
                </a:solidFill>
                <a:latin typeface="Calibri"/>
              </a:rPr>
              <a:t>BPS) between 2026 and 2036.</a:t>
            </a:r>
          </a:p>
        </p:txBody>
      </p:sp>
      <p:sp>
        <p:nvSpPr>
          <p:cNvPr id="34" name="TextBox 33"/>
          <p:cNvSpPr txBox="1"/>
          <p:nvPr/>
        </p:nvSpPr>
        <p:spPr>
          <a:xfrm>
            <a:off x="276225" y="3922013"/>
            <a:ext cx="1440854" cy="194310"/>
          </a:xfrm>
          <a:prstGeom prst="rect">
            <a:avLst/>
          </a:prstGeom>
          <a:noFill/>
        </p:spPr>
        <p:txBody>
          <a:bodyPr wrap="none" lIns="0" rIns="0" tIns="0" bIns="0">
            <a:spAutoFit/>
          </a:bodyPr>
          <a:lstStyle/>
          <a:p>
            <a:r>
              <a:rPr sz="1150" b="0">
                <a:solidFill>
                  <a:srgbClr val="2E2E2E"/>
                </a:solidFill>
                <a:latin typeface="Calibri"/>
              </a:rPr>
              <a:t>▪ Total value rises from</a:t>
            </a:r>
          </a:p>
        </p:txBody>
      </p:sp>
      <p:pic>
        <p:nvPicPr>
          <p:cNvPr id="35" name="Picture 34" descr="lock.png"/>
          <p:cNvPicPr>
            <a:picLocks noChangeAspect="1"/>
          </p:cNvPicPr>
          <p:nvPr/>
        </p:nvPicPr>
        <p:blipFill>
          <a:blip r:embed="rId4"/>
          <a:stretch>
            <a:fillRect/>
          </a:stretch>
        </p:blipFill>
        <p:spPr>
          <a:xfrm>
            <a:off x="1666233" y="3911790"/>
            <a:ext cx="134549" cy="195707"/>
          </a:xfrm>
          <a:prstGeom prst="rect">
            <a:avLst/>
          </a:prstGeom>
        </p:spPr>
      </p:pic>
      <p:sp>
        <p:nvSpPr>
          <p:cNvPr id="36" name="TextBox 35"/>
          <p:cNvSpPr txBox="1"/>
          <p:nvPr/>
        </p:nvSpPr>
        <p:spPr>
          <a:xfrm>
            <a:off x="1841342" y="3922013"/>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37" name="Picture 36" descr="lock.png"/>
          <p:cNvPicPr>
            <a:picLocks noChangeAspect="1"/>
          </p:cNvPicPr>
          <p:nvPr/>
        </p:nvPicPr>
        <p:blipFill>
          <a:blip r:embed="rId4"/>
          <a:stretch>
            <a:fillRect/>
          </a:stretch>
        </p:blipFill>
        <p:spPr>
          <a:xfrm>
            <a:off x="1992779" y="3911790"/>
            <a:ext cx="134549" cy="195707"/>
          </a:xfrm>
          <a:prstGeom prst="rect">
            <a:avLst/>
          </a:prstGeom>
        </p:spPr>
      </p:pic>
      <p:sp>
        <p:nvSpPr>
          <p:cNvPr id="38" name="TextBox 37"/>
          <p:cNvSpPr txBox="1"/>
          <p:nvPr/>
        </p:nvSpPr>
        <p:spPr>
          <a:xfrm>
            <a:off x="2167888" y="3922013"/>
            <a:ext cx="1744079" cy="194310"/>
          </a:xfrm>
          <a:prstGeom prst="rect">
            <a:avLst/>
          </a:prstGeom>
          <a:noFill/>
        </p:spPr>
        <p:txBody>
          <a:bodyPr wrap="none" lIns="0" rIns="0" tIns="0" bIns="0">
            <a:spAutoFit/>
          </a:bodyPr>
          <a:lstStyle/>
          <a:p>
            <a:r>
              <a:rPr sz="1150" b="0">
                <a:solidFill>
                  <a:srgbClr val="2E2E2E"/>
                </a:solidFill>
                <a:latin typeface="Calibri"/>
              </a:rPr>
              <a:t>US$ Mn across 3 categories.</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Sales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Sales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Sales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76744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76268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864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Vending</a:t>
            </a:r>
          </a:p>
        </p:txBody>
      </p:sp>
      <p:sp>
        <p:nvSpPr>
          <p:cNvPr id="19" name="BPS Value 1"/>
          <p:cNvSpPr txBox="1"/>
          <p:nvPr/>
        </p:nvSpPr>
        <p:spPr>
          <a:xfrm>
            <a:off x="6896100" y="174839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7248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7200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6438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institutional</a:t>
            </a:r>
          </a:p>
        </p:txBody>
      </p:sp>
      <p:sp>
        <p:nvSpPr>
          <p:cNvPr id="23" name="BPS Value 2"/>
          <p:cNvSpPr txBox="1"/>
          <p:nvPr/>
        </p:nvSpPr>
        <p:spPr>
          <a:xfrm>
            <a:off x="6896100" y="27058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91485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1009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3389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Retail</a:t>
            </a:r>
          </a:p>
        </p:txBody>
      </p:sp>
      <p:sp>
        <p:nvSpPr>
          <p:cNvPr id="27" name="BPS Value 3"/>
          <p:cNvSpPr txBox="1"/>
          <p:nvPr/>
        </p:nvSpPr>
        <p:spPr>
          <a:xfrm>
            <a:off x="6896100" y="489580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Sales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2E7D32"/>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r>
              <a:rPr sz="1150" b="0">
                <a:solidFill>
                  <a:srgbClr val="E44D3A"/>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313800" cy="194310"/>
          </a:xfrm>
          <a:prstGeom prst="rect">
            <a:avLst/>
          </a:prstGeom>
          <a:noFill/>
        </p:spPr>
        <p:txBody>
          <a:bodyPr wrap="none" lIns="0" rIns="0" tIns="0" bIns="0">
            <a:spAutoFit/>
          </a:bodyPr>
          <a:lstStyle/>
          <a:p>
            <a:r>
              <a:rPr sz="1150" b="0">
                <a:solidFill>
                  <a:srgbClr val="2E2E2E"/>
                </a:solidFill>
                <a:latin typeface="Calibri"/>
              </a:rPr>
              <a:t>▪ 'Foodservice and institutional' gains the most share +</a:t>
            </a:r>
          </a:p>
        </p:txBody>
      </p:sp>
      <p:pic>
        <p:nvPicPr>
          <p:cNvPr id="35" name="Picture 34" descr="lock.png"/>
          <p:cNvPicPr>
            <a:picLocks noChangeAspect="1"/>
          </p:cNvPicPr>
          <p:nvPr/>
        </p:nvPicPr>
        <p:blipFill>
          <a:blip r:embed="rId5"/>
          <a:stretch>
            <a:fillRect/>
          </a:stretch>
        </p:blipFill>
        <p:spPr>
          <a:xfrm>
            <a:off x="11092504" y="1389951"/>
            <a:ext cx="134549" cy="195707"/>
          </a:xfrm>
          <a:prstGeom prst="rect">
            <a:avLst/>
          </a:prstGeom>
        </p:spPr>
      </p:pic>
      <p:sp>
        <p:nvSpPr>
          <p:cNvPr id="36" name="TextBox 35"/>
          <p:cNvSpPr txBox="1"/>
          <p:nvPr/>
        </p:nvSpPr>
        <p:spPr>
          <a:xfrm>
            <a:off x="11267613" y="1400175"/>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7" name="TextBox 36"/>
          <p:cNvSpPr txBox="1"/>
          <p:nvPr/>
        </p:nvSpPr>
        <p:spPr>
          <a:xfrm>
            <a:off x="7829550" y="1575435"/>
            <a:ext cx="2871688" cy="194310"/>
          </a:xfrm>
          <a:prstGeom prst="rect">
            <a:avLst/>
          </a:prstGeom>
          <a:noFill/>
        </p:spPr>
        <p:txBody>
          <a:bodyPr wrap="none" lIns="0" rIns="0" tIns="0" bIns="0">
            <a:spAutoFit/>
          </a:bodyPr>
          <a:lstStyle/>
          <a:p>
            <a:r>
              <a:rPr sz="1150" b="0">
                <a:solidFill>
                  <a:srgbClr val="2E2E2E"/>
                </a:solidFill>
                <a:latin typeface="Calibri"/>
              </a:rPr>
              <a:t>between 2026 and 2036 (</a:t>
            </a:r>
            <a:r>
              <a:rPr sz="1150" b="0">
                <a:solidFill>
                  <a:srgbClr val="2E7D32"/>
                </a:solidFill>
                <a:latin typeface="Calibri"/>
              </a:rPr>
              <a:t>green ▲</a:t>
            </a:r>
            <a:r>
              <a:rPr sz="1150" b="0">
                <a:solidFill>
                  <a:srgbClr val="2E2E2E"/>
                </a:solidFill>
                <a:latin typeface="Calibri"/>
              </a:rPr>
              <a:t> on the scale).</a:t>
            </a:r>
          </a:p>
        </p:txBody>
      </p:sp>
      <p:sp>
        <p:nvSpPr>
          <p:cNvPr id="38" name="TextBox 37"/>
          <p:cNvSpPr txBox="1"/>
          <p:nvPr/>
        </p:nvSpPr>
        <p:spPr>
          <a:xfrm>
            <a:off x="7829550" y="1803273"/>
            <a:ext cx="1580343" cy="194310"/>
          </a:xfrm>
          <a:prstGeom prst="rect">
            <a:avLst/>
          </a:prstGeom>
          <a:noFill/>
        </p:spPr>
        <p:txBody>
          <a:bodyPr wrap="none" lIns="0" rIns="0" tIns="0" bIns="0">
            <a:spAutoFit/>
          </a:bodyPr>
          <a:lstStyle/>
          <a:p>
            <a:r>
              <a:rPr sz="1150" b="0">
                <a:solidFill>
                  <a:srgbClr val="2E2E2E"/>
                </a:solidFill>
                <a:latin typeface="Calibri"/>
              </a:rPr>
              <a:t>▪ 'Retail' cedes the most -</a:t>
            </a:r>
          </a:p>
        </p:txBody>
      </p:sp>
      <p:pic>
        <p:nvPicPr>
          <p:cNvPr id="39" name="Picture 38" descr="lock.png"/>
          <p:cNvPicPr>
            <a:picLocks noChangeAspect="1"/>
          </p:cNvPicPr>
          <p:nvPr/>
        </p:nvPicPr>
        <p:blipFill>
          <a:blip r:embed="rId5"/>
          <a:stretch>
            <a:fillRect/>
          </a:stretch>
        </p:blipFill>
        <p:spPr>
          <a:xfrm>
            <a:off x="9359047" y="1793049"/>
            <a:ext cx="134549" cy="195707"/>
          </a:xfrm>
          <a:prstGeom prst="rect">
            <a:avLst/>
          </a:prstGeom>
        </p:spPr>
      </p:pic>
      <p:sp>
        <p:nvSpPr>
          <p:cNvPr id="40" name="TextBox 39"/>
          <p:cNvSpPr txBox="1"/>
          <p:nvPr/>
        </p:nvSpPr>
        <p:spPr>
          <a:xfrm>
            <a:off x="9534157" y="1803273"/>
            <a:ext cx="2151422" cy="194310"/>
          </a:xfrm>
          <a:prstGeom prst="rect">
            <a:avLst/>
          </a:prstGeom>
          <a:noFill/>
        </p:spPr>
        <p:txBody>
          <a:bodyPr wrap="none" lIns="0" rIns="0" tIns="0" bIns="0">
            <a:spAutoFit/>
          </a:bodyPr>
          <a:lstStyle/>
          <a:p>
            <a:r>
              <a:rPr sz="1150" b="0">
                <a:solidFill>
                  <a:srgbClr val="2E2E2E"/>
                </a:solidFill>
                <a:latin typeface="Calibri"/>
              </a:rPr>
              <a:t>BPS over the same window (</a:t>
            </a:r>
            <a:r>
              <a:rPr sz="1150" b="0">
                <a:solidFill>
                  <a:srgbClr val="E44D3A"/>
                </a:solidFill>
                <a:latin typeface="Calibri"/>
              </a:rPr>
              <a:t>red ▼</a:t>
            </a:r>
            <a:r>
              <a:rPr sz="1150" b="0">
                <a:solidFill>
                  <a:srgbClr val="2E2E2E"/>
                </a:solidFill>
                <a:latin typeface="Calibri"/>
              </a:rPr>
              <a:t>).</a:t>
            </a:r>
          </a:p>
        </p:txBody>
      </p:sp>
      <p:sp>
        <p:nvSpPr>
          <p:cNvPr id="41" name="TextBox 40"/>
          <p:cNvSpPr txBox="1"/>
          <p:nvPr/>
        </p:nvSpPr>
        <p:spPr>
          <a:xfrm>
            <a:off x="7829550" y="2031111"/>
            <a:ext cx="4057650" cy="194310"/>
          </a:xfrm>
          <a:prstGeom prst="rect">
            <a:avLst/>
          </a:prstGeom>
          <a:noFill/>
        </p:spPr>
        <p:txBody>
          <a:bodyPr wrap="none" lIns="0" rIns="0" tIns="0" bIns="0">
            <a:spAutoFit/>
          </a:bodyPr>
          <a:lstStyle/>
          <a:p>
            <a:r>
              <a:rPr sz="1150" b="0">
                <a:solidFill>
                  <a:srgbClr val="2E2E2E"/>
                </a:solidFill>
                <a:latin typeface="Calibri"/>
              </a:rPr>
              <a:t>▪ 'Foodservice and institutional' is the fastest-growing sales channel</a:t>
            </a:r>
          </a:p>
        </p:txBody>
      </p:sp>
      <p:sp>
        <p:nvSpPr>
          <p:cNvPr id="42" name="TextBox 41"/>
          <p:cNvSpPr txBox="1"/>
          <p:nvPr/>
        </p:nvSpPr>
        <p:spPr>
          <a:xfrm>
            <a:off x="7829550" y="2206371"/>
            <a:ext cx="195150" cy="194310"/>
          </a:xfrm>
          <a:prstGeom prst="rect">
            <a:avLst/>
          </a:prstGeom>
          <a:noFill/>
        </p:spPr>
        <p:txBody>
          <a:bodyPr wrap="none" lIns="0" rIns="0" tIns="0" bIns="0">
            <a:spAutoFit/>
          </a:bodyPr>
          <a:lstStyle/>
          <a:p>
            <a:r>
              <a:rPr sz="1150" b="0">
                <a:solidFill>
                  <a:srgbClr val="2E2E2E"/>
                </a:solidFill>
                <a:latin typeface="Calibri"/>
              </a:rPr>
              <a:t>at</a:t>
            </a:r>
          </a:p>
        </p:txBody>
      </p:sp>
      <p:pic>
        <p:nvPicPr>
          <p:cNvPr id="43" name="Picture 42" descr="lock.png"/>
          <p:cNvPicPr>
            <a:picLocks noChangeAspect="1"/>
          </p:cNvPicPr>
          <p:nvPr/>
        </p:nvPicPr>
        <p:blipFill>
          <a:blip r:embed="rId5"/>
          <a:stretch>
            <a:fillRect/>
          </a:stretch>
        </p:blipFill>
        <p:spPr>
          <a:xfrm>
            <a:off x="7973854" y="2196147"/>
            <a:ext cx="134549" cy="195707"/>
          </a:xfrm>
          <a:prstGeom prst="rect">
            <a:avLst/>
          </a:prstGeom>
        </p:spPr>
      </p:pic>
      <p:sp>
        <p:nvSpPr>
          <p:cNvPr id="44" name="TextBox 43"/>
          <p:cNvSpPr txBox="1"/>
          <p:nvPr/>
        </p:nvSpPr>
        <p:spPr>
          <a:xfrm>
            <a:off x="8148964" y="2206371"/>
            <a:ext cx="1234313" cy="194310"/>
          </a:xfrm>
          <a:prstGeom prst="rect">
            <a:avLst/>
          </a:prstGeom>
          <a:noFill/>
        </p:spPr>
        <p:txBody>
          <a:bodyPr wrap="none" lIns="0" rIns="0" tIns="0" bIns="0">
            <a:spAutoFit/>
          </a:bodyPr>
          <a:lstStyle/>
          <a:p>
            <a:r>
              <a:rPr sz="1150" b="0">
                <a:solidFill>
                  <a:srgbClr val="2E2E2E"/>
                </a:solidFill>
                <a:latin typeface="Calibri"/>
              </a:rPr>
              <a:t>CAGR (2026–2036).</a:t>
            </a:r>
          </a:p>
        </p:txBody>
      </p:sp>
      <p:sp>
        <p:nvSpPr>
          <p:cNvPr id="45" name="TextBox 44"/>
          <p:cNvSpPr txBox="1"/>
          <p:nvPr/>
        </p:nvSpPr>
        <p:spPr>
          <a:xfrm>
            <a:off x="7829550" y="2434209"/>
            <a:ext cx="1548965" cy="194310"/>
          </a:xfrm>
          <a:prstGeom prst="rect">
            <a:avLst/>
          </a:prstGeom>
          <a:noFill/>
        </p:spPr>
        <p:txBody>
          <a:bodyPr wrap="none" lIns="0" rIns="0" tIns="0" bIns="0">
            <a:spAutoFit/>
          </a:bodyPr>
          <a:lstStyle/>
          <a:p>
            <a:r>
              <a:rPr sz="1150" b="0">
                <a:solidFill>
                  <a:srgbClr val="2E2E2E"/>
                </a:solidFill>
                <a:latin typeface="Calibri"/>
              </a:rPr>
              <a:t>▪ Total value climbs from</a:t>
            </a:r>
          </a:p>
        </p:txBody>
      </p:sp>
      <p:pic>
        <p:nvPicPr>
          <p:cNvPr id="46" name="Picture 45" descr="lock.png"/>
          <p:cNvPicPr>
            <a:picLocks noChangeAspect="1"/>
          </p:cNvPicPr>
          <p:nvPr/>
        </p:nvPicPr>
        <p:blipFill>
          <a:blip r:embed="rId5"/>
          <a:stretch>
            <a:fillRect/>
          </a:stretch>
        </p:blipFill>
        <p:spPr>
          <a:xfrm>
            <a:off x="9327669" y="2423985"/>
            <a:ext cx="134549" cy="195707"/>
          </a:xfrm>
          <a:prstGeom prst="rect">
            <a:avLst/>
          </a:prstGeom>
        </p:spPr>
      </p:pic>
      <p:sp>
        <p:nvSpPr>
          <p:cNvPr id="47" name="TextBox 46"/>
          <p:cNvSpPr txBox="1"/>
          <p:nvPr/>
        </p:nvSpPr>
        <p:spPr>
          <a:xfrm>
            <a:off x="9502779" y="2434209"/>
            <a:ext cx="202282" cy="194310"/>
          </a:xfrm>
          <a:prstGeom prst="rect">
            <a:avLst/>
          </a:prstGeom>
          <a:noFill/>
        </p:spPr>
        <p:txBody>
          <a:bodyPr wrap="none" lIns="0" rIns="0" tIns="0" bIns="0">
            <a:spAutoFit/>
          </a:bodyPr>
          <a:lstStyle/>
          <a:p>
            <a:r>
              <a:rPr sz="1150" b="0">
                <a:solidFill>
                  <a:srgbClr val="2E2E2E"/>
                </a:solidFill>
                <a:latin typeface="Calibri"/>
              </a:rPr>
              <a:t>to</a:t>
            </a:r>
          </a:p>
        </p:txBody>
      </p:sp>
      <p:pic>
        <p:nvPicPr>
          <p:cNvPr id="48" name="Picture 47" descr="lock.png"/>
          <p:cNvPicPr>
            <a:picLocks noChangeAspect="1"/>
          </p:cNvPicPr>
          <p:nvPr/>
        </p:nvPicPr>
        <p:blipFill>
          <a:blip r:embed="rId5"/>
          <a:stretch>
            <a:fillRect/>
          </a:stretch>
        </p:blipFill>
        <p:spPr>
          <a:xfrm>
            <a:off x="9654215" y="2423985"/>
            <a:ext cx="134549" cy="195707"/>
          </a:xfrm>
          <a:prstGeom prst="rect">
            <a:avLst/>
          </a:prstGeom>
        </p:spPr>
      </p:pic>
      <p:sp>
        <p:nvSpPr>
          <p:cNvPr id="49" name="TextBox 48"/>
          <p:cNvSpPr txBox="1"/>
          <p:nvPr/>
        </p:nvSpPr>
        <p:spPr>
          <a:xfrm>
            <a:off x="9829324" y="2434209"/>
            <a:ext cx="1689025" cy="194310"/>
          </a:xfrm>
          <a:prstGeom prst="rect">
            <a:avLst/>
          </a:prstGeom>
          <a:noFill/>
        </p:spPr>
        <p:txBody>
          <a:bodyPr wrap="none" lIns="0" rIns="0" tIns="0" bIns="0">
            <a:spAutoFit/>
          </a:bodyPr>
          <a:lstStyle/>
          <a:p>
            <a:r>
              <a:rPr sz="1150" b="0">
                <a:solidFill>
                  <a:srgbClr val="2E2E2E"/>
                </a:solidFill>
                <a:latin typeface="Calibri"/>
              </a:rPr>
              <a:t>US$ Mn across 2021–2036.</a:t>
            </a:r>
          </a:p>
        </p:txBody>
      </p:sp>
      <p:sp>
        <p:nvSpPr>
          <p:cNvPr id="50" name="TextBox 49"/>
          <p:cNvSpPr txBox="1"/>
          <p:nvPr/>
        </p:nvSpPr>
        <p:spPr>
          <a:xfrm>
            <a:off x="7829550" y="2662047"/>
            <a:ext cx="3932547" cy="194310"/>
          </a:xfrm>
          <a:prstGeom prst="rect">
            <a:avLst/>
          </a:prstGeom>
          <a:noFill/>
        </p:spPr>
        <p:txBody>
          <a:bodyPr wrap="none" lIns="0" rIns="0" tIns="0" bIns="0">
            <a:spAutoFit/>
          </a:bodyPr>
          <a:lstStyle/>
          <a:p>
            <a:r>
              <a:rPr sz="1150" b="0">
                <a:solidFill>
                  <a:srgbClr val="2E2E2E"/>
                </a:solidFill>
                <a:latin typeface="Calibri"/>
              </a:rPr>
              <a:t>▪ Bars show the value mix at each snapshot; the scale shows how</a:t>
            </a:r>
          </a:p>
        </p:txBody>
      </p:sp>
      <p:sp>
        <p:nvSpPr>
          <p:cNvPr id="51" name="TextBox 50"/>
          <p:cNvSpPr txBox="1"/>
          <p:nvPr/>
        </p:nvSpPr>
        <p:spPr>
          <a:xfrm>
            <a:off x="7829550" y="2837307"/>
            <a:ext cx="1177280" cy="194310"/>
          </a:xfrm>
          <a:prstGeom prst="rect">
            <a:avLst/>
          </a:prstGeom>
          <a:noFill/>
        </p:spPr>
        <p:txBody>
          <a:bodyPr wrap="none" lIns="0" rIns="0" tIns="0" bIns="0">
            <a:spAutoFit/>
          </a:bodyPr>
          <a:lstStyle/>
          <a:p>
            <a:r>
              <a:rPr sz="1150" b="0">
                <a:solidFill>
                  <a:srgbClr val="2E2E2E"/>
                </a:solidFill>
                <a:latin typeface="Calibri"/>
              </a:rPr>
              <a:t>each share moves.</a:t>
            </a:r>
          </a:p>
        </p:txBody>
      </p:sp>
      <p:sp>
        <p:nvSpPr>
          <p:cNvPr id="52"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Sales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Sales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Sales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2127885"/>
                <a:gridCol w="650621"/>
                <a:gridCol w="650621"/>
                <a:gridCol w="650621"/>
                <a:gridCol w="650621"/>
                <a:gridCol w="650621"/>
                <a:gridCol w="650621"/>
                <a:gridCol w="650621"/>
                <a:gridCol w="650621"/>
                <a:gridCol w="650621"/>
                <a:gridCol w="650621"/>
                <a:gridCol w="650621"/>
                <a:gridCol w="650621"/>
                <a:gridCol w="650621"/>
                <a:gridCol w="650621"/>
                <a:gridCol w="650621"/>
              </a:tblGrid>
              <a:tr h="246126">
                <a:tc>
                  <a:txBody>
                    <a:bodyPr wrap="none"/>
                    <a:lstStyle/>
                    <a:p>
                      <a:pPr algn="l"/>
                      <a:r>
                        <a:rPr sz="1100" b="1">
                          <a:solidFill>
                            <a:srgbClr val="0B2E4A"/>
                          </a:solidFill>
                          <a:latin typeface="Calibri"/>
                        </a:rPr>
                        <a:t>Sales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Foodservice and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Vending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Sales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Retail</a:t>
            </a:r>
          </a:p>
        </p:txBody>
      </p:sp>
      <p:sp>
        <p:nvSpPr>
          <p:cNvPr id="33" name="Rectangle 32"/>
          <p:cNvSpPr/>
          <p:nvPr/>
        </p:nvSpPr>
        <p:spPr>
          <a:xfrm>
            <a:off x="1857375" y="300037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institutional</a:t>
            </a:r>
          </a:p>
        </p:txBody>
      </p:sp>
      <p:sp>
        <p:nvSpPr>
          <p:cNvPr id="49" name="Rectangle 48"/>
          <p:cNvSpPr/>
          <p:nvPr/>
        </p:nvSpPr>
        <p:spPr>
          <a:xfrm>
            <a:off x="1857375" y="4191000"/>
            <a:ext cx="643890" cy="1190625"/>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Vending</a:t>
            </a:r>
          </a:p>
        </p:txBody>
      </p:sp>
      <p:sp>
        <p:nvSpPr>
          <p:cNvPr id="65" name="Rectangle 64"/>
          <p:cNvSpPr/>
          <p:nvPr/>
        </p:nvSpPr>
        <p:spPr>
          <a:xfrm>
            <a:off x="1857375" y="5381625"/>
            <a:ext cx="643890" cy="1190625"/>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6973252"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Packaging Format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Sales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Individual Muffin Size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Flavour,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flavour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Flavour, 2026E and 2036F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3110607"/>
                <a:gridCol w="1462765"/>
                <a:gridCol w="1462765"/>
                <a:gridCol w="1462765"/>
                <a:gridCol w="1462765"/>
                <a:gridCol w="1462765"/>
                <a:gridCol w="1462765"/>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466155" y="1839958"/>
            <a:ext cx="363680" cy="528989"/>
          </a:xfrm>
          <a:prstGeom prst="rect">
            <a:avLst/>
          </a:prstGeom>
        </p:spPr>
      </p:pic>
      <p:sp>
        <p:nvSpPr>
          <p:cNvPr id="21" name="TextBox 20"/>
          <p:cNvSpPr txBox="1"/>
          <p:nvPr/>
        </p:nvSpPr>
        <p:spPr>
          <a:xfrm>
            <a:off x="276225" y="3238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228276"/>
            <a:ext cx="134549" cy="195707"/>
          </a:xfrm>
          <a:prstGeom prst="rect">
            <a:avLst/>
          </a:prstGeom>
        </p:spPr>
      </p:pic>
      <p:sp>
        <p:nvSpPr>
          <p:cNvPr id="23" name="TextBox 22"/>
          <p:cNvSpPr txBox="1"/>
          <p:nvPr/>
        </p:nvSpPr>
        <p:spPr>
          <a:xfrm>
            <a:off x="5586156" y="3238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228276"/>
            <a:ext cx="134549" cy="195707"/>
          </a:xfrm>
          <a:prstGeom prst="rect">
            <a:avLst/>
          </a:prstGeom>
        </p:spPr>
      </p:pic>
      <p:sp>
        <p:nvSpPr>
          <p:cNvPr id="25" name="TextBox 24"/>
          <p:cNvSpPr txBox="1"/>
          <p:nvPr/>
        </p:nvSpPr>
        <p:spPr>
          <a:xfrm>
            <a:off x="6292945" y="3238500"/>
            <a:ext cx="4495638" cy="194310"/>
          </a:xfrm>
          <a:prstGeom prst="rect">
            <a:avLst/>
          </a:prstGeom>
          <a:noFill/>
        </p:spPr>
        <p:txBody>
          <a:bodyPr wrap="none" lIns="0" rIns="0" tIns="0" bIns="0">
            <a:spAutoFit/>
          </a:bodyPr>
          <a:lstStyle/>
          <a:p>
            <a:r>
              <a:rPr sz="1150" b="0">
                <a:solidFill>
                  <a:srgbClr val="2E2E2E"/>
                </a:solidFill>
                <a:latin typeface="Calibri"/>
              </a:rPr>
              <a:t>in 2026E), with 'Sweet Muffins Flavours' its leading flavour sub-segment at</a:t>
            </a:r>
          </a:p>
        </p:txBody>
      </p:sp>
      <p:pic>
        <p:nvPicPr>
          <p:cNvPr id="26" name="Picture 25" descr="lock.png"/>
          <p:cNvPicPr>
            <a:picLocks noChangeAspect="1"/>
          </p:cNvPicPr>
          <p:nvPr/>
        </p:nvPicPr>
        <p:blipFill>
          <a:blip r:embed="rId4"/>
          <a:stretch>
            <a:fillRect/>
          </a:stretch>
        </p:blipFill>
        <p:spPr>
          <a:xfrm>
            <a:off x="10737737" y="3228276"/>
            <a:ext cx="134549" cy="195707"/>
          </a:xfrm>
          <a:prstGeom prst="rect">
            <a:avLst/>
          </a:prstGeom>
        </p:spPr>
      </p:pic>
      <p:sp>
        <p:nvSpPr>
          <p:cNvPr id="27" name="TextBox 26"/>
          <p:cNvSpPr txBox="1"/>
          <p:nvPr/>
        </p:nvSpPr>
        <p:spPr>
          <a:xfrm>
            <a:off x="10912847" y="323850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8" name="TextBox 27"/>
          <p:cNvSpPr txBox="1"/>
          <p:nvPr/>
        </p:nvSpPr>
        <p:spPr>
          <a:xfrm>
            <a:off x="276225" y="3466337"/>
            <a:ext cx="4994262" cy="194310"/>
          </a:xfrm>
          <a:prstGeom prst="rect">
            <a:avLst/>
          </a:prstGeom>
          <a:noFill/>
        </p:spPr>
        <p:txBody>
          <a:bodyPr wrap="none" lIns="0" rIns="0" tIns="0" bIns="0">
            <a:spAutoFit/>
          </a:bodyPr>
          <a:lstStyle/>
          <a:p>
            <a:r>
              <a:rPr sz="1150" b="0">
                <a:solidFill>
                  <a:srgbClr val="2E2E2E"/>
                </a:solidFill>
                <a:latin typeface="Calibri"/>
              </a:rPr>
              <a:t>▪ 'Sweet muffins × Sweet Muffins Flavours' is the single largest cross-sectional cell (</a:t>
            </a:r>
          </a:p>
        </p:txBody>
      </p:sp>
      <p:pic>
        <p:nvPicPr>
          <p:cNvPr id="29" name="Picture 28" descr="lock.png"/>
          <p:cNvPicPr>
            <a:picLocks noChangeAspect="1"/>
          </p:cNvPicPr>
          <p:nvPr/>
        </p:nvPicPr>
        <p:blipFill>
          <a:blip r:embed="rId4"/>
          <a:stretch>
            <a:fillRect/>
          </a:stretch>
        </p:blipFill>
        <p:spPr>
          <a:xfrm>
            <a:off x="5219641" y="3456114"/>
            <a:ext cx="134549" cy="195707"/>
          </a:xfrm>
          <a:prstGeom prst="rect">
            <a:avLst/>
          </a:prstGeom>
        </p:spPr>
      </p:pic>
      <p:sp>
        <p:nvSpPr>
          <p:cNvPr id="30" name="TextBox 29"/>
          <p:cNvSpPr txBox="1"/>
          <p:nvPr/>
        </p:nvSpPr>
        <p:spPr>
          <a:xfrm>
            <a:off x="5394750" y="3466337"/>
            <a:ext cx="6381719" cy="194310"/>
          </a:xfrm>
          <a:prstGeom prst="rect">
            <a:avLst/>
          </a:prstGeom>
          <a:noFill/>
        </p:spPr>
        <p:txBody>
          <a:bodyPr wrap="none" lIns="0" rIns="0" tIns="0" bIns="0">
            <a:spAutoFit/>
          </a:bodyPr>
          <a:lstStyle/>
          <a:p>
            <a:r>
              <a:rPr sz="1150" b="0">
                <a:solidFill>
                  <a:srgbClr val="2E2E2E"/>
                </a:solidFill>
                <a:latin typeface="Calibri"/>
              </a:rPr>
              <a:t>US$ Mn, 2026E), while 'Sweet muffins × Savoury Muffins Flavours' records the fastest growth at a CAGR of</a:t>
            </a:r>
          </a:p>
        </p:txBody>
      </p:sp>
      <p:pic>
        <p:nvPicPr>
          <p:cNvPr id="31" name="Picture 30" descr="lock.png"/>
          <p:cNvPicPr>
            <a:picLocks noChangeAspect="1"/>
          </p:cNvPicPr>
          <p:nvPr/>
        </p:nvPicPr>
        <p:blipFill>
          <a:blip r:embed="rId4"/>
          <a:stretch>
            <a:fillRect/>
          </a:stretch>
        </p:blipFill>
        <p:spPr>
          <a:xfrm>
            <a:off x="262145" y="3631374"/>
            <a:ext cx="134549" cy="195707"/>
          </a:xfrm>
          <a:prstGeom prst="rect">
            <a:avLst/>
          </a:prstGeom>
        </p:spPr>
      </p:pic>
      <p:sp>
        <p:nvSpPr>
          <p:cNvPr id="32" name="TextBox 31"/>
          <p:cNvSpPr txBox="1"/>
          <p:nvPr/>
        </p:nvSpPr>
        <p:spPr>
          <a:xfrm>
            <a:off x="437254" y="364159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3" name="TextBox 32"/>
          <p:cNvSpPr txBox="1"/>
          <p:nvPr/>
        </p:nvSpPr>
        <p:spPr>
          <a:xfrm>
            <a:off x="276225" y="3869435"/>
            <a:ext cx="5575895" cy="194310"/>
          </a:xfrm>
          <a:prstGeom prst="rect">
            <a:avLst/>
          </a:prstGeom>
          <a:noFill/>
        </p:spPr>
        <p:txBody>
          <a:bodyPr wrap="none" lIns="0" rIns="0" tIns="0" bIns="0">
            <a:spAutoFit/>
          </a:bodyPr>
          <a:lstStyle/>
          <a:p>
            <a:r>
              <a:rPr sz="1150" b="0">
                <a:solidFill>
                  <a:srgbClr val="2E2E2E"/>
                </a:solidFill>
                <a:latin typeface="Calibri"/>
              </a:rPr>
              <a:t>▪ Combined, the top three product type × flavour cells generate an absolute $ opportunity of</a:t>
            </a:r>
          </a:p>
        </p:txBody>
      </p:sp>
      <p:pic>
        <p:nvPicPr>
          <p:cNvPr id="34" name="Picture 33" descr="lock.png"/>
          <p:cNvPicPr>
            <a:picLocks noChangeAspect="1"/>
          </p:cNvPicPr>
          <p:nvPr/>
        </p:nvPicPr>
        <p:blipFill>
          <a:blip r:embed="rId4"/>
          <a:stretch>
            <a:fillRect/>
          </a:stretch>
        </p:blipFill>
        <p:spPr>
          <a:xfrm>
            <a:off x="5801274" y="3859212"/>
            <a:ext cx="134549" cy="195707"/>
          </a:xfrm>
          <a:prstGeom prst="rect">
            <a:avLst/>
          </a:prstGeom>
        </p:spPr>
      </p:pic>
      <p:sp>
        <p:nvSpPr>
          <p:cNvPr id="35" name="TextBox 34"/>
          <p:cNvSpPr txBox="1"/>
          <p:nvPr/>
        </p:nvSpPr>
        <p:spPr>
          <a:xfrm>
            <a:off x="5976383" y="386943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Flavour,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flavour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Flavour, 2026E (% of each row)</a:t>
            </a:r>
          </a:p>
        </p:txBody>
      </p:sp>
      <p:graphicFrame>
        <p:nvGraphicFramePr>
          <p:cNvPr id="13" name="Table 12"/>
          <p:cNvGraphicFramePr>
            <a:graphicFrameLocks noGrp="1"/>
          </p:cNvGraphicFramePr>
          <p:nvPr/>
        </p:nvGraphicFramePr>
        <p:xfrm>
          <a:off x="152400" y="1238250"/>
          <a:ext cx="11887201" cy="1428751"/>
        </p:xfrm>
        <a:graphic>
          <a:graphicData uri="http://schemas.openxmlformats.org/drawingml/2006/table">
            <a:tbl>
              <a:tblPr>
                <a:tableStyleId>{5C22544A-7EE6-4342-B048-85BDC9FD1C3A}</a:tableStyleId>
              </a:tblPr>
              <a:tblGrid>
                <a:gridCol w="1083397"/>
                <a:gridCol w="788880"/>
                <a:gridCol w="1110156"/>
                <a:gridCol w="1308532"/>
                <a:gridCol w="1070776"/>
                <a:gridCol w="1688541"/>
                <a:gridCol w="943374"/>
                <a:gridCol w="1117515"/>
                <a:gridCol w="830550"/>
                <a:gridCol w="1401674"/>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5">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4">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245">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Fruit-based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Chocolate-based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Nut and seed-based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Plain and classic</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Spice and dessert-inspired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Cheese-based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Vegetable-based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Meat-based</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Herb and spice-based</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7286625"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0670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Flavour Mix by Product Type, 2026E (% share)</a:t>
            </a:r>
          </a:p>
        </p:txBody>
      </p:sp>
      <p:graphicFrame>
        <p:nvGraphicFramePr>
          <p:cNvPr id="17" name="Chart 16"/>
          <p:cNvGraphicFramePr>
            <a:graphicFrameLocks noGrp="1"/>
          </p:cNvGraphicFramePr>
          <p:nvPr/>
        </p:nvGraphicFramePr>
        <p:xfrm>
          <a:off x="238125" y="3295650"/>
          <a:ext cx="7096125" cy="32766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009900"/>
            <a:ext cx="4457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0956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3337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419475"/>
            <a:ext cx="4191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1008" y="2029112"/>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990419"/>
            <a:ext cx="440818" cy="641190"/>
          </a:xfrm>
          <a:prstGeom prst="rect">
            <a:avLst/>
          </a:prstGeom>
        </p:spPr>
      </p:pic>
      <p:sp>
        <p:nvSpPr>
          <p:cNvPr id="25" name="TextBox 24"/>
          <p:cNvSpPr txBox="1"/>
          <p:nvPr/>
        </p:nvSpPr>
        <p:spPr>
          <a:xfrm>
            <a:off x="7715250" y="3429000"/>
            <a:ext cx="3568278" cy="194310"/>
          </a:xfrm>
          <a:prstGeom prst="rect">
            <a:avLst/>
          </a:prstGeom>
          <a:noFill/>
        </p:spPr>
        <p:txBody>
          <a:bodyPr wrap="none" lIns="0" rIns="0" tIns="0" bIns="0">
            <a:spAutoFit/>
          </a:bodyPr>
          <a:lstStyle/>
          <a:p>
            <a:r>
              <a:rPr sz="1150" b="0">
                <a:solidFill>
                  <a:srgbClr val="2E2E2E"/>
                </a:solidFill>
                <a:latin typeface="Calibri"/>
              </a:rPr>
              <a:t>▪ 'Fruit-based' holds the highest share of 'Sweet muffins' at</a:t>
            </a:r>
          </a:p>
        </p:txBody>
      </p:sp>
      <p:pic>
        <p:nvPicPr>
          <p:cNvPr id="26" name="Picture 25" descr="lock.png"/>
          <p:cNvPicPr>
            <a:picLocks noChangeAspect="1"/>
          </p:cNvPicPr>
          <p:nvPr/>
        </p:nvPicPr>
        <p:blipFill>
          <a:blip r:embed="rId5"/>
          <a:stretch>
            <a:fillRect/>
          </a:stretch>
        </p:blipFill>
        <p:spPr>
          <a:xfrm>
            <a:off x="11232682" y="3418776"/>
            <a:ext cx="134549" cy="195707"/>
          </a:xfrm>
          <a:prstGeom prst="rect">
            <a:avLst/>
          </a:prstGeom>
        </p:spPr>
      </p:pic>
      <p:sp>
        <p:nvSpPr>
          <p:cNvPr id="27" name="TextBox 26"/>
          <p:cNvSpPr txBox="1"/>
          <p:nvPr/>
        </p:nvSpPr>
        <p:spPr>
          <a:xfrm>
            <a:off x="7715250" y="36042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83209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29" name="TextBox 28"/>
          <p:cNvSpPr txBox="1"/>
          <p:nvPr/>
        </p:nvSpPr>
        <p:spPr>
          <a:xfrm>
            <a:off x="7715250" y="400735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0" name="Picture 29" descr="lock.png"/>
          <p:cNvPicPr>
            <a:picLocks noChangeAspect="1"/>
          </p:cNvPicPr>
          <p:nvPr/>
        </p:nvPicPr>
        <p:blipFill>
          <a:blip r:embed="rId5"/>
          <a:stretch>
            <a:fillRect/>
          </a:stretch>
        </p:blipFill>
        <p:spPr>
          <a:xfrm>
            <a:off x="8004463" y="3997134"/>
            <a:ext cx="134549" cy="195707"/>
          </a:xfrm>
          <a:prstGeom prst="rect">
            <a:avLst/>
          </a:prstGeom>
        </p:spPr>
      </p:pic>
      <p:sp>
        <p:nvSpPr>
          <p:cNvPr id="31" name="TextBox 30"/>
          <p:cNvSpPr txBox="1"/>
          <p:nvPr/>
        </p:nvSpPr>
        <p:spPr>
          <a:xfrm>
            <a:off x="8179573" y="4007357"/>
            <a:ext cx="1734951" cy="194310"/>
          </a:xfrm>
          <a:prstGeom prst="rect">
            <a:avLst/>
          </a:prstGeom>
          <a:noFill/>
        </p:spPr>
        <p:txBody>
          <a:bodyPr wrap="none" lIns="0" rIns="0" tIns="0" bIns="0">
            <a:spAutoFit/>
          </a:bodyPr>
          <a:lstStyle/>
          <a:p>
            <a:r>
              <a:rPr sz="1150" b="0">
                <a:solidFill>
                  <a:srgbClr val="2E2E2E"/>
                </a:solidFill>
                <a:latin typeface="Calibri"/>
              </a:rPr>
              <a:t>of its value via 'Fruit-based'.</a:t>
            </a:r>
          </a:p>
        </p:txBody>
      </p:sp>
      <p:sp>
        <p:nvSpPr>
          <p:cNvPr id="32" name="TextBox 31"/>
          <p:cNvSpPr txBox="1"/>
          <p:nvPr/>
        </p:nvSpPr>
        <p:spPr>
          <a:xfrm>
            <a:off x="7715250" y="4235195"/>
            <a:ext cx="1498190" cy="194310"/>
          </a:xfrm>
          <a:prstGeom prst="rect">
            <a:avLst/>
          </a:prstGeom>
          <a:noFill/>
        </p:spPr>
        <p:txBody>
          <a:bodyPr wrap="none" lIns="0" rIns="0" tIns="0" bIns="0">
            <a:spAutoFit/>
          </a:bodyPr>
          <a:lstStyle/>
          <a:p>
            <a:r>
              <a:rPr sz="1150" b="0">
                <a:solidFill>
                  <a:srgbClr val="2E2E2E"/>
                </a:solidFill>
                <a:latin typeface="Calibri"/>
              </a:rPr>
              <a:t>▪ 'Cheese-based' gains +</a:t>
            </a:r>
          </a:p>
        </p:txBody>
      </p:sp>
      <p:pic>
        <p:nvPicPr>
          <p:cNvPr id="33" name="Picture 32" descr="lock.png"/>
          <p:cNvPicPr>
            <a:picLocks noChangeAspect="1"/>
          </p:cNvPicPr>
          <p:nvPr/>
        </p:nvPicPr>
        <p:blipFill>
          <a:blip r:embed="rId5"/>
          <a:stretch>
            <a:fillRect/>
          </a:stretch>
        </p:blipFill>
        <p:spPr>
          <a:xfrm>
            <a:off x="9162594" y="4224972"/>
            <a:ext cx="134549" cy="195707"/>
          </a:xfrm>
          <a:prstGeom prst="rect">
            <a:avLst/>
          </a:prstGeom>
        </p:spPr>
      </p:pic>
      <p:sp>
        <p:nvSpPr>
          <p:cNvPr id="34" name="TextBox 33"/>
          <p:cNvSpPr txBox="1"/>
          <p:nvPr/>
        </p:nvSpPr>
        <p:spPr>
          <a:xfrm>
            <a:off x="9337703" y="423519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5" name="TextBox 34"/>
          <p:cNvSpPr txBox="1"/>
          <p:nvPr/>
        </p:nvSpPr>
        <p:spPr>
          <a:xfrm>
            <a:off x="7715250" y="441045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6" name="lockshield_17"/>
          <p:cNvSpPr/>
          <p:nvPr/>
        </p:nvSpPr>
        <p:spPr>
          <a:xfrm>
            <a:off x="238125" y="3295650"/>
            <a:ext cx="7096125" cy="32766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Flavour,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Flavour, 2026E–2036F</a:t>
            </a:r>
          </a:p>
        </p:txBody>
      </p:sp>
      <p:graphicFrame>
        <p:nvGraphicFramePr>
          <p:cNvPr id="13" name="Table 12"/>
          <p:cNvGraphicFramePr>
            <a:graphicFrameLocks noGrp="1"/>
          </p:cNvGraphicFramePr>
          <p:nvPr/>
        </p:nvGraphicFramePr>
        <p:xfrm>
          <a:off x="152400" y="1238250"/>
          <a:ext cx="11887198" cy="1238250"/>
        </p:xfrm>
        <a:graphic>
          <a:graphicData uri="http://schemas.openxmlformats.org/drawingml/2006/table">
            <a:tbl>
              <a:tblPr>
                <a:tableStyleId>{5C22544A-7EE6-4342-B048-85BDC9FD1C3A}</a:tableStyleId>
              </a:tblPr>
              <a:tblGrid>
                <a:gridCol w="2819932"/>
                <a:gridCol w="1511211"/>
                <a:gridCol w="1511211"/>
                <a:gridCol w="1511211"/>
                <a:gridCol w="1511211"/>
                <a:gridCol w="1511211"/>
                <a:gridCol w="1511211"/>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Sweet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Savoury Muffins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Sweet Muffins Flavours' ranks highest (5/5); 'Savoury muffins × Sweet Muffins Flavours'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319275" y="1837753"/>
            <a:ext cx="366712" cy="533400"/>
          </a:xfrm>
          <a:prstGeom prst="rect">
            <a:avLst/>
          </a:prstGeom>
        </p:spPr>
      </p:pic>
      <p:sp>
        <p:nvSpPr>
          <p:cNvPr id="33" name="TextBox 32"/>
          <p:cNvSpPr txBox="1"/>
          <p:nvPr/>
        </p:nvSpPr>
        <p:spPr>
          <a:xfrm>
            <a:off x="276225" y="3238500"/>
            <a:ext cx="2787253" cy="194310"/>
          </a:xfrm>
          <a:prstGeom prst="rect">
            <a:avLst/>
          </a:prstGeom>
          <a:noFill/>
        </p:spPr>
        <p:txBody>
          <a:bodyPr wrap="none" lIns="0" rIns="0" tIns="0" bIns="0">
            <a:spAutoFit/>
          </a:bodyPr>
          <a:lstStyle/>
          <a:p>
            <a:r>
              <a:rPr sz="1150" b="0">
                <a:solidFill>
                  <a:srgbClr val="2E2E2E"/>
                </a:solidFill>
                <a:latin typeface="Calibri"/>
              </a:rPr>
              <a:t>▪ 1. Sweet muffins × Sweet Muffins Flavours –</a:t>
            </a:r>
          </a:p>
        </p:txBody>
      </p:sp>
      <p:pic>
        <p:nvPicPr>
          <p:cNvPr id="34" name="Picture 33" descr="lock.png"/>
          <p:cNvPicPr>
            <a:picLocks noChangeAspect="1"/>
          </p:cNvPicPr>
          <p:nvPr/>
        </p:nvPicPr>
        <p:blipFill>
          <a:blip r:embed="rId4"/>
          <a:stretch>
            <a:fillRect/>
          </a:stretch>
        </p:blipFill>
        <p:spPr>
          <a:xfrm>
            <a:off x="3012632" y="3228276"/>
            <a:ext cx="134549" cy="195707"/>
          </a:xfrm>
          <a:prstGeom prst="rect">
            <a:avLst/>
          </a:prstGeom>
        </p:spPr>
      </p:pic>
      <p:sp>
        <p:nvSpPr>
          <p:cNvPr id="35" name="TextBox 34"/>
          <p:cNvSpPr txBox="1"/>
          <p:nvPr/>
        </p:nvSpPr>
        <p:spPr>
          <a:xfrm>
            <a:off x="3187741"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249893" y="3228276"/>
            <a:ext cx="134549" cy="195707"/>
          </a:xfrm>
          <a:prstGeom prst="rect">
            <a:avLst/>
          </a:prstGeom>
        </p:spPr>
      </p:pic>
      <p:sp>
        <p:nvSpPr>
          <p:cNvPr id="37" name="TextBox 36"/>
          <p:cNvSpPr txBox="1"/>
          <p:nvPr/>
        </p:nvSpPr>
        <p:spPr>
          <a:xfrm>
            <a:off x="3425002"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466337"/>
            <a:ext cx="2895079" cy="194310"/>
          </a:xfrm>
          <a:prstGeom prst="rect">
            <a:avLst/>
          </a:prstGeom>
          <a:noFill/>
        </p:spPr>
        <p:txBody>
          <a:bodyPr wrap="none" lIns="0" rIns="0" tIns="0" bIns="0">
            <a:spAutoFit/>
          </a:bodyPr>
          <a:lstStyle/>
          <a:p>
            <a:r>
              <a:rPr sz="1150" b="0">
                <a:solidFill>
                  <a:srgbClr val="2E2E2E"/>
                </a:solidFill>
                <a:latin typeface="Calibri"/>
              </a:rPr>
              <a:t>▪ 2. Sweet muffins × Savoury Muffins Flavours –</a:t>
            </a:r>
          </a:p>
        </p:txBody>
      </p:sp>
      <p:pic>
        <p:nvPicPr>
          <p:cNvPr id="39" name="Picture 38" descr="lock.png"/>
          <p:cNvPicPr>
            <a:picLocks noChangeAspect="1"/>
          </p:cNvPicPr>
          <p:nvPr/>
        </p:nvPicPr>
        <p:blipFill>
          <a:blip r:embed="rId4"/>
          <a:stretch>
            <a:fillRect/>
          </a:stretch>
        </p:blipFill>
        <p:spPr>
          <a:xfrm>
            <a:off x="3120458" y="3456114"/>
            <a:ext cx="134549" cy="195707"/>
          </a:xfrm>
          <a:prstGeom prst="rect">
            <a:avLst/>
          </a:prstGeom>
        </p:spPr>
      </p:pic>
      <p:sp>
        <p:nvSpPr>
          <p:cNvPr id="40" name="TextBox 39"/>
          <p:cNvSpPr txBox="1"/>
          <p:nvPr/>
        </p:nvSpPr>
        <p:spPr>
          <a:xfrm>
            <a:off x="3295567"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357719" y="3456114"/>
            <a:ext cx="134549" cy="195707"/>
          </a:xfrm>
          <a:prstGeom prst="rect">
            <a:avLst/>
          </a:prstGeom>
        </p:spPr>
      </p:pic>
      <p:sp>
        <p:nvSpPr>
          <p:cNvPr id="42" name="TextBox 41"/>
          <p:cNvSpPr txBox="1"/>
          <p:nvPr/>
        </p:nvSpPr>
        <p:spPr>
          <a:xfrm>
            <a:off x="3532828" y="34663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3694175"/>
            <a:ext cx="3002905" cy="194310"/>
          </a:xfrm>
          <a:prstGeom prst="rect">
            <a:avLst/>
          </a:prstGeom>
          <a:noFill/>
        </p:spPr>
        <p:txBody>
          <a:bodyPr wrap="none" lIns="0" rIns="0" tIns="0" bIns="0">
            <a:spAutoFit/>
          </a:bodyPr>
          <a:lstStyle/>
          <a:p>
            <a:r>
              <a:rPr sz="1150" b="0">
                <a:solidFill>
                  <a:srgbClr val="2E2E2E"/>
                </a:solidFill>
                <a:latin typeface="Calibri"/>
              </a:rPr>
              <a:t>▪ 3. Savoury muffins × Savoury Muffins Flavours –</a:t>
            </a:r>
          </a:p>
        </p:txBody>
      </p:sp>
      <p:pic>
        <p:nvPicPr>
          <p:cNvPr id="44" name="Picture 43" descr="lock.png"/>
          <p:cNvPicPr>
            <a:picLocks noChangeAspect="1"/>
          </p:cNvPicPr>
          <p:nvPr/>
        </p:nvPicPr>
        <p:blipFill>
          <a:blip r:embed="rId4"/>
          <a:stretch>
            <a:fillRect/>
          </a:stretch>
        </p:blipFill>
        <p:spPr>
          <a:xfrm>
            <a:off x="3228284" y="3683952"/>
            <a:ext cx="134549" cy="195707"/>
          </a:xfrm>
          <a:prstGeom prst="rect">
            <a:avLst/>
          </a:prstGeom>
        </p:spPr>
      </p:pic>
      <p:sp>
        <p:nvSpPr>
          <p:cNvPr id="45" name="TextBox 44"/>
          <p:cNvSpPr txBox="1"/>
          <p:nvPr/>
        </p:nvSpPr>
        <p:spPr>
          <a:xfrm>
            <a:off x="3403393"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465544" y="3683952"/>
            <a:ext cx="134549" cy="195707"/>
          </a:xfrm>
          <a:prstGeom prst="rect">
            <a:avLst/>
          </a:prstGeom>
        </p:spPr>
      </p:pic>
      <p:sp>
        <p:nvSpPr>
          <p:cNvPr id="47" name="TextBox 46"/>
          <p:cNvSpPr txBox="1"/>
          <p:nvPr/>
        </p:nvSpPr>
        <p:spPr>
          <a:xfrm>
            <a:off x="3640654" y="36941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3922013"/>
            <a:ext cx="2895079" cy="194310"/>
          </a:xfrm>
          <a:prstGeom prst="rect">
            <a:avLst/>
          </a:prstGeom>
          <a:noFill/>
        </p:spPr>
        <p:txBody>
          <a:bodyPr wrap="none" lIns="0" rIns="0" tIns="0" bIns="0">
            <a:spAutoFit/>
          </a:bodyPr>
          <a:lstStyle/>
          <a:p>
            <a:r>
              <a:rPr sz="1150" b="0">
                <a:solidFill>
                  <a:srgbClr val="2E2E2E"/>
                </a:solidFill>
                <a:latin typeface="Calibri"/>
              </a:rPr>
              <a:t>▪ 4. Savoury muffins × Sweet Muffins Flavours –</a:t>
            </a:r>
          </a:p>
        </p:txBody>
      </p:sp>
      <p:pic>
        <p:nvPicPr>
          <p:cNvPr id="49" name="Picture 48" descr="lock.png"/>
          <p:cNvPicPr>
            <a:picLocks noChangeAspect="1"/>
          </p:cNvPicPr>
          <p:nvPr/>
        </p:nvPicPr>
        <p:blipFill>
          <a:blip r:embed="rId4"/>
          <a:stretch>
            <a:fillRect/>
          </a:stretch>
        </p:blipFill>
        <p:spPr>
          <a:xfrm>
            <a:off x="3120458" y="3911790"/>
            <a:ext cx="134549" cy="195707"/>
          </a:xfrm>
          <a:prstGeom prst="rect">
            <a:avLst/>
          </a:prstGeom>
        </p:spPr>
      </p:pic>
      <p:sp>
        <p:nvSpPr>
          <p:cNvPr id="50" name="TextBox 49"/>
          <p:cNvSpPr txBox="1"/>
          <p:nvPr/>
        </p:nvSpPr>
        <p:spPr>
          <a:xfrm>
            <a:off x="3295567"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357719" y="3911790"/>
            <a:ext cx="134549" cy="195707"/>
          </a:xfrm>
          <a:prstGeom prst="rect">
            <a:avLst/>
          </a:prstGeom>
        </p:spPr>
      </p:pic>
      <p:sp>
        <p:nvSpPr>
          <p:cNvPr id="52" name="TextBox 51"/>
          <p:cNvSpPr txBox="1"/>
          <p:nvPr/>
        </p:nvSpPr>
        <p:spPr>
          <a:xfrm>
            <a:off x="3532828" y="3922013"/>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3" name="TextBox 52"/>
          <p:cNvSpPr txBox="1"/>
          <p:nvPr/>
        </p:nvSpPr>
        <p:spPr>
          <a:xfrm>
            <a:off x="6029325" y="3238500"/>
            <a:ext cx="1546969" cy="194310"/>
          </a:xfrm>
          <a:prstGeom prst="rect">
            <a:avLst/>
          </a:prstGeom>
          <a:noFill/>
        </p:spPr>
        <p:txBody>
          <a:bodyPr wrap="none" lIns="0" rIns="0" tIns="0" bIns="0">
            <a:spAutoFit/>
          </a:bodyPr>
          <a:lstStyle/>
          <a:p>
            <a:r>
              <a:rPr sz="1150" b="0">
                <a:solidFill>
                  <a:srgbClr val="2E2E2E"/>
                </a:solidFill>
                <a:latin typeface="Calibri"/>
              </a:rPr>
              <a:t>▪ 'Sweet muffins × Sweet</a:t>
            </a:r>
          </a:p>
        </p:txBody>
      </p:sp>
      <p:sp>
        <p:nvSpPr>
          <p:cNvPr id="54" name="TextBox 53"/>
          <p:cNvSpPr txBox="1"/>
          <p:nvPr/>
        </p:nvSpPr>
        <p:spPr>
          <a:xfrm>
            <a:off x="6029325" y="3413760"/>
            <a:ext cx="1411473" cy="194310"/>
          </a:xfrm>
          <a:prstGeom prst="rect">
            <a:avLst/>
          </a:prstGeom>
          <a:noFill/>
        </p:spPr>
        <p:txBody>
          <a:bodyPr wrap="none" lIns="0" rIns="0" tIns="0" bIns="0">
            <a:spAutoFit/>
          </a:bodyPr>
          <a:lstStyle/>
          <a:p>
            <a:r>
              <a:rPr sz="1150" b="0">
                <a:solidFill>
                  <a:srgbClr val="2E2E2E"/>
                </a:solidFill>
                <a:latin typeface="Calibri"/>
              </a:rPr>
              <a:t>Muffins Flavours' adds</a:t>
            </a:r>
          </a:p>
        </p:txBody>
      </p:sp>
      <p:pic>
        <p:nvPicPr>
          <p:cNvPr id="55" name="Picture 54" descr="lock.png"/>
          <p:cNvPicPr>
            <a:picLocks noChangeAspect="1"/>
          </p:cNvPicPr>
          <p:nvPr/>
        </p:nvPicPr>
        <p:blipFill>
          <a:blip r:embed="rId4"/>
          <a:stretch>
            <a:fillRect/>
          </a:stretch>
        </p:blipFill>
        <p:spPr>
          <a:xfrm>
            <a:off x="7389952" y="3403536"/>
            <a:ext cx="134549" cy="195707"/>
          </a:xfrm>
          <a:prstGeom prst="rect">
            <a:avLst/>
          </a:prstGeom>
        </p:spPr>
      </p:pic>
      <p:sp>
        <p:nvSpPr>
          <p:cNvPr id="56" name="TextBox 55"/>
          <p:cNvSpPr txBox="1"/>
          <p:nvPr/>
        </p:nvSpPr>
        <p:spPr>
          <a:xfrm>
            <a:off x="6029325" y="358901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3578796"/>
            <a:ext cx="134549" cy="195707"/>
          </a:xfrm>
          <a:prstGeom prst="rect">
            <a:avLst/>
          </a:prstGeom>
        </p:spPr>
      </p:pic>
      <p:sp>
        <p:nvSpPr>
          <p:cNvPr id="58" name="TextBox 57"/>
          <p:cNvSpPr txBox="1"/>
          <p:nvPr/>
        </p:nvSpPr>
        <p:spPr>
          <a:xfrm>
            <a:off x="7378220" y="3589019"/>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3764279"/>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3238500"/>
            <a:ext cx="1654795" cy="194310"/>
          </a:xfrm>
          <a:prstGeom prst="rect">
            <a:avLst/>
          </a:prstGeom>
          <a:noFill/>
        </p:spPr>
        <p:txBody>
          <a:bodyPr wrap="none" lIns="0" rIns="0" tIns="0" bIns="0">
            <a:spAutoFit/>
          </a:bodyPr>
          <a:lstStyle/>
          <a:p>
            <a:r>
              <a:rPr sz="1150" b="0">
                <a:solidFill>
                  <a:srgbClr val="2E2E2E"/>
                </a:solidFill>
                <a:latin typeface="Calibri"/>
              </a:rPr>
              <a:t>▪ 'Sweet muffins × Savoury</a:t>
            </a:r>
          </a:p>
        </p:txBody>
      </p:sp>
      <p:sp>
        <p:nvSpPr>
          <p:cNvPr id="61" name="TextBox 60"/>
          <p:cNvSpPr txBox="1"/>
          <p:nvPr/>
        </p:nvSpPr>
        <p:spPr>
          <a:xfrm>
            <a:off x="8124825" y="3413760"/>
            <a:ext cx="1641388" cy="194310"/>
          </a:xfrm>
          <a:prstGeom prst="rect">
            <a:avLst/>
          </a:prstGeom>
          <a:noFill/>
        </p:spPr>
        <p:txBody>
          <a:bodyPr wrap="none" lIns="0" rIns="0" tIns="0" bIns="0">
            <a:spAutoFit/>
          </a:bodyPr>
          <a:lstStyle/>
          <a:p>
            <a:r>
              <a:rPr sz="1150" b="0">
                <a:solidFill>
                  <a:srgbClr val="2E2E2E"/>
                </a:solidFill>
                <a:latin typeface="Calibri"/>
              </a:rPr>
              <a:t>Muffins Flavours' grows at</a:t>
            </a:r>
          </a:p>
        </p:txBody>
      </p:sp>
      <p:sp>
        <p:nvSpPr>
          <p:cNvPr id="62" name="TextBox 61"/>
          <p:cNvSpPr txBox="1"/>
          <p:nvPr/>
        </p:nvSpPr>
        <p:spPr>
          <a:xfrm>
            <a:off x="8124825" y="3589019"/>
            <a:ext cx="146087" cy="194310"/>
          </a:xfrm>
          <a:prstGeom prst="rect">
            <a:avLst/>
          </a:prstGeom>
          <a:noFill/>
        </p:spPr>
        <p:txBody>
          <a:bodyPr wrap="none" lIns="0" rIns="0" tIns="0" bIns="0">
            <a:spAutoFit/>
          </a:bodyPr>
          <a:lstStyle/>
          <a:p>
            <a:r>
              <a:rPr sz="1150" b="0">
                <a:solidFill>
                  <a:srgbClr val="2E2E2E"/>
                </a:solidFill>
                <a:latin typeface="Calibri"/>
              </a:rPr>
              <a:t>a</a:t>
            </a:r>
          </a:p>
        </p:txBody>
      </p:sp>
      <p:pic>
        <p:nvPicPr>
          <p:cNvPr id="63" name="Picture 62" descr="lock.png"/>
          <p:cNvPicPr>
            <a:picLocks noChangeAspect="1"/>
          </p:cNvPicPr>
          <p:nvPr/>
        </p:nvPicPr>
        <p:blipFill>
          <a:blip r:embed="rId4"/>
          <a:stretch>
            <a:fillRect/>
          </a:stretch>
        </p:blipFill>
        <p:spPr>
          <a:xfrm>
            <a:off x="8220066" y="3578796"/>
            <a:ext cx="134549" cy="195707"/>
          </a:xfrm>
          <a:prstGeom prst="rect">
            <a:avLst/>
          </a:prstGeom>
        </p:spPr>
      </p:pic>
      <p:sp>
        <p:nvSpPr>
          <p:cNvPr id="64" name="TextBox 63"/>
          <p:cNvSpPr txBox="1"/>
          <p:nvPr/>
        </p:nvSpPr>
        <p:spPr>
          <a:xfrm>
            <a:off x="8395175"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8790771" y="3578796"/>
            <a:ext cx="134549" cy="195707"/>
          </a:xfrm>
          <a:prstGeom prst="rect">
            <a:avLst/>
          </a:prstGeom>
        </p:spPr>
      </p:pic>
      <p:sp>
        <p:nvSpPr>
          <p:cNvPr id="66" name="TextBox 65"/>
          <p:cNvSpPr txBox="1"/>
          <p:nvPr/>
        </p:nvSpPr>
        <p:spPr>
          <a:xfrm>
            <a:off x="8965880" y="3589019"/>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67" name="TextBox 66"/>
          <p:cNvSpPr txBox="1"/>
          <p:nvPr/>
        </p:nvSpPr>
        <p:spPr>
          <a:xfrm>
            <a:off x="8124825" y="376427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Packaging Format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Packaging Format,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packaging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Packaging Format, 2026E and 2036F (US$ Mn)</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2084557"/>
                <a:gridCol w="980264"/>
                <a:gridCol w="980264"/>
                <a:gridCol w="980264"/>
                <a:gridCol w="980264"/>
                <a:gridCol w="980264"/>
                <a:gridCol w="980264"/>
                <a:gridCol w="980264"/>
                <a:gridCol w="980264"/>
                <a:gridCol w="980264"/>
                <a:gridCol w="98026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587" y="1837753"/>
            <a:ext cx="366712" cy="533400"/>
          </a:xfrm>
          <a:prstGeom prst="rect">
            <a:avLst/>
          </a:prstGeom>
        </p:spPr>
      </p:pic>
      <p:sp>
        <p:nvSpPr>
          <p:cNvPr id="21" name="TextBox 20"/>
          <p:cNvSpPr txBox="1"/>
          <p:nvPr/>
        </p:nvSpPr>
        <p:spPr>
          <a:xfrm>
            <a:off x="276225" y="3238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228276"/>
            <a:ext cx="134549" cy="195707"/>
          </a:xfrm>
          <a:prstGeom prst="rect">
            <a:avLst/>
          </a:prstGeom>
        </p:spPr>
      </p:pic>
      <p:sp>
        <p:nvSpPr>
          <p:cNvPr id="23" name="TextBox 22"/>
          <p:cNvSpPr txBox="1"/>
          <p:nvPr/>
        </p:nvSpPr>
        <p:spPr>
          <a:xfrm>
            <a:off x="5586156" y="3238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228276"/>
            <a:ext cx="134549" cy="195707"/>
          </a:xfrm>
          <a:prstGeom prst="rect">
            <a:avLst/>
          </a:prstGeom>
        </p:spPr>
      </p:pic>
      <p:sp>
        <p:nvSpPr>
          <p:cNvPr id="25" name="TextBox 24"/>
          <p:cNvSpPr txBox="1"/>
          <p:nvPr/>
        </p:nvSpPr>
        <p:spPr>
          <a:xfrm>
            <a:off x="6292945" y="3238500"/>
            <a:ext cx="4794584" cy="194310"/>
          </a:xfrm>
          <a:prstGeom prst="rect">
            <a:avLst/>
          </a:prstGeom>
          <a:noFill/>
        </p:spPr>
        <p:txBody>
          <a:bodyPr wrap="none" lIns="0" rIns="0" tIns="0" bIns="0">
            <a:spAutoFit/>
          </a:bodyPr>
          <a:lstStyle/>
          <a:p>
            <a:r>
              <a:rPr sz="1150" b="0">
                <a:solidFill>
                  <a:srgbClr val="2E2E2E"/>
                </a:solidFill>
                <a:latin typeface="Calibri"/>
              </a:rPr>
              <a:t>in 2026E), with 'Rigid plastic packs' its leading packaging format sub-segment at</a:t>
            </a:r>
          </a:p>
        </p:txBody>
      </p:sp>
      <p:pic>
        <p:nvPicPr>
          <p:cNvPr id="26" name="Picture 25" descr="lock.png"/>
          <p:cNvPicPr>
            <a:picLocks noChangeAspect="1"/>
          </p:cNvPicPr>
          <p:nvPr/>
        </p:nvPicPr>
        <p:blipFill>
          <a:blip r:embed="rId4"/>
          <a:stretch>
            <a:fillRect/>
          </a:stretch>
        </p:blipFill>
        <p:spPr>
          <a:xfrm>
            <a:off x="11036683" y="3228276"/>
            <a:ext cx="134549" cy="195707"/>
          </a:xfrm>
          <a:prstGeom prst="rect">
            <a:avLst/>
          </a:prstGeom>
        </p:spPr>
      </p:pic>
      <p:sp>
        <p:nvSpPr>
          <p:cNvPr id="27" name="TextBox 26"/>
          <p:cNvSpPr txBox="1"/>
          <p:nvPr/>
        </p:nvSpPr>
        <p:spPr>
          <a:xfrm>
            <a:off x="11211793" y="323850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28" name="TextBox 27"/>
          <p:cNvSpPr txBox="1"/>
          <p:nvPr/>
        </p:nvSpPr>
        <p:spPr>
          <a:xfrm>
            <a:off x="276225" y="3413760"/>
            <a:ext cx="314672"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29" name="TextBox 28"/>
          <p:cNvSpPr txBox="1"/>
          <p:nvPr/>
        </p:nvSpPr>
        <p:spPr>
          <a:xfrm>
            <a:off x="276225" y="3641597"/>
            <a:ext cx="4677916" cy="194310"/>
          </a:xfrm>
          <a:prstGeom prst="rect">
            <a:avLst/>
          </a:prstGeom>
          <a:noFill/>
        </p:spPr>
        <p:txBody>
          <a:bodyPr wrap="none" lIns="0" rIns="0" tIns="0" bIns="0">
            <a:spAutoFit/>
          </a:bodyPr>
          <a:lstStyle/>
          <a:p>
            <a:r>
              <a:rPr sz="1150" b="0">
                <a:solidFill>
                  <a:srgbClr val="2E2E2E"/>
                </a:solidFill>
                <a:latin typeface="Calibri"/>
              </a:rPr>
              <a:t>▪ 'Sweet muffins × Rigid plastic packs' is the single largest cross-sectional cell (</a:t>
            </a:r>
          </a:p>
        </p:txBody>
      </p:sp>
      <p:pic>
        <p:nvPicPr>
          <p:cNvPr id="30" name="Picture 29" descr="lock.png"/>
          <p:cNvPicPr>
            <a:picLocks noChangeAspect="1"/>
          </p:cNvPicPr>
          <p:nvPr/>
        </p:nvPicPr>
        <p:blipFill>
          <a:blip r:embed="rId4"/>
          <a:stretch>
            <a:fillRect/>
          </a:stretch>
        </p:blipFill>
        <p:spPr>
          <a:xfrm>
            <a:off x="4903294" y="3631374"/>
            <a:ext cx="134549" cy="195707"/>
          </a:xfrm>
          <a:prstGeom prst="rect">
            <a:avLst/>
          </a:prstGeom>
        </p:spPr>
      </p:pic>
      <p:sp>
        <p:nvSpPr>
          <p:cNvPr id="31" name="TextBox 30"/>
          <p:cNvSpPr txBox="1"/>
          <p:nvPr/>
        </p:nvSpPr>
        <p:spPr>
          <a:xfrm>
            <a:off x="5078404" y="3641597"/>
            <a:ext cx="6355761" cy="194310"/>
          </a:xfrm>
          <a:prstGeom prst="rect">
            <a:avLst/>
          </a:prstGeom>
          <a:noFill/>
        </p:spPr>
        <p:txBody>
          <a:bodyPr wrap="none" lIns="0" rIns="0" tIns="0" bIns="0">
            <a:spAutoFit/>
          </a:bodyPr>
          <a:lstStyle/>
          <a:p>
            <a:r>
              <a:rPr sz="1150" b="0">
                <a:solidFill>
                  <a:srgbClr val="2E2E2E"/>
                </a:solidFill>
                <a:latin typeface="Calibri"/>
              </a:rPr>
              <a:t>US$ Mn, 2026E), while 'Sweet muffins × Other packaging formats' records the fastest growth at a CAGR of</a:t>
            </a:r>
          </a:p>
        </p:txBody>
      </p:sp>
      <p:pic>
        <p:nvPicPr>
          <p:cNvPr id="32" name="Picture 31" descr="lock.png"/>
          <p:cNvPicPr>
            <a:picLocks noChangeAspect="1"/>
          </p:cNvPicPr>
          <p:nvPr/>
        </p:nvPicPr>
        <p:blipFill>
          <a:blip r:embed="rId4"/>
          <a:stretch>
            <a:fillRect/>
          </a:stretch>
        </p:blipFill>
        <p:spPr>
          <a:xfrm>
            <a:off x="11383319" y="3631374"/>
            <a:ext cx="134549" cy="195707"/>
          </a:xfrm>
          <a:prstGeom prst="rect">
            <a:avLst/>
          </a:prstGeom>
        </p:spPr>
      </p:pic>
      <p:sp>
        <p:nvSpPr>
          <p:cNvPr id="33" name="TextBox 32"/>
          <p:cNvSpPr txBox="1"/>
          <p:nvPr/>
        </p:nvSpPr>
        <p:spPr>
          <a:xfrm>
            <a:off x="276225" y="381685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4" name="TextBox 33"/>
          <p:cNvSpPr txBox="1"/>
          <p:nvPr/>
        </p:nvSpPr>
        <p:spPr>
          <a:xfrm>
            <a:off x="276225" y="4044695"/>
            <a:ext cx="6191187" cy="194310"/>
          </a:xfrm>
          <a:prstGeom prst="rect">
            <a:avLst/>
          </a:prstGeom>
          <a:noFill/>
        </p:spPr>
        <p:txBody>
          <a:bodyPr wrap="none" lIns="0" rIns="0" tIns="0" bIns="0">
            <a:spAutoFit/>
          </a:bodyPr>
          <a:lstStyle/>
          <a:p>
            <a:r>
              <a:rPr sz="1150" b="0">
                <a:solidFill>
                  <a:srgbClr val="2E2E2E"/>
                </a:solidFill>
                <a:latin typeface="Calibri"/>
              </a:rPr>
              <a:t>▪ Combined, the top three product type × packaging format cells generate an absolute $ opportunity of</a:t>
            </a:r>
          </a:p>
        </p:txBody>
      </p:sp>
      <p:pic>
        <p:nvPicPr>
          <p:cNvPr id="35" name="Picture 34" descr="lock.png"/>
          <p:cNvPicPr>
            <a:picLocks noChangeAspect="1"/>
          </p:cNvPicPr>
          <p:nvPr/>
        </p:nvPicPr>
        <p:blipFill>
          <a:blip r:embed="rId4"/>
          <a:stretch>
            <a:fillRect/>
          </a:stretch>
        </p:blipFill>
        <p:spPr>
          <a:xfrm>
            <a:off x="6416566" y="4034472"/>
            <a:ext cx="134549" cy="195707"/>
          </a:xfrm>
          <a:prstGeom prst="rect">
            <a:avLst/>
          </a:prstGeom>
        </p:spPr>
      </p:pic>
      <p:sp>
        <p:nvSpPr>
          <p:cNvPr id="36" name="TextBox 35"/>
          <p:cNvSpPr txBox="1"/>
          <p:nvPr/>
        </p:nvSpPr>
        <p:spPr>
          <a:xfrm>
            <a:off x="6591676" y="404469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Packaging Format,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packaging format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Packaging Format, 2026E (% of each row)</a:t>
            </a:r>
          </a:p>
        </p:txBody>
      </p:sp>
      <p:graphicFrame>
        <p:nvGraphicFramePr>
          <p:cNvPr id="13" name="Table 12"/>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1090013"/>
                <a:gridCol w="1122093"/>
                <a:gridCol w="1186252"/>
                <a:gridCol w="1423148"/>
                <a:gridCol w="1358989"/>
                <a:gridCol w="473097"/>
                <a:gridCol w="1830313"/>
                <a:gridCol w="1252879"/>
                <a:gridCol w="1603288"/>
                <a:gridCol w="54712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Flow-wrap packs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Pouches and bags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Trays with sealed film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Clamshell containers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Tubs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Cartons with inner wrapping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Windowed cartons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7286625"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Packaging Format Mix by Product Type, 2026E (% share)</a:t>
            </a:r>
          </a:p>
        </p:txBody>
      </p:sp>
      <p:graphicFrame>
        <p:nvGraphicFramePr>
          <p:cNvPr id="17" name="Chart 16"/>
          <p:cNvGraphicFramePr>
            <a:graphicFrameLocks noGrp="1"/>
          </p:cNvGraphicFramePr>
          <p:nvPr/>
        </p:nvGraphicFramePr>
        <p:xfrm>
          <a:off x="238125" y="3105150"/>
          <a:ext cx="7096125" cy="34671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819400"/>
            <a:ext cx="4457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9051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143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228975"/>
            <a:ext cx="4191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4316" y="183775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864689"/>
            <a:ext cx="440818" cy="641190"/>
          </a:xfrm>
          <a:prstGeom prst="rect">
            <a:avLst/>
          </a:prstGeom>
        </p:spPr>
      </p:pic>
      <p:sp>
        <p:nvSpPr>
          <p:cNvPr id="25" name="TextBox 24"/>
          <p:cNvSpPr txBox="1"/>
          <p:nvPr/>
        </p:nvSpPr>
        <p:spPr>
          <a:xfrm>
            <a:off x="7715250" y="3238500"/>
            <a:ext cx="4124523" cy="194310"/>
          </a:xfrm>
          <a:prstGeom prst="rect">
            <a:avLst/>
          </a:prstGeom>
          <a:noFill/>
        </p:spPr>
        <p:txBody>
          <a:bodyPr wrap="none" lIns="0" rIns="0" tIns="0" bIns="0">
            <a:spAutoFit/>
          </a:bodyPr>
          <a:lstStyle/>
          <a:p>
            <a:r>
              <a:rPr sz="1150" b="0">
                <a:solidFill>
                  <a:srgbClr val="2E2E2E"/>
                </a:solidFill>
                <a:latin typeface="Calibri"/>
              </a:rPr>
              <a:t>▪ 'Windowed cartons' holds the highest share of 'Savoury muffins' at</a:t>
            </a:r>
          </a:p>
        </p:txBody>
      </p:sp>
      <p:pic>
        <p:nvPicPr>
          <p:cNvPr id="26" name="Picture 25" descr="lock.png"/>
          <p:cNvPicPr>
            <a:picLocks noChangeAspect="1"/>
          </p:cNvPicPr>
          <p:nvPr/>
        </p:nvPicPr>
        <p:blipFill>
          <a:blip r:embed="rId5"/>
          <a:stretch>
            <a:fillRect/>
          </a:stretch>
        </p:blipFill>
        <p:spPr>
          <a:xfrm>
            <a:off x="7701170" y="3403536"/>
            <a:ext cx="134549" cy="195707"/>
          </a:xfrm>
          <a:prstGeom prst="rect">
            <a:avLst/>
          </a:prstGeom>
        </p:spPr>
      </p:pic>
      <p:sp>
        <p:nvSpPr>
          <p:cNvPr id="27" name="TextBox 26"/>
          <p:cNvSpPr txBox="1"/>
          <p:nvPr/>
        </p:nvSpPr>
        <p:spPr>
          <a:xfrm>
            <a:off x="7876279" y="34137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641597"/>
            <a:ext cx="3499246" cy="194310"/>
          </a:xfrm>
          <a:prstGeom prst="rect">
            <a:avLst/>
          </a:prstGeom>
          <a:noFill/>
        </p:spPr>
        <p:txBody>
          <a:bodyPr wrap="none" lIns="0" rIns="0" tIns="0" bIns="0">
            <a:spAutoFit/>
          </a:bodyPr>
          <a:lstStyle/>
          <a:p>
            <a:r>
              <a:rPr sz="1150" b="0">
                <a:solidFill>
                  <a:srgbClr val="2E2E2E"/>
                </a:solidFill>
                <a:latin typeface="Calibri"/>
              </a:rPr>
              <a:t>▪ 'Savoury muffins' is the most concentrated product type</a:t>
            </a:r>
          </a:p>
        </p:txBody>
      </p:sp>
      <p:sp>
        <p:nvSpPr>
          <p:cNvPr id="29" name="TextBox 28"/>
          <p:cNvSpPr txBox="1"/>
          <p:nvPr/>
        </p:nvSpPr>
        <p:spPr>
          <a:xfrm>
            <a:off x="7715250" y="38168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0" name="Picture 29" descr="lock.png"/>
          <p:cNvPicPr>
            <a:picLocks noChangeAspect="1"/>
          </p:cNvPicPr>
          <p:nvPr/>
        </p:nvPicPr>
        <p:blipFill>
          <a:blip r:embed="rId5"/>
          <a:stretch>
            <a:fillRect/>
          </a:stretch>
        </p:blipFill>
        <p:spPr>
          <a:xfrm>
            <a:off x="8843110" y="3806634"/>
            <a:ext cx="134549" cy="195707"/>
          </a:xfrm>
          <a:prstGeom prst="rect">
            <a:avLst/>
          </a:prstGeom>
        </p:spPr>
      </p:pic>
      <p:sp>
        <p:nvSpPr>
          <p:cNvPr id="31" name="TextBox 30"/>
          <p:cNvSpPr txBox="1"/>
          <p:nvPr/>
        </p:nvSpPr>
        <p:spPr>
          <a:xfrm>
            <a:off x="9018219" y="3816857"/>
            <a:ext cx="2183370" cy="194310"/>
          </a:xfrm>
          <a:prstGeom prst="rect">
            <a:avLst/>
          </a:prstGeom>
          <a:noFill/>
        </p:spPr>
        <p:txBody>
          <a:bodyPr wrap="none" lIns="0" rIns="0" tIns="0" bIns="0">
            <a:spAutoFit/>
          </a:bodyPr>
          <a:lstStyle/>
          <a:p>
            <a:r>
              <a:rPr sz="1150" b="0">
                <a:solidFill>
                  <a:srgbClr val="2E2E2E"/>
                </a:solidFill>
                <a:latin typeface="Calibri"/>
              </a:rPr>
              <a:t>of its value via 'Windowed cartons'.</a:t>
            </a:r>
          </a:p>
        </p:txBody>
      </p:sp>
      <p:sp>
        <p:nvSpPr>
          <p:cNvPr id="32" name="TextBox 31"/>
          <p:cNvSpPr txBox="1"/>
          <p:nvPr/>
        </p:nvSpPr>
        <p:spPr>
          <a:xfrm>
            <a:off x="7715250" y="4044695"/>
            <a:ext cx="1901254" cy="194310"/>
          </a:xfrm>
          <a:prstGeom prst="rect">
            <a:avLst/>
          </a:prstGeom>
          <a:noFill/>
        </p:spPr>
        <p:txBody>
          <a:bodyPr wrap="none" lIns="0" rIns="0" tIns="0" bIns="0">
            <a:spAutoFit/>
          </a:bodyPr>
          <a:lstStyle/>
          <a:p>
            <a:r>
              <a:rPr sz="1150" b="0">
                <a:solidFill>
                  <a:srgbClr val="2E2E2E"/>
                </a:solidFill>
                <a:latin typeface="Calibri"/>
              </a:rPr>
              <a:t>▪ 'Clamshell containers' gains +</a:t>
            </a:r>
          </a:p>
        </p:txBody>
      </p:sp>
      <p:pic>
        <p:nvPicPr>
          <p:cNvPr id="33" name="Picture 32" descr="lock.png"/>
          <p:cNvPicPr>
            <a:picLocks noChangeAspect="1"/>
          </p:cNvPicPr>
          <p:nvPr/>
        </p:nvPicPr>
        <p:blipFill>
          <a:blip r:embed="rId5"/>
          <a:stretch>
            <a:fillRect/>
          </a:stretch>
        </p:blipFill>
        <p:spPr>
          <a:xfrm>
            <a:off x="9565658" y="4034472"/>
            <a:ext cx="134549" cy="195707"/>
          </a:xfrm>
          <a:prstGeom prst="rect">
            <a:avLst/>
          </a:prstGeom>
        </p:spPr>
      </p:pic>
      <p:sp>
        <p:nvSpPr>
          <p:cNvPr id="34" name="TextBox 33"/>
          <p:cNvSpPr txBox="1"/>
          <p:nvPr/>
        </p:nvSpPr>
        <p:spPr>
          <a:xfrm>
            <a:off x="9740767" y="40446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42199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105150"/>
            <a:ext cx="7096125" cy="3467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Packaging Format,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Packaging Format, 2026E–2036F</a:t>
            </a:r>
          </a:p>
        </p:txBody>
      </p:sp>
      <p:graphicFrame>
        <p:nvGraphicFramePr>
          <p:cNvPr id="13" name="Table 12"/>
          <p:cNvGraphicFramePr>
            <a:graphicFrameLocks noGrp="1"/>
          </p:cNvGraphicFramePr>
          <p:nvPr/>
        </p:nvGraphicFramePr>
        <p:xfrm>
          <a:off x="152400" y="1238250"/>
          <a:ext cx="11887200" cy="1238250"/>
        </p:xfrm>
        <a:graphic>
          <a:graphicData uri="http://schemas.openxmlformats.org/drawingml/2006/table">
            <a:tbl>
              <a:tblPr>
                <a:tableStyleId>{5C22544A-7EE6-4342-B048-85BDC9FD1C3A}</a:tableStyleId>
              </a:tblPr>
              <a:tblGrid>
                <a:gridCol w="1869340"/>
                <a:gridCol w="1001786"/>
                <a:gridCol w="1001786"/>
                <a:gridCol w="1001786"/>
                <a:gridCol w="1001786"/>
                <a:gridCol w="1001786"/>
                <a:gridCol w="1001786"/>
                <a:gridCol w="1001786"/>
                <a:gridCol w="1001786"/>
                <a:gridCol w="1001786"/>
                <a:gridCol w="100178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Rigid plastic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Paperboard packs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packaging formats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Rigid plastic packs' ranks highest (5/5); 'Savoury muffins × Paperboard packs'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843980" y="1837753"/>
            <a:ext cx="366712" cy="533400"/>
          </a:xfrm>
          <a:prstGeom prst="rect">
            <a:avLst/>
          </a:prstGeom>
        </p:spPr>
      </p:pic>
      <p:sp>
        <p:nvSpPr>
          <p:cNvPr id="33" name="TextBox 32"/>
          <p:cNvSpPr txBox="1"/>
          <p:nvPr/>
        </p:nvSpPr>
        <p:spPr>
          <a:xfrm>
            <a:off x="276225" y="3238500"/>
            <a:ext cx="2470906" cy="194310"/>
          </a:xfrm>
          <a:prstGeom prst="rect">
            <a:avLst/>
          </a:prstGeom>
          <a:noFill/>
        </p:spPr>
        <p:txBody>
          <a:bodyPr wrap="none" lIns="0" rIns="0" tIns="0" bIns="0">
            <a:spAutoFit/>
          </a:bodyPr>
          <a:lstStyle/>
          <a:p>
            <a:r>
              <a:rPr sz="1150" b="0">
                <a:solidFill>
                  <a:srgbClr val="2E2E2E"/>
                </a:solidFill>
                <a:latin typeface="Calibri"/>
              </a:rPr>
              <a:t>▪ 1. Sweet muffins × Rigid plastic packs –</a:t>
            </a:r>
          </a:p>
        </p:txBody>
      </p:sp>
      <p:pic>
        <p:nvPicPr>
          <p:cNvPr id="34" name="Picture 33" descr="lock.png"/>
          <p:cNvPicPr>
            <a:picLocks noChangeAspect="1"/>
          </p:cNvPicPr>
          <p:nvPr/>
        </p:nvPicPr>
        <p:blipFill>
          <a:blip r:embed="rId4"/>
          <a:stretch>
            <a:fillRect/>
          </a:stretch>
        </p:blipFill>
        <p:spPr>
          <a:xfrm>
            <a:off x="2696285" y="3228276"/>
            <a:ext cx="134549" cy="195707"/>
          </a:xfrm>
          <a:prstGeom prst="rect">
            <a:avLst/>
          </a:prstGeom>
        </p:spPr>
      </p:pic>
      <p:sp>
        <p:nvSpPr>
          <p:cNvPr id="35" name="TextBox 34"/>
          <p:cNvSpPr txBox="1"/>
          <p:nvPr/>
        </p:nvSpPr>
        <p:spPr>
          <a:xfrm>
            <a:off x="2871394"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2933546" y="3228276"/>
            <a:ext cx="134549" cy="195707"/>
          </a:xfrm>
          <a:prstGeom prst="rect">
            <a:avLst/>
          </a:prstGeom>
        </p:spPr>
      </p:pic>
      <p:sp>
        <p:nvSpPr>
          <p:cNvPr id="37" name="TextBox 36"/>
          <p:cNvSpPr txBox="1"/>
          <p:nvPr/>
        </p:nvSpPr>
        <p:spPr>
          <a:xfrm>
            <a:off x="3108655"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466337"/>
            <a:ext cx="2578732" cy="194310"/>
          </a:xfrm>
          <a:prstGeom prst="rect">
            <a:avLst/>
          </a:prstGeom>
          <a:noFill/>
        </p:spPr>
        <p:txBody>
          <a:bodyPr wrap="none" lIns="0" rIns="0" tIns="0" bIns="0">
            <a:spAutoFit/>
          </a:bodyPr>
          <a:lstStyle/>
          <a:p>
            <a:r>
              <a:rPr sz="1150" b="0">
                <a:solidFill>
                  <a:srgbClr val="2E2E2E"/>
                </a:solidFill>
                <a:latin typeface="Calibri"/>
              </a:rPr>
              <a:t>▪ 2. Savoury muffins × Rigid plastic packs –</a:t>
            </a:r>
          </a:p>
        </p:txBody>
      </p:sp>
      <p:pic>
        <p:nvPicPr>
          <p:cNvPr id="39" name="Picture 38" descr="lock.png"/>
          <p:cNvPicPr>
            <a:picLocks noChangeAspect="1"/>
          </p:cNvPicPr>
          <p:nvPr/>
        </p:nvPicPr>
        <p:blipFill>
          <a:blip r:embed="rId4"/>
          <a:stretch>
            <a:fillRect/>
          </a:stretch>
        </p:blipFill>
        <p:spPr>
          <a:xfrm>
            <a:off x="2804111" y="3456114"/>
            <a:ext cx="134549" cy="195707"/>
          </a:xfrm>
          <a:prstGeom prst="rect">
            <a:avLst/>
          </a:prstGeom>
        </p:spPr>
      </p:pic>
      <p:sp>
        <p:nvSpPr>
          <p:cNvPr id="40" name="TextBox 39"/>
          <p:cNvSpPr txBox="1"/>
          <p:nvPr/>
        </p:nvSpPr>
        <p:spPr>
          <a:xfrm>
            <a:off x="2979220"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041372" y="3456114"/>
            <a:ext cx="134549" cy="195707"/>
          </a:xfrm>
          <a:prstGeom prst="rect">
            <a:avLst/>
          </a:prstGeom>
        </p:spPr>
      </p:pic>
      <p:sp>
        <p:nvSpPr>
          <p:cNvPr id="42" name="TextBox 41"/>
          <p:cNvSpPr txBox="1"/>
          <p:nvPr/>
        </p:nvSpPr>
        <p:spPr>
          <a:xfrm>
            <a:off x="3216481" y="346633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3" name="TextBox 42"/>
          <p:cNvSpPr txBox="1"/>
          <p:nvPr/>
        </p:nvSpPr>
        <p:spPr>
          <a:xfrm>
            <a:off x="276225" y="3694175"/>
            <a:ext cx="2461207" cy="194310"/>
          </a:xfrm>
          <a:prstGeom prst="rect">
            <a:avLst/>
          </a:prstGeom>
          <a:noFill/>
        </p:spPr>
        <p:txBody>
          <a:bodyPr wrap="none" lIns="0" rIns="0" tIns="0" bIns="0">
            <a:spAutoFit/>
          </a:bodyPr>
          <a:lstStyle/>
          <a:p>
            <a:r>
              <a:rPr sz="1150" b="0">
                <a:solidFill>
                  <a:srgbClr val="2E2E2E"/>
                </a:solidFill>
                <a:latin typeface="Calibri"/>
              </a:rPr>
              <a:t>▪ 3. Sweet muffins × Paperboard packs –</a:t>
            </a:r>
          </a:p>
        </p:txBody>
      </p:sp>
      <p:pic>
        <p:nvPicPr>
          <p:cNvPr id="44" name="Picture 43" descr="lock.png"/>
          <p:cNvPicPr>
            <a:picLocks noChangeAspect="1"/>
          </p:cNvPicPr>
          <p:nvPr/>
        </p:nvPicPr>
        <p:blipFill>
          <a:blip r:embed="rId4"/>
          <a:stretch>
            <a:fillRect/>
          </a:stretch>
        </p:blipFill>
        <p:spPr>
          <a:xfrm>
            <a:off x="2686586" y="3683952"/>
            <a:ext cx="134549" cy="195707"/>
          </a:xfrm>
          <a:prstGeom prst="rect">
            <a:avLst/>
          </a:prstGeom>
        </p:spPr>
      </p:pic>
      <p:sp>
        <p:nvSpPr>
          <p:cNvPr id="45" name="TextBox 44"/>
          <p:cNvSpPr txBox="1"/>
          <p:nvPr/>
        </p:nvSpPr>
        <p:spPr>
          <a:xfrm>
            <a:off x="2861696"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923847" y="3683952"/>
            <a:ext cx="134549" cy="195707"/>
          </a:xfrm>
          <a:prstGeom prst="rect">
            <a:avLst/>
          </a:prstGeom>
        </p:spPr>
      </p:pic>
      <p:sp>
        <p:nvSpPr>
          <p:cNvPr id="47" name="TextBox 46"/>
          <p:cNvSpPr txBox="1"/>
          <p:nvPr/>
        </p:nvSpPr>
        <p:spPr>
          <a:xfrm>
            <a:off x="3098957" y="36941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3922013"/>
            <a:ext cx="2217315" cy="194310"/>
          </a:xfrm>
          <a:prstGeom prst="rect">
            <a:avLst/>
          </a:prstGeom>
          <a:noFill/>
        </p:spPr>
        <p:txBody>
          <a:bodyPr wrap="none" lIns="0" rIns="0" tIns="0" bIns="0">
            <a:spAutoFit/>
          </a:bodyPr>
          <a:lstStyle/>
          <a:p>
            <a:r>
              <a:rPr sz="1150" b="0">
                <a:solidFill>
                  <a:srgbClr val="2E2E2E"/>
                </a:solidFill>
                <a:latin typeface="Calibri"/>
              </a:rPr>
              <a:t>▪ 4. Sweet muffins × Flexible packs –</a:t>
            </a:r>
          </a:p>
        </p:txBody>
      </p:sp>
      <p:pic>
        <p:nvPicPr>
          <p:cNvPr id="49" name="Picture 48" descr="lock.png"/>
          <p:cNvPicPr>
            <a:picLocks noChangeAspect="1"/>
          </p:cNvPicPr>
          <p:nvPr/>
        </p:nvPicPr>
        <p:blipFill>
          <a:blip r:embed="rId4"/>
          <a:stretch>
            <a:fillRect/>
          </a:stretch>
        </p:blipFill>
        <p:spPr>
          <a:xfrm>
            <a:off x="2442694" y="3911790"/>
            <a:ext cx="134549" cy="195707"/>
          </a:xfrm>
          <a:prstGeom prst="rect">
            <a:avLst/>
          </a:prstGeom>
        </p:spPr>
      </p:pic>
      <p:sp>
        <p:nvSpPr>
          <p:cNvPr id="50" name="TextBox 49"/>
          <p:cNvSpPr txBox="1"/>
          <p:nvPr/>
        </p:nvSpPr>
        <p:spPr>
          <a:xfrm>
            <a:off x="2617804"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679955" y="3911790"/>
            <a:ext cx="134549" cy="195707"/>
          </a:xfrm>
          <a:prstGeom prst="rect">
            <a:avLst/>
          </a:prstGeom>
        </p:spPr>
      </p:pic>
      <p:sp>
        <p:nvSpPr>
          <p:cNvPr id="52" name="TextBox 51"/>
          <p:cNvSpPr txBox="1"/>
          <p:nvPr/>
        </p:nvSpPr>
        <p:spPr>
          <a:xfrm>
            <a:off x="2855064" y="39220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149851"/>
            <a:ext cx="2569033" cy="194310"/>
          </a:xfrm>
          <a:prstGeom prst="rect">
            <a:avLst/>
          </a:prstGeom>
          <a:noFill/>
        </p:spPr>
        <p:txBody>
          <a:bodyPr wrap="none" lIns="0" rIns="0" tIns="0" bIns="0">
            <a:spAutoFit/>
          </a:bodyPr>
          <a:lstStyle/>
          <a:p>
            <a:r>
              <a:rPr sz="1150" b="0">
                <a:solidFill>
                  <a:srgbClr val="2E2E2E"/>
                </a:solidFill>
                <a:latin typeface="Calibri"/>
              </a:rPr>
              <a:t>▪ 5. Savoury muffins × Paperboard packs –</a:t>
            </a:r>
          </a:p>
        </p:txBody>
      </p:sp>
      <p:pic>
        <p:nvPicPr>
          <p:cNvPr id="54" name="Picture 53" descr="lock.png"/>
          <p:cNvPicPr>
            <a:picLocks noChangeAspect="1"/>
          </p:cNvPicPr>
          <p:nvPr/>
        </p:nvPicPr>
        <p:blipFill>
          <a:blip r:embed="rId4"/>
          <a:stretch>
            <a:fillRect/>
          </a:stretch>
        </p:blipFill>
        <p:spPr>
          <a:xfrm>
            <a:off x="2794412" y="4139628"/>
            <a:ext cx="134549" cy="195707"/>
          </a:xfrm>
          <a:prstGeom prst="rect">
            <a:avLst/>
          </a:prstGeom>
        </p:spPr>
      </p:pic>
      <p:sp>
        <p:nvSpPr>
          <p:cNvPr id="55" name="TextBox 54"/>
          <p:cNvSpPr txBox="1"/>
          <p:nvPr/>
        </p:nvSpPr>
        <p:spPr>
          <a:xfrm>
            <a:off x="2969522" y="4149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031673" y="4139628"/>
            <a:ext cx="134549" cy="195707"/>
          </a:xfrm>
          <a:prstGeom prst="rect">
            <a:avLst/>
          </a:prstGeom>
        </p:spPr>
      </p:pic>
      <p:sp>
        <p:nvSpPr>
          <p:cNvPr id="57" name="TextBox 56"/>
          <p:cNvSpPr txBox="1"/>
          <p:nvPr/>
        </p:nvSpPr>
        <p:spPr>
          <a:xfrm>
            <a:off x="3206783" y="4149851"/>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8" name="TextBox 57"/>
          <p:cNvSpPr txBox="1"/>
          <p:nvPr/>
        </p:nvSpPr>
        <p:spPr>
          <a:xfrm>
            <a:off x="6029325" y="3238500"/>
            <a:ext cx="1473088" cy="194310"/>
          </a:xfrm>
          <a:prstGeom prst="rect">
            <a:avLst/>
          </a:prstGeom>
          <a:noFill/>
        </p:spPr>
        <p:txBody>
          <a:bodyPr wrap="none" lIns="0" rIns="0" tIns="0" bIns="0">
            <a:spAutoFit/>
          </a:bodyPr>
          <a:lstStyle/>
          <a:p>
            <a:r>
              <a:rPr sz="1150" b="0">
                <a:solidFill>
                  <a:srgbClr val="2E2E2E"/>
                </a:solidFill>
                <a:latin typeface="Calibri"/>
              </a:rPr>
              <a:t>▪ 'Sweet muffins × Rigid</a:t>
            </a:r>
          </a:p>
        </p:txBody>
      </p:sp>
      <p:sp>
        <p:nvSpPr>
          <p:cNvPr id="59" name="TextBox 58"/>
          <p:cNvSpPr txBox="1"/>
          <p:nvPr/>
        </p:nvSpPr>
        <p:spPr>
          <a:xfrm>
            <a:off x="6029325" y="3413760"/>
            <a:ext cx="1169007" cy="194310"/>
          </a:xfrm>
          <a:prstGeom prst="rect">
            <a:avLst/>
          </a:prstGeom>
          <a:noFill/>
        </p:spPr>
        <p:txBody>
          <a:bodyPr wrap="none" lIns="0" rIns="0" tIns="0" bIns="0">
            <a:spAutoFit/>
          </a:bodyPr>
          <a:lstStyle/>
          <a:p>
            <a:r>
              <a:rPr sz="1150" b="0">
                <a:solidFill>
                  <a:srgbClr val="2E2E2E"/>
                </a:solidFill>
                <a:latin typeface="Calibri"/>
              </a:rPr>
              <a:t>plastic packs' adds</a:t>
            </a:r>
          </a:p>
        </p:txBody>
      </p:sp>
      <p:pic>
        <p:nvPicPr>
          <p:cNvPr id="60" name="Picture 59" descr="lock.png"/>
          <p:cNvPicPr>
            <a:picLocks noChangeAspect="1"/>
          </p:cNvPicPr>
          <p:nvPr/>
        </p:nvPicPr>
        <p:blipFill>
          <a:blip r:embed="rId4"/>
          <a:stretch>
            <a:fillRect/>
          </a:stretch>
        </p:blipFill>
        <p:spPr>
          <a:xfrm>
            <a:off x="7147486" y="3403536"/>
            <a:ext cx="134549" cy="195707"/>
          </a:xfrm>
          <a:prstGeom prst="rect">
            <a:avLst/>
          </a:prstGeom>
        </p:spPr>
      </p:pic>
      <p:sp>
        <p:nvSpPr>
          <p:cNvPr id="61" name="TextBox 60"/>
          <p:cNvSpPr txBox="1"/>
          <p:nvPr/>
        </p:nvSpPr>
        <p:spPr>
          <a:xfrm>
            <a:off x="7322595" y="3413760"/>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2" name="TextBox 61"/>
          <p:cNvSpPr txBox="1"/>
          <p:nvPr/>
        </p:nvSpPr>
        <p:spPr>
          <a:xfrm>
            <a:off x="6029325" y="3589019"/>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3" name="Picture 62" descr="lock.png"/>
          <p:cNvPicPr>
            <a:picLocks noChangeAspect="1"/>
          </p:cNvPicPr>
          <p:nvPr/>
        </p:nvPicPr>
        <p:blipFill>
          <a:blip r:embed="rId4"/>
          <a:stretch>
            <a:fillRect/>
          </a:stretch>
        </p:blipFill>
        <p:spPr>
          <a:xfrm>
            <a:off x="6934972" y="3578796"/>
            <a:ext cx="134549" cy="195707"/>
          </a:xfrm>
          <a:prstGeom prst="rect">
            <a:avLst/>
          </a:prstGeom>
        </p:spPr>
      </p:pic>
      <p:sp>
        <p:nvSpPr>
          <p:cNvPr id="64" name="TextBox 63"/>
          <p:cNvSpPr txBox="1"/>
          <p:nvPr/>
        </p:nvSpPr>
        <p:spPr>
          <a:xfrm>
            <a:off x="7110081" y="3589019"/>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5" name="TextBox 64"/>
          <p:cNvSpPr txBox="1"/>
          <p:nvPr/>
        </p:nvSpPr>
        <p:spPr>
          <a:xfrm>
            <a:off x="6029325" y="376427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6" name="TextBox 65"/>
          <p:cNvSpPr txBox="1"/>
          <p:nvPr/>
        </p:nvSpPr>
        <p:spPr>
          <a:xfrm>
            <a:off x="8124825" y="3238500"/>
            <a:ext cx="1527286" cy="194310"/>
          </a:xfrm>
          <a:prstGeom prst="rect">
            <a:avLst/>
          </a:prstGeom>
          <a:noFill/>
        </p:spPr>
        <p:txBody>
          <a:bodyPr wrap="none" lIns="0" rIns="0" tIns="0" bIns="0">
            <a:spAutoFit/>
          </a:bodyPr>
          <a:lstStyle/>
          <a:p>
            <a:r>
              <a:rPr sz="1150" b="0">
                <a:solidFill>
                  <a:srgbClr val="2E2E2E"/>
                </a:solidFill>
                <a:latin typeface="Calibri"/>
              </a:rPr>
              <a:t>▪ 'Sweet muffins × Other</a:t>
            </a:r>
          </a:p>
        </p:txBody>
      </p:sp>
      <p:sp>
        <p:nvSpPr>
          <p:cNvPr id="67" name="TextBox 66"/>
          <p:cNvSpPr txBox="1"/>
          <p:nvPr/>
        </p:nvSpPr>
        <p:spPr>
          <a:xfrm>
            <a:off x="8124825" y="3413760"/>
            <a:ext cx="1590898" cy="194310"/>
          </a:xfrm>
          <a:prstGeom prst="rect">
            <a:avLst/>
          </a:prstGeom>
          <a:noFill/>
        </p:spPr>
        <p:txBody>
          <a:bodyPr wrap="none" lIns="0" rIns="0" tIns="0" bIns="0">
            <a:spAutoFit/>
          </a:bodyPr>
          <a:lstStyle/>
          <a:p>
            <a:r>
              <a:rPr sz="1150" b="0">
                <a:solidFill>
                  <a:srgbClr val="2E2E2E"/>
                </a:solidFill>
                <a:latin typeface="Calibri"/>
              </a:rPr>
              <a:t>packaging formats' grows</a:t>
            </a:r>
          </a:p>
        </p:txBody>
      </p:sp>
      <p:sp>
        <p:nvSpPr>
          <p:cNvPr id="68" name="TextBox 67"/>
          <p:cNvSpPr txBox="1"/>
          <p:nvPr/>
        </p:nvSpPr>
        <p:spPr>
          <a:xfrm>
            <a:off x="8124825" y="3589019"/>
            <a:ext cx="298127" cy="194310"/>
          </a:xfrm>
          <a:prstGeom prst="rect">
            <a:avLst/>
          </a:prstGeom>
          <a:noFill/>
        </p:spPr>
        <p:txBody>
          <a:bodyPr wrap="none" lIns="0" rIns="0" tIns="0" bIns="0">
            <a:spAutoFit/>
          </a:bodyPr>
          <a:lstStyle/>
          <a:p>
            <a:r>
              <a:rPr sz="1150" b="0">
                <a:solidFill>
                  <a:srgbClr val="2E2E2E"/>
                </a:solidFill>
                <a:latin typeface="Calibri"/>
              </a:rPr>
              <a:t>at a</a:t>
            </a:r>
          </a:p>
        </p:txBody>
      </p:sp>
      <p:pic>
        <p:nvPicPr>
          <p:cNvPr id="69" name="Picture 68" descr="lock.png"/>
          <p:cNvPicPr>
            <a:picLocks noChangeAspect="1"/>
          </p:cNvPicPr>
          <p:nvPr/>
        </p:nvPicPr>
        <p:blipFill>
          <a:blip r:embed="rId4"/>
          <a:stretch>
            <a:fillRect/>
          </a:stretch>
        </p:blipFill>
        <p:spPr>
          <a:xfrm>
            <a:off x="8372106" y="3578796"/>
            <a:ext cx="134549" cy="195707"/>
          </a:xfrm>
          <a:prstGeom prst="rect">
            <a:avLst/>
          </a:prstGeom>
        </p:spPr>
      </p:pic>
      <p:sp>
        <p:nvSpPr>
          <p:cNvPr id="70" name="TextBox 69"/>
          <p:cNvSpPr txBox="1"/>
          <p:nvPr/>
        </p:nvSpPr>
        <p:spPr>
          <a:xfrm>
            <a:off x="8547215"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1" name="Picture 70" descr="lock.png"/>
          <p:cNvPicPr>
            <a:picLocks noChangeAspect="1"/>
          </p:cNvPicPr>
          <p:nvPr/>
        </p:nvPicPr>
        <p:blipFill>
          <a:blip r:embed="rId4"/>
          <a:stretch>
            <a:fillRect/>
          </a:stretch>
        </p:blipFill>
        <p:spPr>
          <a:xfrm>
            <a:off x="8942811" y="3578796"/>
            <a:ext cx="134549" cy="195707"/>
          </a:xfrm>
          <a:prstGeom prst="rect">
            <a:avLst/>
          </a:prstGeom>
        </p:spPr>
      </p:pic>
      <p:sp>
        <p:nvSpPr>
          <p:cNvPr id="72" name="TextBox 71"/>
          <p:cNvSpPr txBox="1"/>
          <p:nvPr/>
        </p:nvSpPr>
        <p:spPr>
          <a:xfrm>
            <a:off x="9117920" y="3589019"/>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73" name="TextBox 72"/>
          <p:cNvSpPr txBox="1"/>
          <p:nvPr/>
        </p:nvSpPr>
        <p:spPr>
          <a:xfrm>
            <a:off x="8124825" y="3764279"/>
            <a:ext cx="1517017" cy="194310"/>
          </a:xfrm>
          <a:prstGeom prst="rect">
            <a:avLst/>
          </a:prstGeom>
          <a:noFill/>
        </p:spPr>
        <p:txBody>
          <a:bodyPr wrap="none" lIns="0" rIns="0" tIns="0" bIns="0">
            <a:spAutoFit/>
          </a:bodyPr>
          <a:lstStyle/>
          <a:p>
            <a:r>
              <a:rPr sz="1150" b="0">
                <a:solidFill>
                  <a:srgbClr val="2E2E2E"/>
                </a:solidFill>
                <a:latin typeface="Calibri"/>
              </a:rPr>
              <a:t>above the cross-section.</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Sales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Sales Channel,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sales channel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Sales Channel, 2026E and 2036F (US$ Mn)</a:t>
            </a:r>
          </a:p>
        </p:txBody>
      </p:sp>
      <p:graphicFrame>
        <p:nvGraphicFramePr>
          <p:cNvPr id="13" name="Table 12"/>
          <p:cNvGraphicFramePr>
            <a:graphicFrameLocks noGrp="1"/>
          </p:cNvGraphicFramePr>
          <p:nvPr/>
        </p:nvGraphicFramePr>
        <p:xfrm>
          <a:off x="152400" y="1238250"/>
          <a:ext cx="11887194" cy="1619249"/>
        </p:xfrm>
        <a:graphic>
          <a:graphicData uri="http://schemas.openxmlformats.org/drawingml/2006/table">
            <a:tbl>
              <a:tblPr>
                <a:tableStyleId>{5C22544A-7EE6-4342-B048-85BDC9FD1C3A}</a:tableStyleId>
              </a:tblPr>
              <a:tblGrid>
                <a:gridCol w="1394554"/>
                <a:gridCol w="655790"/>
                <a:gridCol w="655790"/>
                <a:gridCol w="655790"/>
                <a:gridCol w="655790"/>
                <a:gridCol w="655790"/>
                <a:gridCol w="655790"/>
                <a:gridCol w="655790"/>
                <a:gridCol w="655790"/>
                <a:gridCol w="655790"/>
                <a:gridCol w="655790"/>
                <a:gridCol w="655790"/>
                <a:gridCol w="655790"/>
                <a:gridCol w="655790"/>
                <a:gridCol w="655790"/>
                <a:gridCol w="655790"/>
                <a:gridCol w="655790"/>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Retailer websites</a:t>
                      </a:r>
                      <a:endParaRPr sz="1100"/>
                    </a:p>
                    <a:p>
                      <a:pPr algn="ctr"/>
                      <a:r>
                        <a:rPr sz="1100" b="1">
                          <a:solidFill>
                            <a:srgbClr val="0B2E4A"/>
                          </a:solidFill>
                          <a:latin typeface="Calibri"/>
                        </a:rPr>
                        <a:t>and apps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a:t>
                      </a:r>
                      <a:endParaRPr sz="1100"/>
                    </a:p>
                    <a:p>
                      <a:pPr algn="ctr"/>
                      <a:r>
                        <a:rPr sz="1100" b="1">
                          <a:solidFill>
                            <a:srgbClr val="0B2E4A"/>
                          </a:solidFill>
                          <a:latin typeface="Calibri"/>
                        </a:rPr>
                        <a:t>marketplaces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Quick-commerce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Brand-owned</a:t>
                      </a:r>
                      <a:endParaRPr sz="1100"/>
                    </a:p>
                    <a:p>
                      <a:pPr algn="ctr"/>
                      <a:r>
                        <a:rPr sz="1100" b="1">
                          <a:solidFill>
                            <a:srgbClr val="0B2E4A"/>
                          </a:solidFill>
                          <a:latin typeface="Calibri"/>
                        </a:rPr>
                        <a:t>direct-to-consumer</a:t>
                      </a:r>
                      <a:endParaRPr sz="1100"/>
                    </a:p>
                    <a:p>
                      <a:pPr algn="ctr"/>
                      <a:r>
                        <a:rPr sz="1100" b="1">
                          <a:solidFill>
                            <a:srgbClr val="0B2E4A"/>
                          </a:solidFill>
                          <a:latin typeface="Calibri"/>
                        </a:rPr>
                        <a:t>websites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88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1190625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524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1163955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06583" y="2220468"/>
            <a:ext cx="366712" cy="533400"/>
          </a:xfrm>
          <a:prstGeom prst="rect">
            <a:avLst/>
          </a:prstGeom>
        </p:spPr>
      </p:pic>
      <p:sp>
        <p:nvSpPr>
          <p:cNvPr id="21" name="TextBox 20"/>
          <p:cNvSpPr txBox="1"/>
          <p:nvPr/>
        </p:nvSpPr>
        <p:spPr>
          <a:xfrm>
            <a:off x="276225" y="36195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609276"/>
            <a:ext cx="134549" cy="195707"/>
          </a:xfrm>
          <a:prstGeom prst="rect">
            <a:avLst/>
          </a:prstGeom>
        </p:spPr>
      </p:pic>
      <p:sp>
        <p:nvSpPr>
          <p:cNvPr id="23" name="TextBox 22"/>
          <p:cNvSpPr txBox="1"/>
          <p:nvPr/>
        </p:nvSpPr>
        <p:spPr>
          <a:xfrm>
            <a:off x="5586156" y="36195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609276"/>
            <a:ext cx="134549" cy="195707"/>
          </a:xfrm>
          <a:prstGeom prst="rect">
            <a:avLst/>
          </a:prstGeom>
        </p:spPr>
      </p:pic>
      <p:sp>
        <p:nvSpPr>
          <p:cNvPr id="25" name="TextBox 24"/>
          <p:cNvSpPr txBox="1"/>
          <p:nvPr/>
        </p:nvSpPr>
        <p:spPr>
          <a:xfrm>
            <a:off x="6292945" y="3619500"/>
            <a:ext cx="3818445" cy="194310"/>
          </a:xfrm>
          <a:prstGeom prst="rect">
            <a:avLst/>
          </a:prstGeom>
          <a:noFill/>
        </p:spPr>
        <p:txBody>
          <a:bodyPr wrap="none" lIns="0" rIns="0" tIns="0" bIns="0">
            <a:spAutoFit/>
          </a:bodyPr>
          <a:lstStyle/>
          <a:p>
            <a:r>
              <a:rPr sz="1150" b="0">
                <a:solidFill>
                  <a:srgbClr val="2E2E2E"/>
                </a:solidFill>
                <a:latin typeface="Calibri"/>
              </a:rPr>
              <a:t>in 2026E), with 'Retail' its leading sales channel sub-segment at</a:t>
            </a:r>
          </a:p>
        </p:txBody>
      </p:sp>
      <p:pic>
        <p:nvPicPr>
          <p:cNvPr id="26" name="Picture 25" descr="lock.png"/>
          <p:cNvPicPr>
            <a:picLocks noChangeAspect="1"/>
          </p:cNvPicPr>
          <p:nvPr/>
        </p:nvPicPr>
        <p:blipFill>
          <a:blip r:embed="rId4"/>
          <a:stretch>
            <a:fillRect/>
          </a:stretch>
        </p:blipFill>
        <p:spPr>
          <a:xfrm>
            <a:off x="10060545" y="3609276"/>
            <a:ext cx="134549" cy="195707"/>
          </a:xfrm>
          <a:prstGeom prst="rect">
            <a:avLst/>
          </a:prstGeom>
        </p:spPr>
      </p:pic>
      <p:sp>
        <p:nvSpPr>
          <p:cNvPr id="27" name="TextBox 26"/>
          <p:cNvSpPr txBox="1"/>
          <p:nvPr/>
        </p:nvSpPr>
        <p:spPr>
          <a:xfrm>
            <a:off x="10235654" y="361950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8" name="TextBox 27"/>
          <p:cNvSpPr txBox="1"/>
          <p:nvPr/>
        </p:nvSpPr>
        <p:spPr>
          <a:xfrm>
            <a:off x="276225" y="3847337"/>
            <a:ext cx="3943957" cy="194310"/>
          </a:xfrm>
          <a:prstGeom prst="rect">
            <a:avLst/>
          </a:prstGeom>
          <a:noFill/>
        </p:spPr>
        <p:txBody>
          <a:bodyPr wrap="none" lIns="0" rIns="0" tIns="0" bIns="0">
            <a:spAutoFit/>
          </a:bodyPr>
          <a:lstStyle/>
          <a:p>
            <a:r>
              <a:rPr sz="1150" b="0">
                <a:solidFill>
                  <a:srgbClr val="2E2E2E"/>
                </a:solidFill>
                <a:latin typeface="Calibri"/>
              </a:rPr>
              <a:t>▪ 'Sweet muffins × Retail' is the single largest cross-sectional cell (</a:t>
            </a:r>
          </a:p>
        </p:txBody>
      </p:sp>
      <p:pic>
        <p:nvPicPr>
          <p:cNvPr id="29" name="Picture 28" descr="lock.png"/>
          <p:cNvPicPr>
            <a:picLocks noChangeAspect="1"/>
          </p:cNvPicPr>
          <p:nvPr/>
        </p:nvPicPr>
        <p:blipFill>
          <a:blip r:embed="rId4"/>
          <a:stretch>
            <a:fillRect/>
          </a:stretch>
        </p:blipFill>
        <p:spPr>
          <a:xfrm>
            <a:off x="4169336" y="3837114"/>
            <a:ext cx="134549" cy="195707"/>
          </a:xfrm>
          <a:prstGeom prst="rect">
            <a:avLst/>
          </a:prstGeom>
        </p:spPr>
      </p:pic>
      <p:sp>
        <p:nvSpPr>
          <p:cNvPr id="30" name="TextBox 29"/>
          <p:cNvSpPr txBox="1"/>
          <p:nvPr/>
        </p:nvSpPr>
        <p:spPr>
          <a:xfrm>
            <a:off x="4344445" y="3847337"/>
            <a:ext cx="6506660" cy="194310"/>
          </a:xfrm>
          <a:prstGeom prst="rect">
            <a:avLst/>
          </a:prstGeom>
          <a:noFill/>
        </p:spPr>
        <p:txBody>
          <a:bodyPr wrap="none" lIns="0" rIns="0" tIns="0" bIns="0">
            <a:spAutoFit/>
          </a:bodyPr>
          <a:lstStyle/>
          <a:p>
            <a:r>
              <a:rPr sz="1150" b="0">
                <a:solidFill>
                  <a:srgbClr val="2E2E2E"/>
                </a:solidFill>
                <a:latin typeface="Calibri"/>
              </a:rPr>
              <a:t>US$ Mn, 2026E), while 'Sweet muffins × Quick-commerce platforms' records the fastest growth at a CAGR of</a:t>
            </a:r>
          </a:p>
        </p:txBody>
      </p:sp>
      <p:pic>
        <p:nvPicPr>
          <p:cNvPr id="31" name="Picture 30" descr="lock.png"/>
          <p:cNvPicPr>
            <a:picLocks noChangeAspect="1"/>
          </p:cNvPicPr>
          <p:nvPr/>
        </p:nvPicPr>
        <p:blipFill>
          <a:blip r:embed="rId4"/>
          <a:stretch>
            <a:fillRect/>
          </a:stretch>
        </p:blipFill>
        <p:spPr>
          <a:xfrm>
            <a:off x="10800260" y="3837114"/>
            <a:ext cx="134549" cy="195707"/>
          </a:xfrm>
          <a:prstGeom prst="rect">
            <a:avLst/>
          </a:prstGeom>
        </p:spPr>
      </p:pic>
      <p:sp>
        <p:nvSpPr>
          <p:cNvPr id="32" name="TextBox 31"/>
          <p:cNvSpPr txBox="1"/>
          <p:nvPr/>
        </p:nvSpPr>
        <p:spPr>
          <a:xfrm>
            <a:off x="10975370" y="3847337"/>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3" name="TextBox 32"/>
          <p:cNvSpPr txBox="1"/>
          <p:nvPr/>
        </p:nvSpPr>
        <p:spPr>
          <a:xfrm>
            <a:off x="276225" y="4022597"/>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34" name="TextBox 33"/>
          <p:cNvSpPr txBox="1"/>
          <p:nvPr/>
        </p:nvSpPr>
        <p:spPr>
          <a:xfrm>
            <a:off x="276225" y="4250435"/>
            <a:ext cx="5949007" cy="194310"/>
          </a:xfrm>
          <a:prstGeom prst="rect">
            <a:avLst/>
          </a:prstGeom>
          <a:noFill/>
        </p:spPr>
        <p:txBody>
          <a:bodyPr wrap="none" lIns="0" rIns="0" tIns="0" bIns="0">
            <a:spAutoFit/>
          </a:bodyPr>
          <a:lstStyle/>
          <a:p>
            <a:r>
              <a:rPr sz="1150" b="0">
                <a:solidFill>
                  <a:srgbClr val="2E2E2E"/>
                </a:solidFill>
                <a:latin typeface="Calibri"/>
              </a:rPr>
              <a:t>▪ Combined, the top three product type × sales channel cells generate an absolute $ opportunity of</a:t>
            </a:r>
          </a:p>
        </p:txBody>
      </p:sp>
      <p:pic>
        <p:nvPicPr>
          <p:cNvPr id="35" name="Picture 34" descr="lock.png"/>
          <p:cNvPicPr>
            <a:picLocks noChangeAspect="1"/>
          </p:cNvPicPr>
          <p:nvPr/>
        </p:nvPicPr>
        <p:blipFill>
          <a:blip r:embed="rId4"/>
          <a:stretch>
            <a:fillRect/>
          </a:stretch>
        </p:blipFill>
        <p:spPr>
          <a:xfrm>
            <a:off x="6174386" y="4240212"/>
            <a:ext cx="134549" cy="195707"/>
          </a:xfrm>
          <a:prstGeom prst="rect">
            <a:avLst/>
          </a:prstGeom>
        </p:spPr>
      </p:pic>
      <p:sp>
        <p:nvSpPr>
          <p:cNvPr id="36" name="TextBox 35"/>
          <p:cNvSpPr txBox="1"/>
          <p:nvPr/>
        </p:nvSpPr>
        <p:spPr>
          <a:xfrm>
            <a:off x="6349495" y="425043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Sales Channel,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sales channel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Sales Channel, 2026E (% of each row)</a:t>
            </a:r>
          </a:p>
        </p:txBody>
      </p:sp>
      <p:graphicFrame>
        <p:nvGraphicFramePr>
          <p:cNvPr id="13" name="Table 12"/>
          <p:cNvGraphicFramePr>
            <a:graphicFrameLocks noGrp="1"/>
          </p:cNvGraphicFramePr>
          <p:nvPr/>
        </p:nvGraphicFramePr>
        <p:xfrm>
          <a:off x="152400" y="1238250"/>
          <a:ext cx="11887199" cy="1181100"/>
        </p:xfrm>
        <a:graphic>
          <a:graphicData uri="http://schemas.openxmlformats.org/drawingml/2006/table">
            <a:tbl>
              <a:tblPr>
                <a:tableStyleId>{5C22544A-7EE6-4342-B048-85BDC9FD1C3A}</a:tableStyleId>
              </a:tblPr>
              <a:tblGrid>
                <a:gridCol w="1083397"/>
                <a:gridCol w="470225"/>
                <a:gridCol w="1688458"/>
                <a:gridCol w="1331377"/>
                <a:gridCol w="1715112"/>
                <a:gridCol w="2631956"/>
                <a:gridCol w="1820197"/>
                <a:gridCol w="602671"/>
                <a:gridCol w="543806"/>
              </a:tblGrid>
              <a:tr h="438912">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Retailer websites and apps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Quick-commerce platforms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Brand-owned direct-to-consumer websites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Foodservice and institutional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7396">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396">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7286625"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194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Sales Channel Mix by Product Type, 2026E (% share)</a:t>
            </a:r>
          </a:p>
        </p:txBody>
      </p:sp>
      <p:graphicFrame>
        <p:nvGraphicFramePr>
          <p:cNvPr id="17" name="Chart 16"/>
          <p:cNvGraphicFramePr>
            <a:graphicFrameLocks noGrp="1"/>
          </p:cNvGraphicFramePr>
          <p:nvPr/>
        </p:nvGraphicFramePr>
        <p:xfrm>
          <a:off x="238125" y="3048000"/>
          <a:ext cx="7096125" cy="35242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762250"/>
            <a:ext cx="445770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8479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0861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171825"/>
            <a:ext cx="419100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51008" y="1781556"/>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826970"/>
            <a:ext cx="440818" cy="641190"/>
          </a:xfrm>
          <a:prstGeom prst="rect">
            <a:avLst/>
          </a:prstGeom>
        </p:spPr>
      </p:pic>
      <p:sp>
        <p:nvSpPr>
          <p:cNvPr id="25" name="TextBox 24"/>
          <p:cNvSpPr txBox="1"/>
          <p:nvPr/>
        </p:nvSpPr>
        <p:spPr>
          <a:xfrm>
            <a:off x="7715250" y="3181350"/>
            <a:ext cx="3231108" cy="194310"/>
          </a:xfrm>
          <a:prstGeom prst="rect">
            <a:avLst/>
          </a:prstGeom>
          <a:noFill/>
        </p:spPr>
        <p:txBody>
          <a:bodyPr wrap="none" lIns="0" rIns="0" tIns="0" bIns="0">
            <a:spAutoFit/>
          </a:bodyPr>
          <a:lstStyle/>
          <a:p>
            <a:r>
              <a:rPr sz="1150" b="0">
                <a:solidFill>
                  <a:srgbClr val="2E2E2E"/>
                </a:solidFill>
                <a:latin typeface="Calibri"/>
              </a:rPr>
              <a:t>▪ 'Retail' holds the highest share of 'Sweet muffins' at</a:t>
            </a:r>
          </a:p>
        </p:txBody>
      </p:sp>
      <p:pic>
        <p:nvPicPr>
          <p:cNvPr id="26" name="Picture 25" descr="lock.png"/>
          <p:cNvPicPr>
            <a:picLocks noChangeAspect="1"/>
          </p:cNvPicPr>
          <p:nvPr/>
        </p:nvPicPr>
        <p:blipFill>
          <a:blip r:embed="rId5"/>
          <a:stretch>
            <a:fillRect/>
          </a:stretch>
        </p:blipFill>
        <p:spPr>
          <a:xfrm>
            <a:off x="10895512" y="3171126"/>
            <a:ext cx="134549" cy="195707"/>
          </a:xfrm>
          <a:prstGeom prst="rect">
            <a:avLst/>
          </a:prstGeom>
        </p:spPr>
      </p:pic>
      <p:sp>
        <p:nvSpPr>
          <p:cNvPr id="27" name="TextBox 26"/>
          <p:cNvSpPr txBox="1"/>
          <p:nvPr/>
        </p:nvSpPr>
        <p:spPr>
          <a:xfrm>
            <a:off x="11070621" y="318135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8" name="TextBox 27"/>
          <p:cNvSpPr txBox="1"/>
          <p:nvPr/>
        </p:nvSpPr>
        <p:spPr>
          <a:xfrm>
            <a:off x="7715250" y="340918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29" name="TextBox 28"/>
          <p:cNvSpPr txBox="1"/>
          <p:nvPr/>
        </p:nvSpPr>
        <p:spPr>
          <a:xfrm>
            <a:off x="7715250" y="358444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0" name="Picture 29" descr="lock.png"/>
          <p:cNvPicPr>
            <a:picLocks noChangeAspect="1"/>
          </p:cNvPicPr>
          <p:nvPr/>
        </p:nvPicPr>
        <p:blipFill>
          <a:blip r:embed="rId5"/>
          <a:stretch>
            <a:fillRect/>
          </a:stretch>
        </p:blipFill>
        <p:spPr>
          <a:xfrm>
            <a:off x="8004463" y="3574224"/>
            <a:ext cx="134549" cy="195707"/>
          </a:xfrm>
          <a:prstGeom prst="rect">
            <a:avLst/>
          </a:prstGeom>
        </p:spPr>
      </p:pic>
      <p:sp>
        <p:nvSpPr>
          <p:cNvPr id="31" name="TextBox 30"/>
          <p:cNvSpPr txBox="1"/>
          <p:nvPr/>
        </p:nvSpPr>
        <p:spPr>
          <a:xfrm>
            <a:off x="8179573" y="3584447"/>
            <a:ext cx="1397781" cy="194310"/>
          </a:xfrm>
          <a:prstGeom prst="rect">
            <a:avLst/>
          </a:prstGeom>
          <a:noFill/>
        </p:spPr>
        <p:txBody>
          <a:bodyPr wrap="none" lIns="0" rIns="0" tIns="0" bIns="0">
            <a:spAutoFit/>
          </a:bodyPr>
          <a:lstStyle/>
          <a:p>
            <a:r>
              <a:rPr sz="1150" b="0">
                <a:solidFill>
                  <a:srgbClr val="2E2E2E"/>
                </a:solidFill>
                <a:latin typeface="Calibri"/>
              </a:rPr>
              <a:t>of its value via 'Retail'.</a:t>
            </a:r>
          </a:p>
        </p:txBody>
      </p:sp>
      <p:sp>
        <p:nvSpPr>
          <p:cNvPr id="32" name="TextBox 31"/>
          <p:cNvSpPr txBox="1"/>
          <p:nvPr/>
        </p:nvSpPr>
        <p:spPr>
          <a:xfrm>
            <a:off x="7715250" y="3812285"/>
            <a:ext cx="2388722" cy="194310"/>
          </a:xfrm>
          <a:prstGeom prst="rect">
            <a:avLst/>
          </a:prstGeom>
          <a:noFill/>
        </p:spPr>
        <p:txBody>
          <a:bodyPr wrap="none" lIns="0" rIns="0" tIns="0" bIns="0">
            <a:spAutoFit/>
          </a:bodyPr>
          <a:lstStyle/>
          <a:p>
            <a:r>
              <a:rPr sz="1150" b="0">
                <a:solidFill>
                  <a:srgbClr val="2E2E2E"/>
                </a:solidFill>
                <a:latin typeface="Calibri"/>
              </a:rPr>
              <a:t>▪ 'Foodservice and institutional' gains +</a:t>
            </a:r>
          </a:p>
        </p:txBody>
      </p:sp>
      <p:pic>
        <p:nvPicPr>
          <p:cNvPr id="33" name="Picture 32" descr="lock.png"/>
          <p:cNvPicPr>
            <a:picLocks noChangeAspect="1"/>
          </p:cNvPicPr>
          <p:nvPr/>
        </p:nvPicPr>
        <p:blipFill>
          <a:blip r:embed="rId5"/>
          <a:stretch>
            <a:fillRect/>
          </a:stretch>
        </p:blipFill>
        <p:spPr>
          <a:xfrm>
            <a:off x="10053126" y="3802062"/>
            <a:ext cx="134549" cy="195707"/>
          </a:xfrm>
          <a:prstGeom prst="rect">
            <a:avLst/>
          </a:prstGeom>
        </p:spPr>
      </p:pic>
      <p:sp>
        <p:nvSpPr>
          <p:cNvPr id="34" name="TextBox 33"/>
          <p:cNvSpPr txBox="1"/>
          <p:nvPr/>
        </p:nvSpPr>
        <p:spPr>
          <a:xfrm>
            <a:off x="10228235" y="381228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5" name="TextBox 34"/>
          <p:cNvSpPr txBox="1"/>
          <p:nvPr/>
        </p:nvSpPr>
        <p:spPr>
          <a:xfrm>
            <a:off x="7715250" y="398754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6" name="lockshield_17"/>
          <p:cNvSpPr/>
          <p:nvPr/>
        </p:nvSpPr>
        <p:spPr>
          <a:xfrm>
            <a:off x="238125" y="3048000"/>
            <a:ext cx="7096125" cy="35242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Sales Channel,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sales channel sub-segments</a:t>
            </a:r>
          </a:p>
        </p:txBody>
      </p:sp>
      <p:sp>
        <p:nvSpPr>
          <p:cNvPr id="10" name="Rounded Rectangle 9"/>
          <p:cNvSpPr/>
          <p:nvPr/>
        </p:nvSpPr>
        <p:spPr>
          <a:xfrm>
            <a:off x="142875" y="981075"/>
            <a:ext cx="11906250" cy="2667000"/>
          </a:xfrm>
          <a:prstGeom prst="roundRect">
            <a:avLst>
              <a:gd name="adj" fmla="val 285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Sales Channel Sub-segment, Product Type × Sales Channel, 2026E (% of each row) – part 1 of 2</a:t>
            </a:r>
          </a:p>
        </p:txBody>
      </p:sp>
      <p:graphicFrame>
        <p:nvGraphicFramePr>
          <p:cNvPr id="12" name="Table 11"/>
          <p:cNvGraphicFramePr>
            <a:graphicFrameLocks noGrp="1"/>
          </p:cNvGraphicFramePr>
          <p:nvPr/>
        </p:nvGraphicFramePr>
        <p:xfrm>
          <a:off x="152400" y="1238250"/>
          <a:ext cx="11887198" cy="2200275"/>
        </p:xfrm>
        <a:graphic>
          <a:graphicData uri="http://schemas.openxmlformats.org/drawingml/2006/table">
            <a:tbl>
              <a:tblPr>
                <a:tableStyleId>{5C22544A-7EE6-4342-B048-85BDC9FD1C3A}</a:tableStyleId>
              </a:tblPr>
              <a:tblGrid>
                <a:gridCol w="1083397"/>
                <a:gridCol w="1343220"/>
                <a:gridCol w="1020812"/>
                <a:gridCol w="775543"/>
                <a:gridCol w="919241"/>
                <a:gridCol w="1068395"/>
                <a:gridCol w="1167004"/>
                <a:gridCol w="1335628"/>
                <a:gridCol w="1017721"/>
                <a:gridCol w="1064606"/>
                <a:gridCol w="1091631"/>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7">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Retailer</a:t>
                      </a:r>
                      <a:endParaRPr sz="1100"/>
                    </a:p>
                    <a:p>
                      <a:pPr algn="ctr"/>
                      <a:r>
                        <a:rPr sz="1100" b="1">
                          <a:solidFill>
                            <a:srgbClr val="0B2E4A"/>
                          </a:solidFill>
                          <a:latin typeface="Calibri"/>
                        </a:rPr>
                        <a:t>websites and</a:t>
                      </a:r>
                      <a:endParaRPr sz="1100"/>
                    </a:p>
                    <a:p>
                      <a:pPr algn="ctr"/>
                      <a:r>
                        <a:rPr sz="1100" b="1">
                          <a:solidFill>
                            <a:srgbClr val="0B2E4A"/>
                          </a:solidFill>
                          <a:latin typeface="Calibri"/>
                        </a:rPr>
                        <a:t>apps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Online</a:t>
                      </a:r>
                      <a:endParaRPr sz="1100"/>
                    </a:p>
                    <a:p>
                      <a:pPr algn="ctr"/>
                      <a:r>
                        <a:rPr sz="1100" b="1">
                          <a:solidFill>
                            <a:srgbClr val="0B2E4A"/>
                          </a:solidFill>
                          <a:latin typeface="Calibri"/>
                        </a:rPr>
                        <a:t>marketplaces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Quick-</a:t>
                      </a:r>
                      <a:endParaRPr sz="1100"/>
                    </a:p>
                    <a:p>
                      <a:pPr algn="ctr"/>
                      <a:r>
                        <a:rPr sz="1100" b="1">
                          <a:solidFill>
                            <a:srgbClr val="0B2E4A"/>
                          </a:solidFill>
                          <a:latin typeface="Calibri"/>
                        </a:rPr>
                        <a:t>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r>
              <a:tr h="825913">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Supermarkets and hypermarkets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Convenience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Discount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Warehouse clubs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Traditional grocery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Speciality food and health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Bakery outlets selling packaged products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Retailer websites and apps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Quick-commerce platforms</a:t>
                      </a:r>
                      <a:endParaRPr sz="1100"/>
                    </a:p>
                  </a:txBody>
                  <a:tcPr marL="47625" marR="38100" marT="19050" marB="19050" anchor="ctr">
                    <a:solidFill>
                      <a:srgbClr val="E0E8EF"/>
                    </a:solidFill>
                  </a:tcPr>
                </a:tc>
              </a:tr>
              <a:tr h="247555">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55">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5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48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78142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8385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Sales Channel Sub-segment, Product Type × Sales Channel, 2026E (% of each row) – part 2 of 2</a:t>
            </a:r>
          </a:p>
        </p:txBody>
      </p:sp>
      <p:graphicFrame>
        <p:nvGraphicFramePr>
          <p:cNvPr id="16" name="Table 15"/>
          <p:cNvGraphicFramePr>
            <a:graphicFrameLocks noGrp="1"/>
          </p:cNvGraphicFramePr>
          <p:nvPr/>
        </p:nvGraphicFramePr>
        <p:xfrm>
          <a:off x="152400" y="4038600"/>
          <a:ext cx="11887200" cy="1809751"/>
        </p:xfrm>
        <a:graphic>
          <a:graphicData uri="http://schemas.openxmlformats.org/drawingml/2006/table">
            <a:tbl>
              <a:tblPr>
                <a:tableStyleId>{5C22544A-7EE6-4342-B048-85BDC9FD1C3A}</a:tableStyleId>
              </a:tblPr>
              <a:tblGrid>
                <a:gridCol w="1083397"/>
                <a:gridCol w="1894693"/>
                <a:gridCol w="1105953"/>
                <a:gridCol w="1202914"/>
                <a:gridCol w="1300117"/>
                <a:gridCol w="1025266"/>
                <a:gridCol w="1239684"/>
                <a:gridCol w="1198995"/>
                <a:gridCol w="1233510"/>
                <a:gridCol w="602671"/>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Brand-owned direct-to-</a:t>
                      </a:r>
                      <a:endParaRPr sz="1100"/>
                    </a:p>
                    <a:p>
                      <a:pPr algn="ctr"/>
                      <a:r>
                        <a:rPr sz="1100" b="1">
                          <a:solidFill>
                            <a:srgbClr val="0B2E4A"/>
                          </a:solidFill>
                          <a:latin typeface="Calibri"/>
                        </a:rPr>
                        <a:t>consumer websites</a:t>
                      </a:r>
                      <a:endParaRPr sz="1100"/>
                    </a:p>
                  </a:txBody>
                  <a:tcPr marL="47625" marR="38100" marT="19050" marB="19050" anchor="ctr">
                    <a:solidFill>
                      <a:srgbClr val="E0E8EF"/>
                    </a:solidFill>
                  </a:tcPr>
                </a:tc>
                <a:tc gridSpan="7">
                  <a:txBody>
                    <a:bodyPr wrap="none"/>
                    <a:lstStyle/>
                    <a:p>
                      <a:pPr algn="ctr"/>
                      <a:r>
                        <a:rPr sz="1100" b="1">
                          <a:solidFill>
                            <a:srgbClr val="0B2E4A"/>
                          </a:solidFill>
                          <a:latin typeface="Calibri"/>
                        </a:rPr>
                        <a:t>Foodservice and 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r>
              <a:tr h="631888">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Brand-owned direct-to-consumer websites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Cafés and coffee chains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Hotels and restaurants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Quick-service restaurants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Corporate catering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Educational institutions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Healthcare institutions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Airline and travel catering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5857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51007" y="2800493"/>
            <a:ext cx="366712" cy="533400"/>
          </a:xfrm>
          <a:prstGeom prst="rect">
            <a:avLst/>
          </a:prstGeom>
        </p:spPr>
      </p:pic>
      <p:pic>
        <p:nvPicPr>
          <p:cNvPr id="20" name="Picture 19" descr="lock.png"/>
          <p:cNvPicPr>
            <a:picLocks noChangeAspect="1"/>
          </p:cNvPicPr>
          <p:nvPr/>
        </p:nvPicPr>
        <p:blipFill>
          <a:blip r:embed="rId4"/>
          <a:stretch>
            <a:fillRect/>
          </a:stretch>
        </p:blipFill>
        <p:spPr>
          <a:xfrm>
            <a:off x="6451008" y="5212175"/>
            <a:ext cx="366712" cy="533400"/>
          </a:xfrm>
          <a:prstGeom prst="rect">
            <a:avLst/>
          </a:prstGeom>
        </p:spPr>
      </p:pic>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Sales Channel,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085975"/>
          </a:xfrm>
          <a:prstGeom prst="roundRect">
            <a:avLst>
              <a:gd name="adj" fmla="val 3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Sales Channel, 2026E–2036F</a:t>
            </a:r>
          </a:p>
        </p:txBody>
      </p:sp>
      <p:graphicFrame>
        <p:nvGraphicFramePr>
          <p:cNvPr id="13" name="Table 12"/>
          <p:cNvGraphicFramePr>
            <a:graphicFrameLocks noGrp="1"/>
          </p:cNvGraphicFramePr>
          <p:nvPr/>
        </p:nvGraphicFramePr>
        <p:xfrm>
          <a:off x="152400" y="1238250"/>
          <a:ext cx="11887202" cy="1619249"/>
        </p:xfrm>
        <a:graphic>
          <a:graphicData uri="http://schemas.openxmlformats.org/drawingml/2006/table">
            <a:tbl>
              <a:tblPr>
                <a:tableStyleId>{5C22544A-7EE6-4342-B048-85BDC9FD1C3A}</a:tableStyleId>
              </a:tblPr>
              <a:tblGrid>
                <a:gridCol w="1241554"/>
                <a:gridCol w="665353"/>
                <a:gridCol w="665353"/>
                <a:gridCol w="665353"/>
                <a:gridCol w="665353"/>
                <a:gridCol w="665353"/>
                <a:gridCol w="665353"/>
                <a:gridCol w="665353"/>
                <a:gridCol w="665353"/>
                <a:gridCol w="665353"/>
                <a:gridCol w="665353"/>
                <a:gridCol w="665353"/>
                <a:gridCol w="665353"/>
                <a:gridCol w="665353"/>
                <a:gridCol w="665353"/>
                <a:gridCol w="665353"/>
                <a:gridCol w="665353"/>
              </a:tblGrid>
              <a:tr h="631697">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Retailer websites</a:t>
                      </a:r>
                      <a:endParaRPr sz="1100"/>
                    </a:p>
                    <a:p>
                      <a:pPr algn="ctr"/>
                      <a:r>
                        <a:rPr sz="1100" b="1">
                          <a:solidFill>
                            <a:srgbClr val="0B2E4A"/>
                          </a:solidFill>
                          <a:latin typeface="Calibri"/>
                        </a:rPr>
                        <a:t>and apps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marketplaces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Quick-commerce</a:t>
                      </a:r>
                      <a:endParaRPr sz="1100"/>
                    </a:p>
                    <a:p>
                      <a:pPr algn="ctr"/>
                      <a:r>
                        <a:rPr sz="1100" b="1">
                          <a:solidFill>
                            <a:srgbClr val="0B2E4A"/>
                          </a:solidFill>
                          <a:latin typeface="Calibri"/>
                        </a:rPr>
                        <a:t>platforms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Brand-owned</a:t>
                      </a:r>
                      <a:endParaRPr sz="1100"/>
                    </a:p>
                    <a:p>
                      <a:pPr algn="ctr"/>
                      <a:r>
                        <a:rPr sz="1100" b="1">
                          <a:solidFill>
                            <a:srgbClr val="0B2E4A"/>
                          </a:solidFill>
                          <a:latin typeface="Calibri"/>
                        </a:rPr>
                        <a:t>direct-to-consumer</a:t>
                      </a:r>
                      <a:endParaRPr sz="1100"/>
                    </a:p>
                    <a:p>
                      <a:pPr algn="ctr"/>
                      <a:r>
                        <a:rPr sz="1100" b="1">
                          <a:solidFill>
                            <a:srgbClr val="0B2E4A"/>
                          </a:solidFill>
                          <a:latin typeface="Calibri"/>
                        </a:rPr>
                        <a:t>websites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institutional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Vending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888">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88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8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867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200400"/>
            <a:ext cx="5600700" cy="3429000"/>
          </a:xfrm>
          <a:prstGeom prst="roundRect">
            <a:avLst>
              <a:gd name="adj" fmla="val 222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286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524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609975"/>
            <a:ext cx="53340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200400"/>
            <a:ext cx="1943100" cy="3429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286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524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609975"/>
            <a:ext cx="1676400" cy="2943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Foodservice and institutional' ranks highest (5/5); 'Sweet muffins × Retailer websites and apps'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530088" y="2220468"/>
            <a:ext cx="366712" cy="533400"/>
          </a:xfrm>
          <a:prstGeom prst="rect">
            <a:avLst/>
          </a:prstGeom>
        </p:spPr>
      </p:pic>
      <p:sp>
        <p:nvSpPr>
          <p:cNvPr id="33" name="TextBox 32"/>
          <p:cNvSpPr txBox="1"/>
          <p:nvPr/>
        </p:nvSpPr>
        <p:spPr>
          <a:xfrm>
            <a:off x="276225" y="3619500"/>
            <a:ext cx="3116975" cy="194310"/>
          </a:xfrm>
          <a:prstGeom prst="rect">
            <a:avLst/>
          </a:prstGeom>
          <a:noFill/>
        </p:spPr>
        <p:txBody>
          <a:bodyPr wrap="none" lIns="0" rIns="0" tIns="0" bIns="0">
            <a:spAutoFit/>
          </a:bodyPr>
          <a:lstStyle/>
          <a:p>
            <a:r>
              <a:rPr sz="1150" b="0">
                <a:solidFill>
                  <a:srgbClr val="2E2E2E"/>
                </a:solidFill>
                <a:latin typeface="Calibri"/>
              </a:rPr>
              <a:t>▪ 1. Sweet muffins × Foodservice and institutional –</a:t>
            </a:r>
          </a:p>
        </p:txBody>
      </p:sp>
      <p:pic>
        <p:nvPicPr>
          <p:cNvPr id="34" name="Picture 33" descr="lock.png"/>
          <p:cNvPicPr>
            <a:picLocks noChangeAspect="1"/>
          </p:cNvPicPr>
          <p:nvPr/>
        </p:nvPicPr>
        <p:blipFill>
          <a:blip r:embed="rId4"/>
          <a:stretch>
            <a:fillRect/>
          </a:stretch>
        </p:blipFill>
        <p:spPr>
          <a:xfrm>
            <a:off x="3342354" y="3609276"/>
            <a:ext cx="134549" cy="195707"/>
          </a:xfrm>
          <a:prstGeom prst="rect">
            <a:avLst/>
          </a:prstGeom>
        </p:spPr>
      </p:pic>
      <p:sp>
        <p:nvSpPr>
          <p:cNvPr id="35" name="TextBox 34"/>
          <p:cNvSpPr txBox="1"/>
          <p:nvPr/>
        </p:nvSpPr>
        <p:spPr>
          <a:xfrm>
            <a:off x="3517463" y="3619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579615" y="3609276"/>
            <a:ext cx="134549" cy="195707"/>
          </a:xfrm>
          <a:prstGeom prst="rect">
            <a:avLst/>
          </a:prstGeom>
        </p:spPr>
      </p:pic>
      <p:sp>
        <p:nvSpPr>
          <p:cNvPr id="37" name="TextBox 36"/>
          <p:cNvSpPr txBox="1"/>
          <p:nvPr/>
        </p:nvSpPr>
        <p:spPr>
          <a:xfrm>
            <a:off x="3754724" y="3619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847337"/>
            <a:ext cx="3224801" cy="194310"/>
          </a:xfrm>
          <a:prstGeom prst="rect">
            <a:avLst/>
          </a:prstGeom>
          <a:noFill/>
        </p:spPr>
        <p:txBody>
          <a:bodyPr wrap="none" lIns="0" rIns="0" tIns="0" bIns="0">
            <a:spAutoFit/>
          </a:bodyPr>
          <a:lstStyle/>
          <a:p>
            <a:r>
              <a:rPr sz="1150" b="0">
                <a:solidFill>
                  <a:srgbClr val="2E2E2E"/>
                </a:solidFill>
                <a:latin typeface="Calibri"/>
              </a:rPr>
              <a:t>▪ 2. Savoury muffins × Foodservice and institutional –</a:t>
            </a:r>
          </a:p>
        </p:txBody>
      </p:sp>
      <p:pic>
        <p:nvPicPr>
          <p:cNvPr id="39" name="Picture 38" descr="lock.png"/>
          <p:cNvPicPr>
            <a:picLocks noChangeAspect="1"/>
          </p:cNvPicPr>
          <p:nvPr/>
        </p:nvPicPr>
        <p:blipFill>
          <a:blip r:embed="rId4"/>
          <a:stretch>
            <a:fillRect/>
          </a:stretch>
        </p:blipFill>
        <p:spPr>
          <a:xfrm>
            <a:off x="3450180" y="3837114"/>
            <a:ext cx="134549" cy="195707"/>
          </a:xfrm>
          <a:prstGeom prst="rect">
            <a:avLst/>
          </a:prstGeom>
        </p:spPr>
      </p:pic>
      <p:sp>
        <p:nvSpPr>
          <p:cNvPr id="40" name="TextBox 39"/>
          <p:cNvSpPr txBox="1"/>
          <p:nvPr/>
        </p:nvSpPr>
        <p:spPr>
          <a:xfrm>
            <a:off x="3625289" y="3847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687441" y="3837114"/>
            <a:ext cx="134549" cy="195707"/>
          </a:xfrm>
          <a:prstGeom prst="rect">
            <a:avLst/>
          </a:prstGeom>
        </p:spPr>
      </p:pic>
      <p:sp>
        <p:nvSpPr>
          <p:cNvPr id="42" name="TextBox 41"/>
          <p:cNvSpPr txBox="1"/>
          <p:nvPr/>
        </p:nvSpPr>
        <p:spPr>
          <a:xfrm>
            <a:off x="3862550" y="38473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075175"/>
            <a:ext cx="1736948" cy="194310"/>
          </a:xfrm>
          <a:prstGeom prst="rect">
            <a:avLst/>
          </a:prstGeom>
          <a:noFill/>
        </p:spPr>
        <p:txBody>
          <a:bodyPr wrap="none" lIns="0" rIns="0" tIns="0" bIns="0">
            <a:spAutoFit/>
          </a:bodyPr>
          <a:lstStyle/>
          <a:p>
            <a:r>
              <a:rPr sz="1150" b="0">
                <a:solidFill>
                  <a:srgbClr val="2E2E2E"/>
                </a:solidFill>
                <a:latin typeface="Calibri"/>
              </a:rPr>
              <a:t>▪ 3. Sweet muffins × Retail –</a:t>
            </a:r>
          </a:p>
        </p:txBody>
      </p:sp>
      <p:pic>
        <p:nvPicPr>
          <p:cNvPr id="44" name="Picture 43" descr="lock.png"/>
          <p:cNvPicPr>
            <a:picLocks noChangeAspect="1"/>
          </p:cNvPicPr>
          <p:nvPr/>
        </p:nvPicPr>
        <p:blipFill>
          <a:blip r:embed="rId4"/>
          <a:stretch>
            <a:fillRect/>
          </a:stretch>
        </p:blipFill>
        <p:spPr>
          <a:xfrm>
            <a:off x="1962327" y="4064952"/>
            <a:ext cx="134549" cy="195707"/>
          </a:xfrm>
          <a:prstGeom prst="rect">
            <a:avLst/>
          </a:prstGeom>
        </p:spPr>
      </p:pic>
      <p:sp>
        <p:nvSpPr>
          <p:cNvPr id="45" name="TextBox 44"/>
          <p:cNvSpPr txBox="1"/>
          <p:nvPr/>
        </p:nvSpPr>
        <p:spPr>
          <a:xfrm>
            <a:off x="2137436" y="4075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2199588" y="4064952"/>
            <a:ext cx="134549" cy="195707"/>
          </a:xfrm>
          <a:prstGeom prst="rect">
            <a:avLst/>
          </a:prstGeom>
        </p:spPr>
      </p:pic>
      <p:sp>
        <p:nvSpPr>
          <p:cNvPr id="47" name="TextBox 46"/>
          <p:cNvSpPr txBox="1"/>
          <p:nvPr/>
        </p:nvSpPr>
        <p:spPr>
          <a:xfrm>
            <a:off x="2374697" y="4075175"/>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8" name="TextBox 47"/>
          <p:cNvSpPr txBox="1"/>
          <p:nvPr/>
        </p:nvSpPr>
        <p:spPr>
          <a:xfrm>
            <a:off x="276225" y="4303013"/>
            <a:ext cx="1844774" cy="194310"/>
          </a:xfrm>
          <a:prstGeom prst="rect">
            <a:avLst/>
          </a:prstGeom>
          <a:noFill/>
        </p:spPr>
        <p:txBody>
          <a:bodyPr wrap="none" lIns="0" rIns="0" tIns="0" bIns="0">
            <a:spAutoFit/>
          </a:bodyPr>
          <a:lstStyle/>
          <a:p>
            <a:r>
              <a:rPr sz="1150" b="0">
                <a:solidFill>
                  <a:srgbClr val="2E2E2E"/>
                </a:solidFill>
                <a:latin typeface="Calibri"/>
              </a:rPr>
              <a:t>▪ 4. Savoury muffins × Retail –</a:t>
            </a:r>
          </a:p>
        </p:txBody>
      </p:sp>
      <p:pic>
        <p:nvPicPr>
          <p:cNvPr id="49" name="Picture 48" descr="lock.png"/>
          <p:cNvPicPr>
            <a:picLocks noChangeAspect="1"/>
          </p:cNvPicPr>
          <p:nvPr/>
        </p:nvPicPr>
        <p:blipFill>
          <a:blip r:embed="rId4"/>
          <a:stretch>
            <a:fillRect/>
          </a:stretch>
        </p:blipFill>
        <p:spPr>
          <a:xfrm>
            <a:off x="2070153" y="4292790"/>
            <a:ext cx="134549" cy="195707"/>
          </a:xfrm>
          <a:prstGeom prst="rect">
            <a:avLst/>
          </a:prstGeom>
        </p:spPr>
      </p:pic>
      <p:sp>
        <p:nvSpPr>
          <p:cNvPr id="50" name="TextBox 49"/>
          <p:cNvSpPr txBox="1"/>
          <p:nvPr/>
        </p:nvSpPr>
        <p:spPr>
          <a:xfrm>
            <a:off x="2245262" y="4303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2307414" y="4292790"/>
            <a:ext cx="134549" cy="195707"/>
          </a:xfrm>
          <a:prstGeom prst="rect">
            <a:avLst/>
          </a:prstGeom>
        </p:spPr>
      </p:pic>
      <p:sp>
        <p:nvSpPr>
          <p:cNvPr id="52" name="TextBox 51"/>
          <p:cNvSpPr txBox="1"/>
          <p:nvPr/>
        </p:nvSpPr>
        <p:spPr>
          <a:xfrm>
            <a:off x="2482523" y="4303013"/>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53" name="TextBox 52"/>
          <p:cNvSpPr txBox="1"/>
          <p:nvPr/>
        </p:nvSpPr>
        <p:spPr>
          <a:xfrm>
            <a:off x="276225" y="4530851"/>
            <a:ext cx="3020020" cy="194310"/>
          </a:xfrm>
          <a:prstGeom prst="rect">
            <a:avLst/>
          </a:prstGeom>
          <a:noFill/>
        </p:spPr>
        <p:txBody>
          <a:bodyPr wrap="none" lIns="0" rIns="0" tIns="0" bIns="0">
            <a:spAutoFit/>
          </a:bodyPr>
          <a:lstStyle/>
          <a:p>
            <a:r>
              <a:rPr sz="1150" b="0">
                <a:solidFill>
                  <a:srgbClr val="2E2E2E"/>
                </a:solidFill>
                <a:latin typeface="Calibri"/>
              </a:rPr>
              <a:t>▪ 5. Sweet muffins × Quick-commerce platforms –</a:t>
            </a:r>
          </a:p>
        </p:txBody>
      </p:sp>
      <p:pic>
        <p:nvPicPr>
          <p:cNvPr id="54" name="Picture 53" descr="lock.png"/>
          <p:cNvPicPr>
            <a:picLocks noChangeAspect="1"/>
          </p:cNvPicPr>
          <p:nvPr/>
        </p:nvPicPr>
        <p:blipFill>
          <a:blip r:embed="rId4"/>
          <a:stretch>
            <a:fillRect/>
          </a:stretch>
        </p:blipFill>
        <p:spPr>
          <a:xfrm>
            <a:off x="3245399" y="4520628"/>
            <a:ext cx="134549" cy="195707"/>
          </a:xfrm>
          <a:prstGeom prst="rect">
            <a:avLst/>
          </a:prstGeom>
        </p:spPr>
      </p:pic>
      <p:sp>
        <p:nvSpPr>
          <p:cNvPr id="55" name="TextBox 54"/>
          <p:cNvSpPr txBox="1"/>
          <p:nvPr/>
        </p:nvSpPr>
        <p:spPr>
          <a:xfrm>
            <a:off x="3420508" y="4530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482660" y="4520628"/>
            <a:ext cx="134549" cy="195707"/>
          </a:xfrm>
          <a:prstGeom prst="rect">
            <a:avLst/>
          </a:prstGeom>
        </p:spPr>
      </p:pic>
      <p:sp>
        <p:nvSpPr>
          <p:cNvPr id="57" name="TextBox 56"/>
          <p:cNvSpPr txBox="1"/>
          <p:nvPr/>
        </p:nvSpPr>
        <p:spPr>
          <a:xfrm>
            <a:off x="3657769" y="45308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619500"/>
            <a:ext cx="1147898" cy="194310"/>
          </a:xfrm>
          <a:prstGeom prst="rect">
            <a:avLst/>
          </a:prstGeom>
          <a:noFill/>
        </p:spPr>
        <p:txBody>
          <a:bodyPr wrap="none" lIns="0" rIns="0" tIns="0" bIns="0">
            <a:spAutoFit/>
          </a:bodyPr>
          <a:lstStyle/>
          <a:p>
            <a:r>
              <a:rPr sz="1150" b="0">
                <a:solidFill>
                  <a:srgbClr val="2E2E2E"/>
                </a:solidFill>
                <a:latin typeface="Calibri"/>
              </a:rPr>
              <a:t>▪ 'Sweet muffins ×</a:t>
            </a:r>
          </a:p>
        </p:txBody>
      </p:sp>
      <p:sp>
        <p:nvSpPr>
          <p:cNvPr id="59" name="TextBox 58"/>
          <p:cNvSpPr txBox="1"/>
          <p:nvPr/>
        </p:nvSpPr>
        <p:spPr>
          <a:xfrm>
            <a:off x="6029325" y="3794760"/>
            <a:ext cx="1045461" cy="194310"/>
          </a:xfrm>
          <a:prstGeom prst="rect">
            <a:avLst/>
          </a:prstGeom>
          <a:noFill/>
        </p:spPr>
        <p:txBody>
          <a:bodyPr wrap="none" lIns="0" rIns="0" tIns="0" bIns="0">
            <a:spAutoFit/>
          </a:bodyPr>
          <a:lstStyle/>
          <a:p>
            <a:r>
              <a:rPr sz="1150" b="0">
                <a:solidFill>
                  <a:srgbClr val="2E2E2E"/>
                </a:solidFill>
                <a:latin typeface="Calibri"/>
              </a:rPr>
              <a:t>Foodservice and</a:t>
            </a:r>
          </a:p>
        </p:txBody>
      </p:sp>
      <p:sp>
        <p:nvSpPr>
          <p:cNvPr id="60" name="TextBox 59"/>
          <p:cNvSpPr txBox="1"/>
          <p:nvPr/>
        </p:nvSpPr>
        <p:spPr>
          <a:xfrm>
            <a:off x="6029325" y="3970019"/>
            <a:ext cx="1137915" cy="194310"/>
          </a:xfrm>
          <a:prstGeom prst="rect">
            <a:avLst/>
          </a:prstGeom>
          <a:noFill/>
        </p:spPr>
        <p:txBody>
          <a:bodyPr wrap="none" lIns="0" rIns="0" tIns="0" bIns="0">
            <a:spAutoFit/>
          </a:bodyPr>
          <a:lstStyle/>
          <a:p>
            <a:r>
              <a:rPr sz="1150" b="0">
                <a:solidFill>
                  <a:srgbClr val="2E2E2E"/>
                </a:solidFill>
                <a:latin typeface="Calibri"/>
              </a:rPr>
              <a:t>institutional' adds</a:t>
            </a:r>
          </a:p>
        </p:txBody>
      </p:sp>
      <p:pic>
        <p:nvPicPr>
          <p:cNvPr id="61" name="Picture 60" descr="lock.png"/>
          <p:cNvPicPr>
            <a:picLocks noChangeAspect="1"/>
          </p:cNvPicPr>
          <p:nvPr/>
        </p:nvPicPr>
        <p:blipFill>
          <a:blip r:embed="rId4"/>
          <a:stretch>
            <a:fillRect/>
          </a:stretch>
        </p:blipFill>
        <p:spPr>
          <a:xfrm>
            <a:off x="7116393" y="3959796"/>
            <a:ext cx="134549" cy="195707"/>
          </a:xfrm>
          <a:prstGeom prst="rect">
            <a:avLst/>
          </a:prstGeom>
        </p:spPr>
      </p:pic>
      <p:sp>
        <p:nvSpPr>
          <p:cNvPr id="62" name="TextBox 61"/>
          <p:cNvSpPr txBox="1"/>
          <p:nvPr/>
        </p:nvSpPr>
        <p:spPr>
          <a:xfrm>
            <a:off x="7291503" y="3970019"/>
            <a:ext cx="311249" cy="194310"/>
          </a:xfrm>
          <a:prstGeom prst="rect">
            <a:avLst/>
          </a:prstGeom>
          <a:noFill/>
        </p:spPr>
        <p:txBody>
          <a:bodyPr wrap="none" lIns="0" rIns="0" tIns="0" bIns="0">
            <a:spAutoFit/>
          </a:bodyPr>
          <a:lstStyle/>
          <a:p>
            <a:r>
              <a:rPr sz="1150" b="0">
                <a:solidFill>
                  <a:srgbClr val="2E2E2E"/>
                </a:solidFill>
                <a:latin typeface="Calibri"/>
              </a:rPr>
              <a:t>US$</a:t>
            </a:r>
          </a:p>
        </p:txBody>
      </p:sp>
      <p:sp>
        <p:nvSpPr>
          <p:cNvPr id="63" name="TextBox 62"/>
          <p:cNvSpPr txBox="1"/>
          <p:nvPr/>
        </p:nvSpPr>
        <p:spPr>
          <a:xfrm>
            <a:off x="6029325" y="4145279"/>
            <a:ext cx="956493" cy="194310"/>
          </a:xfrm>
          <a:prstGeom prst="rect">
            <a:avLst/>
          </a:prstGeom>
          <a:noFill/>
        </p:spPr>
        <p:txBody>
          <a:bodyPr wrap="none" lIns="0" rIns="0" tIns="0" bIns="0">
            <a:spAutoFit/>
          </a:bodyPr>
          <a:lstStyle/>
          <a:p>
            <a:r>
              <a:rPr sz="1150" b="0">
                <a:solidFill>
                  <a:srgbClr val="2E2E2E"/>
                </a:solidFill>
                <a:latin typeface="Calibri"/>
              </a:rPr>
              <a:t>Mn by 2036F –</a:t>
            </a:r>
          </a:p>
        </p:txBody>
      </p:sp>
      <p:pic>
        <p:nvPicPr>
          <p:cNvPr id="64" name="Picture 63" descr="lock.png"/>
          <p:cNvPicPr>
            <a:picLocks noChangeAspect="1"/>
          </p:cNvPicPr>
          <p:nvPr/>
        </p:nvPicPr>
        <p:blipFill>
          <a:blip r:embed="rId4"/>
          <a:stretch>
            <a:fillRect/>
          </a:stretch>
        </p:blipFill>
        <p:spPr>
          <a:xfrm>
            <a:off x="6934972" y="4135056"/>
            <a:ext cx="134549" cy="195707"/>
          </a:xfrm>
          <a:prstGeom prst="rect">
            <a:avLst/>
          </a:prstGeom>
        </p:spPr>
      </p:pic>
      <p:sp>
        <p:nvSpPr>
          <p:cNvPr id="65" name="TextBox 64"/>
          <p:cNvSpPr txBox="1"/>
          <p:nvPr/>
        </p:nvSpPr>
        <p:spPr>
          <a:xfrm>
            <a:off x="7110081" y="4145279"/>
            <a:ext cx="429344" cy="194310"/>
          </a:xfrm>
          <a:prstGeom prst="rect">
            <a:avLst/>
          </a:prstGeom>
          <a:noFill/>
        </p:spPr>
        <p:txBody>
          <a:bodyPr wrap="none" lIns="0" rIns="0" tIns="0" bIns="0">
            <a:spAutoFit/>
          </a:bodyPr>
          <a:lstStyle/>
          <a:p>
            <a:r>
              <a:rPr sz="1150" b="0">
                <a:solidFill>
                  <a:srgbClr val="2E2E2E"/>
                </a:solidFill>
                <a:latin typeface="Calibri"/>
              </a:rPr>
              <a:t>of the</a:t>
            </a:r>
          </a:p>
        </p:txBody>
      </p:sp>
      <p:sp>
        <p:nvSpPr>
          <p:cNvPr id="66" name="TextBox 65"/>
          <p:cNvSpPr txBox="1"/>
          <p:nvPr/>
        </p:nvSpPr>
        <p:spPr>
          <a:xfrm>
            <a:off x="6029325" y="4320539"/>
            <a:ext cx="1134777" cy="194310"/>
          </a:xfrm>
          <a:prstGeom prst="rect">
            <a:avLst/>
          </a:prstGeom>
          <a:noFill/>
        </p:spPr>
        <p:txBody>
          <a:bodyPr wrap="none" lIns="0" rIns="0" tIns="0" bIns="0">
            <a:spAutoFit/>
          </a:bodyPr>
          <a:lstStyle/>
          <a:p>
            <a:r>
              <a:rPr sz="1150" b="0">
                <a:solidFill>
                  <a:srgbClr val="2E2E2E"/>
                </a:solidFill>
                <a:latin typeface="Calibri"/>
              </a:rPr>
              <a:t>total opportunity.</a:t>
            </a:r>
          </a:p>
        </p:txBody>
      </p:sp>
      <p:sp>
        <p:nvSpPr>
          <p:cNvPr id="67" name="TextBox 66"/>
          <p:cNvSpPr txBox="1"/>
          <p:nvPr/>
        </p:nvSpPr>
        <p:spPr>
          <a:xfrm>
            <a:off x="8124825" y="3619500"/>
            <a:ext cx="1147898" cy="194310"/>
          </a:xfrm>
          <a:prstGeom prst="rect">
            <a:avLst/>
          </a:prstGeom>
          <a:noFill/>
        </p:spPr>
        <p:txBody>
          <a:bodyPr wrap="none" lIns="0" rIns="0" tIns="0" bIns="0">
            <a:spAutoFit/>
          </a:bodyPr>
          <a:lstStyle/>
          <a:p>
            <a:r>
              <a:rPr sz="1150" b="0">
                <a:solidFill>
                  <a:srgbClr val="2E2E2E"/>
                </a:solidFill>
                <a:latin typeface="Calibri"/>
              </a:rPr>
              <a:t>▪ 'Sweet muffins ×</a:t>
            </a:r>
          </a:p>
        </p:txBody>
      </p:sp>
      <p:sp>
        <p:nvSpPr>
          <p:cNvPr id="68" name="TextBox 67"/>
          <p:cNvSpPr txBox="1"/>
          <p:nvPr/>
        </p:nvSpPr>
        <p:spPr>
          <a:xfrm>
            <a:off x="8124825" y="3794760"/>
            <a:ext cx="1657350" cy="194310"/>
          </a:xfrm>
          <a:prstGeom prst="rect">
            <a:avLst/>
          </a:prstGeom>
          <a:noFill/>
        </p:spPr>
        <p:txBody>
          <a:bodyPr wrap="none" lIns="0" rIns="0" tIns="0" bIns="0">
            <a:spAutoFit/>
          </a:bodyPr>
          <a:lstStyle/>
          <a:p>
            <a:r>
              <a:rPr sz="1150" b="0">
                <a:solidFill>
                  <a:srgbClr val="2E2E2E"/>
                </a:solidFill>
                <a:latin typeface="Calibri"/>
              </a:rPr>
              <a:t>Quick-commerce platforms'</a:t>
            </a:r>
          </a:p>
        </p:txBody>
      </p:sp>
      <p:sp>
        <p:nvSpPr>
          <p:cNvPr id="69" name="TextBox 68"/>
          <p:cNvSpPr txBox="1"/>
          <p:nvPr/>
        </p:nvSpPr>
        <p:spPr>
          <a:xfrm>
            <a:off x="8124825" y="3970019"/>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3959796"/>
            <a:ext cx="134549" cy="195707"/>
          </a:xfrm>
          <a:prstGeom prst="rect">
            <a:avLst/>
          </a:prstGeom>
        </p:spPr>
      </p:pic>
      <p:sp>
        <p:nvSpPr>
          <p:cNvPr id="71" name="TextBox 70"/>
          <p:cNvSpPr txBox="1"/>
          <p:nvPr/>
        </p:nvSpPr>
        <p:spPr>
          <a:xfrm>
            <a:off x="8938584" y="3970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3959796"/>
            <a:ext cx="134549" cy="195707"/>
          </a:xfrm>
          <a:prstGeom prst="rect">
            <a:avLst/>
          </a:prstGeom>
        </p:spPr>
      </p:pic>
      <p:sp>
        <p:nvSpPr>
          <p:cNvPr id="73" name="TextBox 72"/>
          <p:cNvSpPr txBox="1"/>
          <p:nvPr/>
        </p:nvSpPr>
        <p:spPr>
          <a:xfrm>
            <a:off x="8124825" y="41452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3205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Individual Muffin Size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Individual Muffin Size,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individual muffin size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Individual Muffin Size, 2026E and 2036F (US$ Mn)</a:t>
            </a:r>
          </a:p>
        </p:txBody>
      </p:sp>
      <p:graphicFrame>
        <p:nvGraphicFramePr>
          <p:cNvPr id="13" name="Table 12"/>
          <p:cNvGraphicFramePr>
            <a:graphicFrameLocks noGrp="1"/>
          </p:cNvGraphicFramePr>
          <p:nvPr/>
        </p:nvGraphicFramePr>
        <p:xfrm>
          <a:off x="152400" y="1238250"/>
          <a:ext cx="11887197" cy="1428752"/>
        </p:xfrm>
        <a:graphic>
          <a:graphicData uri="http://schemas.openxmlformats.org/drawingml/2006/table">
            <a:tbl>
              <a:tblPr>
                <a:tableStyleId>{5C22544A-7EE6-4342-B048-85BDC9FD1C3A}</a:tableStyleId>
              </a:tblPr>
              <a:tblGrid>
                <a:gridCol w="2084557"/>
                <a:gridCol w="980264"/>
                <a:gridCol w="980264"/>
                <a:gridCol w="980264"/>
                <a:gridCol w="980264"/>
                <a:gridCol w="980264"/>
                <a:gridCol w="980264"/>
                <a:gridCol w="980264"/>
                <a:gridCol w="980264"/>
                <a:gridCol w="980264"/>
                <a:gridCol w="980264"/>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Large / jumbo - 100 g and</a:t>
                      </a:r>
                      <a:endParaRPr sz="1100"/>
                    </a:p>
                    <a:p>
                      <a:pPr algn="ctr"/>
                      <a:r>
                        <a:rPr sz="1100" b="1">
                          <a:solidFill>
                            <a:srgbClr val="0B2E4A"/>
                          </a:solidFill>
                          <a:latin typeface="Calibri"/>
                        </a:rPr>
                        <a:t>above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46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1190625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333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1163955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51587" y="2029112"/>
            <a:ext cx="366712" cy="533400"/>
          </a:xfrm>
          <a:prstGeom prst="rect">
            <a:avLst/>
          </a:prstGeom>
        </p:spPr>
      </p:pic>
      <p:sp>
        <p:nvSpPr>
          <p:cNvPr id="21" name="TextBox 20"/>
          <p:cNvSpPr txBox="1"/>
          <p:nvPr/>
        </p:nvSpPr>
        <p:spPr>
          <a:xfrm>
            <a:off x="276225" y="3429000"/>
            <a:ext cx="5185667" cy="194310"/>
          </a:xfrm>
          <a:prstGeom prst="rect">
            <a:avLst/>
          </a:prstGeom>
          <a:noFill/>
        </p:spPr>
        <p:txBody>
          <a:bodyPr wrap="none" lIns="0" rIns="0" tIns="0" bIns="0">
            <a:spAutoFit/>
          </a:bodyPr>
          <a:lstStyle/>
          <a:p>
            <a:r>
              <a:rPr sz="1150" b="0">
                <a:solidFill>
                  <a:srgbClr val="2E2E2E"/>
                </a:solidFill>
                <a:latin typeface="Calibri"/>
              </a:rPr>
              <a:t>▪ 'Sweet muffins' accounts for the largest share of the Global market by product type (</a:t>
            </a:r>
          </a:p>
        </p:txBody>
      </p:sp>
      <p:pic>
        <p:nvPicPr>
          <p:cNvPr id="22" name="Picture 21" descr="lock.png"/>
          <p:cNvPicPr>
            <a:picLocks noChangeAspect="1"/>
          </p:cNvPicPr>
          <p:nvPr/>
        </p:nvPicPr>
        <p:blipFill>
          <a:blip r:embed="rId4"/>
          <a:stretch>
            <a:fillRect/>
          </a:stretch>
        </p:blipFill>
        <p:spPr>
          <a:xfrm>
            <a:off x="5411046" y="3418776"/>
            <a:ext cx="134549" cy="195707"/>
          </a:xfrm>
          <a:prstGeom prst="rect">
            <a:avLst/>
          </a:prstGeom>
        </p:spPr>
      </p:pic>
      <p:sp>
        <p:nvSpPr>
          <p:cNvPr id="23" name="TextBox 22"/>
          <p:cNvSpPr txBox="1"/>
          <p:nvPr/>
        </p:nvSpPr>
        <p:spPr>
          <a:xfrm>
            <a:off x="5586156" y="3429000"/>
            <a:ext cx="582525" cy="194310"/>
          </a:xfrm>
          <a:prstGeom prst="rect">
            <a:avLst/>
          </a:prstGeom>
          <a:noFill/>
        </p:spPr>
        <p:txBody>
          <a:bodyPr wrap="none" lIns="0" rIns="0" tIns="0" bIns="0">
            <a:spAutoFit/>
          </a:bodyPr>
          <a:lstStyle/>
          <a:p>
            <a:r>
              <a:rPr sz="1150" b="0">
                <a:solidFill>
                  <a:srgbClr val="2E2E2E"/>
                </a:solidFill>
                <a:latin typeface="Calibri"/>
              </a:rPr>
              <a:t>US$ Mn,</a:t>
            </a:r>
          </a:p>
        </p:txBody>
      </p:sp>
      <p:pic>
        <p:nvPicPr>
          <p:cNvPr id="24" name="Picture 23" descr="lock.png"/>
          <p:cNvPicPr>
            <a:picLocks noChangeAspect="1"/>
          </p:cNvPicPr>
          <p:nvPr/>
        </p:nvPicPr>
        <p:blipFill>
          <a:blip r:embed="rId4"/>
          <a:stretch>
            <a:fillRect/>
          </a:stretch>
        </p:blipFill>
        <p:spPr>
          <a:xfrm>
            <a:off x="6117835" y="3418776"/>
            <a:ext cx="134549" cy="195707"/>
          </a:xfrm>
          <a:prstGeom prst="rect">
            <a:avLst/>
          </a:prstGeom>
        </p:spPr>
      </p:pic>
      <p:sp>
        <p:nvSpPr>
          <p:cNvPr id="25" name="TextBox 24"/>
          <p:cNvSpPr txBox="1"/>
          <p:nvPr/>
        </p:nvSpPr>
        <p:spPr>
          <a:xfrm>
            <a:off x="6292945" y="3429000"/>
            <a:ext cx="4803998" cy="194310"/>
          </a:xfrm>
          <a:prstGeom prst="rect">
            <a:avLst/>
          </a:prstGeom>
          <a:noFill/>
        </p:spPr>
        <p:txBody>
          <a:bodyPr wrap="none" lIns="0" rIns="0" tIns="0" bIns="0">
            <a:spAutoFit/>
          </a:bodyPr>
          <a:lstStyle/>
          <a:p>
            <a:r>
              <a:rPr sz="1150" b="0">
                <a:solidFill>
                  <a:srgbClr val="2E2E2E"/>
                </a:solidFill>
                <a:latin typeface="Calibri"/>
              </a:rPr>
              <a:t>in 2026E), with 'Standard - 60 g to below 100 g' its leading individual muffin size</a:t>
            </a:r>
          </a:p>
        </p:txBody>
      </p:sp>
      <p:sp>
        <p:nvSpPr>
          <p:cNvPr id="26" name="TextBox 25"/>
          <p:cNvSpPr txBox="1"/>
          <p:nvPr/>
        </p:nvSpPr>
        <p:spPr>
          <a:xfrm>
            <a:off x="276225" y="3604260"/>
            <a:ext cx="997284" cy="194310"/>
          </a:xfrm>
          <a:prstGeom prst="rect">
            <a:avLst/>
          </a:prstGeom>
          <a:noFill/>
        </p:spPr>
        <p:txBody>
          <a:bodyPr wrap="none" lIns="0" rIns="0" tIns="0" bIns="0">
            <a:spAutoFit/>
          </a:bodyPr>
          <a:lstStyle/>
          <a:p>
            <a:r>
              <a:rPr sz="1150" b="0">
                <a:solidFill>
                  <a:srgbClr val="2E2E2E"/>
                </a:solidFill>
                <a:latin typeface="Calibri"/>
              </a:rPr>
              <a:t>sub-segment at</a:t>
            </a:r>
          </a:p>
        </p:txBody>
      </p:sp>
      <p:pic>
        <p:nvPicPr>
          <p:cNvPr id="27" name="Picture 26" descr="lock.png"/>
          <p:cNvPicPr>
            <a:picLocks noChangeAspect="1"/>
          </p:cNvPicPr>
          <p:nvPr/>
        </p:nvPicPr>
        <p:blipFill>
          <a:blip r:embed="rId4"/>
          <a:stretch>
            <a:fillRect/>
          </a:stretch>
        </p:blipFill>
        <p:spPr>
          <a:xfrm>
            <a:off x="1222663" y="3594036"/>
            <a:ext cx="134549" cy="195707"/>
          </a:xfrm>
          <a:prstGeom prst="rect">
            <a:avLst/>
          </a:prstGeom>
        </p:spPr>
      </p:pic>
      <p:sp>
        <p:nvSpPr>
          <p:cNvPr id="28" name="TextBox 27"/>
          <p:cNvSpPr txBox="1"/>
          <p:nvPr/>
        </p:nvSpPr>
        <p:spPr>
          <a:xfrm>
            <a:off x="1397773" y="3604260"/>
            <a:ext cx="582810"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29" name="TextBox 28"/>
          <p:cNvSpPr txBox="1"/>
          <p:nvPr/>
        </p:nvSpPr>
        <p:spPr>
          <a:xfrm>
            <a:off x="276225" y="3832097"/>
            <a:ext cx="5418149" cy="194310"/>
          </a:xfrm>
          <a:prstGeom prst="rect">
            <a:avLst/>
          </a:prstGeom>
          <a:noFill/>
        </p:spPr>
        <p:txBody>
          <a:bodyPr wrap="none" lIns="0" rIns="0" tIns="0" bIns="0">
            <a:spAutoFit/>
          </a:bodyPr>
          <a:lstStyle/>
          <a:p>
            <a:r>
              <a:rPr sz="1150" b="0">
                <a:solidFill>
                  <a:srgbClr val="2E2E2E"/>
                </a:solidFill>
                <a:latin typeface="Calibri"/>
              </a:rPr>
              <a:t>▪ 'Sweet muffins × Standard - 60 g to below 100 g' is the single largest cross-sectional cell (</a:t>
            </a:r>
          </a:p>
        </p:txBody>
      </p:sp>
      <p:pic>
        <p:nvPicPr>
          <p:cNvPr id="30" name="Picture 29" descr="lock.png"/>
          <p:cNvPicPr>
            <a:picLocks noChangeAspect="1"/>
          </p:cNvPicPr>
          <p:nvPr/>
        </p:nvPicPr>
        <p:blipFill>
          <a:blip r:embed="rId4"/>
          <a:stretch>
            <a:fillRect/>
          </a:stretch>
        </p:blipFill>
        <p:spPr>
          <a:xfrm>
            <a:off x="5643528" y="3821874"/>
            <a:ext cx="134549" cy="195707"/>
          </a:xfrm>
          <a:prstGeom prst="rect">
            <a:avLst/>
          </a:prstGeom>
        </p:spPr>
      </p:pic>
      <p:sp>
        <p:nvSpPr>
          <p:cNvPr id="31" name="TextBox 30"/>
          <p:cNvSpPr txBox="1"/>
          <p:nvPr/>
        </p:nvSpPr>
        <p:spPr>
          <a:xfrm>
            <a:off x="5818638" y="3832097"/>
            <a:ext cx="5986090" cy="194310"/>
          </a:xfrm>
          <a:prstGeom prst="rect">
            <a:avLst/>
          </a:prstGeom>
          <a:noFill/>
        </p:spPr>
        <p:txBody>
          <a:bodyPr wrap="none" lIns="0" rIns="0" tIns="0" bIns="0">
            <a:spAutoFit/>
          </a:bodyPr>
          <a:lstStyle/>
          <a:p>
            <a:r>
              <a:rPr sz="1150" b="0">
                <a:solidFill>
                  <a:srgbClr val="2E2E2E"/>
                </a:solidFill>
                <a:latin typeface="Calibri"/>
              </a:rPr>
              <a:t>US$ Mn, 2026E), while 'Sweet muffins × Mini / bite-sized - below 30 g' records the fastest growth at</a:t>
            </a:r>
          </a:p>
        </p:txBody>
      </p:sp>
      <p:sp>
        <p:nvSpPr>
          <p:cNvPr id="32" name="TextBox 31"/>
          <p:cNvSpPr txBox="1"/>
          <p:nvPr/>
        </p:nvSpPr>
        <p:spPr>
          <a:xfrm>
            <a:off x="276225" y="4007357"/>
            <a:ext cx="667513" cy="194310"/>
          </a:xfrm>
          <a:prstGeom prst="rect">
            <a:avLst/>
          </a:prstGeom>
          <a:noFill/>
        </p:spPr>
        <p:txBody>
          <a:bodyPr wrap="none" lIns="0" rIns="0" tIns="0" bIns="0">
            <a:spAutoFit/>
          </a:bodyPr>
          <a:lstStyle/>
          <a:p>
            <a:r>
              <a:rPr sz="1150" b="0">
                <a:solidFill>
                  <a:srgbClr val="2E2E2E"/>
                </a:solidFill>
                <a:latin typeface="Calibri"/>
              </a:rPr>
              <a:t>a CAGR of</a:t>
            </a:r>
          </a:p>
        </p:txBody>
      </p:sp>
      <p:pic>
        <p:nvPicPr>
          <p:cNvPr id="33" name="Picture 32" descr="lock.png"/>
          <p:cNvPicPr>
            <a:picLocks noChangeAspect="1"/>
          </p:cNvPicPr>
          <p:nvPr/>
        </p:nvPicPr>
        <p:blipFill>
          <a:blip r:embed="rId4"/>
          <a:stretch>
            <a:fillRect/>
          </a:stretch>
        </p:blipFill>
        <p:spPr>
          <a:xfrm>
            <a:off x="892892" y="3997134"/>
            <a:ext cx="134549" cy="195707"/>
          </a:xfrm>
          <a:prstGeom prst="rect">
            <a:avLst/>
          </a:prstGeom>
        </p:spPr>
      </p:pic>
      <p:sp>
        <p:nvSpPr>
          <p:cNvPr id="34" name="TextBox 33"/>
          <p:cNvSpPr txBox="1"/>
          <p:nvPr/>
        </p:nvSpPr>
        <p:spPr>
          <a:xfrm>
            <a:off x="1068001" y="4007357"/>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5" name="TextBox 34"/>
          <p:cNvSpPr txBox="1"/>
          <p:nvPr/>
        </p:nvSpPr>
        <p:spPr>
          <a:xfrm>
            <a:off x="276225" y="4235195"/>
            <a:ext cx="6414541" cy="194310"/>
          </a:xfrm>
          <a:prstGeom prst="rect">
            <a:avLst/>
          </a:prstGeom>
          <a:noFill/>
        </p:spPr>
        <p:txBody>
          <a:bodyPr wrap="none" lIns="0" rIns="0" tIns="0" bIns="0">
            <a:spAutoFit/>
          </a:bodyPr>
          <a:lstStyle/>
          <a:p>
            <a:r>
              <a:rPr sz="1150" b="0">
                <a:solidFill>
                  <a:srgbClr val="2E2E2E"/>
                </a:solidFill>
                <a:latin typeface="Calibri"/>
              </a:rPr>
              <a:t>▪ Combined, the top three product type × individual muffin size cells generate an absolute $ opportunity of</a:t>
            </a:r>
          </a:p>
        </p:txBody>
      </p:sp>
      <p:pic>
        <p:nvPicPr>
          <p:cNvPr id="36" name="Picture 35" descr="lock.png"/>
          <p:cNvPicPr>
            <a:picLocks noChangeAspect="1"/>
          </p:cNvPicPr>
          <p:nvPr/>
        </p:nvPicPr>
        <p:blipFill>
          <a:blip r:embed="rId4"/>
          <a:stretch>
            <a:fillRect/>
          </a:stretch>
        </p:blipFill>
        <p:spPr>
          <a:xfrm>
            <a:off x="6639920" y="4224972"/>
            <a:ext cx="134549" cy="195707"/>
          </a:xfrm>
          <a:prstGeom prst="rect">
            <a:avLst/>
          </a:prstGeom>
        </p:spPr>
      </p:pic>
      <p:sp>
        <p:nvSpPr>
          <p:cNvPr id="37" name="TextBox 36"/>
          <p:cNvSpPr txBox="1"/>
          <p:nvPr/>
        </p:nvSpPr>
        <p:spPr>
          <a:xfrm>
            <a:off x="6815030" y="4235195"/>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Individual Muffin Size,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individual muffin size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Individual Muffin Size, 2026E (% of each row)</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1142642"/>
                <a:gridCol w="2148912"/>
                <a:gridCol w="2148912"/>
                <a:gridCol w="2148912"/>
                <a:gridCol w="2148912"/>
                <a:gridCol w="2148912"/>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Large / jumbo - 100 g and above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7286625"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Individual Muffin Size Mix by Product Type, 2026E (% share)</a:t>
            </a:r>
          </a:p>
        </p:txBody>
      </p:sp>
      <p:graphicFrame>
        <p:nvGraphicFramePr>
          <p:cNvPr id="17" name="Chart 16"/>
          <p:cNvGraphicFramePr>
            <a:graphicFrameLocks noGrp="1"/>
          </p:cNvGraphicFramePr>
          <p:nvPr/>
        </p:nvGraphicFramePr>
        <p:xfrm>
          <a:off x="238125" y="2857500"/>
          <a:ext cx="7096125" cy="371475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2571750"/>
            <a:ext cx="445770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26574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28956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2981325"/>
            <a:ext cx="419100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6480631" y="1589913"/>
            <a:ext cx="366712" cy="533400"/>
          </a:xfrm>
          <a:prstGeom prst="rect">
            <a:avLst/>
          </a:prstGeom>
        </p:spPr>
      </p:pic>
      <p:pic>
        <p:nvPicPr>
          <p:cNvPr id="24" name="Picture 23" descr="lock.png"/>
          <p:cNvPicPr>
            <a:picLocks noChangeAspect="1"/>
          </p:cNvPicPr>
          <p:nvPr/>
        </p:nvPicPr>
        <p:blipFill>
          <a:blip r:embed="rId5"/>
          <a:stretch>
            <a:fillRect/>
          </a:stretch>
        </p:blipFill>
        <p:spPr>
          <a:xfrm>
            <a:off x="3709408" y="3701240"/>
            <a:ext cx="440818" cy="641190"/>
          </a:xfrm>
          <a:prstGeom prst="rect">
            <a:avLst/>
          </a:prstGeom>
        </p:spPr>
      </p:pic>
      <p:sp>
        <p:nvSpPr>
          <p:cNvPr id="25" name="TextBox 24"/>
          <p:cNvSpPr txBox="1"/>
          <p:nvPr/>
        </p:nvSpPr>
        <p:spPr>
          <a:xfrm>
            <a:off x="7715250" y="2990850"/>
            <a:ext cx="4038091" cy="194310"/>
          </a:xfrm>
          <a:prstGeom prst="rect">
            <a:avLst/>
          </a:prstGeom>
          <a:noFill/>
        </p:spPr>
        <p:txBody>
          <a:bodyPr wrap="none" lIns="0" rIns="0" tIns="0" bIns="0">
            <a:spAutoFit/>
          </a:bodyPr>
          <a:lstStyle/>
          <a:p>
            <a:r>
              <a:rPr sz="1150" b="0">
                <a:solidFill>
                  <a:srgbClr val="2E2E2E"/>
                </a:solidFill>
                <a:latin typeface="Calibri"/>
              </a:rPr>
              <a:t>▪ 'Standard - 60 g to below 100 g' holds the highest share of 'Sweet</a:t>
            </a:r>
          </a:p>
        </p:txBody>
      </p:sp>
      <p:sp>
        <p:nvSpPr>
          <p:cNvPr id="26" name="TextBox 25"/>
          <p:cNvSpPr txBox="1"/>
          <p:nvPr/>
        </p:nvSpPr>
        <p:spPr>
          <a:xfrm>
            <a:off x="7715250" y="3166110"/>
            <a:ext cx="710319" cy="194310"/>
          </a:xfrm>
          <a:prstGeom prst="rect">
            <a:avLst/>
          </a:prstGeom>
          <a:noFill/>
        </p:spPr>
        <p:txBody>
          <a:bodyPr wrap="none" lIns="0" rIns="0" tIns="0" bIns="0">
            <a:spAutoFit/>
          </a:bodyPr>
          <a:lstStyle/>
          <a:p>
            <a:r>
              <a:rPr sz="1150" b="0">
                <a:solidFill>
                  <a:srgbClr val="2E2E2E"/>
                </a:solidFill>
                <a:latin typeface="Calibri"/>
              </a:rPr>
              <a:t>muffins' at</a:t>
            </a:r>
          </a:p>
        </p:txBody>
      </p:sp>
      <p:pic>
        <p:nvPicPr>
          <p:cNvPr id="27" name="Picture 26" descr="lock.png"/>
          <p:cNvPicPr>
            <a:picLocks noChangeAspect="1"/>
          </p:cNvPicPr>
          <p:nvPr/>
        </p:nvPicPr>
        <p:blipFill>
          <a:blip r:embed="rId5"/>
          <a:stretch>
            <a:fillRect/>
          </a:stretch>
        </p:blipFill>
        <p:spPr>
          <a:xfrm>
            <a:off x="8374723" y="3155886"/>
            <a:ext cx="134549" cy="195707"/>
          </a:xfrm>
          <a:prstGeom prst="rect">
            <a:avLst/>
          </a:prstGeom>
        </p:spPr>
      </p:pic>
      <p:sp>
        <p:nvSpPr>
          <p:cNvPr id="28" name="TextBox 27"/>
          <p:cNvSpPr txBox="1"/>
          <p:nvPr/>
        </p:nvSpPr>
        <p:spPr>
          <a:xfrm>
            <a:off x="8549832" y="31661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3393947"/>
            <a:ext cx="4171950" cy="194310"/>
          </a:xfrm>
          <a:prstGeom prst="rect">
            <a:avLst/>
          </a:prstGeom>
          <a:noFill/>
        </p:spPr>
        <p:txBody>
          <a:bodyPr wrap="none" lIns="0" rIns="0" tIns="0" bIns="0">
            <a:spAutoFit/>
          </a:bodyPr>
          <a:lstStyle/>
          <a:p>
            <a:r>
              <a:rPr sz="1150" b="0">
                <a:solidFill>
                  <a:srgbClr val="2E2E2E"/>
                </a:solidFill>
                <a:latin typeface="Calibri"/>
              </a:rPr>
              <a:t>▪ 'Sweet muffins' is the most concentrated product type sub-segment,</a:t>
            </a:r>
          </a:p>
        </p:txBody>
      </p:sp>
      <p:sp>
        <p:nvSpPr>
          <p:cNvPr id="30" name="TextBox 29"/>
          <p:cNvSpPr txBox="1"/>
          <p:nvPr/>
        </p:nvSpPr>
        <p:spPr>
          <a:xfrm>
            <a:off x="7715250" y="3569207"/>
            <a:ext cx="340059" cy="194310"/>
          </a:xfrm>
          <a:prstGeom prst="rect">
            <a:avLst/>
          </a:prstGeom>
          <a:noFill/>
        </p:spPr>
        <p:txBody>
          <a:bodyPr wrap="none" lIns="0" rIns="0" tIns="0" bIns="0">
            <a:spAutoFit/>
          </a:bodyPr>
          <a:lstStyle/>
          <a:p>
            <a:r>
              <a:rPr sz="1150" b="0">
                <a:solidFill>
                  <a:srgbClr val="2E2E2E"/>
                </a:solidFill>
                <a:latin typeface="Calibri"/>
              </a:rPr>
              <a:t>with</a:t>
            </a:r>
          </a:p>
        </p:txBody>
      </p:sp>
      <p:pic>
        <p:nvPicPr>
          <p:cNvPr id="31" name="Picture 30" descr="lock.png"/>
          <p:cNvPicPr>
            <a:picLocks noChangeAspect="1"/>
          </p:cNvPicPr>
          <p:nvPr/>
        </p:nvPicPr>
        <p:blipFill>
          <a:blip r:embed="rId5"/>
          <a:stretch>
            <a:fillRect/>
          </a:stretch>
        </p:blipFill>
        <p:spPr>
          <a:xfrm>
            <a:off x="8004463" y="3558984"/>
            <a:ext cx="134549" cy="195707"/>
          </a:xfrm>
          <a:prstGeom prst="rect">
            <a:avLst/>
          </a:prstGeom>
        </p:spPr>
      </p:pic>
      <p:sp>
        <p:nvSpPr>
          <p:cNvPr id="32" name="TextBox 31"/>
          <p:cNvSpPr txBox="1"/>
          <p:nvPr/>
        </p:nvSpPr>
        <p:spPr>
          <a:xfrm>
            <a:off x="8179573" y="3569207"/>
            <a:ext cx="2871973" cy="194310"/>
          </a:xfrm>
          <a:prstGeom prst="rect">
            <a:avLst/>
          </a:prstGeom>
          <a:noFill/>
        </p:spPr>
        <p:txBody>
          <a:bodyPr wrap="none" lIns="0" rIns="0" tIns="0" bIns="0">
            <a:spAutoFit/>
          </a:bodyPr>
          <a:lstStyle/>
          <a:p>
            <a:r>
              <a:rPr sz="1150" b="0">
                <a:solidFill>
                  <a:srgbClr val="2E2E2E"/>
                </a:solidFill>
                <a:latin typeface="Calibri"/>
              </a:rPr>
              <a:t>of its value via 'Standard - 60 g to below 100 g'.</a:t>
            </a:r>
          </a:p>
        </p:txBody>
      </p:sp>
      <p:sp>
        <p:nvSpPr>
          <p:cNvPr id="33" name="TextBox 32"/>
          <p:cNvSpPr txBox="1"/>
          <p:nvPr/>
        </p:nvSpPr>
        <p:spPr>
          <a:xfrm>
            <a:off x="7715250" y="3797045"/>
            <a:ext cx="2586149" cy="194310"/>
          </a:xfrm>
          <a:prstGeom prst="rect">
            <a:avLst/>
          </a:prstGeom>
          <a:noFill/>
        </p:spPr>
        <p:txBody>
          <a:bodyPr wrap="none" lIns="0" rIns="0" tIns="0" bIns="0">
            <a:spAutoFit/>
          </a:bodyPr>
          <a:lstStyle/>
          <a:p>
            <a:r>
              <a:rPr sz="1150" b="0">
                <a:solidFill>
                  <a:srgbClr val="2E2E2E"/>
                </a:solidFill>
                <a:latin typeface="Calibri"/>
              </a:rPr>
              <a:t>▪ 'Large / jumbo - 100 g and above' gains +</a:t>
            </a:r>
          </a:p>
        </p:txBody>
      </p:sp>
      <p:pic>
        <p:nvPicPr>
          <p:cNvPr id="34" name="Picture 33" descr="lock.png"/>
          <p:cNvPicPr>
            <a:picLocks noChangeAspect="1"/>
          </p:cNvPicPr>
          <p:nvPr/>
        </p:nvPicPr>
        <p:blipFill>
          <a:blip r:embed="rId5"/>
          <a:stretch>
            <a:fillRect/>
          </a:stretch>
        </p:blipFill>
        <p:spPr>
          <a:xfrm>
            <a:off x="10250553" y="3786822"/>
            <a:ext cx="134549" cy="195707"/>
          </a:xfrm>
          <a:prstGeom prst="rect">
            <a:avLst/>
          </a:prstGeom>
        </p:spPr>
      </p:pic>
      <p:sp>
        <p:nvSpPr>
          <p:cNvPr id="35" name="TextBox 34"/>
          <p:cNvSpPr txBox="1"/>
          <p:nvPr/>
        </p:nvSpPr>
        <p:spPr>
          <a:xfrm>
            <a:off x="10425662" y="3797045"/>
            <a:ext cx="1199815" cy="194310"/>
          </a:xfrm>
          <a:prstGeom prst="rect">
            <a:avLst/>
          </a:prstGeom>
          <a:noFill/>
        </p:spPr>
        <p:txBody>
          <a:bodyPr wrap="none" lIns="0" rIns="0" tIns="0" bIns="0">
            <a:spAutoFit/>
          </a:bodyPr>
          <a:lstStyle/>
          <a:p>
            <a:r>
              <a:rPr sz="1150" b="0">
                <a:solidFill>
                  <a:srgbClr val="2E2E2E"/>
                </a:solidFill>
                <a:latin typeface="Calibri"/>
              </a:rPr>
              <a:t>BPS of share of the</a:t>
            </a:r>
          </a:p>
        </p:txBody>
      </p:sp>
      <p:sp>
        <p:nvSpPr>
          <p:cNvPr id="36" name="TextBox 35"/>
          <p:cNvSpPr txBox="1"/>
          <p:nvPr/>
        </p:nvSpPr>
        <p:spPr>
          <a:xfrm>
            <a:off x="7715250" y="3972305"/>
            <a:ext cx="1878790" cy="194310"/>
          </a:xfrm>
          <a:prstGeom prst="rect">
            <a:avLst/>
          </a:prstGeom>
          <a:noFill/>
        </p:spPr>
        <p:txBody>
          <a:bodyPr wrap="none" lIns="0" rIns="0" tIns="0" bIns="0">
            <a:spAutoFit/>
          </a:bodyPr>
          <a:lstStyle/>
          <a:p>
            <a:r>
              <a:rPr sz="1150" b="0">
                <a:solidFill>
                  <a:srgbClr val="2E2E2E"/>
                </a:solidFill>
                <a:latin typeface="Calibri"/>
              </a:rPr>
              <a:t>Global cross-section by 2036F.</a:t>
            </a:r>
          </a:p>
        </p:txBody>
      </p:sp>
      <p:sp>
        <p:nvSpPr>
          <p:cNvPr id="37" name="lockshield_17"/>
          <p:cNvSpPr/>
          <p:nvPr/>
        </p:nvSpPr>
        <p:spPr>
          <a:xfrm>
            <a:off x="238125" y="2857500"/>
            <a:ext cx="7096125" cy="37147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Individual Muffin Size,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Individual Muffin Size, 2026E–2036F</a:t>
            </a:r>
          </a:p>
        </p:txBody>
      </p:sp>
      <p:graphicFrame>
        <p:nvGraphicFramePr>
          <p:cNvPr id="13" name="Table 12"/>
          <p:cNvGraphicFramePr>
            <a:graphicFrameLocks noGrp="1"/>
          </p:cNvGraphicFramePr>
          <p:nvPr/>
        </p:nvGraphicFramePr>
        <p:xfrm>
          <a:off x="152400" y="1238250"/>
          <a:ext cx="11887200" cy="1428752"/>
        </p:xfrm>
        <a:graphic>
          <a:graphicData uri="http://schemas.openxmlformats.org/drawingml/2006/table">
            <a:tbl>
              <a:tblPr>
                <a:tableStyleId>{5C22544A-7EE6-4342-B048-85BDC9FD1C3A}</a:tableStyleId>
              </a:tblPr>
              <a:tblGrid>
                <a:gridCol w="1869340"/>
                <a:gridCol w="1001786"/>
                <a:gridCol w="1001786"/>
                <a:gridCol w="1001786"/>
                <a:gridCol w="1001786"/>
                <a:gridCol w="1001786"/>
                <a:gridCol w="1001786"/>
                <a:gridCol w="1001786"/>
                <a:gridCol w="1001786"/>
                <a:gridCol w="1001786"/>
                <a:gridCol w="1001786"/>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Mini / bite-sized - below 30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Small - 30 g to below 60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Standard - 60 g to below 100 g</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Large / jumbo - 100 g and</a:t>
                      </a:r>
                      <a:endParaRPr sz="1100"/>
                    </a:p>
                    <a:p>
                      <a:pPr algn="ctr"/>
                      <a:r>
                        <a:rPr sz="1100" b="1">
                          <a:solidFill>
                            <a:srgbClr val="0B2E4A"/>
                          </a:solidFill>
                          <a:latin typeface="Calibri"/>
                        </a:rPr>
                        <a:t>above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46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46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46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46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09900"/>
            <a:ext cx="5600700" cy="3619500"/>
          </a:xfrm>
          <a:prstGeom prst="roundRect">
            <a:avLst>
              <a:gd name="adj" fmla="val 21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0956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3337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19475"/>
            <a:ext cx="53340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009900"/>
            <a:ext cx="1943100" cy="36195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0956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3337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419475"/>
            <a:ext cx="1676400" cy="31337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'Sweet muffins × Large / jumbo - 100 g and above' ranks highest (5/5); 'Savoury muffins × Small - 30 g to below 60 g'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6843980" y="2029112"/>
            <a:ext cx="366712" cy="533400"/>
          </a:xfrm>
          <a:prstGeom prst="rect">
            <a:avLst/>
          </a:prstGeom>
        </p:spPr>
      </p:pic>
      <p:sp>
        <p:nvSpPr>
          <p:cNvPr id="33" name="TextBox 32"/>
          <p:cNvSpPr txBox="1"/>
          <p:nvPr/>
        </p:nvSpPr>
        <p:spPr>
          <a:xfrm>
            <a:off x="276225" y="3429000"/>
            <a:ext cx="3211140" cy="194310"/>
          </a:xfrm>
          <a:prstGeom prst="rect">
            <a:avLst/>
          </a:prstGeom>
          <a:noFill/>
        </p:spPr>
        <p:txBody>
          <a:bodyPr wrap="none" lIns="0" rIns="0" tIns="0" bIns="0">
            <a:spAutoFit/>
          </a:bodyPr>
          <a:lstStyle/>
          <a:p>
            <a:r>
              <a:rPr sz="1150" b="0">
                <a:solidFill>
                  <a:srgbClr val="2E2E2E"/>
                </a:solidFill>
                <a:latin typeface="Calibri"/>
              </a:rPr>
              <a:t>▪ 1. Sweet muffins × Standard - 60 g to below 100 g –</a:t>
            </a:r>
          </a:p>
        </p:txBody>
      </p:sp>
      <p:pic>
        <p:nvPicPr>
          <p:cNvPr id="34" name="Picture 33" descr="lock.png"/>
          <p:cNvPicPr>
            <a:picLocks noChangeAspect="1"/>
          </p:cNvPicPr>
          <p:nvPr/>
        </p:nvPicPr>
        <p:blipFill>
          <a:blip r:embed="rId4"/>
          <a:stretch>
            <a:fillRect/>
          </a:stretch>
        </p:blipFill>
        <p:spPr>
          <a:xfrm>
            <a:off x="3436519" y="3418776"/>
            <a:ext cx="134549" cy="195707"/>
          </a:xfrm>
          <a:prstGeom prst="rect">
            <a:avLst/>
          </a:prstGeom>
        </p:spPr>
      </p:pic>
      <p:sp>
        <p:nvSpPr>
          <p:cNvPr id="35" name="TextBox 34"/>
          <p:cNvSpPr txBox="1"/>
          <p:nvPr/>
        </p:nvSpPr>
        <p:spPr>
          <a:xfrm>
            <a:off x="3611628" y="34290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673780" y="3418776"/>
            <a:ext cx="134549" cy="195707"/>
          </a:xfrm>
          <a:prstGeom prst="rect">
            <a:avLst/>
          </a:prstGeom>
        </p:spPr>
      </p:pic>
      <p:sp>
        <p:nvSpPr>
          <p:cNvPr id="37" name="TextBox 36"/>
          <p:cNvSpPr txBox="1"/>
          <p:nvPr/>
        </p:nvSpPr>
        <p:spPr>
          <a:xfrm>
            <a:off x="3848889" y="3429000"/>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38" name="TextBox 37"/>
          <p:cNvSpPr txBox="1"/>
          <p:nvPr/>
        </p:nvSpPr>
        <p:spPr>
          <a:xfrm>
            <a:off x="276225" y="3656837"/>
            <a:ext cx="3314402" cy="194310"/>
          </a:xfrm>
          <a:prstGeom prst="rect">
            <a:avLst/>
          </a:prstGeom>
          <a:noFill/>
        </p:spPr>
        <p:txBody>
          <a:bodyPr wrap="none" lIns="0" rIns="0" tIns="0" bIns="0">
            <a:spAutoFit/>
          </a:bodyPr>
          <a:lstStyle/>
          <a:p>
            <a:r>
              <a:rPr sz="1150" b="0">
                <a:solidFill>
                  <a:srgbClr val="2E2E2E"/>
                </a:solidFill>
                <a:latin typeface="Calibri"/>
              </a:rPr>
              <a:t>▪ 2. Sweet muffins × Large / jumbo - 100 g and above –</a:t>
            </a:r>
          </a:p>
        </p:txBody>
      </p:sp>
      <p:pic>
        <p:nvPicPr>
          <p:cNvPr id="39" name="Picture 38" descr="lock.png"/>
          <p:cNvPicPr>
            <a:picLocks noChangeAspect="1"/>
          </p:cNvPicPr>
          <p:nvPr/>
        </p:nvPicPr>
        <p:blipFill>
          <a:blip r:embed="rId4"/>
          <a:stretch>
            <a:fillRect/>
          </a:stretch>
        </p:blipFill>
        <p:spPr>
          <a:xfrm>
            <a:off x="3539781" y="3646614"/>
            <a:ext cx="134549" cy="195707"/>
          </a:xfrm>
          <a:prstGeom prst="rect">
            <a:avLst/>
          </a:prstGeom>
        </p:spPr>
      </p:pic>
      <p:sp>
        <p:nvSpPr>
          <p:cNvPr id="40" name="TextBox 39"/>
          <p:cNvSpPr txBox="1"/>
          <p:nvPr/>
        </p:nvSpPr>
        <p:spPr>
          <a:xfrm>
            <a:off x="3714890" y="36568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777042" y="3646614"/>
            <a:ext cx="134549" cy="195707"/>
          </a:xfrm>
          <a:prstGeom prst="rect">
            <a:avLst/>
          </a:prstGeom>
        </p:spPr>
      </p:pic>
      <p:sp>
        <p:nvSpPr>
          <p:cNvPr id="42" name="TextBox 41"/>
          <p:cNvSpPr txBox="1"/>
          <p:nvPr/>
        </p:nvSpPr>
        <p:spPr>
          <a:xfrm>
            <a:off x="3952151" y="36568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3884675"/>
            <a:ext cx="3318966" cy="194310"/>
          </a:xfrm>
          <a:prstGeom prst="rect">
            <a:avLst/>
          </a:prstGeom>
          <a:noFill/>
        </p:spPr>
        <p:txBody>
          <a:bodyPr wrap="none" lIns="0" rIns="0" tIns="0" bIns="0">
            <a:spAutoFit/>
          </a:bodyPr>
          <a:lstStyle/>
          <a:p>
            <a:r>
              <a:rPr sz="1150" b="0">
                <a:solidFill>
                  <a:srgbClr val="2E2E2E"/>
                </a:solidFill>
                <a:latin typeface="Calibri"/>
              </a:rPr>
              <a:t>▪ 3. Savoury muffins × Standard - 60 g to below 100 g –</a:t>
            </a:r>
          </a:p>
        </p:txBody>
      </p:sp>
      <p:pic>
        <p:nvPicPr>
          <p:cNvPr id="44" name="Picture 43" descr="lock.png"/>
          <p:cNvPicPr>
            <a:picLocks noChangeAspect="1"/>
          </p:cNvPicPr>
          <p:nvPr/>
        </p:nvPicPr>
        <p:blipFill>
          <a:blip r:embed="rId4"/>
          <a:stretch>
            <a:fillRect/>
          </a:stretch>
        </p:blipFill>
        <p:spPr>
          <a:xfrm>
            <a:off x="3544345" y="3874452"/>
            <a:ext cx="134549" cy="195707"/>
          </a:xfrm>
          <a:prstGeom prst="rect">
            <a:avLst/>
          </a:prstGeom>
        </p:spPr>
      </p:pic>
      <p:sp>
        <p:nvSpPr>
          <p:cNvPr id="45" name="TextBox 44"/>
          <p:cNvSpPr txBox="1"/>
          <p:nvPr/>
        </p:nvSpPr>
        <p:spPr>
          <a:xfrm>
            <a:off x="3719454" y="38846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3781606" y="3874452"/>
            <a:ext cx="134549" cy="195707"/>
          </a:xfrm>
          <a:prstGeom prst="rect">
            <a:avLst/>
          </a:prstGeom>
        </p:spPr>
      </p:pic>
      <p:sp>
        <p:nvSpPr>
          <p:cNvPr id="47" name="TextBox 46"/>
          <p:cNvSpPr txBox="1"/>
          <p:nvPr/>
        </p:nvSpPr>
        <p:spPr>
          <a:xfrm>
            <a:off x="3956715" y="3884675"/>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48" name="TextBox 47"/>
          <p:cNvSpPr txBox="1"/>
          <p:nvPr/>
        </p:nvSpPr>
        <p:spPr>
          <a:xfrm>
            <a:off x="276225" y="4112513"/>
            <a:ext cx="3422228" cy="194310"/>
          </a:xfrm>
          <a:prstGeom prst="rect">
            <a:avLst/>
          </a:prstGeom>
          <a:noFill/>
        </p:spPr>
        <p:txBody>
          <a:bodyPr wrap="none" lIns="0" rIns="0" tIns="0" bIns="0">
            <a:spAutoFit/>
          </a:bodyPr>
          <a:lstStyle/>
          <a:p>
            <a:r>
              <a:rPr sz="1150" b="0">
                <a:solidFill>
                  <a:srgbClr val="2E2E2E"/>
                </a:solidFill>
                <a:latin typeface="Calibri"/>
              </a:rPr>
              <a:t>▪ 4. Savoury muffins × Large / jumbo - 100 g and above –</a:t>
            </a:r>
          </a:p>
        </p:txBody>
      </p:sp>
      <p:pic>
        <p:nvPicPr>
          <p:cNvPr id="49" name="Picture 48" descr="lock.png"/>
          <p:cNvPicPr>
            <a:picLocks noChangeAspect="1"/>
          </p:cNvPicPr>
          <p:nvPr/>
        </p:nvPicPr>
        <p:blipFill>
          <a:blip r:embed="rId4"/>
          <a:stretch>
            <a:fillRect/>
          </a:stretch>
        </p:blipFill>
        <p:spPr>
          <a:xfrm>
            <a:off x="3647607" y="4102290"/>
            <a:ext cx="134549" cy="195707"/>
          </a:xfrm>
          <a:prstGeom prst="rect">
            <a:avLst/>
          </a:prstGeom>
        </p:spPr>
      </p:pic>
      <p:sp>
        <p:nvSpPr>
          <p:cNvPr id="50" name="TextBox 49"/>
          <p:cNvSpPr txBox="1"/>
          <p:nvPr/>
        </p:nvSpPr>
        <p:spPr>
          <a:xfrm>
            <a:off x="3822716" y="41125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84868" y="4102290"/>
            <a:ext cx="134549" cy="195707"/>
          </a:xfrm>
          <a:prstGeom prst="rect">
            <a:avLst/>
          </a:prstGeom>
        </p:spPr>
      </p:pic>
      <p:sp>
        <p:nvSpPr>
          <p:cNvPr id="52" name="TextBox 51"/>
          <p:cNvSpPr txBox="1"/>
          <p:nvPr/>
        </p:nvSpPr>
        <p:spPr>
          <a:xfrm>
            <a:off x="4059977" y="4112513"/>
            <a:ext cx="350899" cy="194310"/>
          </a:xfrm>
          <a:prstGeom prst="rect">
            <a:avLst/>
          </a:prstGeom>
          <a:noFill/>
        </p:spPr>
        <p:txBody>
          <a:bodyPr wrap="none" lIns="0" rIns="0" tIns="0" bIns="0">
            <a:spAutoFit/>
          </a:bodyPr>
          <a:lstStyle/>
          <a:p>
            <a:r>
              <a:rPr sz="1150" b="0">
                <a:solidFill>
                  <a:srgbClr val="2E2E2E"/>
                </a:solidFill>
                <a:latin typeface="Calibri"/>
              </a:rPr>
              <a:t>· 3/5</a:t>
            </a:r>
          </a:p>
        </p:txBody>
      </p:sp>
      <p:sp>
        <p:nvSpPr>
          <p:cNvPr id="53" name="TextBox 52"/>
          <p:cNvSpPr txBox="1"/>
          <p:nvPr/>
        </p:nvSpPr>
        <p:spPr>
          <a:xfrm>
            <a:off x="276225" y="4340351"/>
            <a:ext cx="2920751" cy="194310"/>
          </a:xfrm>
          <a:prstGeom prst="rect">
            <a:avLst/>
          </a:prstGeom>
          <a:noFill/>
        </p:spPr>
        <p:txBody>
          <a:bodyPr wrap="none" lIns="0" rIns="0" tIns="0" bIns="0">
            <a:spAutoFit/>
          </a:bodyPr>
          <a:lstStyle/>
          <a:p>
            <a:r>
              <a:rPr sz="1150" b="0">
                <a:solidFill>
                  <a:srgbClr val="2E2E2E"/>
                </a:solidFill>
                <a:latin typeface="Calibri"/>
              </a:rPr>
              <a:t>▪ 5. Sweet muffins × Small - 30 g to below 60 g –</a:t>
            </a:r>
          </a:p>
        </p:txBody>
      </p:sp>
      <p:pic>
        <p:nvPicPr>
          <p:cNvPr id="54" name="Picture 53" descr="lock.png"/>
          <p:cNvPicPr>
            <a:picLocks noChangeAspect="1"/>
          </p:cNvPicPr>
          <p:nvPr/>
        </p:nvPicPr>
        <p:blipFill>
          <a:blip r:embed="rId4"/>
          <a:stretch>
            <a:fillRect/>
          </a:stretch>
        </p:blipFill>
        <p:spPr>
          <a:xfrm>
            <a:off x="3146130" y="4330128"/>
            <a:ext cx="134549" cy="195707"/>
          </a:xfrm>
          <a:prstGeom prst="rect">
            <a:avLst/>
          </a:prstGeom>
        </p:spPr>
      </p:pic>
      <p:sp>
        <p:nvSpPr>
          <p:cNvPr id="55" name="TextBox 54"/>
          <p:cNvSpPr txBox="1"/>
          <p:nvPr/>
        </p:nvSpPr>
        <p:spPr>
          <a:xfrm>
            <a:off x="3321240" y="43403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3383391" y="4330128"/>
            <a:ext cx="134549" cy="195707"/>
          </a:xfrm>
          <a:prstGeom prst="rect">
            <a:avLst/>
          </a:prstGeom>
        </p:spPr>
      </p:pic>
      <p:sp>
        <p:nvSpPr>
          <p:cNvPr id="57" name="TextBox 56"/>
          <p:cNvSpPr txBox="1"/>
          <p:nvPr/>
        </p:nvSpPr>
        <p:spPr>
          <a:xfrm>
            <a:off x="3558501" y="4340351"/>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8" name="TextBox 57"/>
          <p:cNvSpPr txBox="1"/>
          <p:nvPr/>
        </p:nvSpPr>
        <p:spPr>
          <a:xfrm>
            <a:off x="6029325" y="3429000"/>
            <a:ext cx="1657350" cy="194310"/>
          </a:xfrm>
          <a:prstGeom prst="rect">
            <a:avLst/>
          </a:prstGeom>
          <a:noFill/>
        </p:spPr>
        <p:txBody>
          <a:bodyPr wrap="none" lIns="0" rIns="0" tIns="0" bIns="0">
            <a:spAutoFit/>
          </a:bodyPr>
          <a:lstStyle/>
          <a:p>
            <a:r>
              <a:rPr sz="1150" b="0">
                <a:solidFill>
                  <a:srgbClr val="2E2E2E"/>
                </a:solidFill>
                <a:latin typeface="Calibri"/>
              </a:rPr>
              <a:t>▪ 'Sweet muffins × Standard</a:t>
            </a:r>
          </a:p>
        </p:txBody>
      </p:sp>
      <p:sp>
        <p:nvSpPr>
          <p:cNvPr id="59" name="TextBox 58"/>
          <p:cNvSpPr txBox="1"/>
          <p:nvPr/>
        </p:nvSpPr>
        <p:spPr>
          <a:xfrm>
            <a:off x="6029325" y="3604260"/>
            <a:ext cx="1657350" cy="194310"/>
          </a:xfrm>
          <a:prstGeom prst="rect">
            <a:avLst/>
          </a:prstGeom>
          <a:noFill/>
        </p:spPr>
        <p:txBody>
          <a:bodyPr wrap="none" lIns="0" rIns="0" tIns="0" bIns="0">
            <a:spAutoFit/>
          </a:bodyPr>
          <a:lstStyle/>
          <a:p>
            <a:r>
              <a:rPr sz="1150" b="0">
                <a:solidFill>
                  <a:srgbClr val="2E2E2E"/>
                </a:solidFill>
                <a:latin typeface="Calibri"/>
              </a:rPr>
              <a:t>- 60 g to below 100 g' adds</a:t>
            </a:r>
          </a:p>
        </p:txBody>
      </p:sp>
      <p:pic>
        <p:nvPicPr>
          <p:cNvPr id="60" name="Picture 59" descr="lock.png"/>
          <p:cNvPicPr>
            <a:picLocks noChangeAspect="1"/>
          </p:cNvPicPr>
          <p:nvPr/>
        </p:nvPicPr>
        <p:blipFill>
          <a:blip r:embed="rId4"/>
          <a:stretch>
            <a:fillRect/>
          </a:stretch>
        </p:blipFill>
        <p:spPr>
          <a:xfrm>
            <a:off x="6015245" y="3769296"/>
            <a:ext cx="134549" cy="195707"/>
          </a:xfrm>
          <a:prstGeom prst="rect">
            <a:avLst/>
          </a:prstGeom>
        </p:spPr>
      </p:pic>
      <p:sp>
        <p:nvSpPr>
          <p:cNvPr id="61" name="TextBox 60"/>
          <p:cNvSpPr txBox="1"/>
          <p:nvPr/>
        </p:nvSpPr>
        <p:spPr>
          <a:xfrm>
            <a:off x="6190354" y="377951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2" name="Picture 61" descr="lock.png"/>
          <p:cNvPicPr>
            <a:picLocks noChangeAspect="1"/>
          </p:cNvPicPr>
          <p:nvPr/>
        </p:nvPicPr>
        <p:blipFill>
          <a:blip r:embed="rId4"/>
          <a:stretch>
            <a:fillRect/>
          </a:stretch>
        </p:blipFill>
        <p:spPr>
          <a:xfrm>
            <a:off x="6015245" y="3944556"/>
            <a:ext cx="134549" cy="195707"/>
          </a:xfrm>
          <a:prstGeom prst="rect">
            <a:avLst/>
          </a:prstGeom>
        </p:spPr>
      </p:pic>
      <p:sp>
        <p:nvSpPr>
          <p:cNvPr id="63" name="TextBox 62"/>
          <p:cNvSpPr txBox="1"/>
          <p:nvPr/>
        </p:nvSpPr>
        <p:spPr>
          <a:xfrm>
            <a:off x="6190354" y="39547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41300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3429000"/>
            <a:ext cx="1539552" cy="194310"/>
          </a:xfrm>
          <a:prstGeom prst="rect">
            <a:avLst/>
          </a:prstGeom>
          <a:noFill/>
        </p:spPr>
        <p:txBody>
          <a:bodyPr wrap="none" lIns="0" rIns="0" tIns="0" bIns="0">
            <a:spAutoFit/>
          </a:bodyPr>
          <a:lstStyle/>
          <a:p>
            <a:r>
              <a:rPr sz="1150" b="0">
                <a:solidFill>
                  <a:srgbClr val="2E2E2E"/>
                </a:solidFill>
                <a:latin typeface="Calibri"/>
              </a:rPr>
              <a:t>▪ 'Sweet muffins × Mini /</a:t>
            </a:r>
          </a:p>
        </p:txBody>
      </p:sp>
      <p:sp>
        <p:nvSpPr>
          <p:cNvPr id="66" name="TextBox 65"/>
          <p:cNvSpPr txBox="1"/>
          <p:nvPr/>
        </p:nvSpPr>
        <p:spPr>
          <a:xfrm>
            <a:off x="8124825" y="3604260"/>
            <a:ext cx="1441995" cy="194310"/>
          </a:xfrm>
          <a:prstGeom prst="rect">
            <a:avLst/>
          </a:prstGeom>
          <a:noFill/>
        </p:spPr>
        <p:txBody>
          <a:bodyPr wrap="none" lIns="0" rIns="0" tIns="0" bIns="0">
            <a:spAutoFit/>
          </a:bodyPr>
          <a:lstStyle/>
          <a:p>
            <a:r>
              <a:rPr sz="1150" b="0">
                <a:solidFill>
                  <a:srgbClr val="2E2E2E"/>
                </a:solidFill>
                <a:latin typeface="Calibri"/>
              </a:rPr>
              <a:t>bite-sized - below 30 g'</a:t>
            </a:r>
          </a:p>
        </p:txBody>
      </p:sp>
      <p:sp>
        <p:nvSpPr>
          <p:cNvPr id="67" name="TextBox 66"/>
          <p:cNvSpPr txBox="1"/>
          <p:nvPr/>
        </p:nvSpPr>
        <p:spPr>
          <a:xfrm>
            <a:off x="8124825" y="3779519"/>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8" name="Picture 67" descr="lock.png"/>
          <p:cNvPicPr>
            <a:picLocks noChangeAspect="1"/>
          </p:cNvPicPr>
          <p:nvPr/>
        </p:nvPicPr>
        <p:blipFill>
          <a:blip r:embed="rId4"/>
          <a:stretch>
            <a:fillRect/>
          </a:stretch>
        </p:blipFill>
        <p:spPr>
          <a:xfrm>
            <a:off x="8763474" y="3769296"/>
            <a:ext cx="134549" cy="195707"/>
          </a:xfrm>
          <a:prstGeom prst="rect">
            <a:avLst/>
          </a:prstGeom>
        </p:spPr>
      </p:pic>
      <p:sp>
        <p:nvSpPr>
          <p:cNvPr id="69" name="TextBox 68"/>
          <p:cNvSpPr txBox="1"/>
          <p:nvPr/>
        </p:nvSpPr>
        <p:spPr>
          <a:xfrm>
            <a:off x="8938584" y="37795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0" name="Picture 69" descr="lock.png"/>
          <p:cNvPicPr>
            <a:picLocks noChangeAspect="1"/>
          </p:cNvPicPr>
          <p:nvPr/>
        </p:nvPicPr>
        <p:blipFill>
          <a:blip r:embed="rId4"/>
          <a:stretch>
            <a:fillRect/>
          </a:stretch>
        </p:blipFill>
        <p:spPr>
          <a:xfrm>
            <a:off x="9334179" y="3769296"/>
            <a:ext cx="134549" cy="195707"/>
          </a:xfrm>
          <a:prstGeom prst="rect">
            <a:avLst/>
          </a:prstGeom>
        </p:spPr>
      </p:pic>
      <p:sp>
        <p:nvSpPr>
          <p:cNvPr id="71" name="TextBox 70"/>
          <p:cNvSpPr txBox="1"/>
          <p:nvPr/>
        </p:nvSpPr>
        <p:spPr>
          <a:xfrm>
            <a:off x="8124825" y="39547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2" name="TextBox 71"/>
          <p:cNvSpPr txBox="1"/>
          <p:nvPr/>
        </p:nvSpPr>
        <p:spPr>
          <a:xfrm>
            <a:off x="8124825" y="41300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3381.6</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4237.4</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5093.2</a:t>
            </a:r>
          </a:p>
        </p:txBody>
      </p:sp>
      <p:cxnSp>
        <p:nvCxnSpPr>
          <p:cNvPr id="16" name="Connector 15"/>
          <p:cNvCxnSpPr/>
          <p:nvPr/>
        </p:nvCxnSpPr>
        <p:spPr>
          <a:xfrm>
            <a:off x="2409825" y="1927636"/>
            <a:ext cx="0" cy="54171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2190750" y="1927636"/>
            <a:ext cx="438150" cy="54171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1775236"/>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Sweet muffins</a:t>
            </a:r>
          </a:p>
        </p:txBody>
      </p:sp>
      <p:cxnSp>
        <p:nvCxnSpPr>
          <p:cNvPr id="20" name="Connector 19"/>
          <p:cNvCxnSpPr/>
          <p:nvPr/>
        </p:nvCxnSpPr>
        <p:spPr>
          <a:xfrm>
            <a:off x="5915025" y="2907429"/>
            <a:ext cx="0" cy="42028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695950" y="2907429"/>
            <a:ext cx="438150" cy="42028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4162425" y="27550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41624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Savoury muffins</a:t>
            </a:r>
          </a:p>
        </p:txBody>
      </p:sp>
      <p:sp>
        <p:nvSpPr>
          <p:cNvPr id="24" name="Rounded Rectangle 23"/>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26" name="Connector 25"/>
          <p:cNvCxnSpPr/>
          <p:nvPr/>
        </p:nvCxnSpPr>
        <p:spPr>
          <a:xfrm>
            <a:off x="619125" y="451725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19125" y="488327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619125" y="561532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619125" y="598134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517252"/>
            <a:ext cx="0" cy="1464092"/>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90550" y="451725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90550" y="488327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90550" y="561532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598134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37" name="FMI Scale tick"/>
          <p:cNvSpPr txBox="1"/>
          <p:nvPr/>
        </p:nvSpPr>
        <p:spPr>
          <a:xfrm>
            <a:off x="138112" y="4450577"/>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sp>
        <p:nvSpPr>
          <p:cNvPr id="38" name="FMI Scale tick"/>
          <p:cNvSpPr txBox="1"/>
          <p:nvPr/>
        </p:nvSpPr>
        <p:spPr>
          <a:xfrm>
            <a:off x="138112" y="4816600"/>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39"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0" name="FMI Scale tick"/>
          <p:cNvSpPr txBox="1"/>
          <p:nvPr/>
        </p:nvSpPr>
        <p:spPr>
          <a:xfrm>
            <a:off x="164306" y="5548646"/>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-4.7%</a:t>
            </a:r>
          </a:p>
        </p:txBody>
      </p:sp>
      <p:sp>
        <p:nvSpPr>
          <p:cNvPr id="41" name="FMI Scale tick"/>
          <p:cNvSpPr txBox="1"/>
          <p:nvPr/>
        </p:nvSpPr>
        <p:spPr>
          <a:xfrm>
            <a:off x="164306" y="5914669"/>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-9.3%</a:t>
            </a:r>
          </a:p>
        </p:txBody>
      </p:sp>
      <p:cxnSp>
        <p:nvCxnSpPr>
          <p:cNvPr id="42" name="Connector 41"/>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977900" y="4659176"/>
            <a:ext cx="457200" cy="59012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MI Data Label"/>
          <p:cNvSpPr txBox="1"/>
          <p:nvPr/>
        </p:nvSpPr>
        <p:spPr>
          <a:xfrm>
            <a:off x="619125" y="451630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5" name="Rectangle 44"/>
          <p:cNvSpPr/>
          <p:nvPr/>
        </p:nvSpPr>
        <p:spPr>
          <a:xfrm>
            <a:off x="2152650" y="4669646"/>
            <a:ext cx="457200" cy="57965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Data Label"/>
          <p:cNvSpPr txBox="1"/>
          <p:nvPr/>
        </p:nvSpPr>
        <p:spPr>
          <a:xfrm>
            <a:off x="1793875" y="452677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7" name="Rectangle 46"/>
          <p:cNvSpPr/>
          <p:nvPr/>
        </p:nvSpPr>
        <p:spPr>
          <a:xfrm>
            <a:off x="3327400" y="4662998"/>
            <a:ext cx="457200" cy="58630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MI Data Label"/>
          <p:cNvSpPr txBox="1"/>
          <p:nvPr/>
        </p:nvSpPr>
        <p:spPr>
          <a:xfrm>
            <a:off x="2968625" y="452012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9" name="Rectangle 48"/>
          <p:cNvSpPr/>
          <p:nvPr/>
        </p:nvSpPr>
        <p:spPr>
          <a:xfrm>
            <a:off x="4502150" y="4686569"/>
            <a:ext cx="457200" cy="5627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MI Data Label"/>
          <p:cNvSpPr txBox="1"/>
          <p:nvPr/>
        </p:nvSpPr>
        <p:spPr>
          <a:xfrm>
            <a:off x="4143375" y="454369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1" name="Rectangle 50"/>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6851650" y="4644036"/>
            <a:ext cx="457200" cy="60526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6492875" y="450116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TextBox 54"/>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56" name="TextBox 55"/>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57" name="TextBox 56"/>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58" name="TextBox 57"/>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59" name="TextBox 58"/>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0" name="TextBox 59"/>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1" name="Rounded Rectangle 60"/>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3" name="Rectangle 62"/>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65" name="TextBox 6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6" name="Picture 65" descr="lock.png"/>
          <p:cNvPicPr>
            <a:picLocks noChangeAspect="1"/>
          </p:cNvPicPr>
          <p:nvPr/>
        </p:nvPicPr>
        <p:blipFill>
          <a:blip r:embed="rId4"/>
          <a:stretch>
            <a:fillRect/>
          </a:stretch>
        </p:blipFill>
        <p:spPr>
          <a:xfrm>
            <a:off x="2345475" y="1748312"/>
            <a:ext cx="128699" cy="187198"/>
          </a:xfrm>
          <a:prstGeom prst="rect">
            <a:avLst/>
          </a:prstGeom>
        </p:spPr>
      </p:pic>
      <p:pic>
        <p:nvPicPr>
          <p:cNvPr id="67" name="Picture 66" descr="lock.png"/>
          <p:cNvPicPr>
            <a:picLocks noChangeAspect="1"/>
          </p:cNvPicPr>
          <p:nvPr/>
        </p:nvPicPr>
        <p:blipFill>
          <a:blip r:embed="rId4"/>
          <a:stretch>
            <a:fillRect/>
          </a:stretch>
        </p:blipFill>
        <p:spPr>
          <a:xfrm>
            <a:off x="5850675" y="2728105"/>
            <a:ext cx="128699" cy="187198"/>
          </a:xfrm>
          <a:prstGeom prst="rect">
            <a:avLst/>
          </a:prstGeom>
        </p:spPr>
      </p:pic>
      <p:pic>
        <p:nvPicPr>
          <p:cNvPr id="68" name="Picture 67" descr="lock.png"/>
          <p:cNvPicPr>
            <a:picLocks noChangeAspect="1"/>
          </p:cNvPicPr>
          <p:nvPr/>
        </p:nvPicPr>
        <p:blipFill>
          <a:blip r:embed="rId4"/>
          <a:stretch>
            <a:fillRect/>
          </a:stretch>
        </p:blipFill>
        <p:spPr>
          <a:xfrm>
            <a:off x="1142150" y="4489377"/>
            <a:ext cx="128699" cy="187198"/>
          </a:xfrm>
          <a:prstGeom prst="rect">
            <a:avLst/>
          </a:prstGeom>
        </p:spPr>
      </p:pic>
      <p:pic>
        <p:nvPicPr>
          <p:cNvPr id="69" name="Picture 68" descr="lock.png"/>
          <p:cNvPicPr>
            <a:picLocks noChangeAspect="1"/>
          </p:cNvPicPr>
          <p:nvPr/>
        </p:nvPicPr>
        <p:blipFill>
          <a:blip r:embed="rId4"/>
          <a:stretch>
            <a:fillRect/>
          </a:stretch>
        </p:blipFill>
        <p:spPr>
          <a:xfrm>
            <a:off x="2316900" y="4499847"/>
            <a:ext cx="128699" cy="187198"/>
          </a:xfrm>
          <a:prstGeom prst="rect">
            <a:avLst/>
          </a:prstGeom>
        </p:spPr>
      </p:pic>
      <p:pic>
        <p:nvPicPr>
          <p:cNvPr id="70" name="Picture 69" descr="lock.png"/>
          <p:cNvPicPr>
            <a:picLocks noChangeAspect="1"/>
          </p:cNvPicPr>
          <p:nvPr/>
        </p:nvPicPr>
        <p:blipFill>
          <a:blip r:embed="rId4"/>
          <a:stretch>
            <a:fillRect/>
          </a:stretch>
        </p:blipFill>
        <p:spPr>
          <a:xfrm>
            <a:off x="3491650" y="4493199"/>
            <a:ext cx="128699" cy="187198"/>
          </a:xfrm>
          <a:prstGeom prst="rect">
            <a:avLst/>
          </a:prstGeom>
        </p:spPr>
      </p:pic>
      <p:pic>
        <p:nvPicPr>
          <p:cNvPr id="71" name="Picture 70" descr="lock.png"/>
          <p:cNvPicPr>
            <a:picLocks noChangeAspect="1"/>
          </p:cNvPicPr>
          <p:nvPr/>
        </p:nvPicPr>
        <p:blipFill>
          <a:blip r:embed="rId4"/>
          <a:stretch>
            <a:fillRect/>
          </a:stretch>
        </p:blipFill>
        <p:spPr>
          <a:xfrm>
            <a:off x="4666400" y="4516770"/>
            <a:ext cx="128699" cy="187198"/>
          </a:xfrm>
          <a:prstGeom prst="rect">
            <a:avLst/>
          </a:prstGeom>
        </p:spPr>
      </p:pic>
      <p:pic>
        <p:nvPicPr>
          <p:cNvPr id="72" name="Picture 71" descr="lock.png"/>
          <p:cNvPicPr>
            <a:picLocks noChangeAspect="1"/>
          </p:cNvPicPr>
          <p:nvPr/>
        </p:nvPicPr>
        <p:blipFill>
          <a:blip r:embed="rId4"/>
          <a:stretch>
            <a:fillRect/>
          </a:stretch>
        </p:blipFill>
        <p:spPr>
          <a:xfrm>
            <a:off x="5841150" y="4444308"/>
            <a:ext cx="128699" cy="187198"/>
          </a:xfrm>
          <a:prstGeom prst="rect">
            <a:avLst/>
          </a:prstGeom>
        </p:spPr>
      </p:pic>
      <p:pic>
        <p:nvPicPr>
          <p:cNvPr id="73" name="Picture 72" descr="lock.png"/>
          <p:cNvPicPr>
            <a:picLocks noChangeAspect="1"/>
          </p:cNvPicPr>
          <p:nvPr/>
        </p:nvPicPr>
        <p:blipFill>
          <a:blip r:embed="rId4"/>
          <a:stretch>
            <a:fillRect/>
          </a:stretch>
        </p:blipFill>
        <p:spPr>
          <a:xfrm>
            <a:off x="7015900" y="4474237"/>
            <a:ext cx="128699" cy="187198"/>
          </a:xfrm>
          <a:prstGeom prst="rect">
            <a:avLst/>
          </a:prstGeom>
        </p:spPr>
      </p:pic>
      <p:sp>
        <p:nvSpPr>
          <p:cNvPr id="74" name="TextBox 73"/>
          <p:cNvSpPr txBox="1"/>
          <p:nvPr/>
        </p:nvSpPr>
        <p:spPr>
          <a:xfrm>
            <a:off x="8048625" y="1736673"/>
            <a:ext cx="3654424"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product type</a:t>
            </a:r>
          </a:p>
        </p:txBody>
      </p:sp>
      <p:sp>
        <p:nvSpPr>
          <p:cNvPr id="75" name="TextBox 74"/>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76" name="TextBox 75"/>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77" name="TextBox 7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78" name="TextBox 7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79" name="TextBox 78"/>
          <p:cNvSpPr txBox="1"/>
          <p:nvPr/>
        </p:nvSpPr>
        <p:spPr>
          <a:xfrm>
            <a:off x="8048625" y="2665551"/>
            <a:ext cx="3488121" cy="194310"/>
          </a:xfrm>
          <a:prstGeom prst="rect">
            <a:avLst/>
          </a:prstGeom>
          <a:noFill/>
        </p:spPr>
        <p:txBody>
          <a:bodyPr wrap="none" lIns="0" rIns="0" tIns="0" bIns="0">
            <a:spAutoFit/>
          </a:bodyPr>
          <a:lstStyle/>
          <a:p>
            <a:r>
              <a:rPr sz="1150" b="0">
                <a:solidFill>
                  <a:srgbClr val="2E2E2E"/>
                </a:solidFill>
                <a:latin typeface="Calibri"/>
              </a:rPr>
              <a:t>price levels 'Sweet muffins' shows the most movement (+</a:t>
            </a:r>
          </a:p>
        </p:txBody>
      </p:sp>
      <p:pic>
        <p:nvPicPr>
          <p:cNvPr id="80" name="Picture 79" descr="lock.png"/>
          <p:cNvPicPr>
            <a:picLocks noChangeAspect="1"/>
          </p:cNvPicPr>
          <p:nvPr/>
        </p:nvPicPr>
        <p:blipFill>
          <a:blip r:embed="rId4"/>
          <a:stretch>
            <a:fillRect/>
          </a:stretch>
        </p:blipFill>
        <p:spPr>
          <a:xfrm>
            <a:off x="11485900" y="2655328"/>
            <a:ext cx="134549" cy="195707"/>
          </a:xfrm>
          <a:prstGeom prst="rect">
            <a:avLst/>
          </a:prstGeom>
        </p:spPr>
      </p:pic>
      <p:sp>
        <p:nvSpPr>
          <p:cNvPr id="81" name="TextBox 80"/>
          <p:cNvSpPr txBox="1"/>
          <p:nvPr/>
        </p:nvSpPr>
        <p:spPr>
          <a:xfrm>
            <a:off x="11661010" y="2665551"/>
            <a:ext cx="120414" cy="194310"/>
          </a:xfrm>
          <a:prstGeom prst="rect">
            <a:avLst/>
          </a:prstGeom>
          <a:noFill/>
        </p:spPr>
        <p:txBody>
          <a:bodyPr wrap="none" lIns="0" rIns="0" tIns="0" bIns="0">
            <a:spAutoFit/>
          </a:bodyPr>
          <a:lstStyle/>
          <a:p>
            <a:r>
              <a:rPr sz="1150" b="0">
                <a:solidFill>
                  <a:srgbClr val="2E2E2E"/>
                </a:solidFill>
                <a:latin typeface="Calibri"/>
              </a:rPr>
              <a:t>)</a:t>
            </a:r>
          </a:p>
        </p:txBody>
      </p:sp>
      <p:sp>
        <p:nvSpPr>
          <p:cNvPr id="82" name="TextBox 81"/>
          <p:cNvSpPr txBox="1"/>
          <p:nvPr/>
        </p:nvSpPr>
        <p:spPr>
          <a:xfrm>
            <a:off x="8048625" y="2840811"/>
            <a:ext cx="2051012" cy="194310"/>
          </a:xfrm>
          <a:prstGeom prst="rect">
            <a:avLst/>
          </a:prstGeom>
          <a:noFill/>
        </p:spPr>
        <p:txBody>
          <a:bodyPr wrap="none" lIns="0" rIns="0" tIns="0" bIns="0">
            <a:spAutoFit/>
          </a:bodyPr>
          <a:lstStyle/>
          <a:p>
            <a:r>
              <a:rPr sz="1150" b="0">
                <a:solidFill>
                  <a:srgbClr val="2E2E2E"/>
                </a:solidFill>
                <a:latin typeface="Calibri"/>
              </a:rPr>
              <a:t>and 'Savoury muffins' the least (+</a:t>
            </a:r>
          </a:p>
        </p:txBody>
      </p:sp>
      <p:pic>
        <p:nvPicPr>
          <p:cNvPr id="83" name="Picture 82" descr="lock.png"/>
          <p:cNvPicPr>
            <a:picLocks noChangeAspect="1"/>
          </p:cNvPicPr>
          <p:nvPr/>
        </p:nvPicPr>
        <p:blipFill>
          <a:blip r:embed="rId4"/>
          <a:stretch>
            <a:fillRect/>
          </a:stretch>
        </p:blipFill>
        <p:spPr>
          <a:xfrm>
            <a:off x="10048791" y="2830588"/>
            <a:ext cx="134549" cy="195707"/>
          </a:xfrm>
          <a:prstGeom prst="rect">
            <a:avLst/>
          </a:prstGeom>
        </p:spPr>
      </p:pic>
      <p:sp>
        <p:nvSpPr>
          <p:cNvPr id="84" name="TextBox 83"/>
          <p:cNvSpPr txBox="1"/>
          <p:nvPr/>
        </p:nvSpPr>
        <p:spPr>
          <a:xfrm>
            <a:off x="10223901" y="2840811"/>
            <a:ext cx="1530139" cy="194310"/>
          </a:xfrm>
          <a:prstGeom prst="rect">
            <a:avLst/>
          </a:prstGeom>
          <a:noFill/>
        </p:spPr>
        <p:txBody>
          <a:bodyPr wrap="none" lIns="0" rIns="0" tIns="0" bIns="0">
            <a:spAutoFit/>
          </a:bodyPr>
          <a:lstStyle/>
          <a:p>
            <a:r>
              <a:rPr sz="1150" b="0">
                <a:solidFill>
                  <a:srgbClr val="2E2E2E"/>
                </a:solidFill>
                <a:latin typeface="Calibri"/>
              </a:rPr>
              <a:t>) variability stakeholders</a:t>
            </a:r>
          </a:p>
        </p:txBody>
      </p:sp>
      <p:sp>
        <p:nvSpPr>
          <p:cNvPr id="85" name="TextBox 84"/>
          <p:cNvSpPr txBox="1"/>
          <p:nvPr/>
        </p:nvSpPr>
        <p:spPr>
          <a:xfrm>
            <a:off x="8048625" y="3016071"/>
            <a:ext cx="3347206" cy="194310"/>
          </a:xfrm>
          <a:prstGeom prst="rect">
            <a:avLst/>
          </a:prstGeom>
          <a:noFill/>
        </p:spPr>
        <p:txBody>
          <a:bodyPr wrap="none" lIns="0" rIns="0" tIns="0" bIns="0">
            <a:spAutoFit/>
          </a:bodyPr>
          <a:lstStyle/>
          <a:p>
            <a:r>
              <a:rPr sz="1150" b="0">
                <a:solidFill>
                  <a:srgbClr val="2E2E2E"/>
                </a:solidFill>
                <a:latin typeface="Calibri"/>
              </a:rPr>
              <a:t>should monitor when planning procurement or pricing.</a:t>
            </a:r>
          </a:p>
        </p:txBody>
      </p:sp>
      <p:sp>
        <p:nvSpPr>
          <p:cNvPr id="86" name="TextBox 85"/>
          <p:cNvSpPr txBox="1"/>
          <p:nvPr/>
        </p:nvSpPr>
        <p:spPr>
          <a:xfrm>
            <a:off x="8048625" y="324390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87" name="TextBox 86"/>
          <p:cNvSpPr txBox="1"/>
          <p:nvPr/>
        </p:nvSpPr>
        <p:spPr>
          <a:xfrm>
            <a:off x="8048625" y="341916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88" name="TextBox 87"/>
          <p:cNvSpPr txBox="1"/>
          <p:nvPr/>
        </p:nvSpPr>
        <p:spPr>
          <a:xfrm>
            <a:off x="8048625" y="359442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89" name="TextBox 88"/>
          <p:cNvSpPr txBox="1"/>
          <p:nvPr/>
        </p:nvSpPr>
        <p:spPr>
          <a:xfrm>
            <a:off x="8048625" y="376968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90" name="TextBox 89"/>
          <p:cNvSpPr txBox="1"/>
          <p:nvPr/>
        </p:nvSpPr>
        <p:spPr>
          <a:xfrm>
            <a:off x="8048625" y="399752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91" name="Picture 90" descr="lock.png"/>
          <p:cNvPicPr>
            <a:picLocks noChangeAspect="1"/>
          </p:cNvPicPr>
          <p:nvPr/>
        </p:nvPicPr>
        <p:blipFill>
          <a:blip r:embed="rId4"/>
          <a:stretch>
            <a:fillRect/>
          </a:stretch>
        </p:blipFill>
        <p:spPr>
          <a:xfrm>
            <a:off x="10338039" y="3987304"/>
            <a:ext cx="134549" cy="195707"/>
          </a:xfrm>
          <a:prstGeom prst="rect">
            <a:avLst/>
          </a:prstGeom>
        </p:spPr>
      </p:pic>
      <p:sp>
        <p:nvSpPr>
          <p:cNvPr id="92" name="TextBox 91"/>
          <p:cNvSpPr txBox="1"/>
          <p:nvPr/>
        </p:nvSpPr>
        <p:spPr>
          <a:xfrm>
            <a:off x="10513148" y="399752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93" name="TextBox 92"/>
          <p:cNvSpPr txBox="1"/>
          <p:nvPr/>
        </p:nvSpPr>
        <p:spPr>
          <a:xfrm>
            <a:off x="8048625" y="417278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94" name="TextBox 93"/>
          <p:cNvSpPr txBox="1"/>
          <p:nvPr/>
        </p:nvSpPr>
        <p:spPr>
          <a:xfrm>
            <a:off x="8048625" y="434804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95" name="TextBox 94"/>
          <p:cNvSpPr txBox="1"/>
          <p:nvPr/>
        </p:nvSpPr>
        <p:spPr>
          <a:xfrm>
            <a:off x="8048625" y="452330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Global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461772">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461772">
                <a:tc>
                  <a:txBody>
                    <a:bodyPr wrap="square"/>
                    <a:lstStyle/>
                    <a:p>
                      <a:pPr algn="l"/>
                      <a:r>
                        <a:rPr sz="850" b="1">
                          <a:solidFill>
                            <a:srgbClr val="1F1F1F"/>
                          </a:solidFill>
                          <a:latin typeface="Calibri"/>
                        </a:rPr>
                        <a:t>Sweet muffins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b="0">
                          <a:solidFill>
                            <a:srgbClr val="1F1F1F"/>
                          </a:solidFill>
                          <a:latin typeface="Calibri"/>
                        </a:rPr>
                        <a:t>0.74%</a:t>
                      </a:r>
                    </a:p>
                  </a:txBody>
                  <a:tcPr marL="36576" marR="36576" marT="9144" marB="9144" anchor="ctr">
                    <a:solidFill>
                      <a:srgbClr val="FFFFFF"/>
                    </a:solidFill>
                  </a:tcPr>
                </a:tc>
                <a:tc>
                  <a:txBody>
                    <a:bodyPr wrap="square"/>
                    <a:lstStyle/>
                    <a:p>
                      <a:pPr algn="ctr"/>
                      <a:r>
                        <a:rPr sz="850" b="0">
                          <a:solidFill>
                            <a:srgbClr val="1F1F1F"/>
                          </a:solidFill>
                          <a:latin typeface="Calibri"/>
                        </a:rPr>
                        <a:t>110.1</a:t>
                      </a:r>
                    </a:p>
                  </a:txBody>
                  <a:tcPr marL="36576" marR="36576" marT="9144" marB="9144" anchor="ctr">
                    <a:solidFill>
                      <a:srgbClr val="F4B183"/>
                    </a:solidFill>
                  </a:tcPr>
                </a:tc>
              </a:tr>
              <a:tr h="461772">
                <a:tc>
                  <a:txBody>
                    <a:bodyPr wrap="square"/>
                    <a:lstStyle/>
                    <a:p>
                      <a:pPr algn="l"/>
                      <a:r>
                        <a:rPr sz="850" b="1">
                          <a:solidFill>
                            <a:srgbClr val="1F1F1F"/>
                          </a:solidFill>
                          <a:latin typeface="Calibri"/>
                        </a:rPr>
                        <a:t>Savoury muffins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0.70%</a:t>
                      </a:r>
                    </a:p>
                  </a:txBody>
                  <a:tcPr marL="36576" marR="36576" marT="9144" marB="9144" anchor="ctr">
                    <a:solidFill>
                      <a:srgbClr val="F3F6F9"/>
                    </a:solidFill>
                  </a:tcPr>
                </a:tc>
                <a:tc>
                  <a:txBody>
                    <a:bodyPr wrap="square"/>
                    <a:lstStyle/>
                    <a:p>
                      <a:pPr algn="ctr"/>
                      <a:r>
                        <a:rPr sz="850" b="0">
                          <a:solidFill>
                            <a:srgbClr val="1F1F1F"/>
                          </a:solidFill>
                          <a:latin typeface="Calibri"/>
                        </a:rPr>
                        <a:t>89.7</a:t>
                      </a:r>
                    </a:p>
                  </a:txBody>
                  <a:tcPr marL="36576" marR="36576" marT="9144" marB="9144" anchor="ctr">
                    <a:solidFill>
                      <a:srgbClr val="9DC0E0"/>
                    </a:solidFill>
                  </a:tcPr>
                </a:tc>
              </a:tr>
              <a:tr h="461772">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b="0">
                          <a:solidFill>
                            <a:srgbClr val="1F1F1F"/>
                          </a:solidFill>
                          <a:latin typeface="Calibri"/>
                        </a:rPr>
                        <a:t>0.76%</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sit at the top of the 2026 price ladder at an index of 110.1, while Savoury muffins trade at 89.7, which keeps the full product type spread within 22.8%.</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post the fastest price growth at a 0.74% CAGR between 2026 and 2036, compared with 0.70% for Savoury muffins.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9643491" y="4117466"/>
            <a:ext cx="330041" cy="480060"/>
          </a:xfrm>
          <a:prstGeom prst="rect">
            <a:avLst/>
          </a:prstGeom>
        </p:spPr>
      </p:pic>
      <p:sp>
        <p:nvSpPr>
          <p:cNvPr id="34" name="TextBox 33"/>
          <p:cNvSpPr txBox="1"/>
          <p:nvPr/>
        </p:nvSpPr>
        <p:spPr>
          <a:xfrm>
            <a:off x="411480" y="1110615"/>
            <a:ext cx="4226272" cy="217169"/>
          </a:xfrm>
          <a:prstGeom prst="rect">
            <a:avLst/>
          </a:prstGeom>
          <a:noFill/>
        </p:spPr>
        <p:txBody>
          <a:bodyPr wrap="none" lIns="0" rIns="0" tIns="0" bIns="0">
            <a:spAutoFit/>
          </a:bodyPr>
          <a:lstStyle/>
          <a:p>
            <a:r>
              <a:rPr sz="1300" b="1">
                <a:solidFill>
                  <a:srgbClr val="FFFFFF"/>
                </a:solidFill>
                <a:latin typeface="Calibri"/>
              </a:rPr>
              <a:t>Sweet muffins command the highest 2026 price point at US$</a:t>
            </a:r>
          </a:p>
        </p:txBody>
      </p:sp>
      <p:pic>
        <p:nvPicPr>
          <p:cNvPr id="35" name="Picture 34" descr="lock.png"/>
          <p:cNvPicPr>
            <a:picLocks noChangeAspect="1"/>
          </p:cNvPicPr>
          <p:nvPr/>
        </p:nvPicPr>
        <p:blipFill>
          <a:blip r:embed="rId6"/>
          <a:stretch>
            <a:fillRect/>
          </a:stretch>
        </p:blipFill>
        <p:spPr>
          <a:xfrm>
            <a:off x="4590213" y="1099058"/>
            <a:ext cx="152098" cy="221234"/>
          </a:xfrm>
          <a:prstGeom prst="rect">
            <a:avLst/>
          </a:prstGeom>
        </p:spPr>
      </p:pic>
      <p:sp>
        <p:nvSpPr>
          <p:cNvPr id="36" name="TextBox 35"/>
          <p:cNvSpPr txBox="1"/>
          <p:nvPr/>
        </p:nvSpPr>
        <p:spPr>
          <a:xfrm>
            <a:off x="4788162" y="1110615"/>
            <a:ext cx="3194397" cy="217169"/>
          </a:xfrm>
          <a:prstGeom prst="rect">
            <a:avLst/>
          </a:prstGeom>
          <a:noFill/>
        </p:spPr>
        <p:txBody>
          <a:bodyPr wrap="none" lIns="0" rIns="0" tIns="0" bIns="0">
            <a:spAutoFit/>
          </a:bodyPr>
          <a:lstStyle/>
          <a:p>
            <a:r>
              <a:rPr sz="1300" b="1">
                <a:solidFill>
                  <a:srgbClr val="FFFFFF"/>
                </a:solidFill>
                <a:latin typeface="Calibri"/>
              </a:rPr>
              <a:t>/MT, a 22.8% premium over Savoury muffins.</a:t>
            </a:r>
          </a:p>
        </p:txBody>
      </p:sp>
      <p:sp>
        <p:nvSpPr>
          <p:cNvPr id="37" name="TextBox 36"/>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38" name="Picture 37" descr="lock.png"/>
          <p:cNvPicPr>
            <a:picLocks noChangeAspect="1"/>
          </p:cNvPicPr>
          <p:nvPr/>
        </p:nvPicPr>
        <p:blipFill>
          <a:blip r:embed="rId6"/>
          <a:stretch>
            <a:fillRect/>
          </a:stretch>
        </p:blipFill>
        <p:spPr>
          <a:xfrm>
            <a:off x="10841019" y="5521642"/>
            <a:ext cx="122849" cy="178689"/>
          </a:xfrm>
          <a:prstGeom prst="rect">
            <a:avLst/>
          </a:prstGeom>
        </p:spPr>
      </p:pic>
      <p:sp>
        <p:nvSpPr>
          <p:cNvPr id="39" name="TextBox 38"/>
          <p:cNvSpPr txBox="1"/>
          <p:nvPr/>
        </p:nvSpPr>
        <p:spPr>
          <a:xfrm>
            <a:off x="11000901" y="5530976"/>
            <a:ext cx="739043" cy="179069"/>
          </a:xfrm>
          <a:prstGeom prst="rect">
            <a:avLst/>
          </a:prstGeom>
          <a:noFill/>
        </p:spPr>
        <p:txBody>
          <a:bodyPr wrap="none" lIns="0" rIns="0" tIns="0" bIns="0">
            <a:spAutoFit/>
          </a:bodyPr>
          <a:lstStyle/>
          <a:p>
            <a:r>
              <a:rPr sz="1050" b="0">
                <a:solidFill>
                  <a:srgbClr val="1F1F1F"/>
                </a:solidFill>
                <a:latin typeface="Calibri"/>
              </a:rPr>
              <a:t>/MT in 2026</a:t>
            </a:r>
          </a:p>
        </p:txBody>
      </p:sp>
      <p:sp>
        <p:nvSpPr>
          <p:cNvPr id="40" name="TextBox 39"/>
          <p:cNvSpPr txBox="1"/>
          <p:nvPr/>
        </p:nvSpPr>
        <p:spPr>
          <a:xfrm>
            <a:off x="8658225" y="5690996"/>
            <a:ext cx="436140" cy="179069"/>
          </a:xfrm>
          <a:prstGeom prst="rect">
            <a:avLst/>
          </a:prstGeom>
          <a:noFill/>
        </p:spPr>
        <p:txBody>
          <a:bodyPr wrap="none" lIns="0" rIns="0" tIns="0" bIns="0">
            <a:spAutoFit/>
          </a:bodyPr>
          <a:lstStyle/>
          <a:p>
            <a:r>
              <a:rPr sz="1050" b="0">
                <a:solidFill>
                  <a:srgbClr val="1F1F1F"/>
                </a:solidFill>
                <a:latin typeface="Calibri"/>
              </a:rPr>
              <a:t>to US$</a:t>
            </a:r>
          </a:p>
        </p:txBody>
      </p:sp>
      <p:pic>
        <p:nvPicPr>
          <p:cNvPr id="41" name="Picture 40" descr="lock.png"/>
          <p:cNvPicPr>
            <a:picLocks noChangeAspect="1"/>
          </p:cNvPicPr>
          <p:nvPr/>
        </p:nvPicPr>
        <p:blipFill>
          <a:blip r:embed="rId6"/>
          <a:stretch>
            <a:fillRect/>
          </a:stretch>
        </p:blipFill>
        <p:spPr>
          <a:xfrm>
            <a:off x="9041315" y="5681662"/>
            <a:ext cx="122849" cy="178689"/>
          </a:xfrm>
          <a:prstGeom prst="rect">
            <a:avLst/>
          </a:prstGeom>
        </p:spPr>
      </p:pic>
      <p:sp>
        <p:nvSpPr>
          <p:cNvPr id="42" name="TextBox 41"/>
          <p:cNvSpPr txBox="1"/>
          <p:nvPr/>
        </p:nvSpPr>
        <p:spPr>
          <a:xfrm>
            <a:off x="9201197" y="5690996"/>
            <a:ext cx="2593181" cy="179069"/>
          </a:xfrm>
          <a:prstGeom prst="rect">
            <a:avLst/>
          </a:prstGeom>
          <a:noFill/>
        </p:spPr>
        <p:txBody>
          <a:bodyPr wrap="none" lIns="0" rIns="0" tIns="0" bIns="0">
            <a:spAutoFit/>
          </a:bodyPr>
          <a:lstStyle/>
          <a:p>
            <a:r>
              <a:rPr sz="1050" b="0">
                <a:solidFill>
                  <a:srgbClr val="1F1F1F"/>
                </a:solidFill>
                <a:latin typeface="Calibri"/>
              </a:rPr>
              <a:t>/MT in 2036, and the gap between the highest</a:t>
            </a:r>
          </a:p>
        </p:txBody>
      </p:sp>
      <p:sp>
        <p:nvSpPr>
          <p:cNvPr id="43" name="TextBox 42"/>
          <p:cNvSpPr txBox="1"/>
          <p:nvPr/>
        </p:nvSpPr>
        <p:spPr>
          <a:xfrm>
            <a:off x="8658225" y="5851016"/>
            <a:ext cx="2944527" cy="179069"/>
          </a:xfrm>
          <a:prstGeom prst="rect">
            <a:avLst/>
          </a:prstGeom>
          <a:noFill/>
        </p:spPr>
        <p:txBody>
          <a:bodyPr wrap="none" lIns="0" rIns="0" tIns="0" bIns="0">
            <a:spAutoFit/>
          </a:bodyPr>
          <a:lstStyle/>
          <a:p>
            <a:r>
              <a:rPr sz="1050" b="0">
                <a:solidFill>
                  <a:srgbClr val="1F1F1F"/>
                </a:solidFill>
                <a:latin typeface="Calibri"/>
              </a:rPr>
              <a:t>and lowest priced product type moves from 22.6% in</a:t>
            </a:r>
          </a:p>
        </p:txBody>
      </p:sp>
      <p:sp>
        <p:nvSpPr>
          <p:cNvPr id="44" name="TextBox 43"/>
          <p:cNvSpPr txBox="1"/>
          <p:nvPr/>
        </p:nvSpPr>
        <p:spPr>
          <a:xfrm>
            <a:off x="8658225" y="6011036"/>
            <a:ext cx="1320365" cy="179069"/>
          </a:xfrm>
          <a:prstGeom prst="rect">
            <a:avLst/>
          </a:prstGeom>
          <a:noFill/>
        </p:spPr>
        <p:txBody>
          <a:bodyPr wrap="none" lIns="0" rIns="0" tIns="0" bIns="0">
            <a:spAutoFit/>
          </a:bodyPr>
          <a:lstStyle/>
          <a:p>
            <a:r>
              <a:rPr sz="1050" b="0">
                <a:solidFill>
                  <a:srgbClr val="1F1F1F"/>
                </a:solidFill>
                <a:latin typeface="Calibri"/>
              </a:rPr>
              <a:t>2021 to 23.2% in 2036.</a:t>
            </a:r>
          </a:p>
        </p:txBody>
      </p:sp>
      <p:pic>
        <p:nvPicPr>
          <p:cNvPr id="45" name="Picture 44" descr="lock.png"/>
          <p:cNvPicPr>
            <a:picLocks noChangeAspect="1"/>
          </p:cNvPicPr>
          <p:nvPr/>
        </p:nvPicPr>
        <p:blipFill>
          <a:blip r:embed="rId6"/>
          <a:stretch>
            <a:fillRect/>
          </a:stretch>
        </p:blipFill>
        <p:spPr>
          <a:xfrm>
            <a:off x="3418190" y="3048804"/>
            <a:ext cx="454926" cy="661711"/>
          </a:xfrm>
          <a:prstGeom prst="rect">
            <a:avLst/>
          </a:prstGeom>
        </p:spPr>
      </p:pic>
      <p:sp>
        <p:nvSpPr>
          <p:cNvPr id="46"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Price Matrix: Product Type ×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for every product type and flavour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(US$/MT),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2601468"/>
                <a:gridCol w="2601468"/>
                <a:gridCol w="603504"/>
              </a:tblGrid>
              <a:tr h="70866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Sweet Muffins Flavours</a:t>
                      </a:r>
                    </a:p>
                  </a:txBody>
                  <a:tcPr marL="36576" marR="36576" marT="9144" marB="9144" anchor="ctr">
                    <a:solidFill>
                      <a:srgbClr val="0B2E4A"/>
                    </a:solidFill>
                  </a:tcPr>
                </a:tc>
                <a:tc>
                  <a:txBody>
                    <a:bodyPr wrap="square"/>
                    <a:lstStyle/>
                    <a:p>
                      <a:pPr algn="ctr"/>
                      <a:r>
                        <a:rPr sz="800" b="1">
                          <a:solidFill>
                            <a:srgbClr val="FFFFFF"/>
                          </a:solidFill>
                          <a:latin typeface="Calibri"/>
                        </a:rPr>
                        <a:t>Savoury Muffins Flavours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708660">
                <a:tc>
                  <a:txBody>
                    <a:bodyPr wrap="square"/>
                    <a:lstStyle/>
                    <a:p>
                      <a:pPr algn="l"/>
                      <a:r>
                        <a:rPr sz="900" b="1">
                          <a:solidFill>
                            <a:srgbClr val="1F1F1F"/>
                          </a:solidFill>
                          <a:latin typeface="Calibri"/>
                        </a:rPr>
                        <a:t>Sweet muffins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Savoury muffins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Flavour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(US$/MT)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Sweet muffins positioned on Savoury Muffins Flavours carry the strongest premium at an index of 110.9, which signals room for value-added claims in this combination.</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69" y="3372993"/>
            <a:ext cx="366712" cy="533400"/>
          </a:xfrm>
          <a:prstGeom prst="rect">
            <a:avLst/>
          </a:prstGeom>
        </p:spPr>
      </p:pic>
      <p:sp>
        <p:nvSpPr>
          <p:cNvPr id="43" name="TextBox 42"/>
          <p:cNvSpPr txBox="1"/>
          <p:nvPr/>
        </p:nvSpPr>
        <p:spPr>
          <a:xfrm>
            <a:off x="411480" y="1110615"/>
            <a:ext cx="6417394" cy="217169"/>
          </a:xfrm>
          <a:prstGeom prst="rect">
            <a:avLst/>
          </a:prstGeom>
          <a:noFill/>
        </p:spPr>
        <p:txBody>
          <a:bodyPr wrap="none" lIns="0" rIns="0" tIns="0" bIns="0">
            <a:spAutoFit/>
          </a:bodyPr>
          <a:lstStyle/>
          <a:p>
            <a:r>
              <a:rPr sz="1300" b="1">
                <a:solidFill>
                  <a:srgbClr val="FFFFFF"/>
                </a:solidFill>
                <a:latin typeface="Calibri"/>
              </a:rPr>
              <a:t>Sweet muffins for Savoury Muffins Flavours is the highest priced combination in 2026 at US$</a:t>
            </a:r>
          </a:p>
        </p:txBody>
      </p:sp>
      <p:pic>
        <p:nvPicPr>
          <p:cNvPr id="44" name="Picture 43" descr="lock.png"/>
          <p:cNvPicPr>
            <a:picLocks noChangeAspect="1"/>
          </p:cNvPicPr>
          <p:nvPr/>
        </p:nvPicPr>
        <p:blipFill>
          <a:blip r:embed="rId5"/>
          <a:stretch>
            <a:fillRect/>
          </a:stretch>
        </p:blipFill>
        <p:spPr>
          <a:xfrm>
            <a:off x="6781335" y="1099058"/>
            <a:ext cx="152098" cy="221234"/>
          </a:xfrm>
          <a:prstGeom prst="rect">
            <a:avLst/>
          </a:prstGeom>
        </p:spPr>
      </p:pic>
      <p:sp>
        <p:nvSpPr>
          <p:cNvPr id="45" name="TextBox 44"/>
          <p:cNvSpPr txBox="1"/>
          <p:nvPr/>
        </p:nvSpPr>
        <p:spPr>
          <a:xfrm>
            <a:off x="6979284" y="1110615"/>
            <a:ext cx="2784871" cy="217169"/>
          </a:xfrm>
          <a:prstGeom prst="rect">
            <a:avLst/>
          </a:prstGeom>
          <a:noFill/>
        </p:spPr>
        <p:txBody>
          <a:bodyPr wrap="none" lIns="0" rIns="0" tIns="0" bIns="0">
            <a:spAutoFit/>
          </a:bodyPr>
          <a:lstStyle/>
          <a:p>
            <a:r>
              <a:rPr sz="1300" b="1">
                <a:solidFill>
                  <a:srgbClr val="FFFFFF"/>
                </a:solidFill>
                <a:latin typeface="Calibri"/>
              </a:rPr>
              <a:t>/MT, +10.9% above the Global average.</a:t>
            </a:r>
          </a:p>
        </p:txBody>
      </p:sp>
      <p:sp>
        <p:nvSpPr>
          <p:cNvPr id="46" name="TextBox 45"/>
          <p:cNvSpPr txBox="1"/>
          <p:nvPr/>
        </p:nvSpPr>
        <p:spPr>
          <a:xfrm>
            <a:off x="4732401" y="5530976"/>
            <a:ext cx="3143249" cy="179069"/>
          </a:xfrm>
          <a:prstGeom prst="rect">
            <a:avLst/>
          </a:prstGeom>
          <a:noFill/>
        </p:spPr>
        <p:txBody>
          <a:bodyPr wrap="none" lIns="0" rIns="0" tIns="0" bIns="0">
            <a:spAutoFit/>
          </a:bodyPr>
          <a:lstStyle/>
          <a:p>
            <a:r>
              <a:rPr sz="1050" b="0">
                <a:solidFill>
                  <a:srgbClr val="1F1F1F"/>
                </a:solidFill>
                <a:latin typeface="Calibri"/>
              </a:rPr>
              <a:t>Savoury muffins for Sweet Muffins Flavours is the lowest</a:t>
            </a:r>
          </a:p>
        </p:txBody>
      </p:sp>
      <p:sp>
        <p:nvSpPr>
          <p:cNvPr id="47" name="TextBox 46"/>
          <p:cNvSpPr txBox="1"/>
          <p:nvPr/>
        </p:nvSpPr>
        <p:spPr>
          <a:xfrm>
            <a:off x="4732401" y="5690996"/>
            <a:ext cx="2928900" cy="179069"/>
          </a:xfrm>
          <a:prstGeom prst="rect">
            <a:avLst/>
          </a:prstGeom>
          <a:noFill/>
        </p:spPr>
        <p:txBody>
          <a:bodyPr wrap="none" lIns="0" rIns="0" tIns="0" bIns="0">
            <a:spAutoFit/>
          </a:bodyPr>
          <a:lstStyle/>
          <a:p>
            <a:r>
              <a:rPr sz="1050" b="0">
                <a:solidFill>
                  <a:srgbClr val="1F1F1F"/>
                </a:solidFill>
                <a:latin typeface="Calibri"/>
              </a:rPr>
              <a:t>priced combination at an index of 89.5, sitting 10.5%</a:t>
            </a:r>
          </a:p>
        </p:txBody>
      </p:sp>
      <p:sp>
        <p:nvSpPr>
          <p:cNvPr id="48" name="TextBox 47"/>
          <p:cNvSpPr txBox="1"/>
          <p:nvPr/>
        </p:nvSpPr>
        <p:spPr>
          <a:xfrm>
            <a:off x="4732401"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49" name="Picture 48" descr="lock.png"/>
          <p:cNvPicPr>
            <a:picLocks noChangeAspect="1"/>
          </p:cNvPicPr>
          <p:nvPr/>
        </p:nvPicPr>
        <p:blipFill>
          <a:blip r:embed="rId5"/>
          <a:stretch>
            <a:fillRect/>
          </a:stretch>
        </p:blipFill>
        <p:spPr>
          <a:xfrm>
            <a:off x="6526084" y="5841682"/>
            <a:ext cx="122849" cy="178689"/>
          </a:xfrm>
          <a:prstGeom prst="rect">
            <a:avLst/>
          </a:prstGeom>
        </p:spPr>
      </p:pic>
      <p:sp>
        <p:nvSpPr>
          <p:cNvPr id="50" name="TextBox 49"/>
          <p:cNvSpPr txBox="1"/>
          <p:nvPr/>
        </p:nvSpPr>
        <p:spPr>
          <a:xfrm>
            <a:off x="6685966" y="5851016"/>
            <a:ext cx="340555"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51" name="TextBox 50"/>
          <p:cNvSpPr txBox="1"/>
          <p:nvPr/>
        </p:nvSpPr>
        <p:spPr>
          <a:xfrm>
            <a:off x="8658225" y="5530976"/>
            <a:ext cx="3062510" cy="179069"/>
          </a:xfrm>
          <a:prstGeom prst="rect">
            <a:avLst/>
          </a:prstGeom>
          <a:noFill/>
        </p:spPr>
        <p:txBody>
          <a:bodyPr wrap="none" lIns="0" rIns="0" tIns="0" bIns="0">
            <a:spAutoFit/>
          </a:bodyPr>
          <a:lstStyle/>
          <a:p>
            <a:r>
              <a:rPr sz="1050" b="0">
                <a:solidFill>
                  <a:srgbClr val="1F1F1F"/>
                </a:solidFill>
                <a:latin typeface="Calibri"/>
              </a:rPr>
              <a:t>Sweet muffins show the widest internal price spread at</a:t>
            </a:r>
          </a:p>
        </p:txBody>
      </p:sp>
      <p:sp>
        <p:nvSpPr>
          <p:cNvPr id="52" name="TextBox 51"/>
          <p:cNvSpPr txBox="1"/>
          <p:nvPr/>
        </p:nvSpPr>
        <p:spPr>
          <a:xfrm>
            <a:off x="8658225" y="5690996"/>
            <a:ext cx="1417773" cy="179069"/>
          </a:xfrm>
          <a:prstGeom prst="rect">
            <a:avLst/>
          </a:prstGeom>
          <a:noFill/>
        </p:spPr>
        <p:txBody>
          <a:bodyPr wrap="none" lIns="0" rIns="0" tIns="0" bIns="0">
            <a:spAutoFit/>
          </a:bodyPr>
          <a:lstStyle/>
          <a:p>
            <a:r>
              <a:rPr sz="1050" b="0">
                <a:solidFill>
                  <a:srgbClr val="1F1F1F"/>
                </a:solidFill>
                <a:latin typeface="Calibri"/>
              </a:rPr>
              <a:t>41.5%, ranging from US$</a:t>
            </a:r>
          </a:p>
        </p:txBody>
      </p:sp>
      <p:pic>
        <p:nvPicPr>
          <p:cNvPr id="53" name="Picture 52" descr="lock.png"/>
          <p:cNvPicPr>
            <a:picLocks noChangeAspect="1"/>
          </p:cNvPicPr>
          <p:nvPr/>
        </p:nvPicPr>
        <p:blipFill>
          <a:blip r:embed="rId5"/>
          <a:stretch>
            <a:fillRect/>
          </a:stretch>
        </p:blipFill>
        <p:spPr>
          <a:xfrm>
            <a:off x="10022948" y="5681662"/>
            <a:ext cx="122849" cy="178689"/>
          </a:xfrm>
          <a:prstGeom prst="rect">
            <a:avLst/>
          </a:prstGeom>
        </p:spPr>
      </p:pic>
      <p:sp>
        <p:nvSpPr>
          <p:cNvPr id="54" name="TextBox 53"/>
          <p:cNvSpPr txBox="1"/>
          <p:nvPr/>
        </p:nvSpPr>
        <p:spPr>
          <a:xfrm>
            <a:off x="10182830" y="5690996"/>
            <a:ext cx="697110" cy="179069"/>
          </a:xfrm>
          <a:prstGeom prst="rect">
            <a:avLst/>
          </a:prstGeom>
          <a:noFill/>
        </p:spPr>
        <p:txBody>
          <a:bodyPr wrap="none" lIns="0" rIns="0" tIns="0" bIns="0">
            <a:spAutoFit/>
          </a:bodyPr>
          <a:lstStyle/>
          <a:p>
            <a:r>
              <a:rPr sz="1050" b="0">
                <a:solidFill>
                  <a:srgbClr val="1F1F1F"/>
                </a:solidFill>
                <a:latin typeface="Calibri"/>
              </a:rPr>
              <a:t>/MT to US$</a:t>
            </a:r>
          </a:p>
        </p:txBody>
      </p:sp>
      <p:pic>
        <p:nvPicPr>
          <p:cNvPr id="55" name="Picture 54" descr="lock.png"/>
          <p:cNvPicPr>
            <a:picLocks noChangeAspect="1"/>
          </p:cNvPicPr>
          <p:nvPr/>
        </p:nvPicPr>
        <p:blipFill>
          <a:blip r:embed="rId5"/>
          <a:stretch>
            <a:fillRect/>
          </a:stretch>
        </p:blipFill>
        <p:spPr>
          <a:xfrm>
            <a:off x="10826890" y="5681662"/>
            <a:ext cx="122849" cy="178689"/>
          </a:xfrm>
          <a:prstGeom prst="rect">
            <a:avLst/>
          </a:prstGeom>
        </p:spPr>
      </p:pic>
      <p:sp>
        <p:nvSpPr>
          <p:cNvPr id="56" name="TextBox 55"/>
          <p:cNvSpPr txBox="1"/>
          <p:nvPr/>
        </p:nvSpPr>
        <p:spPr>
          <a:xfrm>
            <a:off x="10986773" y="5690996"/>
            <a:ext cx="678619" cy="179069"/>
          </a:xfrm>
          <a:prstGeom prst="rect">
            <a:avLst/>
          </a:prstGeom>
          <a:noFill/>
        </p:spPr>
        <p:txBody>
          <a:bodyPr wrap="none" lIns="0" rIns="0" tIns="0" bIns="0">
            <a:spAutoFit/>
          </a:bodyPr>
          <a:lstStyle/>
          <a:p>
            <a:r>
              <a:rPr sz="1050" b="0">
                <a:solidFill>
                  <a:srgbClr val="1F1F1F"/>
                </a:solidFill>
                <a:latin typeface="Calibri"/>
              </a:rPr>
              <a:t>/MT across</a:t>
            </a:r>
          </a:p>
        </p:txBody>
      </p:sp>
      <p:sp>
        <p:nvSpPr>
          <p:cNvPr id="57" name="TextBox 56"/>
          <p:cNvSpPr txBox="1"/>
          <p:nvPr/>
        </p:nvSpPr>
        <p:spPr>
          <a:xfrm>
            <a:off x="8658225" y="5851016"/>
            <a:ext cx="636686" cy="179069"/>
          </a:xfrm>
          <a:prstGeom prst="rect">
            <a:avLst/>
          </a:prstGeom>
          <a:noFill/>
        </p:spPr>
        <p:txBody>
          <a:bodyPr wrap="none" lIns="0" rIns="0" tIns="0" bIns="0">
            <a:spAutoFit/>
          </a:bodyPr>
          <a:lstStyle/>
          <a:p>
            <a:r>
              <a:rPr sz="1050" b="0">
                <a:solidFill>
                  <a:srgbClr val="1F1F1F"/>
                </a:solidFill>
                <a:latin typeface="Calibri"/>
              </a:rPr>
              <a:t>sub-types.</a:t>
            </a:r>
          </a:p>
        </p:txBody>
      </p:sp>
      <p:sp>
        <p:nvSpPr>
          <p:cNvPr id="58" name="TextBox 57"/>
          <p:cNvSpPr txBox="1"/>
          <p:nvPr/>
        </p:nvSpPr>
        <p:spPr>
          <a:xfrm>
            <a:off x="301752" y="6391275"/>
            <a:ext cx="5770697"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59" name="Picture 58" descr="lock.png"/>
          <p:cNvPicPr>
            <a:picLocks noChangeAspect="1"/>
          </p:cNvPicPr>
          <p:nvPr/>
        </p:nvPicPr>
        <p:blipFill>
          <a:blip r:embed="rId5"/>
          <a:stretch>
            <a:fillRect/>
          </a:stretch>
        </p:blipFill>
        <p:spPr>
          <a:xfrm>
            <a:off x="6014239" y="6384020"/>
            <a:ext cx="95470" cy="138866"/>
          </a:xfrm>
          <a:prstGeom prst="rect">
            <a:avLst/>
          </a:prstGeom>
        </p:spPr>
      </p:pic>
      <p:sp>
        <p:nvSpPr>
          <p:cNvPr id="60" name="TextBox 59"/>
          <p:cNvSpPr txBox="1"/>
          <p:nvPr/>
        </p:nvSpPr>
        <p:spPr>
          <a:xfrm>
            <a:off x="6138491" y="6391275"/>
            <a:ext cx="281642" cy="143408"/>
          </a:xfrm>
          <a:prstGeom prst="rect">
            <a:avLst/>
          </a:prstGeom>
          <a:noFill/>
        </p:spPr>
        <p:txBody>
          <a:bodyPr wrap="none" lIns="0" rIns="0" tIns="0" bIns="0">
            <a:spAutoFit/>
          </a:bodyPr>
          <a:lstStyle/>
          <a:p>
            <a:r>
              <a:rPr sz="816" b="0">
                <a:solidFill>
                  <a:srgbClr val="59636E"/>
                </a:solidFill>
                <a:latin typeface="Calibri"/>
              </a:rPr>
              <a:t>/MT.</a:t>
            </a:r>
          </a:p>
        </p:txBody>
      </p:sp>
      <p:pic>
        <p:nvPicPr>
          <p:cNvPr id="61" name="Picture 60" descr="lock.png"/>
          <p:cNvPicPr>
            <a:picLocks noChangeAspect="1"/>
          </p:cNvPicPr>
          <p:nvPr/>
        </p:nvPicPr>
        <p:blipFill>
          <a:blip r:embed="rId5"/>
          <a:stretch>
            <a:fillRect/>
          </a:stretch>
        </p:blipFill>
        <p:spPr>
          <a:xfrm>
            <a:off x="9913437" y="3234020"/>
            <a:ext cx="332271" cy="483303"/>
          </a:xfrm>
          <a:prstGeom prst="rect">
            <a:avLst/>
          </a:prstGeom>
        </p:spPr>
      </p:pic>
      <p:sp>
        <p:nvSpPr>
          <p:cNvPr id="62"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region, read on the price index axis (Global average = 100). Teal = above Global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107.6</a:t>
                      </a:r>
                    </a:p>
                  </a:txBody>
                  <a:tcPr marL="36576" marR="36576" marT="9144" marB="9144" anchor="ctr">
                    <a:solidFill>
                      <a:srgbClr val="F4B183"/>
                    </a:solidFill>
                  </a:tcPr>
                </a:tc>
                <a:tc>
                  <a:txBody>
                    <a:bodyPr wrap="square"/>
                    <a:lstStyle/>
                    <a:p>
                      <a:pPr algn="ctr"/>
                      <a:r>
                        <a:rPr sz="900" b="0">
                          <a:solidFill>
                            <a:srgbClr val="1F1F1F"/>
                          </a:solidFill>
                          <a:latin typeface="Calibri"/>
                        </a:rPr>
                        <a:t>0.72%</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103.0</a:t>
                      </a:r>
                    </a:p>
                  </a:txBody>
                  <a:tcPr marL="36576" marR="36576" marT="9144" marB="9144" anchor="ctr">
                    <a:solidFill>
                      <a:srgbClr val="F4B183"/>
                    </a:solidFill>
                  </a:tcPr>
                </a:tc>
                <a:tc>
                  <a:txBody>
                    <a:bodyPr wrap="square"/>
                    <a:lstStyle/>
                    <a:p>
                      <a:pPr algn="ctr"/>
                      <a:r>
                        <a:rPr sz="900" b="0">
                          <a:solidFill>
                            <a:srgbClr val="1F1F1F"/>
                          </a:solidFill>
                          <a:latin typeface="Calibri"/>
                        </a:rPr>
                        <a:t>0.74%</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102.7</a:t>
                      </a:r>
                    </a:p>
                  </a:txBody>
                  <a:tcPr marL="36576" marR="36576" marT="9144" marB="9144" anchor="ctr">
                    <a:solidFill>
                      <a:srgbClr val="F4B183"/>
                    </a:solidFill>
                  </a:tcPr>
                </a:tc>
                <a:tc>
                  <a:txBody>
                    <a:bodyPr wrap="square"/>
                    <a:lstStyle/>
                    <a:p>
                      <a:pPr algn="ctr"/>
                      <a:r>
                        <a:rPr sz="900" b="0">
                          <a:solidFill>
                            <a:srgbClr val="1F1F1F"/>
                          </a:solidFill>
                          <a:latin typeface="Calibri"/>
                        </a:rPr>
                        <a:t>0.71%</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101.9</a:t>
                      </a:r>
                    </a:p>
                  </a:txBody>
                  <a:tcPr marL="36576" marR="36576" marT="9144" marB="9144" anchor="ctr">
                    <a:solidFill>
                      <a:srgbClr val="FBE3D3"/>
                    </a:solidFill>
                  </a:tcPr>
                </a:tc>
                <a:tc>
                  <a:txBody>
                    <a:bodyPr wrap="square"/>
                    <a:lstStyle/>
                    <a:p>
                      <a:pPr algn="ctr"/>
                      <a:r>
                        <a:rPr sz="900" b="0">
                          <a:solidFill>
                            <a:srgbClr val="1F1F1F"/>
                          </a:solidFill>
                          <a:latin typeface="Calibri"/>
                        </a:rPr>
                        <a:t>0.78%</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b="0">
                          <a:solidFill>
                            <a:srgbClr val="1F1F1F"/>
                          </a:solidFill>
                          <a:latin typeface="Calibri"/>
                        </a:rPr>
                        <a:t>100.3</a:t>
                      </a:r>
                    </a:p>
                  </a:txBody>
                  <a:tcPr marL="36576" marR="36576" marT="9144" marB="9144" anchor="ctr">
                    <a:solidFill>
                      <a:srgbClr val="F7F7F7"/>
                    </a:solidFill>
                  </a:tcPr>
                </a:tc>
                <a:tc>
                  <a:txBody>
                    <a:bodyPr wrap="square"/>
                    <a:lstStyle/>
                    <a:p>
                      <a:pPr algn="ctr"/>
                      <a:r>
                        <a:rPr sz="900" b="0">
                          <a:solidFill>
                            <a:srgbClr val="1F1F1F"/>
                          </a:solidFill>
                          <a:latin typeface="Calibri"/>
                        </a:rPr>
                        <a:t>0.69%</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b="0">
                          <a:solidFill>
                            <a:srgbClr val="1F1F1F"/>
                          </a:solidFill>
                          <a:latin typeface="Calibri"/>
                        </a:rPr>
                        <a:t>92.7</a:t>
                      </a:r>
                    </a:p>
                  </a:txBody>
                  <a:tcPr marL="36576" marR="36576" marT="9144" marB="9144" anchor="ctr">
                    <a:solidFill>
                      <a:srgbClr val="9DC0E0"/>
                    </a:solidFill>
                  </a:tcPr>
                </a:tc>
                <a:tc>
                  <a:txBody>
                    <a:bodyPr wrap="square"/>
                    <a:lstStyle/>
                    <a:p>
                      <a:pPr algn="ctr"/>
                      <a:r>
                        <a:rPr sz="900" b="0">
                          <a:solidFill>
                            <a:srgbClr val="1F1F1F"/>
                          </a:solidFill>
                          <a:latin typeface="Calibri"/>
                        </a:rPr>
                        <a:t>0.73%</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South Asia &amp; Pacific records the fastest average price growth at a 0.78% CAGR between 2026 and 2036, against 0.76% for Global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North America shows the widest gap between its cheapest and most expensive product type at 23.6%,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9689210" y="3394113"/>
            <a:ext cx="330041" cy="480060"/>
          </a:xfrm>
          <a:prstGeom prst="rect">
            <a:avLst/>
          </a:prstGeom>
        </p:spPr>
      </p:pic>
      <p:sp>
        <p:nvSpPr>
          <p:cNvPr id="33" name="TextBox 32"/>
          <p:cNvSpPr txBox="1"/>
          <p:nvPr/>
        </p:nvSpPr>
        <p:spPr>
          <a:xfrm>
            <a:off x="411480" y="1110615"/>
            <a:ext cx="3466876" cy="217169"/>
          </a:xfrm>
          <a:prstGeom prst="rect">
            <a:avLst/>
          </a:prstGeom>
          <a:noFill/>
        </p:spPr>
        <p:txBody>
          <a:bodyPr wrap="none" lIns="0" rIns="0" tIns="0" bIns="0">
            <a:spAutoFit/>
          </a:bodyPr>
          <a:lstStyle/>
          <a:p>
            <a:r>
              <a:rPr sz="1300" b="1">
                <a:solidFill>
                  <a:srgbClr val="FFFFFF"/>
                </a:solidFill>
                <a:latin typeface="Calibri"/>
              </a:rPr>
              <a:t>Europe is the most premium Global region at US$</a:t>
            </a:r>
          </a:p>
        </p:txBody>
      </p:sp>
      <p:pic>
        <p:nvPicPr>
          <p:cNvPr id="34" name="Picture 33" descr="lock.png"/>
          <p:cNvPicPr>
            <a:picLocks noChangeAspect="1"/>
          </p:cNvPicPr>
          <p:nvPr/>
        </p:nvPicPr>
        <p:blipFill>
          <a:blip r:embed="rId5"/>
          <a:stretch>
            <a:fillRect/>
          </a:stretch>
        </p:blipFill>
        <p:spPr>
          <a:xfrm>
            <a:off x="3830817" y="1099058"/>
            <a:ext cx="152098" cy="221234"/>
          </a:xfrm>
          <a:prstGeom prst="rect">
            <a:avLst/>
          </a:prstGeom>
        </p:spPr>
      </p:pic>
      <p:sp>
        <p:nvSpPr>
          <p:cNvPr id="35" name="TextBox 34"/>
          <p:cNvSpPr txBox="1"/>
          <p:nvPr/>
        </p:nvSpPr>
        <p:spPr>
          <a:xfrm>
            <a:off x="4028767" y="1110615"/>
            <a:ext cx="6087516" cy="217169"/>
          </a:xfrm>
          <a:prstGeom prst="rect">
            <a:avLst/>
          </a:prstGeom>
          <a:noFill/>
        </p:spPr>
        <p:txBody>
          <a:bodyPr wrap="none" lIns="0" rIns="0" tIns="0" bIns="0">
            <a:spAutoFit/>
          </a:bodyPr>
          <a:lstStyle/>
          <a:p>
            <a:r>
              <a:rPr sz="1300" b="1">
                <a:solidFill>
                  <a:srgbClr val="FFFFFF"/>
                </a:solidFill>
                <a:latin typeface="Calibri"/>
              </a:rPr>
              <a:t>/MT in 2026, +7.6% above the global average, while North America is the lowest priced.</a:t>
            </a:r>
          </a:p>
        </p:txBody>
      </p:sp>
      <p:sp>
        <p:nvSpPr>
          <p:cNvPr id="36" name="TextBox 35"/>
          <p:cNvSpPr txBox="1"/>
          <p:nvPr/>
        </p:nvSpPr>
        <p:spPr>
          <a:xfrm>
            <a:off x="806576" y="5530976"/>
            <a:ext cx="3140608"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 16.1%</a:t>
            </a:r>
          </a:p>
        </p:txBody>
      </p:sp>
      <p:sp>
        <p:nvSpPr>
          <p:cNvPr id="37" name="TextBox 36"/>
          <p:cNvSpPr txBox="1"/>
          <p:nvPr/>
        </p:nvSpPr>
        <p:spPr>
          <a:xfrm>
            <a:off x="806576" y="5690996"/>
            <a:ext cx="1050540" cy="179069"/>
          </a:xfrm>
          <a:prstGeom prst="rect">
            <a:avLst/>
          </a:prstGeom>
          <a:noFill/>
        </p:spPr>
        <p:txBody>
          <a:bodyPr wrap="none" lIns="0" rIns="0" tIns="0" bIns="0">
            <a:spAutoFit/>
          </a:bodyPr>
          <a:lstStyle/>
          <a:p>
            <a:r>
              <a:rPr sz="1050" b="0">
                <a:solidFill>
                  <a:srgbClr val="1F1F1F"/>
                </a:solidFill>
                <a:latin typeface="Calibri"/>
              </a:rPr>
              <a:t>in 2026, from US$</a:t>
            </a:r>
          </a:p>
        </p:txBody>
      </p:sp>
      <p:pic>
        <p:nvPicPr>
          <p:cNvPr id="38" name="Picture 37" descr="lock.png"/>
          <p:cNvPicPr>
            <a:picLocks noChangeAspect="1"/>
          </p:cNvPicPr>
          <p:nvPr/>
        </p:nvPicPr>
        <p:blipFill>
          <a:blip r:embed="rId5"/>
          <a:stretch>
            <a:fillRect/>
          </a:stretch>
        </p:blipFill>
        <p:spPr>
          <a:xfrm>
            <a:off x="1804066" y="5681662"/>
            <a:ext cx="122849" cy="178689"/>
          </a:xfrm>
          <a:prstGeom prst="rect">
            <a:avLst/>
          </a:prstGeom>
        </p:spPr>
      </p:pic>
      <p:sp>
        <p:nvSpPr>
          <p:cNvPr id="39" name="TextBox 38"/>
          <p:cNvSpPr txBox="1"/>
          <p:nvPr/>
        </p:nvSpPr>
        <p:spPr>
          <a:xfrm>
            <a:off x="1963949" y="5690996"/>
            <a:ext cx="1654261" cy="179069"/>
          </a:xfrm>
          <a:prstGeom prst="rect">
            <a:avLst/>
          </a:prstGeom>
          <a:noFill/>
        </p:spPr>
        <p:txBody>
          <a:bodyPr wrap="none" lIns="0" rIns="0" tIns="0" bIns="0">
            <a:spAutoFit/>
          </a:bodyPr>
          <a:lstStyle/>
          <a:p>
            <a:r>
              <a:rPr sz="1050" b="0">
                <a:solidFill>
                  <a:srgbClr val="1F1F1F"/>
                </a:solidFill>
                <a:latin typeface="Calibri"/>
              </a:rPr>
              <a:t>/MT in North America to US$</a:t>
            </a:r>
          </a:p>
        </p:txBody>
      </p:sp>
      <p:pic>
        <p:nvPicPr>
          <p:cNvPr id="40" name="Picture 39" descr="lock.png"/>
          <p:cNvPicPr>
            <a:picLocks noChangeAspect="1"/>
          </p:cNvPicPr>
          <p:nvPr/>
        </p:nvPicPr>
        <p:blipFill>
          <a:blip r:embed="rId5"/>
          <a:stretch>
            <a:fillRect/>
          </a:stretch>
        </p:blipFill>
        <p:spPr>
          <a:xfrm>
            <a:off x="793721" y="5841682"/>
            <a:ext cx="122849" cy="178689"/>
          </a:xfrm>
          <a:prstGeom prst="rect">
            <a:avLst/>
          </a:prstGeom>
        </p:spPr>
      </p:pic>
      <p:sp>
        <p:nvSpPr>
          <p:cNvPr id="41" name="TextBox 40"/>
          <p:cNvSpPr txBox="1"/>
          <p:nvPr/>
        </p:nvSpPr>
        <p:spPr>
          <a:xfrm>
            <a:off x="953604" y="5851016"/>
            <a:ext cx="890364" cy="179069"/>
          </a:xfrm>
          <a:prstGeom prst="rect">
            <a:avLst/>
          </a:prstGeom>
          <a:noFill/>
        </p:spPr>
        <p:txBody>
          <a:bodyPr wrap="none" lIns="0" rIns="0" tIns="0" bIns="0">
            <a:spAutoFit/>
          </a:bodyPr>
          <a:lstStyle/>
          <a:p>
            <a:r>
              <a:rPr sz="1050" b="0">
                <a:solidFill>
                  <a:srgbClr val="1F1F1F"/>
                </a:solidFill>
                <a:latin typeface="Calibri"/>
              </a:rPr>
              <a:t>/MT in Europe.</a:t>
            </a:r>
          </a:p>
        </p:txBody>
      </p:sp>
      <p:sp>
        <p:nvSpPr>
          <p:cNvPr id="42"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3,221</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3,595</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3,970</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4,344</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4,718</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5,093</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2045494" y="2100912"/>
            <a:ext cx="269574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3331452"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354194" y="2824823"/>
            <a:ext cx="289694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4075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3926499" y="3548733"/>
            <a:ext cx="300055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364865"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3123213" y="4272643"/>
            <a:ext cx="2632043"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4377321"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3199539" y="4996553"/>
            <a:ext cx="286481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57003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3380679" y="5720463"/>
            <a:ext cx="282556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731550"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751656" cy="194310"/>
          </a:xfrm>
          <a:prstGeom prst="rect">
            <a:avLst/>
          </a:prstGeom>
          <a:noFill/>
        </p:spPr>
        <p:txBody>
          <a:bodyPr wrap="none" lIns="0" rIns="0" tIns="0" bIns="0">
            <a:spAutoFit/>
          </a:bodyPr>
          <a:lstStyle/>
          <a:p>
            <a:r>
              <a:rPr sz="1150" b="0">
                <a:solidFill>
                  <a:srgbClr val="2E2E2E"/>
                </a:solidFill>
                <a:latin typeface="Calibri"/>
              </a:rPr>
              <a:t>▪ Average prices sit within a tight band across regions, ranging</a:t>
            </a:r>
          </a:p>
        </p:txBody>
      </p:sp>
      <p:sp>
        <p:nvSpPr>
          <p:cNvPr id="54" name="TextBox 53"/>
          <p:cNvSpPr txBox="1"/>
          <p:nvPr/>
        </p:nvSpPr>
        <p:spPr>
          <a:xfrm>
            <a:off x="8048625" y="1911934"/>
            <a:ext cx="471276" cy="194310"/>
          </a:xfrm>
          <a:prstGeom prst="rect">
            <a:avLst/>
          </a:prstGeom>
          <a:noFill/>
        </p:spPr>
        <p:txBody>
          <a:bodyPr wrap="none" lIns="0" rIns="0" tIns="0" bIns="0">
            <a:spAutoFit/>
          </a:bodyPr>
          <a:lstStyle/>
          <a:p>
            <a:r>
              <a:rPr sz="1150" b="0">
                <a:solidFill>
                  <a:srgbClr val="2E2E2E"/>
                </a:solidFill>
                <a:latin typeface="Calibri"/>
              </a:rPr>
              <a:t>from ~</a:t>
            </a:r>
          </a:p>
        </p:txBody>
      </p:sp>
      <p:pic>
        <p:nvPicPr>
          <p:cNvPr id="55" name="Picture 54" descr="lock.png"/>
          <p:cNvPicPr>
            <a:picLocks noChangeAspect="1"/>
          </p:cNvPicPr>
          <p:nvPr/>
        </p:nvPicPr>
        <p:blipFill>
          <a:blip r:embed="rId4"/>
          <a:stretch>
            <a:fillRect/>
          </a:stretch>
        </p:blipFill>
        <p:spPr>
          <a:xfrm>
            <a:off x="8469055" y="1901710"/>
            <a:ext cx="134549" cy="195707"/>
          </a:xfrm>
          <a:prstGeom prst="rect">
            <a:avLst/>
          </a:prstGeom>
        </p:spPr>
      </p:pic>
      <p:sp>
        <p:nvSpPr>
          <p:cNvPr id="56" name="TextBox 55"/>
          <p:cNvSpPr txBox="1"/>
          <p:nvPr/>
        </p:nvSpPr>
        <p:spPr>
          <a:xfrm>
            <a:off x="8644164" y="1911934"/>
            <a:ext cx="1941760" cy="194310"/>
          </a:xfrm>
          <a:prstGeom prst="rect">
            <a:avLst/>
          </a:prstGeom>
          <a:noFill/>
        </p:spPr>
        <p:txBody>
          <a:bodyPr wrap="none" lIns="0" rIns="0" tIns="0" bIns="0">
            <a:spAutoFit/>
          </a:bodyPr>
          <a:lstStyle/>
          <a:p>
            <a:r>
              <a:rPr sz="1150" b="0">
                <a:solidFill>
                  <a:srgbClr val="2E2E2E"/>
                </a:solidFill>
                <a:latin typeface="Calibri"/>
              </a:rPr>
              <a:t>US$/MT in 'North America' to ~</a:t>
            </a:r>
          </a:p>
        </p:txBody>
      </p:sp>
      <p:pic>
        <p:nvPicPr>
          <p:cNvPr id="57" name="Picture 56" descr="lock.png"/>
          <p:cNvPicPr>
            <a:picLocks noChangeAspect="1"/>
          </p:cNvPicPr>
          <p:nvPr/>
        </p:nvPicPr>
        <p:blipFill>
          <a:blip r:embed="rId4"/>
          <a:stretch>
            <a:fillRect/>
          </a:stretch>
        </p:blipFill>
        <p:spPr>
          <a:xfrm>
            <a:off x="10535079" y="1901710"/>
            <a:ext cx="134549" cy="195707"/>
          </a:xfrm>
          <a:prstGeom prst="rect">
            <a:avLst/>
          </a:prstGeom>
        </p:spPr>
      </p:pic>
      <p:sp>
        <p:nvSpPr>
          <p:cNvPr id="58" name="TextBox 57"/>
          <p:cNvSpPr txBox="1"/>
          <p:nvPr/>
        </p:nvSpPr>
        <p:spPr>
          <a:xfrm>
            <a:off x="10710188" y="1911934"/>
            <a:ext cx="707466" cy="194310"/>
          </a:xfrm>
          <a:prstGeom prst="rect">
            <a:avLst/>
          </a:prstGeom>
          <a:noFill/>
        </p:spPr>
        <p:txBody>
          <a:bodyPr wrap="none" lIns="0" rIns="0" tIns="0" bIns="0">
            <a:spAutoFit/>
          </a:bodyPr>
          <a:lstStyle/>
          <a:p>
            <a:r>
              <a:rPr sz="1150" b="0">
                <a:solidFill>
                  <a:srgbClr val="2E2E2E"/>
                </a:solidFill>
                <a:latin typeface="Calibri"/>
              </a:rPr>
              <a:t>US$/MT in</a:t>
            </a:r>
          </a:p>
        </p:txBody>
      </p:sp>
      <p:sp>
        <p:nvSpPr>
          <p:cNvPr id="59" name="TextBox 58"/>
          <p:cNvSpPr txBox="1"/>
          <p:nvPr/>
        </p:nvSpPr>
        <p:spPr>
          <a:xfrm>
            <a:off x="8048625" y="2087194"/>
            <a:ext cx="1084857" cy="194310"/>
          </a:xfrm>
          <a:prstGeom prst="rect">
            <a:avLst/>
          </a:prstGeom>
          <a:noFill/>
        </p:spPr>
        <p:txBody>
          <a:bodyPr wrap="none" lIns="0" rIns="0" tIns="0" bIns="0">
            <a:spAutoFit/>
          </a:bodyPr>
          <a:lstStyle/>
          <a:p>
            <a:r>
              <a:rPr sz="1150" b="0">
                <a:solidFill>
                  <a:srgbClr val="2E2E2E"/>
                </a:solidFill>
                <a:latin typeface="Calibri"/>
              </a:rPr>
              <a:t>'Europe' at 2026.</a:t>
            </a:r>
          </a:p>
        </p:txBody>
      </p:sp>
      <p:sp>
        <p:nvSpPr>
          <p:cNvPr id="60" name="TextBox 59"/>
          <p:cNvSpPr txBox="1"/>
          <p:nvPr/>
        </p:nvSpPr>
        <p:spPr>
          <a:xfrm>
            <a:off x="8048625" y="2315032"/>
            <a:ext cx="3835275" cy="194310"/>
          </a:xfrm>
          <a:prstGeom prst="rect">
            <a:avLst/>
          </a:prstGeom>
          <a:noFill/>
        </p:spPr>
        <p:txBody>
          <a:bodyPr wrap="none" lIns="0" rIns="0" tIns="0" bIns="0">
            <a:spAutoFit/>
          </a:bodyPr>
          <a:lstStyle/>
          <a:p>
            <a:r>
              <a:rPr sz="1150" b="0">
                <a:solidFill>
                  <a:srgbClr val="2E2E2E"/>
                </a:solidFill>
                <a:latin typeface="Calibri"/>
              </a:rPr>
              <a:t>▪ 'Europe' commands the premium a signal of stronger demand</a:t>
            </a:r>
          </a:p>
        </p:txBody>
      </p:sp>
      <p:sp>
        <p:nvSpPr>
          <p:cNvPr id="61" name="TextBox 60"/>
          <p:cNvSpPr txBox="1"/>
          <p:nvPr/>
        </p:nvSpPr>
        <p:spPr>
          <a:xfrm>
            <a:off x="8048625" y="2490292"/>
            <a:ext cx="3575694" cy="194310"/>
          </a:xfrm>
          <a:prstGeom prst="rect">
            <a:avLst/>
          </a:prstGeom>
          <a:noFill/>
        </p:spPr>
        <p:txBody>
          <a:bodyPr wrap="none" lIns="0" rIns="0" tIns="0" bIns="0">
            <a:spAutoFit/>
          </a:bodyPr>
          <a:lstStyle/>
          <a:p>
            <a:r>
              <a:rPr sz="1150" b="0">
                <a:solidFill>
                  <a:srgbClr val="2E2E2E"/>
                </a:solidFill>
                <a:latin typeface="Calibri"/>
              </a:rPr>
              <a:t>and limited price-competitive supply while 'North America'</a:t>
            </a:r>
          </a:p>
        </p:txBody>
      </p:sp>
      <p:sp>
        <p:nvSpPr>
          <p:cNvPr id="62" name="TextBox 61"/>
          <p:cNvSpPr txBox="1"/>
          <p:nvPr/>
        </p:nvSpPr>
        <p:spPr>
          <a:xfrm>
            <a:off x="8048625" y="2665551"/>
            <a:ext cx="3063093" cy="194310"/>
          </a:xfrm>
          <a:prstGeom prst="rect">
            <a:avLst/>
          </a:prstGeom>
          <a:noFill/>
        </p:spPr>
        <p:txBody>
          <a:bodyPr wrap="none" lIns="0" rIns="0" tIns="0" bIns="0">
            <a:spAutoFit/>
          </a:bodyPr>
          <a:lstStyle/>
          <a:p>
            <a:r>
              <a:rPr sz="1150" b="0">
                <a:solidFill>
                  <a:srgbClr val="2E2E2E"/>
                </a:solidFill>
                <a:latin typeface="Calibri"/>
              </a:rPr>
              <a:t>remains the most accessible, value-led geography.</a:t>
            </a:r>
          </a:p>
        </p:txBody>
      </p:sp>
      <p:sp>
        <p:nvSpPr>
          <p:cNvPr id="63" name="TextBox 62"/>
          <p:cNvSpPr txBox="1"/>
          <p:nvPr/>
        </p:nvSpPr>
        <p:spPr>
          <a:xfrm>
            <a:off x="8048625" y="2893389"/>
            <a:ext cx="3813596" cy="194310"/>
          </a:xfrm>
          <a:prstGeom prst="rect">
            <a:avLst/>
          </a:prstGeom>
          <a:noFill/>
        </p:spPr>
        <p:txBody>
          <a:bodyPr wrap="none" lIns="0" rIns="0" tIns="0" bIns="0">
            <a:spAutoFit/>
          </a:bodyPr>
          <a:lstStyle/>
          <a:p>
            <a:r>
              <a:rPr sz="1150" b="0">
                <a:solidFill>
                  <a:srgbClr val="2E2E2E"/>
                </a:solidFill>
                <a:latin typeface="Calibri"/>
              </a:rPr>
              <a:t>▪ The orange dot is each region's average selling price; the blue</a:t>
            </a:r>
          </a:p>
        </p:txBody>
      </p:sp>
      <p:sp>
        <p:nvSpPr>
          <p:cNvPr id="64" name="TextBox 63"/>
          <p:cNvSpPr txBox="1"/>
          <p:nvPr/>
        </p:nvSpPr>
        <p:spPr>
          <a:xfrm>
            <a:off x="8048625" y="3068649"/>
            <a:ext cx="3640162" cy="194310"/>
          </a:xfrm>
          <a:prstGeom prst="rect">
            <a:avLst/>
          </a:prstGeom>
          <a:noFill/>
        </p:spPr>
        <p:txBody>
          <a:bodyPr wrap="none" lIns="0" rIns="0" tIns="0" bIns="0">
            <a:spAutoFit/>
          </a:bodyPr>
          <a:lstStyle/>
          <a:p>
            <a:r>
              <a:rPr sz="1150" b="0">
                <a:solidFill>
                  <a:srgbClr val="2E2E2E"/>
                </a:solidFill>
                <a:latin typeface="Calibri"/>
              </a:rPr>
              <a:t>band is its full low-to-high price range, all derived as Value ÷</a:t>
            </a:r>
          </a:p>
        </p:txBody>
      </p:sp>
      <p:sp>
        <p:nvSpPr>
          <p:cNvPr id="65" name="TextBox 64"/>
          <p:cNvSpPr txBox="1"/>
          <p:nvPr/>
        </p:nvSpPr>
        <p:spPr>
          <a:xfrm>
            <a:off x="8048625" y="3243909"/>
            <a:ext cx="572827" cy="194310"/>
          </a:xfrm>
          <a:prstGeom prst="rect">
            <a:avLst/>
          </a:prstGeom>
          <a:noFill/>
        </p:spPr>
        <p:txBody>
          <a:bodyPr wrap="none" lIns="0" rIns="0" tIns="0" bIns="0">
            <a:spAutoFit/>
          </a:bodyPr>
          <a:lstStyle/>
          <a:p>
            <a:r>
              <a:rPr sz="1150" b="0">
                <a:solidFill>
                  <a:srgbClr val="2E2E2E"/>
                </a:solidFill>
                <a:latin typeface="Calibri"/>
              </a:rPr>
              <a:t>Volume.</a:t>
            </a:r>
          </a:p>
        </p:txBody>
      </p:sp>
      <p:sp>
        <p:nvSpPr>
          <p:cNvPr id="66" name="TextBox 65"/>
          <p:cNvSpPr txBox="1"/>
          <p:nvPr/>
        </p:nvSpPr>
        <p:spPr>
          <a:xfrm>
            <a:off x="8048625" y="3471747"/>
            <a:ext cx="3776513" cy="194310"/>
          </a:xfrm>
          <a:prstGeom prst="rect">
            <a:avLst/>
          </a:prstGeom>
          <a:noFill/>
        </p:spPr>
        <p:txBody>
          <a:bodyPr wrap="none" lIns="0" rIns="0" tIns="0" bIns="0">
            <a:spAutoFit/>
          </a:bodyPr>
          <a:lstStyle/>
          <a:p>
            <a:r>
              <a:rPr sz="1150" b="0">
                <a:solidFill>
                  <a:srgbClr val="2E2E2E"/>
                </a:solidFill>
                <a:latin typeface="Calibri"/>
              </a:rPr>
              <a:t>▪ Narrow bands point to commoditised, price-led competition;</a:t>
            </a:r>
          </a:p>
        </p:txBody>
      </p:sp>
      <p:sp>
        <p:nvSpPr>
          <p:cNvPr id="67" name="TextBox 66"/>
          <p:cNvSpPr txBox="1"/>
          <p:nvPr/>
        </p:nvSpPr>
        <p:spPr>
          <a:xfrm>
            <a:off x="8048625" y="3647007"/>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8" name="TextBox 67"/>
          <p:cNvSpPr txBox="1"/>
          <p:nvPr/>
        </p:nvSpPr>
        <p:spPr>
          <a:xfrm>
            <a:off x="8048625" y="3822267"/>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1247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934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34327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9085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62890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6695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91452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70522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70522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70522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70522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70522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70522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9643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91117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91117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9643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54317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7188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4803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83802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01742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61435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7188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00661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8515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50575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7293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73380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73380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73380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73380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73380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4800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27995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504134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504134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27995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304800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81604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05465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05465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81604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343775" y="1354081"/>
            <a:ext cx="470535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477125" y="1439806"/>
            <a:ext cx="44386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477125" y="1677931"/>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477125" y="1763656"/>
            <a:ext cx="443865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Packaged Muffins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Packaged Muffins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343775" y="4943046"/>
            <a:ext cx="470535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477125" y="5028771"/>
            <a:ext cx="44386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477125" y="5266896"/>
            <a:ext cx="4438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77125" y="5352621"/>
            <a:ext cx="443865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33639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944277" y="1889132"/>
            <a:ext cx="128699" cy="187198"/>
          </a:xfrm>
          <a:prstGeom prst="rect">
            <a:avLst/>
          </a:prstGeom>
        </p:spPr>
      </p:pic>
      <p:sp>
        <p:nvSpPr>
          <p:cNvPr id="66" name="TextBox 65"/>
          <p:cNvSpPr txBox="1"/>
          <p:nvPr/>
        </p:nvSpPr>
        <p:spPr>
          <a:xfrm>
            <a:off x="436230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418613" y="2315626"/>
            <a:ext cx="92663" cy="134782"/>
          </a:xfrm>
          <a:prstGeom prst="rect">
            <a:avLst/>
          </a:prstGeom>
        </p:spPr>
      </p:pic>
      <p:sp>
        <p:nvSpPr>
          <p:cNvPr id="68" name="TextBox 67"/>
          <p:cNvSpPr txBox="1"/>
          <p:nvPr/>
        </p:nvSpPr>
        <p:spPr>
          <a:xfrm>
            <a:off x="513096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172736" y="3363591"/>
            <a:ext cx="92663" cy="134782"/>
          </a:xfrm>
          <a:prstGeom prst="rect">
            <a:avLst/>
          </a:prstGeom>
        </p:spPr>
      </p:pic>
      <p:sp>
        <p:nvSpPr>
          <p:cNvPr id="70" name="TextBox 69"/>
          <p:cNvSpPr txBox="1"/>
          <p:nvPr/>
        </p:nvSpPr>
        <p:spPr>
          <a:xfrm>
            <a:off x="512017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178341" y="4655202"/>
            <a:ext cx="97811" cy="142270"/>
          </a:xfrm>
          <a:prstGeom prst="rect">
            <a:avLst/>
          </a:prstGeom>
        </p:spPr>
      </p:pic>
      <p:sp>
        <p:nvSpPr>
          <p:cNvPr id="72" name="TextBox 71"/>
          <p:cNvSpPr txBox="1"/>
          <p:nvPr/>
        </p:nvSpPr>
        <p:spPr>
          <a:xfrm>
            <a:off x="432729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885613" y="5767261"/>
            <a:ext cx="92663" cy="134782"/>
          </a:xfrm>
          <a:prstGeom prst="rect">
            <a:avLst/>
          </a:prstGeom>
        </p:spPr>
      </p:pic>
      <p:sp>
        <p:nvSpPr>
          <p:cNvPr id="74" name="TextBox 73"/>
          <p:cNvSpPr txBox="1"/>
          <p:nvPr/>
        </p:nvSpPr>
        <p:spPr>
          <a:xfrm>
            <a:off x="314465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167161" y="6103453"/>
            <a:ext cx="97811" cy="142270"/>
          </a:xfrm>
          <a:prstGeom prst="rect">
            <a:avLst/>
          </a:prstGeom>
        </p:spPr>
      </p:pic>
      <p:sp>
        <p:nvSpPr>
          <p:cNvPr id="76" name="TextBox 75"/>
          <p:cNvSpPr txBox="1"/>
          <p:nvPr/>
        </p:nvSpPr>
        <p:spPr>
          <a:xfrm>
            <a:off x="195433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30829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544802" y="5767261"/>
            <a:ext cx="92663" cy="134782"/>
          </a:xfrm>
          <a:prstGeom prst="rect">
            <a:avLst/>
          </a:prstGeom>
        </p:spPr>
      </p:pic>
      <p:sp>
        <p:nvSpPr>
          <p:cNvPr id="79" name="TextBox 78"/>
          <p:cNvSpPr txBox="1"/>
          <p:nvPr/>
        </p:nvSpPr>
        <p:spPr>
          <a:xfrm>
            <a:off x="114481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660310" y="4719297"/>
            <a:ext cx="92663" cy="134782"/>
          </a:xfrm>
          <a:prstGeom prst="rect">
            <a:avLst/>
          </a:prstGeom>
        </p:spPr>
      </p:pic>
      <p:sp>
        <p:nvSpPr>
          <p:cNvPr id="81" name="TextBox 80"/>
          <p:cNvSpPr txBox="1"/>
          <p:nvPr/>
        </p:nvSpPr>
        <p:spPr>
          <a:xfrm>
            <a:off x="112747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202838" y="3363591"/>
            <a:ext cx="92663" cy="134782"/>
          </a:xfrm>
          <a:prstGeom prst="rect">
            <a:avLst/>
          </a:prstGeom>
        </p:spPr>
      </p:pic>
      <p:sp>
        <p:nvSpPr>
          <p:cNvPr id="83" name="TextBox 82"/>
          <p:cNvSpPr txBox="1"/>
          <p:nvPr/>
        </p:nvSpPr>
        <p:spPr>
          <a:xfrm>
            <a:off x="189834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421701" y="2375977"/>
            <a:ext cx="92663" cy="134782"/>
          </a:xfrm>
          <a:prstGeom prst="rect">
            <a:avLst/>
          </a:prstGeom>
        </p:spPr>
      </p:pic>
      <p:sp>
        <p:nvSpPr>
          <p:cNvPr id="85" name="TextBox 84"/>
          <p:cNvSpPr txBox="1"/>
          <p:nvPr/>
        </p:nvSpPr>
        <p:spPr>
          <a:xfrm>
            <a:off x="747712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8166043" y="5352366"/>
            <a:ext cx="128699" cy="187198"/>
          </a:xfrm>
          <a:prstGeom prst="rect">
            <a:avLst/>
          </a:prstGeom>
        </p:spPr>
      </p:pic>
      <p:sp>
        <p:nvSpPr>
          <p:cNvPr id="87" name="TextBox 86"/>
          <p:cNvSpPr txBox="1"/>
          <p:nvPr/>
        </p:nvSpPr>
        <p:spPr>
          <a:xfrm>
            <a:off x="833353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47712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276548" y="5570298"/>
            <a:ext cx="128699" cy="187198"/>
          </a:xfrm>
          <a:prstGeom prst="rect">
            <a:avLst/>
          </a:prstGeom>
        </p:spPr>
      </p:pic>
      <p:sp>
        <p:nvSpPr>
          <p:cNvPr id="90" name="TextBox 89"/>
          <p:cNvSpPr txBox="1"/>
          <p:nvPr/>
        </p:nvSpPr>
        <p:spPr>
          <a:xfrm>
            <a:off x="944404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47712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903560" y="5788230"/>
            <a:ext cx="128699" cy="187198"/>
          </a:xfrm>
          <a:prstGeom prst="rect">
            <a:avLst/>
          </a:prstGeom>
        </p:spPr>
      </p:pic>
      <p:sp>
        <p:nvSpPr>
          <p:cNvPr id="93" name="TextBox 92"/>
          <p:cNvSpPr txBox="1"/>
          <p:nvPr/>
        </p:nvSpPr>
        <p:spPr>
          <a:xfrm>
            <a:off x="907105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47712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950491" y="6006162"/>
            <a:ext cx="128699" cy="187198"/>
          </a:xfrm>
          <a:prstGeom prst="rect">
            <a:avLst/>
          </a:prstGeom>
        </p:spPr>
      </p:pic>
      <p:sp>
        <p:nvSpPr>
          <p:cNvPr id="96" name="TextBox 95"/>
          <p:cNvSpPr txBox="1"/>
          <p:nvPr/>
        </p:nvSpPr>
        <p:spPr>
          <a:xfrm>
            <a:off x="911798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47712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9025252" y="6224094"/>
            <a:ext cx="128699" cy="187198"/>
          </a:xfrm>
          <a:prstGeom prst="rect">
            <a:avLst/>
          </a:prstGeom>
        </p:spPr>
      </p:pic>
      <p:sp>
        <p:nvSpPr>
          <p:cNvPr id="99" name="TextBox 98"/>
          <p:cNvSpPr txBox="1"/>
          <p:nvPr/>
        </p:nvSpPr>
        <p:spPr>
          <a:xfrm>
            <a:off x="919274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gridCol w="947635"/>
                <a:gridCol w="947635"/>
                <a:gridCol w="947635"/>
                <a:gridCol w="947635"/>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0" cy="2409822"/>
        </p:xfrm>
        <a:graphic>
          <a:graphicData uri="http://schemas.openxmlformats.org/drawingml/2006/table">
            <a:tbl>
              <a:tblPr>
                <a:tableStyleId>{5C22544A-7EE6-4342-B048-85BDC9FD1C3A}</a:tableStyleId>
              </a:tblPr>
              <a:tblGrid>
                <a:gridCol w="3201366"/>
                <a:gridCol w="2895278"/>
                <a:gridCol w="2895278"/>
                <a:gridCol w="2895278"/>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Sweet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Savoury muffins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09992" y="2632898"/>
            <a:ext cx="366712" cy="533400"/>
          </a:xfrm>
          <a:prstGeom prst="rect">
            <a:avLst/>
          </a:prstGeom>
        </p:spPr>
      </p:pic>
      <p:sp>
        <p:nvSpPr>
          <p:cNvPr id="21" name="TextBox 20"/>
          <p:cNvSpPr txBox="1"/>
          <p:nvPr/>
        </p:nvSpPr>
        <p:spPr>
          <a:xfrm>
            <a:off x="276225" y="4752975"/>
            <a:ext cx="4195551" cy="194310"/>
          </a:xfrm>
          <a:prstGeom prst="rect">
            <a:avLst/>
          </a:prstGeom>
          <a:noFill/>
        </p:spPr>
        <p:txBody>
          <a:bodyPr wrap="none" lIns="0" rIns="0" tIns="0" bIns="0">
            <a:spAutoFit/>
          </a:bodyPr>
          <a:lstStyle/>
          <a:p>
            <a:r>
              <a:rPr sz="1150" b="0">
                <a:solidFill>
                  <a:srgbClr val="2E2E2E"/>
                </a:solidFill>
                <a:latin typeface="Calibri"/>
              </a:rPr>
              <a:t>▪ On a weighted-average basis 'Europe' is the highest-priced region (~</a:t>
            </a:r>
          </a:p>
        </p:txBody>
      </p:sp>
      <p:pic>
        <p:nvPicPr>
          <p:cNvPr id="22" name="Picture 21" descr="lock.png"/>
          <p:cNvPicPr>
            <a:picLocks noChangeAspect="1"/>
          </p:cNvPicPr>
          <p:nvPr/>
        </p:nvPicPr>
        <p:blipFill>
          <a:blip r:embed="rId4"/>
          <a:stretch>
            <a:fillRect/>
          </a:stretch>
        </p:blipFill>
        <p:spPr>
          <a:xfrm>
            <a:off x="4420930" y="4742751"/>
            <a:ext cx="134549" cy="195707"/>
          </a:xfrm>
          <a:prstGeom prst="rect">
            <a:avLst/>
          </a:prstGeom>
        </p:spPr>
      </p:pic>
      <p:sp>
        <p:nvSpPr>
          <p:cNvPr id="23" name="TextBox 22"/>
          <p:cNvSpPr txBox="1"/>
          <p:nvPr/>
        </p:nvSpPr>
        <p:spPr>
          <a:xfrm>
            <a:off x="4596039" y="4752975"/>
            <a:ext cx="3290726" cy="194310"/>
          </a:xfrm>
          <a:prstGeom prst="rect">
            <a:avLst/>
          </a:prstGeom>
          <a:noFill/>
        </p:spPr>
        <p:txBody>
          <a:bodyPr wrap="none" lIns="0" rIns="0" tIns="0" bIns="0">
            <a:spAutoFit/>
          </a:bodyPr>
          <a:lstStyle/>
          <a:p>
            <a:r>
              <a:rPr sz="1150" b="0">
                <a:solidFill>
                  <a:srgbClr val="2E2E2E"/>
                </a:solidFill>
                <a:latin typeface="Calibri"/>
              </a:rPr>
              <a:t>US$/MT) and 'North America' the most competitive (~</a:t>
            </a:r>
          </a:p>
        </p:txBody>
      </p:sp>
      <p:pic>
        <p:nvPicPr>
          <p:cNvPr id="24" name="Picture 23" descr="lock.png"/>
          <p:cNvPicPr>
            <a:picLocks noChangeAspect="1"/>
          </p:cNvPicPr>
          <p:nvPr/>
        </p:nvPicPr>
        <p:blipFill>
          <a:blip r:embed="rId4"/>
          <a:stretch>
            <a:fillRect/>
          </a:stretch>
        </p:blipFill>
        <p:spPr>
          <a:xfrm>
            <a:off x="7835920" y="4742751"/>
            <a:ext cx="134549" cy="195707"/>
          </a:xfrm>
          <a:prstGeom prst="rect">
            <a:avLst/>
          </a:prstGeom>
        </p:spPr>
      </p:pic>
      <p:sp>
        <p:nvSpPr>
          <p:cNvPr id="25" name="TextBox 24"/>
          <p:cNvSpPr txBox="1"/>
          <p:nvPr/>
        </p:nvSpPr>
        <p:spPr>
          <a:xfrm>
            <a:off x="8011029" y="4752975"/>
            <a:ext cx="644996" cy="194310"/>
          </a:xfrm>
          <a:prstGeom prst="rect">
            <a:avLst/>
          </a:prstGeom>
          <a:noFill/>
        </p:spPr>
        <p:txBody>
          <a:bodyPr wrap="none" lIns="0" rIns="0" tIns="0" bIns="0">
            <a:spAutoFit/>
          </a:bodyPr>
          <a:lstStyle/>
          <a:p>
            <a:r>
              <a:rPr sz="1150" b="0">
                <a:solidFill>
                  <a:srgbClr val="2E2E2E"/>
                </a:solidFill>
                <a:latin typeface="Calibri"/>
              </a:rPr>
              <a:t>US$/MT).</a:t>
            </a:r>
          </a:p>
        </p:txBody>
      </p:sp>
      <p:sp>
        <p:nvSpPr>
          <p:cNvPr id="26" name="TextBox 25"/>
          <p:cNvSpPr txBox="1"/>
          <p:nvPr/>
        </p:nvSpPr>
        <p:spPr>
          <a:xfrm>
            <a:off x="276225" y="4980813"/>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970589"/>
            <a:ext cx="134549" cy="195707"/>
          </a:xfrm>
          <a:prstGeom prst="rect">
            <a:avLst/>
          </a:prstGeom>
        </p:spPr>
      </p:pic>
      <p:sp>
        <p:nvSpPr>
          <p:cNvPr id="28" name="TextBox 27"/>
          <p:cNvSpPr txBox="1"/>
          <p:nvPr/>
        </p:nvSpPr>
        <p:spPr>
          <a:xfrm>
            <a:off x="633009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198" cy="1504674"/>
        </p:xfrm>
        <a:graphic>
          <a:graphicData uri="http://schemas.openxmlformats.org/drawingml/2006/table">
            <a:tbl>
              <a:tblPr>
                <a:tableStyleId>{5C22544A-7EE6-4342-B048-85BDC9FD1C3A}</a:tableStyleId>
              </a:tblPr>
              <a:tblGrid>
                <a:gridCol w="2681674"/>
                <a:gridCol w="1534254"/>
                <a:gridCol w="1534254"/>
                <a:gridCol w="1534254"/>
                <a:gridCol w="1534254"/>
                <a:gridCol w="1534254"/>
                <a:gridCol w="1534254"/>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629274">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29274">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250146"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78545" cy="194310"/>
          </a:xfrm>
          <a:prstGeom prst="rect">
            <a:avLst/>
          </a:prstGeom>
          <a:noFill/>
        </p:spPr>
        <p:txBody>
          <a:bodyPr wrap="none" lIns="0" rIns="0" t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459067" y="3807371"/>
            <a:ext cx="134549" cy="195707"/>
          </a:xfrm>
          <a:prstGeom prst="rect">
            <a:avLst/>
          </a:prstGeom>
        </p:spPr>
      </p:pic>
      <p:sp>
        <p:nvSpPr>
          <p:cNvPr id="31" name="TextBox 30"/>
          <p:cNvSpPr txBox="1"/>
          <p:nvPr/>
        </p:nvSpPr>
        <p:spPr>
          <a:xfrm>
            <a:off x="6334125"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2" name="TextBox 31"/>
          <p:cNvSpPr txBox="1"/>
          <p:nvPr/>
        </p:nvSpPr>
        <p:spPr>
          <a:xfrm>
            <a:off x="6334125" y="4220692"/>
            <a:ext cx="4080594" cy="194310"/>
          </a:xfrm>
          <a:prstGeom prst="rect">
            <a:avLst/>
          </a:prstGeom>
          <a:noFill/>
        </p:spPr>
        <p:txBody>
          <a:bodyPr wrap="none" lIns="0" rIns="0" tIns="0" bIns="0">
            <a:spAutoFit/>
          </a:bodyPr>
          <a:lstStyle/>
          <a:p>
            <a:r>
              <a:rPr sz="1150" b="0">
                <a:solidFill>
                  <a:srgbClr val="2E2E2E"/>
                </a:solidFill>
                <a:latin typeface="Calibri"/>
              </a:rPr>
              <a:t>▪ 'Sweet muffins' shows the strongest forecast price appreciation (+</a:t>
            </a:r>
          </a:p>
        </p:txBody>
      </p:sp>
      <p:pic>
        <p:nvPicPr>
          <p:cNvPr id="33" name="Picture 32" descr="lock.png"/>
          <p:cNvPicPr>
            <a:picLocks noChangeAspect="1"/>
          </p:cNvPicPr>
          <p:nvPr/>
        </p:nvPicPr>
        <p:blipFill>
          <a:blip r:embed="rId4"/>
          <a:stretch>
            <a:fillRect/>
          </a:stretch>
        </p:blipFill>
        <p:spPr>
          <a:xfrm>
            <a:off x="10363873" y="4210469"/>
            <a:ext cx="134549" cy="195707"/>
          </a:xfrm>
          <a:prstGeom prst="rect">
            <a:avLst/>
          </a:prstGeom>
        </p:spPr>
      </p:pic>
      <p:sp>
        <p:nvSpPr>
          <p:cNvPr id="34" name="TextBox 33"/>
          <p:cNvSpPr txBox="1"/>
          <p:nvPr/>
        </p:nvSpPr>
        <p:spPr>
          <a:xfrm>
            <a:off x="10538982" y="4220692"/>
            <a:ext cx="1171574" cy="194310"/>
          </a:xfrm>
          <a:prstGeom prst="rect">
            <a:avLst/>
          </a:prstGeom>
          <a:noFill/>
        </p:spPr>
        <p:txBody>
          <a:bodyPr wrap="none" lIns="0" rIns="0" tIns="0" bIns="0">
            <a:spAutoFit/>
          </a:bodyPr>
          <a:lstStyle/>
          <a:p>
            <a:r>
              <a:rPr sz="1150" b="0">
                <a:solidFill>
                  <a:srgbClr val="2E2E2E"/>
                </a:solidFill>
                <a:latin typeface="Calibri"/>
              </a:rPr>
              <a:t>) over the horizon.</a:t>
            </a:r>
          </a:p>
        </p:txBody>
      </p:sp>
      <p:sp>
        <p:nvSpPr>
          <p:cNvPr id="35" name="TextBox 34"/>
          <p:cNvSpPr txBox="1"/>
          <p:nvPr/>
        </p:nvSpPr>
        <p:spPr>
          <a:xfrm>
            <a:off x="6334125" y="444853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6" name="TextBox 35"/>
          <p:cNvSpPr txBox="1"/>
          <p:nvPr/>
        </p:nvSpPr>
        <p:spPr>
          <a:xfrm>
            <a:off x="6334125" y="462379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7" name="TextBox 36"/>
          <p:cNvSpPr txBox="1"/>
          <p:nvPr/>
        </p:nvSpPr>
        <p:spPr>
          <a:xfrm>
            <a:off x="6334125" y="485162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38" name="TextBox 37"/>
          <p:cNvSpPr txBox="1"/>
          <p:nvPr/>
        </p:nvSpPr>
        <p:spPr>
          <a:xfrm>
            <a:off x="6334125" y="502688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5"/>
        </p:xfrm>
        <a:graphic>
          <a:graphicData uri="http://schemas.openxmlformats.org/drawingml/2006/table">
            <a:tbl>
              <a:tblPr>
                <a:tableStyleId>{5C22544A-7EE6-4342-B048-85BDC9FD1C3A}</a:tableStyleId>
              </a:tblPr>
              <a:tblGrid>
                <a:gridCol w="4529616"/>
                <a:gridCol w="385953"/>
                <a:gridCol w="589526"/>
                <a:gridCol w="385953"/>
                <a:gridCol w="1786101"/>
              </a:tblGrid>
              <a:tr h="631697">
                <a:tc>
                  <a:txBody>
                    <a:bodyPr wrap="none"/>
                    <a:lstStyle/>
                    <a:p>
                      <a:pPr algn="l"/>
                      <a:r>
                        <a:rPr sz="1100" b="1">
                          <a:solidFill>
                            <a:srgbClr val="0B2E4A"/>
                          </a:solidFill>
                          <a:latin typeface="Calibri"/>
                        </a:rPr>
                        <a:t>Company</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Tier</a:t>
                      </a:r>
                      <a:endParaRPr sz="1100"/>
                    </a:p>
                  </a:txBody>
                  <a:tcPr marL="19050" marR="14288" marT="19050" marB="19050" anchor="ctr">
                    <a:solidFill>
                      <a:srgbClr val="E0E8EF"/>
                    </a:solidFill>
                  </a:tcPr>
                </a:tc>
                <a:tc>
                  <a:txBody>
                    <a:bodyPr wrap="square"/>
                    <a:lstStyle/>
                    <a:p>
                      <a:pPr algn="l"/>
                      <a:r>
                        <a:rPr sz="1100" b="1">
                          <a:solidFill>
                            <a:srgbClr val="0B2E4A"/>
                          </a:solidFill>
                          <a:latin typeface="Calibri"/>
                        </a:rPr>
                        <a:t>Price Position</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ASP vs Peers</a:t>
                      </a:r>
                      <a:endParaRPr sz="1100"/>
                    </a:p>
                  </a:txBody>
                  <a:tcPr marL="19050" marR="14288"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19050" marR="14288" marT="19050" marB="19050" anchor="ctr">
                    <a:solidFill>
                      <a:srgbClr val="E0E8EF"/>
                    </a:solidFill>
                  </a:tcPr>
                </a:tc>
              </a:tr>
              <a:tr h="369484">
                <a:tc>
                  <a:txBody>
                    <a:bodyPr wrap="none"/>
                    <a:lstStyle/>
                    <a:p>
                      <a:pPr algn="l"/>
                      <a:r>
                        <a:rPr sz="1100" b="1">
                          <a:solidFill>
                            <a:srgbClr val="2E2E2E"/>
                          </a:solidFill>
                          <a:latin typeface="Calibri"/>
                        </a:rPr>
                        <a:t>Grupo Bimbo (Bimbo, Marinela, Little Bites, Thomas')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19050" marR="14288" marT="19050" marB="19050" anchor="ctr">
                    <a:solidFill>
                      <a:srgbClr val="FFFFFF"/>
                    </a:solidFill>
                  </a:tcPr>
                </a:tc>
              </a:tr>
              <a:tr h="562270">
                <a:tc>
                  <a:txBody>
                    <a:bodyPr wrap="none"/>
                    <a:lstStyle/>
                    <a:p>
                      <a:pPr algn="l"/>
                      <a:r>
                        <a:rPr sz="1100" b="1">
                          <a:solidFill>
                            <a:srgbClr val="2E2E2E"/>
                          </a:solidFill>
                          <a:latin typeface="Calibri"/>
                        </a:rPr>
                        <a:t>McKee Foods Corporation (Little Debbie, Sunbelt Bakery, Drake's,</a:t>
                      </a:r>
                      <a:endParaRPr sz="1100"/>
                    </a:p>
                    <a:p>
                      <a:pPr algn="l"/>
                      <a:r>
                        <a:rPr sz="1100" b="1">
                          <a:solidFill>
                            <a:srgbClr val="2E2E2E"/>
                          </a:solidFill>
                          <a:latin typeface="Calibri"/>
                        </a:rPr>
                        <a:t>Fieldstone Bakery)</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19050" marR="14288" marT="19050" marB="19050" anchor="ctr">
                    <a:solidFill>
                      <a:srgbClr val="F5F8FA"/>
                    </a:solidFill>
                  </a:tcPr>
                </a:tc>
              </a:tr>
              <a:tr h="562270">
                <a:tc>
                  <a:txBody>
                    <a:bodyPr wrap="none"/>
                    <a:lstStyle/>
                    <a:p>
                      <a:pPr algn="l"/>
                      <a:r>
                        <a:rPr sz="1100" b="1">
                          <a:solidFill>
                            <a:srgbClr val="2E2E2E"/>
                          </a:solidFill>
                          <a:latin typeface="Calibri"/>
                        </a:rPr>
                        <a:t>Hostess Brands (Hostess)</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Premium</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square"/>
                    <a:lstStyle/>
                    <a:p>
                      <a:pPr algn="l"/>
                      <a:r>
                        <a:rPr sz="1100" b="0">
                          <a:solidFill>
                            <a:srgbClr val="2E2E2E"/>
                          </a:solidFill>
                          <a:latin typeface="Calibri"/>
                        </a:rPr>
                        <a:t>Innovation-led price leadership</a:t>
                      </a:r>
                      <a:endParaRPr sz="1100"/>
                    </a:p>
                  </a:txBody>
                  <a:tcPr marL="19050" marR="14288" marT="19050" marB="19050" anchor="ctr">
                    <a:solidFill>
                      <a:srgbClr val="FFFFFF"/>
                    </a:solidFill>
                  </a:tcPr>
                </a:tc>
              </a:tr>
              <a:tr h="369484">
                <a:tc>
                  <a:txBody>
                    <a:bodyPr wrap="none"/>
                    <a:lstStyle/>
                    <a:p>
                      <a:pPr algn="l"/>
                      <a:r>
                        <a:rPr sz="1100" b="1">
                          <a:solidFill>
                            <a:srgbClr val="2E2E2E"/>
                          </a:solidFill>
                          <a:latin typeface="Calibri"/>
                        </a:rPr>
                        <a:t>Rich Products Corporation (Rich's)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1</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19050" marR="14288" marT="19050" marB="19050" anchor="ctr">
                    <a:solidFill>
                      <a:srgbClr val="F5F8FA"/>
                    </a:solidFill>
                  </a:tcPr>
                </a:tc>
              </a:tr>
              <a:tr h="562270">
                <a:tc>
                  <a:txBody>
                    <a:bodyPr wrap="none"/>
                    <a:lstStyle/>
                    <a:p>
                      <a:pPr algn="l"/>
                      <a:r>
                        <a:rPr sz="1100" b="1">
                          <a:solidFill>
                            <a:srgbClr val="2E2E2E"/>
                          </a:solidFill>
                          <a:latin typeface="Calibri"/>
                        </a:rPr>
                        <a:t>ARYZTA / Aspire Bakeries (Otis Spunkmeyer, Cuisine de France, Hiestand,</a:t>
                      </a:r>
                      <a:endParaRPr sz="1100"/>
                    </a:p>
                    <a:p>
                      <a:pPr algn="l"/>
                      <a:r>
                        <a:rPr sz="1100" b="1">
                          <a:solidFill>
                            <a:srgbClr val="2E2E2E"/>
                          </a:solidFill>
                          <a:latin typeface="Calibri"/>
                        </a:rPr>
                        <a:t>Delice de France)</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Tier 2</a:t>
                      </a:r>
                      <a:endParaRPr sz="1100"/>
                    </a:p>
                  </a:txBody>
                  <a:tcPr marL="19050" marR="14288" marT="19050" marB="19050" anchor="ctr">
                    <a:solidFill>
                      <a:srgbClr val="FFFFFF"/>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square"/>
                    <a:lstStyle/>
                    <a:p>
                      <a:pPr algn="l"/>
                      <a:r>
                        <a:rPr sz="1100" b="0">
                          <a:solidFill>
                            <a:srgbClr val="2E2E2E"/>
                          </a:solidFill>
                          <a:latin typeface="Calibri"/>
                        </a:rPr>
                        <a:t>Penetration &amp; share-led pricing</a:t>
                      </a:r>
                      <a:endParaRPr sz="1100"/>
                    </a:p>
                  </a:txBody>
                  <a:tcPr marL="19050" marR="14288" marT="19050" marB="19050" anchor="ctr">
                    <a:solidFill>
                      <a:srgbClr val="FFFFFF"/>
                    </a:solidFill>
                  </a:tcPr>
                </a:tc>
              </a:tr>
              <a:tr h="562270">
                <a:tc>
                  <a:txBody>
                    <a:bodyPr wrap="none"/>
                    <a:lstStyle/>
                    <a:p>
                      <a:pPr algn="l"/>
                      <a:r>
                        <a:rPr sz="1100" b="1">
                          <a:solidFill>
                            <a:srgbClr val="2E2E2E"/>
                          </a:solidFill>
                          <a:latin typeface="Calibri"/>
                        </a:rPr>
                        <a:t>Europastry (Europastry, Dots)</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Tier 2</a:t>
                      </a:r>
                      <a:endParaRPr sz="1100"/>
                    </a:p>
                  </a:txBody>
                  <a:tcPr marL="19050" marR="14288" marT="19050" marB="19050" anchor="ctr">
                    <a:solidFill>
                      <a:srgbClr val="F5F8FA"/>
                    </a:solidFill>
                  </a:tcPr>
                </a:tc>
                <a:tc>
                  <a:txBody>
                    <a:bodyPr wrap="none"/>
                    <a:lstStyle/>
                    <a:p>
                      <a:pPr algn="l"/>
                      <a:r>
                        <a:rPr sz="1100" b="0">
                          <a:solidFill>
                            <a:srgbClr val="2E2E2E"/>
                          </a:solidFill>
                          <a:latin typeface="Calibri"/>
                        </a:rPr>
                        <a:t>Parity</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square"/>
                    <a:lstStyle/>
                    <a:p>
                      <a:pPr algn="l"/>
                      <a:r>
                        <a:rPr sz="1100" b="0">
                          <a:solidFill>
                            <a:srgbClr val="2E2E2E"/>
                          </a:solidFill>
                          <a:latin typeface="Calibri"/>
                        </a:rPr>
                        <a:t>Competitive / discount-led pricing</a:t>
                      </a:r>
                      <a:endParaRPr sz="1100"/>
                    </a:p>
                  </a:txBody>
                  <a:tcPr marL="19050" marR="14288"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5682450" y="3279465"/>
            <a:ext cx="330041" cy="480060"/>
          </a:xfrm>
          <a:prstGeom prst="rect">
            <a:avLst/>
          </a:prstGeom>
        </p:spPr>
      </p:pic>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432549" cy="153161"/>
          </a:xfrm>
          <a:prstGeom prst="rect">
            <a:avLst/>
          </a:prstGeom>
          <a:noFill/>
        </p:spPr>
        <p:txBody>
          <a:bodyPr wrap="none" lIns="0" rIns="0" tIns="0" bIns="0">
            <a:spAutoFit/>
          </a:bodyPr>
          <a:lstStyle/>
          <a:p>
            <a:r>
              <a:rPr sz="879" b="0">
                <a:solidFill>
                  <a:srgbClr val="2E2E2E"/>
                </a:solidFill>
                <a:latin typeface="Calibri"/>
              </a:rPr>
              <a:t>▪ The Packaged Muffins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Packaged Muffins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83353"/>
                <a:gridCol w="1113221"/>
                <a:gridCol w="1116270"/>
                <a:gridCol w="1184142"/>
                <a:gridCol w="1681873"/>
                <a:gridCol w="1342511"/>
                <a:gridCol w="1472555"/>
                <a:gridCol w="1416039"/>
                <a:gridCol w="1577236"/>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Rest of LATAM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60121" y="2451926"/>
            <a:ext cx="366712" cy="533399"/>
          </a:xfrm>
          <a:prstGeom prst="rect">
            <a:avLst/>
          </a:prstGeom>
        </p:spPr>
      </p:pic>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596497"/>
            <a:ext cx="128699" cy="187198"/>
          </a:xfrm>
          <a:prstGeom prst="rect">
            <a:avLst/>
          </a:prstGeom>
        </p:spPr>
      </p:pic>
      <p:sp>
        <p:nvSpPr>
          <p:cNvPr id="56" name="TextBox 5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596497"/>
            <a:ext cx="128699" cy="187198"/>
          </a:xfrm>
          <a:prstGeom prst="rect">
            <a:avLst/>
          </a:prstGeom>
        </p:spPr>
      </p:pic>
      <p:sp>
        <p:nvSpPr>
          <p:cNvPr id="58" name="TextBox 57"/>
          <p:cNvSpPr txBox="1"/>
          <p:nvPr/>
        </p:nvSpPr>
        <p:spPr>
          <a:xfrm>
            <a:off x="4278252" y="1606276"/>
            <a:ext cx="854355" cy="186689"/>
          </a:xfrm>
          <a:prstGeom prst="rect">
            <a:avLst/>
          </a:prstGeom>
          <a:noFill/>
        </p:spPr>
        <p:txBody>
          <a:bodyPr wrap="none" lIns="0" rIns="0" tIns="0" bIns="0">
            <a:spAutoFit/>
          </a:bodyPr>
          <a:lstStyle/>
          <a:p>
            <a:r>
              <a:rPr sz="1100" b="0">
                <a:solidFill>
                  <a:srgbClr val="2E2E2E"/>
                </a:solidFill>
                <a:latin typeface="Calibri"/>
              </a:rPr>
              <a:t>CAGR), Sweet</a:t>
            </a:r>
          </a:p>
        </p:txBody>
      </p:sp>
      <p:sp>
        <p:nvSpPr>
          <p:cNvPr id="59" name="TextBox 58"/>
          <p:cNvSpPr txBox="1"/>
          <p:nvPr/>
        </p:nvSpPr>
        <p:spPr>
          <a:xfrm>
            <a:off x="1752600" y="1773915"/>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60" name="TextBox 5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596497"/>
            <a:ext cx="128699" cy="187198"/>
          </a:xfrm>
          <a:prstGeom prst="rect">
            <a:avLst/>
          </a:prstGeom>
        </p:spPr>
      </p:pic>
      <p:sp>
        <p:nvSpPr>
          <p:cNvPr id="62" name="TextBox 6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764137"/>
            <a:ext cx="128699" cy="187198"/>
          </a:xfrm>
          <a:prstGeom prst="rect">
            <a:avLst/>
          </a:prstGeom>
        </p:spPr>
      </p:pic>
      <p:sp>
        <p:nvSpPr>
          <p:cNvPr id="65" name="TextBox 6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690095"/>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67" name="Picture 66" descr="lock.png"/>
          <p:cNvPicPr>
            <a:picLocks noChangeAspect="1"/>
          </p:cNvPicPr>
          <p:nvPr/>
        </p:nvPicPr>
        <p:blipFill>
          <a:blip r:embed="rId4"/>
          <a:stretch>
            <a:fillRect/>
          </a:stretch>
        </p:blipFill>
        <p:spPr>
          <a:xfrm>
            <a:off x="9653902" y="1680317"/>
            <a:ext cx="128699" cy="187198"/>
          </a:xfrm>
          <a:prstGeom prst="rect">
            <a:avLst/>
          </a:prstGeom>
        </p:spPr>
      </p:pic>
      <p:sp>
        <p:nvSpPr>
          <p:cNvPr id="68" name="TextBox 67"/>
          <p:cNvSpPr txBox="1"/>
          <p:nvPr/>
        </p:nvSpPr>
        <p:spPr>
          <a:xfrm>
            <a:off x="9821398" y="1690095"/>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9922866" y="1680317"/>
            <a:ext cx="128699" cy="187198"/>
          </a:xfrm>
          <a:prstGeom prst="rect">
            <a:avLst/>
          </a:prstGeom>
        </p:spPr>
      </p:pic>
      <p:sp>
        <p:nvSpPr>
          <p:cNvPr id="70" name="TextBox 69"/>
          <p:cNvSpPr txBox="1"/>
          <p:nvPr/>
        </p:nvSpPr>
        <p:spPr>
          <a:xfrm>
            <a:off x="10090362" y="1690095"/>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71" name="TextBox 70"/>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2" name="Picture 71" descr="lock.png"/>
          <p:cNvPicPr>
            <a:picLocks noChangeAspect="1"/>
          </p:cNvPicPr>
          <p:nvPr/>
        </p:nvPicPr>
        <p:blipFill>
          <a:blip r:embed="rId4"/>
          <a:stretch>
            <a:fillRect/>
          </a:stretch>
        </p:blipFill>
        <p:spPr>
          <a:xfrm>
            <a:off x="2438789" y="2107601"/>
            <a:ext cx="128699" cy="187198"/>
          </a:xfrm>
          <a:prstGeom prst="rect">
            <a:avLst/>
          </a:prstGeom>
        </p:spPr>
      </p:pic>
      <p:sp>
        <p:nvSpPr>
          <p:cNvPr id="73" name="TextBox 72"/>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4" name="Picture 73" descr="lock.png"/>
          <p:cNvPicPr>
            <a:picLocks noChangeAspect="1"/>
          </p:cNvPicPr>
          <p:nvPr/>
        </p:nvPicPr>
        <p:blipFill>
          <a:blip r:embed="rId4"/>
          <a:stretch>
            <a:fillRect/>
          </a:stretch>
        </p:blipFill>
        <p:spPr>
          <a:xfrm>
            <a:off x="4237905" y="2107601"/>
            <a:ext cx="128699" cy="187198"/>
          </a:xfrm>
          <a:prstGeom prst="rect">
            <a:avLst/>
          </a:prstGeom>
        </p:spPr>
      </p:pic>
      <p:sp>
        <p:nvSpPr>
          <p:cNvPr id="75" name="TextBox 74"/>
          <p:cNvSpPr txBox="1"/>
          <p:nvPr/>
        </p:nvSpPr>
        <p:spPr>
          <a:xfrm>
            <a:off x="4405401" y="2117380"/>
            <a:ext cx="535136" cy="186689"/>
          </a:xfrm>
          <a:prstGeom prst="rect">
            <a:avLst/>
          </a:prstGeom>
          <a:noFill/>
        </p:spPr>
        <p:txBody>
          <a:bodyPr wrap="none" lIns="0" rIns="0" tIns="0" bIns="0">
            <a:spAutoFit/>
          </a:bodyPr>
          <a:lstStyle/>
          <a:p>
            <a:r>
              <a:rPr sz="1100" b="0">
                <a:solidFill>
                  <a:srgbClr val="2E2E2E"/>
                </a:solidFill>
                <a:latin typeface="Calibri"/>
              </a:rPr>
              <a:t>), Sweet</a:t>
            </a:r>
          </a:p>
        </p:txBody>
      </p:sp>
      <p:sp>
        <p:nvSpPr>
          <p:cNvPr id="76" name="TextBox 75"/>
          <p:cNvSpPr txBox="1"/>
          <p:nvPr/>
        </p:nvSpPr>
        <p:spPr>
          <a:xfrm>
            <a:off x="1752600" y="2285020"/>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77" name="TextBox 76"/>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8" name="Picture 77" descr="lock.png"/>
          <p:cNvPicPr>
            <a:picLocks noChangeAspect="1"/>
          </p:cNvPicPr>
          <p:nvPr/>
        </p:nvPicPr>
        <p:blipFill>
          <a:blip r:embed="rId4"/>
          <a:stretch>
            <a:fillRect/>
          </a:stretch>
        </p:blipFill>
        <p:spPr>
          <a:xfrm>
            <a:off x="6623687" y="2191421"/>
            <a:ext cx="128699" cy="187198"/>
          </a:xfrm>
          <a:prstGeom prst="rect">
            <a:avLst/>
          </a:prstGeom>
        </p:spPr>
      </p:pic>
      <p:sp>
        <p:nvSpPr>
          <p:cNvPr id="79" name="TextBox 78"/>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0" name="TextBox 79"/>
          <p:cNvSpPr txBox="1"/>
          <p:nvPr/>
        </p:nvSpPr>
        <p:spPr>
          <a:xfrm>
            <a:off x="8420100" y="2201200"/>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81" name="Picture 80" descr="lock.png"/>
          <p:cNvPicPr>
            <a:picLocks noChangeAspect="1"/>
          </p:cNvPicPr>
          <p:nvPr/>
        </p:nvPicPr>
        <p:blipFill>
          <a:blip r:embed="rId4"/>
          <a:stretch>
            <a:fillRect/>
          </a:stretch>
        </p:blipFill>
        <p:spPr>
          <a:xfrm>
            <a:off x="9653902" y="2191421"/>
            <a:ext cx="128699" cy="187198"/>
          </a:xfrm>
          <a:prstGeom prst="rect">
            <a:avLst/>
          </a:prstGeom>
        </p:spPr>
      </p:pic>
      <p:sp>
        <p:nvSpPr>
          <p:cNvPr id="82" name="TextBox 81"/>
          <p:cNvSpPr txBox="1"/>
          <p:nvPr/>
        </p:nvSpPr>
        <p:spPr>
          <a:xfrm>
            <a:off x="9821398" y="220120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3" name="Picture 82" descr="lock.png"/>
          <p:cNvPicPr>
            <a:picLocks noChangeAspect="1"/>
          </p:cNvPicPr>
          <p:nvPr/>
        </p:nvPicPr>
        <p:blipFill>
          <a:blip r:embed="rId4"/>
          <a:stretch>
            <a:fillRect/>
          </a:stretch>
        </p:blipFill>
        <p:spPr>
          <a:xfrm>
            <a:off x="9922866" y="2191421"/>
            <a:ext cx="128699" cy="187198"/>
          </a:xfrm>
          <a:prstGeom prst="rect">
            <a:avLst/>
          </a:prstGeom>
        </p:spPr>
      </p:pic>
      <p:sp>
        <p:nvSpPr>
          <p:cNvPr id="84" name="TextBox 83"/>
          <p:cNvSpPr txBox="1"/>
          <p:nvPr/>
        </p:nvSpPr>
        <p:spPr>
          <a:xfrm>
            <a:off x="10090362" y="220120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85" name="TextBox 84"/>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6" name="Picture 85" descr="lock.png"/>
          <p:cNvPicPr>
            <a:picLocks noChangeAspect="1"/>
          </p:cNvPicPr>
          <p:nvPr/>
        </p:nvPicPr>
        <p:blipFill>
          <a:blip r:embed="rId4"/>
          <a:stretch>
            <a:fillRect/>
          </a:stretch>
        </p:blipFill>
        <p:spPr>
          <a:xfrm>
            <a:off x="2438789" y="2618704"/>
            <a:ext cx="128699" cy="187198"/>
          </a:xfrm>
          <a:prstGeom prst="rect">
            <a:avLst/>
          </a:prstGeom>
        </p:spPr>
      </p:pic>
      <p:sp>
        <p:nvSpPr>
          <p:cNvPr id="87" name="TextBox 86"/>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88" name="Picture 87" descr="lock.png"/>
          <p:cNvPicPr>
            <a:picLocks noChangeAspect="1"/>
          </p:cNvPicPr>
          <p:nvPr/>
        </p:nvPicPr>
        <p:blipFill>
          <a:blip r:embed="rId4"/>
          <a:stretch>
            <a:fillRect/>
          </a:stretch>
        </p:blipFill>
        <p:spPr>
          <a:xfrm>
            <a:off x="4237905" y="2618704"/>
            <a:ext cx="128699" cy="187198"/>
          </a:xfrm>
          <a:prstGeom prst="rect">
            <a:avLst/>
          </a:prstGeom>
        </p:spPr>
      </p:pic>
      <p:sp>
        <p:nvSpPr>
          <p:cNvPr id="89" name="TextBox 88"/>
          <p:cNvSpPr txBox="1"/>
          <p:nvPr/>
        </p:nvSpPr>
        <p:spPr>
          <a:xfrm>
            <a:off x="4405401" y="2628483"/>
            <a:ext cx="535136" cy="186689"/>
          </a:xfrm>
          <a:prstGeom prst="rect">
            <a:avLst/>
          </a:prstGeom>
          <a:noFill/>
        </p:spPr>
        <p:txBody>
          <a:bodyPr wrap="none" lIns="0" rIns="0" tIns="0" bIns="0">
            <a:spAutoFit/>
          </a:bodyPr>
          <a:lstStyle/>
          <a:p>
            <a:r>
              <a:rPr sz="1100" b="0">
                <a:solidFill>
                  <a:srgbClr val="2E2E2E"/>
                </a:solidFill>
                <a:latin typeface="Calibri"/>
              </a:rPr>
              <a:t>), Sweet</a:t>
            </a:r>
          </a:p>
        </p:txBody>
      </p:sp>
      <p:sp>
        <p:nvSpPr>
          <p:cNvPr id="90" name="TextBox 89"/>
          <p:cNvSpPr txBox="1"/>
          <p:nvPr/>
        </p:nvSpPr>
        <p:spPr>
          <a:xfrm>
            <a:off x="1752600" y="2796123"/>
            <a:ext cx="2386434" cy="186689"/>
          </a:xfrm>
          <a:prstGeom prst="rect">
            <a:avLst/>
          </a:prstGeom>
          <a:noFill/>
        </p:spPr>
        <p:txBody>
          <a:bodyPr wrap="none" lIns="0" rIns="0" tIns="0" bIns="0">
            <a:spAutoFit/>
          </a:bodyPr>
          <a:lstStyle/>
          <a:p>
            <a:r>
              <a:rPr sz="1100" b="0">
                <a:solidFill>
                  <a:srgbClr val="2E2E2E"/>
                </a:solidFill>
                <a:latin typeface="Calibri"/>
              </a:rPr>
              <a:t>muffins demand, Accelerating vs history.</a:t>
            </a:r>
          </a:p>
        </p:txBody>
      </p:sp>
      <p:sp>
        <p:nvSpPr>
          <p:cNvPr id="91" name="TextBox 90"/>
          <p:cNvSpPr txBox="1"/>
          <p:nvPr/>
        </p:nvSpPr>
        <p:spPr>
          <a:xfrm>
            <a:off x="5562600" y="2712303"/>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2" name="Picture 91" descr="lock.png"/>
          <p:cNvPicPr>
            <a:picLocks noChangeAspect="1"/>
          </p:cNvPicPr>
          <p:nvPr/>
        </p:nvPicPr>
        <p:blipFill>
          <a:blip r:embed="rId4"/>
          <a:stretch>
            <a:fillRect/>
          </a:stretch>
        </p:blipFill>
        <p:spPr>
          <a:xfrm>
            <a:off x="6623687" y="2702524"/>
            <a:ext cx="128699" cy="187198"/>
          </a:xfrm>
          <a:prstGeom prst="rect">
            <a:avLst/>
          </a:prstGeom>
        </p:spPr>
      </p:pic>
      <p:sp>
        <p:nvSpPr>
          <p:cNvPr id="93" name="TextBox 92"/>
          <p:cNvSpPr txBox="1"/>
          <p:nvPr/>
        </p:nvSpPr>
        <p:spPr>
          <a:xfrm>
            <a:off x="6791183" y="2712303"/>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4" name="TextBox 93"/>
          <p:cNvSpPr txBox="1"/>
          <p:nvPr/>
        </p:nvSpPr>
        <p:spPr>
          <a:xfrm>
            <a:off x="8420100" y="2712303"/>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95" name="Picture 94" descr="lock.png"/>
          <p:cNvPicPr>
            <a:picLocks noChangeAspect="1"/>
          </p:cNvPicPr>
          <p:nvPr/>
        </p:nvPicPr>
        <p:blipFill>
          <a:blip r:embed="rId4"/>
          <a:stretch>
            <a:fillRect/>
          </a:stretch>
        </p:blipFill>
        <p:spPr>
          <a:xfrm>
            <a:off x="9653902" y="2702524"/>
            <a:ext cx="128699" cy="187198"/>
          </a:xfrm>
          <a:prstGeom prst="rect">
            <a:avLst/>
          </a:prstGeom>
        </p:spPr>
      </p:pic>
      <p:sp>
        <p:nvSpPr>
          <p:cNvPr id="96" name="TextBox 95"/>
          <p:cNvSpPr txBox="1"/>
          <p:nvPr/>
        </p:nvSpPr>
        <p:spPr>
          <a:xfrm>
            <a:off x="9821398" y="271230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7" name="Picture 96" descr="lock.png"/>
          <p:cNvPicPr>
            <a:picLocks noChangeAspect="1"/>
          </p:cNvPicPr>
          <p:nvPr/>
        </p:nvPicPr>
        <p:blipFill>
          <a:blip r:embed="rId4"/>
          <a:stretch>
            <a:fillRect/>
          </a:stretch>
        </p:blipFill>
        <p:spPr>
          <a:xfrm>
            <a:off x="9922866" y="2702524"/>
            <a:ext cx="128699" cy="187198"/>
          </a:xfrm>
          <a:prstGeom prst="rect">
            <a:avLst/>
          </a:prstGeom>
        </p:spPr>
      </p:pic>
      <p:sp>
        <p:nvSpPr>
          <p:cNvPr id="98" name="TextBox 97"/>
          <p:cNvSpPr txBox="1"/>
          <p:nvPr/>
        </p:nvSpPr>
        <p:spPr>
          <a:xfrm>
            <a:off x="10090362" y="2712303"/>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99" name="TextBox 98"/>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0" name="Picture 99" descr="lock.png"/>
          <p:cNvPicPr>
            <a:picLocks noChangeAspect="1"/>
          </p:cNvPicPr>
          <p:nvPr/>
        </p:nvPicPr>
        <p:blipFill>
          <a:blip r:embed="rId4"/>
          <a:stretch>
            <a:fillRect/>
          </a:stretch>
        </p:blipFill>
        <p:spPr>
          <a:xfrm>
            <a:off x="2834969" y="3129808"/>
            <a:ext cx="128699" cy="187198"/>
          </a:xfrm>
          <a:prstGeom prst="rect">
            <a:avLst/>
          </a:prstGeom>
        </p:spPr>
      </p:pic>
      <p:sp>
        <p:nvSpPr>
          <p:cNvPr id="101" name="TextBox 100"/>
          <p:cNvSpPr txBox="1"/>
          <p:nvPr/>
        </p:nvSpPr>
        <p:spPr>
          <a:xfrm>
            <a:off x="3002465" y="3139587"/>
            <a:ext cx="1851082" cy="186689"/>
          </a:xfrm>
          <a:prstGeom prst="rect">
            <a:avLst/>
          </a:prstGeom>
          <a:noFill/>
        </p:spPr>
        <p:txBody>
          <a:bodyPr wrap="none" lIns="0" rIns="0" tIns="0" bIns="0">
            <a:spAutoFit/>
          </a:bodyPr>
          <a:lstStyle/>
          <a:p>
            <a:r>
              <a:rPr sz="1100" b="0">
                <a:solidFill>
                  <a:srgbClr val="2E2E2E"/>
                </a:solidFill>
                <a:latin typeface="Calibri"/>
              </a:rPr>
              <a:t>CAGR), Sweet muffins demand,</a:t>
            </a:r>
          </a:p>
        </p:txBody>
      </p:sp>
      <p:sp>
        <p:nvSpPr>
          <p:cNvPr id="102" name="TextBox 101"/>
          <p:cNvSpPr txBox="1"/>
          <p:nvPr/>
        </p:nvSpPr>
        <p:spPr>
          <a:xfrm>
            <a:off x="1752600" y="3307227"/>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03" name="TextBox 102"/>
          <p:cNvSpPr txBox="1"/>
          <p:nvPr/>
        </p:nvSpPr>
        <p:spPr>
          <a:xfrm>
            <a:off x="5562600" y="313958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4" name="Picture 103" descr="lock.png"/>
          <p:cNvPicPr>
            <a:picLocks noChangeAspect="1"/>
          </p:cNvPicPr>
          <p:nvPr/>
        </p:nvPicPr>
        <p:blipFill>
          <a:blip r:embed="rId4"/>
          <a:stretch>
            <a:fillRect/>
          </a:stretch>
        </p:blipFill>
        <p:spPr>
          <a:xfrm>
            <a:off x="6797766" y="3129808"/>
            <a:ext cx="128699" cy="187198"/>
          </a:xfrm>
          <a:prstGeom prst="rect">
            <a:avLst/>
          </a:prstGeom>
        </p:spPr>
      </p:pic>
      <p:sp>
        <p:nvSpPr>
          <p:cNvPr id="105" name="TextBox 104"/>
          <p:cNvSpPr txBox="1"/>
          <p:nvPr/>
        </p:nvSpPr>
        <p:spPr>
          <a:xfrm>
            <a:off x="6965262" y="313958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6" name="TextBox 105"/>
          <p:cNvSpPr txBox="1"/>
          <p:nvPr/>
        </p:nvSpPr>
        <p:spPr>
          <a:xfrm>
            <a:off x="5562600" y="330722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07" name="Picture 106" descr="lock.png"/>
          <p:cNvPicPr>
            <a:picLocks noChangeAspect="1"/>
          </p:cNvPicPr>
          <p:nvPr/>
        </p:nvPicPr>
        <p:blipFill>
          <a:blip r:embed="rId4"/>
          <a:stretch>
            <a:fillRect/>
          </a:stretch>
        </p:blipFill>
        <p:spPr>
          <a:xfrm>
            <a:off x="6258066" y="3297448"/>
            <a:ext cx="128699" cy="187198"/>
          </a:xfrm>
          <a:prstGeom prst="rect">
            <a:avLst/>
          </a:prstGeom>
        </p:spPr>
      </p:pic>
      <p:sp>
        <p:nvSpPr>
          <p:cNvPr id="108" name="TextBox 107"/>
          <p:cNvSpPr txBox="1"/>
          <p:nvPr/>
        </p:nvSpPr>
        <p:spPr>
          <a:xfrm>
            <a:off x="6425562" y="330722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9" name="TextBox 108"/>
          <p:cNvSpPr txBox="1"/>
          <p:nvPr/>
        </p:nvSpPr>
        <p:spPr>
          <a:xfrm>
            <a:off x="8420100" y="3223407"/>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10" name="Picture 109" descr="lock.png"/>
          <p:cNvPicPr>
            <a:picLocks noChangeAspect="1"/>
          </p:cNvPicPr>
          <p:nvPr/>
        </p:nvPicPr>
        <p:blipFill>
          <a:blip r:embed="rId4"/>
          <a:stretch>
            <a:fillRect/>
          </a:stretch>
        </p:blipFill>
        <p:spPr>
          <a:xfrm>
            <a:off x="9653902" y="3213628"/>
            <a:ext cx="128699" cy="187198"/>
          </a:xfrm>
          <a:prstGeom prst="rect">
            <a:avLst/>
          </a:prstGeom>
        </p:spPr>
      </p:pic>
      <p:sp>
        <p:nvSpPr>
          <p:cNvPr id="111" name="TextBox 110"/>
          <p:cNvSpPr txBox="1"/>
          <p:nvPr/>
        </p:nvSpPr>
        <p:spPr>
          <a:xfrm>
            <a:off x="9821398" y="322340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2" name="Picture 111" descr="lock.png"/>
          <p:cNvPicPr>
            <a:picLocks noChangeAspect="1"/>
          </p:cNvPicPr>
          <p:nvPr/>
        </p:nvPicPr>
        <p:blipFill>
          <a:blip r:embed="rId4"/>
          <a:stretch>
            <a:fillRect/>
          </a:stretch>
        </p:blipFill>
        <p:spPr>
          <a:xfrm>
            <a:off x="9922866" y="3213628"/>
            <a:ext cx="128699" cy="187198"/>
          </a:xfrm>
          <a:prstGeom prst="rect">
            <a:avLst/>
          </a:prstGeom>
        </p:spPr>
      </p:pic>
      <p:sp>
        <p:nvSpPr>
          <p:cNvPr id="113" name="TextBox 112"/>
          <p:cNvSpPr txBox="1"/>
          <p:nvPr/>
        </p:nvSpPr>
        <p:spPr>
          <a:xfrm>
            <a:off x="10090362" y="3223407"/>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14" name="TextBox 113"/>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5" name="Picture 114" descr="lock.png"/>
          <p:cNvPicPr>
            <a:picLocks noChangeAspect="1"/>
          </p:cNvPicPr>
          <p:nvPr/>
        </p:nvPicPr>
        <p:blipFill>
          <a:blip r:embed="rId4"/>
          <a:stretch>
            <a:fillRect/>
          </a:stretch>
        </p:blipFill>
        <p:spPr>
          <a:xfrm>
            <a:off x="2962118" y="3640911"/>
            <a:ext cx="128699" cy="187198"/>
          </a:xfrm>
          <a:prstGeom prst="rect">
            <a:avLst/>
          </a:prstGeom>
        </p:spPr>
      </p:pic>
      <p:sp>
        <p:nvSpPr>
          <p:cNvPr id="116" name="TextBox 115"/>
          <p:cNvSpPr txBox="1"/>
          <p:nvPr/>
        </p:nvSpPr>
        <p:spPr>
          <a:xfrm>
            <a:off x="3129614" y="3650690"/>
            <a:ext cx="2242485" cy="186689"/>
          </a:xfrm>
          <a:prstGeom prst="rect">
            <a:avLst/>
          </a:prstGeom>
          <a:noFill/>
        </p:spPr>
        <p:txBody>
          <a:bodyPr wrap="none" lIns="0" rIns="0" tIns="0" bIns="0">
            <a:spAutoFit/>
          </a:bodyPr>
          <a:lstStyle/>
          <a:p>
            <a:r>
              <a:rPr sz="1100" b="0">
                <a:solidFill>
                  <a:srgbClr val="2E2E2E"/>
                </a:solidFill>
                <a:latin typeface="Calibri"/>
              </a:rPr>
              <a:t>), Sweet muffins demand, Accelerating</a:t>
            </a:r>
          </a:p>
        </p:txBody>
      </p:sp>
      <p:sp>
        <p:nvSpPr>
          <p:cNvPr id="117" name="TextBox 116"/>
          <p:cNvSpPr txBox="1"/>
          <p:nvPr/>
        </p:nvSpPr>
        <p:spPr>
          <a:xfrm>
            <a:off x="1752600" y="3818330"/>
            <a:ext cx="653553" cy="186689"/>
          </a:xfrm>
          <a:prstGeom prst="rect">
            <a:avLst/>
          </a:prstGeom>
          <a:noFill/>
        </p:spPr>
        <p:txBody>
          <a:bodyPr wrap="none" lIns="0" rIns="0" tIns="0" bIns="0">
            <a:spAutoFit/>
          </a:bodyPr>
          <a:lstStyle/>
          <a:p>
            <a:r>
              <a:rPr sz="1100" b="0">
                <a:solidFill>
                  <a:srgbClr val="2E2E2E"/>
                </a:solidFill>
                <a:latin typeface="Calibri"/>
              </a:rPr>
              <a:t>vs history.</a:t>
            </a:r>
          </a:p>
        </p:txBody>
      </p:sp>
      <p:sp>
        <p:nvSpPr>
          <p:cNvPr id="118" name="TextBox 117"/>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19" name="Picture 118" descr="lock.png"/>
          <p:cNvPicPr>
            <a:picLocks noChangeAspect="1"/>
          </p:cNvPicPr>
          <p:nvPr/>
        </p:nvPicPr>
        <p:blipFill>
          <a:blip r:embed="rId4"/>
          <a:stretch>
            <a:fillRect/>
          </a:stretch>
        </p:blipFill>
        <p:spPr>
          <a:xfrm>
            <a:off x="6623687" y="3724731"/>
            <a:ext cx="128699" cy="187198"/>
          </a:xfrm>
          <a:prstGeom prst="rect">
            <a:avLst/>
          </a:prstGeom>
        </p:spPr>
      </p:pic>
      <p:sp>
        <p:nvSpPr>
          <p:cNvPr id="120" name="TextBox 119"/>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1" name="TextBox 120"/>
          <p:cNvSpPr txBox="1"/>
          <p:nvPr/>
        </p:nvSpPr>
        <p:spPr>
          <a:xfrm>
            <a:off x="8420100" y="3734510"/>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22" name="Picture 121" descr="lock.png"/>
          <p:cNvPicPr>
            <a:picLocks noChangeAspect="1"/>
          </p:cNvPicPr>
          <p:nvPr/>
        </p:nvPicPr>
        <p:blipFill>
          <a:blip r:embed="rId4"/>
          <a:stretch>
            <a:fillRect/>
          </a:stretch>
        </p:blipFill>
        <p:spPr>
          <a:xfrm>
            <a:off x="9653902" y="3724731"/>
            <a:ext cx="128699" cy="187198"/>
          </a:xfrm>
          <a:prstGeom prst="rect">
            <a:avLst/>
          </a:prstGeom>
        </p:spPr>
      </p:pic>
      <p:sp>
        <p:nvSpPr>
          <p:cNvPr id="123" name="TextBox 122"/>
          <p:cNvSpPr txBox="1"/>
          <p:nvPr/>
        </p:nvSpPr>
        <p:spPr>
          <a:xfrm>
            <a:off x="9821398" y="373451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4" name="Picture 123" descr="lock.png"/>
          <p:cNvPicPr>
            <a:picLocks noChangeAspect="1"/>
          </p:cNvPicPr>
          <p:nvPr/>
        </p:nvPicPr>
        <p:blipFill>
          <a:blip r:embed="rId4"/>
          <a:stretch>
            <a:fillRect/>
          </a:stretch>
        </p:blipFill>
        <p:spPr>
          <a:xfrm>
            <a:off x="9922866" y="3724731"/>
            <a:ext cx="128699" cy="187198"/>
          </a:xfrm>
          <a:prstGeom prst="rect">
            <a:avLst/>
          </a:prstGeom>
        </p:spPr>
      </p:pic>
      <p:sp>
        <p:nvSpPr>
          <p:cNvPr id="125" name="TextBox 124"/>
          <p:cNvSpPr txBox="1"/>
          <p:nvPr/>
        </p:nvSpPr>
        <p:spPr>
          <a:xfrm>
            <a:off x="10090362" y="373451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26" name="TextBox 125"/>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27" name="Picture 126" descr="lock.png"/>
          <p:cNvPicPr>
            <a:picLocks noChangeAspect="1"/>
          </p:cNvPicPr>
          <p:nvPr/>
        </p:nvPicPr>
        <p:blipFill>
          <a:blip r:embed="rId4"/>
          <a:stretch>
            <a:fillRect/>
          </a:stretch>
        </p:blipFill>
        <p:spPr>
          <a:xfrm>
            <a:off x="2834969" y="4152015"/>
            <a:ext cx="128699" cy="187198"/>
          </a:xfrm>
          <a:prstGeom prst="rect">
            <a:avLst/>
          </a:prstGeom>
        </p:spPr>
      </p:pic>
      <p:sp>
        <p:nvSpPr>
          <p:cNvPr id="128" name="TextBox 127"/>
          <p:cNvSpPr txBox="1"/>
          <p:nvPr/>
        </p:nvSpPr>
        <p:spPr>
          <a:xfrm>
            <a:off x="3002465" y="4161794"/>
            <a:ext cx="1851082" cy="186689"/>
          </a:xfrm>
          <a:prstGeom prst="rect">
            <a:avLst/>
          </a:prstGeom>
          <a:noFill/>
        </p:spPr>
        <p:txBody>
          <a:bodyPr wrap="none" lIns="0" rIns="0" tIns="0" bIns="0">
            <a:spAutoFit/>
          </a:bodyPr>
          <a:lstStyle/>
          <a:p>
            <a:r>
              <a:rPr sz="1100" b="0">
                <a:solidFill>
                  <a:srgbClr val="2E2E2E"/>
                </a:solidFill>
                <a:latin typeface="Calibri"/>
              </a:rPr>
              <a:t>CAGR), Sweet muffins demand,</a:t>
            </a:r>
          </a:p>
        </p:txBody>
      </p:sp>
      <p:sp>
        <p:nvSpPr>
          <p:cNvPr id="129" name="TextBox 128"/>
          <p:cNvSpPr txBox="1"/>
          <p:nvPr/>
        </p:nvSpPr>
        <p:spPr>
          <a:xfrm>
            <a:off x="1752600" y="4329434"/>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30" name="TextBox 129"/>
          <p:cNvSpPr txBox="1"/>
          <p:nvPr/>
        </p:nvSpPr>
        <p:spPr>
          <a:xfrm>
            <a:off x="5562600" y="416179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1" name="Picture 130" descr="lock.png"/>
          <p:cNvPicPr>
            <a:picLocks noChangeAspect="1"/>
          </p:cNvPicPr>
          <p:nvPr/>
        </p:nvPicPr>
        <p:blipFill>
          <a:blip r:embed="rId4"/>
          <a:stretch>
            <a:fillRect/>
          </a:stretch>
        </p:blipFill>
        <p:spPr>
          <a:xfrm>
            <a:off x="6797766" y="4152015"/>
            <a:ext cx="128699" cy="187198"/>
          </a:xfrm>
          <a:prstGeom prst="rect">
            <a:avLst/>
          </a:prstGeom>
        </p:spPr>
      </p:pic>
      <p:sp>
        <p:nvSpPr>
          <p:cNvPr id="132" name="TextBox 131"/>
          <p:cNvSpPr txBox="1"/>
          <p:nvPr/>
        </p:nvSpPr>
        <p:spPr>
          <a:xfrm>
            <a:off x="6965262" y="4161794"/>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3" name="TextBox 132"/>
          <p:cNvSpPr txBox="1"/>
          <p:nvPr/>
        </p:nvSpPr>
        <p:spPr>
          <a:xfrm>
            <a:off x="5562600" y="4329434"/>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4" name="Picture 133" descr="lock.png"/>
          <p:cNvPicPr>
            <a:picLocks noChangeAspect="1"/>
          </p:cNvPicPr>
          <p:nvPr/>
        </p:nvPicPr>
        <p:blipFill>
          <a:blip r:embed="rId4"/>
          <a:stretch>
            <a:fillRect/>
          </a:stretch>
        </p:blipFill>
        <p:spPr>
          <a:xfrm>
            <a:off x="6258066" y="4319655"/>
            <a:ext cx="128699" cy="187198"/>
          </a:xfrm>
          <a:prstGeom prst="rect">
            <a:avLst/>
          </a:prstGeom>
        </p:spPr>
      </p:pic>
      <p:sp>
        <p:nvSpPr>
          <p:cNvPr id="135" name="TextBox 134"/>
          <p:cNvSpPr txBox="1"/>
          <p:nvPr/>
        </p:nvSpPr>
        <p:spPr>
          <a:xfrm>
            <a:off x="6425562" y="432943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36" name="TextBox 135"/>
          <p:cNvSpPr txBox="1"/>
          <p:nvPr/>
        </p:nvSpPr>
        <p:spPr>
          <a:xfrm>
            <a:off x="8420100" y="4245614"/>
            <a:ext cx="1285750" cy="186689"/>
          </a:xfrm>
          <a:prstGeom prst="rect">
            <a:avLst/>
          </a:prstGeom>
          <a:noFill/>
        </p:spPr>
        <p:txBody>
          <a:bodyPr wrap="none" lIns="0" rIns="0" tIns="0" bIns="0">
            <a:spAutoFit/>
          </a:bodyPr>
          <a:lstStyle/>
          <a:p>
            <a:r>
              <a:rPr sz="1100" b="0">
                <a:solidFill>
                  <a:srgbClr val="2E2E2E"/>
                </a:solidFill>
                <a:latin typeface="Calibri"/>
              </a:rPr>
              <a:t>Scale Sweet muffins (</a:t>
            </a:r>
          </a:p>
        </p:txBody>
      </p:sp>
      <p:pic>
        <p:nvPicPr>
          <p:cNvPr id="137" name="Picture 136" descr="lock.png"/>
          <p:cNvPicPr>
            <a:picLocks noChangeAspect="1"/>
          </p:cNvPicPr>
          <p:nvPr/>
        </p:nvPicPr>
        <p:blipFill>
          <a:blip r:embed="rId4"/>
          <a:stretch>
            <a:fillRect/>
          </a:stretch>
        </p:blipFill>
        <p:spPr>
          <a:xfrm>
            <a:off x="9653902" y="4235835"/>
            <a:ext cx="128699" cy="187198"/>
          </a:xfrm>
          <a:prstGeom prst="rect">
            <a:avLst/>
          </a:prstGeom>
        </p:spPr>
      </p:pic>
      <p:sp>
        <p:nvSpPr>
          <p:cNvPr id="138" name="TextBox 137"/>
          <p:cNvSpPr txBox="1"/>
          <p:nvPr/>
        </p:nvSpPr>
        <p:spPr>
          <a:xfrm>
            <a:off x="9821398" y="424561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39" name="Picture 138" descr="lock.png"/>
          <p:cNvPicPr>
            <a:picLocks noChangeAspect="1"/>
          </p:cNvPicPr>
          <p:nvPr/>
        </p:nvPicPr>
        <p:blipFill>
          <a:blip r:embed="rId4"/>
          <a:stretch>
            <a:fillRect/>
          </a:stretch>
        </p:blipFill>
        <p:spPr>
          <a:xfrm>
            <a:off x="9922866" y="4235835"/>
            <a:ext cx="128699" cy="187198"/>
          </a:xfrm>
          <a:prstGeom prst="rect">
            <a:avLst/>
          </a:prstGeom>
        </p:spPr>
      </p:pic>
      <p:sp>
        <p:nvSpPr>
          <p:cNvPr id="140" name="TextBox 139"/>
          <p:cNvSpPr txBox="1"/>
          <p:nvPr/>
        </p:nvSpPr>
        <p:spPr>
          <a:xfrm>
            <a:off x="10090362" y="4245614"/>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41" name="TextBox 140"/>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2" name="Picture 141" descr="lock.png"/>
          <p:cNvPicPr>
            <a:picLocks noChangeAspect="1"/>
          </p:cNvPicPr>
          <p:nvPr/>
        </p:nvPicPr>
        <p:blipFill>
          <a:blip r:embed="rId4"/>
          <a:stretch>
            <a:fillRect/>
          </a:stretch>
        </p:blipFill>
        <p:spPr>
          <a:xfrm>
            <a:off x="4626463" y="5222741"/>
            <a:ext cx="128699" cy="187198"/>
          </a:xfrm>
          <a:prstGeom prst="rect">
            <a:avLst/>
          </a:prstGeom>
        </p:spPr>
      </p:pic>
      <p:sp>
        <p:nvSpPr>
          <p:cNvPr id="143" name="TextBox 142"/>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44" name="Picture 143" descr="lock.png"/>
          <p:cNvPicPr>
            <a:picLocks noChangeAspect="1"/>
          </p:cNvPicPr>
          <p:nvPr/>
        </p:nvPicPr>
        <p:blipFill>
          <a:blip r:embed="rId4"/>
          <a:stretch>
            <a:fillRect/>
          </a:stretch>
        </p:blipFill>
        <p:spPr>
          <a:xfrm>
            <a:off x="9365009" y="5222741"/>
            <a:ext cx="128699" cy="187198"/>
          </a:xfrm>
          <a:prstGeom prst="rect">
            <a:avLst/>
          </a:prstGeom>
        </p:spPr>
      </p:pic>
      <p:sp>
        <p:nvSpPr>
          <p:cNvPr id="145" name="TextBox 144"/>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46" name="Picture 145" descr="lock.png"/>
          <p:cNvPicPr>
            <a:picLocks noChangeAspect="1"/>
          </p:cNvPicPr>
          <p:nvPr/>
        </p:nvPicPr>
        <p:blipFill>
          <a:blip r:embed="rId4"/>
          <a:stretch>
            <a:fillRect/>
          </a:stretch>
        </p:blipFill>
        <p:spPr>
          <a:xfrm>
            <a:off x="291332" y="5390381"/>
            <a:ext cx="128699" cy="187198"/>
          </a:xfrm>
          <a:prstGeom prst="rect">
            <a:avLst/>
          </a:prstGeom>
        </p:spPr>
      </p:pic>
      <p:sp>
        <p:nvSpPr>
          <p:cNvPr id="147" name="TextBox 146"/>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48" name="TextBox 147"/>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04460"/>
            <a:ext cx="2324100" cy="2309093"/>
          </a:xfrm>
          <a:custGeom>
            <a:avLst/>
            <a:gdLst/>
            <a:ahLst/>
            <a:cxnLst/>
            <a:rect l="l" t="t" r="r" b="b"/>
            <a:pathLst>
              <a:path w="244" h="253">
                <a:moveTo>
                  <a:pt x="244" y="10"/>
                </a:moveTo>
                <a:lnTo>
                  <a:pt x="176" y="0"/>
                </a:lnTo>
                <a:lnTo>
                  <a:pt x="120" y="42"/>
                </a:lnTo>
                <a:lnTo>
                  <a:pt x="97" y="107"/>
                </a:lnTo>
                <a:lnTo>
                  <a:pt x="0" y="197"/>
                </a:lnTo>
                <a:lnTo>
                  <a:pt x="149" y="217"/>
                </a:lnTo>
                <a:lnTo>
                  <a:pt x="217" y="197"/>
                </a:lnTo>
                <a:lnTo>
                  <a:pt x="244" y="25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2 product type lines and 3 sales channel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197347" cy="186689"/>
          </a:xfrm>
          <a:prstGeom prst="rect">
            <a:avLst/>
          </a:prstGeom>
          <a:noFill/>
        </p:spPr>
        <p:txBody>
          <a:bodyPr wrap="none" lIns="0" rIns="0" tIns="0" bIns="0">
            <a:spAutoFit/>
          </a:bodyPr>
          <a:lstStyle/>
          <a:p>
            <a:r>
              <a:rPr sz="1100" b="0">
                <a:solidFill>
                  <a:srgbClr val="2E2E2E"/>
                </a:solidFill>
                <a:latin typeface="Calibri"/>
              </a:rPr>
              <a:t>/10), Capacity Add (</a:t>
            </a:r>
          </a:p>
        </p:txBody>
      </p:sp>
      <p:pic>
        <p:nvPicPr>
          <p:cNvPr id="87" name="Picture 86" descr="lock.png"/>
          <p:cNvPicPr>
            <a:picLocks noChangeAspect="1"/>
          </p:cNvPicPr>
          <p:nvPr/>
        </p:nvPicPr>
        <p:blipFill>
          <a:blip r:embed="rId4"/>
          <a:stretch>
            <a:fillRect/>
          </a:stretch>
        </p:blipFill>
        <p:spPr>
          <a:xfrm>
            <a:off x="9472016" y="1486975"/>
            <a:ext cx="128699" cy="187198"/>
          </a:xfrm>
          <a:prstGeom prst="rect">
            <a:avLst/>
          </a:prstGeom>
        </p:spPr>
      </p:pic>
      <p:sp>
        <p:nvSpPr>
          <p:cNvPr id="88" name="TextBox 87"/>
          <p:cNvSpPr txBox="1"/>
          <p:nvPr/>
        </p:nvSpPr>
        <p:spPr>
          <a:xfrm>
            <a:off x="9639512" y="1496754"/>
            <a:ext cx="1561876" cy="186689"/>
          </a:xfrm>
          <a:prstGeom prst="rect">
            <a:avLst/>
          </a:prstGeom>
          <a:noFill/>
        </p:spPr>
        <p:txBody>
          <a:bodyPr wrap="none" lIns="0" rIns="0" tIns="0" bIns="0">
            <a:spAutoFit/>
          </a:bodyPr>
          <a:lstStyle/>
          <a:p>
            <a:r>
              <a:rPr sz="1100" b="0">
                <a:solidFill>
                  <a:srgbClr val="2E2E2E"/>
                </a:solidFill>
                <a:latin typeface="Calibri"/>
              </a:rPr>
              <a:t>/10), Input Cost Pressure (</a:t>
            </a:r>
          </a:p>
        </p:txBody>
      </p:sp>
      <p:pic>
        <p:nvPicPr>
          <p:cNvPr id="89" name="Picture 88" descr="lock.png"/>
          <p:cNvPicPr>
            <a:picLocks noChangeAspect="1"/>
          </p:cNvPicPr>
          <p:nvPr/>
        </p:nvPicPr>
        <p:blipFill>
          <a:blip r:embed="rId4"/>
          <a:stretch>
            <a:fillRect/>
          </a:stretch>
        </p:blipFill>
        <p:spPr>
          <a:xfrm>
            <a:off x="11149441" y="1486975"/>
            <a:ext cx="128699" cy="187198"/>
          </a:xfrm>
          <a:prstGeom prst="rect">
            <a:avLst/>
          </a:prstGeom>
        </p:spPr>
      </p:pic>
      <p:sp>
        <p:nvSpPr>
          <p:cNvPr id="90" name="TextBox 89"/>
          <p:cNvSpPr txBox="1"/>
          <p:nvPr/>
        </p:nvSpPr>
        <p:spPr>
          <a:xfrm>
            <a:off x="11316936" y="1496754"/>
            <a:ext cx="591616" cy="186689"/>
          </a:xfrm>
          <a:prstGeom prst="rect">
            <a:avLst/>
          </a:prstGeom>
          <a:noFill/>
        </p:spPr>
        <p:txBody>
          <a:bodyPr wrap="none" lIns="0" rIns="0" tIns="0" bIns="0">
            <a:spAutoFit/>
          </a:bodyPr>
          <a:lstStyle/>
          <a:p>
            <a:r>
              <a:rPr sz="1100" b="0">
                <a:solidFill>
                  <a:srgbClr val="2E2E2E"/>
                </a:solidFill>
                <a:latin typeface="Calibri"/>
              </a:rPr>
              <a:t>/10) on a</a:t>
            </a:r>
          </a:p>
        </p:txBody>
      </p:sp>
      <p:sp>
        <p:nvSpPr>
          <p:cNvPr id="91" name="TextBox 90"/>
          <p:cNvSpPr txBox="1"/>
          <p:nvPr/>
        </p:nvSpPr>
        <p:spPr>
          <a:xfrm>
            <a:off x="5000625" y="1664394"/>
            <a:ext cx="2764060" cy="186689"/>
          </a:xfrm>
          <a:prstGeom prst="rect">
            <a:avLst/>
          </a:prstGeom>
          <a:noFill/>
        </p:spPr>
        <p:txBody>
          <a:bodyPr wrap="none" lIns="0" rIns="0" tIns="0" bIns="0">
            <a:spAutoFit/>
          </a:bodyPr>
          <a:lstStyle/>
          <a:p>
            <a:r>
              <a:rPr sz="1100" b="0">
                <a:solidFill>
                  <a:srgbClr val="2E2E2E"/>
                </a:solidFill>
                <a:latin typeface="Calibri"/>
              </a:rPr>
              <a:t>0-10 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595333"/>
            <a:ext cx="1504950" cy="3103129"/>
          </a:xfrm>
          <a:custGeom>
            <a:avLst/>
            <a:gdLst/>
            <a:ahLst/>
            <a:cxnLst/>
            <a:rect l="l" t="t" r="r" b="b"/>
            <a:pathLst>
              <a:path w="158" h="340">
                <a:moveTo>
                  <a:pt x="0" y="17"/>
                </a:moveTo>
                <a:lnTo>
                  <a:pt x="69" y="0"/>
                </a:lnTo>
                <a:lnTo>
                  <a:pt x="49" y="103"/>
                </a:lnTo>
                <a:lnTo>
                  <a:pt x="97" y="120"/>
                </a:lnTo>
                <a:lnTo>
                  <a:pt x="158" y="178"/>
                </a:lnTo>
                <a:lnTo>
                  <a:pt x="100" y="222"/>
                </a:lnTo>
                <a:lnTo>
                  <a:pt x="95" y="340"/>
                </a:lnTo>
                <a:lnTo>
                  <a:pt x="0" y="27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40868" cy="186689"/>
          </a:xfrm>
          <a:prstGeom prst="rect">
            <a:avLst/>
          </a:prstGeom>
          <a:noFill/>
        </p:spPr>
        <p:txBody>
          <a:bodyPr wrap="none" lIns="0" rIns="0" tIns="0" bIns="0">
            <a:spAutoFit/>
          </a:bodyPr>
          <a:lstStyle/>
          <a:p>
            <a:r>
              <a:rPr sz="1100" b="0">
                <a:solidFill>
                  <a:srgbClr val="2E2E2E"/>
                </a:solidFill>
                <a:latin typeface="Calibri"/>
              </a:rPr>
              <a:t>▪ Demand-side conditions are led by Adoption Depth (</a:t>
            </a:r>
          </a:p>
        </p:txBody>
      </p:sp>
      <p:pic>
        <p:nvPicPr>
          <p:cNvPr id="85" name="Picture 84" descr="lock.png"/>
          <p:cNvPicPr>
            <a:picLocks noChangeAspect="1"/>
          </p:cNvPicPr>
          <p:nvPr/>
        </p:nvPicPr>
        <p:blipFill>
          <a:blip r:embed="rId4"/>
          <a:stretch>
            <a:fillRect/>
          </a:stretch>
        </p:blipFill>
        <p:spPr>
          <a:xfrm>
            <a:off x="3298470" y="1486975"/>
            <a:ext cx="128699" cy="187198"/>
          </a:xfrm>
          <a:prstGeom prst="rect">
            <a:avLst/>
          </a:prstGeom>
        </p:spPr>
      </p:pic>
      <p:sp>
        <p:nvSpPr>
          <p:cNvPr id="86" name="TextBox 85"/>
          <p:cNvSpPr txBox="1"/>
          <p:nvPr/>
        </p:nvSpPr>
        <p:spPr>
          <a:xfrm>
            <a:off x="3465966"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7" name="Picture 86" descr="lock.png"/>
          <p:cNvPicPr>
            <a:picLocks noChangeAspect="1"/>
          </p:cNvPicPr>
          <p:nvPr/>
        </p:nvPicPr>
        <p:blipFill>
          <a:blip r:embed="rId4"/>
          <a:stretch>
            <a:fillRect/>
          </a:stretch>
        </p:blipFill>
        <p:spPr>
          <a:xfrm>
            <a:off x="5020096" y="1486975"/>
            <a:ext cx="128699" cy="187198"/>
          </a:xfrm>
          <a:prstGeom prst="rect">
            <a:avLst/>
          </a:prstGeom>
        </p:spPr>
      </p:pic>
      <p:sp>
        <p:nvSpPr>
          <p:cNvPr id="88" name="TextBox 87"/>
          <p:cNvSpPr txBox="1"/>
          <p:nvPr/>
        </p:nvSpPr>
        <p:spPr>
          <a:xfrm>
            <a:off x="5187592"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9" name="Picture 88" descr="lock.png"/>
          <p:cNvPicPr>
            <a:picLocks noChangeAspect="1"/>
          </p:cNvPicPr>
          <p:nvPr/>
        </p:nvPicPr>
        <p:blipFill>
          <a:blip r:embed="rId4"/>
          <a:stretch>
            <a:fillRect/>
          </a:stretch>
        </p:blipFill>
        <p:spPr>
          <a:xfrm>
            <a:off x="6489880" y="1486975"/>
            <a:ext cx="128699" cy="187198"/>
          </a:xfrm>
          <a:prstGeom prst="rect">
            <a:avLst/>
          </a:prstGeom>
        </p:spPr>
      </p:pic>
      <p:sp>
        <p:nvSpPr>
          <p:cNvPr id="90" name="TextBox 89"/>
          <p:cNvSpPr txBox="1"/>
          <p:nvPr/>
        </p:nvSpPr>
        <p:spPr>
          <a:xfrm>
            <a:off x="6657376"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19453"/>
            <a:ext cx="1442640" cy="186689"/>
          </a:xfrm>
          <a:prstGeom prst="rect">
            <a:avLst/>
          </a:prstGeom>
          <a:noFill/>
        </p:spPr>
        <p:txBody>
          <a:bodyPr wrap="none" lIns="0" rIns="0" tIns="0" bIns="0">
            <a:spAutoFit/>
          </a:bodyPr>
          <a:lstStyle/>
          <a:p>
            <a:r>
              <a:rPr sz="1100" b="0">
                <a:solidFill>
                  <a:srgbClr val="2E2E2E"/>
                </a:solidFill>
                <a:latin typeface="Calibri"/>
              </a:rPr>
              <a:t>▪ 'Sweet muffins' carries</a:t>
            </a:r>
          </a:p>
        </p:txBody>
      </p:sp>
      <p:pic>
        <p:nvPicPr>
          <p:cNvPr id="98" name="Picture 97" descr="lock.png"/>
          <p:cNvPicPr>
            <a:picLocks noChangeAspect="1"/>
          </p:cNvPicPr>
          <p:nvPr/>
        </p:nvPicPr>
        <p:blipFill>
          <a:blip r:embed="rId4"/>
          <a:stretch>
            <a:fillRect/>
          </a:stretch>
        </p:blipFill>
        <p:spPr>
          <a:xfrm>
            <a:off x="1600242" y="2209674"/>
            <a:ext cx="128699" cy="187198"/>
          </a:xfrm>
          <a:prstGeom prst="rect">
            <a:avLst/>
          </a:prstGeom>
        </p:spPr>
      </p:pic>
      <p:sp>
        <p:nvSpPr>
          <p:cNvPr id="99" name="TextBox 98"/>
          <p:cNvSpPr txBox="1"/>
          <p:nvPr/>
        </p:nvSpPr>
        <p:spPr>
          <a:xfrm>
            <a:off x="1767738" y="2219453"/>
            <a:ext cx="3958877" cy="186689"/>
          </a:xfrm>
          <a:prstGeom prst="rect">
            <a:avLst/>
          </a:prstGeom>
          <a:noFill/>
        </p:spPr>
        <p:txBody>
          <a:bodyPr wrap="none" lIns="0" rIns="0" tIns="0" bIns="0">
            <a:spAutoFit/>
          </a:bodyPr>
          <a:lstStyle/>
          <a:p>
            <a:r>
              <a:rPr sz="1100" b="0">
                <a:solidFill>
                  <a:srgbClr val="2E2E2E"/>
                </a:solidFill>
                <a:latin typeface="Calibri"/>
              </a:rPr>
              <a:t>of product type demand while 'Sweet muffins' compounds fastest at</a:t>
            </a:r>
          </a:p>
        </p:txBody>
      </p:sp>
      <p:pic>
        <p:nvPicPr>
          <p:cNvPr id="100" name="Picture 99" descr="lock.png"/>
          <p:cNvPicPr>
            <a:picLocks noChangeAspect="1"/>
          </p:cNvPicPr>
          <p:nvPr/>
        </p:nvPicPr>
        <p:blipFill>
          <a:blip r:embed="rId4"/>
          <a:stretch>
            <a:fillRect/>
          </a:stretch>
        </p:blipFill>
        <p:spPr>
          <a:xfrm>
            <a:off x="5674667" y="2209674"/>
            <a:ext cx="128699" cy="187198"/>
          </a:xfrm>
          <a:prstGeom prst="rect">
            <a:avLst/>
          </a:prstGeom>
        </p:spPr>
      </p:pic>
      <p:sp>
        <p:nvSpPr>
          <p:cNvPr id="101" name="TextBox 100"/>
          <p:cNvSpPr txBox="1"/>
          <p:nvPr/>
        </p:nvSpPr>
        <p:spPr>
          <a:xfrm>
            <a:off x="5842163" y="2219453"/>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584528"/>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574749"/>
            <a:ext cx="128699" cy="187198"/>
          </a:xfrm>
          <a:prstGeom prst="rect">
            <a:avLst/>
          </a:prstGeom>
        </p:spPr>
      </p:pic>
      <p:sp>
        <p:nvSpPr>
          <p:cNvPr id="104" name="TextBox 103"/>
          <p:cNvSpPr txBox="1"/>
          <p:nvPr/>
        </p:nvSpPr>
        <p:spPr>
          <a:xfrm>
            <a:off x="2801845" y="2584528"/>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574749"/>
            <a:ext cx="128699" cy="187198"/>
          </a:xfrm>
          <a:prstGeom prst="rect">
            <a:avLst/>
          </a:prstGeom>
        </p:spPr>
      </p:pic>
      <p:sp>
        <p:nvSpPr>
          <p:cNvPr id="106" name="TextBox 105"/>
          <p:cNvSpPr txBox="1"/>
          <p:nvPr/>
        </p:nvSpPr>
        <p:spPr>
          <a:xfrm>
            <a:off x="3448965" y="2584528"/>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2957050"/>
            <a:ext cx="3533775" cy="186689"/>
          </a:xfrm>
          <a:prstGeom prst="rect">
            <a:avLst/>
          </a:prstGeom>
          <a:noFill/>
        </p:spPr>
        <p:txBody>
          <a:bodyPr wrap="none" lIns="0" rIns="0" tIns="0" bIns="0">
            <a:spAutoFit/>
          </a:bodyPr>
          <a:lstStyle/>
          <a:p>
            <a:r>
              <a:rPr sz="1100" b="0">
                <a:solidFill>
                  <a:srgbClr val="2E2E2E"/>
                </a:solidFill>
                <a:latin typeface="Calibri"/>
              </a:rPr>
              <a:t>▪ Reach runs through 3 sales channel routes, led by 'Retail' at</a:t>
            </a:r>
          </a:p>
        </p:txBody>
      </p:sp>
      <p:pic>
        <p:nvPicPr>
          <p:cNvPr id="108" name="Picture 107" descr="lock.png"/>
          <p:cNvPicPr>
            <a:picLocks noChangeAspect="1"/>
          </p:cNvPicPr>
          <p:nvPr/>
        </p:nvPicPr>
        <p:blipFill>
          <a:blip r:embed="rId4"/>
          <a:stretch>
            <a:fillRect/>
          </a:stretch>
        </p:blipFill>
        <p:spPr>
          <a:xfrm>
            <a:off x="3691376" y="2947271"/>
            <a:ext cx="128699" cy="187198"/>
          </a:xfrm>
          <a:prstGeom prst="rect">
            <a:avLst/>
          </a:prstGeom>
        </p:spPr>
      </p:pic>
      <p:sp>
        <p:nvSpPr>
          <p:cNvPr id="109" name="TextBox 108"/>
          <p:cNvSpPr txBox="1"/>
          <p:nvPr/>
        </p:nvSpPr>
        <p:spPr>
          <a:xfrm>
            <a:off x="3858872" y="2957050"/>
            <a:ext cx="3215600" cy="186689"/>
          </a:xfrm>
          <a:prstGeom prst="rect">
            <a:avLst/>
          </a:prstGeom>
          <a:noFill/>
        </p:spPr>
        <p:txBody>
          <a:bodyPr wrap="none" lIns="0" rIns="0" tIns="0" bIns="0">
            <a:spAutoFit/>
          </a:bodyPr>
          <a:lstStyle/>
          <a:p>
            <a:r>
              <a:rPr sz="1100" b="0">
                <a:solidFill>
                  <a:srgbClr val="2E2E2E"/>
                </a:solidFill>
                <a:latin typeface="Calibri"/>
              </a:rPr>
              <a:t>and with 'Foodservice and institutional' growing fastest</a:t>
            </a:r>
          </a:p>
        </p:txBody>
      </p:sp>
      <p:sp>
        <p:nvSpPr>
          <p:cNvPr id="110" name="TextBox 109"/>
          <p:cNvSpPr txBox="1"/>
          <p:nvPr/>
        </p:nvSpPr>
        <p:spPr>
          <a:xfrm>
            <a:off x="209550" y="3124690"/>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11" name="Picture 110" descr="lock.png"/>
          <p:cNvPicPr>
            <a:picLocks noChangeAspect="1"/>
          </p:cNvPicPr>
          <p:nvPr/>
        </p:nvPicPr>
        <p:blipFill>
          <a:blip r:embed="rId4"/>
          <a:stretch>
            <a:fillRect/>
          </a:stretch>
        </p:blipFill>
        <p:spPr>
          <a:xfrm>
            <a:off x="347580" y="3114911"/>
            <a:ext cx="128699" cy="187198"/>
          </a:xfrm>
          <a:prstGeom prst="rect">
            <a:avLst/>
          </a:prstGeom>
        </p:spPr>
      </p:pic>
      <p:sp>
        <p:nvSpPr>
          <p:cNvPr id="112" name="TextBox 111"/>
          <p:cNvSpPr txBox="1"/>
          <p:nvPr/>
        </p:nvSpPr>
        <p:spPr>
          <a:xfrm>
            <a:off x="515076" y="3124690"/>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Savoury muffins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1847006" cy="186689"/>
          </a:xfrm>
          <a:prstGeom prst="rect">
            <a:avLst/>
          </a:prstGeom>
          <a:noFill/>
        </p:spPr>
        <p:txBody>
          <a:bodyPr wrap="none" lIns="0" rIns="0" tIns="0" bIns="0">
            <a:spAutoFit/>
          </a:bodyPr>
          <a:lstStyle/>
          <a:p>
            <a:r>
              <a:rPr sz="1100" b="0">
                <a:solidFill>
                  <a:srgbClr val="2E2E2E"/>
                </a:solidFill>
                <a:latin typeface="Calibri"/>
              </a:rPr>
              <a:t>'Savoury muffins' grows at only</a:t>
            </a:r>
          </a:p>
        </p:txBody>
      </p:sp>
      <p:pic>
        <p:nvPicPr>
          <p:cNvPr id="65" name="Picture 64" descr="lock.png"/>
          <p:cNvPicPr>
            <a:picLocks noChangeAspect="1"/>
          </p:cNvPicPr>
          <p:nvPr/>
        </p:nvPicPr>
        <p:blipFill>
          <a:blip r:embed="rId4"/>
          <a:stretch>
            <a:fillRect/>
          </a:stretch>
        </p:blipFill>
        <p:spPr>
          <a:xfrm>
            <a:off x="1985558" y="1827554"/>
            <a:ext cx="128699" cy="187198"/>
          </a:xfrm>
          <a:prstGeom prst="rect">
            <a:avLst/>
          </a:prstGeom>
        </p:spPr>
      </p:pic>
      <p:sp>
        <p:nvSpPr>
          <p:cNvPr id="66" name="TextBox 65"/>
          <p:cNvSpPr txBox="1"/>
          <p:nvPr/>
        </p:nvSpPr>
        <p:spPr>
          <a:xfrm>
            <a:off x="2153054" y="1837332"/>
            <a:ext cx="4655177" cy="186689"/>
          </a:xfrm>
          <a:prstGeom prst="rect">
            <a:avLst/>
          </a:prstGeom>
          <a:noFill/>
        </p:spPr>
        <p:txBody>
          <a:bodyPr wrap="none" lIns="0" rIns="0" tIns="0" bIns="0">
            <a:spAutoFit/>
          </a:bodyPr>
          <a:lstStyle/>
          <a:p>
            <a:r>
              <a:rPr sz="1100" b="0">
                <a:solidFill>
                  <a:srgbClr val="2E2E2E"/>
                </a:solidFill>
                <a:latin typeface="Calibri"/>
              </a:rPr>
              <a:t>CAGR against the market's 5.0%, a -52 BPS gap, and 'Savoury muffins' surrenders</a:t>
            </a:r>
          </a:p>
        </p:txBody>
      </p:sp>
      <p:pic>
        <p:nvPicPr>
          <p:cNvPr id="67" name="Picture 66" descr="lock.png"/>
          <p:cNvPicPr>
            <a:picLocks noChangeAspect="1"/>
          </p:cNvPicPr>
          <p:nvPr/>
        </p:nvPicPr>
        <p:blipFill>
          <a:blip r:embed="rId4"/>
          <a:stretch>
            <a:fillRect/>
          </a:stretch>
        </p:blipFill>
        <p:spPr>
          <a:xfrm>
            <a:off x="6756283" y="1827554"/>
            <a:ext cx="128699" cy="187198"/>
          </a:xfrm>
          <a:prstGeom prst="rect">
            <a:avLst/>
          </a:prstGeom>
        </p:spPr>
      </p:pic>
      <p:sp>
        <p:nvSpPr>
          <p:cNvPr id="68" name="TextBox 67"/>
          <p:cNvSpPr txBox="1"/>
          <p:nvPr/>
        </p:nvSpPr>
        <p:spPr>
          <a:xfrm>
            <a:off x="6923779" y="1837332"/>
            <a:ext cx="2396256" cy="186689"/>
          </a:xfrm>
          <a:prstGeom prst="rect">
            <a:avLst/>
          </a:prstGeom>
          <a:noFill/>
        </p:spPr>
        <p:txBody>
          <a:bodyPr wrap="none" lIns="0" rIns="0" tIns="0" bIns="0">
            <a:spAutoFit/>
          </a:bodyPr>
          <a:lstStyle/>
          <a:p>
            <a:r>
              <a:rPr sz="1100" b="0">
                <a:solidFill>
                  <a:srgbClr val="2E2E2E"/>
                </a:solidFill>
                <a:latin typeface="Calibri"/>
              </a:rPr>
              <a:t>BPS of product type share between 2026</a:t>
            </a:r>
          </a:p>
        </p:txBody>
      </p:sp>
      <p:sp>
        <p:nvSpPr>
          <p:cNvPr id="69" name="TextBox 68"/>
          <p:cNvSpPr txBox="1"/>
          <p:nvPr/>
        </p:nvSpPr>
        <p:spPr>
          <a:xfrm>
            <a:off x="190500" y="2004972"/>
            <a:ext cx="9298309" cy="186689"/>
          </a:xfrm>
          <a:prstGeom prst="rect">
            <a:avLst/>
          </a:prstGeom>
          <a:noFill/>
        </p:spPr>
        <p:txBody>
          <a:bodyPr wrap="none" lIns="0" rIns="0" tIns="0" bIns="0">
            <a:spAutoFit/>
          </a:bodyPr>
          <a:lstStyle/>
          <a:p>
            <a:r>
              <a:rPr sz="1100" b="0">
                <a:solidFill>
                  <a:srgbClr val="2E2E2E"/>
                </a:solidFill>
                <a:latin typeface="Calibri"/>
              </a:rPr>
              <a:t>and 2036. Because these lines still carry meaningful volume, the drag is absorbed by the whole category: blended growth sits below what the leading lines achieve</a:t>
            </a:r>
          </a:p>
        </p:txBody>
      </p:sp>
      <p:sp>
        <p:nvSpPr>
          <p:cNvPr id="70" name="TextBox 69"/>
          <p:cNvSpPr txBox="1"/>
          <p:nvPr/>
        </p:nvSpPr>
        <p:spPr>
          <a:xfrm>
            <a:off x="190500" y="2172613"/>
            <a:ext cx="8093943" cy="186689"/>
          </a:xfrm>
          <a:prstGeom prst="rect">
            <a:avLst/>
          </a:prstGeom>
          <a:noFill/>
        </p:spPr>
        <p:txBody>
          <a:bodyPr wrap="none" lIns="0" rIns="0" tIns="0" bIns="0">
            <a:spAutoFit/>
          </a:bodyPr>
          <a:lstStyle/>
          <a:p>
            <a:r>
              <a:rPr sz="1100" b="0">
                <a:solidFill>
                  <a:srgbClr val="2E2E2E"/>
                </a:solidFill>
                <a:latin typeface="Calibri"/>
              </a:rPr>
              <a:t>on their own. Rationalising or repositioning the lagging end of a 2-line portfolio is therefore a precondition for realising the headline forecast.</a:t>
            </a:r>
          </a:p>
        </p:txBody>
      </p:sp>
      <p:sp>
        <p:nvSpPr>
          <p:cNvPr id="71" name="TextBox 70"/>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2" name="Picture 71" descr="lock.png"/>
          <p:cNvPicPr>
            <a:picLocks noChangeAspect="1"/>
          </p:cNvPicPr>
          <p:nvPr/>
        </p:nvPicPr>
        <p:blipFill>
          <a:blip r:embed="rId4"/>
          <a:stretch>
            <a:fillRect/>
          </a:stretch>
        </p:blipFill>
        <p:spPr>
          <a:xfrm>
            <a:off x="1870142" y="3488640"/>
            <a:ext cx="128699" cy="187198"/>
          </a:xfrm>
          <a:prstGeom prst="rect">
            <a:avLst/>
          </a:prstGeom>
        </p:spPr>
      </p:pic>
      <p:sp>
        <p:nvSpPr>
          <p:cNvPr id="73" name="TextBox 72"/>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4" name="Picture 73" descr="lock.png"/>
          <p:cNvPicPr>
            <a:picLocks noChangeAspect="1"/>
          </p:cNvPicPr>
          <p:nvPr/>
        </p:nvPicPr>
        <p:blipFill>
          <a:blip r:embed="rId4"/>
          <a:stretch>
            <a:fillRect/>
          </a:stretch>
        </p:blipFill>
        <p:spPr>
          <a:xfrm>
            <a:off x="2455597" y="3488640"/>
            <a:ext cx="128699" cy="187198"/>
          </a:xfrm>
          <a:prstGeom prst="rect">
            <a:avLst/>
          </a:prstGeom>
        </p:spPr>
      </p:pic>
      <p:sp>
        <p:nvSpPr>
          <p:cNvPr id="75" name="TextBox 74"/>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76" name="TextBox 75"/>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77" name="Picture 76" descr="lock.png"/>
          <p:cNvPicPr>
            <a:picLocks noChangeAspect="1"/>
          </p:cNvPicPr>
          <p:nvPr/>
        </p:nvPicPr>
        <p:blipFill>
          <a:blip r:embed="rId4"/>
          <a:stretch>
            <a:fillRect/>
          </a:stretch>
        </p:blipFill>
        <p:spPr>
          <a:xfrm>
            <a:off x="8756642" y="3656280"/>
            <a:ext cx="128699" cy="187198"/>
          </a:xfrm>
          <a:prstGeom prst="rect">
            <a:avLst/>
          </a:prstGeom>
        </p:spPr>
      </p:pic>
      <p:sp>
        <p:nvSpPr>
          <p:cNvPr id="78" name="TextBox 77"/>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79" name="TextBox 78"/>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0" name="TextBox 79"/>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1" name="Picture 80" descr="lock.png"/>
          <p:cNvPicPr>
            <a:picLocks noChangeAspect="1"/>
          </p:cNvPicPr>
          <p:nvPr/>
        </p:nvPicPr>
        <p:blipFill>
          <a:blip r:embed="rId4"/>
          <a:stretch>
            <a:fillRect/>
          </a:stretch>
        </p:blipFill>
        <p:spPr>
          <a:xfrm>
            <a:off x="3476146" y="5240995"/>
            <a:ext cx="128699" cy="187198"/>
          </a:xfrm>
          <a:prstGeom prst="rect">
            <a:avLst/>
          </a:prstGeom>
        </p:spPr>
      </p:pic>
      <p:sp>
        <p:nvSpPr>
          <p:cNvPr id="82" name="TextBox 81"/>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3" name="Picture 82" descr="lock.png"/>
          <p:cNvPicPr>
            <a:picLocks noChangeAspect="1"/>
          </p:cNvPicPr>
          <p:nvPr/>
        </p:nvPicPr>
        <p:blipFill>
          <a:blip r:embed="rId4"/>
          <a:stretch>
            <a:fillRect/>
          </a:stretch>
        </p:blipFill>
        <p:spPr>
          <a:xfrm>
            <a:off x="6549206" y="5240995"/>
            <a:ext cx="128699" cy="187198"/>
          </a:xfrm>
          <a:prstGeom prst="rect">
            <a:avLst/>
          </a:prstGeom>
        </p:spPr>
      </p:pic>
      <p:sp>
        <p:nvSpPr>
          <p:cNvPr id="84" name="TextBox 83"/>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5" name="Picture 84" descr="lock.png"/>
          <p:cNvPicPr>
            <a:picLocks noChangeAspect="1"/>
          </p:cNvPicPr>
          <p:nvPr/>
        </p:nvPicPr>
        <p:blipFill>
          <a:blip r:embed="rId4"/>
          <a:stretch>
            <a:fillRect/>
          </a:stretch>
        </p:blipFill>
        <p:spPr>
          <a:xfrm>
            <a:off x="177032" y="5408635"/>
            <a:ext cx="128699" cy="187198"/>
          </a:xfrm>
          <a:prstGeom prst="rect">
            <a:avLst/>
          </a:prstGeom>
        </p:spPr>
      </p:pic>
      <p:sp>
        <p:nvSpPr>
          <p:cNvPr id="86" name="TextBox 85"/>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87" name="TextBox 86"/>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Rest of LATAM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Foodservice and institutional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815458" cy="186689"/>
          </a:xfrm>
          <a:prstGeom prst="rect">
            <a:avLst/>
          </a:prstGeom>
          <a:noFill/>
        </p:spPr>
        <p:txBody>
          <a:bodyPr wrap="none" lIns="0" rIns="0" tIns="0" bIns="0">
            <a:spAutoFit/>
          </a:bodyPr>
          <a:lstStyle/>
          <a:p>
            <a:r>
              <a:rPr sz="1100" b="0">
                <a:solidFill>
                  <a:srgbClr val="2E2E2E"/>
                </a:solidFill>
                <a:latin typeface="Calibri"/>
              </a:rPr>
              <a:t>'Rest of LATAM' compounds at</a:t>
            </a:r>
          </a:p>
        </p:txBody>
      </p:sp>
      <p:pic>
        <p:nvPicPr>
          <p:cNvPr id="74" name="Picture 73" descr="lock.png"/>
          <p:cNvPicPr>
            <a:picLocks noChangeAspect="1"/>
          </p:cNvPicPr>
          <p:nvPr/>
        </p:nvPicPr>
        <p:blipFill>
          <a:blip r:embed="rId4"/>
          <a:stretch>
            <a:fillRect/>
          </a:stretch>
        </p:blipFill>
        <p:spPr>
          <a:xfrm>
            <a:off x="1954009" y="3488640"/>
            <a:ext cx="128699" cy="187198"/>
          </a:xfrm>
          <a:prstGeom prst="rect">
            <a:avLst/>
          </a:prstGeom>
        </p:spPr>
      </p:pic>
      <p:sp>
        <p:nvSpPr>
          <p:cNvPr id="75" name="TextBox 74"/>
          <p:cNvSpPr txBox="1"/>
          <p:nvPr/>
        </p:nvSpPr>
        <p:spPr>
          <a:xfrm>
            <a:off x="2121505"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8 geographies in the dataset combining above-median growth with below-median size.</a:t>
            </a:r>
          </a:p>
        </p:txBody>
      </p:sp>
      <p:sp>
        <p:nvSpPr>
          <p:cNvPr id="76" name="TextBox 75"/>
          <p:cNvSpPr txBox="1"/>
          <p:nvPr/>
        </p:nvSpPr>
        <p:spPr>
          <a:xfrm>
            <a:off x="190500" y="3666059"/>
            <a:ext cx="7425456"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 30.2%-share leaders, while growth runs +</a:t>
            </a:r>
          </a:p>
        </p:txBody>
      </p:sp>
      <p:pic>
        <p:nvPicPr>
          <p:cNvPr id="77" name="Picture 76" descr="lock.png"/>
          <p:cNvPicPr>
            <a:picLocks noChangeAspect="1"/>
          </p:cNvPicPr>
          <p:nvPr/>
        </p:nvPicPr>
        <p:blipFill>
          <a:blip r:embed="rId4"/>
          <a:stretch>
            <a:fillRect/>
          </a:stretch>
        </p:blipFill>
        <p:spPr>
          <a:xfrm>
            <a:off x="7564008" y="3656280"/>
            <a:ext cx="128699" cy="187198"/>
          </a:xfrm>
          <a:prstGeom prst="rect">
            <a:avLst/>
          </a:prstGeom>
        </p:spPr>
      </p:pic>
      <p:sp>
        <p:nvSpPr>
          <p:cNvPr id="78" name="TextBox 77"/>
          <p:cNvSpPr txBox="1"/>
          <p:nvPr/>
        </p:nvSpPr>
        <p:spPr>
          <a:xfrm>
            <a:off x="7731504"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79" name="TextBox 78"/>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0" name="TextBox 79"/>
          <p:cNvSpPr txBox="1"/>
          <p:nvPr/>
        </p:nvSpPr>
        <p:spPr>
          <a:xfrm>
            <a:off x="190500" y="5250774"/>
            <a:ext cx="2301274" cy="186689"/>
          </a:xfrm>
          <a:prstGeom prst="rect">
            <a:avLst/>
          </a:prstGeom>
          <a:noFill/>
        </p:spPr>
        <p:txBody>
          <a:bodyPr wrap="none" lIns="0" rIns="0" tIns="0" bIns="0">
            <a:spAutoFit/>
          </a:bodyPr>
          <a:lstStyle/>
          <a:p>
            <a:r>
              <a:rPr sz="1100" b="0">
                <a:solidFill>
                  <a:srgbClr val="2E2E2E"/>
                </a:solidFill>
                <a:latin typeface="Calibri"/>
              </a:rPr>
              <a:t>'Foodservice and institutional' grows at</a:t>
            </a:r>
          </a:p>
        </p:txBody>
      </p:sp>
      <p:pic>
        <p:nvPicPr>
          <p:cNvPr id="81" name="Picture 80" descr="lock.png"/>
          <p:cNvPicPr>
            <a:picLocks noChangeAspect="1"/>
          </p:cNvPicPr>
          <p:nvPr/>
        </p:nvPicPr>
        <p:blipFill>
          <a:blip r:embed="rId4"/>
          <a:stretch>
            <a:fillRect/>
          </a:stretch>
        </p:blipFill>
        <p:spPr>
          <a:xfrm>
            <a:off x="2439826" y="5240995"/>
            <a:ext cx="128699" cy="187198"/>
          </a:xfrm>
          <a:prstGeom prst="rect">
            <a:avLst/>
          </a:prstGeom>
        </p:spPr>
      </p:pic>
      <p:sp>
        <p:nvSpPr>
          <p:cNvPr id="82" name="TextBox 81"/>
          <p:cNvSpPr txBox="1"/>
          <p:nvPr/>
        </p:nvSpPr>
        <p:spPr>
          <a:xfrm>
            <a:off x="2607322" y="5250774"/>
            <a:ext cx="3083825" cy="186689"/>
          </a:xfrm>
          <a:prstGeom prst="rect">
            <a:avLst/>
          </a:prstGeom>
          <a:noFill/>
        </p:spPr>
        <p:txBody>
          <a:bodyPr wrap="none" lIns="0" rIns="0" tIns="0" bIns="0">
            <a:spAutoFit/>
          </a:bodyPr>
          <a:lstStyle/>
          <a:p>
            <a:r>
              <a:rPr sz="1100" b="0">
                <a:solidFill>
                  <a:srgbClr val="2E2E2E"/>
                </a:solidFill>
                <a:latin typeface="Calibri"/>
              </a:rPr>
              <a:t>CAGR, the fastest of 3 sales channel routes, and adds</a:t>
            </a:r>
          </a:p>
        </p:txBody>
      </p:sp>
      <p:pic>
        <p:nvPicPr>
          <p:cNvPr id="83" name="Picture 82" descr="lock.png"/>
          <p:cNvPicPr>
            <a:picLocks noChangeAspect="1"/>
          </p:cNvPicPr>
          <p:nvPr/>
        </p:nvPicPr>
        <p:blipFill>
          <a:blip r:embed="rId4"/>
          <a:stretch>
            <a:fillRect/>
          </a:stretch>
        </p:blipFill>
        <p:spPr>
          <a:xfrm>
            <a:off x="5639199" y="5240995"/>
            <a:ext cx="128699" cy="187198"/>
          </a:xfrm>
          <a:prstGeom prst="rect">
            <a:avLst/>
          </a:prstGeom>
        </p:spPr>
      </p:pic>
      <p:sp>
        <p:nvSpPr>
          <p:cNvPr id="84" name="TextBox 83"/>
          <p:cNvSpPr txBox="1"/>
          <p:nvPr/>
        </p:nvSpPr>
        <p:spPr>
          <a:xfrm>
            <a:off x="5806695" y="5250774"/>
            <a:ext cx="3327772" cy="186689"/>
          </a:xfrm>
          <a:prstGeom prst="rect">
            <a:avLst/>
          </a:prstGeom>
          <a:noFill/>
        </p:spPr>
        <p:txBody>
          <a:bodyPr wrap="none" lIns="0" rIns="0" tIns="0" bIns="0">
            <a:spAutoFit/>
          </a:bodyPr>
          <a:lstStyle/>
          <a:p>
            <a:r>
              <a:rPr sz="1100" b="0">
                <a:solidFill>
                  <a:srgbClr val="2E2E2E"/>
                </a:solidFill>
                <a:latin typeface="Calibri"/>
              </a:rPr>
              <a:t>US$ Mn over the forecast period while 'Retail' still carries</a:t>
            </a:r>
          </a:p>
        </p:txBody>
      </p:sp>
      <p:pic>
        <p:nvPicPr>
          <p:cNvPr id="85" name="Picture 84" descr="lock.png"/>
          <p:cNvPicPr>
            <a:picLocks noChangeAspect="1"/>
          </p:cNvPicPr>
          <p:nvPr/>
        </p:nvPicPr>
        <p:blipFill>
          <a:blip r:embed="rId4"/>
          <a:stretch>
            <a:fillRect/>
          </a:stretch>
        </p:blipFill>
        <p:spPr>
          <a:xfrm>
            <a:off x="9082518" y="5240995"/>
            <a:ext cx="128699" cy="187198"/>
          </a:xfrm>
          <a:prstGeom prst="rect">
            <a:avLst/>
          </a:prstGeom>
        </p:spPr>
      </p:pic>
      <p:sp>
        <p:nvSpPr>
          <p:cNvPr id="86" name="TextBox 85"/>
          <p:cNvSpPr txBox="1"/>
          <p:nvPr/>
        </p:nvSpPr>
        <p:spPr>
          <a:xfrm>
            <a:off x="190500" y="5418414"/>
            <a:ext cx="7293942"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'Sweet muffins' at</a:t>
            </a:r>
          </a:p>
        </p:txBody>
      </p:sp>
      <p:pic>
        <p:nvPicPr>
          <p:cNvPr id="87" name="Picture 86" descr="lock.png"/>
          <p:cNvPicPr>
            <a:picLocks noChangeAspect="1"/>
          </p:cNvPicPr>
          <p:nvPr/>
        </p:nvPicPr>
        <p:blipFill>
          <a:blip r:embed="rId4"/>
          <a:stretch>
            <a:fillRect/>
          </a:stretch>
        </p:blipFill>
        <p:spPr>
          <a:xfrm>
            <a:off x="7432493" y="5408635"/>
            <a:ext cx="128699" cy="187198"/>
          </a:xfrm>
          <a:prstGeom prst="rect">
            <a:avLst/>
          </a:prstGeom>
        </p:spPr>
      </p:pic>
      <p:sp>
        <p:nvSpPr>
          <p:cNvPr id="88" name="TextBox 87"/>
          <p:cNvSpPr txBox="1"/>
          <p:nvPr/>
        </p:nvSpPr>
        <p:spPr>
          <a:xfrm>
            <a:off x="7599989" y="5418414"/>
            <a:ext cx="1893664" cy="186689"/>
          </a:xfrm>
          <a:prstGeom prst="rect">
            <a:avLst/>
          </a:prstGeom>
          <a:noFill/>
        </p:spPr>
        <p:txBody>
          <a:bodyPr wrap="none" lIns="0" rIns="0" tIns="0" bIns="0">
            <a:spAutoFit/>
          </a:bodyPr>
          <a:lstStyle/>
          <a:p>
            <a:r>
              <a:rPr sz="1100" b="0">
                <a:solidFill>
                  <a:srgbClr val="2E2E2E"/>
                </a:solidFill>
                <a:latin typeface="Calibri"/>
              </a:rPr>
              <a:t>is the highest-yield combination</a:t>
            </a:r>
          </a:p>
        </p:txBody>
      </p:sp>
      <p:sp>
        <p:nvSpPr>
          <p:cNvPr id="89" name="TextBox 88"/>
          <p:cNvSpPr txBox="1"/>
          <p:nvPr/>
        </p:nvSpPr>
        <p:spPr>
          <a:xfrm>
            <a:off x="190500" y="5586054"/>
            <a:ext cx="1288479" cy="186689"/>
          </a:xfrm>
          <a:prstGeom prst="rect">
            <a:avLst/>
          </a:prstGeom>
          <a:noFill/>
        </p:spPr>
        <p:txBody>
          <a:bodyPr wrap="none" lIns="0" rIns="0" tIns="0" bIns="0">
            <a:spAutoFit/>
          </a:bodyPr>
          <a:lstStyle/>
          <a:p>
            <a:r>
              <a:rPr sz="1100" b="0">
                <a:solidFill>
                  <a:srgbClr val="2E2E2E"/>
                </a:solidFill>
                <a:latin typeface="Calibri"/>
              </a:rPr>
              <a:t>the dataset supports.</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Packaged Muffins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4157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367162"/>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367162"/>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367162"/>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691164"/>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3416749"/>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416749"/>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2035</a:t>
            </a:r>
          </a:p>
        </p:txBody>
      </p:sp>
      <p:cxnSp>
        <p:nvCxnSpPr>
          <p:cNvPr id="24" name="Connector 23"/>
          <p:cNvCxnSpPr/>
          <p:nvPr/>
        </p:nvCxnSpPr>
        <p:spPr>
          <a:xfrm>
            <a:off x="1571625" y="3416749"/>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740753"/>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4466337"/>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466337"/>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466337"/>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790339"/>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Rectangle 29"/>
          <p:cNvSpPr/>
          <p:nvPr/>
        </p:nvSpPr>
        <p:spPr>
          <a:xfrm>
            <a:off x="142875" y="551592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1592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1592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3992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5" name="TextBox 34"/>
          <p:cNvSpPr txBox="1"/>
          <p:nvPr/>
        </p:nvSpPr>
        <p:spPr>
          <a:xfrm>
            <a:off x="1743075" y="1681434"/>
            <a:ext cx="3378969" cy="179984"/>
          </a:xfrm>
          <a:prstGeom prst="rect">
            <a:avLst/>
          </a:prstGeom>
          <a:noFill/>
        </p:spPr>
        <p:txBody>
          <a:bodyPr wrap="none" lIns="0" rIns="0" tIns="0" bIns="0">
            <a:spAutoFit/>
          </a:bodyPr>
          <a:lstStyle/>
          <a:p>
            <a:r>
              <a:rPr sz="1055" b="0">
                <a:solidFill>
                  <a:srgbClr val="2E2E2E"/>
                </a:solidFill>
                <a:latin typeface="Calibri"/>
              </a:rPr>
              <a:t>Strongest historical expansion on record: Global value rose +</a:t>
            </a:r>
          </a:p>
        </p:txBody>
      </p:sp>
      <p:pic>
        <p:nvPicPr>
          <p:cNvPr id="36" name="Picture 35" descr="lock.png"/>
          <p:cNvPicPr>
            <a:picLocks noChangeAspect="1"/>
          </p:cNvPicPr>
          <p:nvPr/>
        </p:nvPicPr>
        <p:blipFill>
          <a:blip r:embed="rId4"/>
          <a:stretch>
            <a:fillRect/>
          </a:stretch>
        </p:blipFill>
        <p:spPr>
          <a:xfrm>
            <a:off x="5069126" y="1672046"/>
            <a:ext cx="123551" cy="179710"/>
          </a:xfrm>
          <a:prstGeom prst="rect">
            <a:avLst/>
          </a:prstGeom>
        </p:spPr>
      </p:pic>
      <p:sp>
        <p:nvSpPr>
          <p:cNvPr id="37" name="TextBox 36"/>
          <p:cNvSpPr txBox="1"/>
          <p:nvPr/>
        </p:nvSpPr>
        <p:spPr>
          <a:xfrm>
            <a:off x="5229922" y="1681434"/>
            <a:ext cx="901565" cy="179984"/>
          </a:xfrm>
          <a:prstGeom prst="rect">
            <a:avLst/>
          </a:prstGeom>
          <a:noFill/>
        </p:spPr>
        <p:txBody>
          <a:bodyPr wrap="none" lIns="0" rIns="0" tIns="0" bIns="0">
            <a:spAutoFit/>
          </a:bodyPr>
          <a:lstStyle/>
          <a:p>
            <a:r>
              <a:rPr sz="1055" b="0">
                <a:solidFill>
                  <a:srgbClr val="2E2E2E"/>
                </a:solidFill>
                <a:latin typeface="Calibri"/>
              </a:rPr>
              <a:t>year on year to</a:t>
            </a:r>
          </a:p>
        </p:txBody>
      </p:sp>
      <p:pic>
        <p:nvPicPr>
          <p:cNvPr id="38" name="Picture 37" descr="lock.png"/>
          <p:cNvPicPr>
            <a:picLocks noChangeAspect="1"/>
          </p:cNvPicPr>
          <p:nvPr/>
        </p:nvPicPr>
        <p:blipFill>
          <a:blip r:embed="rId4"/>
          <a:stretch>
            <a:fillRect/>
          </a:stretch>
        </p:blipFill>
        <p:spPr>
          <a:xfrm>
            <a:off x="6078569" y="1672046"/>
            <a:ext cx="123551" cy="179710"/>
          </a:xfrm>
          <a:prstGeom prst="rect">
            <a:avLst/>
          </a:prstGeom>
        </p:spPr>
      </p:pic>
      <p:sp>
        <p:nvSpPr>
          <p:cNvPr id="39" name="TextBox 38"/>
          <p:cNvSpPr txBox="1"/>
          <p:nvPr/>
        </p:nvSpPr>
        <p:spPr>
          <a:xfrm>
            <a:off x="6239365" y="1681434"/>
            <a:ext cx="5177170" cy="179984"/>
          </a:xfrm>
          <a:prstGeom prst="rect">
            <a:avLst/>
          </a:prstGeom>
          <a:noFill/>
        </p:spPr>
        <p:txBody>
          <a:bodyPr wrap="none" lIns="0" rIns="0" tIns="0" bIns="0">
            <a:spAutoFit/>
          </a:bodyPr>
          <a:lstStyle/>
          <a:p>
            <a:r>
              <a:rPr sz="1055" b="0">
                <a:solidFill>
                  <a:srgbClr val="2E2E2E"/>
                </a:solidFill>
                <a:latin typeface="Calibri"/>
              </a:rPr>
              <a:t>US$ Mn, the steepest single-year move of the 2021–2025 period. Demand for 'Sweet muffins'</a:t>
            </a:r>
          </a:p>
        </p:txBody>
      </p:sp>
      <p:pic>
        <p:nvPicPr>
          <p:cNvPr id="40" name="Picture 39" descr="lock.png"/>
          <p:cNvPicPr>
            <a:picLocks noChangeAspect="1"/>
          </p:cNvPicPr>
          <p:nvPr/>
        </p:nvPicPr>
        <p:blipFill>
          <a:blip r:embed="rId4"/>
          <a:stretch>
            <a:fillRect/>
          </a:stretch>
        </p:blipFill>
        <p:spPr>
          <a:xfrm>
            <a:off x="11363617" y="1672046"/>
            <a:ext cx="123551" cy="179710"/>
          </a:xfrm>
          <a:prstGeom prst="rect">
            <a:avLst/>
          </a:prstGeom>
        </p:spPr>
      </p:pic>
      <p:sp>
        <p:nvSpPr>
          <p:cNvPr id="41" name="TextBox 40"/>
          <p:cNvSpPr txBox="1"/>
          <p:nvPr/>
        </p:nvSpPr>
        <p:spPr>
          <a:xfrm>
            <a:off x="1743075" y="1842368"/>
            <a:ext cx="6839164" cy="179984"/>
          </a:xfrm>
          <a:prstGeom prst="rect">
            <a:avLst/>
          </a:prstGeom>
          <a:noFill/>
        </p:spPr>
        <p:txBody>
          <a:bodyPr wrap="none" lIns="0" rIns="0" tIns="0" bIns="0">
            <a:spAutoFit/>
          </a:bodyPr>
          <a:lstStyle/>
          <a:p>
            <a:r>
              <a:rPr sz="1055" b="0">
                <a:solidFill>
                  <a:srgbClr val="2E2E2E"/>
                </a:solidFill>
                <a:latin typeface="Calibri"/>
              </a:rPr>
              <a:t>of product type value by 2036 set the pace, and the 3 sales channel routes tracked here all carried volume through the year.</a:t>
            </a:r>
          </a:p>
        </p:txBody>
      </p:sp>
      <p:sp>
        <p:nvSpPr>
          <p:cNvPr id="42" name="TextBox 41"/>
          <p:cNvSpPr txBox="1"/>
          <p:nvPr/>
        </p:nvSpPr>
        <p:spPr>
          <a:xfrm>
            <a:off x="1743075" y="2731020"/>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3" name="Picture 42" descr="lock.png"/>
          <p:cNvPicPr>
            <a:picLocks noChangeAspect="1"/>
          </p:cNvPicPr>
          <p:nvPr/>
        </p:nvPicPr>
        <p:blipFill>
          <a:blip r:embed="rId4"/>
          <a:stretch>
            <a:fillRect/>
          </a:stretch>
        </p:blipFill>
        <p:spPr>
          <a:xfrm>
            <a:off x="5030621" y="2721632"/>
            <a:ext cx="123551" cy="179710"/>
          </a:xfrm>
          <a:prstGeom prst="rect">
            <a:avLst/>
          </a:prstGeom>
        </p:spPr>
      </p:pic>
      <p:sp>
        <p:nvSpPr>
          <p:cNvPr id="44" name="TextBox 43"/>
          <p:cNvSpPr txBox="1"/>
          <p:nvPr/>
        </p:nvSpPr>
        <p:spPr>
          <a:xfrm>
            <a:off x="5191417" y="2731020"/>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5" name="Picture 44" descr="lock.png"/>
          <p:cNvPicPr>
            <a:picLocks noChangeAspect="1"/>
          </p:cNvPicPr>
          <p:nvPr/>
        </p:nvPicPr>
        <p:blipFill>
          <a:blip r:embed="rId4"/>
          <a:stretch>
            <a:fillRect/>
          </a:stretch>
        </p:blipFill>
        <p:spPr>
          <a:xfrm>
            <a:off x="6964179" y="2721632"/>
            <a:ext cx="123551" cy="179710"/>
          </a:xfrm>
          <a:prstGeom prst="rect">
            <a:avLst/>
          </a:prstGeom>
        </p:spPr>
      </p:pic>
      <p:sp>
        <p:nvSpPr>
          <p:cNvPr id="46" name="TextBox 45"/>
          <p:cNvSpPr txBox="1"/>
          <p:nvPr/>
        </p:nvSpPr>
        <p:spPr>
          <a:xfrm>
            <a:off x="7124975" y="2731020"/>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7" name="Picture 46" descr="lock.png"/>
          <p:cNvPicPr>
            <a:picLocks noChangeAspect="1"/>
          </p:cNvPicPr>
          <p:nvPr/>
        </p:nvPicPr>
        <p:blipFill>
          <a:blip r:embed="rId4"/>
          <a:stretch>
            <a:fillRect/>
          </a:stretch>
        </p:blipFill>
        <p:spPr>
          <a:xfrm>
            <a:off x="9382846" y="2721632"/>
            <a:ext cx="123551" cy="179710"/>
          </a:xfrm>
          <a:prstGeom prst="rect">
            <a:avLst/>
          </a:prstGeom>
        </p:spPr>
      </p:pic>
      <p:sp>
        <p:nvSpPr>
          <p:cNvPr id="48" name="TextBox 47"/>
          <p:cNvSpPr txBox="1"/>
          <p:nvPr/>
        </p:nvSpPr>
        <p:spPr>
          <a:xfrm>
            <a:off x="9543642" y="2731020"/>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9" name="TextBox 48"/>
          <p:cNvSpPr txBox="1"/>
          <p:nvPr/>
        </p:nvSpPr>
        <p:spPr>
          <a:xfrm>
            <a:off x="1743075" y="2891954"/>
            <a:ext cx="4221622" cy="179984"/>
          </a:xfrm>
          <a:prstGeom prst="rect">
            <a:avLst/>
          </a:prstGeom>
          <a:noFill/>
        </p:spPr>
        <p:txBody>
          <a:bodyPr wrap="none" lIns="0" rIns="0" tIns="0" bIns="0">
            <a:spAutoFit/>
          </a:bodyPr>
          <a:lstStyle/>
          <a:p>
            <a:r>
              <a:rPr sz="1055" b="0">
                <a:solidFill>
                  <a:srgbClr val="2E2E2E"/>
                </a:solidFill>
                <a:latin typeface="Calibri"/>
              </a:rPr>
              <a:t>forecast is built from 21 segment breakdowns covering 2 product type lines.</a:t>
            </a:r>
          </a:p>
        </p:txBody>
      </p:sp>
      <p:sp>
        <p:nvSpPr>
          <p:cNvPr id="50" name="TextBox 49"/>
          <p:cNvSpPr txBox="1"/>
          <p:nvPr/>
        </p:nvSpPr>
        <p:spPr>
          <a:xfrm>
            <a:off x="1743075" y="3780609"/>
            <a:ext cx="1089374" cy="179984"/>
          </a:xfrm>
          <a:prstGeom prst="rect">
            <a:avLst/>
          </a:prstGeom>
          <a:noFill/>
        </p:spPr>
        <p:txBody>
          <a:bodyPr wrap="none" lIns="0" rIns="0" tIns="0" bIns="0">
            <a:spAutoFit/>
          </a:bodyPr>
          <a:lstStyle/>
          <a:p>
            <a:r>
              <a:rPr sz="1055" b="0">
                <a:solidFill>
                  <a:srgbClr val="2E2E2E"/>
                </a:solidFill>
                <a:latin typeface="Calibri"/>
              </a:rPr>
              <a:t>The market passes</a:t>
            </a:r>
          </a:p>
        </p:txBody>
      </p:sp>
      <p:pic>
        <p:nvPicPr>
          <p:cNvPr id="51" name="Picture 50" descr="lock.png"/>
          <p:cNvPicPr>
            <a:picLocks noChangeAspect="1"/>
          </p:cNvPicPr>
          <p:nvPr/>
        </p:nvPicPr>
        <p:blipFill>
          <a:blip r:embed="rId4"/>
          <a:stretch>
            <a:fillRect/>
          </a:stretch>
        </p:blipFill>
        <p:spPr>
          <a:xfrm>
            <a:off x="2779530" y="3771221"/>
            <a:ext cx="123551" cy="179710"/>
          </a:xfrm>
          <a:prstGeom prst="rect">
            <a:avLst/>
          </a:prstGeom>
        </p:spPr>
      </p:pic>
      <p:sp>
        <p:nvSpPr>
          <p:cNvPr id="52" name="TextBox 51"/>
          <p:cNvSpPr txBox="1"/>
          <p:nvPr/>
        </p:nvSpPr>
        <p:spPr>
          <a:xfrm>
            <a:off x="2940326" y="3780609"/>
            <a:ext cx="2945201" cy="179984"/>
          </a:xfrm>
          <a:prstGeom prst="rect">
            <a:avLst/>
          </a:prstGeom>
          <a:noFill/>
        </p:spPr>
        <p:txBody>
          <a:bodyPr wrap="none" lIns="0" rIns="0" tIns="0" bIns="0">
            <a:spAutoFit/>
          </a:bodyPr>
          <a:lstStyle/>
          <a:p>
            <a:r>
              <a:rPr sz="1055" b="0">
                <a:solidFill>
                  <a:srgbClr val="2E2E2E"/>
                </a:solidFill>
                <a:latin typeface="Calibri"/>
              </a:rPr>
              <a:t>US$ Mn one and a half times the 2026 base reaching</a:t>
            </a:r>
          </a:p>
        </p:txBody>
      </p:sp>
      <p:pic>
        <p:nvPicPr>
          <p:cNvPr id="53" name="Picture 52" descr="lock.png"/>
          <p:cNvPicPr>
            <a:picLocks noChangeAspect="1"/>
          </p:cNvPicPr>
          <p:nvPr/>
        </p:nvPicPr>
        <p:blipFill>
          <a:blip r:embed="rId4"/>
          <a:stretch>
            <a:fillRect/>
          </a:stretch>
        </p:blipFill>
        <p:spPr>
          <a:xfrm>
            <a:off x="5832609" y="3771221"/>
            <a:ext cx="123551" cy="179710"/>
          </a:xfrm>
          <a:prstGeom prst="rect">
            <a:avLst/>
          </a:prstGeom>
        </p:spPr>
      </p:pic>
      <p:sp>
        <p:nvSpPr>
          <p:cNvPr id="54" name="TextBox 53"/>
          <p:cNvSpPr txBox="1"/>
          <p:nvPr/>
        </p:nvSpPr>
        <p:spPr>
          <a:xfrm>
            <a:off x="5993405" y="3780609"/>
            <a:ext cx="3176754" cy="179984"/>
          </a:xfrm>
          <a:prstGeom prst="rect">
            <a:avLst/>
          </a:prstGeom>
          <a:noFill/>
        </p:spPr>
        <p:txBody>
          <a:bodyPr wrap="none" lIns="0" rIns="0" tIns="0" bIns="0">
            <a:spAutoFit/>
          </a:bodyPr>
          <a:lstStyle/>
          <a:p>
            <a:r>
              <a:rPr sz="1055" b="0">
                <a:solidFill>
                  <a:srgbClr val="2E2E2E"/>
                </a:solidFill>
                <a:latin typeface="Calibri"/>
              </a:rPr>
              <a:t>US$ Mn. Growth by this point is led by 'Sweet muffins' at</a:t>
            </a:r>
          </a:p>
        </p:txBody>
      </p:sp>
      <p:pic>
        <p:nvPicPr>
          <p:cNvPr id="55" name="Picture 54" descr="lock.png"/>
          <p:cNvPicPr>
            <a:picLocks noChangeAspect="1"/>
          </p:cNvPicPr>
          <p:nvPr/>
        </p:nvPicPr>
        <p:blipFill>
          <a:blip r:embed="rId4"/>
          <a:stretch>
            <a:fillRect/>
          </a:stretch>
        </p:blipFill>
        <p:spPr>
          <a:xfrm>
            <a:off x="9117241" y="3771221"/>
            <a:ext cx="123551" cy="179710"/>
          </a:xfrm>
          <a:prstGeom prst="rect">
            <a:avLst/>
          </a:prstGeom>
        </p:spPr>
      </p:pic>
      <p:sp>
        <p:nvSpPr>
          <p:cNvPr id="56" name="TextBox 55"/>
          <p:cNvSpPr txBox="1"/>
          <p:nvPr/>
        </p:nvSpPr>
        <p:spPr>
          <a:xfrm>
            <a:off x="9278037" y="3780609"/>
            <a:ext cx="2351110" cy="179984"/>
          </a:xfrm>
          <a:prstGeom prst="rect">
            <a:avLst/>
          </a:prstGeom>
          <a:noFill/>
        </p:spPr>
        <p:txBody>
          <a:bodyPr wrap="none" lIns="0" rIns="0" tIns="0" bIns="0">
            <a:spAutoFit/>
          </a:bodyPr>
          <a:lstStyle/>
          <a:p>
            <a:r>
              <a:rPr sz="1055" b="0">
                <a:solidFill>
                  <a:srgbClr val="2E2E2E"/>
                </a:solidFill>
                <a:latin typeface="Calibri"/>
              </a:rPr>
              <a:t>CAGR and by 'South Asia &amp; Pacific' among</a:t>
            </a:r>
          </a:p>
        </p:txBody>
      </p:sp>
      <p:sp>
        <p:nvSpPr>
          <p:cNvPr id="57" name="TextBox 56"/>
          <p:cNvSpPr txBox="1"/>
          <p:nvPr/>
        </p:nvSpPr>
        <p:spPr>
          <a:xfrm>
            <a:off x="1743075" y="3941543"/>
            <a:ext cx="617100" cy="179984"/>
          </a:xfrm>
          <a:prstGeom prst="rect">
            <a:avLst/>
          </a:prstGeom>
          <a:noFill/>
        </p:spPr>
        <p:txBody>
          <a:bodyPr wrap="none" lIns="0" rIns="0" tIns="0" bIns="0">
            <a:spAutoFit/>
          </a:bodyPr>
          <a:lstStyle/>
          <a:p>
            <a:r>
              <a:rPr sz="1055" b="0">
                <a:solidFill>
                  <a:srgbClr val="2E2E2E"/>
                </a:solidFill>
                <a:latin typeface="Calibri"/>
              </a:rPr>
              <a:t>regions at</a:t>
            </a:r>
          </a:p>
        </p:txBody>
      </p:sp>
      <p:pic>
        <p:nvPicPr>
          <p:cNvPr id="58" name="Picture 57" descr="lock.png"/>
          <p:cNvPicPr>
            <a:picLocks noChangeAspect="1"/>
          </p:cNvPicPr>
          <p:nvPr/>
        </p:nvPicPr>
        <p:blipFill>
          <a:blip r:embed="rId4"/>
          <a:stretch>
            <a:fillRect/>
          </a:stretch>
        </p:blipFill>
        <p:spPr>
          <a:xfrm>
            <a:off x="2307257" y="3932155"/>
            <a:ext cx="123551" cy="179710"/>
          </a:xfrm>
          <a:prstGeom prst="rect">
            <a:avLst/>
          </a:prstGeom>
        </p:spPr>
      </p:pic>
      <p:sp>
        <p:nvSpPr>
          <p:cNvPr id="59" name="TextBox 58"/>
          <p:cNvSpPr txBox="1"/>
          <p:nvPr/>
        </p:nvSpPr>
        <p:spPr>
          <a:xfrm>
            <a:off x="2468053" y="3941543"/>
            <a:ext cx="3178063" cy="179984"/>
          </a:xfrm>
          <a:prstGeom prst="rect">
            <a:avLst/>
          </a:prstGeom>
          <a:noFill/>
        </p:spPr>
        <p:txBody>
          <a:bodyPr wrap="none" lIns="0" rIns="0" tIns="0" bIns="0">
            <a:spAutoFit/>
          </a:bodyPr>
          <a:lstStyle/>
          <a:p>
            <a:r>
              <a:rPr sz="1055" b="0">
                <a:solidFill>
                  <a:srgbClr val="2E2E2E"/>
                </a:solidFill>
                <a:latin typeface="Calibri"/>
              </a:rPr>
              <a:t>, with 3 of 6 regions running at or above the market rate.</a:t>
            </a:r>
          </a:p>
        </p:txBody>
      </p:sp>
      <p:sp>
        <p:nvSpPr>
          <p:cNvPr id="60" name="TextBox 59"/>
          <p:cNvSpPr txBox="1"/>
          <p:nvPr/>
        </p:nvSpPr>
        <p:spPr>
          <a:xfrm>
            <a:off x="1743075" y="4830195"/>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61" name="Picture 60" descr="lock.png"/>
          <p:cNvPicPr>
            <a:picLocks noChangeAspect="1"/>
          </p:cNvPicPr>
          <p:nvPr/>
        </p:nvPicPr>
        <p:blipFill>
          <a:blip r:embed="rId4"/>
          <a:stretch>
            <a:fillRect/>
          </a:stretch>
        </p:blipFill>
        <p:spPr>
          <a:xfrm>
            <a:off x="3880454" y="4820807"/>
            <a:ext cx="123551" cy="179710"/>
          </a:xfrm>
          <a:prstGeom prst="rect">
            <a:avLst/>
          </a:prstGeom>
        </p:spPr>
      </p:pic>
      <p:sp>
        <p:nvSpPr>
          <p:cNvPr id="62" name="TextBox 61"/>
          <p:cNvSpPr txBox="1"/>
          <p:nvPr/>
        </p:nvSpPr>
        <p:spPr>
          <a:xfrm>
            <a:off x="4041250" y="4830195"/>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63" name="Picture 62" descr="lock.png"/>
          <p:cNvPicPr>
            <a:picLocks noChangeAspect="1"/>
          </p:cNvPicPr>
          <p:nvPr/>
        </p:nvPicPr>
        <p:blipFill>
          <a:blip r:embed="rId4"/>
          <a:stretch>
            <a:fillRect/>
          </a:stretch>
        </p:blipFill>
        <p:spPr>
          <a:xfrm>
            <a:off x="4529470" y="4820807"/>
            <a:ext cx="123551" cy="179710"/>
          </a:xfrm>
          <a:prstGeom prst="rect">
            <a:avLst/>
          </a:prstGeom>
        </p:spPr>
      </p:pic>
      <p:sp>
        <p:nvSpPr>
          <p:cNvPr id="64" name="TextBox 63"/>
          <p:cNvSpPr txBox="1"/>
          <p:nvPr/>
        </p:nvSpPr>
        <p:spPr>
          <a:xfrm>
            <a:off x="4690266" y="4830195"/>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65" name="Picture 64" descr="lock.png"/>
          <p:cNvPicPr>
            <a:picLocks noChangeAspect="1"/>
          </p:cNvPicPr>
          <p:nvPr/>
        </p:nvPicPr>
        <p:blipFill>
          <a:blip r:embed="rId4"/>
          <a:stretch>
            <a:fillRect/>
          </a:stretch>
        </p:blipFill>
        <p:spPr>
          <a:xfrm>
            <a:off x="7218681" y="4820807"/>
            <a:ext cx="123551" cy="179710"/>
          </a:xfrm>
          <a:prstGeom prst="rect">
            <a:avLst/>
          </a:prstGeom>
        </p:spPr>
      </p:pic>
      <p:sp>
        <p:nvSpPr>
          <p:cNvPr id="66" name="TextBox 65"/>
          <p:cNvSpPr txBox="1"/>
          <p:nvPr/>
        </p:nvSpPr>
        <p:spPr>
          <a:xfrm>
            <a:off x="7379477" y="4830195"/>
            <a:ext cx="1740288" cy="179984"/>
          </a:xfrm>
          <a:prstGeom prst="rect">
            <a:avLst/>
          </a:prstGeom>
          <a:noFill/>
        </p:spPr>
        <p:txBody>
          <a:bodyPr wrap="none" lIns="0" rIns="0" tIns="0" bIns="0">
            <a:spAutoFit/>
          </a:bodyPr>
          <a:lstStyle/>
          <a:p>
            <a:r>
              <a:rPr sz="1055" b="0">
                <a:solidFill>
                  <a:srgbClr val="2E2E2E"/>
                </a:solidFill>
                <a:latin typeface="Calibri"/>
              </a:rPr>
              <a:t>US$/MT, and mix has moved +</a:t>
            </a:r>
          </a:p>
        </p:txBody>
      </p:sp>
      <p:pic>
        <p:nvPicPr>
          <p:cNvPr id="67" name="Picture 66" descr="lock.png"/>
          <p:cNvPicPr>
            <a:picLocks noChangeAspect="1"/>
          </p:cNvPicPr>
          <p:nvPr/>
        </p:nvPicPr>
        <p:blipFill>
          <a:blip r:embed="rId4"/>
          <a:stretch>
            <a:fillRect/>
          </a:stretch>
        </p:blipFill>
        <p:spPr>
          <a:xfrm>
            <a:off x="9066848" y="4820807"/>
            <a:ext cx="123551" cy="179710"/>
          </a:xfrm>
          <a:prstGeom prst="rect">
            <a:avLst/>
          </a:prstGeom>
        </p:spPr>
      </p:pic>
      <p:sp>
        <p:nvSpPr>
          <p:cNvPr id="68" name="TextBox 67"/>
          <p:cNvSpPr txBox="1"/>
          <p:nvPr/>
        </p:nvSpPr>
        <p:spPr>
          <a:xfrm>
            <a:off x="9227644" y="4830195"/>
            <a:ext cx="1898237" cy="179984"/>
          </a:xfrm>
          <a:prstGeom prst="rect">
            <a:avLst/>
          </a:prstGeom>
          <a:noFill/>
        </p:spPr>
        <p:txBody>
          <a:bodyPr wrap="none" lIns="0" rIns="0" tIns="0" bIns="0">
            <a:spAutoFit/>
          </a:bodyPr>
          <a:lstStyle/>
          <a:p>
            <a:r>
              <a:rPr sz="1055" b="0">
                <a:solidFill>
                  <a:srgbClr val="2E2E2E"/>
                </a:solidFill>
                <a:latin typeface="Calibri"/>
              </a:rPr>
              <a:t>BPS toward 'Sweet muffins' while</a:t>
            </a:r>
          </a:p>
        </p:txBody>
      </p:sp>
      <p:sp>
        <p:nvSpPr>
          <p:cNvPr id="69" name="TextBox 68"/>
          <p:cNvSpPr txBox="1"/>
          <p:nvPr/>
        </p:nvSpPr>
        <p:spPr>
          <a:xfrm>
            <a:off x="1743075" y="4991129"/>
            <a:ext cx="1489352" cy="179984"/>
          </a:xfrm>
          <a:prstGeom prst="rect">
            <a:avLst/>
          </a:prstGeom>
          <a:noFill/>
        </p:spPr>
        <p:txBody>
          <a:bodyPr wrap="none" lIns="0" rIns="0" tIns="0" bIns="0">
            <a:spAutoFit/>
          </a:bodyPr>
          <a:lstStyle/>
          <a:p>
            <a:r>
              <a:rPr sz="1055" b="0">
                <a:solidFill>
                  <a:srgbClr val="2E2E2E"/>
                </a:solidFill>
                <a:latin typeface="Calibri"/>
              </a:rPr>
              <a:t>'Savoury muffins' gives up</a:t>
            </a:r>
          </a:p>
        </p:txBody>
      </p:sp>
      <p:pic>
        <p:nvPicPr>
          <p:cNvPr id="70" name="Picture 69" descr="lock.png"/>
          <p:cNvPicPr>
            <a:picLocks noChangeAspect="1"/>
          </p:cNvPicPr>
          <p:nvPr/>
        </p:nvPicPr>
        <p:blipFill>
          <a:blip r:embed="rId4"/>
          <a:stretch>
            <a:fillRect/>
          </a:stretch>
        </p:blipFill>
        <p:spPr>
          <a:xfrm>
            <a:off x="3179509" y="4981741"/>
            <a:ext cx="123551" cy="179710"/>
          </a:xfrm>
          <a:prstGeom prst="rect">
            <a:avLst/>
          </a:prstGeom>
        </p:spPr>
      </p:pic>
      <p:sp>
        <p:nvSpPr>
          <p:cNvPr id="71" name="TextBox 70"/>
          <p:cNvSpPr txBox="1"/>
          <p:nvPr/>
        </p:nvSpPr>
        <p:spPr>
          <a:xfrm>
            <a:off x="3340305" y="4991129"/>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72" name="TextBox 71"/>
          <p:cNvSpPr txBox="1"/>
          <p:nvPr/>
        </p:nvSpPr>
        <p:spPr>
          <a:xfrm>
            <a:off x="1743075" y="5879784"/>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73" name="Picture 72" descr="lock.png"/>
          <p:cNvPicPr>
            <a:picLocks noChangeAspect="1"/>
          </p:cNvPicPr>
          <p:nvPr/>
        </p:nvPicPr>
        <p:blipFill>
          <a:blip r:embed="rId4"/>
          <a:stretch>
            <a:fillRect/>
          </a:stretch>
        </p:blipFill>
        <p:spPr>
          <a:xfrm>
            <a:off x="4234303" y="5870396"/>
            <a:ext cx="123551" cy="179710"/>
          </a:xfrm>
          <a:prstGeom prst="rect">
            <a:avLst/>
          </a:prstGeom>
        </p:spPr>
      </p:pic>
      <p:sp>
        <p:nvSpPr>
          <p:cNvPr id="74" name="TextBox 73"/>
          <p:cNvSpPr txBox="1"/>
          <p:nvPr/>
        </p:nvSpPr>
        <p:spPr>
          <a:xfrm>
            <a:off x="4395098" y="5879784"/>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75" name="Picture 74" descr="lock.png"/>
          <p:cNvPicPr>
            <a:picLocks noChangeAspect="1"/>
          </p:cNvPicPr>
          <p:nvPr/>
        </p:nvPicPr>
        <p:blipFill>
          <a:blip r:embed="rId4"/>
          <a:stretch>
            <a:fillRect/>
          </a:stretch>
        </p:blipFill>
        <p:spPr>
          <a:xfrm>
            <a:off x="4977879" y="5870396"/>
            <a:ext cx="123551" cy="179710"/>
          </a:xfrm>
          <a:prstGeom prst="rect">
            <a:avLst/>
          </a:prstGeom>
        </p:spPr>
      </p:pic>
      <p:sp>
        <p:nvSpPr>
          <p:cNvPr id="76" name="TextBox 75"/>
          <p:cNvSpPr txBox="1"/>
          <p:nvPr/>
        </p:nvSpPr>
        <p:spPr>
          <a:xfrm>
            <a:off x="5138675" y="5879784"/>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77" name="Picture 76" descr="lock.png"/>
          <p:cNvPicPr>
            <a:picLocks noChangeAspect="1"/>
          </p:cNvPicPr>
          <p:nvPr/>
        </p:nvPicPr>
        <p:blipFill>
          <a:blip r:embed="rId4"/>
          <a:stretch>
            <a:fillRect/>
          </a:stretch>
        </p:blipFill>
        <p:spPr>
          <a:xfrm>
            <a:off x="6523507" y="5870396"/>
            <a:ext cx="123551" cy="179710"/>
          </a:xfrm>
          <a:prstGeom prst="rect">
            <a:avLst/>
          </a:prstGeom>
        </p:spPr>
      </p:pic>
      <p:sp>
        <p:nvSpPr>
          <p:cNvPr id="78" name="TextBox 77"/>
          <p:cNvSpPr txBox="1"/>
          <p:nvPr/>
        </p:nvSpPr>
        <p:spPr>
          <a:xfrm>
            <a:off x="6684303" y="5879784"/>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79" name="Picture 78" descr="lock.png"/>
          <p:cNvPicPr>
            <a:picLocks noChangeAspect="1"/>
          </p:cNvPicPr>
          <p:nvPr/>
        </p:nvPicPr>
        <p:blipFill>
          <a:blip r:embed="rId4"/>
          <a:stretch>
            <a:fillRect/>
          </a:stretch>
        </p:blipFill>
        <p:spPr>
          <a:xfrm>
            <a:off x="8430610" y="5870396"/>
            <a:ext cx="123551" cy="179710"/>
          </a:xfrm>
          <a:prstGeom prst="rect">
            <a:avLst/>
          </a:prstGeom>
        </p:spPr>
      </p:pic>
      <p:sp>
        <p:nvSpPr>
          <p:cNvPr id="80" name="TextBox 79"/>
          <p:cNvSpPr txBox="1"/>
          <p:nvPr/>
        </p:nvSpPr>
        <p:spPr>
          <a:xfrm>
            <a:off x="8591406" y="5879784"/>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81" name="Picture 80" descr="lock.png"/>
          <p:cNvPicPr>
            <a:picLocks noChangeAspect="1"/>
          </p:cNvPicPr>
          <p:nvPr/>
        </p:nvPicPr>
        <p:blipFill>
          <a:blip r:embed="rId4"/>
          <a:stretch>
            <a:fillRect/>
          </a:stretch>
        </p:blipFill>
        <p:spPr>
          <a:xfrm>
            <a:off x="10217204" y="5870396"/>
            <a:ext cx="123551" cy="179710"/>
          </a:xfrm>
          <a:prstGeom prst="rect">
            <a:avLst/>
          </a:prstGeom>
        </p:spPr>
      </p:pic>
      <p:sp>
        <p:nvSpPr>
          <p:cNvPr id="82" name="TextBox 81"/>
          <p:cNvSpPr txBox="1"/>
          <p:nvPr/>
        </p:nvSpPr>
        <p:spPr>
          <a:xfrm>
            <a:off x="10378000" y="5879784"/>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83" name="TextBox 82"/>
          <p:cNvSpPr txBox="1"/>
          <p:nvPr/>
        </p:nvSpPr>
        <p:spPr>
          <a:xfrm>
            <a:off x="1743075" y="6040718"/>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84" name="Picture 83" descr="lock.png"/>
          <p:cNvPicPr>
            <a:picLocks noChangeAspect="1"/>
          </p:cNvPicPr>
          <p:nvPr/>
        </p:nvPicPr>
        <p:blipFill>
          <a:blip r:embed="rId4"/>
          <a:stretch>
            <a:fillRect/>
          </a:stretch>
        </p:blipFill>
        <p:spPr>
          <a:xfrm>
            <a:off x="3255209" y="6031330"/>
            <a:ext cx="123551" cy="179710"/>
          </a:xfrm>
          <a:prstGeom prst="rect">
            <a:avLst/>
          </a:prstGeom>
        </p:spPr>
      </p:pic>
      <p:sp>
        <p:nvSpPr>
          <p:cNvPr id="85" name="TextBox 84"/>
          <p:cNvSpPr txBox="1"/>
          <p:nvPr/>
        </p:nvSpPr>
        <p:spPr>
          <a:xfrm>
            <a:off x="3416005" y="6040718"/>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Packaged Muffins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2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2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10006359"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2 product type lines, 3 sales channel routes and 6 regions at</a:t>
            </a:r>
          </a:p>
        </p:txBody>
      </p:sp>
      <p:pic>
        <p:nvPicPr>
          <p:cNvPr id="59" name="Picture 58" descr="lock.png"/>
          <p:cNvPicPr>
            <a:picLocks noChangeAspect="1"/>
          </p:cNvPicPr>
          <p:nvPr/>
        </p:nvPicPr>
        <p:blipFill>
          <a:blip r:embed="rId4"/>
          <a:stretch>
            <a:fillRect/>
          </a:stretch>
        </p:blipFill>
        <p:spPr>
          <a:xfrm>
            <a:off x="10125861" y="1059691"/>
            <a:ext cx="128699" cy="187198"/>
          </a:xfrm>
          <a:prstGeom prst="rect">
            <a:avLst/>
          </a:prstGeom>
        </p:spPr>
      </p:pic>
      <p:sp>
        <p:nvSpPr>
          <p:cNvPr id="60" name="TextBox 59"/>
          <p:cNvSpPr txBox="1"/>
          <p:nvPr/>
        </p:nvSpPr>
        <p:spPr>
          <a:xfrm>
            <a:off x="10293357"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48734"/>
            <a:ext cx="1830089" cy="186689"/>
          </a:xfrm>
          <a:prstGeom prst="rect">
            <a:avLst/>
          </a:prstGeom>
          <a:noFill/>
        </p:spPr>
        <p:txBody>
          <a:bodyPr wrap="none" lIns="0" rIns="0" tIns="0" bIns="0">
            <a:spAutoFit/>
          </a:bodyPr>
          <a:lstStyle/>
          <a:p>
            <a:r>
              <a:rPr sz="1100" b="0">
                <a:solidFill>
                  <a:srgbClr val="2E2E2E"/>
                </a:solidFill>
                <a:latin typeface="Calibri"/>
              </a:rPr>
              <a:t>▸ Assessed moderate. Demand</a:t>
            </a:r>
          </a:p>
        </p:txBody>
      </p:sp>
      <p:sp>
        <p:nvSpPr>
          <p:cNvPr id="73" name="TextBox 72"/>
          <p:cNvSpPr txBox="1"/>
          <p:nvPr/>
        </p:nvSpPr>
        <p:spPr>
          <a:xfrm>
            <a:off x="2657475" y="3016374"/>
            <a:ext cx="1821904" cy="186689"/>
          </a:xfrm>
          <a:prstGeom prst="rect">
            <a:avLst/>
          </a:prstGeom>
          <a:noFill/>
        </p:spPr>
        <p:txBody>
          <a:bodyPr wrap="none" lIns="0" rIns="0" tIns="0" bIns="0">
            <a:spAutoFit/>
          </a:bodyPr>
          <a:lstStyle/>
          <a:p>
            <a:r>
              <a:rPr sz="1100" b="0">
                <a:solidFill>
                  <a:srgbClr val="2E2E2E"/>
                </a:solidFill>
                <a:latin typeface="Calibri"/>
              </a:rPr>
              <a:t>routes through 3 sales channel</a:t>
            </a:r>
          </a:p>
        </p:txBody>
      </p:sp>
      <p:sp>
        <p:nvSpPr>
          <p:cNvPr id="74" name="TextBox 73"/>
          <p:cNvSpPr txBox="1"/>
          <p:nvPr/>
        </p:nvSpPr>
        <p:spPr>
          <a:xfrm>
            <a:off x="2657475" y="3184014"/>
            <a:ext cx="1516310" cy="186689"/>
          </a:xfrm>
          <a:prstGeom prst="rect">
            <a:avLst/>
          </a:prstGeom>
          <a:noFill/>
        </p:spPr>
        <p:txBody>
          <a:bodyPr wrap="none" lIns="0" rIns="0" tIns="0" bIns="0">
            <a:spAutoFit/>
          </a:bodyPr>
          <a:lstStyle/>
          <a:p>
            <a:r>
              <a:rPr sz="1100" b="0">
                <a:solidFill>
                  <a:srgbClr val="2E2E2E"/>
                </a:solidFill>
                <a:latin typeface="Calibri"/>
              </a:rPr>
              <a:t>channels led by 'Retail' at</a:t>
            </a:r>
          </a:p>
        </p:txBody>
      </p:sp>
      <p:pic>
        <p:nvPicPr>
          <p:cNvPr id="75" name="Picture 74" descr="lock.png"/>
          <p:cNvPicPr>
            <a:picLocks noChangeAspect="1"/>
          </p:cNvPicPr>
          <p:nvPr/>
        </p:nvPicPr>
        <p:blipFill>
          <a:blip r:embed="rId4"/>
          <a:stretch>
            <a:fillRect/>
          </a:stretch>
        </p:blipFill>
        <p:spPr>
          <a:xfrm>
            <a:off x="4121837" y="3174235"/>
            <a:ext cx="128699" cy="187198"/>
          </a:xfrm>
          <a:prstGeom prst="rect">
            <a:avLst/>
          </a:prstGeom>
        </p:spPr>
      </p:pic>
      <p:sp>
        <p:nvSpPr>
          <p:cNvPr id="76" name="TextBox 75"/>
          <p:cNvSpPr txBox="1"/>
          <p:nvPr/>
        </p:nvSpPr>
        <p:spPr>
          <a:xfrm>
            <a:off x="4289332" y="3184014"/>
            <a:ext cx="475108" cy="186689"/>
          </a:xfrm>
          <a:prstGeom prst="rect">
            <a:avLst/>
          </a:prstGeom>
          <a:noFill/>
        </p:spPr>
        <p:txBody>
          <a:bodyPr wrap="none" lIns="0" rIns="0" tIns="0" bIns="0">
            <a:spAutoFit/>
          </a:bodyPr>
          <a:lstStyle/>
          <a:p>
            <a:r>
              <a:rPr sz="1100" b="0">
                <a:solidFill>
                  <a:srgbClr val="2E2E2E"/>
                </a:solidFill>
                <a:latin typeface="Calibri"/>
              </a:rPr>
              <a:t>, giving</a:t>
            </a:r>
          </a:p>
        </p:txBody>
      </p:sp>
      <p:sp>
        <p:nvSpPr>
          <p:cNvPr id="77" name="TextBox 76"/>
          <p:cNvSpPr txBox="1"/>
          <p:nvPr/>
        </p:nvSpPr>
        <p:spPr>
          <a:xfrm>
            <a:off x="2657475" y="3351654"/>
            <a:ext cx="1123404" cy="186689"/>
          </a:xfrm>
          <a:prstGeom prst="rect">
            <a:avLst/>
          </a:prstGeom>
          <a:noFill/>
        </p:spPr>
        <p:txBody>
          <a:bodyPr wrap="none" lIns="0" rIns="0" tIns="0" bIns="0">
            <a:spAutoFit/>
          </a:bodyPr>
          <a:lstStyle/>
          <a:p>
            <a:r>
              <a:rPr sz="1100" b="0">
                <a:solidFill>
                  <a:srgbClr val="2E2E2E"/>
                </a:solidFill>
                <a:latin typeface="Calibri"/>
              </a:rPr>
              <a:t>large buyers scale.</a:t>
            </a:r>
          </a:p>
        </p:txBody>
      </p:sp>
      <p:sp>
        <p:nvSpPr>
          <p:cNvPr id="78" name="TextBox 77"/>
          <p:cNvSpPr txBox="1"/>
          <p:nvPr/>
        </p:nvSpPr>
        <p:spPr>
          <a:xfrm>
            <a:off x="2657475" y="3708336"/>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79" name="TextBox 78"/>
          <p:cNvSpPr txBox="1"/>
          <p:nvPr/>
        </p:nvSpPr>
        <p:spPr>
          <a:xfrm>
            <a:off x="2657475" y="3875976"/>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0" name="Picture 79" descr="lock.png"/>
          <p:cNvPicPr>
            <a:picLocks noChangeAspect="1"/>
          </p:cNvPicPr>
          <p:nvPr/>
        </p:nvPicPr>
        <p:blipFill>
          <a:blip r:embed="rId4"/>
          <a:stretch>
            <a:fillRect/>
          </a:stretch>
        </p:blipFill>
        <p:spPr>
          <a:xfrm>
            <a:off x="3101372" y="3866197"/>
            <a:ext cx="128699" cy="187198"/>
          </a:xfrm>
          <a:prstGeom prst="rect">
            <a:avLst/>
          </a:prstGeom>
        </p:spPr>
      </p:pic>
      <p:sp>
        <p:nvSpPr>
          <p:cNvPr id="81" name="TextBox 80"/>
          <p:cNvSpPr txBox="1"/>
          <p:nvPr/>
        </p:nvSpPr>
        <p:spPr>
          <a:xfrm>
            <a:off x="3268868" y="3875976"/>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2" name="TextBox 81"/>
          <p:cNvSpPr txBox="1"/>
          <p:nvPr/>
        </p:nvSpPr>
        <p:spPr>
          <a:xfrm>
            <a:off x="2657475" y="4043616"/>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3" name="Picture 82" descr="lock.png"/>
          <p:cNvPicPr>
            <a:picLocks noChangeAspect="1"/>
          </p:cNvPicPr>
          <p:nvPr/>
        </p:nvPicPr>
        <p:blipFill>
          <a:blip r:embed="rId4"/>
          <a:stretch>
            <a:fillRect/>
          </a:stretch>
        </p:blipFill>
        <p:spPr>
          <a:xfrm>
            <a:off x="3238070" y="4033837"/>
            <a:ext cx="128699" cy="187198"/>
          </a:xfrm>
          <a:prstGeom prst="rect">
            <a:avLst/>
          </a:prstGeom>
        </p:spPr>
      </p:pic>
      <p:sp>
        <p:nvSpPr>
          <p:cNvPr id="84" name="TextBox 83"/>
          <p:cNvSpPr txBox="1"/>
          <p:nvPr/>
        </p:nvSpPr>
        <p:spPr>
          <a:xfrm>
            <a:off x="3405566" y="4043616"/>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5" name="TextBox 84"/>
          <p:cNvSpPr txBox="1"/>
          <p:nvPr/>
        </p:nvSpPr>
        <p:spPr>
          <a:xfrm>
            <a:off x="5038725" y="2841285"/>
            <a:ext cx="2114550" cy="186689"/>
          </a:xfrm>
          <a:prstGeom prst="rect">
            <a:avLst/>
          </a:prstGeom>
          <a:noFill/>
        </p:spPr>
        <p:txBody>
          <a:bodyPr wrap="none" lIns="0" rIns="0" tIns="0" bIns="0">
            <a:spAutoFit/>
          </a:bodyPr>
          <a:lstStyle/>
          <a:p>
            <a:r>
              <a:rPr sz="1100" b="0">
                <a:solidFill>
                  <a:srgbClr val="2E2E2E"/>
                </a:solidFill>
                <a:latin typeface="Calibri"/>
              </a:rPr>
              <a:t>▸ Assessed low. 2 product type lines</a:t>
            </a:r>
          </a:p>
        </p:txBody>
      </p:sp>
      <p:sp>
        <p:nvSpPr>
          <p:cNvPr id="86" name="TextBox 85"/>
          <p:cNvSpPr txBox="1"/>
          <p:nvPr/>
        </p:nvSpPr>
        <p:spPr>
          <a:xfrm>
            <a:off x="5038725" y="3008925"/>
            <a:ext cx="1950690" cy="186689"/>
          </a:xfrm>
          <a:prstGeom prst="rect">
            <a:avLst/>
          </a:prstGeom>
          <a:noFill/>
        </p:spPr>
        <p:txBody>
          <a:bodyPr wrap="none" lIns="0" rIns="0" tIns="0" bIns="0">
            <a:spAutoFit/>
          </a:bodyPr>
          <a:lstStyle/>
          <a:p>
            <a:r>
              <a:rPr sz="1100" b="0">
                <a:solidFill>
                  <a:srgbClr val="2E2E2E"/>
                </a:solidFill>
                <a:latin typeface="Calibri"/>
              </a:rPr>
              <a:t>compete inside the segment; the</a:t>
            </a:r>
          </a:p>
        </p:txBody>
      </p:sp>
      <p:sp>
        <p:nvSpPr>
          <p:cNvPr id="87" name="TextBox 86"/>
          <p:cNvSpPr txBox="1"/>
          <p:nvPr/>
        </p:nvSpPr>
        <p:spPr>
          <a:xfrm>
            <a:off x="5038725" y="3176565"/>
            <a:ext cx="775518" cy="186689"/>
          </a:xfrm>
          <a:prstGeom prst="rect">
            <a:avLst/>
          </a:prstGeom>
          <a:noFill/>
        </p:spPr>
        <p:txBody>
          <a:bodyPr wrap="none" lIns="0" rIns="0" tIns="0" bIns="0">
            <a:spAutoFit/>
          </a:bodyPr>
          <a:lstStyle/>
          <a:p>
            <a:r>
              <a:rPr sz="1100" b="0">
                <a:solidFill>
                  <a:srgbClr val="2E2E2E"/>
                </a:solidFill>
                <a:latin typeface="Calibri"/>
              </a:rPr>
              <a:t>leader holds</a:t>
            </a:r>
          </a:p>
        </p:txBody>
      </p:sp>
      <p:pic>
        <p:nvPicPr>
          <p:cNvPr id="88" name="Picture 87" descr="lock.png"/>
          <p:cNvPicPr>
            <a:picLocks noChangeAspect="1"/>
          </p:cNvPicPr>
          <p:nvPr/>
        </p:nvPicPr>
        <p:blipFill>
          <a:blip r:embed="rId4"/>
          <a:stretch>
            <a:fillRect/>
          </a:stretch>
        </p:blipFill>
        <p:spPr>
          <a:xfrm>
            <a:off x="5762295" y="3166786"/>
            <a:ext cx="128699" cy="187198"/>
          </a:xfrm>
          <a:prstGeom prst="rect">
            <a:avLst/>
          </a:prstGeom>
        </p:spPr>
      </p:pic>
      <p:sp>
        <p:nvSpPr>
          <p:cNvPr id="89" name="TextBox 88"/>
          <p:cNvSpPr txBox="1"/>
          <p:nvPr/>
        </p:nvSpPr>
        <p:spPr>
          <a:xfrm>
            <a:off x="5929790" y="317656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0" name="TextBox 89"/>
          <p:cNvSpPr txBox="1"/>
          <p:nvPr/>
        </p:nvSpPr>
        <p:spPr>
          <a:xfrm>
            <a:off x="5038725" y="3525799"/>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1" name="TextBox 90"/>
          <p:cNvSpPr txBox="1"/>
          <p:nvPr/>
        </p:nvSpPr>
        <p:spPr>
          <a:xfrm>
            <a:off x="5038725" y="3693439"/>
            <a:ext cx="1095300" cy="186689"/>
          </a:xfrm>
          <a:prstGeom prst="rect">
            <a:avLst/>
          </a:prstGeom>
          <a:noFill/>
        </p:spPr>
        <p:txBody>
          <a:bodyPr wrap="none" lIns="0" rIns="0" tIns="0" bIns="0">
            <a:spAutoFit/>
          </a:bodyPr>
          <a:lstStyle/>
          <a:p>
            <a:r>
              <a:rPr sz="1100" b="0">
                <a:solidFill>
                  <a:srgbClr val="2E2E2E"/>
                </a:solidFill>
                <a:latin typeface="Calibri"/>
              </a:rPr>
              <a:t>'Sweet muffins' at</a:t>
            </a:r>
          </a:p>
        </p:txBody>
      </p:sp>
      <p:pic>
        <p:nvPicPr>
          <p:cNvPr id="92" name="Picture 91" descr="lock.png"/>
          <p:cNvPicPr>
            <a:picLocks noChangeAspect="1"/>
          </p:cNvPicPr>
          <p:nvPr/>
        </p:nvPicPr>
        <p:blipFill>
          <a:blip r:embed="rId4"/>
          <a:stretch>
            <a:fillRect/>
          </a:stretch>
        </p:blipFill>
        <p:spPr>
          <a:xfrm>
            <a:off x="6082077" y="3683660"/>
            <a:ext cx="128699" cy="187198"/>
          </a:xfrm>
          <a:prstGeom prst="rect">
            <a:avLst/>
          </a:prstGeom>
        </p:spPr>
      </p:pic>
      <p:sp>
        <p:nvSpPr>
          <p:cNvPr id="93" name="TextBox 92"/>
          <p:cNvSpPr txBox="1"/>
          <p:nvPr/>
        </p:nvSpPr>
        <p:spPr>
          <a:xfrm>
            <a:off x="6249573" y="3693439"/>
            <a:ext cx="482748" cy="186689"/>
          </a:xfrm>
          <a:prstGeom prst="rect">
            <a:avLst/>
          </a:prstGeom>
          <a:noFill/>
        </p:spPr>
        <p:txBody>
          <a:bodyPr wrap="none" lIns="0" rIns="0" tIns="0" bIns="0">
            <a:spAutoFit/>
          </a:bodyPr>
          <a:lstStyle/>
          <a:p>
            <a:r>
              <a:rPr sz="1100" b="0">
                <a:solidFill>
                  <a:srgbClr val="2E2E2E"/>
                </a:solidFill>
                <a:latin typeface="Calibri"/>
              </a:rPr>
              <a:t>against</a:t>
            </a:r>
          </a:p>
        </p:txBody>
      </p:sp>
      <p:sp>
        <p:nvSpPr>
          <p:cNvPr id="94" name="TextBox 93"/>
          <p:cNvSpPr txBox="1"/>
          <p:nvPr/>
        </p:nvSpPr>
        <p:spPr>
          <a:xfrm>
            <a:off x="5038725" y="3861079"/>
            <a:ext cx="1198438" cy="186689"/>
          </a:xfrm>
          <a:prstGeom prst="rect">
            <a:avLst/>
          </a:prstGeom>
          <a:noFill/>
        </p:spPr>
        <p:txBody>
          <a:bodyPr wrap="none" lIns="0" rIns="0" tIns="0" bIns="0">
            <a:spAutoFit/>
          </a:bodyPr>
          <a:lstStyle/>
          <a:p>
            <a:r>
              <a:rPr sz="1100" b="0">
                <a:solidFill>
                  <a:srgbClr val="2E2E2E"/>
                </a:solidFill>
                <a:latin typeface="Calibri"/>
              </a:rPr>
              <a:t>'Savoury muffins' at</a:t>
            </a:r>
          </a:p>
        </p:txBody>
      </p:sp>
      <p:pic>
        <p:nvPicPr>
          <p:cNvPr id="95" name="Picture 94" descr="lock.png"/>
          <p:cNvPicPr>
            <a:picLocks noChangeAspect="1"/>
          </p:cNvPicPr>
          <p:nvPr/>
        </p:nvPicPr>
        <p:blipFill>
          <a:blip r:embed="rId4"/>
          <a:stretch>
            <a:fillRect/>
          </a:stretch>
        </p:blipFill>
        <p:spPr>
          <a:xfrm>
            <a:off x="6185215" y="3851300"/>
            <a:ext cx="128699" cy="187198"/>
          </a:xfrm>
          <a:prstGeom prst="rect">
            <a:avLst/>
          </a:prstGeom>
        </p:spPr>
      </p:pic>
      <p:sp>
        <p:nvSpPr>
          <p:cNvPr id="96" name="TextBox 95"/>
          <p:cNvSpPr txBox="1"/>
          <p:nvPr/>
        </p:nvSpPr>
        <p:spPr>
          <a:xfrm>
            <a:off x="6352710" y="3861079"/>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7" name="TextBox 96"/>
          <p:cNvSpPr txBox="1"/>
          <p:nvPr/>
        </p:nvSpPr>
        <p:spPr>
          <a:xfrm>
            <a:off x="5038725" y="4210313"/>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8" name="Picture 97" descr="lock.png"/>
          <p:cNvPicPr>
            <a:picLocks noChangeAspect="1"/>
          </p:cNvPicPr>
          <p:nvPr/>
        </p:nvPicPr>
        <p:blipFill>
          <a:blip r:embed="rId4"/>
          <a:stretch>
            <a:fillRect/>
          </a:stretch>
        </p:blipFill>
        <p:spPr>
          <a:xfrm>
            <a:off x="5025257" y="4368174"/>
            <a:ext cx="128699" cy="187198"/>
          </a:xfrm>
          <a:prstGeom prst="rect">
            <a:avLst/>
          </a:prstGeom>
        </p:spPr>
      </p:pic>
      <p:sp>
        <p:nvSpPr>
          <p:cNvPr id="99" name="TextBox 98"/>
          <p:cNvSpPr txBox="1"/>
          <p:nvPr/>
        </p:nvSpPr>
        <p:spPr>
          <a:xfrm>
            <a:off x="5192753" y="4377953"/>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0" name="TextBox 99"/>
          <p:cNvSpPr txBox="1"/>
          <p:nvPr/>
        </p:nvSpPr>
        <p:spPr>
          <a:xfrm>
            <a:off x="5038725" y="4545593"/>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1" name="TextBox 100"/>
          <p:cNvSpPr txBox="1"/>
          <p:nvPr/>
        </p:nvSpPr>
        <p:spPr>
          <a:xfrm>
            <a:off x="7419975" y="2944566"/>
            <a:ext cx="1833364" cy="186689"/>
          </a:xfrm>
          <a:prstGeom prst="rect">
            <a:avLst/>
          </a:prstGeom>
          <a:noFill/>
        </p:spPr>
        <p:txBody>
          <a:bodyPr wrap="none" lIns="0" rIns="0" tIns="0" bIns="0">
            <a:spAutoFit/>
          </a:bodyPr>
          <a:lstStyle/>
          <a:p>
            <a:r>
              <a:rPr sz="1100" b="0">
                <a:solidFill>
                  <a:srgbClr val="2E2E2E"/>
                </a:solidFill>
                <a:latin typeface="Calibri"/>
              </a:rPr>
              <a:t>▸ Assessed moderate. 'Savoury</a:t>
            </a:r>
          </a:p>
        </p:txBody>
      </p:sp>
      <p:sp>
        <p:nvSpPr>
          <p:cNvPr id="102" name="TextBox 101"/>
          <p:cNvSpPr txBox="1"/>
          <p:nvPr/>
        </p:nvSpPr>
        <p:spPr>
          <a:xfrm>
            <a:off x="7419975" y="3112206"/>
            <a:ext cx="853554" cy="186689"/>
          </a:xfrm>
          <a:prstGeom prst="rect">
            <a:avLst/>
          </a:prstGeom>
          <a:noFill/>
        </p:spPr>
        <p:txBody>
          <a:bodyPr wrap="none" lIns="0" rIns="0" tIns="0" bIns="0">
            <a:spAutoFit/>
          </a:bodyPr>
          <a:lstStyle/>
          <a:p>
            <a:r>
              <a:rPr sz="1100" b="0">
                <a:solidFill>
                  <a:srgbClr val="2E2E2E"/>
                </a:solidFill>
                <a:latin typeface="Calibri"/>
              </a:rPr>
              <a:t>muffins' loses</a:t>
            </a:r>
          </a:p>
        </p:txBody>
      </p:sp>
      <p:pic>
        <p:nvPicPr>
          <p:cNvPr id="103" name="Picture 102" descr="lock.png"/>
          <p:cNvPicPr>
            <a:picLocks noChangeAspect="1"/>
          </p:cNvPicPr>
          <p:nvPr/>
        </p:nvPicPr>
        <p:blipFill>
          <a:blip r:embed="rId4"/>
          <a:stretch>
            <a:fillRect/>
          </a:stretch>
        </p:blipFill>
        <p:spPr>
          <a:xfrm>
            <a:off x="8221580" y="3102427"/>
            <a:ext cx="128699" cy="187198"/>
          </a:xfrm>
          <a:prstGeom prst="rect">
            <a:avLst/>
          </a:prstGeom>
        </p:spPr>
      </p:pic>
      <p:sp>
        <p:nvSpPr>
          <p:cNvPr id="104" name="TextBox 103"/>
          <p:cNvSpPr txBox="1"/>
          <p:nvPr/>
        </p:nvSpPr>
        <p:spPr>
          <a:xfrm>
            <a:off x="8389076" y="311220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5" name="TextBox 104"/>
          <p:cNvSpPr txBox="1"/>
          <p:nvPr/>
        </p:nvSpPr>
        <p:spPr>
          <a:xfrm>
            <a:off x="7419975" y="3279846"/>
            <a:ext cx="1093390" cy="186689"/>
          </a:xfrm>
          <a:prstGeom prst="rect">
            <a:avLst/>
          </a:prstGeom>
          <a:noFill/>
        </p:spPr>
        <p:txBody>
          <a:bodyPr wrap="none" lIns="0" rIns="0" tIns="0" bIns="0">
            <a:spAutoFit/>
          </a:bodyPr>
          <a:lstStyle/>
          <a:p>
            <a:r>
              <a:rPr sz="1100" b="0">
                <a:solidFill>
                  <a:srgbClr val="2E2E2E"/>
                </a:solidFill>
                <a:latin typeface="Calibri"/>
              </a:rPr>
              <a:t>'Sweet muffins' (+</a:t>
            </a:r>
          </a:p>
        </p:txBody>
      </p:sp>
      <p:pic>
        <p:nvPicPr>
          <p:cNvPr id="106" name="Picture 105" descr="lock.png"/>
          <p:cNvPicPr>
            <a:picLocks noChangeAspect="1"/>
          </p:cNvPicPr>
          <p:nvPr/>
        </p:nvPicPr>
        <p:blipFill>
          <a:blip r:embed="rId4"/>
          <a:stretch>
            <a:fillRect/>
          </a:stretch>
        </p:blipFill>
        <p:spPr>
          <a:xfrm>
            <a:off x="8461417" y="3270067"/>
            <a:ext cx="128699" cy="187198"/>
          </a:xfrm>
          <a:prstGeom prst="rect">
            <a:avLst/>
          </a:prstGeom>
        </p:spPr>
      </p:pic>
      <p:sp>
        <p:nvSpPr>
          <p:cNvPr id="107" name="TextBox 106"/>
          <p:cNvSpPr txBox="1"/>
          <p:nvPr/>
        </p:nvSpPr>
        <p:spPr>
          <a:xfrm>
            <a:off x="8628913" y="3279846"/>
            <a:ext cx="814809" cy="186689"/>
          </a:xfrm>
          <a:prstGeom prst="rect">
            <a:avLst/>
          </a:prstGeom>
          <a:noFill/>
        </p:spPr>
        <p:txBody>
          <a:bodyPr wrap="none" lIns="0" rIns="0" tIns="0" bIns="0">
            <a:spAutoFit/>
          </a:bodyPr>
          <a:lstStyle/>
          <a:p>
            <a:r>
              <a:rPr sz="1100" b="0">
                <a:solidFill>
                  <a:srgbClr val="2E2E2E"/>
                </a:solidFill>
                <a:latin typeface="Calibri"/>
              </a:rPr>
              <a:t>BPS) by 2036</a:t>
            </a:r>
          </a:p>
        </p:txBody>
      </p:sp>
      <p:sp>
        <p:nvSpPr>
          <p:cNvPr id="108" name="TextBox 107"/>
          <p:cNvSpPr txBox="1"/>
          <p:nvPr/>
        </p:nvSpPr>
        <p:spPr>
          <a:xfrm>
            <a:off x="7419975" y="3447486"/>
            <a:ext cx="2114550" cy="186689"/>
          </a:xfrm>
          <a:prstGeom prst="rect">
            <a:avLst/>
          </a:prstGeom>
          <a:noFill/>
        </p:spPr>
        <p:txBody>
          <a:bodyPr wrap="none" lIns="0" rIns="0" tIns="0" bIns="0">
            <a:spAutoFit/>
          </a:bodyPr>
          <a:lstStyle/>
          <a:p>
            <a:r>
              <a:rPr sz="1100" b="0">
                <a:solidFill>
                  <a:srgbClr val="2E2E2E"/>
                </a:solidFill>
                <a:latin typeface="Calibri"/>
              </a:rPr>
              <a:t>substitution is visible inside the mix.</a:t>
            </a:r>
          </a:p>
        </p:txBody>
      </p:sp>
      <p:sp>
        <p:nvSpPr>
          <p:cNvPr id="109" name="TextBox 108"/>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0" name="Picture 109" descr="lock.png"/>
          <p:cNvPicPr>
            <a:picLocks noChangeAspect="1"/>
          </p:cNvPicPr>
          <p:nvPr/>
        </p:nvPicPr>
        <p:blipFill>
          <a:blip r:embed="rId4"/>
          <a:stretch>
            <a:fillRect/>
          </a:stretch>
        </p:blipFill>
        <p:spPr>
          <a:xfrm>
            <a:off x="8917440" y="3885306"/>
            <a:ext cx="123551" cy="179710"/>
          </a:xfrm>
          <a:prstGeom prst="rect">
            <a:avLst/>
          </a:prstGeom>
        </p:spPr>
      </p:pic>
      <p:sp>
        <p:nvSpPr>
          <p:cNvPr id="111" name="TextBox 110"/>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2" name="Picture 111" descr="lock.png"/>
          <p:cNvPicPr>
            <a:picLocks noChangeAspect="1"/>
          </p:cNvPicPr>
          <p:nvPr/>
        </p:nvPicPr>
        <p:blipFill>
          <a:blip r:embed="rId4"/>
          <a:stretch>
            <a:fillRect/>
          </a:stretch>
        </p:blipFill>
        <p:spPr>
          <a:xfrm>
            <a:off x="9206555" y="3885306"/>
            <a:ext cx="123551" cy="179710"/>
          </a:xfrm>
          <a:prstGeom prst="rect">
            <a:avLst/>
          </a:prstGeom>
        </p:spPr>
      </p:pic>
      <p:sp>
        <p:nvSpPr>
          <p:cNvPr id="113" name="TextBox 112"/>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4" name="TextBox 113"/>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5" name="Picture 114" descr="lock.png"/>
          <p:cNvPicPr>
            <a:picLocks noChangeAspect="1"/>
          </p:cNvPicPr>
          <p:nvPr/>
        </p:nvPicPr>
        <p:blipFill>
          <a:blip r:embed="rId4"/>
          <a:stretch>
            <a:fillRect/>
          </a:stretch>
        </p:blipFill>
        <p:spPr>
          <a:xfrm>
            <a:off x="8622399" y="4383071"/>
            <a:ext cx="128699" cy="187198"/>
          </a:xfrm>
          <a:prstGeom prst="rect">
            <a:avLst/>
          </a:prstGeom>
        </p:spPr>
      </p:pic>
      <p:sp>
        <p:nvSpPr>
          <p:cNvPr id="116" name="TextBox 115"/>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7" name="TextBox 116"/>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8" name="TextBox 117"/>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9" name="TextBox 118"/>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0" name="TextBox 119"/>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1" name="Picture 120" descr="lock.png"/>
          <p:cNvPicPr>
            <a:picLocks noChangeAspect="1"/>
          </p:cNvPicPr>
          <p:nvPr/>
        </p:nvPicPr>
        <p:blipFill>
          <a:blip r:embed="rId4"/>
          <a:stretch>
            <a:fillRect/>
          </a:stretch>
        </p:blipFill>
        <p:spPr>
          <a:xfrm>
            <a:off x="10752626" y="3006595"/>
            <a:ext cx="128699" cy="187198"/>
          </a:xfrm>
          <a:prstGeom prst="rect">
            <a:avLst/>
          </a:prstGeom>
        </p:spPr>
      </p:pic>
      <p:sp>
        <p:nvSpPr>
          <p:cNvPr id="122" name="TextBox 121"/>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3" name="Picture 122" descr="lock.png"/>
          <p:cNvPicPr>
            <a:picLocks noChangeAspect="1"/>
          </p:cNvPicPr>
          <p:nvPr/>
        </p:nvPicPr>
        <p:blipFill>
          <a:blip r:embed="rId4"/>
          <a:stretch>
            <a:fillRect/>
          </a:stretch>
        </p:blipFill>
        <p:spPr>
          <a:xfrm>
            <a:off x="9787757" y="3174235"/>
            <a:ext cx="128699" cy="187198"/>
          </a:xfrm>
          <a:prstGeom prst="rect">
            <a:avLst/>
          </a:prstGeom>
        </p:spPr>
      </p:pic>
      <p:sp>
        <p:nvSpPr>
          <p:cNvPr id="124" name="TextBox 123"/>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5" name="TextBox 124"/>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6" name="TextBox 125"/>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7" name="TextBox 126"/>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8" name="Picture 127" descr="lock.png"/>
          <p:cNvPicPr>
            <a:picLocks noChangeAspect="1"/>
          </p:cNvPicPr>
          <p:nvPr/>
        </p:nvPicPr>
        <p:blipFill>
          <a:blip r:embed="rId4"/>
          <a:stretch>
            <a:fillRect/>
          </a:stretch>
        </p:blipFill>
        <p:spPr>
          <a:xfrm>
            <a:off x="11242394" y="3866197"/>
            <a:ext cx="128699" cy="187198"/>
          </a:xfrm>
          <a:prstGeom prst="rect">
            <a:avLst/>
          </a:prstGeom>
        </p:spPr>
      </p:pic>
      <p:sp>
        <p:nvSpPr>
          <p:cNvPr id="129" name="TextBox 128"/>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0" name="TextBox 129"/>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1" name="TextBox 130"/>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2" name="TextBox 131"/>
          <p:cNvSpPr txBox="1"/>
          <p:nvPr/>
        </p:nvSpPr>
        <p:spPr>
          <a:xfrm>
            <a:off x="9801225" y="4567939"/>
            <a:ext cx="1269107" cy="186689"/>
          </a:xfrm>
          <a:prstGeom prst="rect">
            <a:avLst/>
          </a:prstGeom>
          <a:noFill/>
        </p:spPr>
        <p:txBody>
          <a:bodyPr wrap="none" lIns="0" rIns="0" tIns="0" bIns="0">
            <a:spAutoFit/>
          </a:bodyPr>
          <a:lstStyle/>
          <a:p>
            <a:r>
              <a:rPr sz="1100" b="0">
                <a:solidFill>
                  <a:srgbClr val="2E2E2E"/>
                </a:solidFill>
                <a:latin typeface="Calibri"/>
              </a:rPr>
              <a:t>and 'Sweet muffins' (</a:t>
            </a:r>
          </a:p>
        </p:txBody>
      </p:sp>
      <p:pic>
        <p:nvPicPr>
          <p:cNvPr id="133" name="Picture 132" descr="lock.png"/>
          <p:cNvPicPr>
            <a:picLocks noChangeAspect="1"/>
          </p:cNvPicPr>
          <p:nvPr/>
        </p:nvPicPr>
        <p:blipFill>
          <a:blip r:embed="rId4"/>
          <a:stretch>
            <a:fillRect/>
          </a:stretch>
        </p:blipFill>
        <p:spPr>
          <a:xfrm>
            <a:off x="11018383" y="4558160"/>
            <a:ext cx="128699" cy="187198"/>
          </a:xfrm>
          <a:prstGeom prst="rect">
            <a:avLst/>
          </a:prstGeom>
        </p:spPr>
      </p:pic>
      <p:sp>
        <p:nvSpPr>
          <p:cNvPr id="134" name="TextBox 133"/>
          <p:cNvSpPr txBox="1"/>
          <p:nvPr/>
        </p:nvSpPr>
        <p:spPr>
          <a:xfrm>
            <a:off x="11185879" y="4567939"/>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135" name="TextBox 134"/>
          <p:cNvSpPr txBox="1"/>
          <p:nvPr/>
        </p:nvSpPr>
        <p:spPr>
          <a:xfrm>
            <a:off x="9801225" y="4735579"/>
            <a:ext cx="1843459" cy="186689"/>
          </a:xfrm>
          <a:prstGeom prst="rect">
            <a:avLst/>
          </a:prstGeom>
          <a:noFill/>
        </p:spPr>
        <p:txBody>
          <a:bodyPr wrap="none" lIns="0" rIns="0" tIns="0" bIns="0">
            <a:spAutoFit/>
          </a:bodyPr>
          <a:lstStyle/>
          <a:p>
            <a:r>
              <a:rPr sz="1100" b="0">
                <a:solidFill>
                  <a:srgbClr val="2E2E2E"/>
                </a:solidFill>
                <a:latin typeface="Calibri"/>
              </a:rPr>
              <a:t>segment) remains the principal</a:t>
            </a:r>
          </a:p>
        </p:txBody>
      </p:sp>
      <p:sp>
        <p:nvSpPr>
          <p:cNvPr id="136" name="TextBox 135"/>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Packaged Muffins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Grupo Bimbo (Bimbo, Marinela, Little Bites, Thomas')</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McKee Foods Corporation (Little Debbie, Sunbelt Bakery, Drake's, Fieldstone Bakery), Grupo Bimbo (Bimbo, Marinela, Little Bites, Thomas'), Rich Products Corporation (Rich's).</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447550" cy="186689"/>
          </a:xfrm>
          <a:prstGeom prst="rect">
            <a:avLst/>
          </a:prstGeom>
          <a:noFill/>
        </p:spPr>
        <p:txBody>
          <a:bodyPr wrap="none" lIns="0" rIns="0" tIns="0" bIns="0">
            <a:spAutoFit/>
          </a:bodyPr>
          <a:lstStyle/>
          <a:p>
            <a:r>
              <a:rPr sz="1100" b="1">
                <a:solidFill>
                  <a:srgbClr val="0F2D52"/>
                </a:solidFill>
                <a:latin typeface="Calibri"/>
              </a:rPr>
              <a:t>Retail,</a:t>
            </a:r>
          </a:p>
        </p:txBody>
      </p:sp>
      <p:pic>
        <p:nvPicPr>
          <p:cNvPr id="68" name="Picture 67" descr="lock.png"/>
          <p:cNvPicPr>
            <a:picLocks noChangeAspect="1"/>
          </p:cNvPicPr>
          <p:nvPr/>
        </p:nvPicPr>
        <p:blipFill>
          <a:blip r:embed="rId4"/>
          <a:stretch>
            <a:fillRect/>
          </a:stretch>
        </p:blipFill>
        <p:spPr>
          <a:xfrm>
            <a:off x="5100952"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2 companies lead the 5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3.</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4144962" cy="186689"/>
          </a:xfrm>
          <a:prstGeom prst="rect">
            <a:avLst/>
          </a:prstGeom>
          <a:noFill/>
        </p:spPr>
        <p:txBody>
          <a:bodyPr wrap="none" lIns="0" rIns="0" tIns="0" bIns="0">
            <a:spAutoFit/>
          </a:bodyPr>
          <a:lstStyle/>
          <a:p>
            <a:r>
              <a:rPr sz="1100" b="0">
                <a:solidFill>
                  <a:srgbClr val="1F2933"/>
                </a:solidFill>
                <a:latin typeface="Calibri"/>
              </a:rPr>
              <a:t>'Sweet muffins' is the largest line; 'Sweet muffins' compounds fastest at</a:t>
            </a:r>
          </a:p>
        </p:txBody>
      </p:sp>
      <p:pic>
        <p:nvPicPr>
          <p:cNvPr id="79" name="Picture 78" descr="lock.png"/>
          <p:cNvPicPr>
            <a:picLocks noChangeAspect="1"/>
          </p:cNvPicPr>
          <p:nvPr/>
        </p:nvPicPr>
        <p:blipFill>
          <a:blip r:embed="rId4"/>
          <a:stretch>
            <a:fillRect/>
          </a:stretch>
        </p:blipFill>
        <p:spPr>
          <a:xfrm>
            <a:off x="4616889" y="4324096"/>
            <a:ext cx="128699" cy="187198"/>
          </a:xfrm>
          <a:prstGeom prst="rect">
            <a:avLst/>
          </a:prstGeom>
        </p:spPr>
      </p:pic>
      <p:sp>
        <p:nvSpPr>
          <p:cNvPr id="80" name="TextBox 79"/>
          <p:cNvSpPr txBox="1"/>
          <p:nvPr/>
        </p:nvSpPr>
        <p:spPr>
          <a:xfrm>
            <a:off x="4784384" y="433387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Grupo Bimbo (Bimbo, Marinela, Little Bites, Thomas'), McKee Foods Corporation (Little Debbie, Sunbelt Bakery, Drake's, Fieldstone Bakery), Hostess Brands (Hostess)</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Rich Products Corporation (Rich's), ARYZTA / Aspire Bakeries (Otis Spunkmeyer, Cuisine de France, Hiestand, Delice de France)</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Europastry (Europastry, Dots), Bridor (Bridor, Evasions), Lantmännen Unibake (Schulstad, Hatting, Vaasan, Pastridor, Euro-Bake), Flowers Foods (Tastykake, Nature's Own, Wonder, Dave's Killer Bread, Canyon Bakehouse), Premier Foods (Mr Kipling)</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Sweet muffins</a:t>
            </a:r>
          </a:p>
        </p:txBody>
      </p:sp>
      <p:sp>
        <p:nvSpPr>
          <p:cNvPr id="30" name="TextBox 29"/>
          <p:cNvSpPr txBox="1"/>
          <p:nvPr/>
        </p:nvSpPr>
        <p:spPr>
          <a:xfrm>
            <a:off x="40957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Savoury muffins</a:t>
            </a:r>
          </a:p>
        </p:txBody>
      </p:sp>
      <p:sp>
        <p:nvSpPr>
          <p:cNvPr id="31" name="TextBox 30"/>
          <p:cNvSpPr txBox="1"/>
          <p:nvPr/>
        </p:nvSpPr>
        <p:spPr>
          <a:xfrm>
            <a:off x="60769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Retail</a:t>
            </a:r>
          </a:p>
        </p:txBody>
      </p:sp>
      <p:sp>
        <p:nvSpPr>
          <p:cNvPr id="32" name="TextBox 31"/>
          <p:cNvSpPr txBox="1"/>
          <p:nvPr/>
        </p:nvSpPr>
        <p:spPr>
          <a:xfrm>
            <a:off x="80581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Foodservice and institutional</a:t>
            </a:r>
          </a:p>
        </p:txBody>
      </p:sp>
      <p:sp>
        <p:nvSpPr>
          <p:cNvPr id="33" name="TextBox 32"/>
          <p:cNvSpPr txBox="1"/>
          <p:nvPr/>
        </p:nvSpPr>
        <p:spPr>
          <a:xfrm>
            <a:off x="10039350" y="2114550"/>
            <a:ext cx="19431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Vending</a:t>
            </a:r>
          </a:p>
        </p:txBody>
      </p:sp>
      <p:cxnSp>
        <p:nvCxnSpPr>
          <p:cNvPr id="34" name="Connector 33"/>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37" name="TextBox 36"/>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Oval 37"/>
          <p:cNvSpPr/>
          <p:nvPr/>
        </p:nvSpPr>
        <p:spPr>
          <a:xfrm>
            <a:off x="30099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3086100"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Oval 39"/>
          <p:cNvSpPr/>
          <p:nvPr/>
        </p:nvSpPr>
        <p:spPr>
          <a:xfrm>
            <a:off x="49911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69723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89535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09347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47" name="TextBox 46"/>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Oval 47"/>
          <p:cNvSpPr/>
          <p:nvPr/>
        </p:nvSpPr>
        <p:spPr>
          <a:xfrm>
            <a:off x="30099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30861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49911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50673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69723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70485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89535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109347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110109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7" name="Connector 56"/>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60" name="TextBox 59"/>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1" name="Oval 60"/>
          <p:cNvSpPr/>
          <p:nvPr/>
        </p:nvSpPr>
        <p:spPr>
          <a:xfrm>
            <a:off x="30099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49911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69723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89535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029700"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9347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7" name="Connector 6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70" name="TextBox 69"/>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1" name="Oval 70"/>
          <p:cNvSpPr/>
          <p:nvPr/>
        </p:nvSpPr>
        <p:spPr>
          <a:xfrm>
            <a:off x="30099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Oval 71"/>
          <p:cNvSpPr/>
          <p:nvPr/>
        </p:nvSpPr>
        <p:spPr>
          <a:xfrm>
            <a:off x="49911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Freeform 72"/>
          <p:cNvSpPr/>
          <p:nvPr/>
        </p:nvSpPr>
        <p:spPr>
          <a:xfrm>
            <a:off x="50673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69723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70485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89535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90297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109347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9" name="Connector 78"/>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82" name="TextBox 81"/>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Oval 82"/>
          <p:cNvSpPr/>
          <p:nvPr/>
        </p:nvSpPr>
        <p:spPr>
          <a:xfrm>
            <a:off x="30099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Freeform 83"/>
          <p:cNvSpPr/>
          <p:nvPr/>
        </p:nvSpPr>
        <p:spPr>
          <a:xfrm>
            <a:off x="30861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49911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50673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69723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0485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9535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109347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110109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3" name="Rectangle 92"/>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95" name="TextBox 94"/>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6" name="Oval 95"/>
          <p:cNvSpPr/>
          <p:nvPr/>
        </p:nvSpPr>
        <p:spPr>
          <a:xfrm>
            <a:off x="30099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Freeform 96"/>
          <p:cNvSpPr/>
          <p:nvPr/>
        </p:nvSpPr>
        <p:spPr>
          <a:xfrm>
            <a:off x="30861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Oval 97"/>
          <p:cNvSpPr/>
          <p:nvPr/>
        </p:nvSpPr>
        <p:spPr>
          <a:xfrm>
            <a:off x="49911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Freeform 98"/>
          <p:cNvSpPr/>
          <p:nvPr/>
        </p:nvSpPr>
        <p:spPr>
          <a:xfrm>
            <a:off x="50673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Oval 99"/>
          <p:cNvSpPr/>
          <p:nvPr/>
        </p:nvSpPr>
        <p:spPr>
          <a:xfrm>
            <a:off x="69723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89535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90297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109347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110109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5" name="Connector 104"/>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6" name="Rectangle 105"/>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108" name="TextBox 107"/>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9" name="Oval 108"/>
          <p:cNvSpPr/>
          <p:nvPr/>
        </p:nvSpPr>
        <p:spPr>
          <a:xfrm>
            <a:off x="30099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0861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49911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69723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Freeform 112"/>
          <p:cNvSpPr/>
          <p:nvPr/>
        </p:nvSpPr>
        <p:spPr>
          <a:xfrm>
            <a:off x="70485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89535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9029700"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109347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7" name="Connector 116"/>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20" name="TextBox 119"/>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1" name="Oval 120"/>
          <p:cNvSpPr/>
          <p:nvPr/>
        </p:nvSpPr>
        <p:spPr>
          <a:xfrm>
            <a:off x="30099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49911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50673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69723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70485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89535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Oval 126"/>
          <p:cNvSpPr/>
          <p:nvPr/>
        </p:nvSpPr>
        <p:spPr>
          <a:xfrm>
            <a:off x="109347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Freeform 127"/>
          <p:cNvSpPr/>
          <p:nvPr/>
        </p:nvSpPr>
        <p:spPr>
          <a:xfrm>
            <a:off x="110109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9" name="Connector 128"/>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0" name="Rectangle 129"/>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32" name="TextBox 131"/>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3" name="Oval 132"/>
          <p:cNvSpPr/>
          <p:nvPr/>
        </p:nvSpPr>
        <p:spPr>
          <a:xfrm>
            <a:off x="30099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30861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49911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50673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69723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89535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90297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109347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110109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2" name="Connector 141"/>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3" name="Rectangle 142"/>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45" name="TextBox 144"/>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6" name="Oval 145"/>
          <p:cNvSpPr/>
          <p:nvPr/>
        </p:nvSpPr>
        <p:spPr>
          <a:xfrm>
            <a:off x="30099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30861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49911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50673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69723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Freeform 150"/>
          <p:cNvSpPr/>
          <p:nvPr/>
        </p:nvSpPr>
        <p:spPr>
          <a:xfrm>
            <a:off x="70485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Oval 151"/>
          <p:cNvSpPr/>
          <p:nvPr/>
        </p:nvSpPr>
        <p:spPr>
          <a:xfrm>
            <a:off x="89535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90297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109347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5" name="Connector 154"/>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6" name="Rectangle 155"/>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58" name="Rectangle 157"/>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60" name="Rectangle 159"/>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62" name="TextBox 161"/>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63" name="TextBox 162"/>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'Sweet muffins' is the most contested column (8 players active); 'Vending' is the most open (6).</a:t>
            </a:r>
          </a:p>
        </p:txBody>
      </p:sp>
      <p:sp>
        <p:nvSpPr>
          <p:cNvPr id="164" name="TextBox 1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65" name="TextBox 164"/>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66" name="Picture 165" descr="lock.png"/>
          <p:cNvPicPr>
            <a:picLocks noChangeAspect="1"/>
          </p:cNvPicPr>
          <p:nvPr/>
        </p:nvPicPr>
        <p:blipFill>
          <a:blip r:embed="rId4"/>
          <a:stretch>
            <a:fillRect/>
          </a:stretch>
        </p:blipFill>
        <p:spPr>
          <a:xfrm>
            <a:off x="622441" y="1297051"/>
            <a:ext cx="128699" cy="187198"/>
          </a:xfrm>
          <a:prstGeom prst="rect">
            <a:avLst/>
          </a:prstGeom>
        </p:spPr>
      </p:pic>
      <p:sp>
        <p:nvSpPr>
          <p:cNvPr id="167" name="TextBox 166"/>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68" name="Picture 167" descr="lock.png"/>
          <p:cNvPicPr>
            <a:picLocks noChangeAspect="1"/>
          </p:cNvPicPr>
          <p:nvPr/>
        </p:nvPicPr>
        <p:blipFill>
          <a:blip r:embed="rId4"/>
          <a:stretch>
            <a:fillRect/>
          </a:stretch>
        </p:blipFill>
        <p:spPr>
          <a:xfrm>
            <a:off x="5547332" y="1297051"/>
            <a:ext cx="128699" cy="187198"/>
          </a:xfrm>
          <a:prstGeom prst="rect">
            <a:avLst/>
          </a:prstGeom>
        </p:spPr>
      </p:pic>
      <p:sp>
        <p:nvSpPr>
          <p:cNvPr id="169" name="TextBox 168"/>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170" name="Picture 169" descr="lock.png"/>
          <p:cNvPicPr>
            <a:picLocks noChangeAspect="1"/>
          </p:cNvPicPr>
          <p:nvPr/>
        </p:nvPicPr>
        <p:blipFill>
          <a:blip r:embed="rId4"/>
          <a:stretch>
            <a:fillRect/>
          </a:stretch>
        </p:blipFill>
        <p:spPr>
          <a:xfrm>
            <a:off x="6890588" y="1297051"/>
            <a:ext cx="128699" cy="187198"/>
          </a:xfrm>
          <a:prstGeom prst="rect">
            <a:avLst/>
          </a:prstGeom>
        </p:spPr>
      </p:pic>
      <p:sp>
        <p:nvSpPr>
          <p:cNvPr id="171" name="TextBox 170"/>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172" name="Picture 171"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85750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31432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2004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32004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60960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61531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Sweet muffins, share</a:t>
            </a:r>
          </a:p>
        </p:txBody>
      </p:sp>
      <p:sp>
        <p:nvSpPr>
          <p:cNvPr id="17" name="TextBox 16"/>
          <p:cNvSpPr txBox="1"/>
          <p:nvPr/>
        </p:nvSpPr>
        <p:spPr>
          <a:xfrm>
            <a:off x="615315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90487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1059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Savoury muffins, share</a:t>
            </a:r>
          </a:p>
        </p:txBody>
      </p:sp>
      <p:sp>
        <p:nvSpPr>
          <p:cNvPr id="20" name="TextBox 19"/>
          <p:cNvSpPr txBox="1"/>
          <p:nvPr/>
        </p:nvSpPr>
        <p:spPr>
          <a:xfrm>
            <a:off x="91059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Sweet muffins</a:t>
            </a:r>
          </a:p>
        </p:txBody>
      </p:sp>
      <p:sp>
        <p:nvSpPr>
          <p:cNvPr id="25" name="TextBox 24"/>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6" name="TextBox 25"/>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27" name="TextBox 26"/>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28" name="TextBox 27"/>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29" name="Connector 28"/>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1" name="TextBox 30"/>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Hostess Brands (Hostess)</a:t>
            </a:r>
          </a:p>
        </p:txBody>
      </p:sp>
      <p:sp>
        <p:nvSpPr>
          <p:cNvPr id="32" name="TextBox 31"/>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3" name="TextBox 32"/>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Grupo Bimbo (Bimbo, Marinela, Little Bites, Thomas')</a:t>
            </a:r>
          </a:p>
        </p:txBody>
      </p:sp>
      <p:sp>
        <p:nvSpPr>
          <p:cNvPr id="34" name="TextBox 33"/>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 (Little Debbie, Sunbelt Bakery, Drake's, Fieldstone Bakery)</a:t>
            </a:r>
          </a:p>
        </p:txBody>
      </p:sp>
      <p:sp>
        <p:nvSpPr>
          <p:cNvPr id="35" name="TextBox 34"/>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 (Otis Spunkmeyer, Cuisine de France, Hiestand, Delice de France)</a:t>
            </a:r>
          </a:p>
        </p:txBody>
      </p:sp>
      <p:sp>
        <p:nvSpPr>
          <p:cNvPr id="36" name="TextBox 35"/>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 (Europastry, Dots)</a:t>
            </a:r>
          </a:p>
        </p:txBody>
      </p:sp>
      <p:cxnSp>
        <p:nvCxnSpPr>
          <p:cNvPr id="37" name="Connector 36"/>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39" name="TextBox 38"/>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0" name="Connector 39"/>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1" name="Freeform 40"/>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Savoury muffins</a:t>
            </a:r>
          </a:p>
        </p:txBody>
      </p:sp>
      <p:sp>
        <p:nvSpPr>
          <p:cNvPr id="45" name="TextBox 44"/>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6" name="TextBox 45"/>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47" name="TextBox 46"/>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48" name="TextBox 47"/>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49" name="Connector 48"/>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1" name="TextBox 50"/>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Grupo Bimbo (Bimbo, Marinela, Little Bites, Thomas')</a:t>
            </a:r>
          </a:p>
        </p:txBody>
      </p:sp>
      <p:sp>
        <p:nvSpPr>
          <p:cNvPr id="52" name="TextBox 51"/>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3" name="TextBox 52"/>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McKee Foods Corporation (Little Debbie, Sunbelt Bakery, Drake's, Fieldstone Bakery)</a:t>
            </a:r>
          </a:p>
        </p:txBody>
      </p:sp>
      <p:sp>
        <p:nvSpPr>
          <p:cNvPr id="54" name="TextBox 53"/>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Rich Products Corporation (Rich's)</a:t>
            </a:r>
          </a:p>
        </p:txBody>
      </p:sp>
      <p:sp>
        <p:nvSpPr>
          <p:cNvPr id="55" name="TextBox 54"/>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ARYZTA / Aspire Bakeries (Otis Spunkmeyer, Cuisine de France, Hiestand, Delice de France)</a:t>
            </a:r>
          </a:p>
        </p:txBody>
      </p:sp>
      <p:sp>
        <p:nvSpPr>
          <p:cNvPr id="56" name="TextBox 55"/>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Europastry (Europastry, Dots)</a:t>
            </a:r>
          </a:p>
        </p:txBody>
      </p:sp>
      <p:cxnSp>
        <p:nvCxnSpPr>
          <p:cNvPr id="57" name="Connector 56"/>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59" name="TextBox 58"/>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0" name="Connector 59"/>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1" name="Freeform 60"/>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Sales Channel</a:t>
            </a:r>
          </a:p>
        </p:txBody>
      </p:sp>
      <p:sp>
        <p:nvSpPr>
          <p:cNvPr id="65" name="TextBox 64"/>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66" name="TextBox 65"/>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67" name="Connector 66"/>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a:t>
            </a:r>
          </a:p>
        </p:txBody>
      </p:sp>
      <p:sp>
        <p:nvSpPr>
          <p:cNvPr id="69" name="Rectangle 68"/>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1" name="TextBox 70"/>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a:t>
            </a:r>
          </a:p>
        </p:txBody>
      </p:sp>
      <p:sp>
        <p:nvSpPr>
          <p:cNvPr id="72" name="Rectangle 71"/>
          <p:cNvSpPr/>
          <p:nvPr/>
        </p:nvSpPr>
        <p:spPr>
          <a:xfrm>
            <a:off x="10682288" y="2847975"/>
            <a:ext cx="417326"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37713"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4" name="TextBox 73"/>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Vending</a:t>
            </a:r>
          </a:p>
        </p:txBody>
      </p:sp>
      <p:sp>
        <p:nvSpPr>
          <p:cNvPr id="75" name="Rectangle 74"/>
          <p:cNvSpPr/>
          <p:nvPr/>
        </p:nvSpPr>
        <p:spPr>
          <a:xfrm>
            <a:off x="10682288" y="3171825"/>
            <a:ext cx="5294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077333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7" name="Connector 76"/>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79" name="TextBox 78"/>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0" name="Rectangle 79"/>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83" name="TextBox 82"/>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Sweet muffins Compounds Fastest Across the Product Type Mix  |  South Asia &amp; Pacific Emerges as the Growth Engine Among Regions  |  Premiumisation Lifts Average Realisation</a:t>
            </a:r>
          </a:p>
        </p:txBody>
      </p:sp>
      <p:sp>
        <p:nvSpPr>
          <p:cNvPr id="84" name="Rectangle 83"/>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87" name="TextBox 86"/>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Savoury muffins Lags the Category and Dilutes Blended Growth  |  Uneven Region Performance Caps the Blended Rate  |  Concentration Risk Limits Pricing and Sourcing Flexibility</a:t>
            </a:r>
          </a:p>
        </p:txBody>
      </p:sp>
      <p:sp>
        <p:nvSpPr>
          <p:cNvPr id="88" name="TextBox 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9" name="Picture 88" descr="lock.png"/>
          <p:cNvPicPr>
            <a:picLocks noChangeAspect="1"/>
          </p:cNvPicPr>
          <p:nvPr/>
        </p:nvPicPr>
        <p:blipFill>
          <a:blip r:embed="rId4"/>
          <a:stretch>
            <a:fillRect/>
          </a:stretch>
        </p:blipFill>
        <p:spPr>
          <a:xfrm>
            <a:off x="1612050" y="1258951"/>
            <a:ext cx="128699" cy="187198"/>
          </a:xfrm>
          <a:prstGeom prst="rect">
            <a:avLst/>
          </a:prstGeom>
        </p:spPr>
      </p:pic>
      <p:pic>
        <p:nvPicPr>
          <p:cNvPr id="90" name="Picture 89" descr="lock.png"/>
          <p:cNvPicPr>
            <a:picLocks noChangeAspect="1"/>
          </p:cNvPicPr>
          <p:nvPr/>
        </p:nvPicPr>
        <p:blipFill>
          <a:blip r:embed="rId4"/>
          <a:stretch>
            <a:fillRect/>
          </a:stretch>
        </p:blipFill>
        <p:spPr>
          <a:xfrm>
            <a:off x="4564800" y="1258951"/>
            <a:ext cx="128699" cy="187198"/>
          </a:xfrm>
          <a:prstGeom prst="rect">
            <a:avLst/>
          </a:prstGeom>
        </p:spPr>
      </p:pic>
      <p:pic>
        <p:nvPicPr>
          <p:cNvPr id="91" name="Picture 90" descr="lock.png"/>
          <p:cNvPicPr>
            <a:picLocks noChangeAspect="1"/>
          </p:cNvPicPr>
          <p:nvPr/>
        </p:nvPicPr>
        <p:blipFill>
          <a:blip r:embed="rId4"/>
          <a:stretch>
            <a:fillRect/>
          </a:stretch>
        </p:blipFill>
        <p:spPr>
          <a:xfrm>
            <a:off x="7517550" y="1258951"/>
            <a:ext cx="128699" cy="187198"/>
          </a:xfrm>
          <a:prstGeom prst="rect">
            <a:avLst/>
          </a:prstGeom>
        </p:spPr>
      </p:pic>
      <p:pic>
        <p:nvPicPr>
          <p:cNvPr id="92" name="Picture 91" descr="lock.png"/>
          <p:cNvPicPr>
            <a:picLocks noChangeAspect="1"/>
          </p:cNvPicPr>
          <p:nvPr/>
        </p:nvPicPr>
        <p:blipFill>
          <a:blip r:embed="rId4"/>
          <a:stretch>
            <a:fillRect/>
          </a:stretch>
        </p:blipFill>
        <p:spPr>
          <a:xfrm>
            <a:off x="10470300" y="1258951"/>
            <a:ext cx="128699" cy="187198"/>
          </a:xfrm>
          <a:prstGeom prst="rect">
            <a:avLst/>
          </a:prstGeom>
        </p:spPr>
      </p:pic>
      <p:pic>
        <p:nvPicPr>
          <p:cNvPr id="93" name="Picture 92" descr="lock.png"/>
          <p:cNvPicPr>
            <a:picLocks noChangeAspect="1"/>
          </p:cNvPicPr>
          <p:nvPr/>
        </p:nvPicPr>
        <p:blipFill>
          <a:blip r:embed="rId4"/>
          <a:stretch>
            <a:fillRect/>
          </a:stretch>
        </p:blipFill>
        <p:spPr>
          <a:xfrm>
            <a:off x="554775" y="1925701"/>
            <a:ext cx="128699" cy="187198"/>
          </a:xfrm>
          <a:prstGeom prst="rect">
            <a:avLst/>
          </a:prstGeom>
        </p:spPr>
      </p:pic>
      <p:pic>
        <p:nvPicPr>
          <p:cNvPr id="94" name="Picture 93" descr="lock.png"/>
          <p:cNvPicPr>
            <a:picLocks noChangeAspect="1"/>
          </p:cNvPicPr>
          <p:nvPr/>
        </p:nvPicPr>
        <p:blipFill>
          <a:blip r:embed="rId4"/>
          <a:stretch>
            <a:fillRect/>
          </a:stretch>
        </p:blipFill>
        <p:spPr>
          <a:xfrm>
            <a:off x="554775" y="2135251"/>
            <a:ext cx="128699" cy="187198"/>
          </a:xfrm>
          <a:prstGeom prst="rect">
            <a:avLst/>
          </a:prstGeom>
        </p:spPr>
      </p:pic>
      <p:pic>
        <p:nvPicPr>
          <p:cNvPr id="95" name="Picture 94" descr="lock.png"/>
          <p:cNvPicPr>
            <a:picLocks noChangeAspect="1"/>
          </p:cNvPicPr>
          <p:nvPr/>
        </p:nvPicPr>
        <p:blipFill>
          <a:blip r:embed="rId4"/>
          <a:stretch>
            <a:fillRect/>
          </a:stretch>
        </p:blipFill>
        <p:spPr>
          <a:xfrm>
            <a:off x="3569437" y="1925701"/>
            <a:ext cx="128699" cy="187198"/>
          </a:xfrm>
          <a:prstGeom prst="rect">
            <a:avLst/>
          </a:prstGeom>
        </p:spPr>
      </p:pic>
      <p:pic>
        <p:nvPicPr>
          <p:cNvPr id="96" name="Picture 95" descr="lock.png"/>
          <p:cNvPicPr>
            <a:picLocks noChangeAspect="1"/>
          </p:cNvPicPr>
          <p:nvPr/>
        </p:nvPicPr>
        <p:blipFill>
          <a:blip r:embed="rId4"/>
          <a:stretch>
            <a:fillRect/>
          </a:stretch>
        </p:blipFill>
        <p:spPr>
          <a:xfrm>
            <a:off x="3569437" y="2135251"/>
            <a:ext cx="128699" cy="187198"/>
          </a:xfrm>
          <a:prstGeom prst="rect">
            <a:avLst/>
          </a:prstGeom>
        </p:spPr>
      </p:pic>
      <p:pic>
        <p:nvPicPr>
          <p:cNvPr id="97" name="Picture 96" descr="lock.png"/>
          <p:cNvPicPr>
            <a:picLocks noChangeAspect="1"/>
          </p:cNvPicPr>
          <p:nvPr/>
        </p:nvPicPr>
        <p:blipFill>
          <a:blip r:embed="rId4"/>
          <a:stretch>
            <a:fillRect/>
          </a:stretch>
        </p:blipFill>
        <p:spPr>
          <a:xfrm>
            <a:off x="11660925" y="2487676"/>
            <a:ext cx="128699" cy="187198"/>
          </a:xfrm>
          <a:prstGeom prst="rect">
            <a:avLst/>
          </a:prstGeom>
        </p:spPr>
      </p:pic>
      <p:pic>
        <p:nvPicPr>
          <p:cNvPr id="98" name="Picture 97" descr="lock.png"/>
          <p:cNvPicPr>
            <a:picLocks noChangeAspect="1"/>
          </p:cNvPicPr>
          <p:nvPr/>
        </p:nvPicPr>
        <p:blipFill>
          <a:blip r:embed="rId4"/>
          <a:stretch>
            <a:fillRect/>
          </a:stretch>
        </p:blipFill>
        <p:spPr>
          <a:xfrm>
            <a:off x="11311488" y="2811526"/>
            <a:ext cx="128699" cy="187198"/>
          </a:xfrm>
          <a:prstGeom prst="rect">
            <a:avLst/>
          </a:prstGeom>
        </p:spPr>
      </p:pic>
      <p:pic>
        <p:nvPicPr>
          <p:cNvPr id="99" name="Picture 98" descr="lock.png"/>
          <p:cNvPicPr>
            <a:picLocks noChangeAspect="1"/>
          </p:cNvPicPr>
          <p:nvPr/>
        </p:nvPicPr>
        <p:blipFill>
          <a:blip r:embed="rId4"/>
          <a:stretch>
            <a:fillRect/>
          </a:stretch>
        </p:blipFill>
        <p:spPr>
          <a:xfrm>
            <a:off x="10947111" y="3135376"/>
            <a:ext cx="128699" cy="187198"/>
          </a:xfrm>
          <a:prstGeom prst="rect">
            <a:avLst/>
          </a:prstGeom>
        </p:spPr>
      </p:pic>
      <p:sp>
        <p:nvSpPr>
          <p:cNvPr id="100" name="TextBox 99"/>
          <p:cNvSpPr txBox="1"/>
          <p:nvPr/>
        </p:nvSpPr>
        <p:spPr>
          <a:xfrm>
            <a:off x="314325" y="4676775"/>
            <a:ext cx="2292573" cy="186689"/>
          </a:xfrm>
          <a:prstGeom prst="rect">
            <a:avLst/>
          </a:prstGeom>
          <a:noFill/>
        </p:spPr>
        <p:txBody>
          <a:bodyPr wrap="none" lIns="0" rIns="0" tIns="0" bIns="0">
            <a:spAutoFit/>
          </a:bodyPr>
          <a:lstStyle/>
          <a:p>
            <a:r>
              <a:rPr sz="1100" b="0">
                <a:solidFill>
                  <a:srgbClr val="1F2933"/>
                </a:solidFill>
                <a:latin typeface="Calibri"/>
              </a:rPr>
              <a:t>5 named players compete here; 'Sweet</a:t>
            </a:r>
          </a:p>
        </p:txBody>
      </p:sp>
      <p:sp>
        <p:nvSpPr>
          <p:cNvPr id="101" name="TextBox 100"/>
          <p:cNvSpPr txBox="1"/>
          <p:nvPr/>
        </p:nvSpPr>
        <p:spPr>
          <a:xfrm>
            <a:off x="314325"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2" name="Picture 101" descr="lock.png"/>
          <p:cNvPicPr>
            <a:picLocks noChangeAspect="1"/>
          </p:cNvPicPr>
          <p:nvPr/>
        </p:nvPicPr>
        <p:blipFill>
          <a:blip r:embed="rId4"/>
          <a:stretch>
            <a:fillRect/>
          </a:stretch>
        </p:blipFill>
        <p:spPr>
          <a:xfrm>
            <a:off x="1099559" y="4834636"/>
            <a:ext cx="128699" cy="187198"/>
          </a:xfrm>
          <a:prstGeom prst="rect">
            <a:avLst/>
          </a:prstGeom>
        </p:spPr>
      </p:pic>
      <p:sp>
        <p:nvSpPr>
          <p:cNvPr id="103" name="TextBox 102"/>
          <p:cNvSpPr txBox="1"/>
          <p:nvPr/>
        </p:nvSpPr>
        <p:spPr>
          <a:xfrm>
            <a:off x="1267055"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4" name="TextBox 103"/>
          <p:cNvSpPr txBox="1"/>
          <p:nvPr/>
        </p:nvSpPr>
        <p:spPr>
          <a:xfrm>
            <a:off x="3328987" y="4676775"/>
            <a:ext cx="2395711" cy="186689"/>
          </a:xfrm>
          <a:prstGeom prst="rect">
            <a:avLst/>
          </a:prstGeom>
          <a:noFill/>
        </p:spPr>
        <p:txBody>
          <a:bodyPr wrap="none" lIns="0" rIns="0" tIns="0" bIns="0">
            <a:spAutoFit/>
          </a:bodyPr>
          <a:lstStyle/>
          <a:p>
            <a:r>
              <a:rPr sz="1100" b="0">
                <a:solidFill>
                  <a:srgbClr val="1F2933"/>
                </a:solidFill>
                <a:latin typeface="Calibri"/>
              </a:rPr>
              <a:t>5 named players compete here; 'Savoury</a:t>
            </a:r>
          </a:p>
        </p:txBody>
      </p:sp>
      <p:sp>
        <p:nvSpPr>
          <p:cNvPr id="105" name="TextBox 104"/>
          <p:cNvSpPr txBox="1"/>
          <p:nvPr/>
        </p:nvSpPr>
        <p:spPr>
          <a:xfrm>
            <a:off x="3328987" y="4844415"/>
            <a:ext cx="837183" cy="186689"/>
          </a:xfrm>
          <a:prstGeom prst="rect">
            <a:avLst/>
          </a:prstGeom>
          <a:noFill/>
        </p:spPr>
        <p:txBody>
          <a:bodyPr wrap="none" lIns="0" rIns="0" tIns="0" bIns="0">
            <a:spAutoFit/>
          </a:bodyPr>
          <a:lstStyle/>
          <a:p>
            <a:r>
              <a:rPr sz="1100" b="0">
                <a:solidFill>
                  <a:srgbClr val="1F2933"/>
                </a:solidFill>
                <a:latin typeface="Calibri"/>
              </a:rPr>
              <a:t>muffins' adds</a:t>
            </a:r>
          </a:p>
        </p:txBody>
      </p:sp>
      <p:pic>
        <p:nvPicPr>
          <p:cNvPr id="106" name="Picture 105" descr="lock.png"/>
          <p:cNvPicPr>
            <a:picLocks noChangeAspect="1"/>
          </p:cNvPicPr>
          <p:nvPr/>
        </p:nvPicPr>
        <p:blipFill>
          <a:blip r:embed="rId4"/>
          <a:stretch>
            <a:fillRect/>
          </a:stretch>
        </p:blipFill>
        <p:spPr>
          <a:xfrm>
            <a:off x="4114221" y="4834636"/>
            <a:ext cx="128699" cy="187198"/>
          </a:xfrm>
          <a:prstGeom prst="rect">
            <a:avLst/>
          </a:prstGeom>
        </p:spPr>
      </p:pic>
      <p:sp>
        <p:nvSpPr>
          <p:cNvPr id="107" name="TextBox 106"/>
          <p:cNvSpPr txBox="1"/>
          <p:nvPr/>
        </p:nvSpPr>
        <p:spPr>
          <a:xfrm>
            <a:off x="4281717"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08" name="TextBox 107"/>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09" name="Picture 108" descr="lock.png"/>
          <p:cNvPicPr>
            <a:picLocks noChangeAspect="1"/>
          </p:cNvPicPr>
          <p:nvPr/>
        </p:nvPicPr>
        <p:blipFill>
          <a:blip r:embed="rId4"/>
          <a:stretch>
            <a:fillRect/>
          </a:stretch>
        </p:blipFill>
        <p:spPr>
          <a:xfrm>
            <a:off x="11035226" y="4666996"/>
            <a:ext cx="128699" cy="187198"/>
          </a:xfrm>
          <a:prstGeom prst="rect">
            <a:avLst/>
          </a:prstGeom>
        </p:spPr>
      </p:pic>
      <p:sp>
        <p:nvSpPr>
          <p:cNvPr id="110" name="TextBox 109"/>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11" name="TextBox 110"/>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12" name="TextBox 111"/>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ARYZTA / Aspire Bakeries (Otis Spunkmeyer, Cuisine de France, Hiestand, Delice de France)</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Europastry (Europastry, Dots)</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Bridor (Bridor, Evasions)</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Lantmännen Unibake (Schulstad, Hatting, Vaasan, Pastridor, Euro-Bake)</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Flowers Foods (Tastykake, Nature's Own, Wonder, Dave's Killer Bread, Canyon Bakehouse)</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Premier Foods (Mr Kipling)</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99" name="Picture 98" descr="lock.png"/>
          <p:cNvPicPr>
            <a:picLocks noChangeAspect="1"/>
          </p:cNvPicPr>
          <p:nvPr/>
        </p:nvPicPr>
        <p:blipFill>
          <a:blip r:embed="rId4"/>
          <a:stretch>
            <a:fillRect/>
          </a:stretch>
        </p:blipFill>
        <p:spPr>
          <a:xfrm>
            <a:off x="959834" y="5867145"/>
            <a:ext cx="128699" cy="187198"/>
          </a:xfrm>
          <a:prstGeom prst="rect">
            <a:avLst/>
          </a:prstGeom>
        </p:spPr>
      </p:pic>
      <p:sp>
        <p:nvSpPr>
          <p:cNvPr id="100" name="TextBox 99"/>
          <p:cNvSpPr txBox="1"/>
          <p:nvPr/>
        </p:nvSpPr>
        <p:spPr>
          <a:xfrm>
            <a:off x="112733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2" name="Picture 101" descr="lock.png"/>
          <p:cNvPicPr>
            <a:picLocks noChangeAspect="1"/>
          </p:cNvPicPr>
          <p:nvPr/>
        </p:nvPicPr>
        <p:blipFill>
          <a:blip r:embed="rId4"/>
          <a:stretch>
            <a:fillRect/>
          </a:stretch>
        </p:blipFill>
        <p:spPr>
          <a:xfrm>
            <a:off x="3960209" y="5867145"/>
            <a:ext cx="128699" cy="187198"/>
          </a:xfrm>
          <a:prstGeom prst="rect">
            <a:avLst/>
          </a:prstGeom>
        </p:spPr>
      </p:pic>
      <p:sp>
        <p:nvSpPr>
          <p:cNvPr id="103" name="TextBox 102"/>
          <p:cNvSpPr txBox="1"/>
          <p:nvPr/>
        </p:nvSpPr>
        <p:spPr>
          <a:xfrm>
            <a:off x="4127705"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5" name="Picture 104" descr="lock.png"/>
          <p:cNvPicPr>
            <a:picLocks noChangeAspect="1"/>
          </p:cNvPicPr>
          <p:nvPr/>
        </p:nvPicPr>
        <p:blipFill>
          <a:blip r:embed="rId4"/>
          <a:stretch>
            <a:fillRect/>
          </a:stretch>
        </p:blipFill>
        <p:spPr>
          <a:xfrm>
            <a:off x="6960584" y="5867145"/>
            <a:ext cx="128699" cy="187198"/>
          </a:xfrm>
          <a:prstGeom prst="rect">
            <a:avLst/>
          </a:prstGeom>
        </p:spPr>
      </p:pic>
      <p:sp>
        <p:nvSpPr>
          <p:cNvPr id="106" name="TextBox 105"/>
          <p:cNvSpPr txBox="1"/>
          <p:nvPr/>
        </p:nvSpPr>
        <p:spPr>
          <a:xfrm>
            <a:off x="712808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6181725" y="2324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TextBox 39"/>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1" name="Connector 40"/>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44" name="TextBox 43"/>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5" name="TextBox 44"/>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6" name="TextBox 45"/>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7" name="Oval 46"/>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TextBox 52"/>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4" name="Connector 5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57" name="TextBox 5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9" name="TextBox 58"/>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60" name="Oval 59"/>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6181725" y="30099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7" name="TextBox 66"/>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8" name="Connector 6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71" name="TextBox 7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2" name="TextBox 71"/>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TextBox 72"/>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4" name="Oval 73"/>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6181725" y="33528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TextBox 80"/>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2" name="Connector 81"/>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3" name="Rectangle 82"/>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85" name="TextBox 84"/>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6" name="TextBox 85"/>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7" name="TextBox 86"/>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8" name="Oval 87"/>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7" name="TextBox 96"/>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8" name="Connector 97"/>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9" name="Rectangle 98"/>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101" name="TextBox 100"/>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2" name="TextBox 101"/>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TextBox 102"/>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4" name="Oval 103"/>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117" name="TextBox 116"/>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TextBox 117"/>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9" name="TextBox 118"/>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20" name="Oval 119"/>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18172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9" name="TextBox 128"/>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0" name="Connector 129"/>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Rectangle 130"/>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33" name="TextBox 132"/>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4" name="TextBox 133"/>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6" name="Oval 135"/>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618172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5" name="TextBox 144"/>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6" name="Connector 145"/>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7" name="Rectangle 146"/>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49" name="TextBox 148"/>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0" name="TextBox 149"/>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1" name="TextBox 150"/>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2" name="Oval 151"/>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Oval 155"/>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Oval 157"/>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1" name="TextBox 160"/>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2" name="Connector 161"/>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3" name="Rectangle 162"/>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65" name="TextBox 164"/>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6" name="TextBox 165"/>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7" name="TextBox 166"/>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8" name="Oval 167"/>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Freeform 170"/>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Oval 171"/>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7" name="TextBox 176"/>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8" name="Connector 177"/>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9" name="Oval 178"/>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1" name="Oval 180"/>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4" name="Oval 183"/>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Freeform 184"/>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7" name="Oval 186"/>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9" name="TextBox 188"/>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0" name="TextBox 189"/>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1" name="TextBox 1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2" name="TextBox 191"/>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3" name="Picture 192" descr="lock.png"/>
          <p:cNvPicPr>
            <a:picLocks noChangeAspect="1"/>
          </p:cNvPicPr>
          <p:nvPr/>
        </p:nvPicPr>
        <p:blipFill>
          <a:blip r:embed="rId4"/>
          <a:stretch>
            <a:fillRect/>
          </a:stretch>
        </p:blipFill>
        <p:spPr>
          <a:xfrm>
            <a:off x="9240209" y="1657096"/>
            <a:ext cx="128699" cy="187198"/>
          </a:xfrm>
          <a:prstGeom prst="rect">
            <a:avLst/>
          </a:prstGeom>
        </p:spPr>
      </p:pic>
      <p:sp>
        <p:nvSpPr>
          <p:cNvPr id="194" name="TextBox 193"/>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5" name="Picture 194" descr="lock.png"/>
          <p:cNvPicPr>
            <a:picLocks noChangeAspect="1"/>
          </p:cNvPicPr>
          <p:nvPr/>
        </p:nvPicPr>
        <p:blipFill>
          <a:blip r:embed="rId4"/>
          <a:stretch>
            <a:fillRect/>
          </a:stretch>
        </p:blipFill>
        <p:spPr>
          <a:xfrm>
            <a:off x="8879707" y="1824736"/>
            <a:ext cx="128699" cy="187198"/>
          </a:xfrm>
          <a:prstGeom prst="rect">
            <a:avLst/>
          </a:prstGeom>
        </p:spPr>
      </p:pic>
      <p:sp>
        <p:nvSpPr>
          <p:cNvPr id="196" name="TextBox 195"/>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7" name="Picture 196" descr="lock.png"/>
          <p:cNvPicPr>
            <a:picLocks noChangeAspect="1"/>
          </p:cNvPicPr>
          <p:nvPr/>
        </p:nvPicPr>
        <p:blipFill>
          <a:blip r:embed="rId4"/>
          <a:stretch>
            <a:fillRect/>
          </a:stretch>
        </p:blipFill>
        <p:spPr>
          <a:xfrm>
            <a:off x="3126525"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3067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6496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29925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3354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36783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0212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3641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47070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049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3126525"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0349650" y="5392801"/>
            <a:ext cx="128699" cy="187198"/>
          </a:xfrm>
          <a:prstGeom prst="rect">
            <a:avLst/>
          </a:prstGeom>
        </p:spPr>
      </p:pic>
      <p:pic>
        <p:nvPicPr>
          <p:cNvPr id="226" name="Picture 225"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Vending</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Foodservice and institutional, Vending</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Retail, Foodservice and institutional</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Grupo Bimbo (Bimbo, Marinela, Little Bites, Thomas')</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McKee Foods Corporation (Little Debbie, Sunbelt Bakery, Drake's, Fieldstone Bakery)</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Hostess Brands (Hostess)</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Rich Products Corporation (Rich's)</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ARYZTA / Aspire Bakeries (Otis Spunkmeyer, Cuisine de France, Hiestand, Delice de France)</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Europastry (Europastry, Dots)</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Bridor (Bridor, Evasions)</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Lantmännen Unibake (Schulstad, Hatting, Vaasan, Pastridor, Euro-Bake)</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Flowers Foods (Tastykake, Nature's Own, Wonder, Dave's Killer Bread, Canyon Bakehouse)</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Premier Foods (Mr Kipling)</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 (Little Debbie, Sunbelt Bakery, Drake's, Fieldstone Bakery)</a:t>
            </a:r>
          </a:p>
        </p:txBody>
      </p:sp>
      <p:sp>
        <p:nvSpPr>
          <p:cNvPr id="30" name="Oval 29"/>
          <p:cNvSpPr/>
          <p:nvPr/>
        </p:nvSpPr>
        <p:spPr>
          <a:xfrm>
            <a:off x="284797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92417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4871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Grupo Bimbo (Bimbo, Marinela, Little Bites, Thomas')</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0420350" y="22002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114300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0" name="Connector 49"/>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 (Rich's)</a:t>
            </a:r>
          </a:p>
        </p:txBody>
      </p:sp>
      <p:sp>
        <p:nvSpPr>
          <p:cNvPr id="53" name="Oval 52"/>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924175" y="2495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78200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10420350" y="2505075"/>
            <a:ext cx="9144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137285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1" name="Connector 60"/>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190500" y="27622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Europastry (Europastry, Dots)</a:t>
            </a:r>
          </a:p>
        </p:txBody>
      </p:sp>
      <p:sp>
        <p:nvSpPr>
          <p:cNvPr id="64" name="Oval 63"/>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450532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458152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61626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62388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Oval 70"/>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0420350" y="28098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3347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4" name="Connector 73"/>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5" name="Rectangle 74"/>
          <p:cNvSpPr/>
          <p:nvPr/>
        </p:nvSpPr>
        <p:spPr>
          <a:xfrm>
            <a:off x="190500" y="30670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Hostess Brands (Hostess)</a:t>
            </a:r>
          </a:p>
        </p:txBody>
      </p:sp>
      <p:sp>
        <p:nvSpPr>
          <p:cNvPr id="77" name="Oval 76"/>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2924175" y="3105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45053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61626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Oval 80"/>
          <p:cNvSpPr/>
          <p:nvPr/>
        </p:nvSpPr>
        <p:spPr>
          <a:xfrm>
            <a:off x="78200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78962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0420350" y="3114675"/>
            <a:ext cx="8572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31570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6" name="Connector 85"/>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 (Otis Spunkmeyer, Cuisine de France, Hiestand, Delice de France)</a:t>
            </a:r>
          </a:p>
        </p:txBody>
      </p:sp>
      <p:sp>
        <p:nvSpPr>
          <p:cNvPr id="89" name="Oval 88"/>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0" name="Connector 99"/>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1" name="Rectangle 100"/>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Premier Foods (Mr Kipling)</a:t>
            </a:r>
          </a:p>
        </p:txBody>
      </p:sp>
      <p:sp>
        <p:nvSpPr>
          <p:cNvPr id="103" name="Oval 102"/>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3" name="Connector 112"/>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Flowers Foods (Tastykake, Nature's Own, Wonder, Dave's Killer Bread, Canyon Bakehouse)</a:t>
            </a:r>
          </a:p>
        </p:txBody>
      </p:sp>
      <p:sp>
        <p:nvSpPr>
          <p:cNvPr id="116" name="Oval 115"/>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reeform 116"/>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reeform 118"/>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7" name="Connector 126"/>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 (Schulstad, Hatting, Vaasan, Pastridor, Euro-Bake)</a:t>
            </a:r>
          </a:p>
        </p:txBody>
      </p:sp>
      <p:sp>
        <p:nvSpPr>
          <p:cNvPr id="130" name="Oval 129"/>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29241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782002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420350" y="4333875"/>
            <a:ext cx="6096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1106805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40" name="Connector 139"/>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1" name="Rectangle 140"/>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Bridor (Bridor, Evasions)</a:t>
            </a:r>
          </a:p>
        </p:txBody>
      </p:sp>
      <p:sp>
        <p:nvSpPr>
          <p:cNvPr id="143" name="Oval 142"/>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29241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Freeform 145"/>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Oval 146"/>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Freeform 147"/>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Oval 148"/>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0420350" y="4638675"/>
            <a:ext cx="5524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0109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4" name="Connector 153"/>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Oval 154"/>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7" name="Oval 156"/>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60" name="Oval 159"/>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3" name="Oval 162"/>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5" name="TextBox 164"/>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6" name="Rectangle 165"/>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8" name="TextBox 167"/>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McKee Foods Corporation (Little Debbie, Sunbelt Bakery, Drake's, Fieldstone Bakery), Grupo Bimbo (Bimbo, Marinela, Little Bites, Thomas'), Rich Products Corporation (Rich's), Hostess Brands (Hostess)</a:t>
            </a:r>
          </a:p>
        </p:txBody>
      </p:sp>
      <p:sp>
        <p:nvSpPr>
          <p:cNvPr id="169" name="TextBox 168"/>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70" name="Rectangle 169"/>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2" name="TextBox 171"/>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Europastry (Europastry, Dots), ARYZTA / Aspire Bakeries (Otis Spunkmeyer, Cuisine de France, Hiestand, Delice de France)</a:t>
            </a:r>
          </a:p>
        </p:txBody>
      </p:sp>
      <p:sp>
        <p:nvSpPr>
          <p:cNvPr id="173" name="TextBox 172"/>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4" name="Rectangle 173"/>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6" name="TextBox 175"/>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Premier Foods (Mr Kipling), Flowers Foods (Tastykake, Nature's Own, Wonder, Dave's Killer Bread, Canyon Bakehouse), Lantmännen Unibake (Schulstad, Hatting, Vaasan, Pastridor, Euro-Bake), Bridor (Bridor, Evasions)</a:t>
            </a:r>
          </a:p>
        </p:txBody>
      </p:sp>
      <p:sp>
        <p:nvSpPr>
          <p:cNvPr id="177" name="TextBox 176"/>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8" name="TextBox 1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9" name="Picture 178" descr="lock.png"/>
          <p:cNvPicPr>
            <a:picLocks noChangeAspect="1"/>
          </p:cNvPicPr>
          <p:nvPr/>
        </p:nvPicPr>
        <p:blipFill>
          <a:blip r:embed="rId4"/>
          <a:stretch>
            <a:fillRect/>
          </a:stretch>
        </p:blipFill>
        <p:spPr>
          <a:xfrm>
            <a:off x="11632350" y="18685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575200" y="21733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18050" y="24781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479950" y="27829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60900" y="30877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422800" y="33925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36973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0021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13250" y="4306951"/>
            <a:ext cx="128699" cy="187198"/>
          </a:xfrm>
          <a:prstGeom prst="rect">
            <a:avLst/>
          </a:prstGeom>
        </p:spPr>
      </p:pic>
      <p:pic>
        <p:nvPicPr>
          <p:cNvPr id="188" name="Picture 187" descr="lock.png"/>
          <p:cNvPicPr>
            <a:picLocks noChangeAspect="1"/>
          </p:cNvPicPr>
          <p:nvPr/>
        </p:nvPicPr>
        <p:blipFill>
          <a:blip r:embed="rId4"/>
          <a:stretch>
            <a:fillRect/>
          </a:stretch>
        </p:blipFill>
        <p:spPr>
          <a:xfrm>
            <a:off x="11156100" y="4611751"/>
            <a:ext cx="128699" cy="187198"/>
          </a:xfrm>
          <a:prstGeom prst="rect">
            <a:avLst/>
          </a:prstGeom>
        </p:spPr>
      </p:pic>
      <p:sp>
        <p:nvSpPr>
          <p:cNvPr id="189" name="TextBox 188"/>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0" name="Picture 189" descr="lock.png"/>
          <p:cNvPicPr>
            <a:picLocks noChangeAspect="1"/>
          </p:cNvPicPr>
          <p:nvPr/>
        </p:nvPicPr>
        <p:blipFill>
          <a:blip r:embed="rId4"/>
          <a:stretch>
            <a:fillRect/>
          </a:stretch>
        </p:blipFill>
        <p:spPr>
          <a:xfrm>
            <a:off x="2482959" y="1212159"/>
            <a:ext cx="92663" cy="134782"/>
          </a:xfrm>
          <a:prstGeom prst="rect">
            <a:avLst/>
          </a:prstGeom>
        </p:spPr>
      </p:pic>
      <p:sp>
        <p:nvSpPr>
          <p:cNvPr id="191" name="TextBox 190"/>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2" name="Picture 191" descr="lock.png"/>
          <p:cNvPicPr>
            <a:picLocks noChangeAspect="1"/>
          </p:cNvPicPr>
          <p:nvPr/>
        </p:nvPicPr>
        <p:blipFill>
          <a:blip r:embed="rId4"/>
          <a:stretch>
            <a:fillRect/>
          </a:stretch>
        </p:blipFill>
        <p:spPr>
          <a:xfrm>
            <a:off x="4140309" y="1212159"/>
            <a:ext cx="92663" cy="134782"/>
          </a:xfrm>
          <a:prstGeom prst="rect">
            <a:avLst/>
          </a:prstGeom>
        </p:spPr>
      </p:pic>
      <p:sp>
        <p:nvSpPr>
          <p:cNvPr id="193" name="TextBox 192"/>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4" name="Picture 193" descr="lock.png"/>
          <p:cNvPicPr>
            <a:picLocks noChangeAspect="1"/>
          </p:cNvPicPr>
          <p:nvPr/>
        </p:nvPicPr>
        <p:blipFill>
          <a:blip r:embed="rId4"/>
          <a:stretch>
            <a:fillRect/>
          </a:stretch>
        </p:blipFill>
        <p:spPr>
          <a:xfrm>
            <a:off x="5797659" y="1212159"/>
            <a:ext cx="92663" cy="134782"/>
          </a:xfrm>
          <a:prstGeom prst="rect">
            <a:avLst/>
          </a:prstGeom>
        </p:spPr>
      </p:pic>
      <p:sp>
        <p:nvSpPr>
          <p:cNvPr id="195" name="TextBox 194"/>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6" name="Picture 195" descr="lock.png"/>
          <p:cNvPicPr>
            <a:picLocks noChangeAspect="1"/>
          </p:cNvPicPr>
          <p:nvPr/>
        </p:nvPicPr>
        <p:blipFill>
          <a:blip r:embed="rId4"/>
          <a:stretch>
            <a:fillRect/>
          </a:stretch>
        </p:blipFill>
        <p:spPr>
          <a:xfrm>
            <a:off x="7455009" y="1212159"/>
            <a:ext cx="92663" cy="134782"/>
          </a:xfrm>
          <a:prstGeom prst="rect">
            <a:avLst/>
          </a:prstGeom>
        </p:spPr>
      </p:pic>
      <p:sp>
        <p:nvSpPr>
          <p:cNvPr id="197" name="TextBox 196"/>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8" name="Picture 197"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Grupo Bimbo (Bimbo, Marinela, Little Bites, Thomas')</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McKee Foods Corporation (Little Debbie, Sunbelt Bakery, Drake's, Fieldstone Bakery)</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Hostess Brands (Hostess)</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Rich Products Corporation (Rich's)</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ARYZTA / Aspire Bakeries (Otis Spunkmeyer, Cuisine de France, Hiestand, Delice de France)</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Europastry (Europastry, Dots)</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Bridor (Bridor, Evasions)</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Lantmännen Unibake (Schulstad, Hatting, Vaasan, Pastridor, Euro-Bake)</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Savoury muffins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Flowers Foods (Tastykake, Nature's Own, Wonder, Dave's Killer Bread, Canyon Bakehouse)</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Premier Foods (Mr Kipling)</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Sweet muffins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Grupo Bimbo (Bimbo, Marinela, Little Bites, Thomas')</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McKee Foods Corporation (Little Debbie, Sunbelt Bakery, Drake's, Fieldstone Bakery)</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Hostess Brands (Hostess)</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Rich Products Corporation (Rich's)</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ARYZTA / Aspire Bakeries (Otis Spunkmeyer, Cuisine de France, Hiestand, Delice de France)</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Europastry (Europastry, Dots)</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Bridor (Bridor, Evasions)</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Lantmännen Unibake (Schulstad, Hatting, Vaasan, Pastridor, Euro-Bake)</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Flowers Foods (Tastykake, Nature's Own, Wonder, Dave's Killer Bread, Canyon Bakehouse)</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Premier Foods (Mr Kipling)</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Grupo Bimbo (Bimbo, Marinela, Little Bites, Thomas') · McKee Foods Corporation (Little Debbie, Sunbelt Bakery, Drake's, Fieldstone Bakery) · Hostess Brands (Hostess) · Rich Products Corporation (Rich's)</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ARYZTA / Aspire Bakeries (Otis Spunkmeyer, Cuisine de France, Hiestand, Delice de France) · Europastry (Europastry, Dots)</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Bridor (Bridor, Evasions) · Lantmännen Unibake (Schulstad, Hatting, Vaasan, Pastridor, Euro-Bake) · Flowers Foods (Tastykake, Nature's Own, Wonder, Dave's Killer Bread, Canyon Bakehouse) · Premier Foods (Mr Kipling)</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11475188" y="20590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160488"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8989162"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9817838"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10646512" y="22876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160488"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8989162"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9817838"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10646512" y="25162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160487"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8989163"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9817837"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10646513" y="27448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160487"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8989163"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9817837"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0646513"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11475187" y="29734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160488"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8989163"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9817838" y="3202051"/>
            <a:ext cx="128699" cy="187198"/>
          </a:xfrm>
          <a:prstGeom prst="rect">
            <a:avLst/>
          </a:prstGeom>
        </p:spPr>
      </p:pic>
      <p:pic>
        <p:nvPicPr>
          <p:cNvPr id="266" name="Picture 265" descr="lock.png"/>
          <p:cNvPicPr>
            <a:picLocks noChangeAspect="1"/>
          </p:cNvPicPr>
          <p:nvPr/>
        </p:nvPicPr>
        <p:blipFill>
          <a:blip r:embed="rId4"/>
          <a:stretch>
            <a:fillRect/>
          </a:stretch>
        </p:blipFill>
        <p:spPr>
          <a:xfrm>
            <a:off x="8160488"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8989162"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9817838" y="3478276"/>
            <a:ext cx="128699" cy="187198"/>
          </a:xfrm>
          <a:prstGeom prst="rect">
            <a:avLst/>
          </a:prstGeom>
        </p:spPr>
      </p:pic>
      <p:pic>
        <p:nvPicPr>
          <p:cNvPr id="269" name="Picture 268" descr="lock.png"/>
          <p:cNvPicPr>
            <a:picLocks noChangeAspect="1"/>
          </p:cNvPicPr>
          <p:nvPr/>
        </p:nvPicPr>
        <p:blipFill>
          <a:blip r:embed="rId4"/>
          <a:stretch>
            <a:fillRect/>
          </a:stretch>
        </p:blipFill>
        <p:spPr>
          <a:xfrm>
            <a:off x="10646512" y="3478276"/>
            <a:ext cx="128699" cy="187198"/>
          </a:xfrm>
          <a:prstGeom prst="rect">
            <a:avLst/>
          </a:prstGeom>
        </p:spPr>
      </p:pic>
      <p:sp>
        <p:nvSpPr>
          <p:cNvPr id="270" name="TextBox 269"/>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1" name="Picture 270" descr="lock.png"/>
          <p:cNvPicPr>
            <a:picLocks noChangeAspect="1"/>
          </p:cNvPicPr>
          <p:nvPr/>
        </p:nvPicPr>
        <p:blipFill>
          <a:blip r:embed="rId4"/>
          <a:stretch>
            <a:fillRect/>
          </a:stretch>
        </p:blipFill>
        <p:spPr>
          <a:xfrm>
            <a:off x="706231" y="1335151"/>
            <a:ext cx="128699" cy="187198"/>
          </a:xfrm>
          <a:prstGeom prst="rect">
            <a:avLst/>
          </a:prstGeom>
        </p:spPr>
      </p:pic>
      <p:sp>
        <p:nvSpPr>
          <p:cNvPr id="272" name="TextBox 271"/>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3" name="Picture 272" descr="lock.png"/>
          <p:cNvPicPr>
            <a:picLocks noChangeAspect="1"/>
          </p:cNvPicPr>
          <p:nvPr/>
        </p:nvPicPr>
        <p:blipFill>
          <a:blip r:embed="rId4"/>
          <a:stretch>
            <a:fillRect/>
          </a:stretch>
        </p:blipFill>
        <p:spPr>
          <a:xfrm>
            <a:off x="2112168" y="1335151"/>
            <a:ext cx="128699" cy="187198"/>
          </a:xfrm>
          <a:prstGeom prst="rect">
            <a:avLst/>
          </a:prstGeom>
        </p:spPr>
      </p:pic>
      <p:sp>
        <p:nvSpPr>
          <p:cNvPr id="274" name="TextBox 273"/>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5" name="Picture 274" descr="lock.png"/>
          <p:cNvPicPr>
            <a:picLocks noChangeAspect="1"/>
          </p:cNvPicPr>
          <p:nvPr/>
        </p:nvPicPr>
        <p:blipFill>
          <a:blip r:embed="rId4"/>
          <a:stretch>
            <a:fillRect/>
          </a:stretch>
        </p:blipFill>
        <p:spPr>
          <a:xfrm>
            <a:off x="2430519" y="1335151"/>
            <a:ext cx="128699" cy="187198"/>
          </a:xfrm>
          <a:prstGeom prst="rect">
            <a:avLst/>
          </a:prstGeom>
        </p:spPr>
      </p:pic>
      <p:sp>
        <p:nvSpPr>
          <p:cNvPr id="276" name="TextBox 275"/>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7" name="Picture 276" descr="lock.png"/>
          <p:cNvPicPr>
            <a:picLocks noChangeAspect="1"/>
          </p:cNvPicPr>
          <p:nvPr/>
        </p:nvPicPr>
        <p:blipFill>
          <a:blip r:embed="rId4"/>
          <a:stretch>
            <a:fillRect/>
          </a:stretch>
        </p:blipFill>
        <p:spPr>
          <a:xfrm>
            <a:off x="1377182" y="1839976"/>
            <a:ext cx="128699" cy="187198"/>
          </a:xfrm>
          <a:prstGeom prst="rect">
            <a:avLst/>
          </a:prstGeom>
        </p:spPr>
      </p:pic>
      <p:sp>
        <p:nvSpPr>
          <p:cNvPr id="278" name="TextBox 277"/>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9" name="Picture 278" descr="lock.png"/>
          <p:cNvPicPr>
            <a:picLocks noChangeAspect="1"/>
          </p:cNvPicPr>
          <p:nvPr/>
        </p:nvPicPr>
        <p:blipFill>
          <a:blip r:embed="rId4"/>
          <a:stretch>
            <a:fillRect/>
          </a:stretch>
        </p:blipFill>
        <p:spPr>
          <a:xfrm>
            <a:off x="2922273" y="1839976"/>
            <a:ext cx="128699" cy="187198"/>
          </a:xfrm>
          <a:prstGeom prst="rect">
            <a:avLst/>
          </a:prstGeom>
        </p:spPr>
      </p:pic>
      <p:sp>
        <p:nvSpPr>
          <p:cNvPr id="280" name="TextBox 279"/>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1" name="Picture 280" descr="lock.png"/>
          <p:cNvPicPr>
            <a:picLocks noChangeAspect="1"/>
          </p:cNvPicPr>
          <p:nvPr/>
        </p:nvPicPr>
        <p:blipFill>
          <a:blip r:embed="rId4"/>
          <a:stretch>
            <a:fillRect/>
          </a:stretch>
        </p:blipFill>
        <p:spPr>
          <a:xfrm>
            <a:off x="1377182" y="2697226"/>
            <a:ext cx="128699" cy="187198"/>
          </a:xfrm>
          <a:prstGeom prst="rect">
            <a:avLst/>
          </a:prstGeom>
        </p:spPr>
      </p:pic>
      <p:sp>
        <p:nvSpPr>
          <p:cNvPr id="282" name="TextBox 281"/>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3" name="Picture 282" descr="lock.png"/>
          <p:cNvPicPr>
            <a:picLocks noChangeAspect="1"/>
          </p:cNvPicPr>
          <p:nvPr/>
        </p:nvPicPr>
        <p:blipFill>
          <a:blip r:embed="rId4"/>
          <a:stretch>
            <a:fillRect/>
          </a:stretch>
        </p:blipFill>
        <p:spPr>
          <a:xfrm>
            <a:off x="2922273" y="2697226"/>
            <a:ext cx="128699" cy="187198"/>
          </a:xfrm>
          <a:prstGeom prst="rect">
            <a:avLst/>
          </a:prstGeom>
        </p:spPr>
      </p:pic>
      <p:sp>
        <p:nvSpPr>
          <p:cNvPr id="284" name="TextBox 283"/>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5" name="Picture 284" descr="lock.png"/>
          <p:cNvPicPr>
            <a:picLocks noChangeAspect="1"/>
          </p:cNvPicPr>
          <p:nvPr/>
        </p:nvPicPr>
        <p:blipFill>
          <a:blip r:embed="rId4"/>
          <a:stretch>
            <a:fillRect/>
          </a:stretch>
        </p:blipFill>
        <p:spPr>
          <a:xfrm>
            <a:off x="1377182" y="3554476"/>
            <a:ext cx="128699" cy="187198"/>
          </a:xfrm>
          <a:prstGeom prst="rect">
            <a:avLst/>
          </a:prstGeom>
        </p:spPr>
      </p:pic>
      <p:sp>
        <p:nvSpPr>
          <p:cNvPr id="286" name="TextBox 285"/>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7" name="Picture 286" descr="lock.png"/>
          <p:cNvPicPr>
            <a:picLocks noChangeAspect="1"/>
          </p:cNvPicPr>
          <p:nvPr/>
        </p:nvPicPr>
        <p:blipFill>
          <a:blip r:embed="rId4"/>
          <a:stretch>
            <a:fillRect/>
          </a:stretch>
        </p:blipFill>
        <p:spPr>
          <a:xfrm>
            <a:off x="2922273" y="3554476"/>
            <a:ext cx="128699" cy="187198"/>
          </a:xfrm>
          <a:prstGeom prst="rect">
            <a:avLst/>
          </a:prstGeom>
        </p:spPr>
      </p:pic>
      <p:sp>
        <p:nvSpPr>
          <p:cNvPr id="288" name="TextBox 287"/>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9" name="Picture 288" descr="lock.png"/>
          <p:cNvPicPr>
            <a:picLocks noChangeAspect="1"/>
          </p:cNvPicPr>
          <p:nvPr/>
        </p:nvPicPr>
        <p:blipFill>
          <a:blip r:embed="rId4"/>
          <a:stretch>
            <a:fillRect/>
          </a:stretch>
        </p:blipFill>
        <p:spPr>
          <a:xfrm>
            <a:off x="1377182" y="4411726"/>
            <a:ext cx="128699" cy="187198"/>
          </a:xfrm>
          <a:prstGeom prst="rect">
            <a:avLst/>
          </a:prstGeom>
        </p:spPr>
      </p:pic>
      <p:sp>
        <p:nvSpPr>
          <p:cNvPr id="290" name="TextBox 289"/>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1" name="TextBox 290"/>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2" name="Picture 291" descr="lock.png"/>
          <p:cNvPicPr>
            <a:picLocks noChangeAspect="1"/>
          </p:cNvPicPr>
          <p:nvPr/>
        </p:nvPicPr>
        <p:blipFill>
          <a:blip r:embed="rId4"/>
          <a:stretch>
            <a:fillRect/>
          </a:stretch>
        </p:blipFill>
        <p:spPr>
          <a:xfrm>
            <a:off x="1682883" y="5792851"/>
            <a:ext cx="128699" cy="187198"/>
          </a:xfrm>
          <a:prstGeom prst="rect">
            <a:avLst/>
          </a:prstGeom>
        </p:spPr>
      </p:pic>
      <p:sp>
        <p:nvSpPr>
          <p:cNvPr id="293" name="TextBox 292"/>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4" name="Picture 293" descr="lock.png"/>
          <p:cNvPicPr>
            <a:picLocks noChangeAspect="1"/>
          </p:cNvPicPr>
          <p:nvPr/>
        </p:nvPicPr>
        <p:blipFill>
          <a:blip r:embed="rId4"/>
          <a:stretch>
            <a:fillRect/>
          </a:stretch>
        </p:blipFill>
        <p:spPr>
          <a:xfrm>
            <a:off x="1225147" y="6097651"/>
            <a:ext cx="128699" cy="187198"/>
          </a:xfrm>
          <a:prstGeom prst="rect">
            <a:avLst/>
          </a:prstGeom>
        </p:spPr>
      </p:pic>
      <p:sp>
        <p:nvSpPr>
          <p:cNvPr id="295" name="TextBox 294"/>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6" name="Picture 295" descr="lock.png"/>
          <p:cNvPicPr>
            <a:picLocks noChangeAspect="1"/>
          </p:cNvPicPr>
          <p:nvPr/>
        </p:nvPicPr>
        <p:blipFill>
          <a:blip r:embed="rId4"/>
          <a:stretch>
            <a:fillRect/>
          </a:stretch>
        </p:blipFill>
        <p:spPr>
          <a:xfrm>
            <a:off x="2408983" y="6097651"/>
            <a:ext cx="128699" cy="187198"/>
          </a:xfrm>
          <a:prstGeom prst="rect">
            <a:avLst/>
          </a:prstGeom>
        </p:spPr>
      </p:pic>
      <p:sp>
        <p:nvSpPr>
          <p:cNvPr id="297" name="TextBox 296"/>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8" name="Picture 297" descr="lock.png"/>
          <p:cNvPicPr>
            <a:picLocks noChangeAspect="1"/>
          </p:cNvPicPr>
          <p:nvPr/>
        </p:nvPicPr>
        <p:blipFill>
          <a:blip r:embed="rId4"/>
          <a:stretch>
            <a:fillRect/>
          </a:stretch>
        </p:blipFill>
        <p:spPr>
          <a:xfrm>
            <a:off x="3922150" y="6097651"/>
            <a:ext cx="128699" cy="187198"/>
          </a:xfrm>
          <a:prstGeom prst="rect">
            <a:avLst/>
          </a:prstGeom>
        </p:spPr>
      </p:pic>
      <p:sp>
        <p:nvSpPr>
          <p:cNvPr id="299" name="TextBox 298"/>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300" name="TextBox 299"/>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1" name="Picture 300" descr="lock.png"/>
          <p:cNvPicPr>
            <a:picLocks noChangeAspect="1"/>
          </p:cNvPicPr>
          <p:nvPr/>
        </p:nvPicPr>
        <p:blipFill>
          <a:blip r:embed="rId4"/>
          <a:stretch>
            <a:fillRect/>
          </a:stretch>
        </p:blipFill>
        <p:spPr>
          <a:xfrm>
            <a:off x="6791838" y="5467095"/>
            <a:ext cx="128699" cy="187198"/>
          </a:xfrm>
          <a:prstGeom prst="rect">
            <a:avLst/>
          </a:prstGeom>
        </p:spPr>
      </p:pic>
      <p:sp>
        <p:nvSpPr>
          <p:cNvPr id="302" name="TextBox 301"/>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3" name="Picture 302" descr="lock.png"/>
          <p:cNvPicPr>
            <a:picLocks noChangeAspect="1"/>
          </p:cNvPicPr>
          <p:nvPr/>
        </p:nvPicPr>
        <p:blipFill>
          <a:blip r:embed="rId4"/>
          <a:stretch>
            <a:fillRect/>
          </a:stretch>
        </p:blipFill>
        <p:spPr>
          <a:xfrm>
            <a:off x="9457531" y="5467095"/>
            <a:ext cx="128699" cy="187198"/>
          </a:xfrm>
          <a:prstGeom prst="rect">
            <a:avLst/>
          </a:prstGeom>
        </p:spPr>
      </p:pic>
      <p:sp>
        <p:nvSpPr>
          <p:cNvPr id="304" name="TextBox 303"/>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5" name="Picture 304" descr="lock.png"/>
          <p:cNvPicPr>
            <a:picLocks noChangeAspect="1"/>
          </p:cNvPicPr>
          <p:nvPr/>
        </p:nvPicPr>
        <p:blipFill>
          <a:blip r:embed="rId4"/>
          <a:stretch>
            <a:fillRect/>
          </a:stretch>
        </p:blipFill>
        <p:spPr>
          <a:xfrm>
            <a:off x="10832908" y="5467095"/>
            <a:ext cx="128699" cy="187198"/>
          </a:xfrm>
          <a:prstGeom prst="rect">
            <a:avLst/>
          </a:prstGeom>
        </p:spPr>
      </p:pic>
      <p:sp>
        <p:nvSpPr>
          <p:cNvPr id="306" name="TextBox 305"/>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7" name="Picture 306" descr="lock.png"/>
          <p:cNvPicPr>
            <a:picLocks noChangeAspect="1"/>
          </p:cNvPicPr>
          <p:nvPr/>
        </p:nvPicPr>
        <p:blipFill>
          <a:blip r:embed="rId4"/>
          <a:stretch>
            <a:fillRect/>
          </a:stretch>
        </p:blipFill>
        <p:spPr>
          <a:xfrm>
            <a:off x="6358757" y="5634735"/>
            <a:ext cx="128699" cy="187198"/>
          </a:xfrm>
          <a:prstGeom prst="rect">
            <a:avLst/>
          </a:prstGeom>
        </p:spPr>
      </p:pic>
      <p:sp>
        <p:nvSpPr>
          <p:cNvPr id="308" name="TextBox 307"/>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9" name="TextBox 308"/>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10" name="Picture 309" descr="lock.png"/>
          <p:cNvPicPr>
            <a:picLocks noChangeAspect="1"/>
          </p:cNvPicPr>
          <p:nvPr/>
        </p:nvPicPr>
        <p:blipFill>
          <a:blip r:embed="rId4"/>
          <a:stretch>
            <a:fillRect/>
          </a:stretch>
        </p:blipFill>
        <p:spPr>
          <a:xfrm>
            <a:off x="7651320" y="5848095"/>
            <a:ext cx="128699" cy="187198"/>
          </a:xfrm>
          <a:prstGeom prst="rect">
            <a:avLst/>
          </a:prstGeom>
        </p:spPr>
      </p:pic>
      <p:sp>
        <p:nvSpPr>
          <p:cNvPr id="311" name="TextBox 310"/>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2" name="Picture 311" descr="lock.png"/>
          <p:cNvPicPr>
            <a:picLocks noChangeAspect="1"/>
          </p:cNvPicPr>
          <p:nvPr/>
        </p:nvPicPr>
        <p:blipFill>
          <a:blip r:embed="rId4"/>
          <a:stretch>
            <a:fillRect/>
          </a:stretch>
        </p:blipFill>
        <p:spPr>
          <a:xfrm>
            <a:off x="8749737" y="5848095"/>
            <a:ext cx="128699" cy="187198"/>
          </a:xfrm>
          <a:prstGeom prst="rect">
            <a:avLst/>
          </a:prstGeom>
        </p:spPr>
      </p:pic>
      <p:sp>
        <p:nvSpPr>
          <p:cNvPr id="313" name="TextBox 312"/>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4" name="TextBox 313"/>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5" name="Picture 314" descr="lock.png"/>
          <p:cNvPicPr>
            <a:picLocks noChangeAspect="1"/>
          </p:cNvPicPr>
          <p:nvPr/>
        </p:nvPicPr>
        <p:blipFill>
          <a:blip r:embed="rId4"/>
          <a:stretch>
            <a:fillRect/>
          </a:stretch>
        </p:blipFill>
        <p:spPr>
          <a:xfrm>
            <a:off x="8481881" y="6067170"/>
            <a:ext cx="128699" cy="187198"/>
          </a:xfrm>
          <a:prstGeom prst="rect">
            <a:avLst/>
          </a:prstGeom>
        </p:spPr>
      </p:pic>
      <p:sp>
        <p:nvSpPr>
          <p:cNvPr id="316" name="TextBox 315"/>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7" name="Picture 316" descr="lock.png"/>
          <p:cNvPicPr>
            <a:picLocks noChangeAspect="1"/>
          </p:cNvPicPr>
          <p:nvPr/>
        </p:nvPicPr>
        <p:blipFill>
          <a:blip r:embed="rId4"/>
          <a:stretch>
            <a:fillRect/>
          </a:stretch>
        </p:blipFill>
        <p:spPr>
          <a:xfrm>
            <a:off x="10724926" y="6067170"/>
            <a:ext cx="128699" cy="187198"/>
          </a:xfrm>
          <a:prstGeom prst="rect">
            <a:avLst/>
          </a:prstGeom>
        </p:spPr>
      </p:pic>
      <p:sp>
        <p:nvSpPr>
          <p:cNvPr id="318" name="TextBox 317"/>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9" name="TextBox 318"/>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Packaged Muffins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3.0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Switching costs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sp>
        <p:nvSpPr>
          <p:cNvPr id="135" name="TextBox 134"/>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36" name="Picture 135" descr="lock.png"/>
          <p:cNvPicPr>
            <a:picLocks noChangeAspect="1"/>
          </p:cNvPicPr>
          <p:nvPr/>
        </p:nvPicPr>
        <p:blipFill>
          <a:blip r:embed="rId4"/>
          <a:stretch>
            <a:fillRect/>
          </a:stretch>
        </p:blipFill>
        <p:spPr>
          <a:xfrm>
            <a:off x="1424204" y="1860931"/>
            <a:ext cx="128699" cy="187198"/>
          </a:xfrm>
          <a:prstGeom prst="rect">
            <a:avLst/>
          </a:prstGeom>
        </p:spPr>
      </p:pic>
      <p:sp>
        <p:nvSpPr>
          <p:cNvPr id="137" name="TextBox 136"/>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38" name="Picture 137" descr="lock.png"/>
          <p:cNvPicPr>
            <a:picLocks noChangeAspect="1"/>
          </p:cNvPicPr>
          <p:nvPr/>
        </p:nvPicPr>
        <p:blipFill>
          <a:blip r:embed="rId4"/>
          <a:stretch>
            <a:fillRect/>
          </a:stretch>
        </p:blipFill>
        <p:spPr>
          <a:xfrm>
            <a:off x="1742554" y="1860931"/>
            <a:ext cx="128699" cy="187198"/>
          </a:xfrm>
          <a:prstGeom prst="rect">
            <a:avLst/>
          </a:prstGeom>
        </p:spPr>
      </p:pic>
      <p:sp>
        <p:nvSpPr>
          <p:cNvPr id="139" name="TextBox 138"/>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0" name="TextBox 139"/>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1" name="Picture 140" descr="lock.png"/>
          <p:cNvPicPr>
            <a:picLocks noChangeAspect="1"/>
          </p:cNvPicPr>
          <p:nvPr/>
        </p:nvPicPr>
        <p:blipFill>
          <a:blip r:embed="rId4"/>
          <a:stretch>
            <a:fillRect/>
          </a:stretch>
        </p:blipFill>
        <p:spPr>
          <a:xfrm>
            <a:off x="4681754" y="1860931"/>
            <a:ext cx="128699" cy="187198"/>
          </a:xfrm>
          <a:prstGeom prst="rect">
            <a:avLst/>
          </a:prstGeom>
        </p:spPr>
      </p:pic>
      <p:sp>
        <p:nvSpPr>
          <p:cNvPr id="142" name="TextBox 141"/>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3" name="Picture 142" descr="lock.png"/>
          <p:cNvPicPr>
            <a:picLocks noChangeAspect="1"/>
          </p:cNvPicPr>
          <p:nvPr/>
        </p:nvPicPr>
        <p:blipFill>
          <a:blip r:embed="rId4"/>
          <a:stretch>
            <a:fillRect/>
          </a:stretch>
        </p:blipFill>
        <p:spPr>
          <a:xfrm>
            <a:off x="5000104" y="1860931"/>
            <a:ext cx="128699" cy="187198"/>
          </a:xfrm>
          <a:prstGeom prst="rect">
            <a:avLst/>
          </a:prstGeom>
        </p:spPr>
      </p:pic>
      <p:sp>
        <p:nvSpPr>
          <p:cNvPr id="144" name="TextBox 143"/>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5" name="TextBox 144"/>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46" name="Picture 145" descr="lock.png"/>
          <p:cNvPicPr>
            <a:picLocks noChangeAspect="1"/>
          </p:cNvPicPr>
          <p:nvPr/>
        </p:nvPicPr>
        <p:blipFill>
          <a:blip r:embed="rId4"/>
          <a:stretch>
            <a:fillRect/>
          </a:stretch>
        </p:blipFill>
        <p:spPr>
          <a:xfrm>
            <a:off x="7939304" y="1860931"/>
            <a:ext cx="128699" cy="187198"/>
          </a:xfrm>
          <a:prstGeom prst="rect">
            <a:avLst/>
          </a:prstGeom>
        </p:spPr>
      </p:pic>
      <p:sp>
        <p:nvSpPr>
          <p:cNvPr id="147" name="TextBox 146"/>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8" name="Picture 147" descr="lock.png"/>
          <p:cNvPicPr>
            <a:picLocks noChangeAspect="1"/>
          </p:cNvPicPr>
          <p:nvPr/>
        </p:nvPicPr>
        <p:blipFill>
          <a:blip r:embed="rId4"/>
          <a:stretch>
            <a:fillRect/>
          </a:stretch>
        </p:blipFill>
        <p:spPr>
          <a:xfrm>
            <a:off x="8257654" y="1860931"/>
            <a:ext cx="128699" cy="187198"/>
          </a:xfrm>
          <a:prstGeom prst="rect">
            <a:avLst/>
          </a:prstGeom>
        </p:spPr>
      </p:pic>
      <p:sp>
        <p:nvSpPr>
          <p:cNvPr id="149" name="TextBox 148"/>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0" name="TextBox 149"/>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1" name="Picture 150" descr="lock.png"/>
          <p:cNvPicPr>
            <a:picLocks noChangeAspect="1"/>
          </p:cNvPicPr>
          <p:nvPr/>
        </p:nvPicPr>
        <p:blipFill>
          <a:blip r:embed="rId4"/>
          <a:stretch>
            <a:fillRect/>
          </a:stretch>
        </p:blipFill>
        <p:spPr>
          <a:xfrm>
            <a:off x="10872946" y="1944751"/>
            <a:ext cx="128699" cy="187198"/>
          </a:xfrm>
          <a:prstGeom prst="rect">
            <a:avLst/>
          </a:prstGeom>
        </p:spPr>
      </p:pic>
      <p:sp>
        <p:nvSpPr>
          <p:cNvPr id="152" name="TextBox 151"/>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3" name="Picture 152" descr="lock.png"/>
          <p:cNvPicPr>
            <a:picLocks noChangeAspect="1"/>
          </p:cNvPicPr>
          <p:nvPr/>
        </p:nvPicPr>
        <p:blipFill>
          <a:blip r:embed="rId4"/>
          <a:stretch>
            <a:fillRect/>
          </a:stretch>
        </p:blipFill>
        <p:spPr>
          <a:xfrm>
            <a:off x="11191297" y="1944751"/>
            <a:ext cx="128699" cy="187198"/>
          </a:xfrm>
          <a:prstGeom prst="rect">
            <a:avLst/>
          </a:prstGeom>
        </p:spPr>
      </p:pic>
      <p:sp>
        <p:nvSpPr>
          <p:cNvPr id="154" name="TextBox 153"/>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55" name="TextBox 154"/>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56" name="Picture 155" descr="lock.png"/>
          <p:cNvPicPr>
            <a:picLocks noChangeAspect="1"/>
          </p:cNvPicPr>
          <p:nvPr/>
        </p:nvPicPr>
        <p:blipFill>
          <a:blip r:embed="rId4"/>
          <a:stretch>
            <a:fillRect/>
          </a:stretch>
        </p:blipFill>
        <p:spPr>
          <a:xfrm>
            <a:off x="9434331" y="3847846"/>
            <a:ext cx="128699" cy="187198"/>
          </a:xfrm>
          <a:prstGeom prst="rect">
            <a:avLst/>
          </a:prstGeom>
        </p:spPr>
      </p:pic>
      <p:sp>
        <p:nvSpPr>
          <p:cNvPr id="157" name="TextBox 156"/>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58" name="TextBox 157"/>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59" name="Picture 158" descr="lock.png"/>
          <p:cNvPicPr>
            <a:picLocks noChangeAspect="1"/>
          </p:cNvPicPr>
          <p:nvPr/>
        </p:nvPicPr>
        <p:blipFill>
          <a:blip r:embed="rId4"/>
          <a:stretch>
            <a:fillRect/>
          </a:stretch>
        </p:blipFill>
        <p:spPr>
          <a:xfrm>
            <a:off x="9730921" y="4015486"/>
            <a:ext cx="128699" cy="187198"/>
          </a:xfrm>
          <a:prstGeom prst="rect">
            <a:avLst/>
          </a:prstGeom>
        </p:spPr>
      </p:pic>
      <p:sp>
        <p:nvSpPr>
          <p:cNvPr id="160" name="TextBox 159"/>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1" name="TextBox 160"/>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2" name="Picture 161" descr="lock.png"/>
          <p:cNvPicPr>
            <a:picLocks noChangeAspect="1"/>
          </p:cNvPicPr>
          <p:nvPr/>
        </p:nvPicPr>
        <p:blipFill>
          <a:blip r:embed="rId4"/>
          <a:stretch>
            <a:fillRect/>
          </a:stretch>
        </p:blipFill>
        <p:spPr>
          <a:xfrm>
            <a:off x="11077170" y="5009895"/>
            <a:ext cx="128699" cy="187198"/>
          </a:xfrm>
          <a:prstGeom prst="rect">
            <a:avLst/>
          </a:prstGeom>
        </p:spPr>
      </p:pic>
      <p:sp>
        <p:nvSpPr>
          <p:cNvPr id="163" name="TextBox 162"/>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64" name="TextBox 163"/>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Grupo Bimbo (Bimbo, Marinela, Little Bites, Thomas')</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McKee Foods Corporation (Little Debbie, Sunbelt Bakery, Drake's, Fieldstone Bakery)</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Hostess Brands (Hostess)</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Rich Products Corporation (Rich's)</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ARYZTA / Aspire Bakeries (Otis Spunkmeyer, Cuisine de France, Hiestand, Delice de France)</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Europastry (Europastry, Dots)</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Bridor (Bridor, Evasions)</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Lantmännen Unibake (Schulstad, Hatting, Vaasan, Pastridor, Euro-Bake)</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Flowers Foods (Tastykake, Nature's Own, Wonder, Dave's Killer Bread, Canyon Bakehouse)</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Premier Foods (Mr Kipling)</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890588" cy="164283"/>
          </a:xfrm>
          <a:prstGeom prst="rect">
            <a:avLst/>
          </a:prstGeom>
          <a:noFill/>
        </p:spPr>
        <p:txBody>
          <a:bodyPr wrap="square" lIns="0" rIns="0" tIns="0" bIns="0" anchor="ctr">
            <a:spAutoFit/>
          </a:bodyPr>
          <a:lstStyle/>
          <a:p>
            <a:pPr algn="l"/>
            <a:r>
              <a:rPr sz="1100" b="0">
                <a:solidFill>
                  <a:srgbClr val="2E2E2E"/>
                </a:solidFill>
                <a:latin typeface="Calibri"/>
              </a:rPr>
              <a:t>Sweet muffins</a:t>
            </a:r>
          </a:p>
        </p:txBody>
      </p:sp>
      <p:sp>
        <p:nvSpPr>
          <p:cNvPr id="335" name="Rectangle 334"/>
          <p:cNvSpPr/>
          <p:nvPr/>
        </p:nvSpPr>
        <p:spPr>
          <a:xfrm>
            <a:off x="2483644"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2636044" y="5716715"/>
            <a:ext cx="997744" cy="164283"/>
          </a:xfrm>
          <a:prstGeom prst="rect">
            <a:avLst/>
          </a:prstGeom>
          <a:noFill/>
        </p:spPr>
        <p:txBody>
          <a:bodyPr wrap="square" lIns="0" rIns="0" tIns="0" bIns="0" anchor="ctr">
            <a:spAutoFit/>
          </a:bodyPr>
          <a:lstStyle/>
          <a:p>
            <a:pPr algn="l"/>
            <a:r>
              <a:rPr sz="1100" b="0">
                <a:solidFill>
                  <a:srgbClr val="2E2E2E"/>
                </a:solidFill>
                <a:latin typeface="Calibri"/>
              </a:rPr>
              <a:t>Savoury muffins</a:t>
            </a:r>
          </a:p>
        </p:txBody>
      </p:sp>
      <p:sp>
        <p:nvSpPr>
          <p:cNvPr id="337" name="Rectangle 336"/>
          <p:cNvSpPr/>
          <p:nvPr/>
        </p:nvSpPr>
        <p:spPr>
          <a:xfrm>
            <a:off x="3690938"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3843338"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39" name="TextBox 338"/>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0" name="TextBox 339"/>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1" name="TextBox 340"/>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2" name="TextBox 341"/>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3" name="TextBox 342"/>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4" name="TextBox 343"/>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5" name="TextBox 344"/>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6" name="TextBox 345"/>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7" name="TextBox 346"/>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48" name="TextBox 347"/>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49" name="TextBox 348"/>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0" name="Oval 349"/>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TextBox 350"/>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2" name="TextBox 351"/>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3" name="Oval 352"/>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TextBox 353"/>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5" name="TextBox 354"/>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6" name="Oval 355"/>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TextBox 356"/>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58" name="TextBox 357"/>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59" name="Oval 358"/>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TextBox 359"/>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1" name="TextBox 360"/>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2" name="Oval 361"/>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TextBox 362"/>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4" name="TextBox 363"/>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5" name="Oval 364"/>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TextBox 365"/>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7" name="TextBox 366"/>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68" name="Oval 367"/>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TextBox 368"/>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0" name="TextBox 369"/>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1" name="TextBox 370"/>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2" name="TextBox 371"/>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3" name="TextBox 3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4" name="Picture 373" descr="lock.png"/>
          <p:cNvPicPr>
            <a:picLocks noChangeAspect="1"/>
          </p:cNvPicPr>
          <p:nvPr/>
        </p:nvPicPr>
        <p:blipFill>
          <a:blip r:embed="rId4"/>
          <a:stretch>
            <a:fillRect/>
          </a:stretch>
        </p:blipFill>
        <p:spPr>
          <a:xfrm>
            <a:off x="1769213" y="2702524"/>
            <a:ext cx="128699" cy="187198"/>
          </a:xfrm>
          <a:prstGeom prst="rect">
            <a:avLst/>
          </a:prstGeom>
        </p:spPr>
      </p:pic>
      <p:pic>
        <p:nvPicPr>
          <p:cNvPr id="375" name="Picture 374" descr="lock.png"/>
          <p:cNvPicPr>
            <a:picLocks noChangeAspect="1"/>
          </p:cNvPicPr>
          <p:nvPr/>
        </p:nvPicPr>
        <p:blipFill>
          <a:blip r:embed="rId4"/>
          <a:stretch>
            <a:fillRect/>
          </a:stretch>
        </p:blipFill>
        <p:spPr>
          <a:xfrm>
            <a:off x="1769213" y="3031091"/>
            <a:ext cx="128699" cy="187198"/>
          </a:xfrm>
          <a:prstGeom prst="rect">
            <a:avLst/>
          </a:prstGeom>
        </p:spPr>
      </p:pic>
      <p:pic>
        <p:nvPicPr>
          <p:cNvPr id="376" name="Picture 375" descr="lock.png"/>
          <p:cNvPicPr>
            <a:picLocks noChangeAspect="1"/>
          </p:cNvPicPr>
          <p:nvPr/>
        </p:nvPicPr>
        <p:blipFill>
          <a:blip r:embed="rId4"/>
          <a:stretch>
            <a:fillRect/>
          </a:stretch>
        </p:blipFill>
        <p:spPr>
          <a:xfrm>
            <a:off x="1769212" y="3560448"/>
            <a:ext cx="128699" cy="187198"/>
          </a:xfrm>
          <a:prstGeom prst="rect">
            <a:avLst/>
          </a:prstGeom>
        </p:spPr>
      </p:pic>
      <p:pic>
        <p:nvPicPr>
          <p:cNvPr id="377" name="Picture 376" descr="lock.png"/>
          <p:cNvPicPr>
            <a:picLocks noChangeAspect="1"/>
          </p:cNvPicPr>
          <p:nvPr/>
        </p:nvPicPr>
        <p:blipFill>
          <a:blip r:embed="rId4"/>
          <a:stretch>
            <a:fillRect/>
          </a:stretch>
        </p:blipFill>
        <p:spPr>
          <a:xfrm>
            <a:off x="2845538" y="2702524"/>
            <a:ext cx="128699" cy="187198"/>
          </a:xfrm>
          <a:prstGeom prst="rect">
            <a:avLst/>
          </a:prstGeom>
        </p:spPr>
      </p:pic>
      <p:pic>
        <p:nvPicPr>
          <p:cNvPr id="378" name="Picture 377" descr="lock.png"/>
          <p:cNvPicPr>
            <a:picLocks noChangeAspect="1"/>
          </p:cNvPicPr>
          <p:nvPr/>
        </p:nvPicPr>
        <p:blipFill>
          <a:blip r:embed="rId4"/>
          <a:stretch>
            <a:fillRect/>
          </a:stretch>
        </p:blipFill>
        <p:spPr>
          <a:xfrm>
            <a:off x="2845538" y="3031091"/>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3560448"/>
            <a:ext cx="128699" cy="187198"/>
          </a:xfrm>
          <a:prstGeom prst="rect">
            <a:avLst/>
          </a:prstGeom>
        </p:spPr>
      </p:pic>
      <p:pic>
        <p:nvPicPr>
          <p:cNvPr id="380" name="Picture 379" descr="lock.png"/>
          <p:cNvPicPr>
            <a:picLocks noChangeAspect="1"/>
          </p:cNvPicPr>
          <p:nvPr/>
        </p:nvPicPr>
        <p:blipFill>
          <a:blip r:embed="rId4"/>
          <a:stretch>
            <a:fillRect/>
          </a:stretch>
        </p:blipFill>
        <p:spPr>
          <a:xfrm>
            <a:off x="3921863" y="2702524"/>
            <a:ext cx="128699" cy="187198"/>
          </a:xfrm>
          <a:prstGeom prst="rect">
            <a:avLst/>
          </a:prstGeom>
        </p:spPr>
      </p:pic>
      <p:pic>
        <p:nvPicPr>
          <p:cNvPr id="381" name="Picture 380" descr="lock.png"/>
          <p:cNvPicPr>
            <a:picLocks noChangeAspect="1"/>
          </p:cNvPicPr>
          <p:nvPr/>
        </p:nvPicPr>
        <p:blipFill>
          <a:blip r:embed="rId4"/>
          <a:stretch>
            <a:fillRect/>
          </a:stretch>
        </p:blipFill>
        <p:spPr>
          <a:xfrm>
            <a:off x="3921863" y="3031091"/>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2" y="3560448"/>
            <a:ext cx="128699" cy="187198"/>
          </a:xfrm>
          <a:prstGeom prst="rect">
            <a:avLst/>
          </a:prstGeom>
        </p:spPr>
      </p:pic>
      <p:pic>
        <p:nvPicPr>
          <p:cNvPr id="383" name="Picture 382" descr="lock.png"/>
          <p:cNvPicPr>
            <a:picLocks noChangeAspect="1"/>
          </p:cNvPicPr>
          <p:nvPr/>
        </p:nvPicPr>
        <p:blipFill>
          <a:blip r:embed="rId4"/>
          <a:stretch>
            <a:fillRect/>
          </a:stretch>
        </p:blipFill>
        <p:spPr>
          <a:xfrm>
            <a:off x="4998188" y="2702524"/>
            <a:ext cx="128699" cy="187198"/>
          </a:xfrm>
          <a:prstGeom prst="rect">
            <a:avLst/>
          </a:prstGeom>
        </p:spPr>
      </p:pic>
      <p:pic>
        <p:nvPicPr>
          <p:cNvPr id="384" name="Picture 383" descr="lock.png"/>
          <p:cNvPicPr>
            <a:picLocks noChangeAspect="1"/>
          </p:cNvPicPr>
          <p:nvPr/>
        </p:nvPicPr>
        <p:blipFill>
          <a:blip r:embed="rId4"/>
          <a:stretch>
            <a:fillRect/>
          </a:stretch>
        </p:blipFill>
        <p:spPr>
          <a:xfrm>
            <a:off x="4998188" y="3031091"/>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3560448"/>
            <a:ext cx="128699" cy="187198"/>
          </a:xfrm>
          <a:prstGeom prst="rect">
            <a:avLst/>
          </a:prstGeom>
        </p:spPr>
      </p:pic>
      <p:pic>
        <p:nvPicPr>
          <p:cNvPr id="386" name="Picture 385" descr="lock.png"/>
          <p:cNvPicPr>
            <a:picLocks noChangeAspect="1"/>
          </p:cNvPicPr>
          <p:nvPr/>
        </p:nvPicPr>
        <p:blipFill>
          <a:blip r:embed="rId4"/>
          <a:stretch>
            <a:fillRect/>
          </a:stretch>
        </p:blipFill>
        <p:spPr>
          <a:xfrm>
            <a:off x="6074513" y="2702524"/>
            <a:ext cx="128699" cy="187198"/>
          </a:xfrm>
          <a:prstGeom prst="rect">
            <a:avLst/>
          </a:prstGeom>
        </p:spPr>
      </p:pic>
      <p:pic>
        <p:nvPicPr>
          <p:cNvPr id="387" name="Picture 386" descr="lock.png"/>
          <p:cNvPicPr>
            <a:picLocks noChangeAspect="1"/>
          </p:cNvPicPr>
          <p:nvPr/>
        </p:nvPicPr>
        <p:blipFill>
          <a:blip r:embed="rId4"/>
          <a:stretch>
            <a:fillRect/>
          </a:stretch>
        </p:blipFill>
        <p:spPr>
          <a:xfrm>
            <a:off x="6074513" y="3031091"/>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2" y="3560448"/>
            <a:ext cx="128699" cy="187198"/>
          </a:xfrm>
          <a:prstGeom prst="rect">
            <a:avLst/>
          </a:prstGeom>
        </p:spPr>
      </p:pic>
      <p:pic>
        <p:nvPicPr>
          <p:cNvPr id="389" name="Picture 388" descr="lock.png"/>
          <p:cNvPicPr>
            <a:picLocks noChangeAspect="1"/>
          </p:cNvPicPr>
          <p:nvPr/>
        </p:nvPicPr>
        <p:blipFill>
          <a:blip r:embed="rId4"/>
          <a:stretch>
            <a:fillRect/>
          </a:stretch>
        </p:blipFill>
        <p:spPr>
          <a:xfrm>
            <a:off x="7150838" y="2702524"/>
            <a:ext cx="128699" cy="187198"/>
          </a:xfrm>
          <a:prstGeom prst="rect">
            <a:avLst/>
          </a:prstGeom>
        </p:spPr>
      </p:pic>
      <p:pic>
        <p:nvPicPr>
          <p:cNvPr id="390" name="Picture 389" descr="lock.png"/>
          <p:cNvPicPr>
            <a:picLocks noChangeAspect="1"/>
          </p:cNvPicPr>
          <p:nvPr/>
        </p:nvPicPr>
        <p:blipFill>
          <a:blip r:embed="rId4"/>
          <a:stretch>
            <a:fillRect/>
          </a:stretch>
        </p:blipFill>
        <p:spPr>
          <a:xfrm>
            <a:off x="7150838" y="3031091"/>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3560448"/>
            <a:ext cx="128699" cy="187198"/>
          </a:xfrm>
          <a:prstGeom prst="rect">
            <a:avLst/>
          </a:prstGeom>
        </p:spPr>
      </p:pic>
      <p:pic>
        <p:nvPicPr>
          <p:cNvPr id="392" name="Picture 391" descr="lock.png"/>
          <p:cNvPicPr>
            <a:picLocks noChangeAspect="1"/>
          </p:cNvPicPr>
          <p:nvPr/>
        </p:nvPicPr>
        <p:blipFill>
          <a:blip r:embed="rId4"/>
          <a:stretch>
            <a:fillRect/>
          </a:stretch>
        </p:blipFill>
        <p:spPr>
          <a:xfrm>
            <a:off x="8227163" y="2702524"/>
            <a:ext cx="128699" cy="187198"/>
          </a:xfrm>
          <a:prstGeom prst="rect">
            <a:avLst/>
          </a:prstGeom>
        </p:spPr>
      </p:pic>
      <p:pic>
        <p:nvPicPr>
          <p:cNvPr id="393" name="Picture 392" descr="lock.png"/>
          <p:cNvPicPr>
            <a:picLocks noChangeAspect="1"/>
          </p:cNvPicPr>
          <p:nvPr/>
        </p:nvPicPr>
        <p:blipFill>
          <a:blip r:embed="rId4"/>
          <a:stretch>
            <a:fillRect/>
          </a:stretch>
        </p:blipFill>
        <p:spPr>
          <a:xfrm>
            <a:off x="8227163" y="3031091"/>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2" y="3560448"/>
            <a:ext cx="128699" cy="187198"/>
          </a:xfrm>
          <a:prstGeom prst="rect">
            <a:avLst/>
          </a:prstGeom>
        </p:spPr>
      </p:pic>
      <p:pic>
        <p:nvPicPr>
          <p:cNvPr id="395" name="Picture 394" descr="lock.png"/>
          <p:cNvPicPr>
            <a:picLocks noChangeAspect="1"/>
          </p:cNvPicPr>
          <p:nvPr/>
        </p:nvPicPr>
        <p:blipFill>
          <a:blip r:embed="rId4"/>
          <a:stretch>
            <a:fillRect/>
          </a:stretch>
        </p:blipFill>
        <p:spPr>
          <a:xfrm>
            <a:off x="9303488" y="2702524"/>
            <a:ext cx="128699" cy="187198"/>
          </a:xfrm>
          <a:prstGeom prst="rect">
            <a:avLst/>
          </a:prstGeom>
        </p:spPr>
      </p:pic>
      <p:pic>
        <p:nvPicPr>
          <p:cNvPr id="396" name="Picture 395" descr="lock.png"/>
          <p:cNvPicPr>
            <a:picLocks noChangeAspect="1"/>
          </p:cNvPicPr>
          <p:nvPr/>
        </p:nvPicPr>
        <p:blipFill>
          <a:blip r:embed="rId4"/>
          <a:stretch>
            <a:fillRect/>
          </a:stretch>
        </p:blipFill>
        <p:spPr>
          <a:xfrm>
            <a:off x="9303488" y="3031091"/>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3560448"/>
            <a:ext cx="128699" cy="187198"/>
          </a:xfrm>
          <a:prstGeom prst="rect">
            <a:avLst/>
          </a:prstGeom>
        </p:spPr>
      </p:pic>
      <p:pic>
        <p:nvPicPr>
          <p:cNvPr id="398" name="Picture 397" descr="lock.png"/>
          <p:cNvPicPr>
            <a:picLocks noChangeAspect="1"/>
          </p:cNvPicPr>
          <p:nvPr/>
        </p:nvPicPr>
        <p:blipFill>
          <a:blip r:embed="rId4"/>
          <a:stretch>
            <a:fillRect/>
          </a:stretch>
        </p:blipFill>
        <p:spPr>
          <a:xfrm>
            <a:off x="10379813" y="2702524"/>
            <a:ext cx="128699" cy="187198"/>
          </a:xfrm>
          <a:prstGeom prst="rect">
            <a:avLst/>
          </a:prstGeom>
        </p:spPr>
      </p:pic>
      <p:pic>
        <p:nvPicPr>
          <p:cNvPr id="399" name="Picture 398" descr="lock.png"/>
          <p:cNvPicPr>
            <a:picLocks noChangeAspect="1"/>
          </p:cNvPicPr>
          <p:nvPr/>
        </p:nvPicPr>
        <p:blipFill>
          <a:blip r:embed="rId4"/>
          <a:stretch>
            <a:fillRect/>
          </a:stretch>
        </p:blipFill>
        <p:spPr>
          <a:xfrm>
            <a:off x="10379813" y="3031091"/>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2" y="3560448"/>
            <a:ext cx="128699" cy="187198"/>
          </a:xfrm>
          <a:prstGeom prst="rect">
            <a:avLst/>
          </a:prstGeom>
        </p:spPr>
      </p:pic>
      <p:pic>
        <p:nvPicPr>
          <p:cNvPr id="401" name="Picture 400" descr="lock.png"/>
          <p:cNvPicPr>
            <a:picLocks noChangeAspect="1"/>
          </p:cNvPicPr>
          <p:nvPr/>
        </p:nvPicPr>
        <p:blipFill>
          <a:blip r:embed="rId4"/>
          <a:stretch>
            <a:fillRect/>
          </a:stretch>
        </p:blipFill>
        <p:spPr>
          <a:xfrm>
            <a:off x="11456138" y="2702524"/>
            <a:ext cx="128699" cy="187198"/>
          </a:xfrm>
          <a:prstGeom prst="rect">
            <a:avLst/>
          </a:prstGeom>
        </p:spPr>
      </p:pic>
      <p:pic>
        <p:nvPicPr>
          <p:cNvPr id="402" name="Picture 401" descr="lock.png"/>
          <p:cNvPicPr>
            <a:picLocks noChangeAspect="1"/>
          </p:cNvPicPr>
          <p:nvPr/>
        </p:nvPicPr>
        <p:blipFill>
          <a:blip r:embed="rId4"/>
          <a:stretch>
            <a:fillRect/>
          </a:stretch>
        </p:blipFill>
        <p:spPr>
          <a:xfrm>
            <a:off x="11456138" y="3031091"/>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Packaged Muffins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572125"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'Sweet muffins') to lift blended ASP and</a:t>
            </a:r>
          </a:p>
        </p:txBody>
      </p:sp>
      <p:sp>
        <p:nvSpPr>
          <p:cNvPr id="33" name="TextBox 32"/>
          <p:cNvSpPr txBox="1"/>
          <p:nvPr/>
        </p:nvSpPr>
        <p:spPr>
          <a:xfrm>
            <a:off x="276225" y="2351539"/>
            <a:ext cx="2189646" cy="194310"/>
          </a:xfrm>
          <a:prstGeom prst="rect">
            <a:avLst/>
          </a:prstGeom>
          <a:noFill/>
        </p:spPr>
        <p:txBody>
          <a:bodyPr wrap="none" lIns="0" rIns="0" tIns="0" bIns="0">
            <a:spAutoFit/>
          </a:bodyPr>
          <a:lstStyle/>
          <a:p>
            <a:r>
              <a:rPr sz="1150" b="0">
                <a:solidFill>
                  <a:srgbClr val="2E2E2E"/>
                </a:solidFill>
                <a:latin typeface="Calibri"/>
              </a:rPr>
              <a:t>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5260404" cy="194310"/>
          </a:xfrm>
          <a:prstGeom prst="rect">
            <a:avLst/>
          </a:prstGeom>
          <a:noFill/>
        </p:spPr>
        <p:txBody>
          <a:bodyPr wrap="none" lIns="0" rIns="0" tIns="0" bIns="0">
            <a:spAutoFit/>
          </a:bodyPr>
          <a:lstStyle/>
          <a:p>
            <a:r>
              <a:rPr sz="1150" b="0">
                <a:solidFill>
                  <a:srgbClr val="2E2E2E"/>
                </a:solidFill>
                <a:latin typeface="Calibri"/>
              </a:rPr>
              <a:t>▪ Benchmark relentlessly against 'Grupo Bimbo (Bimbo, Marinela, Little Bites, Thomas')'</a:t>
            </a:r>
          </a:p>
        </p:txBody>
      </p:sp>
      <p:sp>
        <p:nvSpPr>
          <p:cNvPr id="43" name="TextBox 42"/>
          <p:cNvSpPr txBox="1"/>
          <p:nvPr/>
        </p:nvSpPr>
        <p:spPr>
          <a:xfrm>
            <a:off x="6324600" y="4640861"/>
            <a:ext cx="19315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4" name="Picture 43" descr="lock.png"/>
          <p:cNvPicPr>
            <a:picLocks noChangeAspect="1"/>
          </p:cNvPicPr>
          <p:nvPr/>
        </p:nvPicPr>
        <p:blipFill>
          <a:blip r:embed="rId4"/>
          <a:stretch>
            <a:fillRect/>
          </a:stretch>
        </p:blipFill>
        <p:spPr>
          <a:xfrm>
            <a:off x="6466908" y="4630638"/>
            <a:ext cx="134549" cy="195707"/>
          </a:xfrm>
          <a:prstGeom prst="rect">
            <a:avLst/>
          </a:prstGeom>
        </p:spPr>
      </p:pic>
      <p:sp>
        <p:nvSpPr>
          <p:cNvPr id="45" name="TextBox 44"/>
          <p:cNvSpPr txBox="1"/>
          <p:nvPr/>
        </p:nvSpPr>
        <p:spPr>
          <a:xfrm>
            <a:off x="6642017" y="4640861"/>
            <a:ext cx="3736863" cy="194310"/>
          </a:xfrm>
          <a:prstGeom prst="rect">
            <a:avLst/>
          </a:prstGeom>
          <a:noFill/>
        </p:spPr>
        <p:txBody>
          <a:bodyPr wrap="none" lIns="0" rIns="0" tIns="0" bIns="0">
            <a:spAutoFit/>
          </a:bodyPr>
          <a:lstStyle/>
          <a:p>
            <a:r>
              <a:rPr sz="1150" b="0">
                <a:solidFill>
                  <a:srgbClr val="2E2E2E"/>
                </a:solidFill>
                <a:latin typeface="Calibri"/>
              </a:rPr>
              <a:t>share) match on service and lead 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573127" cy="194310"/>
          </a:xfrm>
          <a:prstGeom prst="rect">
            <a:avLst/>
          </a:prstGeom>
          <a:noFill/>
        </p:spPr>
        <p:txBody>
          <a:bodyPr wrap="none" lIns="0" rIns="0" tIns="0" bIns="0">
            <a:spAutoFit/>
          </a:bodyPr>
          <a:lstStyle/>
          <a:p>
            <a:r>
              <a:rPr sz="1150" b="0">
                <a:solidFill>
                  <a:srgbClr val="2E2E2E"/>
                </a:solidFill>
                <a:latin typeface="Calibri"/>
              </a:rPr>
              <a:t>▪ The Packaged Muffins Market is moderately consolidated</a:t>
            </a:r>
          </a:p>
        </p:txBody>
      </p:sp>
      <p:sp>
        <p:nvSpPr>
          <p:cNvPr id="26" name="TextBox 25"/>
          <p:cNvSpPr txBox="1"/>
          <p:nvPr/>
        </p:nvSpPr>
        <p:spPr>
          <a:xfrm>
            <a:off x="7934325" y="1948441"/>
            <a:ext cx="2261244" cy="194310"/>
          </a:xfrm>
          <a:prstGeom prst="rect">
            <a:avLst/>
          </a:prstGeom>
          <a:noFill/>
        </p:spPr>
        <p:txBody>
          <a:bodyPr wrap="none" lIns="0" rIns="0" tIns="0" bIns="0">
            <a:spAutoFit/>
          </a:bodyPr>
          <a:lstStyle/>
          <a:p>
            <a:r>
              <a:rPr sz="1150" b="0">
                <a:solidFill>
                  <a:srgbClr val="2E2E2E"/>
                </a:solidFill>
                <a:latin typeface="Calibri"/>
              </a:rPr>
              <a:t>globally: the top three players hold ~</a:t>
            </a:r>
          </a:p>
        </p:txBody>
      </p:sp>
      <p:pic>
        <p:nvPicPr>
          <p:cNvPr id="27" name="Picture 26" descr="lock.png"/>
          <p:cNvPicPr>
            <a:picLocks noChangeAspect="1"/>
          </p:cNvPicPr>
          <p:nvPr/>
        </p:nvPicPr>
        <p:blipFill>
          <a:blip r:embed="rId5"/>
          <a:stretch>
            <a:fillRect/>
          </a:stretch>
        </p:blipFill>
        <p:spPr>
          <a:xfrm>
            <a:off x="10144723" y="1938217"/>
            <a:ext cx="134549" cy="195707"/>
          </a:xfrm>
          <a:prstGeom prst="rect">
            <a:avLst/>
          </a:prstGeom>
        </p:spPr>
      </p:pic>
      <p:sp>
        <p:nvSpPr>
          <p:cNvPr id="28" name="TextBox 27"/>
          <p:cNvSpPr txBox="1"/>
          <p:nvPr/>
        </p:nvSpPr>
        <p:spPr>
          <a:xfrm>
            <a:off x="10319833" y="1948441"/>
            <a:ext cx="1552103" cy="194310"/>
          </a:xfrm>
          <a:prstGeom prst="rect">
            <a:avLst/>
          </a:prstGeom>
          <a:noFill/>
        </p:spPr>
        <p:txBody>
          <a:bodyPr wrap="none" lIns="0" rIns="0" tIns="0" bIns="0">
            <a:spAutoFit/>
          </a:bodyPr>
          <a:lstStyle/>
          <a:p>
            <a:r>
              <a:rPr sz="1150" b="0">
                <a:solidFill>
                  <a:srgbClr val="2E2E2E"/>
                </a:solidFill>
                <a:latin typeface="Calibri"/>
              </a:rPr>
              <a:t>of value, while a long tail</a:t>
            </a:r>
          </a:p>
        </p:txBody>
      </p:sp>
      <p:sp>
        <p:nvSpPr>
          <p:cNvPr id="29" name="TextBox 28"/>
          <p:cNvSpPr txBox="1"/>
          <p:nvPr/>
        </p:nvSpPr>
        <p:spPr>
          <a:xfrm>
            <a:off x="7934325" y="2123701"/>
            <a:ext cx="1507318" cy="194310"/>
          </a:xfrm>
          <a:prstGeom prst="rect">
            <a:avLst/>
          </a:prstGeom>
          <a:noFill/>
        </p:spPr>
        <p:txBody>
          <a:bodyPr wrap="none" lIns="0" rIns="0" tIns="0" bIns="0">
            <a:spAutoFit/>
          </a:bodyPr>
          <a:lstStyle/>
          <a:p>
            <a:r>
              <a:rPr sz="1150" b="0">
                <a:solidFill>
                  <a:srgbClr val="2E2E2E"/>
                </a:solidFill>
                <a:latin typeface="Calibri"/>
              </a:rPr>
              <a:t>('Others') accounts for ~</a:t>
            </a:r>
          </a:p>
        </p:txBody>
      </p:sp>
      <p:pic>
        <p:nvPicPr>
          <p:cNvPr id="30" name="Picture 29" descr="lock.png"/>
          <p:cNvPicPr>
            <a:picLocks noChangeAspect="1"/>
          </p:cNvPicPr>
          <p:nvPr/>
        </p:nvPicPr>
        <p:blipFill>
          <a:blip r:embed="rId5"/>
          <a:stretch>
            <a:fillRect/>
          </a:stretch>
        </p:blipFill>
        <p:spPr>
          <a:xfrm>
            <a:off x="9390797" y="2113477"/>
            <a:ext cx="134549" cy="195707"/>
          </a:xfrm>
          <a:prstGeom prst="rect">
            <a:avLst/>
          </a:prstGeom>
        </p:spPr>
      </p:pic>
      <p:sp>
        <p:nvSpPr>
          <p:cNvPr id="31" name="TextBox 30"/>
          <p:cNvSpPr txBox="1"/>
          <p:nvPr/>
        </p:nvSpPr>
        <p:spPr>
          <a:xfrm>
            <a:off x="9565907" y="2123701"/>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7934325" y="2351539"/>
            <a:ext cx="3962400" cy="194310"/>
          </a:xfrm>
          <a:prstGeom prst="rect">
            <a:avLst/>
          </a:prstGeom>
          <a:noFill/>
        </p:spPr>
        <p:txBody>
          <a:bodyPr wrap="none" lIns="0" rIns="0" tIns="0" bIns="0">
            <a:spAutoFit/>
          </a:bodyPr>
          <a:lstStyle/>
          <a:p>
            <a:r>
              <a:rPr sz="1150" b="0">
                <a:solidFill>
                  <a:srgbClr val="2E2E2E"/>
                </a:solidFill>
                <a:latin typeface="Calibri"/>
              </a:rPr>
              <a:t>▪ 'Grupo Bimbo (Bimbo, Marinela, Little Bites, Thomas')' leads with</a:t>
            </a:r>
          </a:p>
        </p:txBody>
      </p:sp>
      <p:sp>
        <p:nvSpPr>
          <p:cNvPr id="33" name="TextBox 32"/>
          <p:cNvSpPr txBox="1"/>
          <p:nvPr/>
        </p:nvSpPr>
        <p:spPr>
          <a:xfrm>
            <a:off x="7934325" y="2526799"/>
            <a:ext cx="3943886" cy="194310"/>
          </a:xfrm>
          <a:prstGeom prst="rect">
            <a:avLst/>
          </a:prstGeom>
          <a:noFill/>
        </p:spPr>
        <p:txBody>
          <a:bodyPr wrap="none" lIns="0" rIns="0" tIns="0" bIns="0">
            <a:spAutoFit/>
          </a:bodyPr>
          <a:lstStyle/>
          <a:p>
            <a:r>
              <a:rPr sz="1150" b="0">
                <a:solidFill>
                  <a:srgbClr val="2E2E2E"/>
                </a:solidFill>
                <a:latin typeface="Calibri"/>
              </a:rPr>
              <a:t>~15.4% share, ahead of 'McKee Foods Corporation (Little Debbie,</a:t>
            </a:r>
          </a:p>
        </p:txBody>
      </p:sp>
      <p:sp>
        <p:nvSpPr>
          <p:cNvPr id="34" name="TextBox 33"/>
          <p:cNvSpPr txBox="1"/>
          <p:nvPr/>
        </p:nvSpPr>
        <p:spPr>
          <a:xfrm>
            <a:off x="7934325" y="2702058"/>
            <a:ext cx="2936155" cy="194310"/>
          </a:xfrm>
          <a:prstGeom prst="rect">
            <a:avLst/>
          </a:prstGeom>
          <a:noFill/>
        </p:spPr>
        <p:txBody>
          <a:bodyPr wrap="none" lIns="0" rIns="0" tIns="0" bIns="0">
            <a:spAutoFit/>
          </a:bodyPr>
          <a:lstStyle/>
          <a:p>
            <a:r>
              <a:rPr sz="1150" b="0">
                <a:solidFill>
                  <a:srgbClr val="2E2E2E"/>
                </a:solidFill>
                <a:latin typeface="Calibri"/>
              </a:rPr>
              <a:t>Sunbelt Bakery, Drake's, Fieldstone Bakery)' at ~</a:t>
            </a:r>
          </a:p>
        </p:txBody>
      </p:sp>
      <p:pic>
        <p:nvPicPr>
          <p:cNvPr id="35" name="Picture 34" descr="lock.png"/>
          <p:cNvPicPr>
            <a:picLocks noChangeAspect="1"/>
          </p:cNvPicPr>
          <p:nvPr/>
        </p:nvPicPr>
        <p:blipFill>
          <a:blip r:embed="rId5"/>
          <a:stretch>
            <a:fillRect/>
          </a:stretch>
        </p:blipFill>
        <p:spPr>
          <a:xfrm>
            <a:off x="10819634" y="2691835"/>
            <a:ext cx="134549" cy="195707"/>
          </a:xfrm>
          <a:prstGeom prst="rect">
            <a:avLst/>
          </a:prstGeom>
        </p:spPr>
      </p:pic>
      <p:sp>
        <p:nvSpPr>
          <p:cNvPr id="36" name="TextBox 35"/>
          <p:cNvSpPr txBox="1"/>
          <p:nvPr/>
        </p:nvSpPr>
        <p:spPr>
          <a:xfrm>
            <a:off x="10994743" y="2702058"/>
            <a:ext cx="750254" cy="194310"/>
          </a:xfrm>
          <a:prstGeom prst="rect">
            <a:avLst/>
          </a:prstGeom>
          <a:noFill/>
        </p:spPr>
        <p:txBody>
          <a:bodyPr wrap="none" lIns="0" rIns="0" tIns="0" bIns="0">
            <a:spAutoFit/>
          </a:bodyPr>
          <a:lstStyle/>
          <a:p>
            <a:r>
              <a:rPr sz="1150" b="0">
                <a:solidFill>
                  <a:srgbClr val="2E2E2E"/>
                </a:solidFill>
                <a:latin typeface="Calibri"/>
              </a:rPr>
              <a:t>the two set</a:t>
            </a:r>
          </a:p>
        </p:txBody>
      </p:sp>
      <p:sp>
        <p:nvSpPr>
          <p:cNvPr id="37" name="TextBox 36"/>
          <p:cNvSpPr txBox="1"/>
          <p:nvPr/>
        </p:nvSpPr>
        <p:spPr>
          <a:xfrm>
            <a:off x="7934325" y="2877318"/>
            <a:ext cx="3322959" cy="194310"/>
          </a:xfrm>
          <a:prstGeom prst="rect">
            <a:avLst/>
          </a:prstGeom>
          <a:noFill/>
        </p:spPr>
        <p:txBody>
          <a:bodyPr wrap="none" lIns="0" rIns="0" tIns="0" bIns="0">
            <a:spAutoFit/>
          </a:bodyPr>
          <a:lstStyle/>
          <a:p>
            <a:r>
              <a:rPr sz="1150" b="0">
                <a:solidFill>
                  <a:srgbClr val="2E2E2E"/>
                </a:solidFill>
                <a:latin typeface="Calibri"/>
              </a:rPr>
              <a:t>the competitive benchmark for pricing and innovation.</a:t>
            </a:r>
          </a:p>
        </p:txBody>
      </p:sp>
      <p:sp>
        <p:nvSpPr>
          <p:cNvPr id="38" name="TextBox 37"/>
          <p:cNvSpPr txBox="1"/>
          <p:nvPr/>
        </p:nvSpPr>
        <p:spPr>
          <a:xfrm>
            <a:off x="7934325" y="3105156"/>
            <a:ext cx="2387041" cy="194310"/>
          </a:xfrm>
          <a:prstGeom prst="rect">
            <a:avLst/>
          </a:prstGeom>
          <a:noFill/>
        </p:spPr>
        <p:txBody>
          <a:bodyPr wrap="none" lIns="0" rIns="0" tIns="0" bIns="0">
            <a:spAutoFit/>
          </a:bodyPr>
          <a:lstStyle/>
          <a:p>
            <a:r>
              <a:rPr sz="1150" b="0">
                <a:solidFill>
                  <a:srgbClr val="2E2E2E"/>
                </a:solidFill>
                <a:latin typeface="Calibri"/>
              </a:rPr>
              <a:t>▪ Tier 1 players collectively command ~</a:t>
            </a:r>
          </a:p>
        </p:txBody>
      </p:sp>
      <p:pic>
        <p:nvPicPr>
          <p:cNvPr id="39" name="Picture 38" descr="lock.png"/>
          <p:cNvPicPr>
            <a:picLocks noChangeAspect="1"/>
          </p:cNvPicPr>
          <p:nvPr/>
        </p:nvPicPr>
        <p:blipFill>
          <a:blip r:embed="rId5"/>
          <a:stretch>
            <a:fillRect/>
          </a:stretch>
        </p:blipFill>
        <p:spPr>
          <a:xfrm>
            <a:off x="10270520" y="3094933"/>
            <a:ext cx="134549" cy="195707"/>
          </a:xfrm>
          <a:prstGeom prst="rect">
            <a:avLst/>
          </a:prstGeom>
        </p:spPr>
      </p:pic>
      <p:sp>
        <p:nvSpPr>
          <p:cNvPr id="40" name="TextBox 39"/>
          <p:cNvSpPr txBox="1"/>
          <p:nvPr/>
        </p:nvSpPr>
        <p:spPr>
          <a:xfrm>
            <a:off x="10445630" y="3105156"/>
            <a:ext cx="924830" cy="194310"/>
          </a:xfrm>
          <a:prstGeom prst="rect">
            <a:avLst/>
          </a:prstGeom>
          <a:noFill/>
        </p:spPr>
        <p:txBody>
          <a:bodyPr wrap="none" lIns="0" rIns="0" tIns="0" bIns="0">
            <a:spAutoFit/>
          </a:bodyPr>
          <a:lstStyle/>
          <a:p>
            <a:r>
              <a:rPr sz="1150" b="0">
                <a:solidFill>
                  <a:srgbClr val="2E2E2E"/>
                </a:solidFill>
                <a:latin typeface="Calibri"/>
              </a:rPr>
              <a:t>of the market,</a:t>
            </a:r>
          </a:p>
        </p:txBody>
      </p:sp>
      <p:sp>
        <p:nvSpPr>
          <p:cNvPr id="41" name="TextBox 40"/>
          <p:cNvSpPr txBox="1"/>
          <p:nvPr/>
        </p:nvSpPr>
        <p:spPr>
          <a:xfrm>
            <a:off x="7934325" y="3280416"/>
            <a:ext cx="2497720" cy="194310"/>
          </a:xfrm>
          <a:prstGeom prst="rect">
            <a:avLst/>
          </a:prstGeom>
          <a:noFill/>
        </p:spPr>
        <p:txBody>
          <a:bodyPr wrap="none" lIns="0" rIns="0" tIns="0" bIns="0">
            <a:spAutoFit/>
          </a:bodyPr>
          <a:lstStyle/>
          <a:p>
            <a:r>
              <a:rPr sz="1150" b="0">
                <a:solidFill>
                  <a:srgbClr val="2E2E2E"/>
                </a:solidFill>
                <a:latin typeface="Calibri"/>
              </a:rPr>
              <a:t>underlining meaningful barriers to entry.</a:t>
            </a:r>
          </a:p>
        </p:txBody>
      </p:sp>
      <p:sp>
        <p:nvSpPr>
          <p:cNvPr id="42" name="TextBox 41"/>
          <p:cNvSpPr txBox="1"/>
          <p:nvPr/>
        </p:nvSpPr>
        <p:spPr>
          <a:xfrm>
            <a:off x="7934325" y="3508254"/>
            <a:ext cx="3732584" cy="194310"/>
          </a:xfrm>
          <a:prstGeom prst="rect">
            <a:avLst/>
          </a:prstGeom>
          <a:noFill/>
        </p:spPr>
        <p:txBody>
          <a:bodyPr wrap="none" lIns="0" rIns="0" tIns="0" bIns="0">
            <a:spAutoFit/>
          </a:bodyPr>
          <a:lstStyle/>
          <a:p>
            <a:r>
              <a:rPr sz="1150" b="0">
                <a:solidFill>
                  <a:srgbClr val="2E2E2E"/>
                </a:solidFill>
                <a:latin typeface="Calibri"/>
              </a:rPr>
              <a:t>▪ Regional share differs from the global picture use the region</a:t>
            </a:r>
          </a:p>
        </p:txBody>
      </p:sp>
      <p:sp>
        <p:nvSpPr>
          <p:cNvPr id="43" name="TextBox 42"/>
          <p:cNvSpPr txBox="1"/>
          <p:nvPr/>
        </p:nvSpPr>
        <p:spPr>
          <a:xfrm>
            <a:off x="7934325" y="3683514"/>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4" name="TextBox 43"/>
          <p:cNvSpPr txBox="1"/>
          <p:nvPr/>
        </p:nvSpPr>
        <p:spPr>
          <a:xfrm>
            <a:off x="7934325" y="3911352"/>
            <a:ext cx="3700350" cy="194310"/>
          </a:xfrm>
          <a:prstGeom prst="rect">
            <a:avLst/>
          </a:prstGeom>
          <a:noFill/>
        </p:spPr>
        <p:txBody>
          <a:bodyPr wrap="none" lIns="0" rIns="0" tIns="0" bIns="0">
            <a:spAutoFit/>
          </a:bodyPr>
          <a:lstStyle/>
          <a:p>
            <a:r>
              <a:rPr sz="1150" b="0">
                <a:solidFill>
                  <a:srgbClr val="2E2E2E"/>
                </a:solidFill>
                <a:latin typeface="Calibri"/>
              </a:rPr>
              <a:t>▪ Share gains globally are being driven by capacity expansion,</a:t>
            </a:r>
          </a:p>
        </p:txBody>
      </p:sp>
      <p:sp>
        <p:nvSpPr>
          <p:cNvPr id="45" name="TextBox 44"/>
          <p:cNvSpPr txBox="1"/>
          <p:nvPr/>
        </p:nvSpPr>
        <p:spPr>
          <a:xfrm>
            <a:off x="7934325" y="4086612"/>
            <a:ext cx="3659274" cy="194310"/>
          </a:xfrm>
          <a:prstGeom prst="rect">
            <a:avLst/>
          </a:prstGeom>
          <a:noFill/>
        </p:spPr>
        <p:txBody>
          <a:bodyPr wrap="none" lIns="0" rIns="0" tIns="0" bIns="0">
            <a:spAutoFit/>
          </a:bodyPr>
          <a:lstStyle/>
          <a:p>
            <a:r>
              <a:rPr sz="1150" b="0">
                <a:solidFill>
                  <a:srgbClr val="2E2E2E"/>
                </a:solidFill>
                <a:latin typeface="Calibri"/>
              </a:rPr>
              <a:t>product development and selective M&amp;A among the leading</a:t>
            </a:r>
          </a:p>
        </p:txBody>
      </p:sp>
      <p:sp>
        <p:nvSpPr>
          <p:cNvPr id="46" name="TextBox 45"/>
          <p:cNvSpPr txBox="1"/>
          <p:nvPr/>
        </p:nvSpPr>
        <p:spPr>
          <a:xfrm>
            <a:off x="7934325" y="4261872"/>
            <a:ext cx="540308" cy="194310"/>
          </a:xfrm>
          <a:prstGeom prst="rect">
            <a:avLst/>
          </a:prstGeom>
          <a:noFill/>
        </p:spPr>
        <p:txBody>
          <a:bodyPr wrap="none" lIns="0" rIns="0" tIns="0" bIns="0">
            <a:spAutoFit/>
          </a:bodyPr>
          <a:lstStyle/>
          <a:p>
            <a:r>
              <a:rPr sz="1150" b="0">
                <a:solidFill>
                  <a:srgbClr val="2E2E2E"/>
                </a:solidFill>
                <a:latin typeface="Calibri"/>
              </a:rPr>
              <a:t>players.</a:t>
            </a:r>
          </a:p>
        </p:txBody>
      </p:sp>
      <p:sp>
        <p:nvSpPr>
          <p:cNvPr id="47"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Product Type (Top 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Sweet muffins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Savoury muffins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19" name="Rectangle 18"/>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6"/>
          <a:stretch>
            <a:fillRect/>
          </a:stretch>
        </p:blipFill>
        <p:spPr>
          <a:xfrm>
            <a:off x="1233011" y="2619895"/>
            <a:ext cx="523875" cy="762000"/>
          </a:xfrm>
          <a:prstGeom prst="rect">
            <a:avLst/>
          </a:prstGeom>
        </p:spPr>
      </p:pic>
      <p:pic>
        <p:nvPicPr>
          <p:cNvPr id="23" name="Picture 22" descr="lock.png"/>
          <p:cNvPicPr>
            <a:picLocks noChangeAspect="1"/>
          </p:cNvPicPr>
          <p:nvPr/>
        </p:nvPicPr>
        <p:blipFill>
          <a:blip r:embed="rId6"/>
          <a:stretch>
            <a:fillRect/>
          </a:stretch>
        </p:blipFill>
        <p:spPr>
          <a:xfrm>
            <a:off x="5214461" y="2619895"/>
            <a:ext cx="523875" cy="762000"/>
          </a:xfrm>
          <a:prstGeom prst="rect">
            <a:avLst/>
          </a:prstGeom>
        </p:spPr>
      </p:pic>
      <p:sp>
        <p:nvSpPr>
          <p:cNvPr id="24" name="TextBox 23"/>
          <p:cNvSpPr txBox="1"/>
          <p:nvPr/>
        </p:nvSpPr>
        <p:spPr>
          <a:xfrm>
            <a:off x="276225" y="5022340"/>
            <a:ext cx="8134052" cy="194310"/>
          </a:xfrm>
          <a:prstGeom prst="rect">
            <a:avLst/>
          </a:prstGeom>
          <a:noFill/>
        </p:spPr>
        <p:txBody>
          <a:bodyPr wrap="none" lIns="0" rIns="0" tIns="0" bIns="0">
            <a:spAutoFit/>
          </a:bodyPr>
          <a:lstStyle/>
          <a:p>
            <a:r>
              <a:rPr sz="1150" b="0">
                <a:solidFill>
                  <a:srgbClr val="2E2E2E"/>
                </a:solidFill>
                <a:latin typeface="Calibri"/>
              </a:rPr>
              <a:t>▪ Sweet muffins: 'Grupo Bimbo (Bimbo, Marinela, Little Bites, Thomas')' leads at ~11.7%, ahead of 'Rich Products Corporation (Rich's)' (~</a:t>
            </a:r>
          </a:p>
        </p:txBody>
      </p:sp>
      <p:pic>
        <p:nvPicPr>
          <p:cNvPr id="25" name="Picture 24" descr="lock.png"/>
          <p:cNvPicPr>
            <a:picLocks noChangeAspect="1"/>
          </p:cNvPicPr>
          <p:nvPr/>
        </p:nvPicPr>
        <p:blipFill>
          <a:blip r:embed="rId6"/>
          <a:stretch>
            <a:fillRect/>
          </a:stretch>
        </p:blipFill>
        <p:spPr>
          <a:xfrm>
            <a:off x="8359431" y="5012116"/>
            <a:ext cx="134549" cy="195707"/>
          </a:xfrm>
          <a:prstGeom prst="rect">
            <a:avLst/>
          </a:prstGeom>
        </p:spPr>
      </p:pic>
      <p:sp>
        <p:nvSpPr>
          <p:cNvPr id="26" name="TextBox 25"/>
          <p:cNvSpPr txBox="1"/>
          <p:nvPr/>
        </p:nvSpPr>
        <p:spPr>
          <a:xfrm>
            <a:off x="8534540"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27" name="Picture 26" descr="lock.png"/>
          <p:cNvPicPr>
            <a:picLocks noChangeAspect="1"/>
          </p:cNvPicPr>
          <p:nvPr/>
        </p:nvPicPr>
        <p:blipFill>
          <a:blip r:embed="rId6"/>
          <a:stretch>
            <a:fillRect/>
          </a:stretch>
        </p:blipFill>
        <p:spPr>
          <a:xfrm>
            <a:off x="9869209" y="5012116"/>
            <a:ext cx="134549" cy="195707"/>
          </a:xfrm>
          <a:prstGeom prst="rect">
            <a:avLst/>
          </a:prstGeom>
        </p:spPr>
      </p:pic>
      <p:sp>
        <p:nvSpPr>
          <p:cNvPr id="28" name="TextBox 27"/>
          <p:cNvSpPr txBox="1"/>
          <p:nvPr/>
        </p:nvSpPr>
        <p:spPr>
          <a:xfrm>
            <a:off x="10044319" y="5022340"/>
            <a:ext cx="1500472" cy="194310"/>
          </a:xfrm>
          <a:prstGeom prst="rect">
            <a:avLst/>
          </a:prstGeom>
          <a:noFill/>
        </p:spPr>
        <p:txBody>
          <a:bodyPr wrap="none" lIns="0" rIns="0" tIns="0" bIns="0">
            <a:spAutoFit/>
          </a:bodyPr>
          <a:lstStyle/>
          <a:p>
            <a:r>
              <a:rPr sz="1150" b="0">
                <a:solidFill>
                  <a:srgbClr val="2E2E2E"/>
                </a:solidFill>
                <a:latin typeface="Calibri"/>
              </a:rPr>
              <a:t>and a long tail ('Others')</a:t>
            </a:r>
          </a:p>
        </p:txBody>
      </p:sp>
      <p:sp>
        <p:nvSpPr>
          <p:cNvPr id="29" name="TextBox 28"/>
          <p:cNvSpPr txBox="1"/>
          <p:nvPr/>
        </p:nvSpPr>
        <p:spPr>
          <a:xfrm>
            <a:off x="276225" y="5197600"/>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6"/>
          <a:stretch>
            <a:fillRect/>
          </a:stretch>
        </p:blipFill>
        <p:spPr>
          <a:xfrm>
            <a:off x="374318" y="5187376"/>
            <a:ext cx="134549" cy="195707"/>
          </a:xfrm>
          <a:prstGeom prst="rect">
            <a:avLst/>
          </a:prstGeom>
        </p:spPr>
      </p:pic>
      <p:sp>
        <p:nvSpPr>
          <p:cNvPr id="31" name="TextBox 30"/>
          <p:cNvSpPr txBox="1"/>
          <p:nvPr/>
        </p:nvSpPr>
        <p:spPr>
          <a:xfrm>
            <a:off x="549427" y="519760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2" name="TextBox 31"/>
          <p:cNvSpPr txBox="1"/>
          <p:nvPr/>
        </p:nvSpPr>
        <p:spPr>
          <a:xfrm>
            <a:off x="276225" y="5425437"/>
            <a:ext cx="3342927" cy="194310"/>
          </a:xfrm>
          <a:prstGeom prst="rect">
            <a:avLst/>
          </a:prstGeom>
          <a:noFill/>
        </p:spPr>
        <p:txBody>
          <a:bodyPr wrap="none" lIns="0" rIns="0" tIns="0" bIns="0">
            <a:spAutoFit/>
          </a:bodyPr>
          <a:lstStyle/>
          <a:p>
            <a:r>
              <a:rPr sz="1150" b="0">
                <a:solidFill>
                  <a:srgbClr val="2E2E2E"/>
                </a:solidFill>
                <a:latin typeface="Calibri"/>
              </a:rPr>
              <a:t>▪ Savoury muffins: 'Hostess Brands (Hostess)' leads at ~</a:t>
            </a:r>
          </a:p>
        </p:txBody>
      </p:sp>
      <p:pic>
        <p:nvPicPr>
          <p:cNvPr id="33" name="Picture 32" descr="lock.png"/>
          <p:cNvPicPr>
            <a:picLocks noChangeAspect="1"/>
          </p:cNvPicPr>
          <p:nvPr/>
        </p:nvPicPr>
        <p:blipFill>
          <a:blip r:embed="rId6"/>
          <a:stretch>
            <a:fillRect/>
          </a:stretch>
        </p:blipFill>
        <p:spPr>
          <a:xfrm>
            <a:off x="3568306" y="5415214"/>
            <a:ext cx="134549" cy="195707"/>
          </a:xfrm>
          <a:prstGeom prst="rect">
            <a:avLst/>
          </a:prstGeom>
        </p:spPr>
      </p:pic>
      <p:sp>
        <p:nvSpPr>
          <p:cNvPr id="34" name="TextBox 33"/>
          <p:cNvSpPr txBox="1"/>
          <p:nvPr/>
        </p:nvSpPr>
        <p:spPr>
          <a:xfrm>
            <a:off x="3743415" y="5425437"/>
            <a:ext cx="8114298" cy="194310"/>
          </a:xfrm>
          <a:prstGeom prst="rect">
            <a:avLst/>
          </a:prstGeom>
          <a:noFill/>
        </p:spPr>
        <p:txBody>
          <a:bodyPr wrap="none" lIns="0" rIns="0" tIns="0" bIns="0">
            <a:spAutoFit/>
          </a:bodyPr>
          <a:lstStyle/>
          <a:p>
            <a:r>
              <a:rPr sz="1150" b="0">
                <a:solidFill>
                  <a:srgbClr val="2E2E2E"/>
                </a:solidFill>
                <a:latin typeface="Calibri"/>
              </a:rPr>
              <a:t>, ahead of 'McKee Foods Corporation (Little Debbie, Sunbelt Bakery, Drake's, Fieldstone Bakery)' (~13.5%); the top three hold ~39% and</a:t>
            </a:r>
          </a:p>
        </p:txBody>
      </p:sp>
      <p:sp>
        <p:nvSpPr>
          <p:cNvPr id="35" name="TextBox 34"/>
          <p:cNvSpPr txBox="1"/>
          <p:nvPr/>
        </p:nvSpPr>
        <p:spPr>
          <a:xfrm>
            <a:off x="276225" y="5600697"/>
            <a:ext cx="1349858" cy="194310"/>
          </a:xfrm>
          <a:prstGeom prst="rect">
            <a:avLst/>
          </a:prstGeom>
          <a:noFill/>
        </p:spPr>
        <p:txBody>
          <a:bodyPr wrap="none" lIns="0" rIns="0" tIns="0" bIns="0">
            <a:spAutoFit/>
          </a:bodyPr>
          <a:lstStyle/>
          <a:p>
            <a:r>
              <a:rPr sz="1150" b="0">
                <a:solidFill>
                  <a:srgbClr val="2E2E2E"/>
                </a:solidFill>
                <a:latin typeface="Calibri"/>
              </a:rPr>
              <a:t>a long tail ('Others') ~</a:t>
            </a:r>
          </a:p>
        </p:txBody>
      </p:sp>
      <p:pic>
        <p:nvPicPr>
          <p:cNvPr id="36" name="Picture 35" descr="lock.png"/>
          <p:cNvPicPr>
            <a:picLocks noChangeAspect="1"/>
          </p:cNvPicPr>
          <p:nvPr/>
        </p:nvPicPr>
        <p:blipFill>
          <a:blip r:embed="rId6"/>
          <a:stretch>
            <a:fillRect/>
          </a:stretch>
        </p:blipFill>
        <p:spPr>
          <a:xfrm>
            <a:off x="1575237" y="5590474"/>
            <a:ext cx="134549" cy="195707"/>
          </a:xfrm>
          <a:prstGeom prst="rect">
            <a:avLst/>
          </a:prstGeom>
        </p:spPr>
      </p:pic>
      <p:sp>
        <p:nvSpPr>
          <p:cNvPr id="37" name="TextBox 36"/>
          <p:cNvSpPr txBox="1"/>
          <p:nvPr/>
        </p:nvSpPr>
        <p:spPr>
          <a:xfrm>
            <a:off x="1750346" y="560069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8" name="TextBox 37"/>
          <p:cNvSpPr txBox="1"/>
          <p:nvPr/>
        </p:nvSpPr>
        <p:spPr>
          <a:xfrm>
            <a:off x="276225" y="5828535"/>
            <a:ext cx="8908516" cy="194310"/>
          </a:xfrm>
          <a:prstGeom prst="rect">
            <a:avLst/>
          </a:prstGeom>
          <a:noFill/>
        </p:spPr>
        <p:txBody>
          <a:bodyPr wrap="none" lIns="0" rIns="0" tIns="0" bIns="0">
            <a:spAutoFit/>
          </a:bodyPr>
          <a:lstStyle/>
          <a:p>
            <a:r>
              <a:rPr sz="1150" b="0">
                <a:solidFill>
                  <a:srgbClr val="2E2E2E"/>
                </a:solidFill>
                <a:latin typeface="Calibri"/>
              </a:rPr>
              <a:t>▪ Leadership shifts across formulations a strong position in one product type does not carry over to the others, so product-level targeting is essential.</a:t>
            </a:r>
          </a:p>
        </p:txBody>
      </p:sp>
      <p:sp>
        <p:nvSpPr>
          <p:cNvPr id="39" name="TextBox 38"/>
          <p:cNvSpPr txBox="1"/>
          <p:nvPr/>
        </p:nvSpPr>
        <p:spPr>
          <a:xfrm>
            <a:off x="276225" y="6056373"/>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40"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2026160"/>
          </a:xfrm>
          <a:prstGeom prst="roundRect">
            <a:avLst>
              <a:gd name="adj" fmla="val 37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54038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10670957" cy="186689"/>
          </a:xfrm>
          <a:prstGeom prst="rect">
            <a:avLst/>
          </a:prstGeom>
          <a:noFill/>
        </p:spPr>
        <p:txBody>
          <a:bodyPr wrap="none" lIns="0" rIns="0" tIns="0" bIns="0">
            <a:spAutoFit/>
          </a:bodyPr>
          <a:lstStyle/>
          <a:p>
            <a:r>
              <a:rPr sz="1100" b="0">
                <a:solidFill>
                  <a:srgbClr val="2E2E2E"/>
                </a:solidFill>
                <a:latin typeface="Calibri"/>
              </a:rPr>
              <a:t>▪ North America: 'Grupo Bimbo (Bimbo, Marinela, Little Bites, Thomas')' leads at ~17.1%, ahead of 'McKee Foods Corporation (Little Debbie, Sunbelt Bakery, Drake's, Fieldstone Bakery)' (~</a:t>
            </a:r>
          </a:p>
        </p:txBody>
      </p:sp>
      <p:pic>
        <p:nvPicPr>
          <p:cNvPr id="29" name="Picture 28" descr="lock.png"/>
          <p:cNvPicPr>
            <a:picLocks noChangeAspect="1"/>
          </p:cNvPicPr>
          <p:nvPr/>
        </p:nvPicPr>
        <p:blipFill>
          <a:blip r:embed="rId7"/>
          <a:stretch>
            <a:fillRect/>
          </a:stretch>
        </p:blipFill>
        <p:spPr>
          <a:xfrm>
            <a:off x="10895234" y="5012560"/>
            <a:ext cx="128699" cy="187198"/>
          </a:xfrm>
          <a:prstGeom prst="rect">
            <a:avLst/>
          </a:prstGeom>
        </p:spPr>
      </p:pic>
      <p:sp>
        <p:nvSpPr>
          <p:cNvPr id="30" name="TextBox 29"/>
          <p:cNvSpPr txBox="1"/>
          <p:nvPr/>
        </p:nvSpPr>
        <p:spPr>
          <a:xfrm>
            <a:off x="11062730" y="5022340"/>
            <a:ext cx="603076" cy="186689"/>
          </a:xfrm>
          <a:prstGeom prst="rect">
            <a:avLst/>
          </a:prstGeom>
          <a:noFill/>
        </p:spPr>
        <p:txBody>
          <a:bodyPr wrap="none" lIns="0" rIns="0" tIns="0" bIns="0">
            <a:spAutoFit/>
          </a:bodyPr>
          <a:lstStyle/>
          <a:p>
            <a:r>
              <a:rPr sz="1100" b="0">
                <a:solidFill>
                  <a:srgbClr val="2E2E2E"/>
                </a:solidFill>
                <a:latin typeface="Calibri"/>
              </a:rPr>
              <a:t>); the top</a:t>
            </a:r>
          </a:p>
        </p:txBody>
      </p:sp>
      <p:sp>
        <p:nvSpPr>
          <p:cNvPr id="31" name="TextBox 30"/>
          <p:cNvSpPr txBox="1"/>
          <p:nvPr/>
        </p:nvSpPr>
        <p:spPr>
          <a:xfrm>
            <a:off x="276225" y="5189980"/>
            <a:ext cx="770061" cy="186689"/>
          </a:xfrm>
          <a:prstGeom prst="rect">
            <a:avLst/>
          </a:prstGeom>
          <a:noFill/>
        </p:spPr>
        <p:txBody>
          <a:bodyPr wrap="none" lIns="0" rIns="0" tIns="0" bIns="0">
            <a:spAutoFit/>
          </a:bodyPr>
          <a:lstStyle/>
          <a:p>
            <a:r>
              <a:rPr sz="1100" b="0">
                <a:solidFill>
                  <a:srgbClr val="2E2E2E"/>
                </a:solidFill>
                <a:latin typeface="Calibri"/>
              </a:rPr>
              <a:t>three hold ~</a:t>
            </a:r>
          </a:p>
        </p:txBody>
      </p:sp>
      <p:pic>
        <p:nvPicPr>
          <p:cNvPr id="32" name="Picture 31" descr="lock.png"/>
          <p:cNvPicPr>
            <a:picLocks noChangeAspect="1"/>
          </p:cNvPicPr>
          <p:nvPr/>
        </p:nvPicPr>
        <p:blipFill>
          <a:blip r:embed="rId7"/>
          <a:stretch>
            <a:fillRect/>
          </a:stretch>
        </p:blipFill>
        <p:spPr>
          <a:xfrm>
            <a:off x="994338" y="5180200"/>
            <a:ext cx="128699" cy="187198"/>
          </a:xfrm>
          <a:prstGeom prst="rect">
            <a:avLst/>
          </a:prstGeom>
        </p:spPr>
      </p:pic>
      <p:sp>
        <p:nvSpPr>
          <p:cNvPr id="33" name="TextBox 32"/>
          <p:cNvSpPr txBox="1"/>
          <p:nvPr/>
        </p:nvSpPr>
        <p:spPr>
          <a:xfrm>
            <a:off x="1161833" y="518998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4" name="Picture 33" descr="lock.png"/>
          <p:cNvPicPr>
            <a:picLocks noChangeAspect="1"/>
          </p:cNvPicPr>
          <p:nvPr/>
        </p:nvPicPr>
        <p:blipFill>
          <a:blip r:embed="rId7"/>
          <a:stretch>
            <a:fillRect/>
          </a:stretch>
        </p:blipFill>
        <p:spPr>
          <a:xfrm>
            <a:off x="2649661" y="5180200"/>
            <a:ext cx="128699" cy="187198"/>
          </a:xfrm>
          <a:prstGeom prst="rect">
            <a:avLst/>
          </a:prstGeom>
        </p:spPr>
      </p:pic>
      <p:sp>
        <p:nvSpPr>
          <p:cNvPr id="35" name="TextBox 34"/>
          <p:cNvSpPr txBox="1"/>
          <p:nvPr/>
        </p:nvSpPr>
        <p:spPr>
          <a:xfrm>
            <a:off x="2817157" y="51899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6" name="TextBox 35"/>
          <p:cNvSpPr txBox="1"/>
          <p:nvPr/>
        </p:nvSpPr>
        <p:spPr>
          <a:xfrm>
            <a:off x="276225" y="5407912"/>
            <a:ext cx="7378799" cy="186689"/>
          </a:xfrm>
          <a:prstGeom prst="rect">
            <a:avLst/>
          </a:prstGeom>
          <a:noFill/>
        </p:spPr>
        <p:txBody>
          <a:bodyPr wrap="none" lIns="0" rIns="0" tIns="0" bIns="0">
            <a:spAutoFit/>
          </a:bodyPr>
          <a:lstStyle/>
          <a:p>
            <a:r>
              <a:rPr sz="1100" b="0">
                <a:solidFill>
                  <a:srgbClr val="2E2E2E"/>
                </a:solidFill>
                <a:latin typeface="Calibri"/>
              </a:rPr>
              <a:t>▪ Europe: 'Grupo Bimbo (Bimbo, Marinela, Little Bites, Thomas')' leads at ~15.6%, ahead of 'Rich Products Corporation (Rich's)' (~</a:t>
            </a:r>
          </a:p>
        </p:txBody>
      </p:sp>
      <p:pic>
        <p:nvPicPr>
          <p:cNvPr id="37" name="Picture 36" descr="lock.png"/>
          <p:cNvPicPr>
            <a:picLocks noChangeAspect="1"/>
          </p:cNvPicPr>
          <p:nvPr/>
        </p:nvPicPr>
        <p:blipFill>
          <a:blip r:embed="rId7"/>
          <a:stretch>
            <a:fillRect/>
          </a:stretch>
        </p:blipFill>
        <p:spPr>
          <a:xfrm>
            <a:off x="7603075" y="5398132"/>
            <a:ext cx="128699" cy="187198"/>
          </a:xfrm>
          <a:prstGeom prst="rect">
            <a:avLst/>
          </a:prstGeom>
        </p:spPr>
      </p:pic>
      <p:sp>
        <p:nvSpPr>
          <p:cNvPr id="38" name="TextBox 37"/>
          <p:cNvSpPr txBox="1"/>
          <p:nvPr/>
        </p:nvSpPr>
        <p:spPr>
          <a:xfrm>
            <a:off x="7770571" y="540791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9" name="Picture 38" descr="lock.png"/>
          <p:cNvPicPr>
            <a:picLocks noChangeAspect="1"/>
          </p:cNvPicPr>
          <p:nvPr/>
        </p:nvPicPr>
        <p:blipFill>
          <a:blip r:embed="rId7"/>
          <a:stretch>
            <a:fillRect/>
          </a:stretch>
        </p:blipFill>
        <p:spPr>
          <a:xfrm>
            <a:off x="9047211" y="5398132"/>
            <a:ext cx="128699" cy="187198"/>
          </a:xfrm>
          <a:prstGeom prst="rect">
            <a:avLst/>
          </a:prstGeom>
        </p:spPr>
      </p:pic>
      <p:sp>
        <p:nvSpPr>
          <p:cNvPr id="40" name="TextBox 39"/>
          <p:cNvSpPr txBox="1"/>
          <p:nvPr/>
        </p:nvSpPr>
        <p:spPr>
          <a:xfrm>
            <a:off x="9214707" y="540791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1" name="Picture 40" descr="lock.png"/>
          <p:cNvPicPr>
            <a:picLocks noChangeAspect="1"/>
          </p:cNvPicPr>
          <p:nvPr/>
        </p:nvPicPr>
        <p:blipFill>
          <a:blip r:embed="rId7"/>
          <a:stretch>
            <a:fillRect/>
          </a:stretch>
        </p:blipFill>
        <p:spPr>
          <a:xfrm>
            <a:off x="10702535" y="5398132"/>
            <a:ext cx="128699" cy="187198"/>
          </a:xfrm>
          <a:prstGeom prst="rect">
            <a:avLst/>
          </a:prstGeom>
        </p:spPr>
      </p:pic>
      <p:sp>
        <p:nvSpPr>
          <p:cNvPr id="42" name="TextBox 41"/>
          <p:cNvSpPr txBox="1"/>
          <p:nvPr/>
        </p:nvSpPr>
        <p:spPr>
          <a:xfrm>
            <a:off x="10870030" y="540791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3" name="TextBox 42"/>
          <p:cNvSpPr txBox="1"/>
          <p:nvPr/>
        </p:nvSpPr>
        <p:spPr>
          <a:xfrm>
            <a:off x="276225" y="5625844"/>
            <a:ext cx="3406353" cy="186689"/>
          </a:xfrm>
          <a:prstGeom prst="rect">
            <a:avLst/>
          </a:prstGeom>
          <a:noFill/>
        </p:spPr>
        <p:txBody>
          <a:bodyPr wrap="none" lIns="0" rIns="0" tIns="0" bIns="0">
            <a:spAutoFit/>
          </a:bodyPr>
          <a:lstStyle/>
          <a:p>
            <a:r>
              <a:rPr sz="1100" b="0">
                <a:solidFill>
                  <a:srgbClr val="2E2E2E"/>
                </a:solidFill>
                <a:latin typeface="Calibri"/>
              </a:rPr>
              <a:t>▪ South Asia &amp; Pacific: 'Hostess Brands (Hostess)' leads at ~</a:t>
            </a:r>
          </a:p>
        </p:txBody>
      </p:sp>
      <p:pic>
        <p:nvPicPr>
          <p:cNvPr id="44" name="Picture 43" descr="lock.png"/>
          <p:cNvPicPr>
            <a:picLocks noChangeAspect="1"/>
          </p:cNvPicPr>
          <p:nvPr/>
        </p:nvPicPr>
        <p:blipFill>
          <a:blip r:embed="rId7"/>
          <a:stretch>
            <a:fillRect/>
          </a:stretch>
        </p:blipFill>
        <p:spPr>
          <a:xfrm>
            <a:off x="3630629" y="5616064"/>
            <a:ext cx="128699" cy="187198"/>
          </a:xfrm>
          <a:prstGeom prst="rect">
            <a:avLst/>
          </a:prstGeom>
        </p:spPr>
      </p:pic>
      <p:sp>
        <p:nvSpPr>
          <p:cNvPr id="45" name="TextBox 44"/>
          <p:cNvSpPr txBox="1"/>
          <p:nvPr/>
        </p:nvSpPr>
        <p:spPr>
          <a:xfrm>
            <a:off x="3798125" y="5625844"/>
            <a:ext cx="7863315" cy="186689"/>
          </a:xfrm>
          <a:prstGeom prst="rect">
            <a:avLst/>
          </a:prstGeom>
          <a:noFill/>
        </p:spPr>
        <p:txBody>
          <a:bodyPr wrap="none" lIns="0" rIns="0" tIns="0" bIns="0">
            <a:spAutoFit/>
          </a:bodyPr>
          <a:lstStyle/>
          <a:p>
            <a:r>
              <a:rPr sz="1100" b="0">
                <a:solidFill>
                  <a:srgbClr val="2E2E2E"/>
                </a:solidFill>
                <a:latin typeface="Calibri"/>
              </a:rPr>
              <a:t>, ahead of 'McKee Foods Corporation (Little Debbie, Sunbelt Bakery, Drake's, Fieldstone Bakery)' (~12.5%); the top three hold ~38% and a</a:t>
            </a:r>
          </a:p>
        </p:txBody>
      </p:sp>
      <p:sp>
        <p:nvSpPr>
          <p:cNvPr id="46" name="TextBox 45"/>
          <p:cNvSpPr txBox="1"/>
          <p:nvPr/>
        </p:nvSpPr>
        <p:spPr>
          <a:xfrm>
            <a:off x="276225" y="5793484"/>
            <a:ext cx="1195982" cy="186689"/>
          </a:xfrm>
          <a:prstGeom prst="rect">
            <a:avLst/>
          </a:prstGeom>
          <a:noFill/>
        </p:spPr>
        <p:txBody>
          <a:bodyPr wrap="none" lIns="0" rIns="0" tIns="0" bIns="0">
            <a:spAutoFit/>
          </a:bodyPr>
          <a:lstStyle/>
          <a:p>
            <a:r>
              <a:rPr sz="1100" b="0">
                <a:solidFill>
                  <a:srgbClr val="2E2E2E"/>
                </a:solidFill>
                <a:latin typeface="Calibri"/>
              </a:rPr>
              <a:t>long tail ('Others') ~</a:t>
            </a:r>
          </a:p>
        </p:txBody>
      </p:sp>
      <p:pic>
        <p:nvPicPr>
          <p:cNvPr id="47" name="Picture 46" descr="lock.png"/>
          <p:cNvPicPr>
            <a:picLocks noChangeAspect="1"/>
          </p:cNvPicPr>
          <p:nvPr/>
        </p:nvPicPr>
        <p:blipFill>
          <a:blip r:embed="rId7"/>
          <a:stretch>
            <a:fillRect/>
          </a:stretch>
        </p:blipFill>
        <p:spPr>
          <a:xfrm>
            <a:off x="1420259" y="5783704"/>
            <a:ext cx="128699" cy="187198"/>
          </a:xfrm>
          <a:prstGeom prst="rect">
            <a:avLst/>
          </a:prstGeom>
        </p:spPr>
      </p:pic>
      <p:sp>
        <p:nvSpPr>
          <p:cNvPr id="48" name="TextBox 47"/>
          <p:cNvSpPr txBox="1"/>
          <p:nvPr/>
        </p:nvSpPr>
        <p:spPr>
          <a:xfrm>
            <a:off x="1587755" y="579348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9" name="TextBox 48"/>
          <p:cNvSpPr txBox="1"/>
          <p:nvPr/>
        </p:nvSpPr>
        <p:spPr>
          <a:xfrm>
            <a:off x="276225" y="6011416"/>
            <a:ext cx="9287123" cy="186689"/>
          </a:xfrm>
          <a:prstGeom prst="rect">
            <a:avLst/>
          </a:prstGeom>
          <a:noFill/>
        </p:spPr>
        <p:txBody>
          <a:bodyPr wrap="none" lIns="0" rIns="0" tIns="0" bIns="0">
            <a:spAutoFit/>
          </a:bodyPr>
          <a:lstStyle/>
          <a:p>
            <a:r>
              <a:rPr sz="1100" b="0">
                <a:solidFill>
                  <a:srgbClr val="2E2E2E"/>
                </a:solidFill>
                <a:latin typeface="Calibri"/>
              </a:rPr>
              <a:t>▪ Leadership is not uniform across geographies a strong position in one region does not carry over to the others, so region-level go-to-market planning is essential.</a:t>
            </a:r>
          </a:p>
        </p:txBody>
      </p:sp>
      <p:sp>
        <p:nvSpPr>
          <p:cNvPr id="50" name="TextBox 49"/>
          <p:cNvSpPr txBox="1"/>
          <p:nvPr/>
        </p:nvSpPr>
        <p:spPr>
          <a:xfrm>
            <a:off x="276225" y="622934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1"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Packaged Muffins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Packaged Muffins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Grupo Bimbo (Bimbo, Marinela, Little Bites, Thomas')</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McKee Foods Corporation (Little Debbie, Sunbelt Bakery, Drake's, Fieldstone Bakery)</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Hostess Brands (Hostess)</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Rich Products Corporation (Rich's)</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ARYZTA / Aspire Bakeries (Otis Spunkmeyer, Cuisine de France, Hiestand, Delice de France)</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Packaged Muffins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Grupo Bimbo (Bimbo, Marinela, Little Bites, Thomas')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Grupo Bimbo (Bimbo, Marinela, Little Bites, Thomas'):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8763607" cy="194310"/>
          </a:xfrm>
          <a:prstGeom prst="rect">
            <a:avLst/>
          </a:prstGeom>
          <a:noFill/>
        </p:spPr>
        <p:txBody>
          <a:bodyPr wrap="none" lIns="0" rIns="0" tIns="0" bIns="0">
            <a:spAutoFit/>
          </a:bodyPr>
          <a:lstStyle/>
          <a:p>
            <a:r>
              <a:rPr sz="1150" b="0">
                <a:solidFill>
                  <a:srgbClr val="2E2E2E"/>
                </a:solidFill>
                <a:latin typeface="Calibri"/>
              </a:rPr>
              <a:t>▪ Market Position: Grupo Bimbo (Bimbo, Marinela, Little Bites, Thomas') captures ~30% of a US$ Mn SAM, with its strongest end-market in 'Retail'.</a:t>
            </a:r>
          </a:p>
        </p:txBody>
      </p:sp>
      <p:sp>
        <p:nvSpPr>
          <p:cNvPr id="41" name="TextBox 40"/>
          <p:cNvSpPr txBox="1"/>
          <p:nvPr/>
        </p:nvSpPr>
        <p:spPr>
          <a:xfrm>
            <a:off x="276225" y="5432715"/>
            <a:ext cx="7141368"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Global' shows the highest SAM penetration (~</a:t>
            </a:r>
          </a:p>
        </p:txBody>
      </p:sp>
      <p:pic>
        <p:nvPicPr>
          <p:cNvPr id="42" name="Picture 41" descr="lock.png"/>
          <p:cNvPicPr>
            <a:picLocks noChangeAspect="1"/>
          </p:cNvPicPr>
          <p:nvPr/>
        </p:nvPicPr>
        <p:blipFill>
          <a:blip r:embed="rId7"/>
          <a:stretch>
            <a:fillRect/>
          </a:stretch>
        </p:blipFill>
        <p:spPr>
          <a:xfrm>
            <a:off x="7366747" y="5422491"/>
            <a:ext cx="134549" cy="195707"/>
          </a:xfrm>
          <a:prstGeom prst="rect">
            <a:avLst/>
          </a:prstGeom>
        </p:spPr>
      </p:pic>
      <p:sp>
        <p:nvSpPr>
          <p:cNvPr id="43" name="TextBox 42"/>
          <p:cNvSpPr txBox="1"/>
          <p:nvPr/>
        </p:nvSpPr>
        <p:spPr>
          <a:xfrm>
            <a:off x="7541856"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5" name="Picture 44" descr="lock.png"/>
          <p:cNvPicPr>
            <a:picLocks noChangeAspect="1"/>
          </p:cNvPicPr>
          <p:nvPr/>
        </p:nvPicPr>
        <p:blipFill>
          <a:blip r:embed="rId7"/>
          <a:stretch>
            <a:fillRect/>
          </a:stretch>
        </p:blipFill>
        <p:spPr>
          <a:xfrm>
            <a:off x="1617169" y="5650329"/>
            <a:ext cx="134549" cy="195707"/>
          </a:xfrm>
          <a:prstGeom prst="rect">
            <a:avLst/>
          </a:prstGeom>
        </p:spPr>
      </p:pic>
      <p:sp>
        <p:nvSpPr>
          <p:cNvPr id="46" name="TextBox 45"/>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7" name="Picture 46" descr="lock.png"/>
          <p:cNvPicPr>
            <a:picLocks noChangeAspect="1"/>
          </p:cNvPicPr>
          <p:nvPr/>
        </p:nvPicPr>
        <p:blipFill>
          <a:blip r:embed="rId7"/>
          <a:stretch>
            <a:fillRect/>
          </a:stretch>
        </p:blipFill>
        <p:spPr>
          <a:xfrm>
            <a:off x="2870505" y="5650329"/>
            <a:ext cx="134549" cy="195707"/>
          </a:xfrm>
          <a:prstGeom prst="rect">
            <a:avLst/>
          </a:prstGeom>
        </p:spPr>
      </p:pic>
      <p:sp>
        <p:nvSpPr>
          <p:cNvPr id="48" name="TextBox 47"/>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49" name="TextBox 48"/>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0" name="Picture 49" descr="lock.png"/>
          <p:cNvPicPr>
            <a:picLocks noChangeAspect="1"/>
          </p:cNvPicPr>
          <p:nvPr/>
        </p:nvPicPr>
        <p:blipFill>
          <a:blip r:embed="rId7"/>
          <a:stretch>
            <a:fillRect/>
          </a:stretch>
        </p:blipFill>
        <p:spPr>
          <a:xfrm>
            <a:off x="1578914" y="5878167"/>
            <a:ext cx="134549" cy="195707"/>
          </a:xfrm>
          <a:prstGeom prst="rect">
            <a:avLst/>
          </a:prstGeom>
        </p:spPr>
      </p:pic>
      <p:sp>
        <p:nvSpPr>
          <p:cNvPr id="51" name="TextBox 50"/>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2" name="Picture 51" descr="lock.png"/>
          <p:cNvPicPr>
            <a:picLocks noChangeAspect="1"/>
          </p:cNvPicPr>
          <p:nvPr/>
        </p:nvPicPr>
        <p:blipFill>
          <a:blip r:embed="rId7"/>
          <a:stretch>
            <a:fillRect/>
          </a:stretch>
        </p:blipFill>
        <p:spPr>
          <a:xfrm>
            <a:off x="2775769" y="5878167"/>
            <a:ext cx="134549" cy="195707"/>
          </a:xfrm>
          <a:prstGeom prst="rect">
            <a:avLst/>
          </a:prstGeom>
        </p:spPr>
      </p:pic>
      <p:sp>
        <p:nvSpPr>
          <p:cNvPr id="53" name="TextBox 52"/>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4" name="Picture 53" descr="lock.png"/>
          <p:cNvPicPr>
            <a:picLocks noChangeAspect="1"/>
          </p:cNvPicPr>
          <p:nvPr/>
        </p:nvPicPr>
        <p:blipFill>
          <a:blip r:embed="rId7"/>
          <a:stretch>
            <a:fillRect/>
          </a:stretch>
        </p:blipFill>
        <p:spPr>
          <a:xfrm>
            <a:off x="4037092" y="5878167"/>
            <a:ext cx="134549" cy="195707"/>
          </a:xfrm>
          <a:prstGeom prst="rect">
            <a:avLst/>
          </a:prstGeom>
        </p:spPr>
      </p:pic>
      <p:sp>
        <p:nvSpPr>
          <p:cNvPr id="55" name="TextBox 54"/>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6"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Grupo Bimbo (Bimbo, Marinela, Little Bites, Thomas'):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Grupo Bimbo (Bimbo, Marinela, Little Bites, Thomas')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Grupo Bimbo (Bimbo, Marinela, Little Bites, Thomas'): strengths, weaknesses, opportunities and threats…</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Grupo Bimbo (Bimbo, Marinela, Little Bites, Thomas'):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 (Bimbo, Marinela, Little Bites, Thomas')'s financial performance, key ratios and pricing…</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Grupo Bimbo (Bimbo, Marinela, Little Bites, Thomas')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Key Ratios</a:t>
            </a:r>
          </a:p>
        </p:txBody>
      </p:sp>
      <p:graphicFrame>
        <p:nvGraphicFramePr>
          <p:cNvPr id="17" name="Table 16"/>
          <p:cNvGraphicFramePr>
            <a:graphicFrameLocks noGrp="1"/>
          </p:cNvGraphicFramePr>
          <p:nvPr/>
        </p:nvGraphicFramePr>
        <p:xfrm>
          <a:off x="152400" y="3655670"/>
          <a:ext cx="5886449" cy="272767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Grupo Bimbo (Bimbo, Marinela, Little Bites, Thomas')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Grupo Bimbo (Bimbo, Marinela, Little Bites, Thomas')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Grupo Bimbo (Bimbo, Marinela, Little Bites, Thomas')'s strategic priorities and the competitive moves that…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Grupo Bimbo (Bimbo, Marinela, Little Bites, Thomas'):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146017" cy="194310"/>
          </a:xfrm>
          <a:prstGeom prst="rect">
            <a:avLst/>
          </a:prstGeom>
          <a:noFill/>
        </p:spPr>
        <p:txBody>
          <a:bodyPr wrap="none" lIns="0" rIns="0" tIns="0" bIns="0">
            <a:spAutoFit/>
          </a:bodyPr>
          <a:lstStyle/>
          <a:p>
            <a:r>
              <a:rPr sz="1150" b="0">
                <a:solidFill>
                  <a:srgbClr val="2E2E2E"/>
                </a:solidFill>
                <a:latin typeface="Calibri"/>
              </a:rPr>
              <a:t>▪ Defend and extend leadership in 'Retail' Grupo Bimbo (Bimbo, Marinela, Little Bites,</a:t>
            </a:r>
          </a:p>
        </p:txBody>
      </p:sp>
      <p:sp>
        <p:nvSpPr>
          <p:cNvPr id="31" name="TextBox 30"/>
          <p:cNvSpPr txBox="1"/>
          <p:nvPr/>
        </p:nvSpPr>
        <p:spPr>
          <a:xfrm>
            <a:off x="276225" y="2678589"/>
            <a:ext cx="4434023" cy="194310"/>
          </a:xfrm>
          <a:prstGeom prst="rect">
            <a:avLst/>
          </a:prstGeom>
          <a:noFill/>
        </p:spPr>
        <p:txBody>
          <a:bodyPr wrap="none" lIns="0" rIns="0" tIns="0" bIns="0">
            <a:spAutoFit/>
          </a:bodyPr>
          <a:lstStyle/>
          <a:p>
            <a:r>
              <a:rPr sz="1150" b="0">
                <a:solidFill>
                  <a:srgbClr val="2E2E2E"/>
                </a:solidFill>
                <a:latin typeface="Calibri"/>
              </a:rPr>
              <a:t>Thomas')'s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39" name="Picture 38" descr="lock.png"/>
          <p:cNvPicPr>
            <a:picLocks noChangeAspect="1"/>
          </p:cNvPicPr>
          <p:nvPr/>
        </p:nvPicPr>
        <p:blipFill>
          <a:blip r:embed="rId4"/>
          <a:stretch>
            <a:fillRect/>
          </a:stretch>
        </p:blipFill>
        <p:spPr>
          <a:xfrm>
            <a:off x="3302735" y="3299301"/>
            <a:ext cx="134549" cy="195707"/>
          </a:xfrm>
          <a:prstGeom prst="rect">
            <a:avLst/>
          </a:prstGeom>
        </p:spPr>
      </p:pic>
      <p:sp>
        <p:nvSpPr>
          <p:cNvPr id="40" name="TextBox 39"/>
          <p:cNvSpPr txBox="1"/>
          <p:nvPr/>
        </p:nvSpPr>
        <p:spPr>
          <a:xfrm>
            <a:off x="3477844"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McKee Foods Corporation (Little Debbie, Sunbelt Bakery, Drake's, Fieldstone Bakery):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10769156" cy="194310"/>
          </a:xfrm>
          <a:prstGeom prst="rect">
            <a:avLst/>
          </a:prstGeom>
          <a:noFill/>
        </p:spPr>
        <p:txBody>
          <a:bodyPr wrap="none" lIns="0" rIns="0" tIns="0" bIns="0">
            <a:spAutoFit/>
          </a:bodyPr>
          <a:lstStyle/>
          <a:p>
            <a:r>
              <a:rPr sz="1150" b="0">
                <a:solidFill>
                  <a:srgbClr val="2E2E2E"/>
                </a:solidFill>
                <a:latin typeface="Calibri"/>
              </a:rPr>
              <a:t>▪ Market Position: McKee Foods Corporation (Little Debbie, Sunbelt Bakery, Drake's, Fieldstone Bakery) captures ~25% of a US$ Mn SAM, with its strongest end-market in 'Vending'.</a:t>
            </a:r>
          </a:p>
        </p:txBody>
      </p:sp>
      <p:sp>
        <p:nvSpPr>
          <p:cNvPr id="41" name="TextBox 40"/>
          <p:cNvSpPr txBox="1"/>
          <p:nvPr/>
        </p:nvSpPr>
        <p:spPr>
          <a:xfrm>
            <a:off x="276225" y="5432715"/>
            <a:ext cx="7098580" cy="194310"/>
          </a:xfrm>
          <a:prstGeom prst="rect">
            <a:avLst/>
          </a:prstGeom>
          <a:noFill/>
        </p:spPr>
        <p:txBody>
          <a:bodyPr wrap="none" lIns="0" rIns="0" tIns="0" bIns="0">
            <a:spAutoFit/>
          </a:bodyPr>
          <a:lstStyle/>
          <a:p>
            <a:r>
              <a:rPr sz="1150" b="0">
                <a:solidFill>
                  <a:srgbClr val="2E2E2E"/>
                </a:solidFill>
                <a:latin typeface="Calibri"/>
              </a:rPr>
              <a:t>▪ Geographic Balance: 'Rest of Global' is the largest SOM region; 'Rest of Global' shows the highest SAM penetration (~</a:t>
            </a:r>
          </a:p>
        </p:txBody>
      </p:sp>
      <p:pic>
        <p:nvPicPr>
          <p:cNvPr id="42" name="Picture 41" descr="lock.png"/>
          <p:cNvPicPr>
            <a:picLocks noChangeAspect="1"/>
          </p:cNvPicPr>
          <p:nvPr/>
        </p:nvPicPr>
        <p:blipFill>
          <a:blip r:embed="rId7"/>
          <a:stretch>
            <a:fillRect/>
          </a:stretch>
        </p:blipFill>
        <p:spPr>
          <a:xfrm>
            <a:off x="7323959" y="5422491"/>
            <a:ext cx="134549" cy="195707"/>
          </a:xfrm>
          <a:prstGeom prst="rect">
            <a:avLst/>
          </a:prstGeom>
        </p:spPr>
      </p:pic>
      <p:sp>
        <p:nvSpPr>
          <p:cNvPr id="43" name="TextBox 42"/>
          <p:cNvSpPr txBox="1"/>
          <p:nvPr/>
        </p:nvSpPr>
        <p:spPr>
          <a:xfrm>
            <a:off x="7499068"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5" name="Picture 44" descr="lock.png"/>
          <p:cNvPicPr>
            <a:picLocks noChangeAspect="1"/>
          </p:cNvPicPr>
          <p:nvPr/>
        </p:nvPicPr>
        <p:blipFill>
          <a:blip r:embed="rId7"/>
          <a:stretch>
            <a:fillRect/>
          </a:stretch>
        </p:blipFill>
        <p:spPr>
          <a:xfrm>
            <a:off x="1617169" y="5650329"/>
            <a:ext cx="134549" cy="195707"/>
          </a:xfrm>
          <a:prstGeom prst="rect">
            <a:avLst/>
          </a:prstGeom>
        </p:spPr>
      </p:pic>
      <p:sp>
        <p:nvSpPr>
          <p:cNvPr id="46" name="TextBox 45"/>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7" name="Picture 46" descr="lock.png"/>
          <p:cNvPicPr>
            <a:picLocks noChangeAspect="1"/>
          </p:cNvPicPr>
          <p:nvPr/>
        </p:nvPicPr>
        <p:blipFill>
          <a:blip r:embed="rId7"/>
          <a:stretch>
            <a:fillRect/>
          </a:stretch>
        </p:blipFill>
        <p:spPr>
          <a:xfrm>
            <a:off x="2870505" y="5650329"/>
            <a:ext cx="134549" cy="195707"/>
          </a:xfrm>
          <a:prstGeom prst="rect">
            <a:avLst/>
          </a:prstGeom>
        </p:spPr>
      </p:pic>
      <p:sp>
        <p:nvSpPr>
          <p:cNvPr id="48" name="TextBox 47"/>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49" name="TextBox 48"/>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0" name="Picture 49" descr="lock.png"/>
          <p:cNvPicPr>
            <a:picLocks noChangeAspect="1"/>
          </p:cNvPicPr>
          <p:nvPr/>
        </p:nvPicPr>
        <p:blipFill>
          <a:blip r:embed="rId7"/>
          <a:stretch>
            <a:fillRect/>
          </a:stretch>
        </p:blipFill>
        <p:spPr>
          <a:xfrm>
            <a:off x="1578914" y="5878167"/>
            <a:ext cx="134549" cy="195707"/>
          </a:xfrm>
          <a:prstGeom prst="rect">
            <a:avLst/>
          </a:prstGeom>
        </p:spPr>
      </p:pic>
      <p:sp>
        <p:nvSpPr>
          <p:cNvPr id="51" name="TextBox 50"/>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2" name="Picture 51" descr="lock.png"/>
          <p:cNvPicPr>
            <a:picLocks noChangeAspect="1"/>
          </p:cNvPicPr>
          <p:nvPr/>
        </p:nvPicPr>
        <p:blipFill>
          <a:blip r:embed="rId7"/>
          <a:stretch>
            <a:fillRect/>
          </a:stretch>
        </p:blipFill>
        <p:spPr>
          <a:xfrm>
            <a:off x="2775769" y="5878167"/>
            <a:ext cx="134549" cy="195707"/>
          </a:xfrm>
          <a:prstGeom prst="rect">
            <a:avLst/>
          </a:prstGeom>
        </p:spPr>
      </p:pic>
      <p:sp>
        <p:nvSpPr>
          <p:cNvPr id="53" name="TextBox 52"/>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4" name="Picture 53" descr="lock.png"/>
          <p:cNvPicPr>
            <a:picLocks noChangeAspect="1"/>
          </p:cNvPicPr>
          <p:nvPr/>
        </p:nvPicPr>
        <p:blipFill>
          <a:blip r:embed="rId7"/>
          <a:stretch>
            <a:fillRect/>
          </a:stretch>
        </p:blipFill>
        <p:spPr>
          <a:xfrm>
            <a:off x="4037092" y="5878167"/>
            <a:ext cx="134549" cy="195707"/>
          </a:xfrm>
          <a:prstGeom prst="rect">
            <a:avLst/>
          </a:prstGeom>
        </p:spPr>
      </p:pic>
      <p:sp>
        <p:nvSpPr>
          <p:cNvPr id="55" name="TextBox 54"/>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6"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McKee Foods Corporation (Little Debbie, Sunbelt Bakery, Drake's, Fieldstone Bakery):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McKee Foods Corporation (Little Debbie, Sunbelt Bakery, Drake's, Fieldstone Bakery)</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McKee Foods Corporation (Little Debbie, Sunbelt Bakery, Drake's, Fieldstone Bakery): strengths…</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McKee Foods Corporation (Little Debbie, Sunbelt Bakery, Drake's, Fieldstone Bakery):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Global'.</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 (Little Debbie, Sunbelt Bakery, Drake's, Fieldstone Bakery)'s financial performance…</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McKee Foods Corporation (Little Debbie, Sunbelt Bakery, Drake's, Fieldstone Bakery)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Financial Performance</a:t>
            </a:r>
          </a:p>
        </p:txBody>
      </p:sp>
      <p:graphicFrame>
        <p:nvGraphicFramePr>
          <p:cNvPr id="13" name="Table 12"/>
          <p:cNvGraphicFramePr>
            <a:graphicFrameLocks noGrp="1"/>
          </p:cNvGraphicFramePr>
          <p:nvPr/>
        </p:nvGraphicFramePr>
        <p:xfrm>
          <a:off x="152400" y="1782706"/>
          <a:ext cx="5886449" cy="1278462"/>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58084">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8084">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8084">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8084">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Key Ratios</a:t>
            </a:r>
          </a:p>
        </p:txBody>
      </p:sp>
      <p:graphicFrame>
        <p:nvGraphicFramePr>
          <p:cNvPr id="17" name="Table 16"/>
          <p:cNvGraphicFramePr>
            <a:graphicFrameLocks noGrp="1"/>
          </p:cNvGraphicFramePr>
          <p:nvPr/>
        </p:nvGraphicFramePr>
        <p:xfrm>
          <a:off x="152400" y="3827120"/>
          <a:ext cx="5886449" cy="255622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6201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6201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6201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6201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6201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McKee Foods Corporation (Little Debbie, Sunbelt Bakery, Drake's, Fieldstone Bakery) Pricing Analysis (US$/MT)</a:t>
            </a:r>
          </a:p>
        </p:txBody>
      </p:sp>
      <p:graphicFrame>
        <p:nvGraphicFramePr>
          <p:cNvPr id="21" name="Table 20"/>
          <p:cNvGraphicFramePr>
            <a:graphicFrameLocks noGrp="1"/>
          </p:cNvGraphicFramePr>
          <p:nvPr/>
        </p:nvGraphicFramePr>
        <p:xfrm>
          <a:off x="6210300" y="1782706"/>
          <a:ext cx="5829300" cy="460063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177255">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177255">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304970"/>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961593"/>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939387"/>
            <a:ext cx="366712" cy="533399"/>
          </a:xfrm>
          <a:prstGeom prst="rect">
            <a:avLst/>
          </a:prstGeom>
        </p:spPr>
      </p:pic>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McKee Foods Corporation (Little Debbie, Sunbelt Bakery, Drake's, Fieldstone Bakery)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McKee Foods Corporation (Little Debbie, Sunbelt Bakery, Drake's, Fieldstone Bakery)'s strategic priorities and…</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McKee Foods Corporation (Little Debbie, Sunbelt Bakery, Drake's, Fieldstone Bakery):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2621" cy="194310"/>
          </a:xfrm>
          <a:prstGeom prst="rect">
            <a:avLst/>
          </a:prstGeom>
          <a:noFill/>
        </p:spPr>
        <p:txBody>
          <a:bodyPr wrap="none" lIns="0" rIns="0" tIns="0" bIns="0">
            <a:spAutoFit/>
          </a:bodyPr>
          <a:lstStyle/>
          <a:p>
            <a:r>
              <a:rPr sz="1150" b="0">
                <a:solidFill>
                  <a:srgbClr val="2E2E2E"/>
                </a:solidFill>
                <a:latin typeface="Calibri"/>
              </a:rPr>
              <a:t>▪ Defend and extend leadership in 'Vending' McKee Foods Corporation (Little Debbie, Sunbelt</a:t>
            </a:r>
          </a:p>
        </p:txBody>
      </p:sp>
      <p:sp>
        <p:nvSpPr>
          <p:cNvPr id="31" name="TextBox 30"/>
          <p:cNvSpPr txBox="1"/>
          <p:nvPr/>
        </p:nvSpPr>
        <p:spPr>
          <a:xfrm>
            <a:off x="276225" y="2678589"/>
            <a:ext cx="5187094" cy="194310"/>
          </a:xfrm>
          <a:prstGeom prst="rect">
            <a:avLst/>
          </a:prstGeom>
          <a:noFill/>
        </p:spPr>
        <p:txBody>
          <a:bodyPr wrap="none" lIns="0" rIns="0" tIns="0" bIns="0">
            <a:spAutoFit/>
          </a:bodyPr>
          <a:lstStyle/>
          <a:p>
            <a:r>
              <a:rPr sz="1150" b="0">
                <a:solidFill>
                  <a:srgbClr val="2E2E2E"/>
                </a:solidFill>
                <a:latin typeface="Calibri"/>
              </a:rPr>
              <a:t>Bakery, Drake's, Fieldstone Bakery)'s strongest end-market while scaling the next-best</a:t>
            </a:r>
          </a:p>
        </p:txBody>
      </p:sp>
      <p:sp>
        <p:nvSpPr>
          <p:cNvPr id="32" name="TextBox 31"/>
          <p:cNvSpPr txBox="1"/>
          <p:nvPr/>
        </p:nvSpPr>
        <p:spPr>
          <a:xfrm>
            <a:off x="276225" y="2853849"/>
            <a:ext cx="828985" cy="194310"/>
          </a:xfrm>
          <a:prstGeom prst="rect">
            <a:avLst/>
          </a:prstGeom>
          <a:noFill/>
        </p:spPr>
        <p:txBody>
          <a:bodyPr wrap="none" lIns="0" rIns="0" tIns="0" bIns="0">
            <a:spAutoFit/>
          </a:bodyPr>
          <a:lstStyle/>
          <a:p>
            <a:r>
              <a:rPr sz="1150" b="0">
                <a:solidFill>
                  <a:srgbClr val="2E2E2E"/>
                </a:solidFill>
                <a:latin typeface="Calibri"/>
              </a:rPr>
              <a:t>applications.</a:t>
            </a:r>
          </a:p>
        </p:txBody>
      </p:sp>
      <p:sp>
        <p:nvSpPr>
          <p:cNvPr id="33" name="TextBox 32"/>
          <p:cNvSpPr txBox="1"/>
          <p:nvPr/>
        </p:nvSpPr>
        <p:spPr>
          <a:xfrm>
            <a:off x="276225" y="308168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4" name="Picture 33" descr="lock.png"/>
          <p:cNvPicPr>
            <a:picLocks noChangeAspect="1"/>
          </p:cNvPicPr>
          <p:nvPr/>
        </p:nvPicPr>
        <p:blipFill>
          <a:blip r:embed="rId4"/>
          <a:stretch>
            <a:fillRect/>
          </a:stretch>
        </p:blipFill>
        <p:spPr>
          <a:xfrm>
            <a:off x="1135376" y="3071463"/>
            <a:ext cx="134549" cy="195707"/>
          </a:xfrm>
          <a:prstGeom prst="rect">
            <a:avLst/>
          </a:prstGeom>
        </p:spPr>
      </p:pic>
      <p:sp>
        <p:nvSpPr>
          <p:cNvPr id="35" name="TextBox 34"/>
          <p:cNvSpPr txBox="1"/>
          <p:nvPr/>
        </p:nvSpPr>
        <p:spPr>
          <a:xfrm>
            <a:off x="1310485" y="308168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6" name="Picture 35" descr="lock.png"/>
          <p:cNvPicPr>
            <a:picLocks noChangeAspect="1"/>
          </p:cNvPicPr>
          <p:nvPr/>
        </p:nvPicPr>
        <p:blipFill>
          <a:blip r:embed="rId4"/>
          <a:stretch>
            <a:fillRect/>
          </a:stretch>
        </p:blipFill>
        <p:spPr>
          <a:xfrm>
            <a:off x="2188748" y="3071463"/>
            <a:ext cx="134549" cy="195707"/>
          </a:xfrm>
          <a:prstGeom prst="rect">
            <a:avLst/>
          </a:prstGeom>
        </p:spPr>
      </p:pic>
      <p:sp>
        <p:nvSpPr>
          <p:cNvPr id="37" name="TextBox 36"/>
          <p:cNvSpPr txBox="1"/>
          <p:nvPr/>
        </p:nvSpPr>
        <p:spPr>
          <a:xfrm>
            <a:off x="2363857" y="308168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8" name="TextBox 37"/>
          <p:cNvSpPr txBox="1"/>
          <p:nvPr/>
        </p:nvSpPr>
        <p:spPr>
          <a:xfrm>
            <a:off x="276225" y="325694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9" name="TextBox 38"/>
          <p:cNvSpPr txBox="1"/>
          <p:nvPr/>
        </p:nvSpPr>
        <p:spPr>
          <a:xfrm>
            <a:off x="276225" y="348478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40" name="Picture 39" descr="lock.png"/>
          <p:cNvPicPr>
            <a:picLocks noChangeAspect="1"/>
          </p:cNvPicPr>
          <p:nvPr/>
        </p:nvPicPr>
        <p:blipFill>
          <a:blip r:embed="rId4"/>
          <a:stretch>
            <a:fillRect/>
          </a:stretch>
        </p:blipFill>
        <p:spPr>
          <a:xfrm>
            <a:off x="3302735" y="3474561"/>
            <a:ext cx="134549" cy="195707"/>
          </a:xfrm>
          <a:prstGeom prst="rect">
            <a:avLst/>
          </a:prstGeom>
        </p:spPr>
      </p:pic>
      <p:sp>
        <p:nvSpPr>
          <p:cNvPr id="41" name="TextBox 40"/>
          <p:cNvSpPr txBox="1"/>
          <p:nvPr/>
        </p:nvSpPr>
        <p:spPr>
          <a:xfrm>
            <a:off x="3477844" y="348478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2" name="TextBox 41"/>
          <p:cNvSpPr txBox="1"/>
          <p:nvPr/>
        </p:nvSpPr>
        <p:spPr>
          <a:xfrm>
            <a:off x="276225" y="371262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3" name="Picture 42" descr="lock.png"/>
          <p:cNvPicPr>
            <a:picLocks noChangeAspect="1"/>
          </p:cNvPicPr>
          <p:nvPr/>
        </p:nvPicPr>
        <p:blipFill>
          <a:blip r:embed="rId4"/>
          <a:stretch>
            <a:fillRect/>
          </a:stretch>
        </p:blipFill>
        <p:spPr>
          <a:xfrm>
            <a:off x="919438" y="3702399"/>
            <a:ext cx="134549" cy="195707"/>
          </a:xfrm>
          <a:prstGeom prst="rect">
            <a:avLst/>
          </a:prstGeom>
        </p:spPr>
      </p:pic>
      <p:sp>
        <p:nvSpPr>
          <p:cNvPr id="44" name="TextBox 43"/>
          <p:cNvSpPr txBox="1"/>
          <p:nvPr/>
        </p:nvSpPr>
        <p:spPr>
          <a:xfrm>
            <a:off x="1094548" y="371262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5" name="TextBox 44"/>
          <p:cNvSpPr txBox="1"/>
          <p:nvPr/>
        </p:nvSpPr>
        <p:spPr>
          <a:xfrm>
            <a:off x="276225" y="394046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6" name="TextBox 45"/>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7" name="TextBox 46"/>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8" name="TextBox 47"/>
          <p:cNvSpPr txBox="1"/>
          <p:nvPr/>
        </p:nvSpPr>
        <p:spPr>
          <a:xfrm>
            <a:off x="6334125" y="2906426"/>
            <a:ext cx="5176825" cy="194310"/>
          </a:xfrm>
          <a:prstGeom prst="rect">
            <a:avLst/>
          </a:prstGeom>
          <a:noFill/>
        </p:spPr>
        <p:txBody>
          <a:bodyPr wrap="none" lIns="0" rIns="0" tIns="0" bIns="0">
            <a:spAutoFit/>
          </a:bodyPr>
          <a:lstStyle/>
          <a:p>
            <a:r>
              <a:rPr sz="1150" b="0">
                <a:solidFill>
                  <a:srgbClr val="2E2E2E"/>
                </a:solidFill>
                <a:latin typeface="Calibri"/>
              </a:rPr>
              <a:t>▪ Deepen presence in 'Rest of Global' (largest SOM region) and build out under-served</a:t>
            </a:r>
          </a:p>
        </p:txBody>
      </p:sp>
      <p:sp>
        <p:nvSpPr>
          <p:cNvPr id="49" name="TextBox 48"/>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50" name="TextBox 49"/>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1" name="TextBox 50"/>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2" name="TextBox 51"/>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3" name="TextBox 52"/>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4" name="TextBox 53"/>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5" name="Picture 54" descr="lock.png"/>
          <p:cNvPicPr>
            <a:picLocks noChangeAspect="1"/>
          </p:cNvPicPr>
          <p:nvPr/>
        </p:nvPicPr>
        <p:blipFill>
          <a:blip r:embed="rId4"/>
          <a:stretch>
            <a:fillRect/>
          </a:stretch>
        </p:blipFill>
        <p:spPr>
          <a:xfrm>
            <a:off x="9385452" y="4105497"/>
            <a:ext cx="134549" cy="195707"/>
          </a:xfrm>
          <a:prstGeom prst="rect">
            <a:avLst/>
          </a:prstGeom>
        </p:spPr>
      </p:pic>
      <p:sp>
        <p:nvSpPr>
          <p:cNvPr id="56" name="TextBox 55"/>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Hostess Brands (Hostess):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12025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3602831"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8412956"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10822781" y="1522714"/>
            <a:ext cx="157162" cy="228600"/>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321818" cy="194310"/>
          </a:xfrm>
          <a:prstGeom prst="rect">
            <a:avLst/>
          </a:prstGeom>
          <a:noFill/>
        </p:spPr>
        <p:txBody>
          <a:bodyPr wrap="none" lIns="0" rIns="0" tIns="0" bIns="0">
            <a:spAutoFit/>
          </a:bodyPr>
          <a:lstStyle/>
          <a:p>
            <a:r>
              <a:rPr sz="1150" b="0">
                <a:solidFill>
                  <a:srgbClr val="2E2E2E"/>
                </a:solidFill>
                <a:latin typeface="Calibri"/>
              </a:rPr>
              <a:t>▪ Market Position: Hostess Brands (Hostess) captures ~</a:t>
            </a:r>
          </a:p>
        </p:txBody>
      </p:sp>
      <p:pic>
        <p:nvPicPr>
          <p:cNvPr id="41" name="Picture 40" descr="lock.png"/>
          <p:cNvPicPr>
            <a:picLocks noChangeAspect="1"/>
          </p:cNvPicPr>
          <p:nvPr/>
        </p:nvPicPr>
        <p:blipFill>
          <a:blip r:embed="rId7"/>
          <a:stretch>
            <a:fillRect/>
          </a:stretch>
        </p:blipFill>
        <p:spPr>
          <a:xfrm>
            <a:off x="3547197" y="5194653"/>
            <a:ext cx="134549" cy="195707"/>
          </a:xfrm>
          <a:prstGeom prst="rect">
            <a:avLst/>
          </a:prstGeom>
        </p:spPr>
      </p:pic>
      <p:sp>
        <p:nvSpPr>
          <p:cNvPr id="42" name="TextBox 41"/>
          <p:cNvSpPr txBox="1"/>
          <p:nvPr/>
        </p:nvSpPr>
        <p:spPr>
          <a:xfrm>
            <a:off x="3722307" y="5204877"/>
            <a:ext cx="3707196"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'Vending'.</a:t>
            </a:r>
          </a:p>
        </p:txBody>
      </p:sp>
      <p:sp>
        <p:nvSpPr>
          <p:cNvPr id="43" name="TextBox 42"/>
          <p:cNvSpPr txBox="1"/>
          <p:nvPr/>
        </p:nvSpPr>
        <p:spPr>
          <a:xfrm>
            <a:off x="276225" y="5432715"/>
            <a:ext cx="7098580" cy="194310"/>
          </a:xfrm>
          <a:prstGeom prst="rect">
            <a:avLst/>
          </a:prstGeom>
          <a:noFill/>
        </p:spPr>
        <p:txBody>
          <a:bodyPr wrap="none" lIns="0" rIns="0" tIns="0" bIns="0">
            <a:spAutoFit/>
          </a:bodyPr>
          <a:lstStyle/>
          <a:p>
            <a:r>
              <a:rPr sz="1150" b="0">
                <a:solidFill>
                  <a:srgbClr val="2E2E2E"/>
                </a:solidFill>
                <a:latin typeface="Calibri"/>
              </a:rPr>
              <a:t>▪ Geographic Balance: 'Rest of Global' is the largest SOM region; 'Rest of Global' shows the highest SAM penetration (~</a:t>
            </a:r>
          </a:p>
        </p:txBody>
      </p:sp>
      <p:pic>
        <p:nvPicPr>
          <p:cNvPr id="44" name="Picture 43" descr="lock.png"/>
          <p:cNvPicPr>
            <a:picLocks noChangeAspect="1"/>
          </p:cNvPicPr>
          <p:nvPr/>
        </p:nvPicPr>
        <p:blipFill>
          <a:blip r:embed="rId7"/>
          <a:stretch>
            <a:fillRect/>
          </a:stretch>
        </p:blipFill>
        <p:spPr>
          <a:xfrm>
            <a:off x="7323959" y="5422491"/>
            <a:ext cx="134549" cy="195707"/>
          </a:xfrm>
          <a:prstGeom prst="rect">
            <a:avLst/>
          </a:prstGeom>
        </p:spPr>
      </p:pic>
      <p:sp>
        <p:nvSpPr>
          <p:cNvPr id="45" name="TextBox 44"/>
          <p:cNvSpPr txBox="1"/>
          <p:nvPr/>
        </p:nvSpPr>
        <p:spPr>
          <a:xfrm>
            <a:off x="7499068"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Hostess Brands (Hostess):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Hostess Brands (Hostess)</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456016" cy="186689"/>
          </a:xfrm>
          <a:prstGeom prst="rect">
            <a:avLst/>
          </a:prstGeom>
          <a:noFill/>
        </p:spPr>
        <p:txBody>
          <a:bodyPr wrap="none" lIns="0" rIns="0" tIns="0" bIns="0">
            <a:spAutoFit/>
          </a:bodyPr>
          <a:lstStyle/>
          <a:p>
            <a:r>
              <a:rPr sz="1100" b="0">
                <a:solidFill>
                  <a:srgbClr val="2E2E2E"/>
                </a:solidFill>
                <a:latin typeface="Calibri"/>
              </a:rPr>
              <a:t>▪ Regional Opportunity: 'Rest of Global'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Hostess Brands (Hostess): strengths, weaknesses, opportunities and threats shaping its competitive…</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Hostess Brands (Hostess):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Global'.</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Global',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'Sweet muffins'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 (Hostess)'s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Hostess Brands (Hostess)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Key Ratios</a:t>
            </a:r>
          </a:p>
        </p:txBody>
      </p:sp>
      <p:graphicFrame>
        <p:nvGraphicFramePr>
          <p:cNvPr id="17" name="Table 16"/>
          <p:cNvGraphicFramePr>
            <a:graphicFrameLocks noGrp="1"/>
          </p:cNvGraphicFramePr>
          <p:nvPr/>
        </p:nvGraphicFramePr>
        <p:xfrm>
          <a:off x="152400" y="3655670"/>
          <a:ext cx="5886449" cy="2727671"/>
        </p:xfrm>
        <a:graphic>
          <a:graphicData uri="http://schemas.openxmlformats.org/drawingml/2006/table">
            <a:tbl>
              <a:tblPr>
                <a:tableStyleId>{5C22544A-7EE6-4342-B048-85BDC9FD1C3A}</a:tableStyleId>
              </a:tblPr>
              <a:tblGrid>
                <a:gridCol w="2099174"/>
                <a:gridCol w="757455"/>
                <a:gridCol w="757455"/>
                <a:gridCol w="757455"/>
                <a:gridCol w="757455"/>
                <a:gridCol w="757455"/>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Hostess Brands (Hostess)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3068454"/>
                <a:gridCol w="1380423"/>
                <a:gridCol w="138042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Sweet muffins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Savoury muffins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958521"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472486" y="3853662"/>
            <a:ext cx="366712" cy="533400"/>
          </a:xfrm>
          <a:prstGeom prst="rect">
            <a:avLst/>
          </a:prstGeom>
        </p:spPr>
      </p:pic>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Hostess Brands (Hostess)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Hostess Brands (Hostess)'s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Hostess Brands (Hostess):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610125" cy="194310"/>
          </a:xfrm>
          <a:prstGeom prst="rect">
            <a:avLst/>
          </a:prstGeom>
          <a:noFill/>
        </p:spPr>
        <p:txBody>
          <a:bodyPr wrap="none" lIns="0" rIns="0" tIns="0" bIns="0">
            <a:spAutoFit/>
          </a:bodyPr>
          <a:lstStyle/>
          <a:p>
            <a:r>
              <a:rPr sz="1150" b="0">
                <a:solidFill>
                  <a:srgbClr val="2E2E2E"/>
                </a:solidFill>
                <a:latin typeface="Calibri"/>
              </a:rPr>
              <a:t>▪ Defend and extend leadership in 'Vending' Hostess Brands (Hostess)'s strongest end-market</a:t>
            </a:r>
          </a:p>
        </p:txBody>
      </p:sp>
      <p:sp>
        <p:nvSpPr>
          <p:cNvPr id="31" name="TextBox 30"/>
          <p:cNvSpPr txBox="1"/>
          <p:nvPr/>
        </p:nvSpPr>
        <p:spPr>
          <a:xfrm>
            <a:off x="276225" y="2678589"/>
            <a:ext cx="2444948" cy="194310"/>
          </a:xfrm>
          <a:prstGeom prst="rect">
            <a:avLst/>
          </a:prstGeom>
          <a:noFill/>
        </p:spPr>
        <p:txBody>
          <a:bodyPr wrap="none" lIns="0" rIns="0" tIns="0" bIns="0">
            <a:spAutoFit/>
          </a:bodyPr>
          <a:lstStyle/>
          <a:p>
            <a:r>
              <a:rPr sz="1150" b="0">
                <a:solidFill>
                  <a:srgbClr val="2E2E2E"/>
                </a:solidFill>
                <a:latin typeface="Calibri"/>
              </a:rPr>
              <a:t>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077356" cy="194310"/>
          </a:xfrm>
          <a:prstGeom prst="rect">
            <a:avLst/>
          </a:prstGeom>
          <a:noFill/>
        </p:spPr>
        <p:txBody>
          <a:bodyPr wrap="none" lIns="0" rIns="0" tIns="0" bIns="0">
            <a:spAutoFit/>
          </a:bodyPr>
          <a:lstStyle/>
          <a:p>
            <a:r>
              <a:rPr sz="1150" b="0">
                <a:solidFill>
                  <a:srgbClr val="2E2E2E"/>
                </a:solidFill>
                <a:latin typeface="Calibri"/>
              </a:rPr>
              <a:t>▪ Raise SAM penetration beyond 'Rest of Global' (~</a:t>
            </a:r>
          </a:p>
        </p:txBody>
      </p:sp>
      <p:pic>
        <p:nvPicPr>
          <p:cNvPr id="39" name="Picture 38" descr="lock.png"/>
          <p:cNvPicPr>
            <a:picLocks noChangeAspect="1"/>
          </p:cNvPicPr>
          <p:nvPr/>
        </p:nvPicPr>
        <p:blipFill>
          <a:blip r:embed="rId4"/>
          <a:stretch>
            <a:fillRect/>
          </a:stretch>
        </p:blipFill>
        <p:spPr>
          <a:xfrm>
            <a:off x="3302735" y="3299301"/>
            <a:ext cx="134549" cy="195707"/>
          </a:xfrm>
          <a:prstGeom prst="rect">
            <a:avLst/>
          </a:prstGeom>
        </p:spPr>
      </p:pic>
      <p:sp>
        <p:nvSpPr>
          <p:cNvPr id="40" name="TextBox 39"/>
          <p:cNvSpPr txBox="1"/>
          <p:nvPr/>
        </p:nvSpPr>
        <p:spPr>
          <a:xfrm>
            <a:off x="3477844"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173972" cy="194310"/>
          </a:xfrm>
          <a:prstGeom prst="rect">
            <a:avLst/>
          </a:prstGeom>
          <a:noFill/>
        </p:spPr>
        <p:txBody>
          <a:bodyPr wrap="none" lIns="0" rIns="0" tIns="0" bIns="0">
            <a:spAutoFit/>
          </a:bodyPr>
          <a:lstStyle/>
          <a:p>
            <a:r>
              <a:rPr sz="1150" b="0">
                <a:solidFill>
                  <a:srgbClr val="2E2E2E"/>
                </a:solidFill>
                <a:latin typeface="Calibri"/>
              </a:rPr>
              <a:t>▪ Premiumise the portfolio around 'Sweet muffins' and adjacent high-value lines to lift</a:t>
            </a:r>
          </a:p>
        </p:txBody>
      </p:sp>
      <p:sp>
        <p:nvSpPr>
          <p:cNvPr id="46" name="TextBox 45"/>
          <p:cNvSpPr txBox="1"/>
          <p:nvPr/>
        </p:nvSpPr>
        <p:spPr>
          <a:xfrm>
            <a:off x="6334125" y="2678589"/>
            <a:ext cx="1034653" cy="194310"/>
          </a:xfrm>
          <a:prstGeom prst="rect">
            <a:avLst/>
          </a:prstGeom>
          <a:noFill/>
        </p:spPr>
        <p:txBody>
          <a:bodyPr wrap="none" lIns="0" rIns="0" tIns="0" bIns="0">
            <a:spAutoFit/>
          </a:bodyPr>
          <a:lstStyle/>
          <a:p>
            <a:r>
              <a:rPr sz="1150" b="0">
                <a:solidFill>
                  <a:srgbClr val="2E2E2E"/>
                </a:solidFill>
                <a:latin typeface="Calibri"/>
              </a:rPr>
              <a:t>blended pricing.</a:t>
            </a:r>
          </a:p>
        </p:txBody>
      </p:sp>
      <p:sp>
        <p:nvSpPr>
          <p:cNvPr id="47" name="TextBox 46"/>
          <p:cNvSpPr txBox="1"/>
          <p:nvPr/>
        </p:nvSpPr>
        <p:spPr>
          <a:xfrm>
            <a:off x="6334125" y="2906426"/>
            <a:ext cx="5176825" cy="194310"/>
          </a:xfrm>
          <a:prstGeom prst="rect">
            <a:avLst/>
          </a:prstGeom>
          <a:noFill/>
        </p:spPr>
        <p:txBody>
          <a:bodyPr wrap="none" lIns="0" rIns="0" tIns="0" bIns="0">
            <a:spAutoFit/>
          </a:bodyPr>
          <a:lstStyle/>
          <a:p>
            <a:r>
              <a:rPr sz="1150" b="0">
                <a:solidFill>
                  <a:srgbClr val="2E2E2E"/>
                </a:solidFill>
                <a:latin typeface="Calibri"/>
              </a:rPr>
              <a:t>▪ Deepen presence in 'Rest of Global'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