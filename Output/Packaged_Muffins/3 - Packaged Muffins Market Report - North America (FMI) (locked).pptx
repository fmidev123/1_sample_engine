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65" r:id="rId17"/>
    <p:sldId id="518" r:id="rId270"/>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27" r:id="rId279"/>
    <p:sldId id="519" r:id="rId271"/>
    <p:sldId id="520" r:id="rId272"/>
    <p:sldId id="521" r:id="rId273"/>
    <p:sldId id="522" r:id="rId274"/>
    <p:sldId id="523" r:id="rId275"/>
    <p:sldId id="524" r:id="rId276"/>
    <p:sldId id="525" r:id="rId277"/>
    <p:sldId id="526" r:id="rId278"/>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33.xml"/><Relationship Id="rId19" Type="http://schemas.openxmlformats.org/officeDocument/2006/relationships/slide" Target="slides/slide34.xml"/><Relationship Id="rId20" Type="http://schemas.openxmlformats.org/officeDocument/2006/relationships/slide" Target="slides/slide35.xml"/><Relationship Id="rId21" Type="http://schemas.openxmlformats.org/officeDocument/2006/relationships/slide" Target="slides/slide36.xml"/><Relationship Id="rId22" Type="http://schemas.openxmlformats.org/officeDocument/2006/relationships/slide" Target="slides/slide37.xml"/><Relationship Id="rId23" Type="http://schemas.openxmlformats.org/officeDocument/2006/relationships/slide" Target="slides/slide38.xml"/><Relationship Id="rId24" Type="http://schemas.openxmlformats.org/officeDocument/2006/relationships/slide" Target="slides/slide39.xml"/><Relationship Id="rId25" Type="http://schemas.openxmlformats.org/officeDocument/2006/relationships/slide" Target="slides/slide40.xml"/><Relationship Id="rId26" Type="http://schemas.openxmlformats.org/officeDocument/2006/relationships/slide" Target="slides/slide41.xml"/><Relationship Id="rId27" Type="http://schemas.openxmlformats.org/officeDocument/2006/relationships/slide" Target="slides/slide42.xml"/><Relationship Id="rId28" Type="http://schemas.openxmlformats.org/officeDocument/2006/relationships/slide" Target="slides/slide43.xml"/><Relationship Id="rId29" Type="http://schemas.openxmlformats.org/officeDocument/2006/relationships/slide" Target="slides/slide44.xml"/><Relationship Id="rId30" Type="http://schemas.openxmlformats.org/officeDocument/2006/relationships/slide" Target="slides/slide45.xml"/><Relationship Id="rId31" Type="http://schemas.openxmlformats.org/officeDocument/2006/relationships/slide" Target="slides/slide46.xml"/><Relationship Id="rId32" Type="http://schemas.openxmlformats.org/officeDocument/2006/relationships/slide" Target="slides/slide47.xml"/><Relationship Id="rId33" Type="http://schemas.openxmlformats.org/officeDocument/2006/relationships/slide" Target="slides/slide48.xml"/><Relationship Id="rId34" Type="http://schemas.openxmlformats.org/officeDocument/2006/relationships/slide" Target="slides/slide49.xml"/><Relationship Id="rId35" Type="http://schemas.openxmlformats.org/officeDocument/2006/relationships/slide" Target="slides/slide50.xml"/><Relationship Id="rId36" Type="http://schemas.openxmlformats.org/officeDocument/2006/relationships/slide" Target="slides/slide51.xml"/><Relationship Id="rId37" Type="http://schemas.openxmlformats.org/officeDocument/2006/relationships/slide" Target="slides/slide52.xml"/><Relationship Id="rId38" Type="http://schemas.openxmlformats.org/officeDocument/2006/relationships/slide" Target="slides/slide53.xml"/><Relationship Id="rId39" Type="http://schemas.openxmlformats.org/officeDocument/2006/relationships/slide" Target="slides/slide54.xml"/><Relationship Id="rId40" Type="http://schemas.openxmlformats.org/officeDocument/2006/relationships/slide" Target="slides/slide55.xml"/><Relationship Id="rId41" Type="http://schemas.openxmlformats.org/officeDocument/2006/relationships/slide" Target="slides/slide56.xml"/><Relationship Id="rId42" Type="http://schemas.openxmlformats.org/officeDocument/2006/relationships/slide" Target="slides/slide57.xml"/><Relationship Id="rId43" Type="http://schemas.openxmlformats.org/officeDocument/2006/relationships/slide" Target="slides/slide58.xml"/><Relationship Id="rId44" Type="http://schemas.openxmlformats.org/officeDocument/2006/relationships/slide" Target="slides/slide59.xml"/><Relationship Id="rId45" Type="http://schemas.openxmlformats.org/officeDocument/2006/relationships/slide" Target="slides/slide60.xml"/><Relationship Id="rId46" Type="http://schemas.openxmlformats.org/officeDocument/2006/relationships/slide" Target="slides/slide61.xml"/><Relationship Id="rId47" Type="http://schemas.openxmlformats.org/officeDocument/2006/relationships/slide" Target="slides/slide62.xml"/><Relationship Id="rId48" Type="http://schemas.openxmlformats.org/officeDocument/2006/relationships/slide" Target="slides/slide63.xml"/><Relationship Id="rId49" Type="http://schemas.openxmlformats.org/officeDocument/2006/relationships/slide" Target="slides/slide64.xml"/><Relationship Id="rId50" Type="http://schemas.openxmlformats.org/officeDocument/2006/relationships/slide" Target="slides/slide65.xml"/><Relationship Id="rId51" Type="http://schemas.openxmlformats.org/officeDocument/2006/relationships/slide" Target="slides/slide66.xml"/><Relationship Id="rId52" Type="http://schemas.openxmlformats.org/officeDocument/2006/relationships/slide" Target="slides/slide67.xml"/><Relationship Id="rId53" Type="http://schemas.openxmlformats.org/officeDocument/2006/relationships/slide" Target="slides/slide68.xml"/><Relationship Id="rId54" Type="http://schemas.openxmlformats.org/officeDocument/2006/relationships/slide" Target="slides/slide69.xml"/><Relationship Id="rId55" Type="http://schemas.openxmlformats.org/officeDocument/2006/relationships/slide" Target="slides/slide70.xml"/><Relationship Id="rId56" Type="http://schemas.openxmlformats.org/officeDocument/2006/relationships/slide" Target="slides/slide71.xml"/><Relationship Id="rId57" Type="http://schemas.openxmlformats.org/officeDocument/2006/relationships/slide" Target="slides/slide72.xml"/><Relationship Id="rId58" Type="http://schemas.openxmlformats.org/officeDocument/2006/relationships/slide" Target="slides/slide73.xml"/><Relationship Id="rId59" Type="http://schemas.openxmlformats.org/officeDocument/2006/relationships/slide" Target="slides/slide74.xml"/><Relationship Id="rId60" Type="http://schemas.openxmlformats.org/officeDocument/2006/relationships/slide" Target="slides/slide75.xml"/><Relationship Id="rId61" Type="http://schemas.openxmlformats.org/officeDocument/2006/relationships/slide" Target="slides/slide76.xml"/><Relationship Id="rId62" Type="http://schemas.openxmlformats.org/officeDocument/2006/relationships/slide" Target="slides/slide77.xml"/><Relationship Id="rId63" Type="http://schemas.openxmlformats.org/officeDocument/2006/relationships/slide" Target="slides/slide78.xml"/><Relationship Id="rId64" Type="http://schemas.openxmlformats.org/officeDocument/2006/relationships/slide" Target="slides/slide79.xml"/><Relationship Id="rId65" Type="http://schemas.openxmlformats.org/officeDocument/2006/relationships/slide" Target="slides/slide80.xml"/><Relationship Id="rId66" Type="http://schemas.openxmlformats.org/officeDocument/2006/relationships/slide" Target="slides/slide81.xml"/><Relationship Id="rId67" Type="http://schemas.openxmlformats.org/officeDocument/2006/relationships/slide" Target="slides/slide82.xml"/><Relationship Id="rId68" Type="http://schemas.openxmlformats.org/officeDocument/2006/relationships/slide" Target="slides/slide83.xml"/><Relationship Id="rId69" Type="http://schemas.openxmlformats.org/officeDocument/2006/relationships/slide" Target="slides/slide84.xml"/><Relationship Id="rId70" Type="http://schemas.openxmlformats.org/officeDocument/2006/relationships/slide" Target="slides/slide85.xml"/><Relationship Id="rId71" Type="http://schemas.openxmlformats.org/officeDocument/2006/relationships/slide" Target="slides/slide86.xml"/><Relationship Id="rId72" Type="http://schemas.openxmlformats.org/officeDocument/2006/relationships/slide" Target="slides/slide87.xml"/><Relationship Id="rId73" Type="http://schemas.openxmlformats.org/officeDocument/2006/relationships/slide" Target="slides/slide88.xml"/><Relationship Id="rId74" Type="http://schemas.openxmlformats.org/officeDocument/2006/relationships/slide" Target="slides/slide89.xml"/><Relationship Id="rId75" Type="http://schemas.openxmlformats.org/officeDocument/2006/relationships/slide" Target="slides/slide90.xml"/><Relationship Id="rId76" Type="http://schemas.openxmlformats.org/officeDocument/2006/relationships/slide" Target="slides/slide91.xml"/><Relationship Id="rId77" Type="http://schemas.openxmlformats.org/officeDocument/2006/relationships/slide" Target="slides/slide92.xml"/><Relationship Id="rId78" Type="http://schemas.openxmlformats.org/officeDocument/2006/relationships/slide" Target="slides/slide93.xml"/><Relationship Id="rId79" Type="http://schemas.openxmlformats.org/officeDocument/2006/relationships/slide" Target="slides/slide94.xml"/><Relationship Id="rId80" Type="http://schemas.openxmlformats.org/officeDocument/2006/relationships/slide" Target="slides/slide95.xml"/><Relationship Id="rId81" Type="http://schemas.openxmlformats.org/officeDocument/2006/relationships/slide" Target="slides/slide96.xml"/><Relationship Id="rId82" Type="http://schemas.openxmlformats.org/officeDocument/2006/relationships/slide" Target="slides/slide97.xml"/><Relationship Id="rId83" Type="http://schemas.openxmlformats.org/officeDocument/2006/relationships/slide" Target="slides/slide98.xml"/><Relationship Id="rId84" Type="http://schemas.openxmlformats.org/officeDocument/2006/relationships/slide" Target="slides/slide99.xml"/><Relationship Id="rId85" Type="http://schemas.openxmlformats.org/officeDocument/2006/relationships/slide" Target="slides/slide100.xml"/><Relationship Id="rId86" Type="http://schemas.openxmlformats.org/officeDocument/2006/relationships/slide" Target="slides/slide101.xml"/><Relationship Id="rId87" Type="http://schemas.openxmlformats.org/officeDocument/2006/relationships/slide" Target="slides/slide102.xml"/><Relationship Id="rId88" Type="http://schemas.openxmlformats.org/officeDocument/2006/relationships/slide" Target="slides/slide103.xml"/><Relationship Id="rId89" Type="http://schemas.openxmlformats.org/officeDocument/2006/relationships/slide" Target="slides/slide104.xml"/><Relationship Id="rId90" Type="http://schemas.openxmlformats.org/officeDocument/2006/relationships/slide" Target="slides/slide105.xml"/><Relationship Id="rId91" Type="http://schemas.openxmlformats.org/officeDocument/2006/relationships/slide" Target="slides/slide106.xml"/><Relationship Id="rId92" Type="http://schemas.openxmlformats.org/officeDocument/2006/relationships/slide" Target="slides/slide107.xml"/><Relationship Id="rId93" Type="http://schemas.openxmlformats.org/officeDocument/2006/relationships/slide" Target="slides/slide108.xml"/><Relationship Id="rId94" Type="http://schemas.openxmlformats.org/officeDocument/2006/relationships/slide" Target="slides/slide109.xml"/><Relationship Id="rId95" Type="http://schemas.openxmlformats.org/officeDocument/2006/relationships/slide" Target="slides/slide110.xml"/><Relationship Id="rId96" Type="http://schemas.openxmlformats.org/officeDocument/2006/relationships/slide" Target="slides/slide111.xml"/><Relationship Id="rId97" Type="http://schemas.openxmlformats.org/officeDocument/2006/relationships/slide" Target="slides/slide112.xml"/><Relationship Id="rId98" Type="http://schemas.openxmlformats.org/officeDocument/2006/relationships/slide" Target="slides/slide113.xml"/><Relationship Id="rId99" Type="http://schemas.openxmlformats.org/officeDocument/2006/relationships/slide" Target="slides/slide114.xml"/><Relationship Id="rId100" Type="http://schemas.openxmlformats.org/officeDocument/2006/relationships/slide" Target="slides/slide115.xml"/><Relationship Id="rId101" Type="http://schemas.openxmlformats.org/officeDocument/2006/relationships/slide" Target="slides/slide116.xml"/><Relationship Id="rId102" Type="http://schemas.openxmlformats.org/officeDocument/2006/relationships/slide" Target="slides/slide117.xml"/><Relationship Id="rId103" Type="http://schemas.openxmlformats.org/officeDocument/2006/relationships/slide" Target="slides/slide118.xml"/><Relationship Id="rId104" Type="http://schemas.openxmlformats.org/officeDocument/2006/relationships/slide" Target="slides/slide119.xml"/><Relationship Id="rId105" Type="http://schemas.openxmlformats.org/officeDocument/2006/relationships/slide" Target="slides/slide120.xml"/><Relationship Id="rId106" Type="http://schemas.openxmlformats.org/officeDocument/2006/relationships/slide" Target="slides/slide121.xml"/><Relationship Id="rId107" Type="http://schemas.openxmlformats.org/officeDocument/2006/relationships/slide" Target="slides/slide122.xml"/><Relationship Id="rId108" Type="http://schemas.openxmlformats.org/officeDocument/2006/relationships/slide" Target="slides/slide123.xml"/><Relationship Id="rId109" Type="http://schemas.openxmlformats.org/officeDocument/2006/relationships/slide" Target="slides/slide124.xml"/><Relationship Id="rId110" Type="http://schemas.openxmlformats.org/officeDocument/2006/relationships/slide" Target="slides/slide125.xml"/><Relationship Id="rId111" Type="http://schemas.openxmlformats.org/officeDocument/2006/relationships/slide" Target="slides/slide126.xml"/><Relationship Id="rId112" Type="http://schemas.openxmlformats.org/officeDocument/2006/relationships/slide" Target="slides/slide127.xml"/><Relationship Id="rId113" Type="http://schemas.openxmlformats.org/officeDocument/2006/relationships/slide" Target="slides/slide128.xml"/><Relationship Id="rId114" Type="http://schemas.openxmlformats.org/officeDocument/2006/relationships/slide" Target="slides/slide129.xml"/><Relationship Id="rId115" Type="http://schemas.openxmlformats.org/officeDocument/2006/relationships/slide" Target="slides/slide130.xml"/><Relationship Id="rId116" Type="http://schemas.openxmlformats.org/officeDocument/2006/relationships/slide" Target="slides/slide131.xml"/><Relationship Id="rId117" Type="http://schemas.openxmlformats.org/officeDocument/2006/relationships/slide" Target="slides/slide132.xml"/><Relationship Id="rId118" Type="http://schemas.openxmlformats.org/officeDocument/2006/relationships/slide" Target="slides/slide133.xml"/><Relationship Id="rId119" Type="http://schemas.openxmlformats.org/officeDocument/2006/relationships/slide" Target="slides/slide134.xml"/><Relationship Id="rId120" Type="http://schemas.openxmlformats.org/officeDocument/2006/relationships/slide" Target="slides/slide135.xml"/><Relationship Id="rId121" Type="http://schemas.openxmlformats.org/officeDocument/2006/relationships/slide" Target="slides/slide136.xml"/><Relationship Id="rId122" Type="http://schemas.openxmlformats.org/officeDocument/2006/relationships/slide" Target="slides/slide137.xml"/><Relationship Id="rId123" Type="http://schemas.openxmlformats.org/officeDocument/2006/relationships/slide" Target="slides/slide138.xml"/><Relationship Id="rId124" Type="http://schemas.openxmlformats.org/officeDocument/2006/relationships/slide" Target="slides/slide139.xml"/><Relationship Id="rId125" Type="http://schemas.openxmlformats.org/officeDocument/2006/relationships/slide" Target="slides/slide140.xml"/><Relationship Id="rId126" Type="http://schemas.openxmlformats.org/officeDocument/2006/relationships/slide" Target="slides/slide141.xml"/><Relationship Id="rId127" Type="http://schemas.openxmlformats.org/officeDocument/2006/relationships/slide" Target="slides/slide142.xml"/><Relationship Id="rId128" Type="http://schemas.openxmlformats.org/officeDocument/2006/relationships/slide" Target="slides/slide143.xml"/><Relationship Id="rId129" Type="http://schemas.openxmlformats.org/officeDocument/2006/relationships/slide" Target="slides/slide144.xml"/><Relationship Id="rId130" Type="http://schemas.openxmlformats.org/officeDocument/2006/relationships/slide" Target="slides/slide145.xml"/><Relationship Id="rId131" Type="http://schemas.openxmlformats.org/officeDocument/2006/relationships/slide" Target="slides/slide146.xml"/><Relationship Id="rId132" Type="http://schemas.openxmlformats.org/officeDocument/2006/relationships/slide" Target="slides/slide147.xml"/><Relationship Id="rId133" Type="http://schemas.openxmlformats.org/officeDocument/2006/relationships/slide" Target="slides/slide148.xml"/><Relationship Id="rId134" Type="http://schemas.openxmlformats.org/officeDocument/2006/relationships/slide" Target="slides/slide149.xml"/><Relationship Id="rId135" Type="http://schemas.openxmlformats.org/officeDocument/2006/relationships/slide" Target="slides/slide150.xml"/><Relationship Id="rId136" Type="http://schemas.openxmlformats.org/officeDocument/2006/relationships/slide" Target="slides/slide151.xml"/><Relationship Id="rId137" Type="http://schemas.openxmlformats.org/officeDocument/2006/relationships/slide" Target="slides/slide152.xml"/><Relationship Id="rId138" Type="http://schemas.openxmlformats.org/officeDocument/2006/relationships/slide" Target="slides/slide153.xml"/><Relationship Id="rId139" Type="http://schemas.openxmlformats.org/officeDocument/2006/relationships/slide" Target="slides/slide154.xml"/><Relationship Id="rId140" Type="http://schemas.openxmlformats.org/officeDocument/2006/relationships/slide" Target="slides/slide155.xml"/><Relationship Id="rId141" Type="http://schemas.openxmlformats.org/officeDocument/2006/relationships/slide" Target="slides/slide156.xml"/><Relationship Id="rId142" Type="http://schemas.openxmlformats.org/officeDocument/2006/relationships/slide" Target="slides/slide157.xml"/><Relationship Id="rId143" Type="http://schemas.openxmlformats.org/officeDocument/2006/relationships/slide" Target="slides/slide158.xml"/><Relationship Id="rId144" Type="http://schemas.openxmlformats.org/officeDocument/2006/relationships/slide" Target="slides/slide159.xml"/><Relationship Id="rId145" Type="http://schemas.openxmlformats.org/officeDocument/2006/relationships/slide" Target="slides/slide160.xml"/><Relationship Id="rId146" Type="http://schemas.openxmlformats.org/officeDocument/2006/relationships/slide" Target="slides/slide161.xml"/><Relationship Id="rId147" Type="http://schemas.openxmlformats.org/officeDocument/2006/relationships/slide" Target="slides/slide162.xml"/><Relationship Id="rId148" Type="http://schemas.openxmlformats.org/officeDocument/2006/relationships/slide" Target="slides/slide163.xml"/><Relationship Id="rId149" Type="http://schemas.openxmlformats.org/officeDocument/2006/relationships/slide" Target="slides/slide164.xml"/><Relationship Id="rId150" Type="http://schemas.openxmlformats.org/officeDocument/2006/relationships/slide" Target="slides/slide165.xml"/><Relationship Id="rId151" Type="http://schemas.openxmlformats.org/officeDocument/2006/relationships/slide" Target="slides/slide166.xml"/><Relationship Id="rId152" Type="http://schemas.openxmlformats.org/officeDocument/2006/relationships/slide" Target="slides/slide167.xml"/><Relationship Id="rId153" Type="http://schemas.openxmlformats.org/officeDocument/2006/relationships/slide" Target="slides/slide168.xml"/><Relationship Id="rId154" Type="http://schemas.openxmlformats.org/officeDocument/2006/relationships/slide" Target="slides/slide169.xml"/><Relationship Id="rId155" Type="http://schemas.openxmlformats.org/officeDocument/2006/relationships/slide" Target="slides/slide170.xml"/><Relationship Id="rId156" Type="http://schemas.openxmlformats.org/officeDocument/2006/relationships/slide" Target="slides/slide171.xml"/><Relationship Id="rId157" Type="http://schemas.openxmlformats.org/officeDocument/2006/relationships/slide" Target="slides/slide172.xml"/><Relationship Id="rId158" Type="http://schemas.openxmlformats.org/officeDocument/2006/relationships/slide" Target="slides/slide173.xml"/><Relationship Id="rId159" Type="http://schemas.openxmlformats.org/officeDocument/2006/relationships/slide" Target="slides/slide174.xml"/><Relationship Id="rId160" Type="http://schemas.openxmlformats.org/officeDocument/2006/relationships/slide" Target="slides/slide175.xml"/><Relationship Id="rId161" Type="http://schemas.openxmlformats.org/officeDocument/2006/relationships/slide" Target="slides/slide176.xml"/><Relationship Id="rId162" Type="http://schemas.openxmlformats.org/officeDocument/2006/relationships/slide" Target="slides/slide177.xml"/><Relationship Id="rId163" Type="http://schemas.openxmlformats.org/officeDocument/2006/relationships/slide" Target="slides/slide178.xml"/><Relationship Id="rId164" Type="http://schemas.openxmlformats.org/officeDocument/2006/relationships/slide" Target="slides/slide179.xml"/><Relationship Id="rId165" Type="http://schemas.openxmlformats.org/officeDocument/2006/relationships/slide" Target="slides/slide180.xml"/><Relationship Id="rId166" Type="http://schemas.openxmlformats.org/officeDocument/2006/relationships/slide" Target="slides/slide181.xml"/><Relationship Id="rId167" Type="http://schemas.openxmlformats.org/officeDocument/2006/relationships/slide" Target="slides/slide182.xml"/><Relationship Id="rId168" Type="http://schemas.openxmlformats.org/officeDocument/2006/relationships/slide" Target="slides/slide183.xml"/><Relationship Id="rId169" Type="http://schemas.openxmlformats.org/officeDocument/2006/relationships/slide" Target="slides/slide184.xml"/><Relationship Id="rId170" Type="http://schemas.openxmlformats.org/officeDocument/2006/relationships/slide" Target="slides/slide185.xml"/><Relationship Id="rId171" Type="http://schemas.openxmlformats.org/officeDocument/2006/relationships/slide" Target="slides/slide186.xml"/><Relationship Id="rId172" Type="http://schemas.openxmlformats.org/officeDocument/2006/relationships/slide" Target="slides/slide187.xml"/><Relationship Id="rId173" Type="http://schemas.openxmlformats.org/officeDocument/2006/relationships/slide" Target="slides/slide188.xml"/><Relationship Id="rId174" Type="http://schemas.openxmlformats.org/officeDocument/2006/relationships/slide" Target="slides/slide189.xml"/><Relationship Id="rId175" Type="http://schemas.openxmlformats.org/officeDocument/2006/relationships/slide" Target="slides/slide190.xml"/><Relationship Id="rId176" Type="http://schemas.openxmlformats.org/officeDocument/2006/relationships/slide" Target="slides/slide191.xml"/><Relationship Id="rId177" Type="http://schemas.openxmlformats.org/officeDocument/2006/relationships/slide" Target="slides/slide192.xml"/><Relationship Id="rId178" Type="http://schemas.openxmlformats.org/officeDocument/2006/relationships/slide" Target="slides/slide193.xml"/><Relationship Id="rId179" Type="http://schemas.openxmlformats.org/officeDocument/2006/relationships/slide" Target="slides/slide194.xml"/><Relationship Id="rId180" Type="http://schemas.openxmlformats.org/officeDocument/2006/relationships/slide" Target="slides/slide195.xml"/><Relationship Id="rId181" Type="http://schemas.openxmlformats.org/officeDocument/2006/relationships/slide" Target="slides/slide196.xml"/><Relationship Id="rId182" Type="http://schemas.openxmlformats.org/officeDocument/2006/relationships/slide" Target="slides/slide197.xml"/><Relationship Id="rId183" Type="http://schemas.openxmlformats.org/officeDocument/2006/relationships/slide" Target="slides/slide198.xml"/><Relationship Id="rId184" Type="http://schemas.openxmlformats.org/officeDocument/2006/relationships/slide" Target="slides/slide199.xml"/><Relationship Id="rId185" Type="http://schemas.openxmlformats.org/officeDocument/2006/relationships/slide" Target="slides/slide200.xml"/><Relationship Id="rId186" Type="http://schemas.openxmlformats.org/officeDocument/2006/relationships/slide" Target="slides/slide201.xml"/><Relationship Id="rId187" Type="http://schemas.openxmlformats.org/officeDocument/2006/relationships/slide" Target="slides/slide202.xml"/><Relationship Id="rId188" Type="http://schemas.openxmlformats.org/officeDocument/2006/relationships/slide" Target="slides/slide203.xml"/><Relationship Id="rId189" Type="http://schemas.openxmlformats.org/officeDocument/2006/relationships/slide" Target="slides/slide204.xml"/><Relationship Id="rId190" Type="http://schemas.openxmlformats.org/officeDocument/2006/relationships/slide" Target="slides/slide205.xml"/><Relationship Id="rId191" Type="http://schemas.openxmlformats.org/officeDocument/2006/relationships/slide" Target="slides/slide206.xml"/><Relationship Id="rId192" Type="http://schemas.openxmlformats.org/officeDocument/2006/relationships/slide" Target="slides/slide207.xml"/><Relationship Id="rId193" Type="http://schemas.openxmlformats.org/officeDocument/2006/relationships/slide" Target="slides/slide208.xml"/><Relationship Id="rId194" Type="http://schemas.openxmlformats.org/officeDocument/2006/relationships/slide" Target="slides/slide209.xml"/><Relationship Id="rId195" Type="http://schemas.openxmlformats.org/officeDocument/2006/relationships/slide" Target="slides/slide210.xml"/><Relationship Id="rId196" Type="http://schemas.openxmlformats.org/officeDocument/2006/relationships/slide" Target="slides/slide211.xml"/><Relationship Id="rId197" Type="http://schemas.openxmlformats.org/officeDocument/2006/relationships/slide" Target="slides/slide212.xml"/><Relationship Id="rId198" Type="http://schemas.openxmlformats.org/officeDocument/2006/relationships/slide" Target="slides/slide213.xml"/><Relationship Id="rId199" Type="http://schemas.openxmlformats.org/officeDocument/2006/relationships/slide" Target="slides/slide214.xml"/><Relationship Id="rId200" Type="http://schemas.openxmlformats.org/officeDocument/2006/relationships/slide" Target="slides/slide215.xml"/><Relationship Id="rId201" Type="http://schemas.openxmlformats.org/officeDocument/2006/relationships/slide" Target="slides/slide216.xml"/><Relationship Id="rId202" Type="http://schemas.openxmlformats.org/officeDocument/2006/relationships/slide" Target="slides/slide217.xml"/><Relationship Id="rId203" Type="http://schemas.openxmlformats.org/officeDocument/2006/relationships/slide" Target="slides/slide218.xml"/><Relationship Id="rId204" Type="http://schemas.openxmlformats.org/officeDocument/2006/relationships/slide" Target="slides/slide219.xml"/><Relationship Id="rId205" Type="http://schemas.openxmlformats.org/officeDocument/2006/relationships/slide" Target="slides/slide220.xml"/><Relationship Id="rId206" Type="http://schemas.openxmlformats.org/officeDocument/2006/relationships/slide" Target="slides/slide221.xml"/><Relationship Id="rId207" Type="http://schemas.openxmlformats.org/officeDocument/2006/relationships/slide" Target="slides/slide222.xml"/><Relationship Id="rId208" Type="http://schemas.openxmlformats.org/officeDocument/2006/relationships/slide" Target="slides/slide223.xml"/><Relationship Id="rId209" Type="http://schemas.openxmlformats.org/officeDocument/2006/relationships/slide" Target="slides/slide224.xml"/><Relationship Id="rId210" Type="http://schemas.openxmlformats.org/officeDocument/2006/relationships/slide" Target="slides/slide225.xml"/><Relationship Id="rId211" Type="http://schemas.openxmlformats.org/officeDocument/2006/relationships/slide" Target="slides/slide226.xml"/><Relationship Id="rId212" Type="http://schemas.openxmlformats.org/officeDocument/2006/relationships/slide" Target="slides/slide227.xml"/><Relationship Id="rId213" Type="http://schemas.openxmlformats.org/officeDocument/2006/relationships/slide" Target="slides/slide228.xml"/><Relationship Id="rId214" Type="http://schemas.openxmlformats.org/officeDocument/2006/relationships/slide" Target="slides/slide229.xml"/><Relationship Id="rId215" Type="http://schemas.openxmlformats.org/officeDocument/2006/relationships/slide" Target="slides/slide230.xml"/><Relationship Id="rId216" Type="http://schemas.openxmlformats.org/officeDocument/2006/relationships/slide" Target="slides/slide231.xml"/><Relationship Id="rId217" Type="http://schemas.openxmlformats.org/officeDocument/2006/relationships/slide" Target="slides/slide232.xml"/><Relationship Id="rId218" Type="http://schemas.openxmlformats.org/officeDocument/2006/relationships/slide" Target="slides/slide233.xml"/><Relationship Id="rId219" Type="http://schemas.openxmlformats.org/officeDocument/2006/relationships/slide" Target="slides/slide234.xml"/><Relationship Id="rId220" Type="http://schemas.openxmlformats.org/officeDocument/2006/relationships/slide" Target="slides/slide235.xml"/><Relationship Id="rId221" Type="http://schemas.openxmlformats.org/officeDocument/2006/relationships/slide" Target="slides/slide236.xml"/><Relationship Id="rId222" Type="http://schemas.openxmlformats.org/officeDocument/2006/relationships/slide" Target="slides/slide237.xml"/><Relationship Id="rId223" Type="http://schemas.openxmlformats.org/officeDocument/2006/relationships/slide" Target="slides/slide238.xml"/><Relationship Id="rId224" Type="http://schemas.openxmlformats.org/officeDocument/2006/relationships/slide" Target="slides/slide239.xml"/><Relationship Id="rId225" Type="http://schemas.openxmlformats.org/officeDocument/2006/relationships/slide" Target="slides/slide240.xml"/><Relationship Id="rId226" Type="http://schemas.openxmlformats.org/officeDocument/2006/relationships/slide" Target="slides/slide241.xml"/><Relationship Id="rId227" Type="http://schemas.openxmlformats.org/officeDocument/2006/relationships/slide" Target="slides/slide242.xml"/><Relationship Id="rId228" Type="http://schemas.openxmlformats.org/officeDocument/2006/relationships/slide" Target="slides/slide243.xml"/><Relationship Id="rId229" Type="http://schemas.openxmlformats.org/officeDocument/2006/relationships/slide" Target="slides/slide244.xml"/><Relationship Id="rId230" Type="http://schemas.openxmlformats.org/officeDocument/2006/relationships/slide" Target="slides/slide245.xml"/><Relationship Id="rId231" Type="http://schemas.openxmlformats.org/officeDocument/2006/relationships/slide" Target="slides/slide246.xml"/><Relationship Id="rId232" Type="http://schemas.openxmlformats.org/officeDocument/2006/relationships/slide" Target="slides/slide247.xml"/><Relationship Id="rId233" Type="http://schemas.openxmlformats.org/officeDocument/2006/relationships/slide" Target="slides/slide248.xml"/><Relationship Id="rId234" Type="http://schemas.openxmlformats.org/officeDocument/2006/relationships/slide" Target="slides/slide249.xml"/><Relationship Id="rId235" Type="http://schemas.openxmlformats.org/officeDocument/2006/relationships/slide" Target="slides/slide250.xml"/><Relationship Id="rId236" Type="http://schemas.openxmlformats.org/officeDocument/2006/relationships/slide" Target="slides/slide251.xml"/><Relationship Id="rId237" Type="http://schemas.openxmlformats.org/officeDocument/2006/relationships/slide" Target="slides/slide252.xml"/><Relationship Id="rId238" Type="http://schemas.openxmlformats.org/officeDocument/2006/relationships/slide" Target="slides/slide253.xml"/><Relationship Id="rId239" Type="http://schemas.openxmlformats.org/officeDocument/2006/relationships/slide" Target="slides/slide254.xml"/><Relationship Id="rId240" Type="http://schemas.openxmlformats.org/officeDocument/2006/relationships/slide" Target="slides/slide255.xml"/><Relationship Id="rId241" Type="http://schemas.openxmlformats.org/officeDocument/2006/relationships/slide" Target="slides/slide256.xml"/><Relationship Id="rId242" Type="http://schemas.openxmlformats.org/officeDocument/2006/relationships/slide" Target="slides/slide257.xml"/><Relationship Id="rId243" Type="http://schemas.openxmlformats.org/officeDocument/2006/relationships/slide" Target="slides/slide258.xml"/><Relationship Id="rId244" Type="http://schemas.openxmlformats.org/officeDocument/2006/relationships/slide" Target="slides/slide259.xml"/><Relationship Id="rId245" Type="http://schemas.openxmlformats.org/officeDocument/2006/relationships/slide" Target="slides/slide260.xml"/><Relationship Id="rId246" Type="http://schemas.openxmlformats.org/officeDocument/2006/relationships/slide" Target="slides/slide261.xml"/><Relationship Id="rId247" Type="http://schemas.openxmlformats.org/officeDocument/2006/relationships/slide" Target="slides/slide262.xml"/><Relationship Id="rId248" Type="http://schemas.openxmlformats.org/officeDocument/2006/relationships/slide" Target="slides/slide263.xml"/><Relationship Id="rId249" Type="http://schemas.openxmlformats.org/officeDocument/2006/relationships/slide" Target="slides/slide264.xml"/><Relationship Id="rId250" Type="http://schemas.openxmlformats.org/officeDocument/2006/relationships/slide" Target="slides/slide265.xml"/><Relationship Id="rId251" Type="http://schemas.openxmlformats.org/officeDocument/2006/relationships/slide" Target="slides/slide266.xml"/><Relationship Id="rId252" Type="http://schemas.openxmlformats.org/officeDocument/2006/relationships/slide" Target="slides/slide267.xml"/><Relationship Id="rId253" Type="http://schemas.openxmlformats.org/officeDocument/2006/relationships/slide" Target="slides/slide268.xml"/><Relationship Id="rId254" Type="http://schemas.openxmlformats.org/officeDocument/2006/relationships/slide" Target="slides/slide269.xml"/><Relationship Id="rId255" Type="http://schemas.openxmlformats.org/officeDocument/2006/relationships/slide" Target="slides/slide270.xml"/><Relationship Id="rId256" Type="http://schemas.openxmlformats.org/officeDocument/2006/relationships/slide" Target="slides/slide271.xml"/><Relationship Id="rId257" Type="http://schemas.openxmlformats.org/officeDocument/2006/relationships/slide" Target="slides/slide272.xml"/><Relationship Id="rId258" Type="http://schemas.openxmlformats.org/officeDocument/2006/relationships/slide" Target="slides/slide12.xml"/><Relationship Id="rId259" Type="http://schemas.openxmlformats.org/officeDocument/2006/relationships/slide" Target="slides/slide13.xml"/><Relationship Id="rId260" Type="http://schemas.openxmlformats.org/officeDocument/2006/relationships/slide" Target="slides/slide14.xml"/><Relationship Id="rId261" Type="http://schemas.openxmlformats.org/officeDocument/2006/relationships/slide" Target="slides/slide15.xml"/><Relationship Id="rId262" Type="http://schemas.openxmlformats.org/officeDocument/2006/relationships/slide" Target="slides/slide16.xml"/><Relationship Id="rId263" Type="http://schemas.openxmlformats.org/officeDocument/2006/relationships/slide" Target="slides/slide17.xml"/><Relationship Id="rId264" Type="http://schemas.openxmlformats.org/officeDocument/2006/relationships/slide" Target="slides/slide18.xml"/><Relationship Id="rId265" Type="http://schemas.openxmlformats.org/officeDocument/2006/relationships/slide" Target="slides/slide19.xml"/><Relationship Id="rId266" Type="http://schemas.openxmlformats.org/officeDocument/2006/relationships/slide" Target="slides/slide20.xml"/><Relationship Id="rId267" Type="http://schemas.openxmlformats.org/officeDocument/2006/relationships/slide" Target="slides/slide21.xml"/><Relationship Id="rId268" Type="http://schemas.openxmlformats.org/officeDocument/2006/relationships/slide" Target="slides/slide22.xml"/><Relationship Id="rId269" Type="http://schemas.openxmlformats.org/officeDocument/2006/relationships/slide" Target="slides/slide23.xml"/><Relationship Id="rId270" Type="http://schemas.openxmlformats.org/officeDocument/2006/relationships/slide" Target="slides/slide11.xml"/><Relationship Id="rId271" Type="http://schemas.openxmlformats.org/officeDocument/2006/relationships/slide" Target="slides/slide25.xml"/><Relationship Id="rId272" Type="http://schemas.openxmlformats.org/officeDocument/2006/relationships/slide" Target="slides/slide26.xml"/><Relationship Id="rId273" Type="http://schemas.openxmlformats.org/officeDocument/2006/relationships/slide" Target="slides/slide27.xml"/><Relationship Id="rId274" Type="http://schemas.openxmlformats.org/officeDocument/2006/relationships/slide" Target="slides/slide28.xml"/><Relationship Id="rId275" Type="http://schemas.openxmlformats.org/officeDocument/2006/relationships/slide" Target="slides/slide29.xml"/><Relationship Id="rId276" Type="http://schemas.openxmlformats.org/officeDocument/2006/relationships/slide" Target="slides/slide30.xml"/><Relationship Id="rId277" Type="http://schemas.openxmlformats.org/officeDocument/2006/relationships/slide" Target="slides/slide31.xml"/><Relationship Id="rId278" Type="http://schemas.openxmlformats.org/officeDocument/2006/relationships/slide" Target="slides/slide32.xml"/><Relationship Id="rId279" Type="http://schemas.openxmlformats.org/officeDocument/2006/relationships/slide" Target="slides/slide24.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 Id="rId22" Type="http://schemas.openxmlformats.org/officeDocument/2006/relationships/image" Target="../media/image35.png"/><Relationship Id="rId23" Type="http://schemas.openxmlformats.org/officeDocument/2006/relationships/image" Target="../media/image36.png"/></Relationships>
</file>

<file path=ppt/charts/_rels/chart7.xml.rels><?xml version='1.0' encoding='UTF-8' standalone='yes'?>
<Relationships xmlns="http://schemas.openxmlformats.org/package/2006/relationships"><Relationship Id="rId2" Type="http://schemas.openxmlformats.org/officeDocument/2006/relationships/image" Target="../media/image37.png"/><Relationship Id="rId3" Type="http://schemas.openxmlformats.org/officeDocument/2006/relationships/image" Target="../media/image38.png"/></Relationships>
</file>

<file path=ppt/charts/_rels/chart8.xml.rels><?xml version='1.0' encoding='UTF-8' standalone='yes'?>
<Relationships xmlns="http://schemas.openxmlformats.org/package/2006/relationships"><Relationship Id="rId2" Type="http://schemas.openxmlformats.org/officeDocument/2006/relationships/image" Target="../media/image39.png"/><Relationship Id="rId3" Type="http://schemas.openxmlformats.org/officeDocument/2006/relationships/image" Target="../media/image40.png"/></Relationships>
</file>

<file path=ppt/charts/_rels/chart9.xml.rels><?xml version='1.0' encoding='UTF-8' standalone='yes'?>
<Relationships xmlns="http://schemas.openxmlformats.org/package/2006/relationships"><Relationship Id="rId2" Type="http://schemas.openxmlformats.org/officeDocument/2006/relationships/image" Target="../media/image41.png"/><Relationship Id="rId3" Type="http://schemas.openxmlformats.org/officeDocument/2006/relationships/image" Target="../media/image42.png"/></Relationships>
</file>

<file path=ppt/charts/_rels/chart11.xml.rels><?xml version='1.0' encoding='UTF-8' standalone='yes'?>
<Relationships xmlns="http://schemas.openxmlformats.org/package/2006/relationships"><Relationship Id="rId2" Type="http://schemas.openxmlformats.org/officeDocument/2006/relationships/image" Target="../media/image49.png"/><Relationship Id="rId3" Type="http://schemas.openxmlformats.org/officeDocument/2006/relationships/image" Target="../media/image50.png"/><Relationship Id="rId4" Type="http://schemas.openxmlformats.org/officeDocument/2006/relationships/image" Target="../media/image51.png"/><Relationship Id="rId5" Type="http://schemas.openxmlformats.org/officeDocument/2006/relationships/image" Target="../media/image52.png"/></Relationships>
</file>

<file path=ppt/charts/_rels/chart12.xml.rels><?xml version='1.0' encoding='UTF-8' standalone='yes'?>
<Relationships xmlns="http://schemas.openxmlformats.org/package/2006/relationships"><Relationship Id="rId2" Type="http://schemas.openxmlformats.org/officeDocument/2006/relationships/image" Target="../media/image53.png"/><Relationship Id="rId3" Type="http://schemas.openxmlformats.org/officeDocument/2006/relationships/image" Target="../media/image54.png"/><Relationship Id="rId4" Type="http://schemas.openxmlformats.org/officeDocument/2006/relationships/image" Target="../media/image55.png"/><Relationship Id="rId5" Type="http://schemas.openxmlformats.org/officeDocument/2006/relationships/image" Target="../media/image56.png"/></Relationships>
</file>

<file path=ppt/charts/_rels/chart13.xml.rels><?xml version='1.0' encoding='UTF-8' standalone='yes'?>
<Relationships xmlns="http://schemas.openxmlformats.org/package/2006/relationships"><Relationship Id="rId2" Type="http://schemas.openxmlformats.org/officeDocument/2006/relationships/image" Target="../media/image57.png"/><Relationship Id="rId3" Type="http://schemas.openxmlformats.org/officeDocument/2006/relationships/image" Target="../media/image58.png"/><Relationship Id="rId4" Type="http://schemas.openxmlformats.org/officeDocument/2006/relationships/image" Target="../media/image59.png"/><Relationship Id="rId5" Type="http://schemas.openxmlformats.org/officeDocument/2006/relationships/image" Target="../media/image60.png"/><Relationship Id="rId6" Type="http://schemas.openxmlformats.org/officeDocument/2006/relationships/image" Target="../media/image61.png"/><Relationship Id="rId7" Type="http://schemas.openxmlformats.org/officeDocument/2006/relationships/image" Target="../media/image62.png"/><Relationship Id="rId8" Type="http://schemas.openxmlformats.org/officeDocument/2006/relationships/image" Target="../media/image63.png"/><Relationship Id="rId9" Type="http://schemas.openxmlformats.org/officeDocument/2006/relationships/image" Target="../media/image64.png"/><Relationship Id="rId10" Type="http://schemas.openxmlformats.org/officeDocument/2006/relationships/image" Target="../media/image65.png"/><Relationship Id="rId11" Type="http://schemas.openxmlformats.org/officeDocument/2006/relationships/image" Target="../media/image66.png"/><Relationship Id="rId12" Type="http://schemas.openxmlformats.org/officeDocument/2006/relationships/image" Target="../media/image67.png"/><Relationship Id="rId13" Type="http://schemas.openxmlformats.org/officeDocument/2006/relationships/image" Target="../media/image68.png"/><Relationship Id="rId14" Type="http://schemas.openxmlformats.org/officeDocument/2006/relationships/image" Target="../media/image69.png"/><Relationship Id="rId15" Type="http://schemas.openxmlformats.org/officeDocument/2006/relationships/image" Target="../media/image70.png"/><Relationship Id="rId16" Type="http://schemas.openxmlformats.org/officeDocument/2006/relationships/image" Target="../media/image71.png"/><Relationship Id="rId17" Type="http://schemas.openxmlformats.org/officeDocument/2006/relationships/image" Target="../media/image72.png"/><Relationship Id="rId18" Type="http://schemas.openxmlformats.org/officeDocument/2006/relationships/image" Target="../media/image73.png"/><Relationship Id="rId19" Type="http://schemas.openxmlformats.org/officeDocument/2006/relationships/image" Target="../media/image74.png"/><Relationship Id="rId20" Type="http://schemas.openxmlformats.org/officeDocument/2006/relationships/image" Target="../media/image75.png"/><Relationship Id="rId21" Type="http://schemas.openxmlformats.org/officeDocument/2006/relationships/image" Target="../media/image76.png"/><Relationship Id="rId22" Type="http://schemas.openxmlformats.org/officeDocument/2006/relationships/image" Target="../media/image77.png"/><Relationship Id="rId23" Type="http://schemas.openxmlformats.org/officeDocument/2006/relationships/image" Target="../media/image78.png"/><Relationship Id="rId24" Type="http://schemas.openxmlformats.org/officeDocument/2006/relationships/image" Target="../media/image79.png"/><Relationship Id="rId25" Type="http://schemas.openxmlformats.org/officeDocument/2006/relationships/image" Target="../media/image80.png"/><Relationship Id="rId26" Type="http://schemas.openxmlformats.org/officeDocument/2006/relationships/image" Target="../media/image81.png"/><Relationship Id="rId27" Type="http://schemas.openxmlformats.org/officeDocument/2006/relationships/image" Target="../media/image82.png"/><Relationship Id="rId28" Type="http://schemas.openxmlformats.org/officeDocument/2006/relationships/image" Target="../media/image83.png"/><Relationship Id="rId29" Type="http://schemas.openxmlformats.org/officeDocument/2006/relationships/image" Target="../media/image84.png"/><Relationship Id="rId30" Type="http://schemas.openxmlformats.org/officeDocument/2006/relationships/image" Target="../media/image85.png"/><Relationship Id="rId31" Type="http://schemas.openxmlformats.org/officeDocument/2006/relationships/image" Target="../media/image86.png"/><Relationship Id="rId32" Type="http://schemas.openxmlformats.org/officeDocument/2006/relationships/image" Target="../media/image87.png"/><Relationship Id="rId33" Type="http://schemas.openxmlformats.org/officeDocument/2006/relationships/image" Target="../media/image88.png"/></Relationships>
</file>

<file path=ppt/charts/_rels/chart14.xml.rels><?xml version='1.0' encoding='UTF-8' standalone='yes'?>
<Relationships xmlns="http://schemas.openxmlformats.org/package/2006/relationships"><Relationship Id="rId2" Type="http://schemas.openxmlformats.org/officeDocument/2006/relationships/image" Target="../media/image89.png"/><Relationship Id="rId3" Type="http://schemas.openxmlformats.org/officeDocument/2006/relationships/image" Target="../media/image90.png"/><Relationship Id="rId4" Type="http://schemas.openxmlformats.org/officeDocument/2006/relationships/image" Target="../media/image91.png"/><Relationship Id="rId5" Type="http://schemas.openxmlformats.org/officeDocument/2006/relationships/image" Target="../media/image92.png"/><Relationship Id="rId6" Type="http://schemas.openxmlformats.org/officeDocument/2006/relationships/image" Target="../media/image93.png"/><Relationship Id="rId7" Type="http://schemas.openxmlformats.org/officeDocument/2006/relationships/image" Target="../media/image94.png"/><Relationship Id="rId8" Type="http://schemas.openxmlformats.org/officeDocument/2006/relationships/image" Target="../media/image95.png"/><Relationship Id="rId9" Type="http://schemas.openxmlformats.org/officeDocument/2006/relationships/image" Target="../media/image96.png"/><Relationship Id="rId10" Type="http://schemas.openxmlformats.org/officeDocument/2006/relationships/image" Target="../media/image97.png"/><Relationship Id="rId11" Type="http://schemas.openxmlformats.org/officeDocument/2006/relationships/image" Target="../media/image98.png"/><Relationship Id="rId12" Type="http://schemas.openxmlformats.org/officeDocument/2006/relationships/image" Target="../media/image99.png"/><Relationship Id="rId13" Type="http://schemas.openxmlformats.org/officeDocument/2006/relationships/image" Target="../media/image100.png"/><Relationship Id="rId14" Type="http://schemas.openxmlformats.org/officeDocument/2006/relationships/image" Target="../media/image101.png"/><Relationship Id="rId15" Type="http://schemas.openxmlformats.org/officeDocument/2006/relationships/image" Target="../media/image102.png"/><Relationship Id="rId16" Type="http://schemas.openxmlformats.org/officeDocument/2006/relationships/image" Target="../media/image103.png"/><Relationship Id="rId17" Type="http://schemas.openxmlformats.org/officeDocument/2006/relationships/image" Target="../media/image104.png"/><Relationship Id="rId18" Type="http://schemas.openxmlformats.org/officeDocument/2006/relationships/image" Target="../media/image105.png"/><Relationship Id="rId19" Type="http://schemas.openxmlformats.org/officeDocument/2006/relationships/image" Target="../media/image106.png"/><Relationship Id="rId20" Type="http://schemas.openxmlformats.org/officeDocument/2006/relationships/image" Target="../media/image107.png"/><Relationship Id="rId21" Type="http://schemas.openxmlformats.org/officeDocument/2006/relationships/image" Target="../media/image108.png"/><Relationship Id="rId22" Type="http://schemas.openxmlformats.org/officeDocument/2006/relationships/image" Target="../media/image109.png"/><Relationship Id="rId23" Type="http://schemas.openxmlformats.org/officeDocument/2006/relationships/image" Target="../media/image110.png"/><Relationship Id="rId24" Type="http://schemas.openxmlformats.org/officeDocument/2006/relationships/image" Target="../media/image111.png"/><Relationship Id="rId25" Type="http://schemas.openxmlformats.org/officeDocument/2006/relationships/image" Target="../media/image112.png"/><Relationship Id="rId26" Type="http://schemas.openxmlformats.org/officeDocument/2006/relationships/image" Target="../media/image113.png"/><Relationship Id="rId27" Type="http://schemas.openxmlformats.org/officeDocument/2006/relationships/image" Target="../media/image114.png"/><Relationship Id="rId28" Type="http://schemas.openxmlformats.org/officeDocument/2006/relationships/image" Target="../media/image115.png"/><Relationship Id="rId29" Type="http://schemas.openxmlformats.org/officeDocument/2006/relationships/image" Target="../media/image116.png"/><Relationship Id="rId30" Type="http://schemas.openxmlformats.org/officeDocument/2006/relationships/image" Target="../media/image117.png"/><Relationship Id="rId31" Type="http://schemas.openxmlformats.org/officeDocument/2006/relationships/image" Target="../media/image118.png"/><Relationship Id="rId32" Type="http://schemas.openxmlformats.org/officeDocument/2006/relationships/image" Target="../media/image119.png"/><Relationship Id="rId33" Type="http://schemas.openxmlformats.org/officeDocument/2006/relationships/image" Target="../media/image120.png"/></Relationships>
</file>

<file path=ppt/charts/_rels/chart15.xml.rels><?xml version='1.0' encoding='UTF-8' standalone='yes'?>
<Relationships xmlns="http://schemas.openxmlformats.org/package/2006/relationships"><Relationship Id="rId2" Type="http://schemas.openxmlformats.org/officeDocument/2006/relationships/image" Target="../media/image127.png"/><Relationship Id="rId3" Type="http://schemas.openxmlformats.org/officeDocument/2006/relationships/image" Target="../media/image128.png"/><Relationship Id="rId4" Type="http://schemas.openxmlformats.org/officeDocument/2006/relationships/image" Target="../media/image129.png"/><Relationship Id="rId5" Type="http://schemas.openxmlformats.org/officeDocument/2006/relationships/image" Target="../media/image130.png"/></Relationships>
</file>

<file path=ppt/charts/_rels/chart19.xml.rels><?xml version='1.0' encoding='UTF-8' standalone='yes'?>
<Relationships xmlns="http://schemas.openxmlformats.org/package/2006/relationships"><Relationship Id="rId2" Type="http://schemas.openxmlformats.org/officeDocument/2006/relationships/image" Target="../media/image131.png"/><Relationship Id="rId3" Type="http://schemas.openxmlformats.org/officeDocument/2006/relationships/image" Target="../media/image132.png"/><Relationship Id="rId4" Type="http://schemas.openxmlformats.org/officeDocument/2006/relationships/image" Target="../media/image133.png"/><Relationship Id="rId5" Type="http://schemas.openxmlformats.org/officeDocument/2006/relationships/image" Target="../media/image134.png"/><Relationship Id="rId6" Type="http://schemas.openxmlformats.org/officeDocument/2006/relationships/image" Target="../media/image135.png"/><Relationship Id="rId7" Type="http://schemas.openxmlformats.org/officeDocument/2006/relationships/image" Target="../media/image136.png"/></Relationships>
</file>

<file path=ppt/charts/_rels/chart20.xml.rels><?xml version='1.0' encoding='UTF-8' standalone='yes'?>
<Relationships xmlns="http://schemas.openxmlformats.org/package/2006/relationships"><Relationship Id="rId2" Type="http://schemas.openxmlformats.org/officeDocument/2006/relationships/image" Target="../media/image142.png"/><Relationship Id="rId3" Type="http://schemas.openxmlformats.org/officeDocument/2006/relationships/image" Target="../media/image143.png"/><Relationship Id="rId4" Type="http://schemas.openxmlformats.org/officeDocument/2006/relationships/image" Target="../media/image144.png"/><Relationship Id="rId5" Type="http://schemas.openxmlformats.org/officeDocument/2006/relationships/image" Target="../media/image145.png"/></Relationships>
</file>

<file path=ppt/charts/_rels/chart24.xml.rels><?xml version='1.0' encoding='UTF-8' standalone='yes'?>
<Relationships xmlns="http://schemas.openxmlformats.org/package/2006/relationships"><Relationship Id="rId2" Type="http://schemas.openxmlformats.org/officeDocument/2006/relationships/image" Target="../media/image146.png"/><Relationship Id="rId3" Type="http://schemas.openxmlformats.org/officeDocument/2006/relationships/image" Target="../media/image147.png"/><Relationship Id="rId4" Type="http://schemas.openxmlformats.org/officeDocument/2006/relationships/image" Target="../media/image148.png"/><Relationship Id="rId5" Type="http://schemas.openxmlformats.org/officeDocument/2006/relationships/image" Target="../media/image149.png"/><Relationship Id="rId6" Type="http://schemas.openxmlformats.org/officeDocument/2006/relationships/image" Target="../media/image150.png"/><Relationship Id="rId7" Type="http://schemas.openxmlformats.org/officeDocument/2006/relationships/image" Target="../media/image151.png"/></Relationships>
</file>

<file path=ppt/charts/_rels/chart25.xml.rels><?xml version='1.0' encoding='UTF-8' standalone='yes'?>
<Relationships xmlns="http://schemas.openxmlformats.org/package/2006/relationships"><Relationship Id="rId2" Type="http://schemas.openxmlformats.org/officeDocument/2006/relationships/image" Target="../media/image176.png"/><Relationship Id="rId3" Type="http://schemas.openxmlformats.org/officeDocument/2006/relationships/image" Target="../media/image177.png"/><Relationship Id="rId4" Type="http://schemas.openxmlformats.org/officeDocument/2006/relationships/image" Target="../media/image178.png"/><Relationship Id="rId5" Type="http://schemas.openxmlformats.org/officeDocument/2006/relationships/image" Target="../media/image179.png"/><Relationship Id="rId6" Type="http://schemas.openxmlformats.org/officeDocument/2006/relationships/image" Target="../media/image180.png"/><Relationship Id="rId7" Type="http://schemas.openxmlformats.org/officeDocument/2006/relationships/image" Target="../media/image181.png"/><Relationship Id="rId8" Type="http://schemas.openxmlformats.org/officeDocument/2006/relationships/image" Target="../media/image182.png"/><Relationship Id="rId9" Type="http://schemas.openxmlformats.org/officeDocument/2006/relationships/image" Target="../media/image183.png"/><Relationship Id="rId10" Type="http://schemas.openxmlformats.org/officeDocument/2006/relationships/image" Target="../media/image184.png"/><Relationship Id="rId11" Type="http://schemas.openxmlformats.org/officeDocument/2006/relationships/image" Target="../media/image185.png"/><Relationship Id="rId12" Type="http://schemas.openxmlformats.org/officeDocument/2006/relationships/image" Target="../media/image186.png"/><Relationship Id="rId13" Type="http://schemas.openxmlformats.org/officeDocument/2006/relationships/image" Target="../media/image187.png"/><Relationship Id="rId14" Type="http://schemas.openxmlformats.org/officeDocument/2006/relationships/image" Target="../media/image188.png"/><Relationship Id="rId15" Type="http://schemas.openxmlformats.org/officeDocument/2006/relationships/image" Target="../media/image189.png"/><Relationship Id="rId16" Type="http://schemas.openxmlformats.org/officeDocument/2006/relationships/image" Target="../media/image190.png"/><Relationship Id="rId17" Type="http://schemas.openxmlformats.org/officeDocument/2006/relationships/image" Target="../media/image191.png"/></Relationships>
</file>

<file path=ppt/charts/_rels/chart35.xml.rels><?xml version='1.0' encoding='UTF-8' standalone='yes'?>
<Relationships xmlns="http://schemas.openxmlformats.org/package/2006/relationships"><Relationship Id="rId2" Type="http://schemas.openxmlformats.org/officeDocument/2006/relationships/image" Target="../media/image192.png"/><Relationship Id="rId3" Type="http://schemas.openxmlformats.org/officeDocument/2006/relationships/image" Target="../media/image193.png"/><Relationship Id="rId4" Type="http://schemas.openxmlformats.org/officeDocument/2006/relationships/image" Target="../media/image194.png"/><Relationship Id="rId5" Type="http://schemas.openxmlformats.org/officeDocument/2006/relationships/image" Target="../media/image195.png"/><Relationship Id="rId6" Type="http://schemas.openxmlformats.org/officeDocument/2006/relationships/image" Target="../media/image196.png"/><Relationship Id="rId7" Type="http://schemas.openxmlformats.org/officeDocument/2006/relationships/image" Target="../media/image197.png"/><Relationship Id="rId8" Type="http://schemas.openxmlformats.org/officeDocument/2006/relationships/image" Target="../media/image198.png"/><Relationship Id="rId9" Type="http://schemas.openxmlformats.org/officeDocument/2006/relationships/image" Target="../media/image199.png"/><Relationship Id="rId10" Type="http://schemas.openxmlformats.org/officeDocument/2006/relationships/image" Target="../media/image200.png"/><Relationship Id="rId11" Type="http://schemas.openxmlformats.org/officeDocument/2006/relationships/image" Target="../media/image201.png"/><Relationship Id="rId12" Type="http://schemas.openxmlformats.org/officeDocument/2006/relationships/image" Target="../media/image202.png"/><Relationship Id="rId13" Type="http://schemas.openxmlformats.org/officeDocument/2006/relationships/image" Target="../media/image203.png"/><Relationship Id="rId14" Type="http://schemas.openxmlformats.org/officeDocument/2006/relationships/image" Target="../media/image204.png"/><Relationship Id="rId15" Type="http://schemas.openxmlformats.org/officeDocument/2006/relationships/image" Target="../media/image205.png"/><Relationship Id="rId16" Type="http://schemas.openxmlformats.org/officeDocument/2006/relationships/image" Target="../media/image206.png"/><Relationship Id="rId17" Type="http://schemas.openxmlformats.org/officeDocument/2006/relationships/image" Target="../media/image207.png"/><Relationship Id="rId18" Type="http://schemas.openxmlformats.org/officeDocument/2006/relationships/image" Target="../media/image208.png"/><Relationship Id="rId19" Type="http://schemas.openxmlformats.org/officeDocument/2006/relationships/image" Target="../media/image209.png"/><Relationship Id="rId20" Type="http://schemas.openxmlformats.org/officeDocument/2006/relationships/image" Target="../media/image210.png"/><Relationship Id="rId21" Type="http://schemas.openxmlformats.org/officeDocument/2006/relationships/image" Target="../media/image211.png"/><Relationship Id="rId22" Type="http://schemas.openxmlformats.org/officeDocument/2006/relationships/image" Target="../media/image212.png"/><Relationship Id="rId23" Type="http://schemas.openxmlformats.org/officeDocument/2006/relationships/image" Target="../media/image213.png"/></Relationships>
</file>

<file path=ppt/charts/_rels/chart36.xml.rels><?xml version='1.0' encoding='UTF-8' standalone='yes'?>
<Relationships xmlns="http://schemas.openxmlformats.org/package/2006/relationships"><Relationship Id="rId2" Type="http://schemas.openxmlformats.org/officeDocument/2006/relationships/image" Target="../media/image225.png"/><Relationship Id="rId3" Type="http://schemas.openxmlformats.org/officeDocument/2006/relationships/image" Target="../media/image226.png"/><Relationship Id="rId4" Type="http://schemas.openxmlformats.org/officeDocument/2006/relationships/image" Target="../media/image227.png"/><Relationship Id="rId5" Type="http://schemas.openxmlformats.org/officeDocument/2006/relationships/image" Target="../media/image228.png"/><Relationship Id="rId6" Type="http://schemas.openxmlformats.org/officeDocument/2006/relationships/image" Target="../media/image229.png"/><Relationship Id="rId7" Type="http://schemas.openxmlformats.org/officeDocument/2006/relationships/image" Target="../media/image230.png"/><Relationship Id="rId8" Type="http://schemas.openxmlformats.org/officeDocument/2006/relationships/image" Target="../media/image231.png"/><Relationship Id="rId9" Type="http://schemas.openxmlformats.org/officeDocument/2006/relationships/image" Target="../media/image232.png"/></Relationships>
</file>

<file path=ppt/charts/_rels/chart42.xml.rels><?xml version='1.0' encoding='UTF-8' standalone='yes'?>
<Relationships xmlns="http://schemas.openxmlformats.org/package/2006/relationships"><Relationship Id="rId2" Type="http://schemas.openxmlformats.org/officeDocument/2006/relationships/image" Target="../media/image233.png"/><Relationship Id="rId3" Type="http://schemas.openxmlformats.org/officeDocument/2006/relationships/image" Target="../media/image234.png"/><Relationship Id="rId4" Type="http://schemas.openxmlformats.org/officeDocument/2006/relationships/image" Target="../media/image235.png"/><Relationship Id="rId5" Type="http://schemas.openxmlformats.org/officeDocument/2006/relationships/image" Target="../media/image236.png"/><Relationship Id="rId6" Type="http://schemas.openxmlformats.org/officeDocument/2006/relationships/image" Target="../media/image237.png"/><Relationship Id="rId7" Type="http://schemas.openxmlformats.org/officeDocument/2006/relationships/image" Target="../media/image238.png"/><Relationship Id="rId8" Type="http://schemas.openxmlformats.org/officeDocument/2006/relationships/image" Target="../media/image239.png"/><Relationship Id="rId9" Type="http://schemas.openxmlformats.org/officeDocument/2006/relationships/image" Target="../media/image240.png"/><Relationship Id="rId10" Type="http://schemas.openxmlformats.org/officeDocument/2006/relationships/image" Target="../media/image241.png"/><Relationship Id="rId11" Type="http://schemas.openxmlformats.org/officeDocument/2006/relationships/image" Target="../media/image242.png"/><Relationship Id="rId12" Type="http://schemas.openxmlformats.org/officeDocument/2006/relationships/image" Target="../media/image243.png"/><Relationship Id="rId13" Type="http://schemas.openxmlformats.org/officeDocument/2006/relationships/image" Target="../media/image244.png"/></Relationships>
</file>

<file path=ppt/charts/_rels/chart43.xml.rels><?xml version='1.0' encoding='UTF-8' standalone='yes'?>
<Relationships xmlns="http://schemas.openxmlformats.org/package/2006/relationships"><Relationship Id="rId2" Type="http://schemas.openxmlformats.org/officeDocument/2006/relationships/image" Target="../media/image265.png"/><Relationship Id="rId3" Type="http://schemas.openxmlformats.org/officeDocument/2006/relationships/image" Target="../media/image266.png"/><Relationship Id="rId4" Type="http://schemas.openxmlformats.org/officeDocument/2006/relationships/image" Target="../media/image267.png"/><Relationship Id="rId5" Type="http://schemas.openxmlformats.org/officeDocument/2006/relationships/image" Target="../media/image268.png"/><Relationship Id="rId6" Type="http://schemas.openxmlformats.org/officeDocument/2006/relationships/image" Target="../media/image269.png"/><Relationship Id="rId7" Type="http://schemas.openxmlformats.org/officeDocument/2006/relationships/image" Target="../media/image270.png"/><Relationship Id="rId8" Type="http://schemas.openxmlformats.org/officeDocument/2006/relationships/image" Target="../media/image271.png"/><Relationship Id="rId9" Type="http://schemas.openxmlformats.org/officeDocument/2006/relationships/image" Target="../media/image272.png"/><Relationship Id="rId10" Type="http://schemas.openxmlformats.org/officeDocument/2006/relationships/image" Target="../media/image273.png"/><Relationship Id="rId11" Type="http://schemas.openxmlformats.org/officeDocument/2006/relationships/image" Target="../media/image274.png"/><Relationship Id="rId12" Type="http://schemas.openxmlformats.org/officeDocument/2006/relationships/image" Target="../media/image275.png"/><Relationship Id="rId13" Type="http://schemas.openxmlformats.org/officeDocument/2006/relationships/image" Target="../media/image276.png"/><Relationship Id="rId14" Type="http://schemas.openxmlformats.org/officeDocument/2006/relationships/image" Target="../media/image277.png"/><Relationship Id="rId15" Type="http://schemas.openxmlformats.org/officeDocument/2006/relationships/image" Target="../media/image278.png"/></Relationships>
</file>

<file path=ppt/charts/_rels/chart52.xml.rels><?xml version='1.0' encoding='UTF-8' standalone='yes'?>
<Relationships xmlns="http://schemas.openxmlformats.org/package/2006/relationships"><Relationship Id="rId2" Type="http://schemas.openxmlformats.org/officeDocument/2006/relationships/image" Target="../media/image279.png"/><Relationship Id="rId3" Type="http://schemas.openxmlformats.org/officeDocument/2006/relationships/image" Target="../media/image280.png"/><Relationship Id="rId4" Type="http://schemas.openxmlformats.org/officeDocument/2006/relationships/image" Target="../media/image281.png"/><Relationship Id="rId5" Type="http://schemas.openxmlformats.org/officeDocument/2006/relationships/image" Target="../media/image282.png"/><Relationship Id="rId6" Type="http://schemas.openxmlformats.org/officeDocument/2006/relationships/image" Target="../media/image283.png"/><Relationship Id="rId7" Type="http://schemas.openxmlformats.org/officeDocument/2006/relationships/image" Target="../media/image284.png"/><Relationship Id="rId8" Type="http://schemas.openxmlformats.org/officeDocument/2006/relationships/image" Target="../media/image285.png"/><Relationship Id="rId9" Type="http://schemas.openxmlformats.org/officeDocument/2006/relationships/image" Target="../media/image286.png"/><Relationship Id="rId10" Type="http://schemas.openxmlformats.org/officeDocument/2006/relationships/image" Target="../media/image287.png"/><Relationship Id="rId11" Type="http://schemas.openxmlformats.org/officeDocument/2006/relationships/image" Target="../media/image288.png"/><Relationship Id="rId12" Type="http://schemas.openxmlformats.org/officeDocument/2006/relationships/image" Target="../media/image289.png"/><Relationship Id="rId13" Type="http://schemas.openxmlformats.org/officeDocument/2006/relationships/image" Target="../media/image290.png"/><Relationship Id="rId14" Type="http://schemas.openxmlformats.org/officeDocument/2006/relationships/image" Target="../media/image291.png"/><Relationship Id="rId15" Type="http://schemas.openxmlformats.org/officeDocument/2006/relationships/image" Target="../media/image292.png"/><Relationship Id="rId16" Type="http://schemas.openxmlformats.org/officeDocument/2006/relationships/image" Target="../media/image293.png"/><Relationship Id="rId17" Type="http://schemas.openxmlformats.org/officeDocument/2006/relationships/image" Target="../media/image294.png"/><Relationship Id="rId18" Type="http://schemas.openxmlformats.org/officeDocument/2006/relationships/image" Target="../media/image295.png"/><Relationship Id="rId19" Type="http://schemas.openxmlformats.org/officeDocument/2006/relationships/image" Target="../media/image296.png"/><Relationship Id="rId20" Type="http://schemas.openxmlformats.org/officeDocument/2006/relationships/image" Target="../media/image297.png"/><Relationship Id="rId21" Type="http://schemas.openxmlformats.org/officeDocument/2006/relationships/image" Target="../media/image298.png"/></Relationships>
</file>

<file path=ppt/charts/_rels/chart53.xml.rels><?xml version='1.0' encoding='UTF-8' standalone='yes'?>
<Relationships xmlns="http://schemas.openxmlformats.org/package/2006/relationships"><Relationship Id="rId2" Type="http://schemas.openxmlformats.org/officeDocument/2006/relationships/image" Target="../media/image307.png"/><Relationship Id="rId3" Type="http://schemas.openxmlformats.org/officeDocument/2006/relationships/image" Target="../media/image308.png"/><Relationship Id="rId4" Type="http://schemas.openxmlformats.org/officeDocument/2006/relationships/image" Target="../media/image309.png"/><Relationship Id="rId5" Type="http://schemas.openxmlformats.org/officeDocument/2006/relationships/image" Target="../media/image310.png"/><Relationship Id="rId6" Type="http://schemas.openxmlformats.org/officeDocument/2006/relationships/image" Target="../media/image311.png"/><Relationship Id="rId7" Type="http://schemas.openxmlformats.org/officeDocument/2006/relationships/image" Target="../media/image312.png"/></Relationships>
</file>

<file path=ppt/charts/_rels/chart58.xml.rels><?xml version='1.0' encoding='UTF-8' standalone='yes'?>
<Relationships xmlns="http://schemas.openxmlformats.org/package/2006/relationships"><Relationship Id="rId2" Type="http://schemas.openxmlformats.org/officeDocument/2006/relationships/image" Target="../media/image313.png"/><Relationship Id="rId3" Type="http://schemas.openxmlformats.org/officeDocument/2006/relationships/image" Target="../media/image314.png"/><Relationship Id="rId4" Type="http://schemas.openxmlformats.org/officeDocument/2006/relationships/image" Target="../media/image315.png"/><Relationship Id="rId5" Type="http://schemas.openxmlformats.org/officeDocument/2006/relationships/image" Target="../media/image316.png"/><Relationship Id="rId6" Type="http://schemas.openxmlformats.org/officeDocument/2006/relationships/image" Target="../media/image317.png"/><Relationship Id="rId7" Type="http://schemas.openxmlformats.org/officeDocument/2006/relationships/image" Target="../media/image318.png"/><Relationship Id="rId8" Type="http://schemas.openxmlformats.org/officeDocument/2006/relationships/image" Target="../media/image319.png"/><Relationship Id="rId9" Type="http://schemas.openxmlformats.org/officeDocument/2006/relationships/image" Target="../media/image320.png"/><Relationship Id="rId10" Type="http://schemas.openxmlformats.org/officeDocument/2006/relationships/image" Target="../media/image321.png"/></Relationships>
</file>

<file path=ppt/charts/_rels/chart59.xml.rels><?xml version='1.0' encoding='UTF-8' standalone='yes'?>
<Relationships xmlns="http://schemas.openxmlformats.org/package/2006/relationships"><Relationship Id="rId2" Type="http://schemas.openxmlformats.org/officeDocument/2006/relationships/image" Target="../media/image327.png"/><Relationship Id="rId3" Type="http://schemas.openxmlformats.org/officeDocument/2006/relationships/image" Target="../media/image328.png"/><Relationship Id="rId4" Type="http://schemas.openxmlformats.org/officeDocument/2006/relationships/image" Target="../media/image329.png"/><Relationship Id="rId5" Type="http://schemas.openxmlformats.org/officeDocument/2006/relationships/image" Target="../media/image330.png"/></Relationships>
</file>

<file path=ppt/charts/_rels/chart63.xml.rels><?xml version='1.0' encoding='UTF-8' standalone='yes'?>
<Relationships xmlns="http://schemas.openxmlformats.org/package/2006/relationships"><Relationship Id="rId2" Type="http://schemas.openxmlformats.org/officeDocument/2006/relationships/image" Target="../media/image331.png"/><Relationship Id="rId3" Type="http://schemas.openxmlformats.org/officeDocument/2006/relationships/image" Target="../media/image332.png"/><Relationship Id="rId4" Type="http://schemas.openxmlformats.org/officeDocument/2006/relationships/image" Target="../media/image333.png"/><Relationship Id="rId5" Type="http://schemas.openxmlformats.org/officeDocument/2006/relationships/image" Target="../media/image334.png"/><Relationship Id="rId6" Type="http://schemas.openxmlformats.org/officeDocument/2006/relationships/image" Target="../media/image335.png"/><Relationship Id="rId7" Type="http://schemas.openxmlformats.org/officeDocument/2006/relationships/image" Target="../media/image336.png"/></Relationships>
</file>

<file path=ppt/charts/_rels/chart64.xml.rels><?xml version='1.0' encoding='UTF-8' standalone='yes'?>
<Relationships xmlns="http://schemas.openxmlformats.org/package/2006/relationships"><Relationship Id="rId2" Type="http://schemas.openxmlformats.org/officeDocument/2006/relationships/image" Target="../media/image353.png"/><Relationship Id="rId3" Type="http://schemas.openxmlformats.org/officeDocument/2006/relationships/image" Target="../media/image354.png"/><Relationship Id="rId4" Type="http://schemas.openxmlformats.org/officeDocument/2006/relationships/image" Target="../media/image355.png"/><Relationship Id="rId5" Type="http://schemas.openxmlformats.org/officeDocument/2006/relationships/image" Target="../media/image356.png"/><Relationship Id="rId6" Type="http://schemas.openxmlformats.org/officeDocument/2006/relationships/image" Target="../media/image357.png"/><Relationship Id="rId7" Type="http://schemas.openxmlformats.org/officeDocument/2006/relationships/image" Target="../media/image358.png"/><Relationship Id="rId8" Type="http://schemas.openxmlformats.org/officeDocument/2006/relationships/image" Target="../media/image359.png"/><Relationship Id="rId9" Type="http://schemas.openxmlformats.org/officeDocument/2006/relationships/image" Target="../media/image360.png"/><Relationship Id="rId10" Type="http://schemas.openxmlformats.org/officeDocument/2006/relationships/image" Target="../media/image361.png"/><Relationship Id="rId11" Type="http://schemas.openxmlformats.org/officeDocument/2006/relationships/image" Target="../media/image362.png"/><Relationship Id="rId12" Type="http://schemas.openxmlformats.org/officeDocument/2006/relationships/image" Target="../media/image363.png"/><Relationship Id="rId13" Type="http://schemas.openxmlformats.org/officeDocument/2006/relationships/image" Target="../media/image364.png"/></Relationships>
</file>

<file path=ppt/charts/_rels/chart72.xml.rels><?xml version='1.0' encoding='UTF-8' standalone='yes'?>
<Relationships xmlns="http://schemas.openxmlformats.org/package/2006/relationships"><Relationship Id="rId2" Type="http://schemas.openxmlformats.org/officeDocument/2006/relationships/image" Target="../media/image365.png"/><Relationship Id="rId3" Type="http://schemas.openxmlformats.org/officeDocument/2006/relationships/image" Target="../media/image366.png"/><Relationship Id="rId4" Type="http://schemas.openxmlformats.org/officeDocument/2006/relationships/image" Target="../media/image367.png"/><Relationship Id="rId5" Type="http://schemas.openxmlformats.org/officeDocument/2006/relationships/image" Target="../media/image368.png"/><Relationship Id="rId6" Type="http://schemas.openxmlformats.org/officeDocument/2006/relationships/image" Target="../media/image369.png"/><Relationship Id="rId7" Type="http://schemas.openxmlformats.org/officeDocument/2006/relationships/image" Target="../media/image370.png"/><Relationship Id="rId8" Type="http://schemas.openxmlformats.org/officeDocument/2006/relationships/image" Target="../media/image371.png"/><Relationship Id="rId9" Type="http://schemas.openxmlformats.org/officeDocument/2006/relationships/image" Target="../media/image372.png"/><Relationship Id="rId10" Type="http://schemas.openxmlformats.org/officeDocument/2006/relationships/image" Target="../media/image373.png"/><Relationship Id="rId11" Type="http://schemas.openxmlformats.org/officeDocument/2006/relationships/image" Target="../media/image374.png"/><Relationship Id="rId12" Type="http://schemas.openxmlformats.org/officeDocument/2006/relationships/image" Target="../media/image375.png"/><Relationship Id="rId13" Type="http://schemas.openxmlformats.org/officeDocument/2006/relationships/image" Target="../media/image376.png"/><Relationship Id="rId14" Type="http://schemas.openxmlformats.org/officeDocument/2006/relationships/image" Target="../media/image377.png"/><Relationship Id="rId15" Type="http://schemas.openxmlformats.org/officeDocument/2006/relationships/image" Target="../media/image378.png"/><Relationship Id="rId16" Type="http://schemas.openxmlformats.org/officeDocument/2006/relationships/image" Target="../media/image379.png"/><Relationship Id="rId17" Type="http://schemas.openxmlformats.org/officeDocument/2006/relationships/image" Target="../media/image380.png"/><Relationship Id="rId18" Type="http://schemas.openxmlformats.org/officeDocument/2006/relationships/image" Target="../media/image381.png"/></Relationships>
</file>

<file path=ppt/charts/_rels/chart73.xml.rels><?xml version='1.0' encoding='UTF-8' standalone='yes'?>
<Relationships xmlns="http://schemas.openxmlformats.org/package/2006/relationships"><Relationship Id="rId2" Type="http://schemas.openxmlformats.org/officeDocument/2006/relationships/image" Target="../media/image392.png"/><Relationship Id="rId3" Type="http://schemas.openxmlformats.org/officeDocument/2006/relationships/image" Target="../media/image393.png"/><Relationship Id="rId4" Type="http://schemas.openxmlformats.org/officeDocument/2006/relationships/image" Target="../media/image394.png"/><Relationship Id="rId5" Type="http://schemas.openxmlformats.org/officeDocument/2006/relationships/image" Target="../media/image395.png"/><Relationship Id="rId6" Type="http://schemas.openxmlformats.org/officeDocument/2006/relationships/image" Target="../media/image396.png"/><Relationship Id="rId7" Type="http://schemas.openxmlformats.org/officeDocument/2006/relationships/image" Target="../media/image397.png"/><Relationship Id="rId8" Type="http://schemas.openxmlformats.org/officeDocument/2006/relationships/image" Target="../media/image398.png"/><Relationship Id="rId9" Type="http://schemas.openxmlformats.org/officeDocument/2006/relationships/image" Target="../media/image399.png"/></Relationships>
</file>

<file path=ppt/charts/_rels/chart79.xml.rels><?xml version='1.0' encoding='UTF-8' standalone='yes'?>
<Relationships xmlns="http://schemas.openxmlformats.org/package/2006/relationships"><Relationship Id="rId2" Type="http://schemas.openxmlformats.org/officeDocument/2006/relationships/image" Target="../media/image400.png"/><Relationship Id="rId3" Type="http://schemas.openxmlformats.org/officeDocument/2006/relationships/image" Target="../media/image401.png"/><Relationship Id="rId4" Type="http://schemas.openxmlformats.org/officeDocument/2006/relationships/image" Target="../media/image402.png"/><Relationship Id="rId5" Type="http://schemas.openxmlformats.org/officeDocument/2006/relationships/image" Target="../media/image403.png"/><Relationship Id="rId6" Type="http://schemas.openxmlformats.org/officeDocument/2006/relationships/image" Target="../media/image404.png"/><Relationship Id="rId7" Type="http://schemas.openxmlformats.org/officeDocument/2006/relationships/image" Target="../media/image405.png"/><Relationship Id="rId8" Type="http://schemas.openxmlformats.org/officeDocument/2006/relationships/image" Target="../media/image406.png"/><Relationship Id="rId9" Type="http://schemas.openxmlformats.org/officeDocument/2006/relationships/image" Target="../media/image407.png"/><Relationship Id="rId10" Type="http://schemas.openxmlformats.org/officeDocument/2006/relationships/image" Target="../media/image408.png"/><Relationship Id="rId11" Type="http://schemas.openxmlformats.org/officeDocument/2006/relationships/image" Target="../media/image409.png"/></Relationships>
</file>

<file path=ppt/charts/_rels/chart80.xml.rels><?xml version='1.0' encoding='UTF-8' standalone='yes'?>
<Relationships xmlns="http://schemas.openxmlformats.org/package/2006/relationships"><Relationship Id="rId2" Type="http://schemas.openxmlformats.org/officeDocument/2006/relationships/image" Target="../media/image418.png"/><Relationship Id="rId3" Type="http://schemas.openxmlformats.org/officeDocument/2006/relationships/image" Target="../media/image419.png"/><Relationship Id="rId4" Type="http://schemas.openxmlformats.org/officeDocument/2006/relationships/image" Target="../media/image420.png"/><Relationship Id="rId5" Type="http://schemas.openxmlformats.org/officeDocument/2006/relationships/image" Target="../media/image421.png"/><Relationship Id="rId6" Type="http://schemas.openxmlformats.org/officeDocument/2006/relationships/image" Target="../media/image422.png"/><Relationship Id="rId7" Type="http://schemas.openxmlformats.org/officeDocument/2006/relationships/image" Target="../media/image423.png"/></Relationships>
</file>

<file path=ppt/charts/_rels/chart85.xml.rels><?xml version='1.0' encoding='UTF-8' standalone='yes'?>
<Relationships xmlns="http://schemas.openxmlformats.org/package/2006/relationships"><Relationship Id="rId2" Type="http://schemas.openxmlformats.org/officeDocument/2006/relationships/image" Target="../media/image424.png"/><Relationship Id="rId3" Type="http://schemas.openxmlformats.org/officeDocument/2006/relationships/image" Target="../media/image425.png"/><Relationship Id="rId4" Type="http://schemas.openxmlformats.org/officeDocument/2006/relationships/image" Target="../media/image426.png"/><Relationship Id="rId5" Type="http://schemas.openxmlformats.org/officeDocument/2006/relationships/image" Target="../media/image427.png"/><Relationship Id="rId6" Type="http://schemas.openxmlformats.org/officeDocument/2006/relationships/image" Target="../media/image428.png"/><Relationship Id="rId7" Type="http://schemas.openxmlformats.org/officeDocument/2006/relationships/image" Target="../media/image429.png"/><Relationship Id="rId8" Type="http://schemas.openxmlformats.org/officeDocument/2006/relationships/image" Target="../media/image430.png"/><Relationship Id="rId9" Type="http://schemas.openxmlformats.org/officeDocument/2006/relationships/image" Target="../media/image431.png"/><Relationship Id="rId10" Type="http://schemas.openxmlformats.org/officeDocument/2006/relationships/image" Target="../media/image432.png"/></Relationships>
</file>

<file path=ppt/charts/_rels/chart86.xml.rels><?xml version='1.0' encoding='UTF-8' standalone='yes'?>
<Relationships xmlns="http://schemas.openxmlformats.org/package/2006/relationships"><Relationship Id="rId2" Type="http://schemas.openxmlformats.org/officeDocument/2006/relationships/image" Target="../media/image442.png"/><Relationship Id="rId3" Type="http://schemas.openxmlformats.org/officeDocument/2006/relationships/image" Target="../media/image443.png"/><Relationship Id="rId4" Type="http://schemas.openxmlformats.org/officeDocument/2006/relationships/image" Target="../media/image444.png"/><Relationship Id="rId5" Type="http://schemas.openxmlformats.org/officeDocument/2006/relationships/image" Target="../media/image445.png"/><Relationship Id="rId6" Type="http://schemas.openxmlformats.org/officeDocument/2006/relationships/image" Target="../media/image446.png"/><Relationship Id="rId7" Type="http://schemas.openxmlformats.org/officeDocument/2006/relationships/image" Target="../media/image447.png"/><Relationship Id="rId8" Type="http://schemas.openxmlformats.org/officeDocument/2006/relationships/image" Target="../media/image448.png"/><Relationship Id="rId9" Type="http://schemas.openxmlformats.org/officeDocument/2006/relationships/image" Target="../media/image449.png"/></Relationships>
</file>

<file path=ppt/charts/_rels/chart92.xml.rels><?xml version='1.0' encoding='UTF-8' standalone='yes'?>
<Relationships xmlns="http://schemas.openxmlformats.org/package/2006/relationships"><Relationship Id="rId2" Type="http://schemas.openxmlformats.org/officeDocument/2006/relationships/image" Target="../media/image450.png"/><Relationship Id="rId3" Type="http://schemas.openxmlformats.org/officeDocument/2006/relationships/image" Target="../media/image451.png"/><Relationship Id="rId4" Type="http://schemas.openxmlformats.org/officeDocument/2006/relationships/image" Target="../media/image452.png"/><Relationship Id="rId5" Type="http://schemas.openxmlformats.org/officeDocument/2006/relationships/image" Target="../media/image453.png"/><Relationship Id="rId6" Type="http://schemas.openxmlformats.org/officeDocument/2006/relationships/image" Target="../media/image454.png"/><Relationship Id="rId7" Type="http://schemas.openxmlformats.org/officeDocument/2006/relationships/image" Target="../media/image455.png"/><Relationship Id="rId8" Type="http://schemas.openxmlformats.org/officeDocument/2006/relationships/image" Target="../media/image456.png"/><Relationship Id="rId9" Type="http://schemas.openxmlformats.org/officeDocument/2006/relationships/image" Target="../media/image457.png"/><Relationship Id="rId10" Type="http://schemas.openxmlformats.org/officeDocument/2006/relationships/image" Target="../media/image458.png"/><Relationship Id="rId11" Type="http://schemas.openxmlformats.org/officeDocument/2006/relationships/image" Target="../media/image459.png"/><Relationship Id="rId12" Type="http://schemas.openxmlformats.org/officeDocument/2006/relationships/image" Target="../media/image460.png"/><Relationship Id="rId13" Type="http://schemas.openxmlformats.org/officeDocument/2006/relationships/image" Target="../media/image461.png"/></Relationships>
</file>

<file path=ppt/charts/_rels/chart93.xml.rels><?xml version='1.0' encoding='UTF-8' standalone='yes'?>
<Relationships xmlns="http://schemas.openxmlformats.org/package/2006/relationships"><Relationship Id="rId2" Type="http://schemas.openxmlformats.org/officeDocument/2006/relationships/image" Target="../media/image472.png"/><Relationship Id="rId3" Type="http://schemas.openxmlformats.org/officeDocument/2006/relationships/image" Target="../media/image473.png"/><Relationship Id="rId4" Type="http://schemas.openxmlformats.org/officeDocument/2006/relationships/image" Target="../media/image474.png"/><Relationship Id="rId5" Type="http://schemas.openxmlformats.org/officeDocument/2006/relationships/image" Target="../media/image475.png"/><Relationship Id="rId6" Type="http://schemas.openxmlformats.org/officeDocument/2006/relationships/image" Target="../media/image476.png"/><Relationship Id="rId7" Type="http://schemas.openxmlformats.org/officeDocument/2006/relationships/image" Target="../media/image477.png"/><Relationship Id="rId8" Type="http://schemas.openxmlformats.org/officeDocument/2006/relationships/image" Target="../media/image478.png"/><Relationship Id="rId9" Type="http://schemas.openxmlformats.org/officeDocument/2006/relationships/image" Target="../media/image479.png"/></Relationships>
</file>

<file path=ppt/charts/_rels/chart99.xml.rels><?xml version='1.0' encoding='UTF-8' standalone='yes'?>
<Relationships xmlns="http://schemas.openxmlformats.org/package/2006/relationships"><Relationship Id="rId2" Type="http://schemas.openxmlformats.org/officeDocument/2006/relationships/image" Target="../media/image480.png"/><Relationship Id="rId3" Type="http://schemas.openxmlformats.org/officeDocument/2006/relationships/image" Target="../media/image481.png"/><Relationship Id="rId4" Type="http://schemas.openxmlformats.org/officeDocument/2006/relationships/image" Target="../media/image482.png"/><Relationship Id="rId5" Type="http://schemas.openxmlformats.org/officeDocument/2006/relationships/image" Target="../media/image483.png"/><Relationship Id="rId6" Type="http://schemas.openxmlformats.org/officeDocument/2006/relationships/image" Target="../media/image484.png"/><Relationship Id="rId7" Type="http://schemas.openxmlformats.org/officeDocument/2006/relationships/image" Target="../media/image485.png"/><Relationship Id="rId8" Type="http://schemas.openxmlformats.org/officeDocument/2006/relationships/image" Target="../media/image486.png"/><Relationship Id="rId9" Type="http://schemas.openxmlformats.org/officeDocument/2006/relationships/image" Target="../media/image487.png"/><Relationship Id="rId10" Type="http://schemas.openxmlformats.org/officeDocument/2006/relationships/image" Target="../media/image488.png"/><Relationship Id="rId11" Type="http://schemas.openxmlformats.org/officeDocument/2006/relationships/image" Target="../media/image489.png"/><Relationship Id="rId12" Type="http://schemas.openxmlformats.org/officeDocument/2006/relationships/image" Target="../media/image490.png"/><Relationship Id="rId13" Type="http://schemas.openxmlformats.org/officeDocument/2006/relationships/image" Target="../media/image491.png"/></Relationships>
</file>

<file path=ppt/charts/_rels/chart100.xml.rels><?xml version='1.0' encoding='UTF-8' standalone='yes'?>
<Relationships xmlns="http://schemas.openxmlformats.org/package/2006/relationships"><Relationship Id="rId2" Type="http://schemas.openxmlformats.org/officeDocument/2006/relationships/image" Target="../media/image499.png"/><Relationship Id="rId3" Type="http://schemas.openxmlformats.org/officeDocument/2006/relationships/image" Target="../media/image500.png"/><Relationship Id="rId4" Type="http://schemas.openxmlformats.org/officeDocument/2006/relationships/image" Target="../media/image501.png"/><Relationship Id="rId5" Type="http://schemas.openxmlformats.org/officeDocument/2006/relationships/image" Target="../media/image502.png"/><Relationship Id="rId6" Type="http://schemas.openxmlformats.org/officeDocument/2006/relationships/image" Target="../media/image503.png"/><Relationship Id="rId7" Type="http://schemas.openxmlformats.org/officeDocument/2006/relationships/image" Target="../media/image504.png"/></Relationships>
</file>

<file path=ppt/charts/_rels/chart105.xml.rels><?xml version='1.0' encoding='UTF-8' standalone='yes'?>
<Relationships xmlns="http://schemas.openxmlformats.org/package/2006/relationships"><Relationship Id="rId2" Type="http://schemas.openxmlformats.org/officeDocument/2006/relationships/image" Target="../media/image505.png"/><Relationship Id="rId3" Type="http://schemas.openxmlformats.org/officeDocument/2006/relationships/image" Target="../media/image506.png"/><Relationship Id="rId4" Type="http://schemas.openxmlformats.org/officeDocument/2006/relationships/image" Target="../media/image507.png"/><Relationship Id="rId5" Type="http://schemas.openxmlformats.org/officeDocument/2006/relationships/image" Target="../media/image508.png"/><Relationship Id="rId6" Type="http://schemas.openxmlformats.org/officeDocument/2006/relationships/image" Target="../media/image509.png"/><Relationship Id="rId7" Type="http://schemas.openxmlformats.org/officeDocument/2006/relationships/image" Target="../media/image510.png"/><Relationship Id="rId8" Type="http://schemas.openxmlformats.org/officeDocument/2006/relationships/image" Target="../media/image511.png"/><Relationship Id="rId9" Type="http://schemas.openxmlformats.org/officeDocument/2006/relationships/image" Target="../media/image512.png"/><Relationship Id="rId10" Type="http://schemas.openxmlformats.org/officeDocument/2006/relationships/image" Target="../media/image513.png"/></Relationships>
</file>

<file path=ppt/charts/_rels/chart106.xml.rels><?xml version='1.0' encoding='UTF-8' standalone='yes'?>
<Relationships xmlns="http://schemas.openxmlformats.org/package/2006/relationships"><Relationship Id="rId2" Type="http://schemas.openxmlformats.org/officeDocument/2006/relationships/image" Target="../media/image518.png"/><Relationship Id="rId3" Type="http://schemas.openxmlformats.org/officeDocument/2006/relationships/image" Target="../media/image519.png"/><Relationship Id="rId4" Type="http://schemas.openxmlformats.org/officeDocument/2006/relationships/image" Target="../media/image520.png"/><Relationship Id="rId5" Type="http://schemas.openxmlformats.org/officeDocument/2006/relationships/image" Target="../media/image521.png"/></Relationships>
</file>

<file path=ppt/charts/_rels/chart110.xml.rels><?xml version='1.0' encoding='UTF-8' standalone='yes'?>
<Relationships xmlns="http://schemas.openxmlformats.org/package/2006/relationships"><Relationship Id="rId2" Type="http://schemas.openxmlformats.org/officeDocument/2006/relationships/image" Target="../media/image522.png"/><Relationship Id="rId3" Type="http://schemas.openxmlformats.org/officeDocument/2006/relationships/image" Target="../media/image523.png"/><Relationship Id="rId4" Type="http://schemas.openxmlformats.org/officeDocument/2006/relationships/image" Target="../media/image524.png"/><Relationship Id="rId5" Type="http://schemas.openxmlformats.org/officeDocument/2006/relationships/image" Target="../media/image525.png"/><Relationship Id="rId6" Type="http://schemas.openxmlformats.org/officeDocument/2006/relationships/image" Target="../media/image526.png"/><Relationship Id="rId7" Type="http://schemas.openxmlformats.org/officeDocument/2006/relationships/image" Target="../media/image527.png"/></Relationships>
</file>

<file path=ppt/charts/_rels/chart111.xml.rels><?xml version='1.0' encoding='UTF-8' standalone='yes'?>
<Relationships xmlns="http://schemas.openxmlformats.org/package/2006/relationships"><Relationship Id="rId2" Type="http://schemas.openxmlformats.org/officeDocument/2006/relationships/image" Target="../media/image538.png"/><Relationship Id="rId3" Type="http://schemas.openxmlformats.org/officeDocument/2006/relationships/image" Target="../media/image539.png"/><Relationship Id="rId4" Type="http://schemas.openxmlformats.org/officeDocument/2006/relationships/image" Target="../media/image540.png"/><Relationship Id="rId5" Type="http://schemas.openxmlformats.org/officeDocument/2006/relationships/image" Target="../media/image541.png"/><Relationship Id="rId6" Type="http://schemas.openxmlformats.org/officeDocument/2006/relationships/image" Target="../media/image542.png"/><Relationship Id="rId7" Type="http://schemas.openxmlformats.org/officeDocument/2006/relationships/image" Target="../media/image543.png"/><Relationship Id="rId8" Type="http://schemas.openxmlformats.org/officeDocument/2006/relationships/image" Target="../media/image544.png"/><Relationship Id="rId9" Type="http://schemas.openxmlformats.org/officeDocument/2006/relationships/image" Target="../media/image545.png"/></Relationships>
</file>

<file path=ppt/charts/_rels/chart117.xml.rels><?xml version='1.0' encoding='UTF-8' standalone='yes'?>
<Relationships xmlns="http://schemas.openxmlformats.org/package/2006/relationships"><Relationship Id="rId2" Type="http://schemas.openxmlformats.org/officeDocument/2006/relationships/image" Target="../media/image546.png"/><Relationship Id="rId3" Type="http://schemas.openxmlformats.org/officeDocument/2006/relationships/image" Target="../media/image547.png"/><Relationship Id="rId4" Type="http://schemas.openxmlformats.org/officeDocument/2006/relationships/image" Target="../media/image548.png"/><Relationship Id="rId5" Type="http://schemas.openxmlformats.org/officeDocument/2006/relationships/image" Target="../media/image549.png"/><Relationship Id="rId6" Type="http://schemas.openxmlformats.org/officeDocument/2006/relationships/image" Target="../media/image550.png"/><Relationship Id="rId7" Type="http://schemas.openxmlformats.org/officeDocument/2006/relationships/image" Target="../media/image551.png"/><Relationship Id="rId8" Type="http://schemas.openxmlformats.org/officeDocument/2006/relationships/image" Target="../media/image552.png"/><Relationship Id="rId9" Type="http://schemas.openxmlformats.org/officeDocument/2006/relationships/image" Target="../media/image553.png"/><Relationship Id="rId10" Type="http://schemas.openxmlformats.org/officeDocument/2006/relationships/image" Target="../media/image554.png"/><Relationship Id="rId11" Type="http://schemas.openxmlformats.org/officeDocument/2006/relationships/image" Target="../media/image555.png"/><Relationship Id="rId12" Type="http://schemas.openxmlformats.org/officeDocument/2006/relationships/image" Target="../media/image556.png"/><Relationship Id="rId13" Type="http://schemas.openxmlformats.org/officeDocument/2006/relationships/image" Target="../media/image557.png"/></Relationships>
</file>

<file path=ppt/charts/_rels/chart118.xml.rels><?xml version='1.0' encoding='UTF-8' standalone='yes'?>
<Relationships xmlns="http://schemas.openxmlformats.org/package/2006/relationships"><Relationship Id="rId2" Type="http://schemas.openxmlformats.org/officeDocument/2006/relationships/image" Target="../media/image564.png"/><Relationship Id="rId3" Type="http://schemas.openxmlformats.org/officeDocument/2006/relationships/image" Target="../media/image565.png"/><Relationship Id="rId4" Type="http://schemas.openxmlformats.org/officeDocument/2006/relationships/image" Target="../media/image566.png"/><Relationship Id="rId5" Type="http://schemas.openxmlformats.org/officeDocument/2006/relationships/image" Target="../media/image567.png"/><Relationship Id="rId6" Type="http://schemas.openxmlformats.org/officeDocument/2006/relationships/image" Target="../media/image568.png"/><Relationship Id="rId7" Type="http://schemas.openxmlformats.org/officeDocument/2006/relationships/image" Target="../media/image569.png"/></Relationships>
</file>

<file path=ppt/charts/_rels/chart123.xml.rels><?xml version='1.0' encoding='UTF-8' standalone='yes'?>
<Relationships xmlns="http://schemas.openxmlformats.org/package/2006/relationships"><Relationship Id="rId2" Type="http://schemas.openxmlformats.org/officeDocument/2006/relationships/image" Target="../media/image570.png"/><Relationship Id="rId3" Type="http://schemas.openxmlformats.org/officeDocument/2006/relationships/image" Target="../media/image571.png"/><Relationship Id="rId4" Type="http://schemas.openxmlformats.org/officeDocument/2006/relationships/image" Target="../media/image572.png"/><Relationship Id="rId5" Type="http://schemas.openxmlformats.org/officeDocument/2006/relationships/image" Target="../media/image573.png"/><Relationship Id="rId6" Type="http://schemas.openxmlformats.org/officeDocument/2006/relationships/image" Target="../media/image574.png"/><Relationship Id="rId7" Type="http://schemas.openxmlformats.org/officeDocument/2006/relationships/image" Target="../media/image575.png"/><Relationship Id="rId8" Type="http://schemas.openxmlformats.org/officeDocument/2006/relationships/image" Target="../media/image576.png"/><Relationship Id="rId9" Type="http://schemas.openxmlformats.org/officeDocument/2006/relationships/image" Target="../media/image577.png"/><Relationship Id="rId10" Type="http://schemas.openxmlformats.org/officeDocument/2006/relationships/image" Target="../media/image578.png"/></Relationships>
</file>

<file path=ppt/charts/_rels/chart124.xml.rels><?xml version='1.0' encoding='UTF-8' standalone='yes'?>
<Relationships xmlns="http://schemas.openxmlformats.org/package/2006/relationships"><Relationship Id="rId2" Type="http://schemas.openxmlformats.org/officeDocument/2006/relationships/image" Target="../media/image585.png"/><Relationship Id="rId3" Type="http://schemas.openxmlformats.org/officeDocument/2006/relationships/image" Target="../media/image586.png"/><Relationship Id="rId4" Type="http://schemas.openxmlformats.org/officeDocument/2006/relationships/image" Target="../media/image587.png"/><Relationship Id="rId5" Type="http://schemas.openxmlformats.org/officeDocument/2006/relationships/image" Target="../media/image588.png"/><Relationship Id="rId6" Type="http://schemas.openxmlformats.org/officeDocument/2006/relationships/image" Target="../media/image589.png"/><Relationship Id="rId7" Type="http://schemas.openxmlformats.org/officeDocument/2006/relationships/image" Target="../media/image590.png"/></Relationships>
</file>

<file path=ppt/charts/_rels/chart129.xml.rels><?xml version='1.0' encoding='UTF-8' standalone='yes'?>
<Relationships xmlns="http://schemas.openxmlformats.org/package/2006/relationships"><Relationship Id="rId2" Type="http://schemas.openxmlformats.org/officeDocument/2006/relationships/image" Target="../media/image591.png"/><Relationship Id="rId3" Type="http://schemas.openxmlformats.org/officeDocument/2006/relationships/image" Target="../media/image592.png"/><Relationship Id="rId4" Type="http://schemas.openxmlformats.org/officeDocument/2006/relationships/image" Target="../media/image593.png"/><Relationship Id="rId5" Type="http://schemas.openxmlformats.org/officeDocument/2006/relationships/image" Target="../media/image594.png"/><Relationship Id="rId6" Type="http://schemas.openxmlformats.org/officeDocument/2006/relationships/image" Target="../media/image595.png"/><Relationship Id="rId7" Type="http://schemas.openxmlformats.org/officeDocument/2006/relationships/image" Target="../media/image596.png"/><Relationship Id="rId8" Type="http://schemas.openxmlformats.org/officeDocument/2006/relationships/image" Target="../media/image597.png"/><Relationship Id="rId9" Type="http://schemas.openxmlformats.org/officeDocument/2006/relationships/image" Target="../media/image598.png"/></Relationships>
</file>

<file path=ppt/charts/_rels/chart132.xml.rels><?xml version='1.0' encoding='UTF-8' standalone='yes'?>
<Relationships xmlns="http://schemas.openxmlformats.org/package/2006/relationships"><Relationship Id="rId2" Type="http://schemas.openxmlformats.org/officeDocument/2006/relationships/image" Target="../media/image599.png"/><Relationship Id="rId3" Type="http://schemas.openxmlformats.org/officeDocument/2006/relationships/image" Target="../media/image600.png"/><Relationship Id="rId4" Type="http://schemas.openxmlformats.org/officeDocument/2006/relationships/image" Target="../media/image601.png"/><Relationship Id="rId5" Type="http://schemas.openxmlformats.org/officeDocument/2006/relationships/image" Target="../media/image602.png"/><Relationship Id="rId6" Type="http://schemas.openxmlformats.org/officeDocument/2006/relationships/image" Target="../media/image603.png"/><Relationship Id="rId7" Type="http://schemas.openxmlformats.org/officeDocument/2006/relationships/image" Target="../media/image604.png"/><Relationship Id="rId8" Type="http://schemas.openxmlformats.org/officeDocument/2006/relationships/image" Target="../media/image605.png"/><Relationship Id="rId9" Type="http://schemas.openxmlformats.org/officeDocument/2006/relationships/image" Target="../media/image606.png"/><Relationship Id="rId10" Type="http://schemas.openxmlformats.org/officeDocument/2006/relationships/image" Target="../media/image607.png"/><Relationship Id="rId11" Type="http://schemas.openxmlformats.org/officeDocument/2006/relationships/image" Target="../media/image608.png"/></Relationships>
</file>

<file path=ppt/charts/_rels/chart133.xml.rels><?xml version='1.0' encoding='UTF-8' standalone='yes'?>
<Relationships xmlns="http://schemas.openxmlformats.org/package/2006/relationships"><Relationship Id="rId2" Type="http://schemas.openxmlformats.org/officeDocument/2006/relationships/image" Target="../media/image609.png"/><Relationship Id="rId3" Type="http://schemas.openxmlformats.org/officeDocument/2006/relationships/image" Target="../media/image610.png"/><Relationship Id="rId4" Type="http://schemas.openxmlformats.org/officeDocument/2006/relationships/image" Target="../media/image611.png"/><Relationship Id="rId5" Type="http://schemas.openxmlformats.org/officeDocument/2006/relationships/image" Target="../media/image612.png"/><Relationship Id="rId6" Type="http://schemas.openxmlformats.org/officeDocument/2006/relationships/image" Target="../media/image613.png"/><Relationship Id="rId7" Type="http://schemas.openxmlformats.org/officeDocument/2006/relationships/image" Target="../media/image614.png"/><Relationship Id="rId8" Type="http://schemas.openxmlformats.org/officeDocument/2006/relationships/image" Target="../media/image615.png"/><Relationship Id="rId9" Type="http://schemas.openxmlformats.org/officeDocument/2006/relationships/image" Target="../media/image616.png"/><Relationship Id="rId10" Type="http://schemas.openxmlformats.org/officeDocument/2006/relationships/image" Target="../media/image617.png"/><Relationship Id="rId11" Type="http://schemas.openxmlformats.org/officeDocument/2006/relationships/image" Target="../media/image618.png"/><Relationship Id="rId12" Type="http://schemas.openxmlformats.org/officeDocument/2006/relationships/image" Target="../media/image619.png"/></Relationships>
</file>

<file path=ppt/charts/_rels/chart134.xml.rels><?xml version='1.0' encoding='UTF-8' standalone='yes'?>
<Relationships xmlns="http://schemas.openxmlformats.org/package/2006/relationships"><Relationship Id="rId2" Type="http://schemas.openxmlformats.org/officeDocument/2006/relationships/image" Target="../media/image620.png"/><Relationship Id="rId3" Type="http://schemas.openxmlformats.org/officeDocument/2006/relationships/image" Target="../media/image621.png"/><Relationship Id="rId4" Type="http://schemas.openxmlformats.org/officeDocument/2006/relationships/image" Target="../media/image622.png"/><Relationship Id="rId5" Type="http://schemas.openxmlformats.org/officeDocument/2006/relationships/image" Target="../media/image623.png"/><Relationship Id="rId6" Type="http://schemas.openxmlformats.org/officeDocument/2006/relationships/image" Target="../media/image624.png"/><Relationship Id="rId7" Type="http://schemas.openxmlformats.org/officeDocument/2006/relationships/image" Target="../media/image625.png"/><Relationship Id="rId8" Type="http://schemas.openxmlformats.org/officeDocument/2006/relationships/image" Target="../media/image626.png"/><Relationship Id="rId9" Type="http://schemas.openxmlformats.org/officeDocument/2006/relationships/image" Target="../media/image627.png"/><Relationship Id="rId10" Type="http://schemas.openxmlformats.org/officeDocument/2006/relationships/image" Target="../media/image628.png"/><Relationship Id="rId11" Type="http://schemas.openxmlformats.org/officeDocument/2006/relationships/image" Target="../media/image629.png"/></Relationships>
</file>

<file path=ppt/charts/_rels/chart135.xml.rels><?xml version='1.0' encoding='UTF-8' standalone='yes'?>
<Relationships xmlns="http://schemas.openxmlformats.org/package/2006/relationships"><Relationship Id="rId2" Type="http://schemas.openxmlformats.org/officeDocument/2006/relationships/image" Target="../media/image630.png"/><Relationship Id="rId3" Type="http://schemas.openxmlformats.org/officeDocument/2006/relationships/image" Target="../media/image631.png"/><Relationship Id="rId4" Type="http://schemas.openxmlformats.org/officeDocument/2006/relationships/image" Target="../media/image632.png"/><Relationship Id="rId5" Type="http://schemas.openxmlformats.org/officeDocument/2006/relationships/image" Target="../media/image633.png"/><Relationship Id="rId6" Type="http://schemas.openxmlformats.org/officeDocument/2006/relationships/image" Target="../media/image634.png"/><Relationship Id="rId7" Type="http://schemas.openxmlformats.org/officeDocument/2006/relationships/image" Target="../media/image635.png"/><Relationship Id="rId8" Type="http://schemas.openxmlformats.org/officeDocument/2006/relationships/image" Target="../media/image636.png"/><Relationship Id="rId9" Type="http://schemas.openxmlformats.org/officeDocument/2006/relationships/image" Target="../media/image637.png"/><Relationship Id="rId10" Type="http://schemas.openxmlformats.org/officeDocument/2006/relationships/image" Target="../media/image638.png"/><Relationship Id="rId11" Type="http://schemas.openxmlformats.org/officeDocument/2006/relationships/image" Target="../media/image639.png"/></Relationships>
</file>

<file path=ppt/charts/_rels/chart136.xml.rels><?xml version='1.0' encoding='UTF-8' standalone='yes'?>
<Relationships xmlns="http://schemas.openxmlformats.org/package/2006/relationships"><Relationship Id="rId2" Type="http://schemas.openxmlformats.org/officeDocument/2006/relationships/image" Target="../media/image640.png"/><Relationship Id="rId3" Type="http://schemas.openxmlformats.org/officeDocument/2006/relationships/image" Target="../media/image641.png"/><Relationship Id="rId4" Type="http://schemas.openxmlformats.org/officeDocument/2006/relationships/image" Target="../media/image642.png"/><Relationship Id="rId5" Type="http://schemas.openxmlformats.org/officeDocument/2006/relationships/image" Target="../media/image643.png"/><Relationship Id="rId6" Type="http://schemas.openxmlformats.org/officeDocument/2006/relationships/image" Target="../media/image644.png"/><Relationship Id="rId7" Type="http://schemas.openxmlformats.org/officeDocument/2006/relationships/image" Target="../media/image645.png"/><Relationship Id="rId8" Type="http://schemas.openxmlformats.org/officeDocument/2006/relationships/image" Target="../media/image646.png"/><Relationship Id="rId9" Type="http://schemas.openxmlformats.org/officeDocument/2006/relationships/image" Target="../media/image647.png"/><Relationship Id="rId10" Type="http://schemas.openxmlformats.org/officeDocument/2006/relationships/image" Target="../media/image648.png"/><Relationship Id="rId11" Type="http://schemas.openxmlformats.org/officeDocument/2006/relationships/image" Target="../media/image649.png"/><Relationship Id="rId12" Type="http://schemas.openxmlformats.org/officeDocument/2006/relationships/image" Target="../media/image650.png"/></Relationships>
</file>

<file path=ppt/charts/_rels/chart137.xml.rels><?xml version='1.0' encoding='UTF-8' standalone='yes'?>
<Relationships xmlns="http://schemas.openxmlformats.org/package/2006/relationships"><Relationship Id="rId2" Type="http://schemas.openxmlformats.org/officeDocument/2006/relationships/image" Target="../media/image651.png"/></Relationships>
</file>

<file path=ppt/charts/_rels/chart138.xml.rels><?xml version='1.0' encoding='UTF-8' standalone='yes'?>
<Relationships xmlns="http://schemas.openxmlformats.org/package/2006/relationships"><Relationship Id="rId2" Type="http://schemas.openxmlformats.org/officeDocument/2006/relationships/image" Target="../media/image652.png"/></Relationships>
</file>

<file path=ppt/charts/_rels/chart139.xml.rels><?xml version='1.0' encoding='UTF-8' standalone='yes'?>
<Relationships xmlns="http://schemas.openxmlformats.org/package/2006/relationships"><Relationship Id="rId2" Type="http://schemas.openxmlformats.org/officeDocument/2006/relationships/image" Target="../media/image653.png"/><Relationship Id="rId3" Type="http://schemas.openxmlformats.org/officeDocument/2006/relationships/image" Target="../media/image654.png"/></Relationships>
</file>

<file path=ppt/charts/_rels/chart140.xml.rels><?xml version='1.0' encoding='UTF-8' standalone='yes'?>
<Relationships xmlns="http://schemas.openxmlformats.org/package/2006/relationships"><Relationship Id="rId2" Type="http://schemas.openxmlformats.org/officeDocument/2006/relationships/image" Target="../media/image655.png"/><Relationship Id="rId3" Type="http://schemas.openxmlformats.org/officeDocument/2006/relationships/image" Target="../media/image656.png"/><Relationship Id="rId4" Type="http://schemas.openxmlformats.org/officeDocument/2006/relationships/image" Target="../media/image657.png"/><Relationship Id="rId5" Type="http://schemas.openxmlformats.org/officeDocument/2006/relationships/image" Target="../media/image658.png"/></Relationships>
</file>

<file path=ppt/charts/_rels/chart141.xml.rels><?xml version='1.0' encoding='UTF-8' standalone='yes'?>
<Relationships xmlns="http://schemas.openxmlformats.org/package/2006/relationships"><Relationship Id="rId2" Type="http://schemas.openxmlformats.org/officeDocument/2006/relationships/image" Target="../media/image659.png"/></Relationships>
</file>

<file path=ppt/charts/_rels/chart142.xml.rels><?xml version='1.0' encoding='UTF-8' standalone='yes'?>
<Relationships xmlns="http://schemas.openxmlformats.org/package/2006/relationships"><Relationship Id="rId2" Type="http://schemas.openxmlformats.org/officeDocument/2006/relationships/image" Target="../media/image660.png"/></Relationships>
</file>

<file path=ppt/charts/_rels/chart143.xml.rels><?xml version='1.0' encoding='UTF-8' standalone='yes'?>
<Relationships xmlns="http://schemas.openxmlformats.org/package/2006/relationships"><Relationship Id="rId2" Type="http://schemas.openxmlformats.org/officeDocument/2006/relationships/image" Target="../media/image661.png"/><Relationship Id="rId3" Type="http://schemas.openxmlformats.org/officeDocument/2006/relationships/image" Target="../media/image662.png"/></Relationships>
</file>

<file path=ppt/charts/_rels/chart144.xml.rels><?xml version='1.0' encoding='UTF-8' standalone='yes'?>
<Relationships xmlns="http://schemas.openxmlformats.org/package/2006/relationships"><Relationship Id="rId2" Type="http://schemas.openxmlformats.org/officeDocument/2006/relationships/image" Target="../media/image663.png"/><Relationship Id="rId3" Type="http://schemas.openxmlformats.org/officeDocument/2006/relationships/image" Target="../media/image664.png"/><Relationship Id="rId4" Type="http://schemas.openxmlformats.org/officeDocument/2006/relationships/image" Target="../media/image665.png"/><Relationship Id="rId5" Type="http://schemas.openxmlformats.org/officeDocument/2006/relationships/image" Target="../media/image666.png"/></Relationships>
</file>

<file path=ppt/charts/_rels/chart145.xml.rels><?xml version='1.0' encoding='UTF-8' standalone='yes'?>
<Relationships xmlns="http://schemas.openxmlformats.org/package/2006/relationships"><Relationship Id="rId2" Type="http://schemas.openxmlformats.org/officeDocument/2006/relationships/image" Target="../media/image667.png"/></Relationships>
</file>

<file path=ppt/charts/_rels/chart146.xml.rels><?xml version='1.0' encoding='UTF-8' standalone='yes'?>
<Relationships xmlns="http://schemas.openxmlformats.org/package/2006/relationships"><Relationship Id="rId2" Type="http://schemas.openxmlformats.org/officeDocument/2006/relationships/image" Target="../media/image668.png"/></Relationships>
</file>

<file path=ppt/charts/_rels/chart147.xml.rels><?xml version='1.0' encoding='UTF-8' standalone='yes'?>
<Relationships xmlns="http://schemas.openxmlformats.org/package/2006/relationships"><Relationship Id="rId2" Type="http://schemas.openxmlformats.org/officeDocument/2006/relationships/image" Target="../media/image669.png"/><Relationship Id="rId3" Type="http://schemas.openxmlformats.org/officeDocument/2006/relationships/image" Target="../media/image670.png"/></Relationships>
</file>

<file path=ppt/charts/_rels/chart148.xml.rels><?xml version='1.0' encoding='UTF-8' standalone='yes'?>
<Relationships xmlns="http://schemas.openxmlformats.org/package/2006/relationships"><Relationship Id="rId2" Type="http://schemas.openxmlformats.org/officeDocument/2006/relationships/image" Target="../media/image671.png"/><Relationship Id="rId3" Type="http://schemas.openxmlformats.org/officeDocument/2006/relationships/image" Target="../media/image672.png"/><Relationship Id="rId4" Type="http://schemas.openxmlformats.org/officeDocument/2006/relationships/image" Target="../media/image673.png"/><Relationship Id="rId5" Type="http://schemas.openxmlformats.org/officeDocument/2006/relationships/image" Target="../media/image674.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2.5045866456656407</c:v>
                </c:pt>
                <c:pt idx="1">
                  <c:v>3.306572273902586</c:v>
                </c:pt>
                <c:pt idx="2">
                  <c:v>3.038548960537546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364675401551413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829578.725</c:v>
                </c:pt>
                <c:pt idx="2">
                  <c:v>0.0</c:v>
                </c:pt>
                <c:pt idx="3">
                  <c:v>938802.201</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829578.725</c:v>
                </c:pt>
                <c:pt idx="1">
                  <c:v>109223.47600000002</c:v>
                </c:pt>
                <c:pt idx="2">
                  <c:v>938802.201</c:v>
                </c:pt>
                <c:pt idx="3">
                  <c:v>360929.218</c:v>
                </c:pt>
                <c:pt idx="4">
                  <c:v>1299731.419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3.247945887409953</c:v>
                </c:pt>
                <c:pt idx="1">
                  <c:v>4.056108237174105</c:v>
                </c:pt>
                <c:pt idx="2">
                  <c:v>3.7860203540756476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354062873069819"/>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3065.726</c:v>
                </c:pt>
                <c:pt idx="2">
                  <c:v>0.0</c:v>
                </c:pt>
                <c:pt idx="3">
                  <c:v>3597.0</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3065.726</c:v>
                </c:pt>
                <c:pt idx="1">
                  <c:v>531.2739999999999</c:v>
                </c:pt>
                <c:pt idx="2">
                  <c:v>3597.0</c:v>
                </c:pt>
                <c:pt idx="3">
                  <c:v>1756.2340000000004</c:v>
                </c:pt>
                <c:pt idx="4">
                  <c:v>5353.234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3065.726</c:v>
                </c:pt>
                <c:pt idx="1">
                  <c:v>3165.233</c:v>
                </c:pt>
                <c:pt idx="2">
                  <c:v>3268.003</c:v>
                </c:pt>
                <c:pt idx="3">
                  <c:v>3374.1459999999997</c:v>
                </c:pt>
                <c:pt idx="4">
                  <c:v>3483.7740000000003</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829578.725</c:v>
                </c:pt>
                <c:pt idx="1">
                  <c:v>850339.716</c:v>
                </c:pt>
                <c:pt idx="2">
                  <c:v>871628.7139999999</c:v>
                </c:pt>
                <c:pt idx="3">
                  <c:v>893459.382</c:v>
                </c:pt>
                <c:pt idx="4">
                  <c:v>915845.747</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11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264077"/>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3597.0</c:v>
                </c:pt>
                <c:pt idx="1">
                  <c:v>3742.722</c:v>
                </c:pt>
                <c:pt idx="2">
                  <c:v>3894.3869999999997</c:v>
                </c:pt>
                <c:pt idx="3">
                  <c:v>4052.241</c:v>
                </c:pt>
                <c:pt idx="4">
                  <c:v>4216.537</c:v>
                </c:pt>
                <c:pt idx="5">
                  <c:v>4387.542</c:v>
                </c:pt>
                <c:pt idx="6">
                  <c:v>4565.529</c:v>
                </c:pt>
                <c:pt idx="7">
                  <c:v>4750.786</c:v>
                </c:pt>
                <c:pt idx="8">
                  <c:v>4943.612999999999</c:v>
                </c:pt>
                <c:pt idx="9">
                  <c:v>5144.321</c:v>
                </c:pt>
                <c:pt idx="10">
                  <c:v>5353.234</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938802.201</c:v>
                </c:pt>
                <c:pt idx="1">
                  <c:v>969801.731</c:v>
                </c:pt>
                <c:pt idx="2">
                  <c:v>1001834.583</c:v>
                </c:pt>
                <c:pt idx="3">
                  <c:v>1034935.551</c:v>
                </c:pt>
                <c:pt idx="4">
                  <c:v>1069140.613</c:v>
                </c:pt>
                <c:pt idx="5">
                  <c:v>1104486.9700000002</c:v>
                </c:pt>
                <c:pt idx="6">
                  <c:v>1141013.091</c:v>
                </c:pt>
                <c:pt idx="7">
                  <c:v>1178758.755</c:v>
                </c:pt>
                <c:pt idx="8">
                  <c:v>1217765.098</c:v>
                </c:pt>
                <c:pt idx="9">
                  <c:v>1258074.6570000001</c:v>
                </c:pt>
                <c:pt idx="10">
                  <c:v>1299731.419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317"/>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873481"/>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94.32280936141345</c:v>
                </c:pt>
                <c:pt idx="1">
                  <c:v>112.20893587921175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35.668196834818126</c:v>
                </c:pt>
                <c:pt idx="1">
                  <c:v>64.33180316518184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3085.639</c:v>
                </c:pt>
                <c:pt idx="1">
                  <c:v>2267.5950000000003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0.04725705582065938</c:v>
                </c:pt>
                <c:pt idx="1">
                  <c:v>0.050320207197637974</c:v>
                </c:pt>
                <c:pt idx="2">
                  <c:v>0.05329879304580428</c:v>
                </c:pt>
                <c:pt idx="3">
                  <c:v>0.05420552343806941</c:v>
                </c:pt>
                <c:pt idx="4">
                  <c:v>0.05346322601849485</c:v>
                </c:pt>
                <c:pt idx="5">
                  <c:v>0.0522370258507166</c:v>
                </c:pt>
                <c:pt idx="6">
                  <c:v>0.050357791877110106</c:v>
                </c:pt>
                <c:pt idx="7">
                  <c:v>0.048347011525351154</c:v>
                </c:pt>
                <c:pt idx="8">
                  <c:v>0.04694698221501431</c:v>
                </c:pt>
                <c:pt idx="9">
                  <c:v>0.04598857288847499</c:v>
                </c:pt>
                <c:pt idx="10">
                  <c:v>0.04522278504423035</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0.03526561651233003</c:v>
                </c:pt>
                <c:pt idx="1">
                  <c:v>0.03766899284566956</c:v>
                </c:pt>
                <c:pt idx="2">
                  <c:v>0.040025626041245606</c:v>
                </c:pt>
                <c:pt idx="3">
                  <c:v>0.042397840282742814</c:v>
                </c:pt>
                <c:pt idx="4">
                  <c:v>0.04334438882245352</c:v>
                </c:pt>
                <c:pt idx="5">
                  <c:v>0.04298602476626675</c:v>
                </c:pt>
                <c:pt idx="6">
                  <c:v>0.04160320694076345</c:v>
                </c:pt>
                <c:pt idx="7">
                  <c:v>0.04008795022493026</c:v>
                </c:pt>
                <c:pt idx="8">
                  <c:v>0.03948028943400487</c:v>
                </c:pt>
                <c:pt idx="9">
                  <c:v>0.038272758375114665</c:v>
                </c:pt>
                <c:pt idx="10">
                  <c:v>0.03698342682513835</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0.025309855888910847</c:v>
                </c:pt>
                <c:pt idx="1">
                  <c:v>0.02636512377198206</c:v>
                </c:pt>
                <c:pt idx="2">
                  <c:v>0.02754176431892089</c:v>
                </c:pt>
                <c:pt idx="3">
                  <c:v>0.028657718533925913</c:v>
                </c:pt>
                <c:pt idx="4">
                  <c:v>0.029857959321061226</c:v>
                </c:pt>
                <c:pt idx="5">
                  <c:v>0.030269277793057034</c:v>
                </c:pt>
                <c:pt idx="6">
                  <c:v>0.030656996024856362</c:v>
                </c:pt>
                <c:pt idx="7">
                  <c:v>0.03104471425665569</c:v>
                </c:pt>
                <c:pt idx="8">
                  <c:v>0.03214381115723466</c:v>
                </c:pt>
                <c:pt idx="9">
                  <c:v>0.03295970517545585</c:v>
                </c:pt>
                <c:pt idx="10">
                  <c:v>0.03379582797098832</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72.52736212960797</c:v>
                </c:pt>
                <c:pt idx="1">
                  <c:v>71.11839534595416</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27.47263787039204</c:v>
                </c:pt>
                <c:pt idx="1">
                  <c:v>28.881604654045834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68.93577981651376</c:v>
                </c:pt>
                <c:pt idx="1">
                  <c:v>67.42535446797207</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31.064220183486242</c:v>
                </c:pt>
                <c:pt idx="1">
                  <c:v>32.57464553202793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MM&quot;;&quot;MMMMMMMMM&quot;;&quot;M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607424.963</c:v>
                </c:pt>
                <c:pt idx="1">
                  <c:v>621454.454</c:v>
                </c:pt>
                <c:pt idx="2">
                  <c:v>635807.98</c:v>
                </c:pt>
                <c:pt idx="3">
                  <c:v>650493.023</c:v>
                </c:pt>
                <c:pt idx="4">
                  <c:v>665517.243</c:v>
                </c:pt>
                <c:pt idx="5">
                  <c:v>680888.472</c:v>
                </c:pt>
                <c:pt idx="6">
                  <c:v>702023.968</c:v>
                </c:pt>
                <c:pt idx="7">
                  <c:v>723815.532</c:v>
                </c:pt>
                <c:pt idx="8">
                  <c:v>746283.529</c:v>
                </c:pt>
                <c:pt idx="9">
                  <c:v>769448.957</c:v>
                </c:pt>
                <c:pt idx="10">
                  <c:v>793333.464</c:v>
                </c:pt>
                <c:pt idx="11">
                  <c:v>817959.371</c:v>
                </c:pt>
                <c:pt idx="12">
                  <c:v>843349.692</c:v>
                </c:pt>
                <c:pt idx="13">
                  <c:v>869528.156</c:v>
                </c:pt>
                <c:pt idx="14">
                  <c:v>896519.227</c:v>
                </c:pt>
                <c:pt idx="15">
                  <c:v>924348.129</c:v>
                </c:pt>
              </c:numCache>
            </c:numRef>
          </c:val>
        </c:ser>
        <c:ser>
          <c:idx val="1"/>
          <c:order val="1"/>
          <c:tx>
            <c:strRef>
              <c:strCache>
                <c:ptCount val="1"/>
                <c:pt idx="0">
                  <c:v>Canada</c:v>
                </c:pt>
              </c:strCache>
            </c:strRef>
          </c:tx>
          <c:spPr>
            <a:solidFill>
              <a:srgbClr val="9E7E0A"/>
            </a:solidFill>
            <a:ln>
              <a:noFill/>
            </a:ln>
          </c:spPr>
          <c:dLbls>
            <c:dLbl>
              <c:idx val="0"/>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222153.762</c:v>
                </c:pt>
                <c:pt idx="1">
                  <c:v>228885.262</c:v>
                </c:pt>
                <c:pt idx="2">
                  <c:v>235820.734</c:v>
                </c:pt>
                <c:pt idx="3">
                  <c:v>242966.359</c:v>
                </c:pt>
                <c:pt idx="4">
                  <c:v>250328.504</c:v>
                </c:pt>
                <c:pt idx="5">
                  <c:v>257913.729</c:v>
                </c:pt>
                <c:pt idx="6">
                  <c:v>267777.763</c:v>
                </c:pt>
                <c:pt idx="7">
                  <c:v>278019.051</c:v>
                </c:pt>
                <c:pt idx="8">
                  <c:v>288652.022</c:v>
                </c:pt>
                <c:pt idx="9">
                  <c:v>299691.656</c:v>
                </c:pt>
                <c:pt idx="10">
                  <c:v>311153.506</c:v>
                </c:pt>
                <c:pt idx="11">
                  <c:v>323053.72</c:v>
                </c:pt>
                <c:pt idx="12">
                  <c:v>335409.063</c:v>
                </c:pt>
                <c:pt idx="13">
                  <c:v>348236.942</c:v>
                </c:pt>
                <c:pt idx="14">
                  <c:v>361555.43</c:v>
                </c:pt>
                <c:pt idx="15">
                  <c:v>375383.29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quot;;&quot;MMMMMMM&quot;;&quot;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quot;;&quot;MMMMMMM&quot;;&quot;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quot;;&quot;MMMMMMM&quot;;&quot;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quot;;&quot;MMMMMMM&quot;;&quot;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quot;;&quot;MMMMMMM&quot;;&quot;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2136.262</c:v>
                </c:pt>
                <c:pt idx="1">
                  <c:v>2200.902</c:v>
                </c:pt>
                <c:pt idx="2">
                  <c:v>2267.497</c:v>
                </c:pt>
                <c:pt idx="3">
                  <c:v>2336.108</c:v>
                </c:pt>
                <c:pt idx="4">
                  <c:v>2406.795</c:v>
                </c:pt>
                <c:pt idx="5">
                  <c:v>2479.62</c:v>
                </c:pt>
                <c:pt idx="6">
                  <c:v>2574.487</c:v>
                </c:pt>
                <c:pt idx="7">
                  <c:v>2672.982</c:v>
                </c:pt>
                <c:pt idx="8">
                  <c:v>2775.246</c:v>
                </c:pt>
                <c:pt idx="9">
                  <c:v>2881.422</c:v>
                </c:pt>
                <c:pt idx="10">
                  <c:v>2991.661</c:v>
                </c:pt>
                <c:pt idx="11">
                  <c:v>3106.117</c:v>
                </c:pt>
                <c:pt idx="12">
                  <c:v>3224.952</c:v>
                </c:pt>
                <c:pt idx="13">
                  <c:v>3348.333</c:v>
                </c:pt>
                <c:pt idx="14">
                  <c:v>3476.435</c:v>
                </c:pt>
                <c:pt idx="15">
                  <c:v>3609.437</c:v>
                </c:pt>
              </c:numCache>
            </c:numRef>
          </c:val>
        </c:ser>
        <c:ser>
          <c:idx val="1"/>
          <c:order val="1"/>
          <c:tx>
            <c:strRef>
              <c:strCache>
                <c:ptCount val="1"/>
                <c:pt idx="0">
                  <c:v>Canada</c:v>
                </c:pt>
              </c:strCache>
            </c:strRef>
          </c:tx>
          <c:spPr>
            <a:solidFill>
              <a:srgbClr val="9E7E0A"/>
            </a:solidFill>
            <a:ln>
              <a:noFill/>
            </a:ln>
          </c:spPr>
          <c:dLbls>
            <c:dLbl>
              <c:idx val="0"/>
              <c:numFmt formatCode="&quot;MMMMM&quot;;&quot;MMMMM&quot;;&quot;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quot;;&quot;MMMMMMM&quot;;&quot;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quot;;&quot;MMMMMMM&quot;;&quot;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quot;;&quot;MMMMMMM&quot;;&quot;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quot;;&quot;MMMMMMM&quot;;&quot;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quot;;&quot;MMMMMMM&quot;;&quot;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929.464</c:v>
                </c:pt>
                <c:pt idx="1">
                  <c:v>964.331</c:v>
                </c:pt>
                <c:pt idx="2">
                  <c:v>1000.506</c:v>
                </c:pt>
                <c:pt idx="3">
                  <c:v>1038.038</c:v>
                </c:pt>
                <c:pt idx="4">
                  <c:v>1076.979</c:v>
                </c:pt>
                <c:pt idx="5">
                  <c:v>1117.38</c:v>
                </c:pt>
                <c:pt idx="6">
                  <c:v>1168.235</c:v>
                </c:pt>
                <c:pt idx="7">
                  <c:v>1221.405</c:v>
                </c:pt>
                <c:pt idx="8">
                  <c:v>1276.995</c:v>
                </c:pt>
                <c:pt idx="9">
                  <c:v>1335.115</c:v>
                </c:pt>
                <c:pt idx="10">
                  <c:v>1395.881</c:v>
                </c:pt>
                <c:pt idx="11">
                  <c:v>1459.412</c:v>
                </c:pt>
                <c:pt idx="12">
                  <c:v>1525.834</c:v>
                </c:pt>
                <c:pt idx="13">
                  <c:v>1595.28</c:v>
                </c:pt>
                <c:pt idx="14">
                  <c:v>1667.886</c:v>
                </c:pt>
                <c:pt idx="15">
                  <c:v>1743.797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Sweet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59.937997370106736</c:v>
                </c:pt>
                <c:pt idx="1">
                  <c:v>56.530755350488185</c:v>
                </c:pt>
              </c:numCache>
            </c:numRef>
          </c:val>
        </c:ser>
        <c:ser>
          <c:idx val="1"/>
          <c:order val="1"/>
          <c:tx>
            <c:strRef>
              <c:strCache>
                <c:ptCount val="1"/>
                <c:pt idx="0">
                  <c:v>Savoury muffins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40.06200262989327</c:v>
                </c:pt>
                <c:pt idx="1">
                  <c:v>43.469244649511815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Sweet muffins</c:v>
                </c:pt>
              </c:strCache>
            </c:strRef>
          </c:tx>
          <c:spPr>
            <a:solidFill>
              <a:srgbClr val="3D85C6"/>
            </a:solidFill>
          </c:spPr>
          <c:invertIfNegative val="0"/>
          <c:xVal>
            <c:numRef>
              <c:numCache>
                <c:formatCode>General</c:formatCode>
                <c:ptCount val="1"/>
                <c:pt idx="0">
                  <c:v>109.68763689344068</c:v>
                </c:pt>
              </c:numCache>
            </c:numRef>
          </c:xVal>
          <c:yVal>
            <c:numRef>
              <c:numCache>
                <c:formatCode>General</c:formatCode>
                <c:ptCount val="1"/>
                <c:pt idx="0">
                  <c:v>111.01706978037254</c:v>
                </c:pt>
              </c:numCache>
            </c:numRef>
          </c:yVal>
          <c:bubbleSize>
            <c:numRef>
              <c:numCache>
                <c:formatCode>General</c:formatCode>
                <c:ptCount val="1"/>
                <c:pt idx="0">
                  <c:v>3085.639</c:v>
                </c:pt>
              </c:numCache>
            </c:numRef>
          </c:bubbleSize>
          <c:bubble3D val="0"/>
        </c:ser>
        <c:ser>
          <c:idx val="1"/>
          <c:order val="1"/>
          <c:tx>
            <c:strRef>
              <c:strCache>
                <c:ptCount val="1"/>
                <c:pt idx="0">
                  <c:v>Savoury muffins</c:v>
                </c:pt>
              </c:strCache>
            </c:strRef>
          </c:tx>
          <c:spPr>
            <a:solidFill>
              <a:srgbClr val="9E7E0A"/>
            </a:solidFill>
          </c:spPr>
          <c:invertIfNegative val="0"/>
          <c:xVal>
            <c:numRef>
              <c:numCache>
                <c:formatCode>General</c:formatCode>
                <c:ptCount val="1"/>
                <c:pt idx="0">
                  <c:v>87.43256602517316</c:v>
                </c:pt>
              </c:numCache>
            </c:numRef>
          </c:xVal>
          <c:yVal>
            <c:numRef>
              <c:numCache>
                <c:formatCode>General</c:formatCode>
                <c:ptCount val="1"/>
                <c:pt idx="0">
                  <c:v>88.98293021962746</c:v>
                </c:pt>
              </c:numCache>
            </c:numRef>
          </c:yVal>
          <c:bubbleSize>
            <c:numRef>
              <c:numCache>
                <c:formatCode>General</c:formatCode>
                <c:ptCount val="1"/>
                <c:pt idx="0">
                  <c:v>2267.5950000000003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1996.642</c:v>
                </c:pt>
                <c:pt idx="2">
                  <c:v>2178.276</c:v>
                </c:pt>
                <c:pt idx="3">
                  <c:v>2376.42</c:v>
                </c:pt>
                <c:pt idx="4">
                  <c:v>2592.578</c:v>
                </c:pt>
                <c:pt idx="5">
                  <c:v>2828.387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1996.642</c:v>
                </c:pt>
                <c:pt idx="1">
                  <c:v>181.6339999999998</c:v>
                </c:pt>
                <c:pt idx="2">
                  <c:v>198.14400000000023</c:v>
                </c:pt>
                <c:pt idx="3">
                  <c:v>216.1579999999999</c:v>
                </c:pt>
                <c:pt idx="4">
                  <c:v>235.8090000000002</c:v>
                </c:pt>
                <c:pt idx="5">
                  <c:v>257.25199999999995</c:v>
                </c:pt>
                <c:pt idx="6">
                  <c:v>3085.639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1600.358</c:v>
                </c:pt>
                <c:pt idx="2">
                  <c:v>1716.111</c:v>
                </c:pt>
                <c:pt idx="3">
                  <c:v>1840.1170000000002</c:v>
                </c:pt>
                <c:pt idx="4">
                  <c:v>1972.951</c:v>
                </c:pt>
                <c:pt idx="5">
                  <c:v>2115.2259999999997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1600.358</c:v>
                </c:pt>
                <c:pt idx="1">
                  <c:v>115.75300000000016</c:v>
                </c:pt>
                <c:pt idx="2">
                  <c:v>124.00600000000009</c:v>
                </c:pt>
                <c:pt idx="3">
                  <c:v>132.83399999999983</c:v>
                </c:pt>
                <c:pt idx="4">
                  <c:v>142.27499999999964</c:v>
                </c:pt>
                <c:pt idx="5">
                  <c:v>152.3690000000006</c:v>
                </c:pt>
                <c:pt idx="6">
                  <c:v>2267.5950000000003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54.44808179204534</c:v>
                </c:pt>
                <c:pt idx="1">
                  <c:v>55.50853489018627</c:v>
                </c:pt>
                <c:pt idx="2">
                  <c:v>57.640652360797226</c:v>
                </c:pt>
              </c:numCache>
            </c:numRef>
          </c:val>
        </c:ser>
        <c:ser>
          <c:idx val="1"/>
          <c:order val="1"/>
          <c:tx>
            <c:strRef>
              <c:strCache>
                <c:ptCount val="1"/>
                <c:pt idx="0">
                  <c:v>Savoury muffins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45.55191820795466</c:v>
                </c:pt>
                <c:pt idx="1">
                  <c:v>44.49146510981373</c:v>
                </c:pt>
                <c:pt idx="2">
                  <c:v>42.359347639202774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Sweet Muffins Flavours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53.099299975857285</c:v>
                </c:pt>
                <c:pt idx="1">
                  <c:v>55.53982518603316</c:v>
                </c:pt>
              </c:numCache>
            </c:numRef>
          </c:val>
        </c:ser>
        <c:ser>
          <c:idx val="1"/>
          <c:order val="1"/>
          <c:tx>
            <c:strRef>
              <c:strCache>
                <c:ptCount val="1"/>
                <c:pt idx="0">
                  <c:v>Savoury Muffins Flavours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46.900700024142715</c:v>
                </c:pt>
                <c:pt idx="1">
                  <c:v>44.46017481396683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Sweet Muffins Flavours</c:v>
                </c:pt>
              </c:strCache>
            </c:strRef>
          </c:tx>
          <c:spPr>
            <a:solidFill>
              <a:srgbClr val="3D85C6"/>
            </a:solidFill>
          </c:spPr>
          <c:invertIfNegative val="0"/>
          <c:xVal>
            <c:numRef>
              <c:numCache>
                <c:formatCode>General</c:formatCode>
                <c:ptCount val="1"/>
                <c:pt idx="0">
                  <c:v>85.13831079659693</c:v>
                </c:pt>
              </c:numCache>
            </c:numRef>
          </c:xVal>
          <c:yVal>
            <c:numRef>
              <c:numCache>
                <c:formatCode>General</c:formatCode>
                <c:ptCount val="1"/>
                <c:pt idx="0">
                  <c:v>116.0393661384487</c:v>
                </c:pt>
              </c:numCache>
            </c:numRef>
          </c:yVal>
          <c:bubbleSize>
            <c:numRef>
              <c:numCache>
                <c:formatCode>General</c:formatCode>
                <c:ptCount val="1"/>
                <c:pt idx="0">
                  <c:v>2930.619</c:v>
                </c:pt>
              </c:numCache>
            </c:numRef>
          </c:bubbleSize>
          <c:bubble3D val="0"/>
        </c:ser>
        <c:ser>
          <c:idx val="1"/>
          <c:order val="1"/>
          <c:tx>
            <c:strRef>
              <c:strCache>
                <c:ptCount val="1"/>
                <c:pt idx="0">
                  <c:v>Savoury Muffins Flavours</c:v>
                </c:pt>
              </c:strCache>
            </c:strRef>
          </c:tx>
          <c:spPr>
            <a:solidFill>
              <a:srgbClr val="9E7E0A"/>
            </a:solidFill>
          </c:spPr>
          <c:invertIfNegative val="0"/>
          <c:xVal>
            <c:numRef>
              <c:numCache>
                <c:formatCode>General</c:formatCode>
                <c:ptCount val="1"/>
                <c:pt idx="0">
                  <c:v>119.34294516651818</c:v>
                </c:pt>
              </c:numCache>
            </c:numRef>
          </c:xVal>
          <c:yVal>
            <c:numRef>
              <c:numCache>
                <c:formatCode>General</c:formatCode>
                <c:ptCount val="1"/>
                <c:pt idx="0">
                  <c:v>83.96063386155129</c:v>
                </c:pt>
              </c:numCache>
            </c:numRef>
          </c:yVal>
          <c:bubbleSize>
            <c:numRef>
              <c:numCache>
                <c:formatCode>General</c:formatCode>
                <c:ptCount val="1"/>
                <c:pt idx="0">
                  <c:v>2422.615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2086.968</c:v>
                </c:pt>
                <c:pt idx="2">
                  <c:v>2234.406</c:v>
                </c:pt>
                <c:pt idx="3">
                  <c:v>2391.84</c:v>
                </c:pt>
                <c:pt idx="4">
                  <c:v>2559.9</c:v>
                </c:pt>
                <c:pt idx="5">
                  <c:v>2739.263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2086.968</c:v>
                </c:pt>
                <c:pt idx="1">
                  <c:v>147.4380000000001</c:v>
                </c:pt>
                <c:pt idx="2">
                  <c:v>157.4340000000002</c:v>
                </c:pt>
                <c:pt idx="3">
                  <c:v>168.05999999999995</c:v>
                </c:pt>
                <c:pt idx="4">
                  <c:v>179.36299999999983</c:v>
                </c:pt>
                <c:pt idx="5">
                  <c:v>191.35600000000022</c:v>
                </c:pt>
                <c:pt idx="6">
                  <c:v>2930.619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1510.032</c:v>
                </c:pt>
                <c:pt idx="2">
                  <c:v>1659.981</c:v>
                </c:pt>
                <c:pt idx="3">
                  <c:v>1824.697</c:v>
                </c:pt>
                <c:pt idx="4">
                  <c:v>2005.629</c:v>
                </c:pt>
                <c:pt idx="5">
                  <c:v>2204.35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1510.032</c:v>
                </c:pt>
                <c:pt idx="1">
                  <c:v>149.94900000000007</c:v>
                </c:pt>
                <c:pt idx="2">
                  <c:v>164.7159999999999</c:v>
                </c:pt>
                <c:pt idx="3">
                  <c:v>180.93200000000002</c:v>
                </c:pt>
                <c:pt idx="4">
                  <c:v>198.721</c:v>
                </c:pt>
                <c:pt idx="5">
                  <c:v>218.26499999999987</c:v>
                </c:pt>
                <c:pt idx="6">
                  <c:v>2422.615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 Flavours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59.6095671955028</c:v>
                </c:pt>
                <c:pt idx="1">
                  <c:v>58.01968306922435</c:v>
                </c:pt>
                <c:pt idx="2">
                  <c:v>54.74483274969859</c:v>
                </c:pt>
              </c:numCache>
            </c:numRef>
          </c:val>
        </c:ser>
        <c:ser>
          <c:idx val="1"/>
          <c:order val="1"/>
          <c:tx>
            <c:strRef>
              <c:strCache>
                <c:ptCount val="1"/>
                <c:pt idx="0">
                  <c:v>Savoury Muffins Flavours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40.39043280449721</c:v>
                </c:pt>
                <c:pt idx="1">
                  <c:v>41.98031693077564</c:v>
                </c:pt>
                <c:pt idx="2">
                  <c:v>45.2551672503014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Wheat-based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18.065864317922326</c:v>
                </c:pt>
                <c:pt idx="1">
                  <c:v>17.53813683408243</c:v>
                </c:pt>
              </c:numCache>
            </c:numRef>
          </c:val>
        </c:ser>
        <c:ser>
          <c:idx val="1"/>
          <c:order val="1"/>
          <c:tx>
            <c:strRef>
              <c:strCache>
                <c:ptCount val="1"/>
                <c:pt idx="0">
                  <c:v>Oat-based</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19.301214533572427</c:v>
                </c:pt>
                <c:pt idx="1">
                  <c:v>25.117601443105947</c:v>
                </c:pt>
              </c:numCache>
            </c:numRef>
          </c:val>
        </c:ser>
        <c:ser>
          <c:idx val="2"/>
          <c:order val="2"/>
          <c:tx>
            <c:strRef>
              <c:strCache>
                <c:ptCount val="1"/>
                <c:pt idx="0">
                  <c:v>Rice-based</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19.05204562228287</c:v>
                </c:pt>
                <c:pt idx="1">
                  <c:v>13.79680542976647</c:v>
                </c:pt>
              </c:numCache>
            </c:numRef>
          </c:val>
        </c:ser>
        <c:ser>
          <c:idx val="3"/>
          <c:order val="3"/>
          <c:tx>
            <c:strRef>
              <c:strCache>
                <c:ptCount val="1"/>
                <c:pt idx="0">
                  <c:v>Corn-based</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16.51763364657698</c:v>
                </c:pt>
                <c:pt idx="1">
                  <c:v>12.884474780969995</c:v>
                </c:pt>
              </c:numCache>
            </c:numRef>
          </c:val>
        </c:ser>
        <c:ser>
          <c:idx val="4"/>
          <c:order val="4"/>
          <c:tx>
            <c:strRef>
              <c:strCache>
                <c:ptCount val="1"/>
                <c:pt idx="0">
                  <c:v>Millet-based</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7.717928176272812</c:v>
                </c:pt>
                <c:pt idx="1">
                  <c:v>8.05721224667448</c:v>
                </c:pt>
              </c:numCache>
            </c:numRef>
          </c:val>
        </c:ser>
        <c:ser>
          <c:idx val="5"/>
          <c:order val="5"/>
          <c:tx>
            <c:strRef>
              <c:strCache>
                <c:ptCount val="1"/>
                <c:pt idx="0">
                  <c:v>Almond and other nut flour-based</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2.4240780320186355</c:v>
                </c:pt>
                <c:pt idx="1">
                  <c:v>3.371273691714247</c:v>
                </c:pt>
              </c:numCache>
            </c:numRef>
          </c:val>
        </c:ser>
        <c:ser>
          <c:idx val="6"/>
          <c:order val="6"/>
          <c:tx>
            <c:strRef>
              <c:strCache>
                <c:ptCount val="1"/>
                <c:pt idx="0">
                  <c:v>Other single-flour bases</c:v>
                </c:pt>
              </c:strCache>
            </c:strRef>
          </c:tx>
          <c:spPr>
            <a:solidFill>
              <a:srgbClr val="0E72AE"/>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12.568894200414382</c:v>
                </c:pt>
                <c:pt idx="1">
                  <c:v>13.681108715846818</c:v>
                </c:pt>
              </c:numCache>
            </c:numRef>
          </c:val>
        </c:ser>
        <c:ser>
          <c:idx val="7"/>
          <c:order val="7"/>
          <c:tx>
            <c:strRef>
              <c:strCache>
                <c:ptCount val="1"/>
                <c:pt idx="0">
                  <c:v>Multigrain and blended flour bases</c:v>
                </c:pt>
              </c:strCache>
            </c:strRef>
          </c:tx>
          <c:spPr>
            <a:solidFill>
              <a:srgbClr val="A86F00"/>
            </a:solidFill>
            <a:ln>
              <a:noFill/>
            </a:ln>
          </c:spPr>
          <c:dLbls>
            <c:dLbl>
              <c:idx val="0"/>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4.352341470939565</c:v>
                </c:pt>
                <c:pt idx="1">
                  <c:v>5.553386857839602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Wheat-based</c:v>
                </c:pt>
              </c:strCache>
            </c:strRef>
          </c:tx>
          <c:spPr>
            <a:solidFill>
              <a:srgbClr val="3D85C6"/>
            </a:solidFill>
          </c:spPr>
          <c:invertIfNegative val="0"/>
          <c:xVal>
            <c:numRef>
              <c:numCache>
                <c:formatCode>General</c:formatCode>
                <c:ptCount val="1"/>
                <c:pt idx="0">
                  <c:v>102.10894597362159</c:v>
                </c:pt>
              </c:numCache>
            </c:numRef>
          </c:xVal>
          <c:yVal>
            <c:numRef>
              <c:numCache>
                <c:formatCode>General</c:formatCode>
                <c:ptCount val="1"/>
                <c:pt idx="0">
                  <c:v>140.52087850986933</c:v>
                </c:pt>
              </c:numCache>
            </c:numRef>
          </c:yVal>
          <c:bubbleSize>
            <c:numRef>
              <c:numCache>
                <c:formatCode>General</c:formatCode>
                <c:ptCount val="1"/>
                <c:pt idx="0">
                  <c:v>948.06</c:v>
                </c:pt>
              </c:numCache>
            </c:numRef>
          </c:bubbleSize>
          <c:bubble3D val="0"/>
        </c:ser>
        <c:ser>
          <c:idx val="1"/>
          <c:order val="1"/>
          <c:tx>
            <c:strRef>
              <c:strCache>
                <c:ptCount val="1"/>
                <c:pt idx="0">
                  <c:v>Oat-based</c:v>
                </c:pt>
              </c:strCache>
            </c:strRef>
          </c:tx>
          <c:spPr>
            <a:solidFill>
              <a:srgbClr val="9E7E0A"/>
            </a:solidFill>
          </c:spPr>
          <c:invertIfNegative val="0"/>
          <c:xVal>
            <c:numRef>
              <c:numCache>
                <c:formatCode>General</c:formatCode>
                <c:ptCount val="1"/>
                <c:pt idx="0">
                  <c:v>140.50622135313705</c:v>
                </c:pt>
              </c:numCache>
            </c:numRef>
          </c:xVal>
          <c:yVal>
            <c:numRef>
              <c:numCache>
                <c:formatCode>General</c:formatCode>
                <c:ptCount val="1"/>
                <c:pt idx="0">
                  <c:v>158.84392549346677</c:v>
                </c:pt>
              </c:numCache>
            </c:numRef>
          </c:yVal>
          <c:bubbleSize>
            <c:numRef>
              <c:numCache>
                <c:formatCode>General</c:formatCode>
                <c:ptCount val="1"/>
                <c:pt idx="0">
                  <c:v>1243.178</c:v>
                </c:pt>
              </c:numCache>
            </c:numRef>
          </c:bubbleSize>
          <c:bubble3D val="0"/>
        </c:ser>
        <c:ser>
          <c:idx val="2"/>
          <c:order val="2"/>
          <c:tx>
            <c:strRef>
              <c:strCache>
                <c:ptCount val="1"/>
                <c:pt idx="0">
                  <c:v>Rice-based</c:v>
                </c:pt>
              </c:strCache>
            </c:strRef>
          </c:tx>
          <c:spPr>
            <a:solidFill>
              <a:srgbClr val="008189"/>
            </a:solidFill>
          </c:spPr>
          <c:invertIfNegative val="0"/>
          <c:xVal>
            <c:numRef>
              <c:numCache>
                <c:formatCode>General</c:formatCode>
                <c:ptCount val="1"/>
                <c:pt idx="0">
                  <c:v>65.85213207008712</c:v>
                </c:pt>
              </c:numCache>
            </c:numRef>
          </c:xVal>
          <c:yVal>
            <c:numRef>
              <c:numCache>
                <c:formatCode>General</c:formatCode>
                <c:ptCount val="1"/>
                <c:pt idx="0">
                  <c:v>141.86043925493468</c:v>
                </c:pt>
              </c:numCache>
            </c:numRef>
          </c:yVal>
          <c:bubbleSize>
            <c:numRef>
              <c:numCache>
                <c:formatCode>General</c:formatCode>
                <c:ptCount val="1"/>
                <c:pt idx="0">
                  <c:v>830.216</c:v>
                </c:pt>
              </c:numCache>
            </c:numRef>
          </c:bubbleSize>
          <c:bubble3D val="0"/>
        </c:ser>
        <c:ser>
          <c:idx val="3"/>
          <c:order val="3"/>
          <c:tx>
            <c:strRef>
              <c:strCache>
                <c:ptCount val="1"/>
                <c:pt idx="0">
                  <c:v>Corn-based</c:v>
                </c:pt>
              </c:strCache>
            </c:strRef>
          </c:tx>
          <c:spPr>
            <a:solidFill>
              <a:srgbClr val="40315E"/>
            </a:solidFill>
          </c:spPr>
          <c:invertIfNegative val="0"/>
          <c:xVal>
            <c:numRef>
              <c:numCache>
                <c:formatCode>General</c:formatCode>
                <c:ptCount val="1"/>
                <c:pt idx="0">
                  <c:v>78.11266911425861</c:v>
                </c:pt>
              </c:numCache>
            </c:numRef>
          </c:xVal>
          <c:yVal>
            <c:numRef>
              <c:numCache>
                <c:formatCode>General</c:formatCode>
                <c:ptCount val="1"/>
                <c:pt idx="0">
                  <c:v>122.61195440644981</c:v>
                </c:pt>
              </c:numCache>
            </c:numRef>
          </c:yVal>
          <c:bubbleSize>
            <c:numRef>
              <c:numCache>
                <c:formatCode>General</c:formatCode>
                <c:ptCount val="1"/>
                <c:pt idx="0">
                  <c:v>753.091</c:v>
                </c:pt>
              </c:numCache>
            </c:numRef>
          </c:bubbleSize>
          <c:bubble3D val="0"/>
        </c:ser>
        <c:ser>
          <c:idx val="4"/>
          <c:order val="4"/>
          <c:tx>
            <c:strRef>
              <c:strCache>
                <c:ptCount val="1"/>
                <c:pt idx="0">
                  <c:v>Millet-based</c:v>
                </c:pt>
              </c:strCache>
            </c:strRef>
          </c:tx>
          <c:spPr>
            <a:solidFill>
              <a:srgbClr val="A35313"/>
            </a:solidFill>
          </c:spPr>
          <c:invertIfNegative val="0"/>
          <c:xVal>
            <c:numRef>
              <c:numCache>
                <c:formatCode>General</c:formatCode>
                <c:ptCount val="1"/>
                <c:pt idx="0">
                  <c:v>141.81268895409318</c:v>
                </c:pt>
              </c:numCache>
            </c:numRef>
          </c:xVal>
          <c:yVal>
            <c:numRef>
              <c:numCache>
                <c:formatCode>General</c:formatCode>
                <c:ptCount val="1"/>
                <c:pt idx="0">
                  <c:v>54.083291631915486</c:v>
                </c:pt>
              </c:numCache>
            </c:numRef>
          </c:yVal>
          <c:bubbleSize>
            <c:numRef>
              <c:numCache>
                <c:formatCode>General</c:formatCode>
                <c:ptCount val="1"/>
                <c:pt idx="0">
                  <c:v>425.405</c:v>
                </c:pt>
              </c:numCache>
            </c:numRef>
          </c:bubbleSize>
          <c:bubble3D val="0"/>
        </c:ser>
        <c:ser>
          <c:idx val="5"/>
          <c:order val="5"/>
          <c:tx>
            <c:strRef>
              <c:strCache>
                <c:ptCount val="1"/>
                <c:pt idx="0">
                  <c:v>Almond and other nut flour-based</c:v>
                </c:pt>
              </c:strCache>
            </c:strRef>
          </c:tx>
          <c:spPr>
            <a:solidFill>
              <a:srgbClr val="808080"/>
            </a:solidFill>
          </c:spPr>
          <c:invertIfNegative val="0"/>
          <c:xVal>
            <c:numRef>
              <c:numCache>
                <c:formatCode>General</c:formatCode>
                <c:ptCount val="1"/>
                <c:pt idx="0">
                  <c:v>102.77434831511454</c:v>
                </c:pt>
              </c:numCache>
            </c:numRef>
          </c:xVal>
          <c:yVal>
            <c:numRef>
              <c:numCache>
                <c:formatCode>General</c:formatCode>
                <c:ptCount val="1"/>
                <c:pt idx="0">
                  <c:v>24.238420906310814</c:v>
                </c:pt>
              </c:numCache>
            </c:numRef>
          </c:yVal>
          <c:bubbleSize>
            <c:numRef>
              <c:numCache>
                <c:formatCode>General</c:formatCode>
                <c:ptCount val="1"/>
                <c:pt idx="0">
                  <c:v>163.955</c:v>
                </c:pt>
              </c:numCache>
            </c:numRef>
          </c:bubbleSize>
          <c:bubble3D val="0"/>
        </c:ser>
        <c:ser>
          <c:idx val="6"/>
          <c:order val="6"/>
          <c:tx>
            <c:strRef>
              <c:strCache>
                <c:ptCount val="1"/>
                <c:pt idx="0">
                  <c:v>Other single-flour bases</c:v>
                </c:pt>
              </c:strCache>
            </c:strRef>
          </c:tx>
          <c:spPr>
            <a:solidFill>
              <a:srgbClr val="0E72AE"/>
            </a:solidFill>
          </c:spPr>
          <c:invertIfNegative val="0"/>
          <c:xVal>
            <c:numRef>
              <c:numCache>
                <c:formatCode>General</c:formatCode>
                <c:ptCount val="1"/>
                <c:pt idx="0">
                  <c:v>115.5796766942104</c:v>
                </c:pt>
              </c:numCache>
            </c:numRef>
          </c:xVal>
          <c:yVal>
            <c:numRef>
              <c:numCache>
                <c:formatCode>General</c:formatCode>
                <c:ptCount val="1"/>
                <c:pt idx="0">
                  <c:v>100.29068668334725</c:v>
                </c:pt>
              </c:numCache>
            </c:numRef>
          </c:yVal>
          <c:bubbleSize>
            <c:numRef>
              <c:numCache>
                <c:formatCode>General</c:formatCode>
                <c:ptCount val="1"/>
                <c:pt idx="0">
                  <c:v>712.987</c:v>
                </c:pt>
              </c:numCache>
            </c:numRef>
          </c:bubbleSize>
          <c:bubble3D val="0"/>
        </c:ser>
        <c:ser>
          <c:idx val="7"/>
          <c:order val="7"/>
          <c:tx>
            <c:strRef>
              <c:strCache>
                <c:ptCount val="1"/>
                <c:pt idx="0">
                  <c:v>Multigrain and blended flour bases</c:v>
                </c:pt>
              </c:strCache>
            </c:strRef>
          </c:tx>
          <c:spPr>
            <a:solidFill>
              <a:srgbClr val="A86F00"/>
            </a:solidFill>
          </c:spPr>
          <c:invertIfNegative val="0"/>
          <c:xVal>
            <c:numRef>
              <c:numCache>
                <c:formatCode>General</c:formatCode>
                <c:ptCount val="1"/>
                <c:pt idx="0">
                  <c:v>16.259649403422724</c:v>
                </c:pt>
              </c:numCache>
            </c:numRef>
          </c:xVal>
          <c:yVal>
            <c:numRef>
              <c:numCache>
                <c:formatCode>General</c:formatCode>
                <c:ptCount val="1"/>
                <c:pt idx="0">
                  <c:v>57.55040311370587</c:v>
                </c:pt>
              </c:numCache>
            </c:numRef>
          </c:yVal>
          <c:bubbleSize>
            <c:numRef>
              <c:numCache>
                <c:formatCode>General</c:formatCode>
                <c:ptCount val="1"/>
                <c:pt idx="0">
                  <c:v>276.342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8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631.817</c:v>
                </c:pt>
                <c:pt idx="2">
                  <c:v>685.169</c:v>
                </c:pt>
                <c:pt idx="3">
                  <c:v>743.063</c:v>
                </c:pt>
                <c:pt idx="4">
                  <c:v>805.886</c:v>
                </c:pt>
                <c:pt idx="5">
                  <c:v>874.067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631.817</c:v>
                </c:pt>
                <c:pt idx="1">
                  <c:v>53.351999999999975</c:v>
                </c:pt>
                <c:pt idx="2">
                  <c:v>57.894000000000005</c:v>
                </c:pt>
                <c:pt idx="3">
                  <c:v>62.82299999999998</c:v>
                </c:pt>
                <c:pt idx="4">
                  <c:v>68.18100000000004</c:v>
                </c:pt>
                <c:pt idx="5">
                  <c:v>73.99299999999994</c:v>
                </c:pt>
                <c:pt idx="6">
                  <c:v>948.06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714.202</c:v>
                </c:pt>
                <c:pt idx="2">
                  <c:v>800.099</c:v>
                </c:pt>
                <c:pt idx="3">
                  <c:v>895.012</c:v>
                </c:pt>
                <c:pt idx="4">
                  <c:v>999.832</c:v>
                </c:pt>
                <c:pt idx="5">
                  <c:v>1115.529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714.202</c:v>
                </c:pt>
                <c:pt idx="1">
                  <c:v>85.89700000000005</c:v>
                </c:pt>
                <c:pt idx="2">
                  <c:v>94.9129999999999</c:v>
                </c:pt>
                <c:pt idx="3">
                  <c:v>104.82000000000005</c:v>
                </c:pt>
                <c:pt idx="4">
                  <c:v>115.697</c:v>
                </c:pt>
                <c:pt idx="5">
                  <c:v>127.64900000000011</c:v>
                </c:pt>
                <c:pt idx="6">
                  <c:v>1243.178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637.84</c:v>
                </c:pt>
                <c:pt idx="2">
                  <c:v>672.933</c:v>
                </c:pt>
                <c:pt idx="3">
                  <c:v>709.677</c:v>
                </c:pt>
                <c:pt idx="4">
                  <c:v>748.115</c:v>
                </c:pt>
                <c:pt idx="5">
                  <c:v>788.282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637.84</c:v>
                </c:pt>
                <c:pt idx="1">
                  <c:v>35.09299999999996</c:v>
                </c:pt>
                <c:pt idx="2">
                  <c:v>36.74400000000003</c:v>
                </c:pt>
                <c:pt idx="3">
                  <c:v>38.43799999999999</c:v>
                </c:pt>
                <c:pt idx="4">
                  <c:v>40.16700000000003</c:v>
                </c:pt>
                <c:pt idx="5">
                  <c:v>41.93399999999997</c:v>
                </c:pt>
                <c:pt idx="6">
                  <c:v>830.216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551.294</c:v>
                </c:pt>
                <c:pt idx="2">
                  <c:v>586.865</c:v>
                </c:pt>
                <c:pt idx="3">
                  <c:v>624.689</c:v>
                </c:pt>
                <c:pt idx="4">
                  <c:v>664.904</c:v>
                </c:pt>
                <c:pt idx="5">
                  <c:v>707.654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551.294</c:v>
                </c:pt>
                <c:pt idx="1">
                  <c:v>35.571000000000026</c:v>
                </c:pt>
                <c:pt idx="2">
                  <c:v>37.823999999999955</c:v>
                </c:pt>
                <c:pt idx="3">
                  <c:v>40.21500000000003</c:v>
                </c:pt>
                <c:pt idx="4">
                  <c:v>42.75</c:v>
                </c:pt>
                <c:pt idx="5">
                  <c:v>45.43700000000001</c:v>
                </c:pt>
                <c:pt idx="6">
                  <c:v>753.091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243.172</c:v>
                </c:pt>
                <c:pt idx="2">
                  <c:v>272.7</c:v>
                </c:pt>
                <c:pt idx="3">
                  <c:v>305.359</c:v>
                </c:pt>
                <c:pt idx="4">
                  <c:v>341.461</c:v>
                </c:pt>
                <c:pt idx="5">
                  <c:v>381.351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243.172</c:v>
                </c:pt>
                <c:pt idx="1">
                  <c:v>29.52799999999999</c:v>
                </c:pt>
                <c:pt idx="2">
                  <c:v>32.65899999999999</c:v>
                </c:pt>
                <c:pt idx="3">
                  <c:v>36.10200000000003</c:v>
                </c:pt>
                <c:pt idx="4">
                  <c:v>39.889999999999986</c:v>
                </c:pt>
                <c:pt idx="5">
                  <c:v>44.053999999999974</c:v>
                </c:pt>
                <c:pt idx="6">
                  <c:v>425.405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108.982</c:v>
                </c:pt>
                <c:pt idx="2">
                  <c:v>118.254</c:v>
                </c:pt>
                <c:pt idx="3">
                  <c:v>128.316</c:v>
                </c:pt>
                <c:pt idx="4">
                  <c:v>139.237</c:v>
                </c:pt>
                <c:pt idx="5">
                  <c:v>151.09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108.982</c:v>
                </c:pt>
                <c:pt idx="1">
                  <c:v>9.272000000000006</c:v>
                </c:pt>
                <c:pt idx="2">
                  <c:v>10.061999999999998</c:v>
                </c:pt>
                <c:pt idx="3">
                  <c:v>10.920999999999992</c:v>
                </c:pt>
                <c:pt idx="4">
                  <c:v>11.853000000000009</c:v>
                </c:pt>
                <c:pt idx="5">
                  <c:v>12.865000000000009</c:v>
                </c:pt>
                <c:pt idx="6">
                  <c:v>163.955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450.932</c:v>
                </c:pt>
                <c:pt idx="2">
                  <c:v>494.421</c:v>
                </c:pt>
                <c:pt idx="3">
                  <c:v>541.979</c:v>
                </c:pt>
                <c:pt idx="4">
                  <c:v>593.98</c:v>
                </c:pt>
                <c:pt idx="5">
                  <c:v>650.834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450.932</c:v>
                </c:pt>
                <c:pt idx="1">
                  <c:v>43.488999999999976</c:v>
                </c:pt>
                <c:pt idx="2">
                  <c:v>47.55800000000005</c:v>
                </c:pt>
                <c:pt idx="3">
                  <c:v>52.000999999999976</c:v>
                </c:pt>
                <c:pt idx="4">
                  <c:v>56.85399999999993</c:v>
                </c:pt>
                <c:pt idx="5">
                  <c:v>62.15300000000002</c:v>
                </c:pt>
                <c:pt idx="6">
                  <c:v>712.987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258.761</c:v>
                </c:pt>
                <c:pt idx="2">
                  <c:v>263.946</c:v>
                </c:pt>
                <c:pt idx="3">
                  <c:v>268.442</c:v>
                </c:pt>
                <c:pt idx="4">
                  <c:v>272.114</c:v>
                </c:pt>
                <c:pt idx="5">
                  <c:v>274.806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258.761</c:v>
                </c:pt>
                <c:pt idx="1">
                  <c:v>5.185000000000002</c:v>
                </c:pt>
                <c:pt idx="2">
                  <c:v>4.495999999999981</c:v>
                </c:pt>
                <c:pt idx="3">
                  <c:v>3.6719999999999686</c:v>
                </c:pt>
                <c:pt idx="4">
                  <c:v>2.6920000000000073</c:v>
                </c:pt>
                <c:pt idx="5">
                  <c:v>1.5360000000000014</c:v>
                </c:pt>
                <c:pt idx="6">
                  <c:v>276.342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Oat-based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18.095322282552324</c:v>
                </c:pt>
                <c:pt idx="1">
                  <c:v>19.855490686683346</c:v>
                </c:pt>
                <c:pt idx="2">
                  <c:v>23.222934024554128</c:v>
                </c:pt>
              </c:numCache>
            </c:numRef>
          </c:val>
        </c:ser>
        <c:ser>
          <c:idx val="1"/>
          <c:order val="1"/>
          <c:tx>
            <c:strRef>
              <c:strCache>
                <c:ptCount val="1"/>
                <c:pt idx="0">
                  <c:v>Wheat-based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17.494192240271964</c:v>
                </c:pt>
                <c:pt idx="1">
                  <c:v>17.565109813733667</c:v>
                </c:pt>
                <c:pt idx="2">
                  <c:v>17.71004219131837</c:v>
                </c:pt>
              </c:numCache>
            </c:numRef>
          </c:val>
        </c:ser>
        <c:ser>
          <c:idx val="2"/>
          <c:order val="2"/>
          <c:tx>
            <c:strRef>
              <c:strCache>
                <c:ptCount val="1"/>
                <c:pt idx="0">
                  <c:v>Rice-based</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18.883683669055877</c:v>
                </c:pt>
                <c:pt idx="1">
                  <c:v>17.732554906866834</c:v>
                </c:pt>
                <c:pt idx="2">
                  <c:v>15.50868129433535</c:v>
                </c:pt>
              </c:numCache>
            </c:numRef>
          </c:val>
        </c:ser>
        <c:ser>
          <c:idx val="3"/>
          <c:order val="3"/>
          <c:tx>
            <c:strRef>
              <c:strCache>
                <c:ptCount val="1"/>
                <c:pt idx="0">
                  <c:v>Corn-based</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15.980978078275749</c:v>
                </c:pt>
                <c:pt idx="1">
                  <c:v>15.326494300806226</c:v>
                </c:pt>
                <c:pt idx="2">
                  <c:v>14.067963403056918</c:v>
                </c:pt>
              </c:numCache>
            </c:numRef>
          </c:val>
        </c:ser>
        <c:ser>
          <c:idx val="4"/>
          <c:order val="4"/>
          <c:tx>
            <c:strRef>
              <c:strCache>
                <c:ptCount val="1"/>
                <c:pt idx="0">
                  <c:v>Other single-flour bases</c:v>
                </c:pt>
              </c:strCache>
            </c:strRef>
          </c:tx>
          <c:spPr>
            <a:solidFill>
              <a:srgbClr val="A35313"/>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12.131221120217528</c:v>
                </c:pt>
                <c:pt idx="1">
                  <c:v>12.536335835418406</c:v>
                </c:pt>
                <c:pt idx="2">
                  <c:v>13.318808779888942</c:v>
                </c:pt>
              </c:numCache>
            </c:numRef>
          </c:val>
        </c:ser>
        <c:ser>
          <c:idx val="5"/>
          <c:order val="5"/>
          <c:tx>
            <c:strRef>
              <c:strCache>
                <c:ptCount val="1"/>
                <c:pt idx="0">
                  <c:v>Millet-based</c:v>
                </c:pt>
              </c:strCache>
            </c:strRef>
          </c:tx>
          <c:spPr>
            <a:solidFill>
              <a:srgbClr val="808080"/>
            </a:solidFill>
            <a:ln>
              <a:noFill/>
            </a:ln>
          </c:spPr>
          <c:dLbls>
            <c:dLbl>
              <c:idx val="0"/>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6.144678291536817</c:v>
                </c:pt>
                <c:pt idx="1">
                  <c:v>6.760411453989436</c:v>
                </c:pt>
                <c:pt idx="2">
                  <c:v>7.946691663394501</c:v>
                </c:pt>
              </c:numCache>
            </c:numRef>
          </c:val>
        </c:ser>
        <c:ser>
          <c:idx val="6"/>
          <c:order val="6"/>
          <c:tx>
            <c:strRef>
              <c:strCache>
                <c:ptCount val="1"/>
                <c:pt idx="0">
                  <c:v>Multigrain and blended flour bases</c:v>
                </c:pt>
              </c:strCache>
            </c:strRef>
          </c:tx>
          <c:spPr>
            <a:solidFill>
              <a:srgbClr val="0E72AE"/>
            </a:solidFill>
            <a:ln>
              <a:noFill/>
            </a:ln>
          </c:spPr>
          <c:dLbls>
            <c:dLbl>
              <c:idx val="0"/>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8.25716322985159</c:v>
                </c:pt>
                <c:pt idx="1">
                  <c:v>7.193800389213234</c:v>
                </c:pt>
                <c:pt idx="2">
                  <c:v>5.162150580378141</c:v>
                </c:pt>
              </c:numCache>
            </c:numRef>
          </c:val>
        </c:ser>
        <c:ser>
          <c:idx val="7"/>
          <c:order val="7"/>
          <c:tx>
            <c:strRef>
              <c:strCache>
                <c:ptCount val="1"/>
                <c:pt idx="0">
                  <c:v>Almond and other nut flour-based</c:v>
                </c:pt>
              </c:strCache>
            </c:strRef>
          </c:tx>
          <c:spPr>
            <a:solidFill>
              <a:srgbClr val="A86F00"/>
            </a:solidFill>
            <a:ln>
              <a:noFill/>
            </a:ln>
          </c:spPr>
          <c:dLbls>
            <c:dLbl>
              <c:idx val="0"/>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3.012761088238153</c:v>
                </c:pt>
                <c:pt idx="1">
                  <c:v>3.029802613288852</c:v>
                </c:pt>
                <c:pt idx="2">
                  <c:v>3.062728063073649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17.062421830063933</c:v>
                </c:pt>
                <c:pt idx="1">
                  <c:v>18.74031878101765</c:v>
                </c:pt>
              </c:numCache>
            </c:numRef>
          </c:val>
        </c:ser>
        <c:ser>
          <c:idx val="1"/>
          <c:order val="1"/>
          <c:tx>
            <c:strRef>
              <c:strCache>
                <c:ptCount val="1"/>
                <c:pt idx="0">
                  <c:v>Gluten-free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48.27677762950619</c:v>
                </c:pt>
                <c:pt idx="1">
                  <c:v>47.16486255335666</c:v>
                </c:pt>
              </c:numCache>
            </c:numRef>
          </c:val>
        </c:ser>
        <c:ser>
          <c:idx val="2"/>
          <c:order val="2"/>
          <c:tx>
            <c:strRef>
              <c:strCache>
                <c:ptCount val="1"/>
                <c:pt idx="0">
                  <c:v>Vegan</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3.827968507802227</c:v>
                </c:pt>
                <c:pt idx="1">
                  <c:v>5.624672213422759</c:v>
                </c:pt>
              </c:numCache>
            </c:numRef>
          </c:val>
        </c:ser>
        <c:ser>
          <c:idx val="3"/>
          <c:order val="3"/>
          <c:tx>
            <c:strRef>
              <c:strCache>
                <c:ptCount val="1"/>
                <c:pt idx="0">
                  <c:v>Gluten-free and vegan</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30.832832032627657</c:v>
                </c:pt>
                <c:pt idx="1">
                  <c:v>28.47014645220294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c:v>
                </c:pt>
              </c:strCache>
            </c:strRef>
          </c:tx>
          <c:spPr>
            <a:solidFill>
              <a:srgbClr val="3D85C6"/>
            </a:solidFill>
          </c:spPr>
          <c:invertIfNegative val="0"/>
          <c:xVal>
            <c:numRef>
              <c:numCache>
                <c:formatCode>General</c:formatCode>
                <c:ptCount val="1"/>
                <c:pt idx="0">
                  <c:v>127.94527740497182</c:v>
                </c:pt>
              </c:numCache>
            </c:numRef>
          </c:xVal>
          <c:yVal>
            <c:numRef>
              <c:numCache>
                <c:formatCode>General</c:formatCode>
                <c:ptCount val="1"/>
                <c:pt idx="0">
                  <c:v>65.30252988601612</c:v>
                </c:pt>
              </c:numCache>
            </c:numRef>
          </c:yVal>
          <c:bubbleSize>
            <c:numRef>
              <c:numCache>
                <c:formatCode>General</c:formatCode>
                <c:ptCount val="1"/>
                <c:pt idx="0">
                  <c:v>973.954</c:v>
                </c:pt>
              </c:numCache>
            </c:numRef>
          </c:bubbleSize>
          <c:bubble3D val="0"/>
        </c:ser>
        <c:ser>
          <c:idx val="1"/>
          <c:order val="1"/>
          <c:tx>
            <c:strRef>
              <c:strCache>
                <c:ptCount val="1"/>
                <c:pt idx="0">
                  <c:v>Gluten-free</c:v>
                </c:pt>
              </c:strCache>
            </c:strRef>
          </c:tx>
          <c:spPr>
            <a:solidFill>
              <a:srgbClr val="9E7E0A"/>
            </a:solidFill>
          </c:spPr>
          <c:invertIfNegative val="0"/>
          <c:xVal>
            <c:numRef>
              <c:numCache>
                <c:formatCode>General</c:formatCode>
                <c:ptCount val="1"/>
                <c:pt idx="0">
                  <c:v>111.82630117821819</c:v>
                </c:pt>
              </c:numCache>
            </c:numRef>
          </c:xVal>
          <c:yVal>
            <c:numRef>
              <c:numCache>
                <c:formatCode>General</c:formatCode>
                <c:ptCount val="1"/>
                <c:pt idx="0">
                  <c:v>181.562635529608</c:v>
                </c:pt>
              </c:numCache>
            </c:numRef>
          </c:yVal>
          <c:bubbleSize>
            <c:numRef>
              <c:numCache>
                <c:formatCode>General</c:formatCode>
                <c:ptCount val="1"/>
                <c:pt idx="0">
                  <c:v>2544.235</c:v>
                </c:pt>
              </c:numCache>
            </c:numRef>
          </c:bubbleSize>
          <c:bubble3D val="0"/>
        </c:ser>
        <c:ser>
          <c:idx val="2"/>
          <c:order val="2"/>
          <c:tx>
            <c:strRef>
              <c:strCache>
                <c:ptCount val="1"/>
                <c:pt idx="0">
                  <c:v>Vegan</c:v>
                </c:pt>
              </c:strCache>
            </c:strRef>
          </c:tx>
          <c:spPr>
            <a:solidFill>
              <a:srgbClr val="008189"/>
            </a:solidFill>
          </c:spPr>
          <c:invertIfNegative val="0"/>
          <c:xVal>
            <c:numRef>
              <c:numCache>
                <c:formatCode>General</c:formatCode>
                <c:ptCount val="1"/>
                <c:pt idx="0">
                  <c:v>30.540874509100746</c:v>
                </c:pt>
              </c:numCache>
            </c:numRef>
          </c:xVal>
          <c:yVal>
            <c:numRef>
              <c:numCache>
                <c:formatCode>General</c:formatCode>
                <c:ptCount val="1"/>
                <c:pt idx="0">
                  <c:v>26.524437030859048</c:v>
                </c:pt>
              </c:numCache>
            </c:numRef>
          </c:yVal>
          <c:bubbleSize>
            <c:numRef>
              <c:numCache>
                <c:formatCode>General</c:formatCode>
                <c:ptCount val="1"/>
                <c:pt idx="0">
                  <c:v>269.771</c:v>
                </c:pt>
              </c:numCache>
            </c:numRef>
          </c:bubbleSize>
          <c:bubble3D val="0"/>
        </c:ser>
        <c:ser>
          <c:idx val="3"/>
          <c:order val="3"/>
          <c:tx>
            <c:strRef>
              <c:strCache>
                <c:ptCount val="1"/>
                <c:pt idx="0">
                  <c:v>Gluten-free and vegan</c:v>
                </c:pt>
              </c:strCache>
            </c:strRef>
          </c:tx>
          <c:spPr>
            <a:solidFill>
              <a:srgbClr val="40315E"/>
            </a:solidFill>
          </c:spPr>
          <c:invertIfNegative val="0"/>
          <c:xVal>
            <c:numRef>
              <c:numCache>
                <c:formatCode>General</c:formatCode>
                <c:ptCount val="1"/>
                <c:pt idx="0">
                  <c:v>79.73921872118434</c:v>
                </c:pt>
              </c:numCache>
            </c:numRef>
          </c:xVal>
          <c:yVal>
            <c:numRef>
              <c:numCache>
                <c:formatCode>General</c:formatCode>
                <c:ptCount val="1"/>
                <c:pt idx="0">
                  <c:v>126.61039755351683</c:v>
                </c:pt>
              </c:numCache>
            </c:numRef>
          </c:yVal>
          <c:bubbleSize>
            <c:numRef>
              <c:numCache>
                <c:formatCode>General</c:formatCode>
                <c:ptCount val="1"/>
                <c:pt idx="0">
                  <c:v>1565.274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587.233</c:v>
                </c:pt>
                <c:pt idx="2">
                  <c:v>652.105</c:v>
                </c:pt>
                <c:pt idx="3">
                  <c:v>722.678</c:v>
                </c:pt>
                <c:pt idx="4">
                  <c:v>799.466</c:v>
                </c:pt>
                <c:pt idx="5">
                  <c:v>883.024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587.233</c:v>
                </c:pt>
                <c:pt idx="1">
                  <c:v>64.87200000000007</c:v>
                </c:pt>
                <c:pt idx="2">
                  <c:v>70.57299999999998</c:v>
                </c:pt>
                <c:pt idx="3">
                  <c:v>76.78800000000001</c:v>
                </c:pt>
                <c:pt idx="4">
                  <c:v>83.55799999999999</c:v>
                </c:pt>
                <c:pt idx="5">
                  <c:v>90.92999999999995</c:v>
                </c:pt>
                <c:pt idx="6">
                  <c:v>973.954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1632.702</c:v>
                </c:pt>
                <c:pt idx="2">
                  <c:v>1786.292</c:v>
                </c:pt>
                <c:pt idx="3">
                  <c:v>1953.045</c:v>
                </c:pt>
                <c:pt idx="4">
                  <c:v>2134.108</c:v>
                </c:pt>
                <c:pt idx="5">
                  <c:v>2330.72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1632.702</c:v>
                </c:pt>
                <c:pt idx="1">
                  <c:v>153.58999999999992</c:v>
                </c:pt>
                <c:pt idx="2">
                  <c:v>166.75300000000016</c:v>
                </c:pt>
                <c:pt idx="3">
                  <c:v>181.0630000000001</c:v>
                </c:pt>
                <c:pt idx="4">
                  <c:v>196.61199999999963</c:v>
                </c:pt>
                <c:pt idx="5">
                  <c:v>213.51500000000033</c:v>
                </c:pt>
                <c:pt idx="6">
                  <c:v>2544.235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238.521</c:v>
                </c:pt>
                <c:pt idx="2">
                  <c:v>244.352</c:v>
                </c:pt>
                <c:pt idx="3">
                  <c:v>250.404</c:v>
                </c:pt>
                <c:pt idx="4">
                  <c:v>256.666</c:v>
                </c:pt>
                <c:pt idx="5">
                  <c:v>263.127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238.521</c:v>
                </c:pt>
                <c:pt idx="1">
                  <c:v>5.831000000000017</c:v>
                </c:pt>
                <c:pt idx="2">
                  <c:v>6.0519999999999925</c:v>
                </c:pt>
                <c:pt idx="3">
                  <c:v>6.2620000000000005</c:v>
                </c:pt>
                <c:pt idx="4">
                  <c:v>6.461000000000013</c:v>
                </c:pt>
                <c:pt idx="5">
                  <c:v>6.6440000000000055</c:v>
                </c:pt>
                <c:pt idx="6">
                  <c:v>269.771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1138.544</c:v>
                </c:pt>
                <c:pt idx="2">
                  <c:v>1211.638</c:v>
                </c:pt>
                <c:pt idx="3">
                  <c:v>1290.41</c:v>
                </c:pt>
                <c:pt idx="4">
                  <c:v>1375.289</c:v>
                </c:pt>
                <c:pt idx="5">
                  <c:v>1466.742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1138.544</c:v>
                </c:pt>
                <c:pt idx="1">
                  <c:v>73.09399999999982</c:v>
                </c:pt>
                <c:pt idx="2">
                  <c:v>78.77200000000016</c:v>
                </c:pt>
                <c:pt idx="3">
                  <c:v>84.8789999999999</c:v>
                </c:pt>
                <c:pt idx="4">
                  <c:v>91.45299999999997</c:v>
                </c:pt>
                <c:pt idx="5">
                  <c:v>98.53199999999993</c:v>
                </c:pt>
                <c:pt idx="6">
                  <c:v>1565.274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(base)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44.05873192842413</c:v>
                </c:pt>
                <c:pt idx="1">
                  <c:v>45.390658882402</c:v>
                </c:pt>
                <c:pt idx="2">
                  <c:v>47.52706494802955</c:v>
                </c:pt>
              </c:numCache>
            </c:numRef>
          </c:val>
        </c:ser>
        <c:ser>
          <c:idx val="1"/>
          <c:order val="1"/>
          <c:tx>
            <c:strRef>
              <c:strCache>
                <c:ptCount val="1"/>
                <c:pt idx="0">
                  <c:v>and vegan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33.160073666074524</c:v>
                </c:pt>
                <c:pt idx="1">
                  <c:v>31.65259938837921</c:v>
                </c:pt>
                <c:pt idx="2">
                  <c:v>29.23978290506262</c:v>
                </c:pt>
              </c:numCache>
            </c:numRef>
          </c:val>
        </c:ser>
        <c:ser>
          <c:idx val="2"/>
          <c:order val="2"/>
          <c:tx>
            <c:strRef>
              <c:strCache>
                <c:ptCount val="1"/>
                <c:pt idx="0">
                  <c:v>Conventional</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15.153833056183103</c:v>
                </c:pt>
                <c:pt idx="1">
                  <c:v>16.32563247150403</c:v>
                </c:pt>
                <c:pt idx="2">
                  <c:v>18.19374979685177</c:v>
                </c:pt>
              </c:numCache>
            </c:numRef>
          </c:val>
        </c:ser>
        <c:ser>
          <c:idx val="3"/>
          <c:order val="3"/>
          <c:tx>
            <c:strRef>
              <c:strCache>
                <c:ptCount val="1"/>
                <c:pt idx="0">
                  <c:v>Vegan</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7.627361349318236</c:v>
                </c:pt>
                <c:pt idx="1">
                  <c:v>6.631109257714762</c:v>
                </c:pt>
                <c:pt idx="2">
                  <c:v>5.03940235005606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Standard / indulgent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21.11266391672884</c:v>
                </c:pt>
                <c:pt idx="1">
                  <c:v>17.233324753971324</c:v>
                </c:pt>
              </c:numCache>
            </c:numRef>
          </c:val>
        </c:ser>
        <c:ser>
          <c:idx val="1"/>
          <c:order val="1"/>
          <c:tx>
            <c:strRef>
              <c:strCache>
                <c:ptCount val="1"/>
                <c:pt idx="0">
                  <c:v>Protein-enriched</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19.606123877951394</c:v>
                </c:pt>
                <c:pt idx="1">
                  <c:v>26.81379395179913</c:v>
                </c:pt>
              </c:numCache>
            </c:numRef>
          </c:val>
        </c:ser>
        <c:ser>
          <c:idx val="2"/>
          <c:order val="2"/>
          <c:tx>
            <c:strRef>
              <c:strCache>
                <c:ptCount val="1"/>
                <c:pt idx="0">
                  <c:v>Fibre-enriched</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4.484925710962917</c:v>
                </c:pt>
                <c:pt idx="1">
                  <c:v>3.6038030307773763</c:v>
                </c:pt>
              </c:numCache>
            </c:numRef>
          </c:val>
        </c:ser>
        <c:ser>
          <c:idx val="3"/>
          <c:order val="3"/>
          <c:tx>
            <c:strRef>
              <c:strCache>
                <c:ptCount val="1"/>
                <c:pt idx="0">
                  <c:v>Reduced-sugar</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22.037771598414267</c:v>
                </c:pt>
                <c:pt idx="1">
                  <c:v>19.278796111415712</c:v>
                </c:pt>
              </c:numCache>
            </c:numRef>
          </c:val>
        </c:ser>
        <c:ser>
          <c:idx val="4"/>
          <c:order val="4"/>
          <c:tx>
            <c:strRef>
              <c:strCache>
                <c:ptCount val="1"/>
                <c:pt idx="0">
                  <c:v>No-added-sugar</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7.356360860811208</c:v>
                </c:pt>
                <c:pt idx="1">
                  <c:v>7.708404385503889</c:v>
                </c:pt>
              </c:numCache>
            </c:numRef>
          </c:val>
        </c:ser>
        <c:ser>
          <c:idx val="5"/>
          <c:order val="5"/>
          <c:tx>
            <c:strRef>
              <c:strCache>
                <c:ptCount val="1"/>
                <c:pt idx="0">
                  <c:v>Reduced-fat</c:v>
                </c:pt>
              </c:strCache>
            </c:strRef>
          </c:tx>
          <c:spPr>
            <a:solidFill>
              <a:srgbClr val="808080"/>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15.146487807927187</c:v>
                </c:pt>
                <c:pt idx="1">
                  <c:v>13.449105774667904</c:v>
                </c:pt>
              </c:numCache>
            </c:numRef>
          </c:val>
        </c:ser>
        <c:ser>
          <c:idx val="6"/>
          <c:order val="6"/>
          <c:tx>
            <c:strRef>
              <c:strCache>
                <c:ptCount val="1"/>
                <c:pt idx="0">
                  <c:v>Other nutrition-focused formulations</c:v>
                </c:pt>
              </c:strCache>
            </c:strRef>
          </c:tx>
          <c:spPr>
            <a:solidFill>
              <a:srgbClr val="0E72AE"/>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10.2556662272042</c:v>
                </c:pt>
                <c:pt idx="1">
                  <c:v>11.912771991864659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Standard / indulgent</c:v>
                </c:pt>
              </c:strCache>
            </c:strRef>
          </c:tx>
          <c:spPr>
            <a:solidFill>
              <a:srgbClr val="3D85C6"/>
            </a:solidFill>
          </c:spPr>
          <c:invertIfNegative val="0"/>
          <c:xVal>
            <c:numRef>
              <c:numCache>
                <c:formatCode>General</c:formatCode>
                <c:ptCount val="1"/>
                <c:pt idx="0">
                  <c:v>89.91541165369776</c:v>
                </c:pt>
              </c:numCache>
            </c:numRef>
          </c:xVal>
          <c:yVal>
            <c:numRef>
              <c:numCache>
                <c:formatCode>General</c:formatCode>
                <c:ptCount val="1"/>
                <c:pt idx="0">
                  <c:v>134.68062274117318</c:v>
                </c:pt>
              </c:numCache>
            </c:numRef>
          </c:yVal>
          <c:bubbleSize>
            <c:numRef>
              <c:numCache>
                <c:formatCode>General</c:formatCode>
                <c:ptCount val="1"/>
                <c:pt idx="0">
                  <c:v>990.188</c:v>
                </c:pt>
              </c:numCache>
            </c:numRef>
          </c:bubbleSize>
          <c:bubble3D val="0"/>
        </c:ser>
        <c:ser>
          <c:idx val="1"/>
          <c:order val="1"/>
          <c:tx>
            <c:strRef>
              <c:strCache>
                <c:ptCount val="1"/>
                <c:pt idx="0">
                  <c:v>Protein-enriched</c:v>
                </c:pt>
              </c:strCache>
            </c:strRef>
          </c:tx>
          <c:spPr>
            <a:solidFill>
              <a:srgbClr val="9E7E0A"/>
            </a:solidFill>
          </c:spPr>
          <c:invertIfNegative val="0"/>
          <c:xVal>
            <c:numRef>
              <c:numCache>
                <c:formatCode>General</c:formatCode>
                <c:ptCount val="1"/>
                <c:pt idx="0">
                  <c:v>128.13273231332042</c:v>
                </c:pt>
              </c:numCache>
            </c:numRef>
          </c:xVal>
          <c:yVal>
            <c:numRef>
              <c:numCache>
                <c:formatCode>General</c:formatCode>
                <c:ptCount val="1"/>
                <c:pt idx="0">
                  <c:v>153.56544342507647</c:v>
                </c:pt>
              </c:numCache>
            </c:numRef>
          </c:yVal>
          <c:bubbleSize>
            <c:numRef>
              <c:numCache>
                <c:formatCode>General</c:formatCode>
                <c:ptCount val="1"/>
                <c:pt idx="0">
                  <c:v>1309.718</c:v>
                </c:pt>
              </c:numCache>
            </c:numRef>
          </c:bubbleSize>
          <c:bubble3D val="0"/>
        </c:ser>
        <c:ser>
          <c:idx val="2"/>
          <c:order val="2"/>
          <c:tx>
            <c:strRef>
              <c:strCache>
                <c:ptCount val="1"/>
                <c:pt idx="0">
                  <c:v>Fibre-enriched</c:v>
                </c:pt>
              </c:strCache>
            </c:strRef>
          </c:tx>
          <c:spPr>
            <a:solidFill>
              <a:srgbClr val="008189"/>
            </a:solidFill>
          </c:spPr>
          <c:invertIfNegative val="0"/>
          <c:xVal>
            <c:numRef>
              <c:numCache>
                <c:formatCode>General</c:formatCode>
                <c:ptCount val="1"/>
                <c:pt idx="0">
                  <c:v>158.44129512804915</c:v>
                </c:pt>
              </c:numCache>
            </c:numRef>
          </c:xVal>
          <c:yVal>
            <c:numRef>
              <c:numCache>
                <c:formatCode>General</c:formatCode>
                <c:ptCount val="1"/>
                <c:pt idx="0">
                  <c:v>21.74281345565749</c:v>
                </c:pt>
              </c:numCache>
            </c:numRef>
          </c:yVal>
          <c:bubbleSize>
            <c:numRef>
              <c:numCache>
                <c:formatCode>General</c:formatCode>
                <c:ptCount val="1"/>
                <c:pt idx="0">
                  <c:v>208.285</c:v>
                </c:pt>
              </c:numCache>
            </c:numRef>
          </c:bubbleSize>
          <c:bubble3D val="0"/>
        </c:ser>
        <c:ser>
          <c:idx val="3"/>
          <c:order val="3"/>
          <c:tx>
            <c:strRef>
              <c:strCache>
                <c:ptCount val="1"/>
                <c:pt idx="0">
                  <c:v>Reduced-sugar</c:v>
                </c:pt>
              </c:strCache>
            </c:strRef>
          </c:tx>
          <c:spPr>
            <a:solidFill>
              <a:srgbClr val="40315E"/>
            </a:solidFill>
          </c:spPr>
          <c:invertIfNegative val="0"/>
          <c:xVal>
            <c:numRef>
              <c:numCache>
                <c:formatCode>General</c:formatCode>
                <c:ptCount val="1"/>
                <c:pt idx="0">
                  <c:v>122.48688948395652</c:v>
                </c:pt>
              </c:numCache>
            </c:numRef>
          </c:xVal>
          <c:yVal>
            <c:numRef>
              <c:numCache>
                <c:formatCode>General</c:formatCode>
                <c:ptCount val="1"/>
                <c:pt idx="0">
                  <c:v>129.43869891576313</c:v>
                </c:pt>
              </c:numCache>
            </c:numRef>
          </c:yVal>
          <c:bubbleSize>
            <c:numRef>
              <c:numCache>
                <c:formatCode>General</c:formatCode>
                <c:ptCount val="1"/>
                <c:pt idx="0">
                  <c:v>1080.15</c:v>
                </c:pt>
              </c:numCache>
            </c:numRef>
          </c:bubbleSize>
          <c:bubble3D val="0"/>
        </c:ser>
        <c:ser>
          <c:idx val="4"/>
          <c:order val="4"/>
          <c:tx>
            <c:strRef>
              <c:strCache>
                <c:ptCount val="1"/>
                <c:pt idx="0">
                  <c:v>No-added-sugar</c:v>
                </c:pt>
              </c:strCache>
            </c:strRef>
          </c:tx>
          <c:spPr>
            <a:solidFill>
              <a:srgbClr val="A35313"/>
            </a:solidFill>
          </c:spPr>
          <c:invertIfNegative val="0"/>
          <c:xVal>
            <c:numRef>
              <c:numCache>
                <c:formatCode>General</c:formatCode>
                <c:ptCount val="1"/>
                <c:pt idx="0">
                  <c:v>82.57112115193229</c:v>
                </c:pt>
              </c:numCache>
            </c:numRef>
          </c:xVal>
          <c:yVal>
            <c:numRef>
              <c:numCache>
                <c:formatCode>General</c:formatCode>
                <c:ptCount val="1"/>
                <c:pt idx="0">
                  <c:v>56.906088407005825</c:v>
                </c:pt>
              </c:numCache>
            </c:numRef>
          </c:yVal>
          <c:bubbleSize>
            <c:numRef>
              <c:numCache>
                <c:formatCode>General</c:formatCode>
                <c:ptCount val="1"/>
                <c:pt idx="0">
                  <c:v>406.51</c:v>
                </c:pt>
              </c:numCache>
            </c:numRef>
          </c:bubbleSize>
          <c:bubble3D val="0"/>
        </c:ser>
        <c:ser>
          <c:idx val="5"/>
          <c:order val="5"/>
          <c:tx>
            <c:strRef>
              <c:strCache>
                <c:ptCount val="1"/>
                <c:pt idx="0">
                  <c:v>Reduced-fat</c:v>
                </c:pt>
              </c:strCache>
            </c:strRef>
          </c:tx>
          <c:spPr>
            <a:solidFill>
              <a:srgbClr val="808080"/>
            </a:solidFill>
          </c:spPr>
          <c:invertIfNegative val="0"/>
          <c:xVal>
            <c:numRef>
              <c:numCache>
                <c:formatCode>General</c:formatCode>
                <c:ptCount val="1"/>
                <c:pt idx="0">
                  <c:v>91.53311929856372</c:v>
                </c:pt>
              </c:numCache>
            </c:numRef>
          </c:xVal>
          <c:yVal>
            <c:numRef>
              <c:numCache>
                <c:formatCode>General</c:formatCode>
                <c:ptCount val="1"/>
                <c:pt idx="0">
                  <c:v>101.30850708924102</c:v>
                </c:pt>
              </c:numCache>
            </c:numRef>
          </c:yVal>
          <c:bubbleSize>
            <c:numRef>
              <c:numCache>
                <c:formatCode>General</c:formatCode>
                <c:ptCount val="1"/>
                <c:pt idx="0">
                  <c:v>749.561</c:v>
                </c:pt>
              </c:numCache>
            </c:numRef>
          </c:bubbleSize>
          <c:bubble3D val="0"/>
        </c:ser>
        <c:ser>
          <c:idx val="6"/>
          <c:order val="6"/>
          <c:tx>
            <c:strRef>
              <c:strCache>
                <c:ptCount val="1"/>
                <c:pt idx="0">
                  <c:v>Other nutrition-focused formulations</c:v>
                </c:pt>
              </c:strCache>
            </c:strRef>
          </c:tx>
          <c:spPr>
            <a:solidFill>
              <a:srgbClr val="0E72AE"/>
            </a:solidFill>
          </c:spPr>
          <c:invertIfNegative val="0"/>
          <c:xVal>
            <c:numRef>
              <c:numCache>
                <c:formatCode>General</c:formatCode>
                <c:ptCount val="1"/>
                <c:pt idx="0">
                  <c:v>36.32820505201673</c:v>
                </c:pt>
              </c:numCache>
            </c:numRef>
          </c:xVal>
          <c:yVal>
            <c:numRef>
              <c:numCache>
                <c:formatCode>General</c:formatCode>
                <c:ptCount val="1"/>
                <c:pt idx="0">
                  <c:v>102.35782596608283</c:v>
                </c:pt>
              </c:numCache>
            </c:numRef>
          </c:yVal>
          <c:bubbleSize>
            <c:numRef>
              <c:numCache>
                <c:formatCode>General</c:formatCode>
                <c:ptCount val="1"/>
                <c:pt idx="0">
                  <c:v>608.822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692.066</c:v>
                </c:pt>
                <c:pt idx="2">
                  <c:v>743.856</c:v>
                </c:pt>
                <c:pt idx="3">
                  <c:v>799.328</c:v>
                </c:pt>
                <c:pt idx="4">
                  <c:v>858.711</c:v>
                </c:pt>
                <c:pt idx="5">
                  <c:v>922.247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692.066</c:v>
                </c:pt>
                <c:pt idx="1">
                  <c:v>51.789999999999964</c:v>
                </c:pt>
                <c:pt idx="2">
                  <c:v>55.47199999999998</c:v>
                </c:pt>
                <c:pt idx="3">
                  <c:v>59.38300000000004</c:v>
                </c:pt>
                <c:pt idx="4">
                  <c:v>63.535999999999945</c:v>
                </c:pt>
                <c:pt idx="5">
                  <c:v>67.94100000000003</c:v>
                </c:pt>
                <c:pt idx="6">
                  <c:v>990.188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789.107</c:v>
                </c:pt>
                <c:pt idx="2">
                  <c:v>872.962</c:v>
                </c:pt>
                <c:pt idx="3">
                  <c:v>965.884</c:v>
                </c:pt>
                <c:pt idx="4">
                  <c:v>1068.884</c:v>
                </c:pt>
                <c:pt idx="5">
                  <c:v>1183.078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789.107</c:v>
                </c:pt>
                <c:pt idx="1">
                  <c:v>83.85500000000002</c:v>
                </c:pt>
                <c:pt idx="2">
                  <c:v>92.92200000000003</c:v>
                </c:pt>
                <c:pt idx="3">
                  <c:v>103.0</c:v>
                </c:pt>
                <c:pt idx="4">
                  <c:v>114.19399999999996</c:v>
                </c:pt>
                <c:pt idx="5">
                  <c:v>126.6400000000001</c:v>
                </c:pt>
                <c:pt idx="6">
                  <c:v>1309.718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111.727</c:v>
                </c:pt>
                <c:pt idx="2">
                  <c:v>126.719</c:v>
                </c:pt>
                <c:pt idx="3">
                  <c:v>143.618</c:v>
                </c:pt>
                <c:pt idx="4">
                  <c:v>162.66</c:v>
                </c:pt>
                <c:pt idx="5">
                  <c:v>184.115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111.727</c:v>
                </c:pt>
                <c:pt idx="1">
                  <c:v>14.99199999999999</c:v>
                </c:pt>
                <c:pt idx="2">
                  <c:v>16.899</c:v>
                </c:pt>
                <c:pt idx="3">
                  <c:v>19.042</c:v>
                </c:pt>
                <c:pt idx="4">
                  <c:v>21.455000000000013</c:v>
                </c:pt>
                <c:pt idx="5">
                  <c:v>24.169999999999987</c:v>
                </c:pt>
                <c:pt idx="6">
                  <c:v>208.285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665.13</c:v>
                </c:pt>
                <c:pt idx="2">
                  <c:v>732.506</c:v>
                </c:pt>
                <c:pt idx="3">
                  <c:v>806.898</c:v>
                </c:pt>
                <c:pt idx="4">
                  <c:v>889.061</c:v>
                </c:pt>
                <c:pt idx="5">
                  <c:v>979.834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665.13</c:v>
                </c:pt>
                <c:pt idx="1">
                  <c:v>67.37599999999998</c:v>
                </c:pt>
                <c:pt idx="2">
                  <c:v>74.39200000000005</c:v>
                </c:pt>
                <c:pt idx="3">
                  <c:v>82.16300000000001</c:v>
                </c:pt>
                <c:pt idx="4">
                  <c:v>90.77299999999991</c:v>
                </c:pt>
                <c:pt idx="5">
                  <c:v>100.31600000000014</c:v>
                </c:pt>
                <c:pt idx="6">
                  <c:v>1080.15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292.416</c:v>
                </c:pt>
                <c:pt idx="2">
                  <c:v>312.649</c:v>
                </c:pt>
                <c:pt idx="3">
                  <c:v>334.124</c:v>
                </c:pt>
                <c:pt idx="4">
                  <c:v>356.893</c:v>
                </c:pt>
                <c:pt idx="5">
                  <c:v>381.007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292.416</c:v>
                </c:pt>
                <c:pt idx="1">
                  <c:v>20.233000000000004</c:v>
                </c:pt>
                <c:pt idx="2">
                  <c:v>21.475000000000023</c:v>
                </c:pt>
                <c:pt idx="3">
                  <c:v>22.76899999999995</c:v>
                </c:pt>
                <c:pt idx="4">
                  <c:v>24.114000000000033</c:v>
                </c:pt>
                <c:pt idx="5">
                  <c:v>25.502999999999986</c:v>
                </c:pt>
                <c:pt idx="6">
                  <c:v>406.51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520.581</c:v>
                </c:pt>
                <c:pt idx="2">
                  <c:v>560.175</c:v>
                </c:pt>
                <c:pt idx="3">
                  <c:v>602.669</c:v>
                </c:pt>
                <c:pt idx="4">
                  <c:v>648.259</c:v>
                </c:pt>
                <c:pt idx="5">
                  <c:v>697.15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520.581</c:v>
                </c:pt>
                <c:pt idx="1">
                  <c:v>39.59399999999994</c:v>
                </c:pt>
                <c:pt idx="2">
                  <c:v>42.49400000000003</c:v>
                </c:pt>
                <c:pt idx="3">
                  <c:v>45.59000000000003</c:v>
                </c:pt>
                <c:pt idx="4">
                  <c:v>48.89099999999996</c:v>
                </c:pt>
                <c:pt idx="5">
                  <c:v>52.41100000000006</c:v>
                </c:pt>
                <c:pt idx="6">
                  <c:v>749.561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525.973</c:v>
                </c:pt>
                <c:pt idx="2">
                  <c:v>545.52</c:v>
                </c:pt>
                <c:pt idx="3">
                  <c:v>564.016</c:v>
                </c:pt>
                <c:pt idx="4">
                  <c:v>581.061</c:v>
                </c:pt>
                <c:pt idx="5">
                  <c:v>596.182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525.973</c:v>
                </c:pt>
                <c:pt idx="1">
                  <c:v>19.547000000000025</c:v>
                </c:pt>
                <c:pt idx="2">
                  <c:v>18.49599999999998</c:v>
                </c:pt>
                <c:pt idx="3">
                  <c:v>17.045000000000073</c:v>
                </c:pt>
                <c:pt idx="4">
                  <c:v>15.120999999999981</c:v>
                </c:pt>
                <c:pt idx="5">
                  <c:v>12.639999999999986</c:v>
                </c:pt>
                <c:pt idx="6">
                  <c:v>608.822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Protein-enriched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20.797814286077752</c:v>
                </c:pt>
                <c:pt idx="1">
                  <c:v>21.937920489296637</c:v>
                </c:pt>
                <c:pt idx="2">
                  <c:v>24.465920974125176</c:v>
                </c:pt>
              </c:numCache>
            </c:numRef>
          </c:val>
        </c:ser>
        <c:ser>
          <c:idx val="1"/>
          <c:order val="1"/>
          <c:tx>
            <c:strRef>
              <c:strCache>
                <c:ptCount val="1"/>
                <c:pt idx="0">
                  <c:v>Reduced-sugar</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17.73380921843635</c:v>
                </c:pt>
                <c:pt idx="1">
                  <c:v>18.491242702251874</c:v>
                </c:pt>
                <c:pt idx="2">
                  <c:v>20.177522596621035</c:v>
                </c:pt>
              </c:numCache>
            </c:numRef>
          </c:val>
        </c:ser>
        <c:ser>
          <c:idx val="2"/>
          <c:order val="2"/>
          <c:tx>
            <c:strRef>
              <c:strCache>
                <c:ptCount val="1"/>
                <c:pt idx="0">
                  <c:v>Standard / indulgent</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19.569981139867032</c:v>
                </c:pt>
                <c:pt idx="1">
                  <c:v>19.240088963024743</c:v>
                </c:pt>
                <c:pt idx="2">
                  <c:v>18.497005735224725</c:v>
                </c:pt>
              </c:numCache>
            </c:numRef>
          </c:val>
        </c:ser>
        <c:ser>
          <c:idx val="3"/>
          <c:order val="3"/>
          <c:tx>
            <c:strRef>
              <c:strCache>
                <c:ptCount val="1"/>
                <c:pt idx="0">
                  <c:v>Reduced-fat</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14.682655919022118</c:v>
                </c:pt>
                <c:pt idx="1">
                  <c:v>14.472643869891577</c:v>
                </c:pt>
                <c:pt idx="2">
                  <c:v>14.002021955326443</c:v>
                </c:pt>
              </c:numCache>
            </c:numRef>
          </c:val>
        </c:ser>
        <c:ser>
          <c:idx val="4"/>
          <c:order val="4"/>
          <c:tx>
            <c:strRef>
              <c:strCache>
                <c:ptCount val="1"/>
                <c:pt idx="0">
                  <c:v>Other nutrition-focused formulations</c:v>
                </c:pt>
              </c:strCache>
            </c:strRef>
          </c:tx>
          <c:spPr>
            <a:solidFill>
              <a:srgbClr val="A35313"/>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16.090185489505586</c:v>
                </c:pt>
                <c:pt idx="1">
                  <c:v>14.622546566583264</c:v>
                </c:pt>
                <c:pt idx="2">
                  <c:v>11.372975662935712</c:v>
                </c:pt>
              </c:numCache>
            </c:numRef>
          </c:val>
        </c:ser>
        <c:ser>
          <c:idx val="5"/>
          <c:order val="5"/>
          <c:tx>
            <c:strRef>
              <c:strCache>
                <c:ptCount val="1"/>
                <c:pt idx="0">
                  <c:v>No-added-sugar</c:v>
                </c:pt>
              </c:strCache>
            </c:strRef>
          </c:tx>
          <c:spPr>
            <a:solidFill>
              <a:srgbClr val="808080"/>
            </a:solidFill>
            <a:ln>
              <a:noFill/>
            </a:ln>
          </c:spPr>
          <c:dLbls>
            <c:dLbl>
              <c:idx val="0"/>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8.370937259233212</c:v>
                </c:pt>
                <c:pt idx="1">
                  <c:v>8.129441201000834</c:v>
                </c:pt>
                <c:pt idx="2">
                  <c:v>7.593727455216789</c:v>
                </c:pt>
              </c:numCache>
            </c:numRef>
          </c:val>
        </c:ser>
        <c:ser>
          <c:idx val="6"/>
          <c:order val="6"/>
          <c:tx>
            <c:strRef>
              <c:strCache>
                <c:ptCount val="1"/>
                <c:pt idx="0">
                  <c:v>Fibre-enriched</c:v>
                </c:pt>
              </c:strCache>
            </c:strRef>
          </c:tx>
          <c:spPr>
            <a:solidFill>
              <a:srgbClr val="0E72AE"/>
            </a:solidFill>
            <a:ln>
              <a:noFill/>
            </a:ln>
          </c:spPr>
          <c:dLbls>
            <c:dLbl>
              <c:idx val="0"/>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2.754616687857949</c:v>
                </c:pt>
                <c:pt idx="1">
                  <c:v>3.1061162079510702</c:v>
                </c:pt>
                <c:pt idx="2">
                  <c:v>3.8908256205501193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Organic-certified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15.037300786731484</c:v>
                </c:pt>
                <c:pt idx="1">
                  <c:v>13.02385939967923</c:v>
                </c:pt>
              </c:numCache>
            </c:numRef>
          </c:val>
        </c:ser>
        <c:ser>
          <c:idx val="1"/>
          <c:order val="1"/>
          <c:tx>
            <c:strRef>
              <c:strCache>
                <c:ptCount val="1"/>
                <c:pt idx="0">
                  <c:v>Conventional / non-organic</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1.5877421511792944</c:v>
                </c:pt>
                <c:pt idx="1">
                  <c:v>1.472999805786886</c:v>
                </c:pt>
              </c:numCache>
            </c:numRef>
          </c:val>
        </c:ser>
        <c:ser>
          <c:idx val="2"/>
          <c:order val="2"/>
          <c:tx>
            <c:strRef>
              <c:strCache>
                <c:ptCount val="1"/>
                <c:pt idx="0">
                  <c:v>Additional claim mapping</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83.37495706208922</c:v>
                </c:pt>
                <c:pt idx="1">
                  <c:v>85.50314079453388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Organic-certified</c:v>
                </c:pt>
              </c:strCache>
            </c:strRef>
          </c:tx>
          <c:spPr>
            <a:solidFill>
              <a:srgbClr val="3D85C6"/>
            </a:solidFill>
          </c:spPr>
          <c:invertIfNegative val="0"/>
          <c:xVal>
            <c:numRef>
              <c:numCache>
                <c:formatCode>General</c:formatCode>
                <c:ptCount val="1"/>
                <c:pt idx="0">
                  <c:v>59.69729305957804</c:v>
                </c:pt>
              </c:numCache>
            </c:numRef>
          </c:xVal>
          <c:yVal>
            <c:numRef>
              <c:numCache>
                <c:formatCode>General</c:formatCode>
                <c:ptCount val="1"/>
                <c:pt idx="0">
                  <c:v>48.080400333611344</c:v>
                </c:pt>
              </c:numCache>
            </c:numRef>
          </c:yVal>
          <c:bubbleSize>
            <c:numRef>
              <c:numCache>
                <c:formatCode>General</c:formatCode>
                <c:ptCount val="1"/>
                <c:pt idx="0">
                  <c:v>732.308</c:v>
                </c:pt>
              </c:numCache>
            </c:numRef>
          </c:bubbleSize>
          <c:bubble3D val="0"/>
        </c:ser>
        <c:ser>
          <c:idx val="1"/>
          <c:order val="1"/>
          <c:tx>
            <c:strRef>
              <c:strCache>
                <c:ptCount val="1"/>
                <c:pt idx="0">
                  <c:v>Conventional / non-organic</c:v>
                </c:pt>
              </c:strCache>
            </c:strRef>
          </c:tx>
          <c:spPr>
            <a:solidFill>
              <a:srgbClr val="9E7E0A"/>
            </a:solidFill>
          </c:spPr>
          <c:invertIfNegative val="0"/>
          <c:xVal>
            <c:numRef>
              <c:numCache>
                <c:formatCode>General</c:formatCode>
                <c:ptCount val="1"/>
                <c:pt idx="0">
                  <c:v>50.61798119207507</c:v>
                </c:pt>
              </c:numCache>
            </c:numRef>
          </c:xVal>
          <c:yVal>
            <c:numRef>
              <c:numCache>
                <c:formatCode>General</c:formatCode>
                <c:ptCount val="1"/>
                <c:pt idx="0">
                  <c:v>5.503252710592159</c:v>
                </c:pt>
              </c:numCache>
            </c:numRef>
          </c:yVal>
          <c:bubbleSize>
            <c:numRef>
              <c:numCache>
                <c:formatCode>General</c:formatCode>
                <c:ptCount val="1"/>
                <c:pt idx="0">
                  <c:v>80.854</c:v>
                </c:pt>
              </c:numCache>
            </c:numRef>
          </c:bubbleSize>
          <c:bubble3D val="0"/>
        </c:ser>
        <c:ser>
          <c:idx val="2"/>
          <c:order val="2"/>
          <c:tx>
            <c:strRef>
              <c:strCache>
                <c:ptCount val="1"/>
                <c:pt idx="0">
                  <c:v>Additional claim mapping</c:v>
                </c:pt>
              </c:strCache>
            </c:strRef>
          </c:tx>
          <c:spPr>
            <a:solidFill>
              <a:srgbClr val="008189"/>
            </a:solidFill>
          </c:spPr>
          <c:invertIfNegative val="0"/>
          <c:xVal>
            <c:numRef>
              <c:numCache>
                <c:formatCode>General</c:formatCode>
                <c:ptCount val="1"/>
                <c:pt idx="0">
                  <c:v>108.22297601619515</c:v>
                </c:pt>
              </c:numCache>
            </c:numRef>
          </c:xVal>
          <c:yVal>
            <c:numRef>
              <c:numCache>
                <c:formatCode>General</c:formatCode>
                <c:ptCount val="1"/>
                <c:pt idx="0">
                  <c:v>246.4163469557965</c:v>
                </c:pt>
              </c:numCache>
            </c:numRef>
          </c:yVal>
          <c:bubbleSize>
            <c:numRef>
              <c:numCache>
                <c:formatCode>General</c:formatCode>
                <c:ptCount val="1"/>
                <c:pt idx="0">
                  <c:v>4540.072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3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576.484</c:v>
                </c:pt>
                <c:pt idx="2">
                  <c:v>606.137</c:v>
                </c:pt>
                <c:pt idx="3">
                  <c:v>636.636</c:v>
                </c:pt>
                <c:pt idx="4">
                  <c:v>667.902</c:v>
                </c:pt>
                <c:pt idx="5">
                  <c:v>699.832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576.484</c:v>
                </c:pt>
                <c:pt idx="1">
                  <c:v>29.652999999999906</c:v>
                </c:pt>
                <c:pt idx="2">
                  <c:v>30.499000000000024</c:v>
                </c:pt>
                <c:pt idx="3">
                  <c:v>31.266000000000076</c:v>
                </c:pt>
                <c:pt idx="4">
                  <c:v>31.92999999999995</c:v>
                </c:pt>
                <c:pt idx="5">
                  <c:v>32.476</c:v>
                </c:pt>
                <c:pt idx="6">
                  <c:v>732.308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65.984</c:v>
                </c:pt>
                <c:pt idx="2">
                  <c:v>68.951</c:v>
                </c:pt>
                <c:pt idx="3">
                  <c:v>71.942</c:v>
                </c:pt>
                <c:pt idx="4">
                  <c:v>74.938</c:v>
                </c:pt>
                <c:pt idx="5">
                  <c:v>77.918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65.984</c:v>
                </c:pt>
                <c:pt idx="1">
                  <c:v>2.9669999999999987</c:v>
                </c:pt>
                <c:pt idx="2">
                  <c:v>2.9909999999999997</c:v>
                </c:pt>
                <c:pt idx="3">
                  <c:v>2.9960000000000093</c:v>
                </c:pt>
                <c:pt idx="4">
                  <c:v>2.980000000000004</c:v>
                </c:pt>
                <c:pt idx="5">
                  <c:v>2.935999999999993</c:v>
                </c:pt>
                <c:pt idx="6">
                  <c:v>80.854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2954.532</c:v>
                </c:pt>
                <c:pt idx="2">
                  <c:v>3219.299</c:v>
                </c:pt>
                <c:pt idx="3">
                  <c:v>3507.959</c:v>
                </c:pt>
                <c:pt idx="4">
                  <c:v>3822.689</c:v>
                </c:pt>
                <c:pt idx="5">
                  <c:v>4165.863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2954.532</c:v>
                </c:pt>
                <c:pt idx="1">
                  <c:v>264.7669999999998</c:v>
                </c:pt>
                <c:pt idx="2">
                  <c:v>288.65999999999985</c:v>
                </c:pt>
                <c:pt idx="3">
                  <c:v>314.73</c:v>
                </c:pt>
                <c:pt idx="4">
                  <c:v>343.17400000000043</c:v>
                </c:pt>
                <c:pt idx="5">
                  <c:v>374.20899999999983</c:v>
                </c:pt>
                <c:pt idx="6">
                  <c:v>4540.072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Additional claim mapping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80.83954665224485</c:v>
                </c:pt>
                <c:pt idx="1">
                  <c:v>82.13878231859883</c:v>
                </c:pt>
                <c:pt idx="2">
                  <c:v>84.80989248741975</c:v>
                </c:pt>
              </c:numCache>
            </c:numRef>
          </c:val>
        </c:ser>
        <c:ser>
          <c:idx val="1"/>
          <c:order val="1"/>
          <c:tx>
            <c:strRef>
              <c:strCache>
                <c:ptCount val="1"/>
                <c:pt idx="0">
                  <c:v>Organic-certified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17.168233560337747</c:v>
                </c:pt>
                <c:pt idx="1">
                  <c:v>16.02680011120378</c:v>
                </c:pt>
                <c:pt idx="2">
                  <c:v>13.679730794506648</c:v>
                </c:pt>
              </c:numCache>
            </c:numRef>
          </c:val>
        </c:ser>
        <c:ser>
          <c:idx val="2"/>
          <c:order val="2"/>
          <c:tx>
            <c:strRef>
              <c:strCache>
                <c:ptCount val="1"/>
                <c:pt idx="0">
                  <c:v>Conventional / non-organic</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1.9922197874174015</c:v>
                </c:pt>
                <c:pt idx="1">
                  <c:v>1.8344175701973866</c:v>
                </c:pt>
                <c:pt idx="2">
                  <c:v>1.510376718073598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Unfilled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34.340121011792085</c:v>
                </c:pt>
                <c:pt idx="1">
                  <c:v>36.29039653552618</c:v>
                </c:pt>
              </c:numCache>
            </c:numRef>
          </c:val>
        </c:ser>
        <c:ser>
          <c:idx val="1"/>
          <c:order val="1"/>
          <c:tx>
            <c:strRef>
              <c:strCache>
                <c:ptCount val="1"/>
                <c:pt idx="0">
                  <c:v>Filled muffins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65.65987898820791</c:v>
                </c:pt>
                <c:pt idx="1">
                  <c:v>63.709603464473815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Unfilled muffins</c:v>
                </c:pt>
              </c:strCache>
            </c:strRef>
          </c:tx>
          <c:spPr>
            <a:solidFill>
              <a:srgbClr val="3D85C6"/>
            </a:solidFill>
          </c:spPr>
          <c:invertIfNegative val="0"/>
          <c:xVal>
            <c:numRef>
              <c:numCache>
                <c:formatCode>General</c:formatCode>
                <c:ptCount val="1"/>
                <c:pt idx="0">
                  <c:v>96.85364529681789</c:v>
                </c:pt>
              </c:numCache>
            </c:numRef>
          </c:xVal>
          <c:yVal>
            <c:numRef>
              <c:numCache>
                <c:formatCode>General</c:formatCode>
                <c:ptCount val="1"/>
                <c:pt idx="0">
                  <c:v>72.19071448429246</c:v>
                </c:pt>
              </c:numCache>
            </c:numRef>
          </c:yVal>
          <c:bubbleSize>
            <c:numRef>
              <c:numCache>
                <c:formatCode>General</c:formatCode>
                <c:ptCount val="1"/>
                <c:pt idx="0">
                  <c:v>1908.701</c:v>
                </c:pt>
              </c:numCache>
            </c:numRef>
          </c:bubbleSize>
          <c:bubble3D val="0"/>
        </c:ser>
        <c:ser>
          <c:idx val="1"/>
          <c:order val="1"/>
          <c:tx>
            <c:strRef>
              <c:strCache>
                <c:ptCount val="1"/>
                <c:pt idx="0">
                  <c:v>Filled muffins</c:v>
                </c:pt>
              </c:strCache>
            </c:strRef>
          </c:tx>
          <c:spPr>
            <a:solidFill>
              <a:srgbClr val="9E7E0A"/>
            </a:solidFill>
          </c:spPr>
          <c:invertIfNegative val="0"/>
          <c:xVal>
            <c:numRef>
              <c:numCache>
                <c:formatCode>General</c:formatCode>
                <c:ptCount val="1"/>
                <c:pt idx="0">
                  <c:v>101.76192876506514</c:v>
                </c:pt>
              </c:numCache>
            </c:numRef>
          </c:xVal>
          <c:yVal>
            <c:numRef>
              <c:numCache>
                <c:formatCode>General</c:formatCode>
                <c:ptCount val="1"/>
                <c:pt idx="0">
                  <c:v>127.80928551570754</c:v>
                </c:pt>
              </c:numCache>
            </c:numRef>
          </c:yVal>
          <c:bubbleSize>
            <c:numRef>
              <c:numCache>
                <c:formatCode>General</c:formatCode>
                <c:ptCount val="1"/>
                <c:pt idx="0">
                  <c:v>3444.5330000000004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1298.35</c:v>
                </c:pt>
                <c:pt idx="2">
                  <c:v>1402.373</c:v>
                </c:pt>
                <c:pt idx="3">
                  <c:v>1514.728</c:v>
                </c:pt>
                <c:pt idx="4">
                  <c:v>1636.079</c:v>
                </c:pt>
                <c:pt idx="5">
                  <c:v>1767.143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1298.35</c:v>
                </c:pt>
                <c:pt idx="1">
                  <c:v>104.02300000000014</c:v>
                </c:pt>
                <c:pt idx="2">
                  <c:v>112.35500000000002</c:v>
                </c:pt>
                <c:pt idx="3">
                  <c:v>121.35099999999989</c:v>
                </c:pt>
                <c:pt idx="4">
                  <c:v>131.06400000000008</c:v>
                </c:pt>
                <c:pt idx="5">
                  <c:v>141.558</c:v>
                </c:pt>
                <c:pt idx="6">
                  <c:v>1908.701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2298.65</c:v>
                </c:pt>
                <c:pt idx="2">
                  <c:v>2492.014</c:v>
                </c:pt>
                <c:pt idx="3">
                  <c:v>2701.809</c:v>
                </c:pt>
                <c:pt idx="4">
                  <c:v>2929.45</c:v>
                </c:pt>
                <c:pt idx="5">
                  <c:v>3176.47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2298.65</c:v>
                </c:pt>
                <c:pt idx="1">
                  <c:v>193.36400000000003</c:v>
                </c:pt>
                <c:pt idx="2">
                  <c:v>209.79500000000007</c:v>
                </c:pt>
                <c:pt idx="3">
                  <c:v>227.64099999999962</c:v>
                </c:pt>
                <c:pt idx="4">
                  <c:v>247.01999999999998</c:v>
                </c:pt>
                <c:pt idx="5">
                  <c:v>268.06300000000056</c:v>
                </c:pt>
                <c:pt idx="6">
                  <c:v>3444.5330000000004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Filled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63.6977016210842</c:v>
                </c:pt>
                <c:pt idx="1">
                  <c:v>63.90464275785377</c:v>
                </c:pt>
                <c:pt idx="2">
                  <c:v>64.34489880322812</c:v>
                </c:pt>
              </c:numCache>
            </c:numRef>
          </c:val>
        </c:ser>
        <c:ser>
          <c:idx val="1"/>
          <c:order val="1"/>
          <c:tx>
            <c:strRef>
              <c:strCache>
                <c:ptCount val="1"/>
                <c:pt idx="0">
                  <c:v>Unfilled muffins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36.30229837891579</c:v>
                </c:pt>
                <c:pt idx="1">
                  <c:v>36.09535724214623</c:v>
                </c:pt>
                <c:pt idx="2">
                  <c:v>35.655101196771895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Untopped</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7.062175241728252</c:v>
                </c:pt>
                <c:pt idx="1">
                  <c:v>6.9587029777774205</c:v>
                </c:pt>
              </c:numCache>
            </c:numRef>
          </c:val>
        </c:ser>
        <c:ser>
          <c:idx val="1"/>
          <c:order val="1"/>
          <c:tx>
            <c:strRef>
              <c:strCache>
                <c:ptCount val="1"/>
                <c:pt idx="0">
                  <c:v>Crumb / streusel-topped</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5.0551755737623125</c:v>
                </c:pt>
                <c:pt idx="1">
                  <c:v>5.7763579195314945</c:v>
                </c:pt>
              </c:numCache>
            </c:numRef>
          </c:val>
        </c:ser>
        <c:ser>
          <c:idx val="2"/>
          <c:order val="2"/>
          <c:tx>
            <c:strRef>
              <c:strCache>
                <c:ptCount val="1"/>
                <c:pt idx="0">
                  <c:v>Sugar-topped</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6.161611701362028</c:v>
                </c:pt>
                <c:pt idx="1">
                  <c:v>10.21067828583793</c:v>
                </c:pt>
              </c:numCache>
            </c:numRef>
          </c:val>
        </c:ser>
        <c:ser>
          <c:idx val="3"/>
          <c:order val="3"/>
          <c:tx>
            <c:strRef>
              <c:strCache>
                <c:ptCount val="1"/>
                <c:pt idx="0">
                  <c:v>Nut and seed-topped</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41.83445664833694</c:v>
                </c:pt>
                <c:pt idx="1">
                  <c:v>34.41838713350586</c:v>
                </c:pt>
              </c:numCache>
            </c:numRef>
          </c:val>
        </c:ser>
        <c:ser>
          <c:idx val="4"/>
          <c:order val="4"/>
          <c:tx>
            <c:strRef>
              <c:strCache>
                <c:ptCount val="1"/>
                <c:pt idx="0">
                  <c:v>Glazed / drizzled</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30.76780152735668</c:v>
                </c:pt>
                <c:pt idx="1">
                  <c:v>32.787551077910486</c:v>
                </c:pt>
              </c:numCache>
            </c:numRef>
          </c:val>
        </c:ser>
        <c:ser>
          <c:idx val="5"/>
          <c:order val="5"/>
          <c:tx>
            <c:strRef>
              <c:strCache>
                <c:ptCount val="1"/>
                <c:pt idx="0">
                  <c:v>Other toppings</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9.118779307453792</c:v>
                </c:pt>
                <c:pt idx="1">
                  <c:v>9.848322605436802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Untopped</c:v>
                </c:pt>
              </c:strCache>
            </c:strRef>
          </c:tx>
          <c:spPr>
            <a:solidFill>
              <a:srgbClr val="3D85C6"/>
            </a:solidFill>
          </c:spPr>
          <c:invertIfNegative val="0"/>
          <c:xVal>
            <c:numRef>
              <c:numCache>
                <c:formatCode>General</c:formatCode>
                <c:ptCount val="1"/>
                <c:pt idx="0">
                  <c:v>27.97184184596225</c:v>
                </c:pt>
              </c:numCache>
            </c:numRef>
          </c:xVal>
          <c:yVal>
            <c:numRef>
              <c:numCache>
                <c:formatCode>General</c:formatCode>
                <c:ptCount val="1"/>
                <c:pt idx="0">
                  <c:v>55.77731442869058</c:v>
                </c:pt>
              </c:numCache>
            </c:numRef>
          </c:yVal>
          <c:bubbleSize>
            <c:numRef>
              <c:numCache>
                <c:formatCode>General</c:formatCode>
                <c:ptCount val="1"/>
                <c:pt idx="0">
                  <c:v>374.32</c:v>
                </c:pt>
              </c:numCache>
            </c:numRef>
          </c:bubbleSize>
          <c:bubble3D val="0"/>
        </c:ser>
        <c:ser>
          <c:idx val="1"/>
          <c:order val="1"/>
          <c:tx>
            <c:strRef>
              <c:strCache>
                <c:ptCount val="1"/>
                <c:pt idx="0">
                  <c:v>Crumb / streusel-topped</c:v>
                </c:pt>
              </c:strCache>
            </c:strRef>
          </c:tx>
          <c:spPr>
            <a:solidFill>
              <a:srgbClr val="9E7E0A"/>
            </a:solidFill>
          </c:spPr>
          <c:invertIfNegative val="0"/>
          <c:xVal>
            <c:numRef>
              <c:numCache>
                <c:formatCode>General</c:formatCode>
                <c:ptCount val="1"/>
                <c:pt idx="0">
                  <c:v>36.44554096971022</c:v>
                </c:pt>
              </c:numCache>
            </c:numRef>
          </c:xVal>
          <c:yVal>
            <c:numRef>
              <c:numCache>
                <c:formatCode>General</c:formatCode>
                <c:ptCount val="1"/>
                <c:pt idx="0">
                  <c:v>42.728607172643876</c:v>
                </c:pt>
              </c:numCache>
            </c:numRef>
          </c:yVal>
          <c:bubbleSize>
            <c:numRef>
              <c:numCache>
                <c:formatCode>General</c:formatCode>
                <c:ptCount val="1"/>
                <c:pt idx="0">
                  <c:v>296.646</c:v>
                </c:pt>
              </c:numCache>
            </c:numRef>
          </c:bubbleSize>
          <c:bubble3D val="0"/>
        </c:ser>
        <c:ser>
          <c:idx val="2"/>
          <c:order val="2"/>
          <c:tx>
            <c:strRef>
              <c:strCache>
                <c:ptCount val="1"/>
                <c:pt idx="0">
                  <c:v>Sugar-topped</c:v>
                </c:pt>
              </c:strCache>
            </c:strRef>
          </c:tx>
          <c:spPr>
            <a:solidFill>
              <a:srgbClr val="008189"/>
            </a:solidFill>
          </c:spPr>
          <c:invertIfNegative val="0"/>
          <c:xVal>
            <c:numRef>
              <c:numCache>
                <c:formatCode>General</c:formatCode>
                <c:ptCount val="1"/>
                <c:pt idx="0">
                  <c:v>38.94725976243744</c:v>
                </c:pt>
              </c:numCache>
            </c:numRef>
          </c:xVal>
          <c:yVal>
            <c:numRef>
              <c:numCache>
                <c:formatCode>General</c:formatCode>
                <c:ptCount val="1"/>
                <c:pt idx="0">
                  <c:v>67.87989991659717</c:v>
                </c:pt>
              </c:numCache>
            </c:numRef>
          </c:yVal>
          <c:bubbleSize>
            <c:numRef>
              <c:numCache>
                <c:formatCode>General</c:formatCode>
                <c:ptCount val="1"/>
                <c:pt idx="0">
                  <c:v>475.994</c:v>
                </c:pt>
              </c:numCache>
            </c:numRef>
          </c:bubbleSize>
          <c:bubble3D val="0"/>
        </c:ser>
        <c:ser>
          <c:idx val="3"/>
          <c:order val="3"/>
          <c:tx>
            <c:strRef>
              <c:strCache>
                <c:ptCount val="1"/>
                <c:pt idx="0">
                  <c:v>Nut and seed-topped</c:v>
                </c:pt>
              </c:strCache>
            </c:strRef>
          </c:tx>
          <c:spPr>
            <a:solidFill>
              <a:srgbClr val="40315E"/>
            </a:solidFill>
          </c:spPr>
          <c:invertIfNegative val="0"/>
          <c:xVal>
            <c:numRef>
              <c:numCache>
                <c:formatCode>General</c:formatCode>
                <c:ptCount val="1"/>
                <c:pt idx="0">
                  <c:v>133.05777422547763</c:v>
                </c:pt>
              </c:numCache>
            </c:numRef>
          </c:xVal>
          <c:yVal>
            <c:numRef>
              <c:numCache>
                <c:formatCode>General</c:formatCode>
                <c:ptCount val="1"/>
                <c:pt idx="0">
                  <c:v>194.44487072560466</c:v>
                </c:pt>
              </c:numCache>
            </c:numRef>
          </c:yVal>
          <c:bubbleSize>
            <c:numRef>
              <c:numCache>
                <c:formatCode>General</c:formatCode>
                <c:ptCount val="1"/>
                <c:pt idx="0">
                  <c:v>1971.818</c:v>
                </c:pt>
              </c:numCache>
            </c:numRef>
          </c:bubbleSize>
          <c:bubble3D val="0"/>
        </c:ser>
        <c:ser>
          <c:idx val="4"/>
          <c:order val="4"/>
          <c:tx>
            <c:strRef>
              <c:strCache>
                <c:ptCount val="1"/>
                <c:pt idx="0">
                  <c:v>Glazed / drizzled</c:v>
                </c:pt>
              </c:strCache>
            </c:strRef>
          </c:tx>
          <c:spPr>
            <a:solidFill>
              <a:srgbClr val="A35313"/>
            </a:solidFill>
          </c:spPr>
          <c:invertIfNegative val="0"/>
          <c:xVal>
            <c:numRef>
              <c:numCache>
                <c:formatCode>General</c:formatCode>
                <c:ptCount val="1"/>
                <c:pt idx="0">
                  <c:v>106.08758649068241</c:v>
                </c:pt>
              </c:numCache>
            </c:numRef>
          </c:xVal>
          <c:yVal>
            <c:numRef>
              <c:numCache>
                <c:formatCode>General</c:formatCode>
                <c:ptCount val="1"/>
                <c:pt idx="0">
                  <c:v>188.26238532110094</c:v>
                </c:pt>
              </c:numCache>
            </c:numRef>
          </c:yVal>
          <c:bubbleSize>
            <c:numRef>
              <c:numCache>
                <c:formatCode>General</c:formatCode>
                <c:ptCount val="1"/>
                <c:pt idx="0">
                  <c:v>1719.974</c:v>
                </c:pt>
              </c:numCache>
            </c:numRef>
          </c:bubbleSize>
          <c:bubble3D val="0"/>
        </c:ser>
        <c:ser>
          <c:idx val="5"/>
          <c:order val="5"/>
          <c:tx>
            <c:strRef>
              <c:strCache>
                <c:ptCount val="1"/>
                <c:pt idx="0">
                  <c:v>Other toppings</c:v>
                </c:pt>
              </c:strCache>
            </c:strRef>
          </c:tx>
          <c:spPr>
            <a:solidFill>
              <a:srgbClr val="808080"/>
            </a:solidFill>
          </c:spPr>
          <c:invertIfNegative val="0"/>
          <c:xVal>
            <c:numRef>
              <c:numCache>
                <c:formatCode>General</c:formatCode>
                <c:ptCount val="1"/>
                <c:pt idx="0">
                  <c:v>132.17420834259633</c:v>
                </c:pt>
              </c:numCache>
            </c:numRef>
          </c:xVal>
          <c:yVal>
            <c:numRef>
              <c:numCache>
                <c:formatCode>General</c:formatCode>
                <c:ptCount val="1"/>
                <c:pt idx="0">
                  <c:v>50.90692243536281</c:v>
                </c:pt>
              </c:numCache>
            </c:numRef>
          </c:yVal>
          <c:bubbleSize>
            <c:numRef>
              <c:numCache>
                <c:formatCode>General</c:formatCode>
                <c:ptCount val="1"/>
                <c:pt idx="0">
                  <c:v>514.482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334.385</c:v>
                </c:pt>
                <c:pt idx="2">
                  <c:v>343.791</c:v>
                </c:pt>
                <c:pt idx="3">
                  <c:v>352.643</c:v>
                </c:pt>
                <c:pt idx="4">
                  <c:v>360.795</c:v>
                </c:pt>
                <c:pt idx="5">
                  <c:v>368.083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334.385</c:v>
                </c:pt>
                <c:pt idx="1">
                  <c:v>9.406000000000006</c:v>
                </c:pt>
                <c:pt idx="2">
                  <c:v>8.851999999999975</c:v>
                </c:pt>
                <c:pt idx="3">
                  <c:v>8.152000000000044</c:v>
                </c:pt>
                <c:pt idx="4">
                  <c:v>7.288000000000011</c:v>
                </c:pt>
                <c:pt idx="5">
                  <c:v>6.236999999999966</c:v>
                </c:pt>
                <c:pt idx="6">
                  <c:v>374.32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256.158</c:v>
                </c:pt>
                <c:pt idx="2">
                  <c:v>264.815</c:v>
                </c:pt>
                <c:pt idx="3">
                  <c:v>273.282</c:v>
                </c:pt>
                <c:pt idx="4">
                  <c:v>281.474</c:v>
                </c:pt>
                <c:pt idx="5">
                  <c:v>289.298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256.158</c:v>
                </c:pt>
                <c:pt idx="1">
                  <c:v>8.656999999999982</c:v>
                </c:pt>
                <c:pt idx="2">
                  <c:v>8.466999999999985</c:v>
                </c:pt>
                <c:pt idx="3">
                  <c:v>8.192000000000007</c:v>
                </c:pt>
                <c:pt idx="4">
                  <c:v>7.824000000000012</c:v>
                </c:pt>
                <c:pt idx="5">
                  <c:v>7.348000000000013</c:v>
                </c:pt>
                <c:pt idx="6">
                  <c:v>296.646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406.94</c:v>
                </c:pt>
                <c:pt idx="2">
                  <c:v>421.352</c:v>
                </c:pt>
                <c:pt idx="3">
                  <c:v>435.586</c:v>
                </c:pt>
                <c:pt idx="4">
                  <c:v>449.528</c:v>
                </c:pt>
                <c:pt idx="5">
                  <c:v>463.047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406.94</c:v>
                </c:pt>
                <c:pt idx="1">
                  <c:v>14.411999999999978</c:v>
                </c:pt>
                <c:pt idx="2">
                  <c:v>14.234000000000037</c:v>
                </c:pt>
                <c:pt idx="3">
                  <c:v>13.942000000000007</c:v>
                </c:pt>
                <c:pt idx="4">
                  <c:v>13.519000000000005</c:v>
                </c:pt>
                <c:pt idx="5">
                  <c:v>12.947000000000003</c:v>
                </c:pt>
                <c:pt idx="6">
                  <c:v>475.994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1165.697</c:v>
                </c:pt>
                <c:pt idx="2">
                  <c:v>1297.112</c:v>
                </c:pt>
                <c:pt idx="3">
                  <c:v>1442.041</c:v>
                </c:pt>
                <c:pt idx="4">
                  <c:v>1601.813</c:v>
                </c:pt>
                <c:pt idx="5">
                  <c:v>1777.876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1165.697</c:v>
                </c:pt>
                <c:pt idx="1">
                  <c:v>131.4150000000002</c:v>
                </c:pt>
                <c:pt idx="2">
                  <c:v>144.92899999999986</c:v>
                </c:pt>
                <c:pt idx="3">
                  <c:v>159.77200000000016</c:v>
                </c:pt>
                <c:pt idx="4">
                  <c:v>176.06299999999987</c:v>
                </c:pt>
                <c:pt idx="5">
                  <c:v>193.942</c:v>
                </c:pt>
                <c:pt idx="6">
                  <c:v>1971.818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1128.633</c:v>
                </c:pt>
                <c:pt idx="2">
                  <c:v>1227.956</c:v>
                </c:pt>
                <c:pt idx="3">
                  <c:v>1335.962</c:v>
                </c:pt>
                <c:pt idx="4">
                  <c:v>1453.409</c:v>
                </c:pt>
                <c:pt idx="5">
                  <c:v>1581.114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1128.633</c:v>
                </c:pt>
                <c:pt idx="1">
                  <c:v>99.32299999999987</c:v>
                </c:pt>
                <c:pt idx="2">
                  <c:v>108.00600000000009</c:v>
                </c:pt>
                <c:pt idx="3">
                  <c:v>117.44700000000012</c:v>
                </c:pt>
                <c:pt idx="4">
                  <c:v>127.70499999999993</c:v>
                </c:pt>
                <c:pt idx="5">
                  <c:v>138.8599999999999</c:v>
                </c:pt>
                <c:pt idx="6">
                  <c:v>1719.974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305.187</c:v>
                </c:pt>
                <c:pt idx="2">
                  <c:v>339.361</c:v>
                </c:pt>
                <c:pt idx="3">
                  <c:v>377.023</c:v>
                </c:pt>
                <c:pt idx="4">
                  <c:v>418.51</c:v>
                </c:pt>
                <c:pt idx="5">
                  <c:v>464.195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305.187</c:v>
                </c:pt>
                <c:pt idx="1">
                  <c:v>34.17399999999998</c:v>
                </c:pt>
                <c:pt idx="2">
                  <c:v>37.662000000000035</c:v>
                </c:pt>
                <c:pt idx="3">
                  <c:v>41.486999999999966</c:v>
                </c:pt>
                <c:pt idx="4">
                  <c:v>45.685</c:v>
                </c:pt>
                <c:pt idx="5">
                  <c:v>50.28699999999998</c:v>
                </c:pt>
                <c:pt idx="6">
                  <c:v>514.482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Nut and seed-topped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30.12578423512081</c:v>
                </c:pt>
                <c:pt idx="1">
                  <c:v>32.40747845426744</c:v>
                </c:pt>
                <c:pt idx="2">
                  <c:v>36.834145490370865</c:v>
                </c:pt>
              </c:numCache>
            </c:numRef>
          </c:val>
        </c:ser>
        <c:ser>
          <c:idx val="1"/>
          <c:order val="1"/>
          <c:tx>
            <c:strRef>
              <c:strCache>
                <c:ptCount val="1"/>
                <c:pt idx="0">
                  <c:v>Glazed / drizzled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30.982449181694644</c:v>
                </c:pt>
                <c:pt idx="1">
                  <c:v>31.377064220183488</c:v>
                </c:pt>
                <c:pt idx="2">
                  <c:v>32.12962482118286</c:v>
                </c:pt>
              </c:numCache>
            </c:numRef>
          </c:val>
        </c:ser>
        <c:ser>
          <c:idx val="2"/>
          <c:order val="2"/>
          <c:tx>
            <c:strRef>
              <c:strCache>
                <c:ptCount val="1"/>
                <c:pt idx="0">
                  <c:v>Other toppings</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7.900771301805837</c:v>
                </c:pt>
                <c:pt idx="1">
                  <c:v>8.484487072560468</c:v>
                </c:pt>
                <c:pt idx="2">
                  <c:v>9.61067646211617</c:v>
                </c:pt>
              </c:numCache>
            </c:numRef>
          </c:val>
        </c:ser>
        <c:ser>
          <c:idx val="3"/>
          <c:order val="3"/>
          <c:tx>
            <c:strRef>
              <c:strCache>
                <c:ptCount val="1"/>
                <c:pt idx="0">
                  <c:v>Sugar-topped</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12.569453369283492</c:v>
                </c:pt>
                <c:pt idx="1">
                  <c:v>11.313316652766193</c:v>
                </c:pt>
                <c:pt idx="2">
                  <c:v>8.891709198589115</c:v>
                </c:pt>
              </c:numCache>
            </c:numRef>
          </c:val>
        </c:ser>
        <c:ser>
          <c:idx val="4"/>
          <c:order val="4"/>
          <c:tx>
            <c:strRef>
              <c:strCache>
                <c:ptCount val="1"/>
                <c:pt idx="0">
                  <c:v>Untopped</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10.484009334167501</c:v>
                </c:pt>
                <c:pt idx="1">
                  <c:v>9.296219071448428</c:v>
                </c:pt>
                <c:pt idx="2">
                  <c:v>6.9924087009833675</c:v>
                </c:pt>
              </c:numCache>
            </c:numRef>
          </c:val>
        </c:ser>
        <c:ser>
          <c:idx val="5"/>
          <c:order val="5"/>
          <c:tx>
            <c:strRef>
              <c:strCache>
                <c:ptCount val="1"/>
                <c:pt idx="0">
                  <c:v>Crumb / streusel-topped</c:v>
                </c:pt>
              </c:strCache>
            </c:strRef>
          </c:tx>
          <c:spPr>
            <a:solidFill>
              <a:srgbClr val="808080"/>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7.937532577927707</c:v>
                </c:pt>
                <c:pt idx="1">
                  <c:v>7.121434528773979</c:v>
                </c:pt>
                <c:pt idx="2">
                  <c:v>5.54143532675762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Mini / bite-sized - below 30 g</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7.363242395760516</c:v>
                </c:pt>
                <c:pt idx="1">
                  <c:v>5.2232522689826695</c:v>
                </c:pt>
              </c:numCache>
            </c:numRef>
          </c:val>
        </c:ser>
        <c:ser>
          <c:idx val="1"/>
          <c:order val="1"/>
          <c:tx>
            <c:strRef>
              <c:strCache>
                <c:ptCount val="1"/>
                <c:pt idx="0">
                  <c:v>Small - 30 g to below 60 g</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16.413493084344108</c:v>
                </c:pt>
                <c:pt idx="1">
                  <c:v>25.051053668480712</c:v>
                </c:pt>
              </c:numCache>
            </c:numRef>
          </c:val>
        </c:ser>
        <c:ser>
          <c:idx val="2"/>
          <c:order val="2"/>
          <c:tx>
            <c:strRef>
              <c:strCache>
                <c:ptCount val="1"/>
                <c:pt idx="0">
                  <c:v>Standard - 60 g to below 100 g</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46.39823328059401</c:v>
                </c:pt>
                <c:pt idx="1">
                  <c:v>43.27500383023724</c:v>
                </c:pt>
              </c:numCache>
            </c:numRef>
          </c:val>
        </c:ser>
        <c:ser>
          <c:idx val="3"/>
          <c:order val="3"/>
          <c:tx>
            <c:strRef>
              <c:strCache>
                <c:ptCount val="1"/>
                <c:pt idx="0">
                  <c:v>Large / jumbo - 100 g and above</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29.825031239301364</c:v>
                </c:pt>
                <c:pt idx="1">
                  <c:v>26.45069023229939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Mini / bite-sized - below 30 g</c:v>
                </c:pt>
              </c:strCache>
            </c:strRef>
          </c:tx>
          <c:spPr>
            <a:solidFill>
              <a:srgbClr val="3D85C6"/>
            </a:solidFill>
          </c:spPr>
          <c:invertIfNegative val="0"/>
          <c:xVal>
            <c:numRef>
              <c:numCache>
                <c:formatCode>General</c:formatCode>
                <c:ptCount val="1"/>
                <c:pt idx="0">
                  <c:v>143.0261289845739</c:v>
                </c:pt>
              </c:numCache>
            </c:numRef>
          </c:xVal>
          <c:yVal>
            <c:numRef>
              <c:numCache>
                <c:formatCode>General</c:formatCode>
                <c:ptCount val="1"/>
                <c:pt idx="0">
                  <c:v>20.052710592160132</c:v>
                </c:pt>
              </c:numCache>
            </c:numRef>
          </c:yVal>
          <c:bubbleSize>
            <c:numRef>
              <c:numCache>
                <c:formatCode>General</c:formatCode>
                <c:ptCount val="1"/>
                <c:pt idx="0">
                  <c:v>316.93</c:v>
                </c:pt>
              </c:numCache>
            </c:numRef>
          </c:bubbleSize>
          <c:bubble3D val="0"/>
        </c:ser>
        <c:ser>
          <c:idx val="1"/>
          <c:order val="1"/>
          <c:tx>
            <c:strRef>
              <c:strCache>
                <c:ptCount val="1"/>
                <c:pt idx="0">
                  <c:v>Small - 30 g to below 60 g</c:v>
                </c:pt>
              </c:strCache>
            </c:strRef>
          </c:tx>
          <c:spPr>
            <a:solidFill>
              <a:srgbClr val="9E7E0A"/>
            </a:solidFill>
          </c:spPr>
          <c:invertIfNegative val="0"/>
          <c:xVal>
            <c:numRef>
              <c:numCache>
                <c:formatCode>General</c:formatCode>
                <c:ptCount val="1"/>
                <c:pt idx="0">
                  <c:v>48.61670346150754</c:v>
                </c:pt>
              </c:numCache>
            </c:numRef>
          </c:xVal>
          <c:yVal>
            <c:numRef>
              <c:numCache>
                <c:formatCode>General</c:formatCode>
                <c:ptCount val="1"/>
                <c:pt idx="0">
                  <c:v>108.89619127050318</c:v>
                </c:pt>
              </c:numCache>
            </c:numRef>
          </c:yVal>
          <c:bubbleSize>
            <c:numRef>
              <c:numCache>
                <c:formatCode>General</c:formatCode>
                <c:ptCount val="1"/>
                <c:pt idx="0">
                  <c:v>1190.42</c:v>
                </c:pt>
              </c:numCache>
            </c:numRef>
          </c:bubbleSize>
          <c:bubble3D val="0"/>
        </c:ser>
        <c:ser>
          <c:idx val="2"/>
          <c:order val="2"/>
          <c:tx>
            <c:strRef>
              <c:strCache>
                <c:ptCount val="1"/>
                <c:pt idx="0">
                  <c:v>Standard - 60 g to below 100 g</c:v>
                </c:pt>
              </c:strCache>
            </c:strRef>
          </c:tx>
          <c:spPr>
            <a:solidFill>
              <a:srgbClr val="008189"/>
            </a:solidFill>
          </c:spPr>
          <c:invertIfNegative val="0"/>
          <c:xVal>
            <c:numRef>
              <c:numCache>
                <c:formatCode>General</c:formatCode>
                <c:ptCount val="1"/>
                <c:pt idx="0">
                  <c:v>99.8311605714356</c:v>
                </c:pt>
              </c:numCache>
            </c:numRef>
          </c:xVal>
          <c:yVal>
            <c:numRef>
              <c:numCache>
                <c:formatCode>General</c:formatCode>
                <c:ptCount val="1"/>
                <c:pt idx="0">
                  <c:v>177.2861829302196</c:v>
                </c:pt>
              </c:numCache>
            </c:numRef>
          </c:yVal>
          <c:bubbleSize>
            <c:numRef>
              <c:numCache>
                <c:formatCode>General</c:formatCode>
                <c:ptCount val="1"/>
                <c:pt idx="0">
                  <c:v>2371.075</c:v>
                </c:pt>
              </c:numCache>
            </c:numRef>
          </c:bubbleSize>
          <c:bubble3D val="0"/>
        </c:ser>
        <c:ser>
          <c:idx val="3"/>
          <c:order val="3"/>
          <c:tx>
            <c:strRef>
              <c:strCache>
                <c:ptCount val="1"/>
                <c:pt idx="0">
                  <c:v>Large / jumbo - 100 g and above</c:v>
                </c:pt>
              </c:strCache>
            </c:strRef>
          </c:tx>
          <c:spPr>
            <a:solidFill>
              <a:srgbClr val="40315E"/>
            </a:solidFill>
          </c:spPr>
          <c:invertIfNegative val="0"/>
          <c:xVal>
            <c:numRef>
              <c:numCache>
                <c:formatCode>General</c:formatCode>
                <c:ptCount val="1"/>
                <c:pt idx="0">
                  <c:v>141.76823086619729</c:v>
                </c:pt>
              </c:numCache>
            </c:numRef>
          </c:xVal>
          <c:yVal>
            <c:numRef>
              <c:numCache>
                <c:formatCode>General</c:formatCode>
                <c:ptCount val="1"/>
                <c:pt idx="0">
                  <c:v>93.76491520711704</c:v>
                </c:pt>
              </c:numCache>
            </c:numRef>
          </c:yVal>
          <c:bubbleSize>
            <c:numRef>
              <c:numCache>
                <c:formatCode>General</c:formatCode>
                <c:ptCount val="1"/>
                <c:pt idx="0">
                  <c:v>1474.809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180.324</c:v>
                </c:pt>
                <c:pt idx="2">
                  <c:v>201.973</c:v>
                </c:pt>
                <c:pt idx="3">
                  <c:v>226.15</c:v>
                </c:pt>
                <c:pt idx="4">
                  <c:v>253.145</c:v>
                </c:pt>
                <c:pt idx="5">
                  <c:v>283.284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180.324</c:v>
                </c:pt>
                <c:pt idx="1">
                  <c:v>21.649</c:v>
                </c:pt>
                <c:pt idx="2">
                  <c:v>24.176999999999992</c:v>
                </c:pt>
                <c:pt idx="3">
                  <c:v>26.995000000000005</c:v>
                </c:pt>
                <c:pt idx="4">
                  <c:v>30.13899999999998</c:v>
                </c:pt>
                <c:pt idx="5">
                  <c:v>33.646000000000015</c:v>
                </c:pt>
                <c:pt idx="6">
                  <c:v>316.93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979.249</c:v>
                </c:pt>
                <c:pt idx="2">
                  <c:v>1023.043</c:v>
                </c:pt>
                <c:pt idx="3">
                  <c:v>1066.553</c:v>
                </c:pt>
                <c:pt idx="4">
                  <c:v>1109.328</c:v>
                </c:pt>
                <c:pt idx="5">
                  <c:v>1150.829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979.249</c:v>
                </c:pt>
                <c:pt idx="1">
                  <c:v>43.79399999999998</c:v>
                </c:pt>
                <c:pt idx="2">
                  <c:v>43.510000000000105</c:v>
                </c:pt>
                <c:pt idx="3">
                  <c:v>42.774999999999864</c:v>
                </c:pt>
                <c:pt idx="4">
                  <c:v>41.500999999999976</c:v>
                </c:pt>
                <c:pt idx="5">
                  <c:v>39.59100000000012</c:v>
                </c:pt>
                <c:pt idx="6">
                  <c:v>1190.42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1594.246</c:v>
                </c:pt>
                <c:pt idx="2">
                  <c:v>1725.923</c:v>
                </c:pt>
                <c:pt idx="3">
                  <c:v>1868.501</c:v>
                </c:pt>
                <c:pt idx="4">
                  <c:v>2022.887</c:v>
                </c:pt>
                <c:pt idx="5">
                  <c:v>2190.059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1594.246</c:v>
                </c:pt>
                <c:pt idx="1">
                  <c:v>131.6769999999999</c:v>
                </c:pt>
                <c:pt idx="2">
                  <c:v>142.57799999999997</c:v>
                </c:pt>
                <c:pt idx="3">
                  <c:v>154.38599999999997</c:v>
                </c:pt>
                <c:pt idx="4">
                  <c:v>167.17200000000025</c:v>
                </c:pt>
                <c:pt idx="5">
                  <c:v>181.01599999999962</c:v>
                </c:pt>
                <c:pt idx="6">
                  <c:v>2371.075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843.181</c:v>
                </c:pt>
                <c:pt idx="2">
                  <c:v>943.448</c:v>
                </c:pt>
                <c:pt idx="3">
                  <c:v>1055.333</c:v>
                </c:pt>
                <c:pt idx="4">
                  <c:v>1180.169</c:v>
                </c:pt>
                <c:pt idx="5">
                  <c:v>1319.441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843.181</c:v>
                </c:pt>
                <c:pt idx="1">
                  <c:v>100.26699999999994</c:v>
                </c:pt>
                <c:pt idx="2">
                  <c:v>111.8850000000001</c:v>
                </c:pt>
                <c:pt idx="3">
                  <c:v>124.83600000000001</c:v>
                </c:pt>
                <c:pt idx="4">
                  <c:v>139.27199999999993</c:v>
                </c:pt>
                <c:pt idx="5">
                  <c:v>155.36799999999994</c:v>
                </c:pt>
                <c:pt idx="6">
                  <c:v>1474.809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Standard - 60 g to below 100 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44.32450910485803</c:v>
                </c:pt>
                <c:pt idx="1">
                  <c:v>44.32154573255491</c:v>
                </c:pt>
                <c:pt idx="2">
                  <c:v>44.292384752842864</c:v>
                </c:pt>
              </c:numCache>
            </c:numRef>
          </c:val>
        </c:ser>
        <c:ser>
          <c:idx val="1"/>
          <c:order val="1"/>
          <c:tx>
            <c:strRef>
              <c:strCache>
                <c:ptCount val="1"/>
                <c:pt idx="0">
                  <c:v>Large / jumbo - 100 g and above</c:v>
                </c:pt>
              </c:strCache>
            </c:strRef>
          </c:tx>
          <c:spPr>
            <a:solidFill>
              <a:srgbClr val="9E7E0A"/>
            </a:solidFill>
            <a:ln>
              <a:noFill/>
            </a:ln>
          </c:spPr>
          <c:dLbls>
            <c:dLbl>
              <c:idx val="0"/>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21.554405057725315</c:v>
                </c:pt>
                <c:pt idx="1">
                  <c:v>23.441228801779264</c:v>
                </c:pt>
                <c:pt idx="2">
                  <c:v>27.549869854372144</c:v>
                </c:pt>
              </c:numCache>
            </c:numRef>
          </c:val>
        </c:ser>
        <c:ser>
          <c:idx val="2"/>
          <c:order val="2"/>
          <c:tx>
            <c:strRef>
              <c:strCache>
                <c:ptCount val="1"/>
                <c:pt idx="0">
                  <c:v>Small - 30 g to below 60 g</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29.52383872531335</c:v>
                </c:pt>
                <c:pt idx="1">
                  <c:v>27.224047817625802</c:v>
                </c:pt>
                <c:pt idx="2">
                  <c:v>22.237398925584053</c:v>
                </c:pt>
              </c:numCache>
            </c:numRef>
          </c:val>
        </c:ser>
        <c:ser>
          <c:idx val="3"/>
          <c:order val="3"/>
          <c:tx>
            <c:strRef>
              <c:strCache>
                <c:ptCount val="1"/>
                <c:pt idx="0">
                  <c:v>Mini / bite-sized - below 30 g</c:v>
                </c:pt>
              </c:strCache>
            </c:strRef>
          </c:tx>
          <c:spPr>
            <a:solidFill>
              <a:srgbClr val="40315E"/>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4.597247112103299</c:v>
                </c:pt>
                <c:pt idx="1">
                  <c:v>5.013177648040034</c:v>
                </c:pt>
                <c:pt idx="2">
                  <c:v>5.9203464672009485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Ambient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11.115341980746612</c:v>
                </c:pt>
                <c:pt idx="1">
                  <c:v>11.518804733258955</c:v>
                </c:pt>
              </c:numCache>
            </c:numRef>
          </c:val>
        </c:ser>
        <c:ser>
          <c:idx val="1"/>
          <c:order val="1"/>
          <c:tx>
            <c:strRef>
              <c:strCache>
                <c:ptCount val="1"/>
                <c:pt idx="0">
                  <c:v>Chilled</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40.323500957967006</c:v>
                </c:pt>
                <c:pt idx="1">
                  <c:v>36.410387547974935</c:v>
                </c:pt>
              </c:numCache>
            </c:numRef>
          </c:val>
        </c:ser>
        <c:ser>
          <c:idx val="2"/>
          <c:order val="2"/>
          <c:tx>
            <c:strRef>
              <c:strCache>
                <c:ptCount val="1"/>
                <c:pt idx="0">
                  <c:v>Frozen</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48.56115706128637</c:v>
                </c:pt>
                <c:pt idx="1">
                  <c:v>52.07080771876611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Ambient</c:v>
                </c:pt>
              </c:strCache>
            </c:strRef>
          </c:tx>
          <c:spPr>
            <a:solidFill>
              <a:srgbClr val="3D85C6"/>
            </a:solidFill>
          </c:spPr>
          <c:invertIfNegative val="0"/>
          <c:xVal>
            <c:numRef>
              <c:numCache>
                <c:formatCode>General</c:formatCode>
                <c:ptCount val="1"/>
                <c:pt idx="0">
                  <c:v>136.3676791379061</c:v>
                </c:pt>
              </c:numCache>
            </c:numRef>
          </c:xVal>
          <c:yVal>
            <c:numRef>
              <c:numCache>
                <c:formatCode>General</c:formatCode>
                <c:ptCount val="1"/>
                <c:pt idx="0">
                  <c:v>29.676396997497918</c:v>
                </c:pt>
              </c:numCache>
            </c:numRef>
          </c:yVal>
          <c:bubbleSize>
            <c:numRef>
              <c:numCache>
                <c:formatCode>General</c:formatCode>
                <c:ptCount val="1"/>
                <c:pt idx="0">
                  <c:v>609.593</c:v>
                </c:pt>
              </c:numCache>
            </c:numRef>
          </c:bubbleSize>
          <c:bubble3D val="0"/>
        </c:ser>
        <c:ser>
          <c:idx val="1"/>
          <c:order val="1"/>
          <c:tx>
            <c:strRef>
              <c:strCache>
                <c:ptCount val="1"/>
                <c:pt idx="0">
                  <c:v>Chilled</c:v>
                </c:pt>
              </c:strCache>
            </c:strRef>
          </c:tx>
          <c:spPr>
            <a:solidFill>
              <a:srgbClr val="9E7E0A"/>
            </a:solidFill>
          </c:spPr>
          <c:invertIfNegative val="0"/>
          <c:xVal>
            <c:numRef>
              <c:numCache>
                <c:formatCode>General</c:formatCode>
                <c:ptCount val="1"/>
                <c:pt idx="0">
                  <c:v>132.6716557803469</c:v>
                </c:pt>
              </c:numCache>
            </c:numRef>
          </c:xVal>
          <c:yVal>
            <c:numRef>
              <c:numCache>
                <c:formatCode>General</c:formatCode>
                <c:ptCount val="1"/>
                <c:pt idx="0">
                  <c:v>99.6163469557965</c:v>
                </c:pt>
              </c:numCache>
            </c:numRef>
          </c:yVal>
          <c:bubbleSize>
            <c:numRef>
              <c:numCache>
                <c:formatCode>General</c:formatCode>
                <c:ptCount val="1"/>
                <c:pt idx="0">
                  <c:v>2017.37</c:v>
                </c:pt>
              </c:numCache>
            </c:numRef>
          </c:bubbleSize>
          <c:bubble3D val="0"/>
        </c:ser>
        <c:ser>
          <c:idx val="2"/>
          <c:order val="2"/>
          <c:tx>
            <c:strRef>
              <c:strCache>
                <c:ptCount val="1"/>
                <c:pt idx="0">
                  <c:v>Frozen</c:v>
                </c:pt>
              </c:strCache>
            </c:strRef>
          </c:tx>
          <c:spPr>
            <a:solidFill>
              <a:srgbClr val="008189"/>
            </a:solidFill>
          </c:spPr>
          <c:invertIfNegative val="0"/>
          <c:xVal>
            <c:numRef>
              <c:numCache>
                <c:formatCode>General</c:formatCode>
                <c:ptCount val="1"/>
                <c:pt idx="0">
                  <c:v>71.69812531201684</c:v>
                </c:pt>
              </c:numCache>
            </c:numRef>
          </c:xVal>
          <c:yVal>
            <c:numRef>
              <c:numCache>
                <c:formatCode>General</c:formatCode>
                <c:ptCount val="1"/>
                <c:pt idx="0">
                  <c:v>170.7072560467056</c:v>
                </c:pt>
              </c:numCache>
            </c:numRef>
          </c:yVal>
          <c:bubbleSize>
            <c:numRef>
              <c:numCache>
                <c:formatCode>General</c:formatCode>
                <c:ptCount val="1"/>
                <c:pt idx="0">
                  <c:v>2726.271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355.82</c:v>
                </c:pt>
                <c:pt idx="2">
                  <c:v>396.529</c:v>
                </c:pt>
                <c:pt idx="3">
                  <c:v>441.743</c:v>
                </c:pt>
                <c:pt idx="4">
                  <c:v>491.954</c:v>
                </c:pt>
                <c:pt idx="5">
                  <c:v>547.703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355.82</c:v>
                </c:pt>
                <c:pt idx="1">
                  <c:v>40.709</c:v>
                </c:pt>
                <c:pt idx="2">
                  <c:v>45.214</c:v>
                </c:pt>
                <c:pt idx="3">
                  <c:v>50.21100000000001</c:v>
                </c:pt>
                <c:pt idx="4">
                  <c:v>55.74899999999997</c:v>
                </c:pt>
                <c:pt idx="5">
                  <c:v>61.889999999999986</c:v>
                </c:pt>
                <c:pt idx="6">
                  <c:v>609.593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1194.4</c:v>
                </c:pt>
                <c:pt idx="2">
                  <c:v>1326.938</c:v>
                </c:pt>
                <c:pt idx="3">
                  <c:v>1473.873</c:v>
                </c:pt>
                <c:pt idx="4">
                  <c:v>1636.751</c:v>
                </c:pt>
                <c:pt idx="5">
                  <c:v>1817.284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1194.4</c:v>
                </c:pt>
                <c:pt idx="1">
                  <c:v>132.538</c:v>
                </c:pt>
                <c:pt idx="2">
                  <c:v>146.93499999999995</c:v>
                </c:pt>
                <c:pt idx="3">
                  <c:v>162.87799999999993</c:v>
                </c:pt>
                <c:pt idx="4">
                  <c:v>180.53300000000013</c:v>
                </c:pt>
                <c:pt idx="5">
                  <c:v>200.08599999999979</c:v>
                </c:pt>
                <c:pt idx="6">
                  <c:v>2017.37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2046.78</c:v>
                </c:pt>
                <c:pt idx="2">
                  <c:v>2170.92</c:v>
                </c:pt>
                <c:pt idx="3">
                  <c:v>2300.921</c:v>
                </c:pt>
                <c:pt idx="4">
                  <c:v>2436.824</c:v>
                </c:pt>
                <c:pt idx="5">
                  <c:v>2578.626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2046.78</c:v>
                </c:pt>
                <c:pt idx="1">
                  <c:v>124.1400000000001</c:v>
                </c:pt>
                <c:pt idx="2">
                  <c:v>130.00099999999975</c:v>
                </c:pt>
                <c:pt idx="3">
                  <c:v>135.90300000000025</c:v>
                </c:pt>
                <c:pt idx="4">
                  <c:v>141.80200000000013</c:v>
                </c:pt>
                <c:pt idx="5">
                  <c:v>147.64499999999998</c:v>
                </c:pt>
                <c:pt idx="6">
                  <c:v>2726.271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Frozen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59.7190355563413</c:v>
                </c:pt>
                <c:pt idx="1">
                  <c:v>56.9024186822352</c:v>
                </c:pt>
                <c:pt idx="2">
                  <c:v>50.9275514576796</c:v>
                </c:pt>
              </c:numCache>
            </c:numRef>
          </c:val>
        </c:ser>
        <c:ser>
          <c:idx val="1"/>
          <c:order val="1"/>
          <c:tx>
            <c:strRef>
              <c:strCache>
                <c:ptCount val="1"/>
                <c:pt idx="0">
                  <c:v>Chilled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31.094657513424227</c:v>
                </c:pt>
                <c:pt idx="1">
                  <c:v>33.2054489852655</c:v>
                </c:pt>
                <c:pt idx="2">
                  <c:v>37.6850703705461</c:v>
                </c:pt>
              </c:numCache>
            </c:numRef>
          </c:val>
        </c:ser>
        <c:ser>
          <c:idx val="2"/>
          <c:order val="2"/>
          <c:tx>
            <c:strRef>
              <c:strCache>
                <c:ptCount val="1"/>
                <c:pt idx="0">
                  <c:v>Ambient</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9.186306930234469</c:v>
                </c:pt>
                <c:pt idx="1">
                  <c:v>9.892132332499305</c:v>
                </c:pt>
                <c:pt idx="2">
                  <c:v>11.387378171774294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Up to 7 days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60.177589478591834</c:v>
                </c:pt>
                <c:pt idx="1">
                  <c:v>56.781099102159146</c:v>
                </c:pt>
              </c:numCache>
            </c:numRef>
          </c:val>
        </c:ser>
        <c:ser>
          <c:idx val="1"/>
          <c:order val="1"/>
          <c:tx>
            <c:strRef>
              <c:strCache>
                <c:ptCount val="1"/>
                <c:pt idx="0">
                  <c:v>8-30 days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12.922547750684283</c:v>
                </c:pt>
                <c:pt idx="1">
                  <c:v>15.902230735707537</c:v>
                </c:pt>
              </c:numCache>
            </c:numRef>
          </c:val>
        </c:ser>
        <c:ser>
          <c:idx val="2"/>
          <c:order val="2"/>
          <c:tx>
            <c:strRef>
              <c:strCache>
                <c:ptCount val="1"/>
                <c:pt idx="0">
                  <c:v>31-90 days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16.07320118110078</c:v>
                </c:pt>
                <c:pt idx="1">
                  <c:v>14.86481132653098</c:v>
                </c:pt>
              </c:numCache>
            </c:numRef>
          </c:val>
        </c:ser>
        <c:ser>
          <c:idx val="3"/>
          <c:order val="3"/>
          <c:tx>
            <c:strRef>
              <c:strCache>
                <c:ptCount val="1"/>
                <c:pt idx="0">
                  <c:v>More than 90 days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10.826661589623104</c:v>
                </c:pt>
                <c:pt idx="1">
                  <c:v>12.451858835602339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Up to 7 days</c:v>
                </c:pt>
              </c:strCache>
            </c:strRef>
          </c:tx>
          <c:spPr>
            <a:solidFill>
              <a:srgbClr val="3D85C6"/>
            </a:solidFill>
          </c:spPr>
          <c:invertIfNegative val="0"/>
          <c:xVal>
            <c:numRef>
              <c:numCache>
                <c:formatCode>General</c:formatCode>
                <c:ptCount val="1"/>
                <c:pt idx="0">
                  <c:v>108.98999315385554</c:v>
                </c:pt>
              </c:numCache>
            </c:numRef>
          </c:xVal>
          <c:yVal>
            <c:numRef>
              <c:numCache>
                <c:formatCode>General</c:formatCode>
                <c:ptCount val="1"/>
                <c:pt idx="0">
                  <c:v>223.58999165971642</c:v>
                </c:pt>
              </c:numCache>
            </c:numRef>
          </c:yVal>
          <c:bubbleSize>
            <c:numRef>
              <c:numCache>
                <c:formatCode>General</c:formatCode>
                <c:ptCount val="1"/>
                <c:pt idx="0">
                  <c:v>3098.853</c:v>
                </c:pt>
              </c:numCache>
            </c:numRef>
          </c:bubbleSize>
          <c:bubble3D val="0"/>
        </c:ser>
        <c:ser>
          <c:idx val="1"/>
          <c:order val="1"/>
          <c:tx>
            <c:strRef>
              <c:strCache>
                <c:ptCount val="1"/>
                <c:pt idx="0">
                  <c:v>8-30 days</c:v>
                </c:pt>
              </c:strCache>
            </c:strRef>
          </c:tx>
          <c:spPr>
            <a:solidFill>
              <a:srgbClr val="9E7E0A"/>
            </a:solidFill>
          </c:spPr>
          <c:invertIfNegative val="0"/>
          <c:xVal>
            <c:numRef>
              <c:numCache>
                <c:formatCode>General</c:formatCode>
                <c:ptCount val="1"/>
                <c:pt idx="0">
                  <c:v>44.84156096461652</c:v>
                </c:pt>
              </c:numCache>
            </c:numRef>
          </c:xVal>
          <c:yVal>
            <c:numRef>
              <c:numCache>
                <c:formatCode>General</c:formatCode>
                <c:ptCount val="1"/>
                <c:pt idx="0">
                  <c:v>74.22696691687517</c:v>
                </c:pt>
              </c:numCache>
            </c:numRef>
          </c:yVal>
          <c:bubbleSize>
            <c:numRef>
              <c:numCache>
                <c:formatCode>General</c:formatCode>
                <c:ptCount val="1"/>
                <c:pt idx="0">
                  <c:v>799.324</c:v>
                </c:pt>
              </c:numCache>
            </c:numRef>
          </c:bubbleSize>
          <c:bubble3D val="0"/>
        </c:ser>
        <c:ser>
          <c:idx val="2"/>
          <c:order val="2"/>
          <c:tx>
            <c:strRef>
              <c:strCache>
                <c:ptCount val="1"/>
                <c:pt idx="0">
                  <c:v>31-90 days</c:v>
                </c:pt>
              </c:strCache>
            </c:strRef>
          </c:tx>
          <c:spPr>
            <a:solidFill>
              <a:srgbClr val="008189"/>
            </a:solidFill>
          </c:spPr>
          <c:invertIfNegative val="0"/>
          <c:xVal>
            <c:numRef>
              <c:numCache>
                <c:formatCode>General</c:formatCode>
                <c:ptCount val="1"/>
                <c:pt idx="0">
                  <c:v>134.30067097877142</c:v>
                </c:pt>
              </c:numCache>
            </c:numRef>
          </c:xVal>
          <c:yVal>
            <c:numRef>
              <c:numCache>
                <c:formatCode>General</c:formatCode>
                <c:ptCount val="1"/>
                <c:pt idx="0">
                  <c:v>53.4426466499861</c:v>
                </c:pt>
              </c:numCache>
            </c:numRef>
          </c:yVal>
          <c:bubbleSize>
            <c:numRef>
              <c:numCache>
                <c:formatCode>General</c:formatCode>
                <c:ptCount val="1"/>
                <c:pt idx="0">
                  <c:v>816.82</c:v>
                </c:pt>
              </c:numCache>
            </c:numRef>
          </c:bubbleSize>
          <c:bubble3D val="0"/>
        </c:ser>
        <c:ser>
          <c:idx val="3"/>
          <c:order val="3"/>
          <c:tx>
            <c:strRef>
              <c:strCache>
                <c:ptCount val="1"/>
                <c:pt idx="0">
                  <c:v>More than 90 days</c:v>
                </c:pt>
              </c:strCache>
            </c:strRef>
          </c:tx>
          <c:spPr>
            <a:solidFill>
              <a:srgbClr val="40315E"/>
            </a:solidFill>
          </c:spPr>
          <c:invertIfNegative val="0"/>
          <c:xVal>
            <c:numRef>
              <c:numCache>
                <c:formatCode>General</c:formatCode>
                <c:ptCount val="1"/>
                <c:pt idx="0">
                  <c:v>94.41602694796015</c:v>
                </c:pt>
              </c:numCache>
            </c:numRef>
          </c:xVal>
          <c:yVal>
            <c:numRef>
              <c:numCache>
                <c:formatCode>General</c:formatCode>
                <c:ptCount val="1"/>
                <c:pt idx="0">
                  <c:v>48.740394773422295</c:v>
                </c:pt>
              </c:numCache>
            </c:numRef>
          </c:yVal>
          <c:bubbleSize>
            <c:numRef>
              <c:numCache>
                <c:formatCode>General</c:formatCode>
                <c:ptCount val="1"/>
                <c:pt idx="0">
                  <c:v>638.237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2010.633</c:v>
                </c:pt>
                <c:pt idx="2">
                  <c:v>2191.85</c:v>
                </c:pt>
                <c:pt idx="3">
                  <c:v>2389.661</c:v>
                </c:pt>
                <c:pt idx="4">
                  <c:v>2605.612</c:v>
                </c:pt>
                <c:pt idx="5">
                  <c:v>2841.391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2010.633</c:v>
                </c:pt>
                <c:pt idx="1">
                  <c:v>181.21699999999987</c:v>
                </c:pt>
                <c:pt idx="2">
                  <c:v>197.81100000000015</c:v>
                </c:pt>
                <c:pt idx="3">
                  <c:v>215.95100000000002</c:v>
                </c:pt>
                <c:pt idx="4">
                  <c:v>235.779</c:v>
                </c:pt>
                <c:pt idx="5">
                  <c:v>257.462</c:v>
                </c:pt>
                <c:pt idx="6">
                  <c:v>3098.853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667.486</c:v>
                </c:pt>
                <c:pt idx="2">
                  <c:v>695.408</c:v>
                </c:pt>
                <c:pt idx="3">
                  <c:v>722.901</c:v>
                </c:pt>
                <c:pt idx="4">
                  <c:v>749.646</c:v>
                </c:pt>
                <c:pt idx="5">
                  <c:v>775.268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667.486</c:v>
                </c:pt>
                <c:pt idx="1">
                  <c:v>27.922000000000025</c:v>
                </c:pt>
                <c:pt idx="2">
                  <c:v>27.492999999999938</c:v>
                </c:pt>
                <c:pt idx="3">
                  <c:v>26.745000000000005</c:v>
                </c:pt>
                <c:pt idx="4">
                  <c:v>25.62200000000007</c:v>
                </c:pt>
                <c:pt idx="5">
                  <c:v>24.055999999999926</c:v>
                </c:pt>
                <c:pt idx="6">
                  <c:v>799.324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480.583</c:v>
                </c:pt>
                <c:pt idx="2">
                  <c:v>534.564</c:v>
                </c:pt>
                <c:pt idx="3">
                  <c:v>594.492</c:v>
                </c:pt>
                <c:pt idx="4">
                  <c:v>661.016</c:v>
                </c:pt>
                <c:pt idx="5">
                  <c:v>734.859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480.583</c:v>
                </c:pt>
                <c:pt idx="1">
                  <c:v>53.98099999999994</c:v>
                </c:pt>
                <c:pt idx="2">
                  <c:v>59.928</c:v>
                </c:pt>
                <c:pt idx="3">
                  <c:v>66.524</c:v>
                </c:pt>
                <c:pt idx="4">
                  <c:v>73.84300000000007</c:v>
                </c:pt>
                <c:pt idx="5">
                  <c:v>81.96100000000001</c:v>
                </c:pt>
                <c:pt idx="6">
                  <c:v>816.82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438.298</c:v>
                </c:pt>
                <c:pt idx="2">
                  <c:v>472.565</c:v>
                </c:pt>
                <c:pt idx="3">
                  <c:v>509.483</c:v>
                </c:pt>
                <c:pt idx="4">
                  <c:v>549.255</c:v>
                </c:pt>
                <c:pt idx="5">
                  <c:v>592.095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438.298</c:v>
                </c:pt>
                <c:pt idx="1">
                  <c:v>34.266999999999996</c:v>
                </c:pt>
                <c:pt idx="2">
                  <c:v>36.918000000000006</c:v>
                </c:pt>
                <c:pt idx="3">
                  <c:v>39.77199999999999</c:v>
                </c:pt>
                <c:pt idx="4">
                  <c:v>42.84000000000003</c:v>
                </c:pt>
                <c:pt idx="5">
                  <c:v>46.14199999999994</c:v>
                </c:pt>
                <c:pt idx="6">
                  <c:v>638.237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Up to 7 days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54.96247870814287</c:v>
                </c:pt>
                <c:pt idx="1">
                  <c:v>55.897497914929104</c:v>
                </c:pt>
                <c:pt idx="2">
                  <c:v>57.88749380281153</c:v>
                </c:pt>
              </c:numCache>
            </c:numRef>
          </c:val>
        </c:ser>
        <c:ser>
          <c:idx val="1"/>
          <c:order val="1"/>
          <c:tx>
            <c:strRef>
              <c:strCache>
                <c:ptCount val="1"/>
                <c:pt idx="0">
                  <c:v>31-90 days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12.474011049911178</c:v>
                </c:pt>
                <c:pt idx="1">
                  <c:v>13.360661662496526</c:v>
                </c:pt>
                <c:pt idx="2">
                  <c:v>15.25844003830208</c:v>
                </c:pt>
              </c:numCache>
            </c:numRef>
          </c:val>
        </c:ser>
        <c:ser>
          <c:idx val="2"/>
          <c:order val="2"/>
          <c:tx>
            <c:strRef>
              <c:strCache>
                <c:ptCount val="1"/>
                <c:pt idx="0">
                  <c:v>8-30 days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20.25591980496626</c:v>
                </c:pt>
                <c:pt idx="1">
                  <c:v>18.556741729218793</c:v>
                </c:pt>
                <c:pt idx="2">
                  <c:v>14.931609565358059</c:v>
                </c:pt>
              </c:numCache>
            </c:numRef>
          </c:val>
        </c:ser>
        <c:ser>
          <c:idx val="3"/>
          <c:order val="3"/>
          <c:tx>
            <c:strRef>
              <c:strCache>
                <c:ptCount val="1"/>
                <c:pt idx="0">
                  <c:v>More than 90 days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12.307590436979691</c:v>
                </c:pt>
                <c:pt idx="1">
                  <c:v>12.185098693355574</c:v>
                </c:pt>
                <c:pt idx="2">
                  <c:v>11.922456593528322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Flexible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15.081170572033328</c:v>
                </c:pt>
                <c:pt idx="1">
                  <c:v>12.91749932191641</c:v>
                </c:pt>
              </c:numCache>
            </c:numRef>
          </c:val>
        </c:ser>
        <c:ser>
          <c:idx val="1"/>
          <c:order val="1"/>
          <c:tx>
            <c:strRef>
              <c:strCache>
                <c:ptCount val="1"/>
                <c:pt idx="0">
                  <c:v>Rigid plastic packs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43.45528751339749</c:v>
                </c:pt>
                <c:pt idx="1">
                  <c:v>51.30930391637255</c:v>
                </c:pt>
              </c:numCache>
            </c:numRef>
          </c:val>
        </c:ser>
        <c:ser>
          <c:idx val="2"/>
          <c:order val="2"/>
          <c:tx>
            <c:strRef>
              <c:strCache>
                <c:ptCount val="1"/>
                <c:pt idx="0">
                  <c:v>Paperboard packs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36.60752943146478</c:v>
                </c:pt>
                <c:pt idx="1">
                  <c:v>29.761954565213355</c:v>
                </c:pt>
              </c:numCache>
            </c:numRef>
          </c:val>
        </c:ser>
        <c:ser>
          <c:idx val="3"/>
          <c:order val="3"/>
          <c:tx>
            <c:strRef>
              <c:strCache>
                <c:ptCount val="1"/>
                <c:pt idx="0">
                  <c:v>Other packaging formats</c:v>
                </c:pt>
              </c:strCache>
            </c:strRef>
          </c:tx>
          <c:spPr>
            <a:solidFill>
              <a:srgbClr val="40315E"/>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4.856012483104398</c:v>
                </c:pt>
                <c:pt idx="1">
                  <c:v>6.011242196497681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Flexible packs</c:v>
                </c:pt>
              </c:strCache>
            </c:strRef>
          </c:tx>
          <c:spPr>
            <a:solidFill>
              <a:srgbClr val="3D85C6"/>
            </a:solidFill>
          </c:spPr>
          <c:invertIfNegative val="0"/>
          <c:xVal>
            <c:numRef>
              <c:numCache>
                <c:formatCode>General</c:formatCode>
                <c:ptCount val="1"/>
                <c:pt idx="0">
                  <c:v>130.89522489265656</c:v>
                </c:pt>
              </c:numCache>
            </c:numRef>
          </c:xVal>
          <c:yVal>
            <c:numRef>
              <c:numCache>
                <c:formatCode>General</c:formatCode>
                <c:ptCount val="1"/>
                <c:pt idx="0">
                  <c:v>48.341618015012514</c:v>
                </c:pt>
              </c:numCache>
            </c:numRef>
          </c:yVal>
          <c:bubbleSize>
            <c:numRef>
              <c:numCache>
                <c:formatCode>General</c:formatCode>
                <c:ptCount val="1"/>
                <c:pt idx="0">
                  <c:v>729.2339999999999</c:v>
                </c:pt>
              </c:numCache>
            </c:numRef>
          </c:bubbleSize>
          <c:bubble3D val="0"/>
        </c:ser>
        <c:ser>
          <c:idx val="1"/>
          <c:order val="1"/>
          <c:tx>
            <c:strRef>
              <c:strCache>
                <c:ptCount val="1"/>
                <c:pt idx="0">
                  <c:v>Rigid plastic packs</c:v>
                </c:pt>
              </c:strCache>
            </c:strRef>
          </c:tx>
          <c:spPr>
            <a:solidFill>
              <a:srgbClr val="9E7E0A"/>
            </a:solidFill>
          </c:spPr>
          <c:invertIfNegative val="0"/>
          <c:xVal>
            <c:numRef>
              <c:numCache>
                <c:formatCode>General</c:formatCode>
                <c:ptCount val="1"/>
                <c:pt idx="0">
                  <c:v>106.05847867967395</c:v>
                </c:pt>
              </c:numCache>
            </c:numRef>
          </c:xVal>
          <c:yVal>
            <c:numRef>
              <c:numCache>
                <c:formatCode>General</c:formatCode>
                <c:ptCount val="1"/>
                <c:pt idx="0">
                  <c:v>190.457603558521</c:v>
                </c:pt>
              </c:numCache>
            </c:numRef>
          </c:yVal>
          <c:bubbleSize>
            <c:numRef>
              <c:numCache>
                <c:formatCode>General</c:formatCode>
                <c:ptCount val="1"/>
                <c:pt idx="0">
                  <c:v>2609.749</c:v>
                </c:pt>
              </c:numCache>
            </c:numRef>
          </c:bubbleSize>
          <c:bubble3D val="0"/>
        </c:ser>
        <c:ser>
          <c:idx val="2"/>
          <c:order val="2"/>
          <c:tx>
            <c:strRef>
              <c:strCache>
                <c:ptCount val="1"/>
                <c:pt idx="0">
                  <c:v>Paperboard packs</c:v>
                </c:pt>
              </c:strCache>
            </c:strRef>
          </c:tx>
          <c:spPr>
            <a:solidFill>
              <a:srgbClr val="008189"/>
            </a:solidFill>
          </c:spPr>
          <c:invertIfNegative val="0"/>
          <c:xVal>
            <c:numRef>
              <c:numCache>
                <c:formatCode>General</c:formatCode>
                <c:ptCount val="1"/>
                <c:pt idx="0">
                  <c:v>68.57978550079467</c:v>
                </c:pt>
              </c:numCache>
            </c:numRef>
          </c:xVal>
          <c:yVal>
            <c:numRef>
              <c:numCache>
                <c:formatCode>General</c:formatCode>
                <c:ptCount val="1"/>
                <c:pt idx="0">
                  <c:v>144.75006950236306</c:v>
                </c:pt>
              </c:numCache>
            </c:numRef>
          </c:yVal>
          <c:bubbleSize>
            <c:numRef>
              <c:numCache>
                <c:formatCode>General</c:formatCode>
                <c:ptCount val="1"/>
                <c:pt idx="0">
                  <c:v>1712.6000000000001</c:v>
                </c:pt>
              </c:numCache>
            </c:numRef>
          </c:bubbleSize>
          <c:bubble3D val="0"/>
        </c:ser>
        <c:ser>
          <c:idx val="3"/>
          <c:order val="3"/>
          <c:tx>
            <c:strRef>
              <c:strCache>
                <c:ptCount val="1"/>
                <c:pt idx="0">
                  <c:v>Other packaging formats</c:v>
                </c:pt>
              </c:strCache>
            </c:strRef>
          </c:tx>
          <c:spPr>
            <a:solidFill>
              <a:srgbClr val="40315E"/>
            </a:solidFill>
          </c:spPr>
          <c:invertIfNegative val="0"/>
          <c:xVal>
            <c:numRef>
              <c:numCache>
                <c:formatCode>General</c:formatCode>
                <c:ptCount val="1"/>
                <c:pt idx="0">
                  <c:v>182.0732057500901</c:v>
                </c:pt>
              </c:numCache>
            </c:numRef>
          </c:xVal>
          <c:yVal>
            <c:numRef>
              <c:numCache>
                <c:formatCode>General</c:formatCode>
                <c:ptCount val="1"/>
                <c:pt idx="0">
                  <c:v>16.45070892410342</c:v>
                </c:pt>
              </c:numCache>
            </c:numRef>
          </c:yVal>
          <c:bubbleSize>
            <c:numRef>
              <c:numCache>
                <c:formatCode>General</c:formatCode>
                <c:ptCount val="1"/>
                <c:pt idx="0">
                  <c:v>301.651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20.0"/>
          <c:min val="4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434.712</c:v>
                </c:pt>
                <c:pt idx="2">
                  <c:v>481.714</c:v>
                </c:pt>
                <c:pt idx="3">
                  <c:v>534.0</c:v>
                </c:pt>
                <c:pt idx="4">
                  <c:v>592.2</c:v>
                </c:pt>
                <c:pt idx="5">
                  <c:v>657.013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434.712</c:v>
                </c:pt>
                <c:pt idx="1">
                  <c:v>47.00200000000001</c:v>
                </c:pt>
                <c:pt idx="2">
                  <c:v>52.286</c:v>
                </c:pt>
                <c:pt idx="3">
                  <c:v>58.200000000000045</c:v>
                </c:pt>
                <c:pt idx="4">
                  <c:v>64.81299999999999</c:v>
                </c:pt>
                <c:pt idx="5">
                  <c:v>72.22099999999989</c:v>
                </c:pt>
                <c:pt idx="6">
                  <c:v>729.2339999999999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1712.69</c:v>
                </c:pt>
                <c:pt idx="2">
                  <c:v>1862.4989999999998</c:v>
                </c:pt>
                <c:pt idx="3">
                  <c:v>2025.784</c:v>
                </c:pt>
                <c:pt idx="4">
                  <c:v>2203.807</c:v>
                </c:pt>
                <c:pt idx="5">
                  <c:v>2397.9539999999997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1712.69</c:v>
                </c:pt>
                <c:pt idx="1">
                  <c:v>149.80899999999974</c:v>
                </c:pt>
                <c:pt idx="2">
                  <c:v>163.2850000000003</c:v>
                </c:pt>
                <c:pt idx="3">
                  <c:v>178.02299999999968</c:v>
                </c:pt>
                <c:pt idx="4">
                  <c:v>194.14699999999993</c:v>
                </c:pt>
                <c:pt idx="5">
                  <c:v>211.79500000000007</c:v>
                </c:pt>
                <c:pt idx="6">
                  <c:v>2609.749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1301.665</c:v>
                </c:pt>
                <c:pt idx="2">
                  <c:v>1378.991</c:v>
                </c:pt>
                <c:pt idx="3">
                  <c:v>1459.0500000000002</c:v>
                </c:pt>
                <c:pt idx="4">
                  <c:v>1541.585</c:v>
                </c:pt>
                <c:pt idx="5">
                  <c:v>1626.252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1301.665</c:v>
                </c:pt>
                <c:pt idx="1">
                  <c:v>77.32600000000002</c:v>
                </c:pt>
                <c:pt idx="2">
                  <c:v>80.0590000000002</c:v>
                </c:pt>
                <c:pt idx="3">
                  <c:v>82.53499999999985</c:v>
                </c:pt>
                <c:pt idx="4">
                  <c:v>84.66699999999992</c:v>
                </c:pt>
                <c:pt idx="5">
                  <c:v>86.34800000000018</c:v>
                </c:pt>
                <c:pt idx="6">
                  <c:v>1712.6000000000001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147.933</c:v>
                </c:pt>
                <c:pt idx="2">
                  <c:v>171.183</c:v>
                </c:pt>
                <c:pt idx="3">
                  <c:v>197.703</c:v>
                </c:pt>
                <c:pt idx="4">
                  <c:v>227.937</c:v>
                </c:pt>
                <c:pt idx="5">
                  <c:v>262.394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147.933</c:v>
                </c:pt>
                <c:pt idx="1">
                  <c:v>23.25</c:v>
                </c:pt>
                <c:pt idx="2">
                  <c:v>26.52000000000001</c:v>
                </c:pt>
                <c:pt idx="3">
                  <c:v>30.23400000000001</c:v>
                </c:pt>
                <c:pt idx="4">
                  <c:v>34.456999999999994</c:v>
                </c:pt>
                <c:pt idx="5">
                  <c:v>39.257000000000005</c:v>
                </c:pt>
                <c:pt idx="6">
                  <c:v>301.651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Rigid plastic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47.11914893894627</c:v>
                </c:pt>
                <c:pt idx="1">
                  <c:v>47.61440088963025</c:v>
                </c:pt>
                <c:pt idx="2">
                  <c:v>48.7508859130761</c:v>
                </c:pt>
              </c:numCache>
            </c:numRef>
          </c:val>
        </c:ser>
        <c:ser>
          <c:idx val="1"/>
          <c:order val="1"/>
          <c:tx>
            <c:strRef>
              <c:strCache>
                <c:ptCount val="1"/>
                <c:pt idx="0">
                  <c:v>Paperboard packs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38.01546517855803</c:v>
                </c:pt>
                <c:pt idx="1">
                  <c:v>36.187517375590765</c:v>
                </c:pt>
                <c:pt idx="2">
                  <c:v>31.991876312524358</c:v>
                </c:pt>
              </c:numCache>
            </c:numRef>
          </c:val>
        </c:ser>
        <c:ser>
          <c:idx val="2"/>
          <c:order val="2"/>
          <c:tx>
            <c:strRef>
              <c:strCache>
                <c:ptCount val="1"/>
                <c:pt idx="0">
                  <c:v>Flexible packs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11.419383206457457</c:v>
                </c:pt>
                <c:pt idx="1">
                  <c:v>12.085404503753129</c:v>
                </c:pt>
                <c:pt idx="2">
                  <c:v>13.622307562120392</c:v>
                </c:pt>
              </c:numCache>
            </c:numRef>
          </c:val>
        </c:ser>
        <c:ser>
          <c:idx val="3"/>
          <c:order val="3"/>
          <c:tx>
            <c:strRef>
              <c:strCache>
                <c:ptCount val="1"/>
                <c:pt idx="0">
                  <c:v>Other packaging formats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3.4460026760382365</c:v>
                </c:pt>
                <c:pt idx="1">
                  <c:v>4.112677231025855</c:v>
                </c:pt>
                <c:pt idx="2">
                  <c:v>5.634930212279158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Single-muffin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27.627527745488724</c:v>
                </c:pt>
                <c:pt idx="1">
                  <c:v>29.89183631685496</c:v>
                </c:pt>
              </c:numCache>
            </c:numRef>
          </c:val>
        </c:ser>
        <c:ser>
          <c:idx val="1"/>
          <c:order val="1"/>
          <c:tx>
            <c:strRef>
              <c:strCache>
                <c:ptCount val="1"/>
                <c:pt idx="0">
                  <c:v>Multipacks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60.41987685493208</c:v>
                </c:pt>
                <c:pt idx="1">
                  <c:v>57.4125826271521</c:v>
                </c:pt>
              </c:numCache>
            </c:numRef>
          </c:val>
        </c:ser>
        <c:ser>
          <c:idx val="2"/>
          <c:order val="2"/>
          <c:tx>
            <c:strRef>
              <c:strCache>
                <c:ptCount val="1"/>
                <c:pt idx="0">
                  <c:v>Bulk foodservice packs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11.952595399579193</c:v>
                </c:pt>
                <c:pt idx="1">
                  <c:v>12.695581055992944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Single-muffin packs</c:v>
                </c:pt>
              </c:strCache>
            </c:strRef>
          </c:tx>
          <c:spPr>
            <a:solidFill>
              <a:srgbClr val="3D85C6"/>
            </a:solidFill>
          </c:spPr>
          <c:invertIfNegative val="0"/>
          <c:xVal>
            <c:numRef>
              <c:numCache>
                <c:formatCode>General</c:formatCode>
                <c:ptCount val="1"/>
                <c:pt idx="0">
                  <c:v>83.03553696888744</c:v>
                </c:pt>
              </c:numCache>
            </c:numRef>
          </c:xVal>
          <c:yVal>
            <c:numRef>
              <c:numCache>
                <c:formatCode>General</c:formatCode>
                <c:ptCount val="1"/>
                <c:pt idx="0">
                  <c:v>93.46246872393661</c:v>
                </c:pt>
              </c:numCache>
            </c:numRef>
          </c:yVal>
          <c:bubbleSize>
            <c:numRef>
              <c:numCache>
                <c:formatCode>General</c:formatCode>
                <c:ptCount val="1"/>
                <c:pt idx="0">
                  <c:v>1560.695</c:v>
                </c:pt>
              </c:numCache>
            </c:numRef>
          </c:bubbleSize>
          <c:bubble3D val="0"/>
        </c:ser>
        <c:ser>
          <c:idx val="1"/>
          <c:order val="1"/>
          <c:tx>
            <c:strRef>
              <c:strCache>
                <c:ptCount val="1"/>
                <c:pt idx="0">
                  <c:v>Multipacks</c:v>
                </c:pt>
              </c:strCache>
            </c:strRef>
          </c:tx>
          <c:spPr>
            <a:solidFill>
              <a:srgbClr val="9E7E0A"/>
            </a:solidFill>
          </c:spPr>
          <c:invertIfNegative val="0"/>
          <c:xVal>
            <c:numRef>
              <c:numCache>
                <c:formatCode>General</c:formatCode>
                <c:ptCount val="1"/>
                <c:pt idx="0">
                  <c:v>122.97558434367066</c:v>
                </c:pt>
              </c:numCache>
            </c:numRef>
          </c:xVal>
          <c:yVal>
            <c:numRef>
              <c:numCache>
                <c:formatCode>General</c:formatCode>
                <c:ptCount val="1"/>
                <c:pt idx="0">
                  <c:v>160.23386155129273</c:v>
                </c:pt>
              </c:numCache>
            </c:numRef>
          </c:yVal>
          <c:bubbleSize>
            <c:numRef>
              <c:numCache>
                <c:formatCode>General</c:formatCode>
                <c:ptCount val="1"/>
                <c:pt idx="0">
                  <c:v>3125.871</c:v>
                </c:pt>
              </c:numCache>
            </c:numRef>
          </c:bubbleSize>
          <c:bubble3D val="0"/>
        </c:ser>
        <c:ser>
          <c:idx val="2"/>
          <c:order val="2"/>
          <c:tx>
            <c:strRef>
              <c:strCache>
                <c:ptCount val="1"/>
                <c:pt idx="0">
                  <c:v>Bulk foodservice packs</c:v>
                </c:pt>
              </c:strCache>
            </c:strRef>
          </c:tx>
          <c:spPr>
            <a:solidFill>
              <a:srgbClr val="008189"/>
            </a:solidFill>
          </c:spPr>
          <c:invertIfNegative val="0"/>
          <c:xVal>
            <c:numRef>
              <c:numCache>
                <c:formatCode>General</c:formatCode>
                <c:ptCount val="1"/>
                <c:pt idx="0">
                  <c:v>45.53198464762059</c:v>
                </c:pt>
              </c:numCache>
            </c:numRef>
          </c:xVal>
          <c:yVal>
            <c:numRef>
              <c:numCache>
                <c:formatCode>General</c:formatCode>
                <c:ptCount val="1"/>
                <c:pt idx="0">
                  <c:v>46.30366972477065</c:v>
                </c:pt>
              </c:numCache>
            </c:numRef>
          </c:yVal>
          <c:bubbleSize>
            <c:numRef>
              <c:numCache>
                <c:formatCode>General</c:formatCode>
                <c:ptCount val="1"/>
                <c:pt idx="0">
                  <c:v>666.668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1120.615</c:v>
                </c:pt>
                <c:pt idx="2">
                  <c:v>1198.34</c:v>
                </c:pt>
                <c:pt idx="3">
                  <c:v>1280.968</c:v>
                </c:pt>
                <c:pt idx="4">
                  <c:v>1368.74</c:v>
                </c:pt>
                <c:pt idx="5">
                  <c:v>1461.901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1120.615</c:v>
                </c:pt>
                <c:pt idx="1">
                  <c:v>77.72499999999991</c:v>
                </c:pt>
                <c:pt idx="2">
                  <c:v>82.62800000000016</c:v>
                </c:pt>
                <c:pt idx="3">
                  <c:v>87.77199999999993</c:v>
                </c:pt>
                <c:pt idx="4">
                  <c:v>93.16100000000006</c:v>
                </c:pt>
                <c:pt idx="5">
                  <c:v>98.79399999999987</c:v>
                </c:pt>
                <c:pt idx="6">
                  <c:v>1560.695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1921.204</c:v>
                </c:pt>
                <c:pt idx="2">
                  <c:v>2117.234</c:v>
                </c:pt>
                <c:pt idx="3">
                  <c:v>2333.486</c:v>
                </c:pt>
                <c:pt idx="4">
                  <c:v>2572.0769999999998</c:v>
                </c:pt>
                <c:pt idx="5">
                  <c:v>2835.342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1921.204</c:v>
                </c:pt>
                <c:pt idx="1">
                  <c:v>196.02999999999997</c:v>
                </c:pt>
                <c:pt idx="2">
                  <c:v>216.25199999999995</c:v>
                </c:pt>
                <c:pt idx="3">
                  <c:v>238.5909999999999</c:v>
                </c:pt>
                <c:pt idx="4">
                  <c:v>263.2650000000003</c:v>
                </c:pt>
                <c:pt idx="5">
                  <c:v>290.529</c:v>
                </c:pt>
                <c:pt idx="6">
                  <c:v>3125.871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555.181</c:v>
                </c:pt>
                <c:pt idx="2">
                  <c:v>578.813</c:v>
                </c:pt>
                <c:pt idx="3">
                  <c:v>602.083</c:v>
                </c:pt>
                <c:pt idx="4">
                  <c:v>624.712</c:v>
                </c:pt>
                <c:pt idx="5">
                  <c:v>646.37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555.181</c:v>
                </c:pt>
                <c:pt idx="1">
                  <c:v>23.631999999999948</c:v>
                </c:pt>
                <c:pt idx="2">
                  <c:v>23.269999999999982</c:v>
                </c:pt>
                <c:pt idx="3">
                  <c:v>22.62900000000002</c:v>
                </c:pt>
                <c:pt idx="4">
                  <c:v>21.658000000000015</c:v>
                </c:pt>
                <c:pt idx="5">
                  <c:v>20.298000000000002</c:v>
                </c:pt>
                <c:pt idx="6">
                  <c:v>666.668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Multipacks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51.107470139210086</c:v>
                </c:pt>
                <c:pt idx="1">
                  <c:v>53.411287183764244</c:v>
                </c:pt>
                <c:pt idx="2">
                  <c:v>58.39219806195657</c:v>
                </c:pt>
              </c:numCache>
            </c:numRef>
          </c:val>
        </c:ser>
        <c:ser>
          <c:idx val="1"/>
          <c:order val="1"/>
          <c:tx>
            <c:strRef>
              <c:strCache>
                <c:ptCount val="1"/>
                <c:pt idx="0">
                  <c:v>Single-muffin packs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32.07811135111227</c:v>
                </c:pt>
                <c:pt idx="1">
                  <c:v>31.154156241312204</c:v>
                </c:pt>
                <c:pt idx="2">
                  <c:v>29.15424582598108</c:v>
                </c:pt>
              </c:numCache>
            </c:numRef>
          </c:val>
        </c:ser>
        <c:ser>
          <c:idx val="2"/>
          <c:order val="2"/>
          <c:tx>
            <c:strRef>
              <c:strCache>
                <c:ptCount val="1"/>
                <c:pt idx="0">
                  <c:v>Bulk foodservice packs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16.814418509677644</c:v>
                </c:pt>
                <c:pt idx="1">
                  <c:v>15.43455657492355</c:v>
                </c:pt>
                <c:pt idx="2">
                  <c:v>12.453556112062353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Individually wrapped muffins within an outer pack</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50.75900463184648</c:v>
                </c:pt>
                <c:pt idx="1">
                  <c:v>57.756292740391366</c:v>
                </c:pt>
              </c:numCache>
            </c:numRef>
          </c:val>
        </c:ser>
        <c:ser>
          <c:idx val="1"/>
          <c:order val="1"/>
          <c:tx>
            <c:strRef>
              <c:strCache>
                <c:ptCount val="1"/>
                <c:pt idx="0">
                  <c:v>Shared pack without individual wrapping</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49.24099536815352</c:v>
                </c:pt>
                <c:pt idx="1">
                  <c:v>42.243707259608634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Individually wrapped muffins within an outer pack</c:v>
                </c:pt>
              </c:strCache>
            </c:strRef>
          </c:tx>
          <c:spPr>
            <a:solidFill>
              <a:srgbClr val="3D85C6"/>
            </a:solidFill>
          </c:spPr>
          <c:invertIfNegative val="0"/>
          <c:xVal>
            <c:numRef>
              <c:numCache>
                <c:formatCode>General</c:formatCode>
                <c:ptCount val="1"/>
                <c:pt idx="0">
                  <c:v>104.7664814596207</c:v>
                </c:pt>
              </c:numCache>
            </c:numRef>
          </c:xVal>
          <c:yVal>
            <c:numRef>
              <c:numCache>
                <c:formatCode>General</c:formatCode>
                <c:ptCount val="1"/>
                <c:pt idx="0">
                  <c:v>108.9133166527662</c:v>
                </c:pt>
              </c:numCache>
            </c:numRef>
          </c:yVal>
          <c:bubbleSize>
            <c:numRef>
              <c:numCache>
                <c:formatCode>General</c:formatCode>
                <c:ptCount val="1"/>
                <c:pt idx="0">
                  <c:v>2969.811</c:v>
                </c:pt>
              </c:numCache>
            </c:numRef>
          </c:bubbleSize>
          <c:bubble3D val="0"/>
        </c:ser>
        <c:ser>
          <c:idx val="1"/>
          <c:order val="1"/>
          <c:tx>
            <c:strRef>
              <c:strCache>
                <c:ptCount val="1"/>
                <c:pt idx="0">
                  <c:v>Shared pack without individual wrapping</c:v>
                </c:pt>
              </c:strCache>
            </c:strRef>
          </c:tx>
          <c:spPr>
            <a:solidFill>
              <a:srgbClr val="9E7E0A"/>
            </a:solidFill>
          </c:spPr>
          <c:invertIfNegative val="0"/>
          <c:xVal>
            <c:numRef>
              <c:numCache>
                <c:formatCode>General</c:formatCode>
                <c:ptCount val="1"/>
                <c:pt idx="0">
                  <c:v>94.19400450117462</c:v>
                </c:pt>
              </c:numCache>
            </c:numRef>
          </c:xVal>
          <c:yVal>
            <c:numRef>
              <c:numCache>
                <c:formatCode>General</c:formatCode>
                <c:ptCount val="1"/>
                <c:pt idx="0">
                  <c:v>91.0866833472338</c:v>
                </c:pt>
              </c:numCache>
            </c:numRef>
          </c:yVal>
          <c:bubbleSize>
            <c:numRef>
              <c:numCache>
                <c:formatCode>General</c:formatCode>
                <c:ptCount val="1"/>
                <c:pt idx="0">
                  <c:v>2383.423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1958.806</c:v>
                </c:pt>
                <c:pt idx="2">
                  <c:v>2130.502</c:v>
                </c:pt>
                <c:pt idx="3">
                  <c:v>2316.178</c:v>
                </c:pt>
                <c:pt idx="4">
                  <c:v>2517.059</c:v>
                </c:pt>
                <c:pt idx="5">
                  <c:v>2734.462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1958.806</c:v>
                </c:pt>
                <c:pt idx="1">
                  <c:v>171.6959999999999</c:v>
                </c:pt>
                <c:pt idx="2">
                  <c:v>185.67599999999993</c:v>
                </c:pt>
                <c:pt idx="3">
                  <c:v>200.8810000000003</c:v>
                </c:pt>
                <c:pt idx="4">
                  <c:v>217.4029999999998</c:v>
                </c:pt>
                <c:pt idx="5">
                  <c:v>235.34900000000016</c:v>
                </c:pt>
                <c:pt idx="6">
                  <c:v>2969.811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1638.194</c:v>
                </c:pt>
                <c:pt idx="2">
                  <c:v>1763.885</c:v>
                </c:pt>
                <c:pt idx="3">
                  <c:v>1900.359</c:v>
                </c:pt>
                <c:pt idx="4">
                  <c:v>2048.47</c:v>
                </c:pt>
                <c:pt idx="5">
                  <c:v>2209.151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1638.194</c:v>
                </c:pt>
                <c:pt idx="1">
                  <c:v>125.69100000000003</c:v>
                </c:pt>
                <c:pt idx="2">
                  <c:v>136.47399999999993</c:v>
                </c:pt>
                <c:pt idx="3">
                  <c:v>148.11099999999988</c:v>
                </c:pt>
                <c:pt idx="4">
                  <c:v>160.68100000000004</c:v>
                </c:pt>
                <c:pt idx="5">
                  <c:v>174.27199999999993</c:v>
                </c:pt>
                <c:pt idx="6">
                  <c:v>2383.423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Individually wrapped muffins within an outer pack</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53.68294492071372</c:v>
                </c:pt>
                <c:pt idx="1">
                  <c:v>54.4566583263831</c:v>
                </c:pt>
                <c:pt idx="2">
                  <c:v>55.47695094217813</c:v>
                </c:pt>
              </c:numCache>
            </c:numRef>
          </c:val>
        </c:ser>
        <c:ser>
          <c:idx val="1"/>
          <c:order val="1"/>
          <c:tx>
            <c:strRef>
              <c:strCache>
                <c:ptCount val="1"/>
                <c:pt idx="0">
                  <c:v>Shared pack without individual wrapping</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46.31705507928628</c:v>
                </c:pt>
                <c:pt idx="1">
                  <c:v>45.5433416736169</c:v>
                </c:pt>
                <c:pt idx="2">
                  <c:v>44.523049057821865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Economy / value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12.990961677305329</c:v>
                </c:pt>
                <c:pt idx="1">
                  <c:v>17.25701265876091</c:v>
                </c:pt>
              </c:numCache>
            </c:numRef>
          </c:val>
        </c:ser>
        <c:ser>
          <c:idx val="1"/>
          <c:order val="1"/>
          <c:tx>
            <c:strRef>
              <c:strCache>
                <c:ptCount val="1"/>
                <c:pt idx="0">
                  <c:v>Mid-range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33.94643986656703</c:v>
                </c:pt>
                <c:pt idx="1">
                  <c:v>32.01219469961659</c:v>
                </c:pt>
              </c:numCache>
            </c:numRef>
          </c:val>
        </c:ser>
        <c:ser>
          <c:idx val="2"/>
          <c:order val="2"/>
          <c:tx>
            <c:strRef>
              <c:strCache>
                <c:ptCount val="1"/>
                <c:pt idx="0">
                  <c:v>Premium</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31.79779527089449</c:v>
                </c:pt>
                <c:pt idx="1">
                  <c:v>31.67837532557017</c:v>
                </c:pt>
              </c:numCache>
            </c:numRef>
          </c:val>
        </c:ser>
        <c:ser>
          <c:idx val="3"/>
          <c:order val="3"/>
          <c:tx>
            <c:strRef>
              <c:strCache>
                <c:ptCount val="1"/>
                <c:pt idx="0">
                  <c:v>Super-premium / speciality</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21.264803185233145</c:v>
                </c:pt>
                <c:pt idx="1">
                  <c:v>19.052417316052335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Economy / value</c:v>
                </c:pt>
              </c:strCache>
            </c:strRef>
          </c:tx>
          <c:spPr>
            <a:solidFill>
              <a:srgbClr val="3D85C6"/>
            </a:solidFill>
          </c:spPr>
          <c:invertIfNegative val="0"/>
          <c:xVal>
            <c:numRef>
              <c:numCache>
                <c:formatCode>General</c:formatCode>
                <c:ptCount val="1"/>
                <c:pt idx="0">
                  <c:v>27.440931691899245</c:v>
                </c:pt>
              </c:numCache>
            </c:numRef>
          </c:xVal>
          <c:yVal>
            <c:numRef>
              <c:numCache>
                <c:formatCode>General</c:formatCode>
                <c:ptCount val="1"/>
                <c:pt idx="0">
                  <c:v>84.5608006672227</c:v>
                </c:pt>
              </c:numCache>
            </c:numRef>
          </c:yVal>
          <c:bubbleSize>
            <c:numRef>
              <c:numCache>
                <c:formatCode>General</c:formatCode>
                <c:ptCount val="1"/>
                <c:pt idx="0">
                  <c:v>849.417</c:v>
                </c:pt>
              </c:numCache>
            </c:numRef>
          </c:bubbleSize>
          <c:bubble3D val="0"/>
        </c:ser>
        <c:ser>
          <c:idx val="1"/>
          <c:order val="1"/>
          <c:tx>
            <c:strRef>
              <c:strCache>
                <c:ptCount val="1"/>
                <c:pt idx="0">
                  <c:v>Mid-range</c:v>
                </c:pt>
              </c:strCache>
            </c:strRef>
          </c:tx>
          <c:spPr>
            <a:solidFill>
              <a:srgbClr val="9E7E0A"/>
            </a:solidFill>
          </c:spPr>
          <c:invertIfNegative val="0"/>
          <c:xVal>
            <c:numRef>
              <c:numCache>
                <c:formatCode>General</c:formatCode>
                <c:ptCount val="1"/>
                <c:pt idx="0">
                  <c:v>163.17445189518108</c:v>
                </c:pt>
              </c:numCache>
            </c:numRef>
          </c:xVal>
          <c:yVal>
            <c:numRef>
              <c:numCache>
                <c:formatCode>General</c:formatCode>
                <c:ptCount val="1"/>
                <c:pt idx="0">
                  <c:v>102.3738671114818</c:v>
                </c:pt>
              </c:numCache>
            </c:numRef>
          </c:yVal>
          <c:bubbleSize>
            <c:numRef>
              <c:numCache>
                <c:formatCode>General</c:formatCode>
                <c:ptCount val="1"/>
                <c:pt idx="0">
                  <c:v>1747.417</c:v>
                </c:pt>
              </c:numCache>
            </c:numRef>
          </c:bubbleSize>
          <c:bubble3D val="0"/>
        </c:ser>
        <c:ser>
          <c:idx val="2"/>
          <c:order val="2"/>
          <c:tx>
            <c:strRef>
              <c:strCache>
                <c:ptCount val="1"/>
                <c:pt idx="0">
                  <c:v>Premium</c:v>
                </c:pt>
              </c:strCache>
            </c:strRef>
          </c:tx>
          <c:spPr>
            <a:solidFill>
              <a:srgbClr val="008189"/>
            </a:solidFill>
          </c:spPr>
          <c:invertIfNegative val="0"/>
          <c:xVal>
            <c:numRef>
              <c:numCache>
                <c:formatCode>General</c:formatCode>
                <c:ptCount val="1"/>
                <c:pt idx="0">
                  <c:v>52.544322986715784</c:v>
                </c:pt>
              </c:numCache>
            </c:numRef>
          </c:xVal>
          <c:yVal>
            <c:numRef>
              <c:numCache>
                <c:formatCode>General</c:formatCode>
                <c:ptCount val="1"/>
                <c:pt idx="0">
                  <c:v>152.91320544898525</c:v>
                </c:pt>
              </c:numCache>
            </c:numRef>
          </c:yVal>
          <c:bubbleSize>
            <c:numRef>
              <c:numCache>
                <c:formatCode>General</c:formatCode>
                <c:ptCount val="1"/>
                <c:pt idx="0">
                  <c:v>1697.9</c:v>
                </c:pt>
              </c:numCache>
            </c:numRef>
          </c:bubbleSize>
          <c:bubble3D val="0"/>
        </c:ser>
        <c:ser>
          <c:idx val="3"/>
          <c:order val="3"/>
          <c:tx>
            <c:strRef>
              <c:strCache>
                <c:ptCount val="1"/>
                <c:pt idx="0">
                  <c:v>Super-premium / speciality</c:v>
                </c:pt>
              </c:strCache>
            </c:strRef>
          </c:tx>
          <c:spPr>
            <a:solidFill>
              <a:srgbClr val="40315E"/>
            </a:solidFill>
          </c:spPr>
          <c:invertIfNegative val="0"/>
          <c:xVal>
            <c:numRef>
              <c:numCache>
                <c:formatCode>General</c:formatCode>
                <c:ptCount val="1"/>
                <c:pt idx="0">
                  <c:v>171.1956670915998</c:v>
                </c:pt>
              </c:numCache>
            </c:numRef>
          </c:xVal>
          <c:yVal>
            <c:numRef>
              <c:numCache>
                <c:formatCode>General</c:formatCode>
                <c:ptCount val="1"/>
                <c:pt idx="0">
                  <c:v>60.152126772310254</c:v>
                </c:pt>
              </c:numCache>
            </c:numRef>
          </c:yVal>
          <c:bubbleSize>
            <c:numRef>
              <c:numCache>
                <c:formatCode>General</c:formatCode>
                <c:ptCount val="1"/>
                <c:pt idx="0">
                  <c:v>1058.5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10.0"/>
          <c:min val="-1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760.413</c:v>
                </c:pt>
                <c:pt idx="2">
                  <c:v>782.937</c:v>
                </c:pt>
                <c:pt idx="3">
                  <c:v>803.631</c:v>
                </c:pt>
                <c:pt idx="4">
                  <c:v>822.003</c:v>
                </c:pt>
                <c:pt idx="5">
                  <c:v>837.481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760.413</c:v>
                </c:pt>
                <c:pt idx="1">
                  <c:v>22.524</c:v>
                </c:pt>
                <c:pt idx="2">
                  <c:v>20.69399999999996</c:v>
                </c:pt>
                <c:pt idx="3">
                  <c:v>18.37200000000007</c:v>
                </c:pt>
                <c:pt idx="4">
                  <c:v>15.477999999999952</c:v>
                </c:pt>
                <c:pt idx="5">
                  <c:v>11.936000000000035</c:v>
                </c:pt>
                <c:pt idx="6">
                  <c:v>849.417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920.597</c:v>
                </c:pt>
                <c:pt idx="2">
                  <c:v>1050.57</c:v>
                </c:pt>
                <c:pt idx="3">
                  <c:v>1196.35</c:v>
                </c:pt>
                <c:pt idx="4">
                  <c:v>1359.727</c:v>
                </c:pt>
                <c:pt idx="5">
                  <c:v>1542.682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920.597</c:v>
                </c:pt>
                <c:pt idx="1">
                  <c:v>129.97299999999996</c:v>
                </c:pt>
                <c:pt idx="2">
                  <c:v>145.77999999999997</c:v>
                </c:pt>
                <c:pt idx="3">
                  <c:v>163.37700000000018</c:v>
                </c:pt>
                <c:pt idx="4">
                  <c:v>182.95499999999993</c:v>
                </c:pt>
                <c:pt idx="5">
                  <c:v>204.7349999999999</c:v>
                </c:pt>
                <c:pt idx="6">
                  <c:v>1747.417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1375.072</c:v>
                </c:pt>
                <c:pt idx="2">
                  <c:v>1439.077</c:v>
                </c:pt>
                <c:pt idx="3">
                  <c:v>1503.776</c:v>
                </c:pt>
                <c:pt idx="4">
                  <c:v>1568.792</c:v>
                </c:pt>
                <c:pt idx="5">
                  <c:v>1633.678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1375.072</c:v>
                </c:pt>
                <c:pt idx="1">
                  <c:v>64.00500000000011</c:v>
                </c:pt>
                <c:pt idx="2">
                  <c:v>64.69900000000007</c:v>
                </c:pt>
                <c:pt idx="3">
                  <c:v>65.01599999999985</c:v>
                </c:pt>
                <c:pt idx="4">
                  <c:v>64.8860000000002</c:v>
                </c:pt>
                <c:pt idx="5">
                  <c:v>64.22199999999998</c:v>
                </c:pt>
                <c:pt idx="6">
                  <c:v>1697.9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540.918</c:v>
                </c:pt>
                <c:pt idx="2">
                  <c:v>621.803</c:v>
                </c:pt>
                <c:pt idx="3">
                  <c:v>712.78</c:v>
                </c:pt>
                <c:pt idx="4">
                  <c:v>815.007</c:v>
                </c:pt>
                <c:pt idx="5">
                  <c:v>929.772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540.918</c:v>
                </c:pt>
                <c:pt idx="1">
                  <c:v>80.88499999999999</c:v>
                </c:pt>
                <c:pt idx="2">
                  <c:v>90.97699999999998</c:v>
                </c:pt>
                <c:pt idx="3">
                  <c:v>102.22699999999998</c:v>
                </c:pt>
                <c:pt idx="4">
                  <c:v>114.7650000000001</c:v>
                </c:pt>
                <c:pt idx="5">
                  <c:v>128.72799999999995</c:v>
                </c:pt>
                <c:pt idx="6">
                  <c:v>1058.5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Mid-range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22.19294875014923</c:v>
                </c:pt>
                <c:pt idx="1">
                  <c:v>25.59346677787045</c:v>
                </c:pt>
                <c:pt idx="2">
                  <c:v>32.64226820647107</c:v>
                </c:pt>
              </c:numCache>
            </c:numRef>
          </c:val>
        </c:ser>
        <c:ser>
          <c:idx val="1"/>
          <c:order val="1"/>
          <c:tx>
            <c:strRef>
              <c:strCache>
                <c:ptCount val="1"/>
                <c:pt idx="0">
                  <c:v>Premium</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41.3607739243494</c:v>
                </c:pt>
                <c:pt idx="1">
                  <c:v>38.22830136224631</c:v>
                </c:pt>
                <c:pt idx="2">
                  <c:v>31.717275949454105</c:v>
                </c:pt>
              </c:numCache>
            </c:numRef>
          </c:val>
        </c:ser>
        <c:ser>
          <c:idx val="2"/>
          <c:order val="2"/>
          <c:tx>
            <c:strRef>
              <c:strCache>
                <c:ptCount val="1"/>
                <c:pt idx="0">
                  <c:v>Super-premium / speciality</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12.755738771175244</c:v>
                </c:pt>
                <c:pt idx="1">
                  <c:v>15.038031693077563</c:v>
                </c:pt>
                <c:pt idx="2">
                  <c:v>19.77309417073866</c:v>
                </c:pt>
              </c:numCache>
            </c:numRef>
          </c:val>
        </c:ser>
        <c:ser>
          <c:idx val="3"/>
          <c:order val="3"/>
          <c:tx>
            <c:strRef>
              <c:strCache>
                <c:ptCount val="1"/>
                <c:pt idx="0">
                  <c:v>Economy / value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23.69053855432612</c:v>
                </c:pt>
                <c:pt idx="1">
                  <c:v>21.140200166805673</c:v>
                </c:pt>
                <c:pt idx="2">
                  <c:v>15.867361673336156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Manufacturer brands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42.04950461550283</c:v>
                </c:pt>
                <c:pt idx="1">
                  <c:v>37.72344551241648</c:v>
                </c:pt>
              </c:numCache>
            </c:numRef>
          </c:val>
        </c:ser>
        <c:ser>
          <c:idx val="1"/>
          <c:order val="1"/>
          <c:tx>
            <c:strRef>
              <c:strCache>
                <c:ptCount val="1"/>
                <c:pt idx="0">
                  <c:v>Retailer private labels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45.537582642933785</c:v>
                </c:pt>
                <c:pt idx="1">
                  <c:v>43.81032277333002</c:v>
                </c:pt>
              </c:numCache>
            </c:numRef>
          </c:val>
        </c:ser>
        <c:ser>
          <c:idx val="2"/>
          <c:order val="2"/>
          <c:tx>
            <c:strRef>
              <c:strCache>
                <c:ptCount val="1"/>
                <c:pt idx="0">
                  <c:v>Foodservice / operator brands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12.412912741563382</c:v>
                </c:pt>
                <c:pt idx="1">
                  <c:v>18.466231714253496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Manufacturer brands</c:v>
                </c:pt>
              </c:strCache>
            </c:strRef>
          </c:tx>
          <c:spPr>
            <a:solidFill>
              <a:srgbClr val="3D85C6"/>
            </a:solidFill>
          </c:spPr>
          <c:invertIfNegative val="0"/>
          <c:xVal>
            <c:numRef>
              <c:numCache>
                <c:formatCode>General</c:formatCode>
                <c:ptCount val="1"/>
                <c:pt idx="0">
                  <c:v>92.47528159738725</c:v>
                </c:pt>
              </c:numCache>
            </c:numRef>
          </c:xVal>
          <c:yVal>
            <c:numRef>
              <c:numCache>
                <c:formatCode>General</c:formatCode>
                <c:ptCount val="1"/>
                <c:pt idx="0">
                  <c:v>120.8975813177648</c:v>
                </c:pt>
              </c:numCache>
            </c:numRef>
          </c:yVal>
          <c:bubbleSize>
            <c:numRef>
              <c:numCache>
                <c:formatCode>General</c:formatCode>
                <c:ptCount val="1"/>
                <c:pt idx="0">
                  <c:v>2094.862</c:v>
                </c:pt>
              </c:numCache>
            </c:numRef>
          </c:bubbleSize>
          <c:bubble3D val="0"/>
        </c:ser>
        <c:ser>
          <c:idx val="1"/>
          <c:order val="1"/>
          <c:tx>
            <c:strRef>
              <c:strCache>
                <c:ptCount val="1"/>
                <c:pt idx="0">
                  <c:v>Retailer private labels</c:v>
                </c:pt>
              </c:strCache>
            </c:strRef>
          </c:tx>
          <c:spPr>
            <a:solidFill>
              <a:srgbClr val="9E7E0A"/>
            </a:solidFill>
          </c:spPr>
          <c:invertIfNegative val="0"/>
          <c:xVal>
            <c:numRef>
              <c:numCache>
                <c:formatCode>General</c:formatCode>
                <c:ptCount val="1"/>
                <c:pt idx="0">
                  <c:v>107.76646172408739</c:v>
                </c:pt>
              </c:numCache>
            </c:numRef>
          </c:xVal>
          <c:yVal>
            <c:numRef>
              <c:numCache>
                <c:formatCode>General</c:formatCode>
                <c:ptCount val="1"/>
                <c:pt idx="0">
                  <c:v>129.15521267723102</c:v>
                </c:pt>
              </c:numCache>
            </c:numRef>
          </c:yVal>
          <c:bubbleSize>
            <c:numRef>
              <c:numCache>
                <c:formatCode>General</c:formatCode>
                <c:ptCount val="1"/>
                <c:pt idx="0">
                  <c:v>2375.389</c:v>
                </c:pt>
              </c:numCache>
            </c:numRef>
          </c:bubbleSize>
          <c:bubble3D val="0"/>
        </c:ser>
        <c:ser>
          <c:idx val="2"/>
          <c:order val="2"/>
          <c:tx>
            <c:strRef>
              <c:strCache>
                <c:ptCount val="1"/>
                <c:pt idx="0">
                  <c:v>Foodservice / operator brands</c:v>
                </c:pt>
              </c:strCache>
            </c:strRef>
          </c:tx>
          <c:spPr>
            <a:solidFill>
              <a:srgbClr val="008189"/>
            </a:solidFill>
          </c:spPr>
          <c:invertIfNegative val="0"/>
          <c:xVal>
            <c:numRef>
              <c:numCache>
                <c:formatCode>General</c:formatCode>
                <c:ptCount val="1"/>
                <c:pt idx="0">
                  <c:v>97.60648263179793</c:v>
                </c:pt>
              </c:numCache>
            </c:numRef>
          </c:xVal>
          <c:yVal>
            <c:numRef>
              <c:numCache>
                <c:formatCode>General</c:formatCode>
                <c:ptCount val="1"/>
                <c:pt idx="0">
                  <c:v>49.94720600500416</c:v>
                </c:pt>
              </c:numCache>
            </c:numRef>
          </c:yVal>
          <c:bubbleSize>
            <c:numRef>
              <c:numCache>
                <c:formatCode>General</c:formatCode>
                <c:ptCount val="1"/>
                <c:pt idx="0">
                  <c:v>882.983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1449.562</c:v>
                </c:pt>
                <c:pt idx="2">
                  <c:v>1559.172</c:v>
                </c:pt>
                <c:pt idx="3">
                  <c:v>1677.744</c:v>
                </c:pt>
                <c:pt idx="4">
                  <c:v>1806.01</c:v>
                </c:pt>
                <c:pt idx="5">
                  <c:v>1944.761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1449.562</c:v>
                </c:pt>
                <c:pt idx="1">
                  <c:v>109.61000000000013</c:v>
                </c:pt>
                <c:pt idx="2">
                  <c:v>118.57199999999989</c:v>
                </c:pt>
                <c:pt idx="3">
                  <c:v>128.26600000000008</c:v>
                </c:pt>
                <c:pt idx="4">
                  <c:v>138.75099999999998</c:v>
                </c:pt>
                <c:pt idx="5">
                  <c:v>150.1010000000001</c:v>
                </c:pt>
                <c:pt idx="6">
                  <c:v>2094.862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1548.571</c:v>
                </c:pt>
                <c:pt idx="2">
                  <c:v>1688.098</c:v>
                </c:pt>
                <c:pt idx="3">
                  <c:v>1839.478</c:v>
                </c:pt>
                <c:pt idx="4">
                  <c:v>2003.733</c:v>
                </c:pt>
                <c:pt idx="5">
                  <c:v>2181.97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1548.571</c:v>
                </c:pt>
                <c:pt idx="1">
                  <c:v>139.52700000000004</c:v>
                </c:pt>
                <c:pt idx="2">
                  <c:v>151.3800000000001</c:v>
                </c:pt>
                <c:pt idx="3">
                  <c:v>164.25499999999988</c:v>
                </c:pt>
                <c:pt idx="4">
                  <c:v>178.23699999999985</c:v>
                </c:pt>
                <c:pt idx="5">
                  <c:v>193.41900000000032</c:v>
                </c:pt>
                <c:pt idx="6">
                  <c:v>2375.389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598.867</c:v>
                </c:pt>
                <c:pt idx="2">
                  <c:v>647.117</c:v>
                </c:pt>
                <c:pt idx="3">
                  <c:v>699.315</c:v>
                </c:pt>
                <c:pt idx="4">
                  <c:v>755.786</c:v>
                </c:pt>
                <c:pt idx="5">
                  <c:v>816.882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598.867</c:v>
                </c:pt>
                <c:pt idx="1">
                  <c:v>48.25</c:v>
                </c:pt>
                <c:pt idx="2">
                  <c:v>52.19800000000009</c:v>
                </c:pt>
                <c:pt idx="3">
                  <c:v>56.47099999999989</c:v>
                </c:pt>
                <c:pt idx="4">
                  <c:v>61.096000000000004</c:v>
                </c:pt>
                <c:pt idx="5">
                  <c:v>66.101</c:v>
                </c:pt>
                <c:pt idx="6">
                  <c:v>882.983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Retailer private labels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42.22875756019945</c:v>
                </c:pt>
                <c:pt idx="1">
                  <c:v>43.05173755907701</c:v>
                </c:pt>
                <c:pt idx="2">
                  <c:v>44.37297155327041</c:v>
                </c:pt>
              </c:numCache>
            </c:numRef>
          </c:val>
        </c:ser>
        <c:ser>
          <c:idx val="1"/>
          <c:order val="1"/>
          <c:tx>
            <c:strRef>
              <c:strCache>
                <c:ptCount val="1"/>
                <c:pt idx="0">
                  <c:v>Manufacturer brands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41.03670712907807</c:v>
                </c:pt>
                <c:pt idx="1">
                  <c:v>40.29919377258827</c:v>
                </c:pt>
                <c:pt idx="2">
                  <c:v>39.132643930752884</c:v>
                </c:pt>
              </c:numCache>
            </c:numRef>
          </c:val>
        </c:ser>
        <c:ser>
          <c:idx val="2"/>
          <c:order val="2"/>
          <c:tx>
            <c:strRef>
              <c:strCache>
                <c:ptCount val="1"/>
                <c:pt idx="0">
                  <c:v>Foodservice / operator brands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16.734535310722485</c:v>
                </c:pt>
                <c:pt idx="1">
                  <c:v>16.64906866833472</c:v>
                </c:pt>
                <c:pt idx="2">
                  <c:v>16.494384515976694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Retail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55.75562981241509</c:v>
                </c:pt>
                <c:pt idx="1">
                  <c:v>58.7233410639942</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39.62817919746392</c:v>
                </c:pt>
                <c:pt idx="1">
                  <c:v>37.052592966714755</c:v>
                </c:pt>
              </c:numCache>
            </c:numRef>
          </c:val>
        </c:ser>
        <c:ser>
          <c:idx val="2"/>
          <c:order val="2"/>
          <c:tx>
            <c:strRef>
              <c:strCache>
                <c:ptCount val="1"/>
                <c:pt idx="0">
                  <c:v>Vending</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4.616190990120983</c:v>
                </c:pt>
                <c:pt idx="1">
                  <c:v>4.224065969291056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Retail</c:v>
                </c:pt>
              </c:strCache>
            </c:strRef>
          </c:tx>
          <c:spPr>
            <a:solidFill>
              <a:srgbClr val="3D85C6"/>
            </a:solidFill>
          </c:spPr>
          <c:invertIfNegative val="0"/>
          <c:xVal>
            <c:numRef>
              <c:numCache>
                <c:formatCode>General</c:formatCode>
                <c:ptCount val="1"/>
                <c:pt idx="0">
                  <c:v>83.71306032744499</c:v>
                </c:pt>
              </c:numCache>
            </c:numRef>
          </c:xVal>
          <c:yVal>
            <c:numRef>
              <c:numCache>
                <c:formatCode>General</c:formatCode>
                <c:ptCount val="1"/>
                <c:pt idx="0">
                  <c:v>184.66422018348624</c:v>
                </c:pt>
              </c:numCache>
            </c:numRef>
          </c:yVal>
          <c:bubbleSize>
            <c:numRef>
              <c:numCache>
                <c:formatCode>General</c:formatCode>
                <c:ptCount val="1"/>
                <c:pt idx="0">
                  <c:v>3091.8469999999998</c:v>
                </c:pt>
              </c:numCache>
            </c:numRef>
          </c:bubbleSize>
          <c:bubble3D val="0"/>
        </c:ser>
        <c:ser>
          <c:idx val="1"/>
          <c:order val="1"/>
          <c:tx>
            <c:strRef>
              <c:strCache>
                <c:ptCount val="1"/>
                <c:pt idx="0">
                  <c:v>Foodservice and institutional</c:v>
                </c:pt>
              </c:strCache>
            </c:strRef>
          </c:tx>
          <c:spPr>
            <a:solidFill>
              <a:srgbClr val="9E7E0A"/>
            </a:solidFill>
          </c:spPr>
          <c:invertIfNegative val="0"/>
          <c:xVal>
            <c:numRef>
              <c:numCache>
                <c:formatCode>General</c:formatCode>
                <c:ptCount val="1"/>
                <c:pt idx="0">
                  <c:v>127.74872523060168</c:v>
                </c:pt>
              </c:numCache>
            </c:numRef>
          </c:xVal>
          <c:yVal>
            <c:numRef>
              <c:numCache>
                <c:formatCode>General</c:formatCode>
                <c:ptCount val="1"/>
                <c:pt idx="0">
                  <c:v>102.08006672226857</c:v>
                </c:pt>
              </c:numCache>
            </c:numRef>
          </c:yVal>
          <c:bubbleSize>
            <c:numRef>
              <c:numCache>
                <c:formatCode>General</c:formatCode>
                <c:ptCount val="1"/>
                <c:pt idx="0">
                  <c:v>2028.425</c:v>
                </c:pt>
              </c:numCache>
            </c:numRef>
          </c:bubbleSize>
          <c:bubble3D val="0"/>
        </c:ser>
        <c:ser>
          <c:idx val="2"/>
          <c:order val="2"/>
          <c:tx>
            <c:strRef>
              <c:strCache>
                <c:ptCount val="1"/>
                <c:pt idx="0">
                  <c:v>Vending</c:v>
                </c:pt>
              </c:strCache>
            </c:strRef>
          </c:tx>
          <c:spPr>
            <a:solidFill>
              <a:srgbClr val="008189"/>
            </a:solidFill>
          </c:spPr>
          <c:invertIfNegative val="0"/>
          <c:xVal>
            <c:numRef>
              <c:numCache>
                <c:formatCode>General</c:formatCode>
                <c:ptCount val="1"/>
                <c:pt idx="0">
                  <c:v>96.09662301638339</c:v>
                </c:pt>
              </c:numCache>
            </c:numRef>
          </c:xVal>
          <c:yVal>
            <c:numRef>
              <c:numCache>
                <c:formatCode>General</c:formatCode>
                <c:ptCount val="1"/>
                <c:pt idx="0">
                  <c:v>13.255713094245205</c:v>
                </c:pt>
              </c:numCache>
            </c:numRef>
          </c:yVal>
          <c:bubbleSize>
            <c:numRef>
              <c:numCache>
                <c:formatCode>General</c:formatCode>
                <c:ptCount val="1"/>
                <c:pt idx="0">
                  <c:v>232.962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7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2214.124</c:v>
                </c:pt>
                <c:pt idx="2">
                  <c:v>2366.899</c:v>
                </c:pt>
                <c:pt idx="3">
                  <c:v>2530.288</c:v>
                </c:pt>
                <c:pt idx="4">
                  <c:v>2705.042</c:v>
                </c:pt>
                <c:pt idx="5">
                  <c:v>2891.945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2214.124</c:v>
                </c:pt>
                <c:pt idx="1">
                  <c:v>152.7750000000001</c:v>
                </c:pt>
                <c:pt idx="2">
                  <c:v>163.38900000000012</c:v>
                </c:pt>
                <c:pt idx="3">
                  <c:v>174.7539999999999</c:v>
                </c:pt>
                <c:pt idx="4">
                  <c:v>186.90300000000025</c:v>
                </c:pt>
                <c:pt idx="5">
                  <c:v>199.9019999999996</c:v>
                </c:pt>
                <c:pt idx="6">
                  <c:v>3091.8469999999998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1223.94</c:v>
                </c:pt>
                <c:pt idx="2">
                  <c:v>1355.945</c:v>
                </c:pt>
                <c:pt idx="3">
                  <c:v>1501.086</c:v>
                </c:pt>
                <c:pt idx="4">
                  <c:v>1660.608</c:v>
                </c:pt>
                <c:pt idx="5">
                  <c:v>1835.8890000000001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1223.94</c:v>
                </c:pt>
                <c:pt idx="1">
                  <c:v>132.00499999999988</c:v>
                </c:pt>
                <c:pt idx="2">
                  <c:v>145.14100000000008</c:v>
                </c:pt>
                <c:pt idx="3">
                  <c:v>159.52199999999993</c:v>
                </c:pt>
                <c:pt idx="4">
                  <c:v>175.28100000000018</c:v>
                </c:pt>
                <c:pt idx="5">
                  <c:v>192.53599999999983</c:v>
                </c:pt>
                <c:pt idx="6">
                  <c:v>2028.425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158.936</c:v>
                </c:pt>
                <c:pt idx="2">
                  <c:v>171.543</c:v>
                </c:pt>
                <c:pt idx="3">
                  <c:v>185.163</c:v>
                </c:pt>
                <c:pt idx="4">
                  <c:v>199.879</c:v>
                </c:pt>
                <c:pt idx="5">
                  <c:v>215.779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158.936</c:v>
                </c:pt>
                <c:pt idx="1">
                  <c:v>12.607</c:v>
                </c:pt>
                <c:pt idx="2">
                  <c:v>13.620000000000005</c:v>
                </c:pt>
                <c:pt idx="3">
                  <c:v>14.71599999999998</c:v>
                </c:pt>
                <c:pt idx="4">
                  <c:v>15.900000000000006</c:v>
                </c:pt>
                <c:pt idx="5">
                  <c:v>17.182999999999993</c:v>
                </c:pt>
                <c:pt idx="6">
                  <c:v>232.962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63.53995758264111</c:v>
                </c:pt>
                <c:pt idx="1">
                  <c:v>61.55474006116207</c:v>
                </c:pt>
                <c:pt idx="2">
                  <c:v>57.756619643378194</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32.0064806835314</c:v>
                </c:pt>
                <c:pt idx="1">
                  <c:v>34.02668890742285</c:v>
                </c:pt>
                <c:pt idx="2">
                  <c:v>37.89158105175302</c:v>
                </c:pt>
              </c:numCache>
            </c:numRef>
          </c:val>
        </c:ser>
        <c:ser>
          <c:idx val="2"/>
          <c:order val="2"/>
          <c:tx>
            <c:strRef>
              <c:strCache>
                <c:ptCount val="1"/>
                <c:pt idx="0">
                  <c:v>Vending</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4.453561733827485</c:v>
                </c:pt>
                <c:pt idx="1">
                  <c:v>4.418571031415068</c:v>
                </c:pt>
                <c:pt idx="2">
                  <c:v>4.351799304868796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Sweet muffins</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4089.0</c:v>
                </c:pt>
                <c:pt idx="1">
                  <c:v>4129.0</c:v>
                </c:pt>
                <c:pt idx="2">
                  <c:v>4163.0</c:v>
                </c:pt>
                <c:pt idx="3">
                  <c:v>4190.0</c:v>
                </c:pt>
                <c:pt idx="4">
                  <c:v>4212.0</c:v>
                </c:pt>
                <c:pt idx="5">
                  <c:v>4233.0</c:v>
                </c:pt>
                <c:pt idx="6">
                  <c:v>4257.0</c:v>
                </c:pt>
                <c:pt idx="7">
                  <c:v>4288.0</c:v>
                </c:pt>
                <c:pt idx="8">
                  <c:v>4327.0</c:v>
                </c:pt>
                <c:pt idx="9">
                  <c:v>4367.0</c:v>
                </c:pt>
                <c:pt idx="10">
                  <c:v>4398.0</c:v>
                </c:pt>
                <c:pt idx="11">
                  <c:v>4424.0</c:v>
                </c:pt>
                <c:pt idx="12">
                  <c:v>4445.0</c:v>
                </c:pt>
                <c:pt idx="13">
                  <c:v>4468.0</c:v>
                </c:pt>
                <c:pt idx="14">
                  <c:v>4498.0</c:v>
                </c:pt>
                <c:pt idx="15">
                  <c:v>4537.0</c:v>
                </c:pt>
              </c:numCache>
            </c:numRef>
          </c:val>
          <c:smooth val="0"/>
        </c:ser>
        <c:ser>
          <c:idx val="1"/>
          <c:order val="1"/>
          <c:tx>
            <c:strRef>
              <c:strCache>
                <c:ptCount val="1"/>
                <c:pt idx="0">
                  <c:v>Savoury muffins</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3314.0</c:v>
                </c:pt>
                <c:pt idx="1">
                  <c:v>3352.0</c:v>
                </c:pt>
                <c:pt idx="2">
                  <c:v>3375.0</c:v>
                </c:pt>
                <c:pt idx="3">
                  <c:v>3367.0</c:v>
                </c:pt>
                <c:pt idx="4">
                  <c:v>3393.0</c:v>
                </c:pt>
                <c:pt idx="5">
                  <c:v>3426.0</c:v>
                </c:pt>
                <c:pt idx="6">
                  <c:v>3440.0</c:v>
                </c:pt>
                <c:pt idx="7">
                  <c:v>3458.0</c:v>
                </c:pt>
                <c:pt idx="8">
                  <c:v>3477.0</c:v>
                </c:pt>
                <c:pt idx="9">
                  <c:v>3500.0</c:v>
                </c:pt>
                <c:pt idx="10">
                  <c:v>3524.0</c:v>
                </c:pt>
                <c:pt idx="11">
                  <c:v>3551.0</c:v>
                </c:pt>
                <c:pt idx="12">
                  <c:v>3580.0</c:v>
                </c:pt>
                <c:pt idx="13">
                  <c:v>3607.0</c:v>
                </c:pt>
                <c:pt idx="14">
                  <c:v>3633.0</c:v>
                </c:pt>
                <c:pt idx="15">
                  <c:v>3659.0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0"/>
          <c:min val="300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C55A11"/>
              </a:solidFill>
            </c:spPr>
          </c:dPt>
          <c:cat>
            <c:strRef>
              <c:strCache>
                <c:ptCount val="2"/>
                <c:pt idx="0">
                  <c:v>Savoury muffins</c:v>
                </c:pt>
                <c:pt idx="1">
                  <c:v>Sweet muffins</c:v>
                </c:pt>
              </c:strCache>
            </c:strRef>
          </c:cat>
          <c:val>
            <c:numRef>
              <c:numCache>
                <c:formatCode>General</c:formatCode>
                <c:ptCount val="2"/>
                <c:pt idx="0">
                  <c:v>89.4</c:v>
                </c:pt>
                <c:pt idx="1">
                  <c:v>110.5</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12.0"/>
          <c:min val="86.0"/>
        </c:scaling>
        <c:delete/>
        <c:axPos val="b"/>
        <c:majorTickMark val="out"/>
        <c:minorTickMark val="none"/>
        <c:tickLblPos val="nextTo"/>
        <c:crossAx val="-2068027336"/>
        <c:crosses val="autoZero"/>
      </c:valAx>
    </c:plotArea>
    <c:dispBlanksAs val="gap"/>
  </c:chart>
  <c:txPr>
    <a:bodyPr/>
    <a:lstStyle/>
    <a:p>
      <a:pPr>
        <a:defRPr sz="1800"/>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17.074931814674855</c:v>
                </c:pt>
                <c:pt idx="1">
                  <c:v>12.550885260107192</c:v>
                </c:pt>
                <c:pt idx="2">
                  <c:v>8.380043562697718</c:v>
                </c:pt>
                <c:pt idx="3">
                  <c:v>7.444952014860334</c:v>
                </c:pt>
                <c:pt idx="4">
                  <c:v>8.04660708305492</c:v>
                </c:pt>
                <c:pt idx="5">
                  <c:v>6.919214229256515</c:v>
                </c:pt>
                <c:pt idx="6">
                  <c:v>4.691071174682332</c:v>
                </c:pt>
                <c:pt idx="7">
                  <c:v>2.86510879859984</c:v>
                </c:pt>
                <c:pt idx="8">
                  <c:v>2.560369933335589</c:v>
                </c:pt>
                <c:pt idx="9">
                  <c:v>2.6169804142295043</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11.693602256562977</c:v>
                </c:pt>
                <c:pt idx="1">
                  <c:v>9.98907014549872</c:v>
                </c:pt>
                <c:pt idx="2">
                  <c:v>11.264513875278551</c:v>
                </c:pt>
                <c:pt idx="3">
                  <c:v>11.542462021743303</c:v>
                </c:pt>
                <c:pt idx="4">
                  <c:v>9.170712625473369</c:v>
                </c:pt>
                <c:pt idx="5">
                  <c:v>5.69371565484273</c:v>
                </c:pt>
                <c:pt idx="6">
                  <c:v>3.7515880157620747</c:v>
                </c:pt>
                <c:pt idx="7">
                  <c:v>3.240076671241286</c:v>
                </c:pt>
                <c:pt idx="8">
                  <c:v>3.3901784262482124</c:v>
                </c:pt>
                <c:pt idx="9">
                  <c:v>3.0300946920704144</c:v>
                </c:pt>
                <c:pt idx="10">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12.127056022733685</c:v>
                </c:pt>
                <c:pt idx="1">
                  <c:v>13.515963661294228</c:v>
                </c:pt>
                <c:pt idx="2">
                  <c:v>13.672509787055716</c:v>
                </c:pt>
                <c:pt idx="3">
                  <c:v>10.747277583816313</c:v>
                </c:pt>
                <c:pt idx="4">
                  <c:v>6.853819923875349</c:v>
                </c:pt>
                <c:pt idx="5">
                  <c:v>4.527540451517601</c:v>
                </c:pt>
                <c:pt idx="6">
                  <c:v>4.351504519294602</c:v>
                </c:pt>
                <c:pt idx="7">
                  <c:v>4.386878793633664</c:v>
                </c:pt>
                <c:pt idx="8">
                  <c:v>3.8343075690671227</c:v>
                </c:pt>
                <c:pt idx="9">
                  <c:v>2.614124464284719</c:v>
                </c:pt>
                <c:pt idx="10">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17.074931814674855</c:v>
                </c:pt>
                <c:pt idx="1">
                  <c:v>12.550885260107192</c:v>
                </c:pt>
                <c:pt idx="2">
                  <c:v>8.380043562697718</c:v>
                </c:pt>
                <c:pt idx="3">
                  <c:v>7.444952014860334</c:v>
                </c:pt>
                <c:pt idx="4">
                  <c:v>8.04660708305492</c:v>
                </c:pt>
                <c:pt idx="5">
                  <c:v>6.919214229256515</c:v>
                </c:pt>
                <c:pt idx="6">
                  <c:v>4.691071174682332</c:v>
                </c:pt>
                <c:pt idx="7">
                  <c:v>2.86510879859984</c:v>
                </c:pt>
                <c:pt idx="8">
                  <c:v>2.560369933335589</c:v>
                </c:pt>
                <c:pt idx="9">
                  <c:v>2.6169804142295043</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13.257277768762723</c:v>
                </c:pt>
                <c:pt idx="1">
                  <c:v>11.068290254169384</c:v>
                </c:pt>
                <c:pt idx="2">
                  <c:v>12.589358575079316</c:v>
                </c:pt>
                <c:pt idx="3">
                  <c:v>12.215437450069626</c:v>
                </c:pt>
                <c:pt idx="4">
                  <c:v>8.651701491037262</c:v>
                </c:pt>
                <c:pt idx="5">
                  <c:v>5.225916176548457</c:v>
                </c:pt>
                <c:pt idx="6">
                  <c:v>4.4928995088464045</c:v>
                </c:pt>
                <c:pt idx="7">
                  <c:v>4.585103214436975</c:v>
                </c:pt>
                <c:pt idx="8">
                  <c:v>3.999752878424063</c:v>
                </c:pt>
                <c:pt idx="9">
                  <c:v>2.5965461190797754</c:v>
                </c:pt>
                <c:pt idx="10">
                  <c:v>21.317716563546018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1211.1249075040898</c:v>
                </c:pt>
                <c:pt idx="1">
                  <c:v>673.7917098596855</c:v>
                </c:pt>
                <c:pt idx="2">
                  <c:v>848.1119531502166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598.6848779053987"/>
          <c:min val="0.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1698.907411638196</c:v>
                </c:pt>
                <c:pt idx="1">
                  <c:v>1034.121158875796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242.557783362419"/>
          <c:min val="0.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1143.4154096020775</c:v>
                </c:pt>
                <c:pt idx="1">
                  <c:v>1589.6131609119143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6920.748509999999</c:v>
                </c:pt>
                <c:pt idx="1">
                  <c:v>6221.076313540466</c:v>
                </c:pt>
              </c:numCache>
            </c:numRef>
          </c:val>
        </c:ser>
        <c:ser>
          <c:idx val="1"/>
          <c:order val="1"/>
          <c:tx>
            <c:strRef>
              <c:strCache>
                <c:ptCount val="1"/>
                <c:pt idx="0">
                  <c:v>SOM</c:v>
                </c:pt>
              </c:strCache>
            </c:strRef>
          </c:tx>
          <c:spPr>
            <a:solidFill>
              <a:srgbClr val="0E72AE"/>
            </a:solidFill>
            <a:ln>
              <a:noFill/>
            </a:ln>
          </c:spPr>
          <c:dLbls>
            <c:dLbl>
              <c:idx val="0"/>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1698.907411638196</c:v>
                </c:pt>
                <c:pt idx="1">
                  <c:v>1034.121158875796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858.5580928"/>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480.2057709155283</c:v>
                </c:pt>
                <c:pt idx="1">
                  <c:v>667.5976263594592</c:v>
                </c:pt>
                <c:pt idx="2">
                  <c:v>1244.8538832807953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643.20712593065"/>
          <c:min val="0.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1537.3660568895361</c:v>
                </c:pt>
                <c:pt idx="1">
                  <c:v>855.2912236662469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2029.323195094188"/>
          <c:min val="0.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845.6545968005311</c:v>
                </c:pt>
                <c:pt idx="1">
                  <c:v>1547.002683755252</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7320.0224625</c:v>
                </c:pt>
                <c:pt idx="1">
                  <c:v>6579.984562398569</c:v>
                </c:pt>
              </c:numCache>
            </c:numRef>
          </c:val>
        </c:ser>
        <c:ser>
          <c:idx val="1"/>
          <c:order val="1"/>
          <c:tx>
            <c:strRef>
              <c:strCache>
                <c:ptCount val="1"/>
                <c:pt idx="0">
                  <c:v>SOM</c:v>
                </c:pt>
              </c:strCache>
            </c:strRef>
          </c:tx>
          <c:spPr>
            <a:solidFill>
              <a:srgbClr val="0E72AE"/>
            </a:solidFill>
            <a:ln>
              <a:noFill/>
            </a:ln>
          </c:spPr>
          <c:dLbls>
            <c:dLbl>
              <c:idx val="0"/>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1537.3660568895361</c:v>
                </c:pt>
                <c:pt idx="1">
                  <c:v>855.2912236662469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9369.628752"/>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308.5250224090556</c:v>
                </c:pt>
                <c:pt idx="1">
                  <c:v>564.4018722043783</c:v>
                </c:pt>
                <c:pt idx="2">
                  <c:v>777.2906082956179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26.023602950215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690.4004379531278</c:v>
                </c:pt>
                <c:pt idx="1">
                  <c:v>959.817064955924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266.9585257418198"/>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708.2154819126263</c:v>
                </c:pt>
                <c:pt idx="1">
                  <c:v>942.0020209964254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7719.296415000001</c:v>
                </c:pt>
                <c:pt idx="1">
                  <c:v>6938.892811256674</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690.4004379531278</c:v>
                </c:pt>
                <c:pt idx="1">
                  <c:v>959.817064955924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9880.6994112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Market Segments  (1/2)</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Market Segments  (2/2)</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North America Packaged Muffins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By Flavour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By Primary Flour Base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By Primary Flour Base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By Dietary Formulation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By Nutritional Positioning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By Nutritional Positioning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By Recipe and Ingredient Claims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By Product Structure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By Surface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By Individual Muffin Size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By Storage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By Shelf Life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By Packaging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By Pack Configuration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By Multipack Wrapping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By Price Positioning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By Brand Ownership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By Sales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North America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North America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Snapshot</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Snapshot</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Snapshot</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(1/12)</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(2/12)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(3/12)</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(4/12)</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(5/12)</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(6/12)</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(7/12)</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(8/12)</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(9/12)</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(10/12)</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(11/12)</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(12/12)</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1.xml"/><Relationship Id="rId7" Type="http://schemas.openxmlformats.org/officeDocument/2006/relationships/slide" Target="slide24.xml"/><Relationship Id="rId8" Type="http://schemas.openxmlformats.org/officeDocument/2006/relationships/slide" Target="slide33.xml"/><Relationship Id="rId9" Type="http://schemas.openxmlformats.org/officeDocument/2006/relationships/slide" Target="slide34.xml"/><Relationship Id="rId10" Type="http://schemas.openxmlformats.org/officeDocument/2006/relationships/slide" Target="slide44.xml"/><Relationship Id="rId11" Type="http://schemas.openxmlformats.org/officeDocument/2006/relationships/slide" Target="slide52.xml"/><Relationship Id="rId12" Type="http://schemas.openxmlformats.org/officeDocument/2006/relationships/slide" Target="slide211.xml"/><Relationship Id="rId13" Type="http://schemas.openxmlformats.org/officeDocument/2006/relationships/slide" Target="slide212.xml"/><Relationship Id="rId14" Type="http://schemas.openxmlformats.org/officeDocument/2006/relationships/slide" Target="slide223.xml"/><Relationship Id="rId15" Type="http://schemas.openxmlformats.org/officeDocument/2006/relationships/slide" Target="slide227.xml"/><Relationship Id="rId16" Type="http://schemas.openxmlformats.org/officeDocument/2006/relationships/slide" Target="slide228.xml"/><Relationship Id="rId17" Type="http://schemas.openxmlformats.org/officeDocument/2006/relationships/slide" Target="slide236.xml"/><Relationship Id="rId18" Type="http://schemas.openxmlformats.org/officeDocument/2006/relationships/slide" Target="slide237.xml"/><Relationship Id="rId19" Type="http://schemas.openxmlformats.org/officeDocument/2006/relationships/slide" Target="slide251.xml"/><Relationship Id="rId20" Type="http://schemas.openxmlformats.org/officeDocument/2006/relationships/slide" Target="slide25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9.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8.xml"/><Relationship Id="rId6"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xml"/><Relationship Id="rId4"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1.xml"/><Relationship Id="rId6" Type="http://schemas.openxmlformats.org/officeDocument/2006/relationships/image" Target="../media/image2.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2.xml"/><Relationship Id="rId6"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 Id="rId4" Type="http://schemas.openxmlformats.org/officeDocument/2006/relationships/image" Target="../media/image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 Id="rId5" Type="http://schemas.openxmlformats.org/officeDocument/2006/relationships/image" Target="../media/image2.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 Id="rId4" Type="http://schemas.openxmlformats.org/officeDocument/2006/relationships/image" Target="../media/image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 Id="rId5"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 Id="rId4" Type="http://schemas.openxmlformats.org/officeDocument/2006/relationships/image" Target="../media/image43.png"/><Relationship Id="rId5" Type="http://schemas.openxmlformats.org/officeDocument/2006/relationships/image" Target="../media/image44.png"/><Relationship Id="rId6" Type="http://schemas.openxmlformats.org/officeDocument/2006/relationships/image" Target="../media/image45.png"/><Relationship Id="rId7" Type="http://schemas.openxmlformats.org/officeDocument/2006/relationships/image" Target="../media/image46.png"/><Relationship Id="rId8" Type="http://schemas.openxmlformats.org/officeDocument/2006/relationships/image" Target="../media/image47.png"/><Relationship Id="rId9" Type="http://schemas.openxmlformats.org/officeDocument/2006/relationships/image" Target="../media/image48.png"/><Relationship Id="rId10" Type="http://schemas.openxmlformats.org/officeDocument/2006/relationships/image" Target="../media/image2.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 Id="rId5" Type="http://schemas.openxmlformats.org/officeDocument/2006/relationships/image" Target="../media/image2.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 Id="rId5" Type="http://schemas.openxmlformats.org/officeDocument/2006/relationships/image" Target="../media/image2.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 Id="rId4" Type="http://schemas.openxmlformats.org/officeDocument/2006/relationships/image" Target="../media/image2.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 Id="rId4"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 Id="rId6" Type="http://schemas.openxmlformats.org/officeDocument/2006/relationships/image" Target="../media/image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 Id="rId4" Type="http://schemas.openxmlformats.org/officeDocument/2006/relationships/image" Target="../media/image2.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121.png"/><Relationship Id="rId5" Type="http://schemas.openxmlformats.org/officeDocument/2006/relationships/image" Target="../media/image122.png"/><Relationship Id="rId6" Type="http://schemas.openxmlformats.org/officeDocument/2006/relationships/image" Target="../media/image123.png"/><Relationship Id="rId7" Type="http://schemas.openxmlformats.org/officeDocument/2006/relationships/image" Target="../media/image124.png"/><Relationship Id="rId8" Type="http://schemas.openxmlformats.org/officeDocument/2006/relationships/image" Target="../media/image125.png"/><Relationship Id="rId9" Type="http://schemas.openxmlformats.org/officeDocument/2006/relationships/image" Target="../media/image126.png"/><Relationship Id="rId10" Type="http://schemas.openxmlformats.org/officeDocument/2006/relationships/image" Target="../media/image2.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5.xml"/><Relationship Id="rId6"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notesSlide" Target="../notesSlides/notesSlide26.xml"/><Relationship Id="rId6" Type="http://schemas.openxmlformats.org/officeDocument/2006/relationships/image" Target="../media/image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 Id="rId4" Type="http://schemas.openxmlformats.org/officeDocument/2006/relationships/image" Target="../media/image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 Id="rId4"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xml"/><Relationship Id="rId4" Type="http://schemas.openxmlformats.org/officeDocument/2006/relationships/notesSlide" Target="../notesSlides/notesSlide29.xml"/><Relationship Id="rId5"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 Id="rId4" Type="http://schemas.openxmlformats.org/officeDocument/2006/relationships/image" Target="../media/image2.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 Id="rId4"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 Id="rId4" Type="http://schemas.openxmlformats.org/officeDocument/2006/relationships/image" Target="../media/image137.png"/><Relationship Id="rId5" Type="http://schemas.openxmlformats.org/officeDocument/2006/relationships/image" Target="../media/image138.png"/><Relationship Id="rId6" Type="http://schemas.openxmlformats.org/officeDocument/2006/relationships/image" Target="../media/image126.png"/><Relationship Id="rId7" Type="http://schemas.openxmlformats.org/officeDocument/2006/relationships/image" Target="../media/image139.png"/><Relationship Id="rId8" Type="http://schemas.openxmlformats.org/officeDocument/2006/relationships/image" Target="../media/image140.png"/><Relationship Id="rId9" Type="http://schemas.openxmlformats.org/officeDocument/2006/relationships/image" Target="../media/image141.png"/><Relationship Id="rId10" Type="http://schemas.openxmlformats.org/officeDocument/2006/relationships/image" Target="../media/image2.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xml"/><Relationship Id="rId4" Type="http://schemas.openxmlformats.org/officeDocument/2006/relationships/chart" Target="../charts/chart21.xml"/><Relationship Id="rId5" Type="http://schemas.openxmlformats.org/officeDocument/2006/relationships/notesSlide" Target="../notesSlides/notesSlide33.xml"/><Relationship Id="rId6"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4.xml"/><Relationship Id="rId6" Type="http://schemas.openxmlformats.org/officeDocument/2006/relationships/image" Target="../media/image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 Id="rId4" Type="http://schemas.openxmlformats.org/officeDocument/2006/relationships/image" Target="../media/image2.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 Id="rId4" Type="http://schemas.openxmlformats.org/officeDocument/2006/relationships/image" Target="../media/image2.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notesSlide" Target="../notesSlides/notesSlide37.xml"/><Relationship Id="rId5" Type="http://schemas.openxmlformats.org/officeDocument/2006/relationships/image" Target="../media/image2.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xml"/><Relationship Id="rId4" Type="http://schemas.openxmlformats.org/officeDocument/2006/relationships/image" Target="../media/image2.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 Id="rId4"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 Id="rId4" Type="http://schemas.openxmlformats.org/officeDocument/2006/relationships/image" Target="../media/image152.png"/><Relationship Id="rId5" Type="http://schemas.openxmlformats.org/officeDocument/2006/relationships/image" Target="../media/image153.png"/><Relationship Id="rId6" Type="http://schemas.openxmlformats.org/officeDocument/2006/relationships/image" Target="../media/image154.png"/><Relationship Id="rId7" Type="http://schemas.openxmlformats.org/officeDocument/2006/relationships/image" Target="../media/image155.png"/><Relationship Id="rId8" Type="http://schemas.openxmlformats.org/officeDocument/2006/relationships/image" Target="../media/image156.png"/><Relationship Id="rId9" Type="http://schemas.openxmlformats.org/officeDocument/2006/relationships/image" Target="../media/image157.png"/><Relationship Id="rId10" Type="http://schemas.openxmlformats.org/officeDocument/2006/relationships/image" Target="../media/image158.png"/><Relationship Id="rId11" Type="http://schemas.openxmlformats.org/officeDocument/2006/relationships/image" Target="../media/image159.png"/><Relationship Id="rId12" Type="http://schemas.openxmlformats.org/officeDocument/2006/relationships/image" Target="../media/image160.png"/><Relationship Id="rId13" Type="http://schemas.openxmlformats.org/officeDocument/2006/relationships/image" Target="../media/image161.png"/><Relationship Id="rId14" Type="http://schemas.openxmlformats.org/officeDocument/2006/relationships/image" Target="../media/image162.png"/><Relationship Id="rId15" Type="http://schemas.openxmlformats.org/officeDocument/2006/relationships/image" Target="../media/image163.png"/><Relationship Id="rId16" Type="http://schemas.openxmlformats.org/officeDocument/2006/relationships/image" Target="../media/image2.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 Id="rId4" Type="http://schemas.openxmlformats.org/officeDocument/2006/relationships/image" Target="../media/image164.png"/><Relationship Id="rId5" Type="http://schemas.openxmlformats.org/officeDocument/2006/relationships/image" Target="../media/image165.png"/><Relationship Id="rId6" Type="http://schemas.openxmlformats.org/officeDocument/2006/relationships/image" Target="../media/image166.png"/><Relationship Id="rId7" Type="http://schemas.openxmlformats.org/officeDocument/2006/relationships/image" Target="../media/image167.png"/><Relationship Id="rId8" Type="http://schemas.openxmlformats.org/officeDocument/2006/relationships/image" Target="../media/image168.png"/><Relationship Id="rId9" Type="http://schemas.openxmlformats.org/officeDocument/2006/relationships/image" Target="../media/image169.png"/><Relationship Id="rId10" Type="http://schemas.openxmlformats.org/officeDocument/2006/relationships/image" Target="../media/image170.png"/><Relationship Id="rId11" Type="http://schemas.openxmlformats.org/officeDocument/2006/relationships/image" Target="../media/image171.png"/><Relationship Id="rId12" Type="http://schemas.openxmlformats.org/officeDocument/2006/relationships/image" Target="../media/image172.png"/><Relationship Id="rId13" Type="http://schemas.openxmlformats.org/officeDocument/2006/relationships/image" Target="../media/image173.png"/><Relationship Id="rId14" Type="http://schemas.openxmlformats.org/officeDocument/2006/relationships/image" Target="../media/image174.png"/><Relationship Id="rId15" Type="http://schemas.openxmlformats.org/officeDocument/2006/relationships/image" Target="../media/image175.png"/><Relationship Id="rId16" Type="http://schemas.openxmlformats.org/officeDocument/2006/relationships/image" Target="../media/image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xml"/><Relationship Id="rId4" Type="http://schemas.openxmlformats.org/officeDocument/2006/relationships/chart" Target="../charts/chart26.xml"/><Relationship Id="rId5" Type="http://schemas.openxmlformats.org/officeDocument/2006/relationships/notesSlide" Target="../notesSlides/notesSlide42.xml"/><Relationship Id="rId6"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notesSlide" Target="../notesSlides/notesSlide43.xml"/><Relationship Id="rId8" Type="http://schemas.openxmlformats.org/officeDocument/2006/relationships/image" Target="../media/image2.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chart" Target="../charts/chart32.xml"/><Relationship Id="rId5" Type="http://schemas.openxmlformats.org/officeDocument/2006/relationships/chart" Target="../charts/chart33.xml"/><Relationship Id="rId6" Type="http://schemas.openxmlformats.org/officeDocument/2006/relationships/chart" Target="../charts/chart34.xml"/><Relationship Id="rId7" Type="http://schemas.openxmlformats.org/officeDocument/2006/relationships/notesSlide" Target="../notesSlides/notesSlide44.xml"/><Relationship Id="rId8" Type="http://schemas.openxmlformats.org/officeDocument/2006/relationships/image" Target="../media/image2.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 Id="rId4" Type="http://schemas.openxmlformats.org/officeDocument/2006/relationships/image" Target="../media/image2.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 Id="rId4"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7.xml"/><Relationship Id="rId5"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xml"/><Relationship Id="rId4"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 Id="rId4"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 Id="rId4" Type="http://schemas.openxmlformats.org/officeDocument/2006/relationships/image" Target="../media/image214.png"/><Relationship Id="rId5" Type="http://schemas.openxmlformats.org/officeDocument/2006/relationships/image" Target="../media/image215.png"/><Relationship Id="rId6" Type="http://schemas.openxmlformats.org/officeDocument/2006/relationships/image" Target="../media/image216.png"/><Relationship Id="rId7" Type="http://schemas.openxmlformats.org/officeDocument/2006/relationships/image" Target="../media/image217.png"/><Relationship Id="rId8" Type="http://schemas.openxmlformats.org/officeDocument/2006/relationships/image" Target="../media/image218.png"/><Relationship Id="rId9" Type="http://schemas.openxmlformats.org/officeDocument/2006/relationships/image" Target="../media/image163.png"/><Relationship Id="rId10" Type="http://schemas.openxmlformats.org/officeDocument/2006/relationships/image" Target="../media/image219.png"/><Relationship Id="rId11" Type="http://schemas.openxmlformats.org/officeDocument/2006/relationships/image" Target="../media/image220.png"/><Relationship Id="rId12" Type="http://schemas.openxmlformats.org/officeDocument/2006/relationships/image" Target="../media/image221.png"/><Relationship Id="rId13" Type="http://schemas.openxmlformats.org/officeDocument/2006/relationships/image" Target="../media/image222.png"/><Relationship Id="rId14" Type="http://schemas.openxmlformats.org/officeDocument/2006/relationships/image" Target="../media/image223.png"/><Relationship Id="rId15" Type="http://schemas.openxmlformats.org/officeDocument/2006/relationships/image" Target="../media/image224.png"/><Relationship Id="rId16" Type="http://schemas.openxmlformats.org/officeDocument/2006/relationships/image" Target="../media/image2.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51.xml"/><Relationship Id="rId6" Type="http://schemas.openxmlformats.org/officeDocument/2006/relationships/image" Target="../media/image2.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52.xml"/><Relationship Id="rId8" Type="http://schemas.openxmlformats.org/officeDocument/2006/relationships/image" Target="../media/image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 Id="rId4" Type="http://schemas.openxmlformats.org/officeDocument/2006/relationships/image" Target="../media/image2.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 Id="rId4"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notesSlide" Target="../notesSlides/notesSlide55.xml"/><Relationship Id="rId5"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xml"/><Relationship Id="rId4"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 Id="rId4"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 Id="rId4" Type="http://schemas.openxmlformats.org/officeDocument/2006/relationships/image" Target="../media/image245.png"/><Relationship Id="rId5" Type="http://schemas.openxmlformats.org/officeDocument/2006/relationships/image" Target="../media/image246.png"/><Relationship Id="rId6" Type="http://schemas.openxmlformats.org/officeDocument/2006/relationships/image" Target="../media/image221.png"/><Relationship Id="rId7" Type="http://schemas.openxmlformats.org/officeDocument/2006/relationships/image" Target="../media/image247.png"/><Relationship Id="rId8" Type="http://schemas.openxmlformats.org/officeDocument/2006/relationships/image" Target="../media/image248.png"/><Relationship Id="rId9" Type="http://schemas.openxmlformats.org/officeDocument/2006/relationships/image" Target="../media/image249.png"/><Relationship Id="rId10" Type="http://schemas.openxmlformats.org/officeDocument/2006/relationships/image" Target="../media/image250.png"/><Relationship Id="rId11" Type="http://schemas.openxmlformats.org/officeDocument/2006/relationships/image" Target="../media/image251.png"/><Relationship Id="rId12" Type="http://schemas.openxmlformats.org/officeDocument/2006/relationships/image" Target="../media/image252.png"/><Relationship Id="rId13" Type="http://schemas.openxmlformats.org/officeDocument/2006/relationships/image" Target="../media/image253.png"/><Relationship Id="rId14" Type="http://schemas.openxmlformats.org/officeDocument/2006/relationships/image" Target="../media/image254.png"/><Relationship Id="rId15" Type="http://schemas.openxmlformats.org/officeDocument/2006/relationships/image" Target="../media/image255.png"/><Relationship Id="rId16" Type="http://schemas.openxmlformats.org/officeDocument/2006/relationships/image" Target="../media/image2.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56.png"/><Relationship Id="rId5" Type="http://schemas.openxmlformats.org/officeDocument/2006/relationships/image" Target="../media/image257.png"/><Relationship Id="rId6" Type="http://schemas.openxmlformats.org/officeDocument/2006/relationships/image" Target="../media/image258.png"/><Relationship Id="rId7" Type="http://schemas.openxmlformats.org/officeDocument/2006/relationships/image" Target="../media/image259.png"/><Relationship Id="rId8" Type="http://schemas.openxmlformats.org/officeDocument/2006/relationships/image" Target="../media/image260.png"/><Relationship Id="rId9" Type="http://schemas.openxmlformats.org/officeDocument/2006/relationships/image" Target="../media/image261.png"/><Relationship Id="rId10" Type="http://schemas.openxmlformats.org/officeDocument/2006/relationships/image" Target="../media/image262.png"/><Relationship Id="rId11" Type="http://schemas.openxmlformats.org/officeDocument/2006/relationships/image" Target="../media/image263.png"/><Relationship Id="rId12" Type="http://schemas.openxmlformats.org/officeDocument/2006/relationships/image" Target="../media/image264.png"/><Relationship Id="rId13" Type="http://schemas.openxmlformats.org/officeDocument/2006/relationships/image" Target="../media/image2.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xml"/><Relationship Id="rId4" Type="http://schemas.openxmlformats.org/officeDocument/2006/relationships/chart" Target="../charts/chart44.xml"/><Relationship Id="rId5" Type="http://schemas.openxmlformats.org/officeDocument/2006/relationships/notesSlide" Target="../notesSlides/notesSlide60.xml"/><Relationship Id="rId6"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chart" Target="../charts/chart46.xml"/><Relationship Id="rId5" Type="http://schemas.openxmlformats.org/officeDocument/2006/relationships/chart" Target="../charts/chart47.xml"/><Relationship Id="rId6" Type="http://schemas.openxmlformats.org/officeDocument/2006/relationships/chart" Target="../charts/chart48.xml"/><Relationship Id="rId7" Type="http://schemas.openxmlformats.org/officeDocument/2006/relationships/notesSlide" Target="../notesSlides/notesSlide61.xml"/><Relationship Id="rId8" Type="http://schemas.openxmlformats.org/officeDocument/2006/relationships/image" Target="../media/image2.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chart" Target="../charts/chart51.xml"/><Relationship Id="rId6" Type="http://schemas.openxmlformats.org/officeDocument/2006/relationships/notesSlide" Target="../notesSlides/notesSlide62.xml"/><Relationship Id="rId7"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 Id="rId4"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 Id="rId4"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5.xml"/><Relationship Id="rId5"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 Id="rId4"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 Id="rId4"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 Id="rId4" Type="http://schemas.openxmlformats.org/officeDocument/2006/relationships/image" Target="../media/image299.png"/><Relationship Id="rId5" Type="http://schemas.openxmlformats.org/officeDocument/2006/relationships/image" Target="../media/image300.png"/><Relationship Id="rId6" Type="http://schemas.openxmlformats.org/officeDocument/2006/relationships/image" Target="../media/image123.png"/><Relationship Id="rId7" Type="http://schemas.openxmlformats.org/officeDocument/2006/relationships/image" Target="../media/image301.png"/><Relationship Id="rId8" Type="http://schemas.openxmlformats.org/officeDocument/2006/relationships/image" Target="../media/image302.png"/><Relationship Id="rId9" Type="http://schemas.openxmlformats.org/officeDocument/2006/relationships/image" Target="../media/image303.png"/><Relationship Id="rId10" Type="http://schemas.openxmlformats.org/officeDocument/2006/relationships/image" Target="../media/image304.png"/><Relationship Id="rId11" Type="http://schemas.openxmlformats.org/officeDocument/2006/relationships/image" Target="../media/image305.png"/><Relationship Id="rId12" Type="http://schemas.openxmlformats.org/officeDocument/2006/relationships/image" Target="../media/image306.png"/><Relationship Id="rId13" Type="http://schemas.openxmlformats.org/officeDocument/2006/relationships/image" Target="../media/image2.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69.xml"/><Relationship Id="rId6" Type="http://schemas.openxmlformats.org/officeDocument/2006/relationships/image" Target="../media/image2.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chart" Target="../charts/chart57.xml"/><Relationship Id="rId6" Type="http://schemas.openxmlformats.org/officeDocument/2006/relationships/notesSlide" Target="../notesSlides/notesSlide70.xml"/><Relationship Id="rId7" Type="http://schemas.openxmlformats.org/officeDocument/2006/relationships/image" Target="../media/image2.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 Id="rId4"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 Id="rId4" Type="http://schemas.openxmlformats.org/officeDocument/2006/relationships/image" Target="../media/image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notesSlide" Target="../notesSlides/notesSlide73.xml"/><Relationship Id="rId5"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 Id="rId4" Type="http://schemas.openxmlformats.org/officeDocument/2006/relationships/image" Target="../media/image2.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 Id="rId4"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xml"/><Relationship Id="rId4" Type="http://schemas.openxmlformats.org/officeDocument/2006/relationships/image" Target="../media/image322.png"/><Relationship Id="rId5" Type="http://schemas.openxmlformats.org/officeDocument/2006/relationships/image" Target="../media/image323.png"/><Relationship Id="rId6" Type="http://schemas.openxmlformats.org/officeDocument/2006/relationships/image" Target="../media/image160.png"/><Relationship Id="rId7" Type="http://schemas.openxmlformats.org/officeDocument/2006/relationships/image" Target="../media/image324.png"/><Relationship Id="rId8" Type="http://schemas.openxmlformats.org/officeDocument/2006/relationships/image" Target="../media/image325.png"/><Relationship Id="rId9" Type="http://schemas.openxmlformats.org/officeDocument/2006/relationships/image" Target="../media/image326.png"/><Relationship Id="rId10" Type="http://schemas.openxmlformats.org/officeDocument/2006/relationships/image" Target="../media/image2.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xml"/><Relationship Id="rId4" Type="http://schemas.openxmlformats.org/officeDocument/2006/relationships/chart" Target="../charts/chart60.xml"/><Relationship Id="rId5" Type="http://schemas.openxmlformats.org/officeDocument/2006/relationships/notesSlide" Target="../notesSlides/notesSlide77.xml"/><Relationship Id="rId6" Type="http://schemas.openxmlformats.org/officeDocument/2006/relationships/image" Target="../media/image2.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xml"/><Relationship Id="rId4" Type="http://schemas.openxmlformats.org/officeDocument/2006/relationships/chart" Target="../charts/chart62.xml"/><Relationship Id="rId5" Type="http://schemas.openxmlformats.org/officeDocument/2006/relationships/notesSlide" Target="../notesSlides/notesSlide78.xml"/><Relationship Id="rId6" Type="http://schemas.openxmlformats.org/officeDocument/2006/relationships/image" Target="../media/image2.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xml"/><Relationship Id="rId4"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 Id="rId4" Type="http://schemas.openxmlformats.org/officeDocument/2006/relationships/image" Target="../media/image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xml"/><Relationship Id="rId4" Type="http://schemas.openxmlformats.org/officeDocument/2006/relationships/notesSlide" Target="../notesSlides/notesSlide81.xml"/><Relationship Id="rId5"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2.xml"/><Relationship Id="rId4" Type="http://schemas.openxmlformats.org/officeDocument/2006/relationships/image" Target="../media/image2.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 Id="rId4" Type="http://schemas.openxmlformats.org/officeDocument/2006/relationships/image" Target="../media/image2.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 Id="rId4" Type="http://schemas.openxmlformats.org/officeDocument/2006/relationships/image" Target="../media/image337.png"/><Relationship Id="rId5" Type="http://schemas.openxmlformats.org/officeDocument/2006/relationships/image" Target="../media/image338.png"/><Relationship Id="rId6" Type="http://schemas.openxmlformats.org/officeDocument/2006/relationships/image" Target="../media/image339.png"/><Relationship Id="rId7" Type="http://schemas.openxmlformats.org/officeDocument/2006/relationships/image" Target="../media/image340.png"/><Relationship Id="rId8" Type="http://schemas.openxmlformats.org/officeDocument/2006/relationships/image" Target="../media/image341.png"/><Relationship Id="rId9" Type="http://schemas.openxmlformats.org/officeDocument/2006/relationships/image" Target="../media/image342.png"/><Relationship Id="rId10" Type="http://schemas.openxmlformats.org/officeDocument/2006/relationships/image" Target="../media/image343.png"/><Relationship Id="rId11" Type="http://schemas.openxmlformats.org/officeDocument/2006/relationships/image" Target="../media/image344.png"/><Relationship Id="rId12" Type="http://schemas.openxmlformats.org/officeDocument/2006/relationships/image" Target="../media/image345.png"/><Relationship Id="rId13" Type="http://schemas.openxmlformats.org/officeDocument/2006/relationships/image" Target="../media/image346.png"/><Relationship Id="rId14" Type="http://schemas.openxmlformats.org/officeDocument/2006/relationships/image" Target="../media/image347.png"/><Relationship Id="rId15" Type="http://schemas.openxmlformats.org/officeDocument/2006/relationships/image" Target="../media/image348.png"/><Relationship Id="rId16" Type="http://schemas.openxmlformats.org/officeDocument/2006/relationships/image" Target="../media/image349.png"/><Relationship Id="rId17" Type="http://schemas.openxmlformats.org/officeDocument/2006/relationships/image" Target="../media/image350.png"/><Relationship Id="rId18" Type="http://schemas.openxmlformats.org/officeDocument/2006/relationships/image" Target="../media/image351.png"/><Relationship Id="rId19" Type="http://schemas.openxmlformats.org/officeDocument/2006/relationships/image" Target="../media/image352.png"/><Relationship Id="rId20" Type="http://schemas.openxmlformats.org/officeDocument/2006/relationships/image" Target="../media/image255.png"/><Relationship Id="rId21" Type="http://schemas.openxmlformats.org/officeDocument/2006/relationships/image" Target="../media/image2.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chart" Target="../charts/chart65.xml"/><Relationship Id="rId5" Type="http://schemas.openxmlformats.org/officeDocument/2006/relationships/notesSlide" Target="../notesSlides/notesSlide85.xml"/><Relationship Id="rId6" Type="http://schemas.openxmlformats.org/officeDocument/2006/relationships/image" Target="../media/image2.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chart" Target="../charts/chart67.xml"/><Relationship Id="rId5" Type="http://schemas.openxmlformats.org/officeDocument/2006/relationships/chart" Target="../charts/chart68.xml"/><Relationship Id="rId6" Type="http://schemas.openxmlformats.org/officeDocument/2006/relationships/chart" Target="../charts/chart69.xml"/><Relationship Id="rId7" Type="http://schemas.openxmlformats.org/officeDocument/2006/relationships/notesSlide" Target="../notesSlides/notesSlide86.xml"/><Relationship Id="rId8" Type="http://schemas.openxmlformats.org/officeDocument/2006/relationships/image" Target="../media/image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chart" Target="../charts/chart71.xml"/><Relationship Id="rId5" Type="http://schemas.openxmlformats.org/officeDocument/2006/relationships/notesSlide" Target="../notesSlides/notesSlide87.xml"/><Relationship Id="rId6" Type="http://schemas.openxmlformats.org/officeDocument/2006/relationships/image" Target="../media/image2.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 Id="rId4"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 Id="rId4" Type="http://schemas.openxmlformats.org/officeDocument/2006/relationships/image" Target="../media/image2.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2.xml"/><Relationship Id="rId4" Type="http://schemas.openxmlformats.org/officeDocument/2006/relationships/notesSlide" Target="../notesSlides/notesSlide90.xml"/><Relationship Id="rId5" Type="http://schemas.openxmlformats.org/officeDocument/2006/relationships/image" Target="../media/image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 Id="rId4"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xml"/><Relationship Id="rId4" Type="http://schemas.openxmlformats.org/officeDocument/2006/relationships/image" Target="../media/image382.png"/><Relationship Id="rId5" Type="http://schemas.openxmlformats.org/officeDocument/2006/relationships/image" Target="../media/image383.png"/><Relationship Id="rId6" Type="http://schemas.openxmlformats.org/officeDocument/2006/relationships/image" Target="../media/image384.png"/><Relationship Id="rId7" Type="http://schemas.openxmlformats.org/officeDocument/2006/relationships/image" Target="../media/image385.png"/><Relationship Id="rId8" Type="http://schemas.openxmlformats.org/officeDocument/2006/relationships/image" Target="../media/image386.png"/><Relationship Id="rId9" Type="http://schemas.openxmlformats.org/officeDocument/2006/relationships/image" Target="../media/image387.png"/><Relationship Id="rId10" Type="http://schemas.openxmlformats.org/officeDocument/2006/relationships/image" Target="../media/image388.png"/><Relationship Id="rId11" Type="http://schemas.openxmlformats.org/officeDocument/2006/relationships/image" Target="../media/image389.png"/><Relationship Id="rId12" Type="http://schemas.openxmlformats.org/officeDocument/2006/relationships/image" Target="../media/image172.png"/><Relationship Id="rId13" Type="http://schemas.openxmlformats.org/officeDocument/2006/relationships/image" Target="../media/image390.png"/><Relationship Id="rId14" Type="http://schemas.openxmlformats.org/officeDocument/2006/relationships/image" Target="../media/image391.png"/><Relationship Id="rId15" Type="http://schemas.openxmlformats.org/officeDocument/2006/relationships/image" Target="../media/image2.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notesSlide" Target="../notesSlides/notesSlide94.xml"/><Relationship Id="rId6" Type="http://schemas.openxmlformats.org/officeDocument/2006/relationships/image" Target="../media/image2.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xml"/><Relationship Id="rId4" Type="http://schemas.openxmlformats.org/officeDocument/2006/relationships/chart" Target="../charts/chart76.xml"/><Relationship Id="rId5" Type="http://schemas.openxmlformats.org/officeDocument/2006/relationships/chart" Target="../charts/chart77.xml"/><Relationship Id="rId6" Type="http://schemas.openxmlformats.org/officeDocument/2006/relationships/chart" Target="../charts/chart78.xml"/><Relationship Id="rId7" Type="http://schemas.openxmlformats.org/officeDocument/2006/relationships/notesSlide" Target="../notesSlides/notesSlide95.xml"/><Relationship Id="rId8" Type="http://schemas.openxmlformats.org/officeDocument/2006/relationships/image" Target="../media/image2.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xml"/><Relationship Id="rId4" Type="http://schemas.openxmlformats.org/officeDocument/2006/relationships/image" Target="../media/image2.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 Id="rId4"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notesSlide" Target="../notesSlides/notesSlide98.xml"/><Relationship Id="rId5"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xml"/><Relationship Id="rId4" Type="http://schemas.openxmlformats.org/officeDocument/2006/relationships/image" Target="../media/image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 Id="rId4" Type="http://schemas.openxmlformats.org/officeDocument/2006/relationships/image" Target="../media/image410.png"/><Relationship Id="rId5" Type="http://schemas.openxmlformats.org/officeDocument/2006/relationships/image" Target="../media/image411.png"/><Relationship Id="rId6" Type="http://schemas.openxmlformats.org/officeDocument/2006/relationships/image" Target="../media/image412.png"/><Relationship Id="rId7" Type="http://schemas.openxmlformats.org/officeDocument/2006/relationships/image" Target="../media/image413.png"/><Relationship Id="rId8" Type="http://schemas.openxmlformats.org/officeDocument/2006/relationships/image" Target="../media/image414.png"/><Relationship Id="rId9" Type="http://schemas.openxmlformats.org/officeDocument/2006/relationships/image" Target="../media/image339.png"/><Relationship Id="rId10" Type="http://schemas.openxmlformats.org/officeDocument/2006/relationships/image" Target="../media/image415.png"/><Relationship Id="rId11" Type="http://schemas.openxmlformats.org/officeDocument/2006/relationships/image" Target="../media/image416.png"/><Relationship Id="rId12" Type="http://schemas.openxmlformats.org/officeDocument/2006/relationships/image" Target="../media/image417.png"/><Relationship Id="rId13" Type="http://schemas.openxmlformats.org/officeDocument/2006/relationships/image" Target="../media/image2.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xml"/><Relationship Id="rId4" Type="http://schemas.openxmlformats.org/officeDocument/2006/relationships/chart" Target="../charts/chart81.xml"/><Relationship Id="rId5" Type="http://schemas.openxmlformats.org/officeDocument/2006/relationships/notesSlide" Target="../notesSlides/notesSlide102.xml"/><Relationship Id="rId6"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chart" Target="../charts/chart84.xml"/><Relationship Id="rId6" Type="http://schemas.openxmlformats.org/officeDocument/2006/relationships/notesSlide" Target="../notesSlides/notesSlide103.xml"/><Relationship Id="rId7" Type="http://schemas.openxmlformats.org/officeDocument/2006/relationships/image" Target="../media/image2.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 Id="rId4" Type="http://schemas.openxmlformats.org/officeDocument/2006/relationships/image" Target="../media/image2.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 Id="rId4"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notesSlide" Target="../notesSlides/notesSlide106.xml"/><Relationship Id="rId5" Type="http://schemas.openxmlformats.org/officeDocument/2006/relationships/image" Target="../media/image2.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 Id="rId4" Type="http://schemas.openxmlformats.org/officeDocument/2006/relationships/image" Target="../media/image2.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 Id="rId4"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 Id="rId4" Type="http://schemas.openxmlformats.org/officeDocument/2006/relationships/image" Target="../media/image433.png"/><Relationship Id="rId5" Type="http://schemas.openxmlformats.org/officeDocument/2006/relationships/image" Target="../media/image434.png"/><Relationship Id="rId6" Type="http://schemas.openxmlformats.org/officeDocument/2006/relationships/image" Target="../media/image123.png"/><Relationship Id="rId7" Type="http://schemas.openxmlformats.org/officeDocument/2006/relationships/image" Target="../media/image435.png"/><Relationship Id="rId8" Type="http://schemas.openxmlformats.org/officeDocument/2006/relationships/image" Target="../media/image436.png"/><Relationship Id="rId9" Type="http://schemas.openxmlformats.org/officeDocument/2006/relationships/image" Target="../media/image437.png"/><Relationship Id="rId10" Type="http://schemas.openxmlformats.org/officeDocument/2006/relationships/image" Target="../media/image438.png"/><Relationship Id="rId11" Type="http://schemas.openxmlformats.org/officeDocument/2006/relationships/image" Target="../media/image439.png"/><Relationship Id="rId12" Type="http://schemas.openxmlformats.org/officeDocument/2006/relationships/image" Target="../media/image339.png"/><Relationship Id="rId13" Type="http://schemas.openxmlformats.org/officeDocument/2006/relationships/image" Target="../media/image440.png"/><Relationship Id="rId14" Type="http://schemas.openxmlformats.org/officeDocument/2006/relationships/image" Target="../media/image441.png"/><Relationship Id="rId15" Type="http://schemas.openxmlformats.org/officeDocument/2006/relationships/image" Target="../media/image45.png"/><Relationship Id="rId16" Type="http://schemas.openxmlformats.org/officeDocument/2006/relationships/image" Target="../media/image2.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chart" Target="../charts/chart87.xml"/><Relationship Id="rId5" Type="http://schemas.openxmlformats.org/officeDocument/2006/relationships/notesSlide" Target="../notesSlides/notesSlide110.xml"/><Relationship Id="rId6"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xml"/><Relationship Id="rId4" Type="http://schemas.openxmlformats.org/officeDocument/2006/relationships/chart" Target="../charts/chart89.xml"/><Relationship Id="rId5" Type="http://schemas.openxmlformats.org/officeDocument/2006/relationships/chart" Target="../charts/chart90.xml"/><Relationship Id="rId6" Type="http://schemas.openxmlformats.org/officeDocument/2006/relationships/chart" Target="../charts/chart91.xml"/><Relationship Id="rId7" Type="http://schemas.openxmlformats.org/officeDocument/2006/relationships/notesSlide" Target="../notesSlides/notesSlide111.xml"/><Relationship Id="rId8" Type="http://schemas.openxmlformats.org/officeDocument/2006/relationships/image" Target="../media/image2.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 Id="rId4" Type="http://schemas.openxmlformats.org/officeDocument/2006/relationships/image" Target="../media/image2.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 Id="rId4" Type="http://schemas.openxmlformats.org/officeDocument/2006/relationships/image" Target="../media/image2.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2.xml"/><Relationship Id="rId4" Type="http://schemas.openxmlformats.org/officeDocument/2006/relationships/notesSlide" Target="../notesSlides/notesSlide114.xml"/><Relationship Id="rId5" Type="http://schemas.openxmlformats.org/officeDocument/2006/relationships/image" Target="../media/image2.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 Id="rId4" Type="http://schemas.openxmlformats.org/officeDocument/2006/relationships/image" Target="../media/image2.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 Id="rId4"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 Id="rId4" Type="http://schemas.openxmlformats.org/officeDocument/2006/relationships/image" Target="../media/image462.png"/><Relationship Id="rId5" Type="http://schemas.openxmlformats.org/officeDocument/2006/relationships/image" Target="../media/image463.png"/><Relationship Id="rId6" Type="http://schemas.openxmlformats.org/officeDocument/2006/relationships/image" Target="../media/image342.png"/><Relationship Id="rId7" Type="http://schemas.openxmlformats.org/officeDocument/2006/relationships/image" Target="../media/image464.png"/><Relationship Id="rId8" Type="http://schemas.openxmlformats.org/officeDocument/2006/relationships/image" Target="../media/image465.png"/><Relationship Id="rId9" Type="http://schemas.openxmlformats.org/officeDocument/2006/relationships/image" Target="../media/image466.png"/><Relationship Id="rId10" Type="http://schemas.openxmlformats.org/officeDocument/2006/relationships/image" Target="../media/image467.png"/><Relationship Id="rId11" Type="http://schemas.openxmlformats.org/officeDocument/2006/relationships/image" Target="../media/image468.png"/><Relationship Id="rId12" Type="http://schemas.openxmlformats.org/officeDocument/2006/relationships/image" Target="../media/image469.png"/><Relationship Id="rId13" Type="http://schemas.openxmlformats.org/officeDocument/2006/relationships/image" Target="../media/image470.png"/><Relationship Id="rId14" Type="http://schemas.openxmlformats.org/officeDocument/2006/relationships/image" Target="../media/image471.png"/><Relationship Id="rId15" Type="http://schemas.openxmlformats.org/officeDocument/2006/relationships/image" Target="../media/image2.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chart" Target="../charts/chart94.xml"/><Relationship Id="rId5" Type="http://schemas.openxmlformats.org/officeDocument/2006/relationships/notesSlide" Target="../notesSlides/notesSlide118.xml"/><Relationship Id="rId6"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19.xml"/><Relationship Id="rId8"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 Id="rId4" Type="http://schemas.openxmlformats.org/officeDocument/2006/relationships/image" Target="../media/image2.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 Id="rId4" Type="http://schemas.openxmlformats.org/officeDocument/2006/relationships/image" Target="../media/image2.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22.xml"/><Relationship Id="rId5" Type="http://schemas.openxmlformats.org/officeDocument/2006/relationships/image" Target="../media/image2.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xml"/><Relationship Id="rId4" Type="http://schemas.openxmlformats.org/officeDocument/2006/relationships/image" Target="../media/image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 Id="rId4"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 Id="rId4" Type="http://schemas.openxmlformats.org/officeDocument/2006/relationships/image" Target="../media/image492.png"/><Relationship Id="rId5" Type="http://schemas.openxmlformats.org/officeDocument/2006/relationships/image" Target="../media/image493.png"/><Relationship Id="rId6" Type="http://schemas.openxmlformats.org/officeDocument/2006/relationships/image" Target="../media/image252.png"/><Relationship Id="rId7" Type="http://schemas.openxmlformats.org/officeDocument/2006/relationships/image" Target="../media/image494.png"/><Relationship Id="rId8" Type="http://schemas.openxmlformats.org/officeDocument/2006/relationships/image" Target="../media/image495.png"/><Relationship Id="rId9" Type="http://schemas.openxmlformats.org/officeDocument/2006/relationships/image" Target="../media/image496.png"/><Relationship Id="rId10" Type="http://schemas.openxmlformats.org/officeDocument/2006/relationships/image" Target="../media/image497.png"/><Relationship Id="rId11" Type="http://schemas.openxmlformats.org/officeDocument/2006/relationships/image" Target="../media/image498.png"/><Relationship Id="rId12" Type="http://schemas.openxmlformats.org/officeDocument/2006/relationships/image" Target="../media/image437.png"/><Relationship Id="rId13" Type="http://schemas.openxmlformats.org/officeDocument/2006/relationships/image" Target="../media/image2.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26.xml"/><Relationship Id="rId6"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chart" Target="../charts/chart104.xml"/><Relationship Id="rId6" Type="http://schemas.openxmlformats.org/officeDocument/2006/relationships/notesSlide" Target="../notesSlides/notesSlide127.xml"/><Relationship Id="rId7" Type="http://schemas.openxmlformats.org/officeDocument/2006/relationships/image" Target="../media/image2.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 Id="rId4"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30.xml"/><Relationship Id="rId5" Type="http://schemas.openxmlformats.org/officeDocument/2006/relationships/image" Target="../media/image2.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 Id="rId4" Type="http://schemas.openxmlformats.org/officeDocument/2006/relationships/image" Target="../media/image2.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 Id="rId4" Type="http://schemas.openxmlformats.org/officeDocument/2006/relationships/image" Target="../media/image2.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 Id="rId4" Type="http://schemas.openxmlformats.org/officeDocument/2006/relationships/image" Target="../media/image514.png"/><Relationship Id="rId5" Type="http://schemas.openxmlformats.org/officeDocument/2006/relationships/image" Target="../media/image515.png"/><Relationship Id="rId6" Type="http://schemas.openxmlformats.org/officeDocument/2006/relationships/image" Target="../media/image175.png"/><Relationship Id="rId7" Type="http://schemas.openxmlformats.org/officeDocument/2006/relationships/image" Target="../media/image516.png"/><Relationship Id="rId8" Type="http://schemas.openxmlformats.org/officeDocument/2006/relationships/image" Target="../media/image517.png"/><Relationship Id="rId9" Type="http://schemas.openxmlformats.org/officeDocument/2006/relationships/image" Target="../media/image45.png"/><Relationship Id="rId10" Type="http://schemas.openxmlformats.org/officeDocument/2006/relationships/image" Target="../media/image2.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chart" Target="../charts/chart107.xml"/><Relationship Id="rId5" Type="http://schemas.openxmlformats.org/officeDocument/2006/relationships/notesSlide" Target="../notesSlides/notesSlide134.xml"/><Relationship Id="rId6"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chart" Target="../charts/chart109.xml"/><Relationship Id="rId5" Type="http://schemas.openxmlformats.org/officeDocument/2006/relationships/notesSlide" Target="../notesSlides/notesSlide135.xml"/><Relationship Id="rId6" Type="http://schemas.openxmlformats.org/officeDocument/2006/relationships/image" Target="../media/image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 Id="rId4"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xml"/><Relationship Id="rId4" Type="http://schemas.openxmlformats.org/officeDocument/2006/relationships/notesSlide" Target="../notesSlides/notesSlide138.xml"/><Relationship Id="rId5" Type="http://schemas.openxmlformats.org/officeDocument/2006/relationships/image" Target="../media/image2.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 Id="rId4" Type="http://schemas.openxmlformats.org/officeDocument/2006/relationships/image" Target="../media/image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 Id="rId4" Type="http://schemas.openxmlformats.org/officeDocument/2006/relationships/image" Target="../media/image2.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 Id="rId4" Type="http://schemas.openxmlformats.org/officeDocument/2006/relationships/image" Target="../media/image528.png"/><Relationship Id="rId5" Type="http://schemas.openxmlformats.org/officeDocument/2006/relationships/image" Target="../media/image529.png"/><Relationship Id="rId6" Type="http://schemas.openxmlformats.org/officeDocument/2006/relationships/image" Target="../media/image306.png"/><Relationship Id="rId7" Type="http://schemas.openxmlformats.org/officeDocument/2006/relationships/image" Target="../media/image530.png"/><Relationship Id="rId8" Type="http://schemas.openxmlformats.org/officeDocument/2006/relationships/image" Target="../media/image531.png"/><Relationship Id="rId9" Type="http://schemas.openxmlformats.org/officeDocument/2006/relationships/image" Target="../media/image532.png"/><Relationship Id="rId10" Type="http://schemas.openxmlformats.org/officeDocument/2006/relationships/image" Target="../media/image533.png"/><Relationship Id="rId11" Type="http://schemas.openxmlformats.org/officeDocument/2006/relationships/image" Target="../media/image534.png"/><Relationship Id="rId12" Type="http://schemas.openxmlformats.org/officeDocument/2006/relationships/image" Target="../media/image348.png"/><Relationship Id="rId13" Type="http://schemas.openxmlformats.org/officeDocument/2006/relationships/image" Target="../media/image535.png"/><Relationship Id="rId14" Type="http://schemas.openxmlformats.org/officeDocument/2006/relationships/image" Target="../media/image536.png"/><Relationship Id="rId15" Type="http://schemas.openxmlformats.org/officeDocument/2006/relationships/image" Target="../media/image537.png"/><Relationship Id="rId16" Type="http://schemas.openxmlformats.org/officeDocument/2006/relationships/image" Target="../media/image2.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2.xml"/><Relationship Id="rId6"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chart" Target="../charts/chart115.xml"/><Relationship Id="rId6" Type="http://schemas.openxmlformats.org/officeDocument/2006/relationships/chart" Target="../charts/chart116.xml"/><Relationship Id="rId7" Type="http://schemas.openxmlformats.org/officeDocument/2006/relationships/notesSlide" Target="../notesSlides/notesSlide143.xml"/><Relationship Id="rId8"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 Id="rId4"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notesSlide" Target="../notesSlides/notesSlide146.xml"/><Relationship Id="rId5" Type="http://schemas.openxmlformats.org/officeDocument/2006/relationships/image" Target="../media/image2.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 Id="rId4" Type="http://schemas.openxmlformats.org/officeDocument/2006/relationships/image" Target="../media/image2.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 Id="rId4" Type="http://schemas.openxmlformats.org/officeDocument/2006/relationships/image" Target="../media/image2.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 Id="rId4" Type="http://schemas.openxmlformats.org/officeDocument/2006/relationships/image" Target="../media/image558.png"/><Relationship Id="rId5" Type="http://schemas.openxmlformats.org/officeDocument/2006/relationships/image" Target="../media/image559.png"/><Relationship Id="rId6" Type="http://schemas.openxmlformats.org/officeDocument/2006/relationships/image" Target="../media/image123.png"/><Relationship Id="rId7" Type="http://schemas.openxmlformats.org/officeDocument/2006/relationships/image" Target="../media/image560.png"/><Relationship Id="rId8" Type="http://schemas.openxmlformats.org/officeDocument/2006/relationships/image" Target="../media/image561.png"/><Relationship Id="rId9" Type="http://schemas.openxmlformats.org/officeDocument/2006/relationships/image" Target="../media/image45.png"/><Relationship Id="rId10" Type="http://schemas.openxmlformats.org/officeDocument/2006/relationships/image" Target="../media/image562.png"/><Relationship Id="rId11" Type="http://schemas.openxmlformats.org/officeDocument/2006/relationships/image" Target="../media/image563.png"/><Relationship Id="rId12" Type="http://schemas.openxmlformats.org/officeDocument/2006/relationships/image" Target="../media/image384.png"/><Relationship Id="rId13" Type="http://schemas.openxmlformats.org/officeDocument/2006/relationships/image" Target="../media/image2.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8.xml"/><Relationship Id="rId4" Type="http://schemas.openxmlformats.org/officeDocument/2006/relationships/chart" Target="../charts/chart119.xml"/><Relationship Id="rId5" Type="http://schemas.openxmlformats.org/officeDocument/2006/relationships/notesSlide" Target="../notesSlides/notesSlide150.xml"/><Relationship Id="rId6" Type="http://schemas.openxmlformats.org/officeDocument/2006/relationships/image" Target="../media/image2.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xml"/><Relationship Id="rId4" Type="http://schemas.openxmlformats.org/officeDocument/2006/relationships/chart" Target="../charts/chart121.xml"/><Relationship Id="rId5" Type="http://schemas.openxmlformats.org/officeDocument/2006/relationships/chart" Target="../charts/chart122.xml"/><Relationship Id="rId6" Type="http://schemas.openxmlformats.org/officeDocument/2006/relationships/notesSlide" Target="../notesSlides/notesSlide151.xml"/><Relationship Id="rId7"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 Id="rId4"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xml"/><Relationship Id="rId4" Type="http://schemas.openxmlformats.org/officeDocument/2006/relationships/notesSlide" Target="../notesSlides/notesSlide154.xml"/><Relationship Id="rId5" Type="http://schemas.openxmlformats.org/officeDocument/2006/relationships/image" Target="../media/image2.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 Id="rId4" Type="http://schemas.openxmlformats.org/officeDocument/2006/relationships/image" Target="../media/image2.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xml"/><Relationship Id="rId4" Type="http://schemas.openxmlformats.org/officeDocument/2006/relationships/image" Target="../media/image2.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xml"/><Relationship Id="rId4" Type="http://schemas.openxmlformats.org/officeDocument/2006/relationships/image" Target="../media/image579.png"/><Relationship Id="rId5" Type="http://schemas.openxmlformats.org/officeDocument/2006/relationships/image" Target="../media/image580.png"/><Relationship Id="rId6" Type="http://schemas.openxmlformats.org/officeDocument/2006/relationships/image" Target="../media/image496.png"/><Relationship Id="rId7" Type="http://schemas.openxmlformats.org/officeDocument/2006/relationships/image" Target="../media/image581.png"/><Relationship Id="rId8" Type="http://schemas.openxmlformats.org/officeDocument/2006/relationships/image" Target="../media/image582.png"/><Relationship Id="rId9" Type="http://schemas.openxmlformats.org/officeDocument/2006/relationships/image" Target="../media/image221.png"/><Relationship Id="rId10" Type="http://schemas.openxmlformats.org/officeDocument/2006/relationships/image" Target="../media/image583.png"/><Relationship Id="rId11" Type="http://schemas.openxmlformats.org/officeDocument/2006/relationships/image" Target="../media/image584.png"/><Relationship Id="rId12" Type="http://schemas.openxmlformats.org/officeDocument/2006/relationships/image" Target="../media/image326.png"/><Relationship Id="rId13" Type="http://schemas.openxmlformats.org/officeDocument/2006/relationships/image" Target="../media/image2.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xml"/><Relationship Id="rId4" Type="http://schemas.openxmlformats.org/officeDocument/2006/relationships/chart" Target="../charts/chart125.xml"/><Relationship Id="rId5" Type="http://schemas.openxmlformats.org/officeDocument/2006/relationships/notesSlide" Target="../notesSlides/notesSlide158.xml"/><Relationship Id="rId6" Type="http://schemas.openxmlformats.org/officeDocument/2006/relationships/image" Target="../media/image2.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xml"/><Relationship Id="rId4" Type="http://schemas.openxmlformats.org/officeDocument/2006/relationships/chart" Target="../charts/chart127.xml"/><Relationship Id="rId5" Type="http://schemas.openxmlformats.org/officeDocument/2006/relationships/chart" Target="../charts/chart128.xml"/><Relationship Id="rId6" Type="http://schemas.openxmlformats.org/officeDocument/2006/relationships/notesSlide" Target="../notesSlides/notesSlide159.xml"/><Relationship Id="rId7" Type="http://schemas.openxmlformats.org/officeDocument/2006/relationships/image" Target="../media/image2.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 Id="rId4"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xml"/><Relationship Id="rId4" Type="http://schemas.openxmlformats.org/officeDocument/2006/relationships/notesSlide" Target="../notesSlides/notesSlide162.xml"/><Relationship Id="rId5"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xml"/><Relationship Id="rId4" Type="http://schemas.openxmlformats.org/officeDocument/2006/relationships/image" Target="../media/image2.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 Id="rId4"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2.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0.xml"/><Relationship Id="rId4" Type="http://schemas.openxmlformats.org/officeDocument/2006/relationships/chart" Target="../charts/chart131.xml"/><Relationship Id="rId5" Type="http://schemas.openxmlformats.org/officeDocument/2006/relationships/notesSlide" Target="../notesSlides/notesSlide167.xml"/><Relationship Id="rId6"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 Id="rId4" Type="http://schemas.openxmlformats.org/officeDocument/2006/relationships/image" Target="../media/image2.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 Id="rId4" Type="http://schemas.openxmlformats.org/officeDocument/2006/relationships/image" Target="../media/image2.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 Id="rId4" Type="http://schemas.openxmlformats.org/officeDocument/2006/relationships/image" Target="../media/image2.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 Id="rId4" Type="http://schemas.openxmlformats.org/officeDocument/2006/relationships/image" Target="../media/image2.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 Id="rId4" Type="http://schemas.openxmlformats.org/officeDocument/2006/relationships/image" Target="../media/image2.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 Id="rId4" Type="http://schemas.openxmlformats.org/officeDocument/2006/relationships/image" Target="../media/image2.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 Id="rId4" Type="http://schemas.openxmlformats.org/officeDocument/2006/relationships/image" Target="../media/image2.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7.xml"/><Relationship Id="rId4" Type="http://schemas.openxmlformats.org/officeDocument/2006/relationships/image" Target="../media/image2.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 Id="rId4" Type="http://schemas.openxmlformats.org/officeDocument/2006/relationships/image" Target="../media/image2.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 Id="rId4" Type="http://schemas.openxmlformats.org/officeDocument/2006/relationships/image" Target="../media/image2.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 Id="rId4" Type="http://schemas.openxmlformats.org/officeDocument/2006/relationships/image" Target="../media/image2.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2.xml"/><Relationship Id="rId4" Type="http://schemas.openxmlformats.org/officeDocument/2006/relationships/image" Target="../media/image2.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 Id="rId4" Type="http://schemas.openxmlformats.org/officeDocument/2006/relationships/image" Target="../media/image2.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 Id="rId4" Type="http://schemas.openxmlformats.org/officeDocument/2006/relationships/image" Target="../media/image2.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 Id="rId4"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 Id="rId4" Type="http://schemas.openxmlformats.org/officeDocument/2006/relationships/image" Target="../media/image2.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8.xml"/><Relationship Id="rId4" Type="http://schemas.openxmlformats.org/officeDocument/2006/relationships/image" Target="../media/image2.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9.xml"/><Relationship Id="rId4" Type="http://schemas.openxmlformats.org/officeDocument/2006/relationships/image" Target="../media/image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0.xml"/><Relationship Id="rId4"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 Id="rId4" Type="http://schemas.openxmlformats.org/officeDocument/2006/relationships/image" Target="../media/image2.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 Id="rId4" Type="http://schemas.openxmlformats.org/officeDocument/2006/relationships/image" Target="../media/image2.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 Id="rId4" Type="http://schemas.openxmlformats.org/officeDocument/2006/relationships/image" Target="../media/image2.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 Id="rId4" Type="http://schemas.openxmlformats.org/officeDocument/2006/relationships/image" Target="../media/image2.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 Id="rId4"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 Id="rId4"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 Id="rId4" Type="http://schemas.openxmlformats.org/officeDocument/2006/relationships/image" Target="../media/image2.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 Id="rId4" Type="http://schemas.openxmlformats.org/officeDocument/2006/relationships/image" Target="../media/image2.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 Id="rId4" Type="http://schemas.openxmlformats.org/officeDocument/2006/relationships/image" Target="../media/image2.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xml"/><Relationship Id="rId4" Type="http://schemas.openxmlformats.org/officeDocument/2006/relationships/notesSlide" Target="../notesSlides/notesSlide202.xml"/><Relationship Id="rId5"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chart" Target="../charts/chart134.xml"/><Relationship Id="rId5" Type="http://schemas.openxmlformats.org/officeDocument/2006/relationships/notesSlide" Target="../notesSlides/notesSlide203.xml"/><Relationship Id="rId6" Type="http://schemas.openxmlformats.org/officeDocument/2006/relationships/image" Target="../media/image2.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204.xml"/><Relationship Id="rId6" Type="http://schemas.openxmlformats.org/officeDocument/2006/relationships/image" Target="../media/image2.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 Id="rId4" Type="http://schemas.openxmlformats.org/officeDocument/2006/relationships/image" Target="../media/image2.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chart" Target="../charts/chart138.xml"/><Relationship Id="rId5" Type="http://schemas.openxmlformats.org/officeDocument/2006/relationships/chart" Target="../charts/chart139.xml"/><Relationship Id="rId6" Type="http://schemas.openxmlformats.org/officeDocument/2006/relationships/notesSlide" Target="../notesSlides/notesSlide206.xml"/><Relationship Id="rId7" Type="http://schemas.openxmlformats.org/officeDocument/2006/relationships/image" Target="../media/image2.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notesSlide" Target="../notesSlides/notesSlide207.xml"/><Relationship Id="rId5" Type="http://schemas.openxmlformats.org/officeDocument/2006/relationships/image" Target="../media/image2.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 Id="rId4" Type="http://schemas.openxmlformats.org/officeDocument/2006/relationships/image" Target="../media/image2.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 Id="rId4" Type="http://schemas.openxmlformats.org/officeDocument/2006/relationships/image" Target="../media/image2.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xml"/><Relationship Id="rId4" Type="http://schemas.openxmlformats.org/officeDocument/2006/relationships/chart" Target="../charts/chart142.xml"/><Relationship Id="rId5" Type="http://schemas.openxmlformats.org/officeDocument/2006/relationships/chart" Target="../charts/chart143.xml"/><Relationship Id="rId6" Type="http://schemas.openxmlformats.org/officeDocument/2006/relationships/notesSlide" Target="../notesSlides/notesSlide211.xml"/><Relationship Id="rId7" Type="http://schemas.openxmlformats.org/officeDocument/2006/relationships/image" Target="../media/image2.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xml"/><Relationship Id="rId4" Type="http://schemas.openxmlformats.org/officeDocument/2006/relationships/notesSlide" Target="../notesSlides/notesSlide212.xml"/><Relationship Id="rId5" Type="http://schemas.openxmlformats.org/officeDocument/2006/relationships/image" Target="../media/image2.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 Id="rId4" Type="http://schemas.openxmlformats.org/officeDocument/2006/relationships/image" Target="../media/image2.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 Id="rId4" Type="http://schemas.openxmlformats.org/officeDocument/2006/relationships/image" Target="../media/image2.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xml"/><Relationship Id="rId4" Type="http://schemas.openxmlformats.org/officeDocument/2006/relationships/chart" Target="../charts/chart146.xml"/><Relationship Id="rId5" Type="http://schemas.openxmlformats.org/officeDocument/2006/relationships/chart" Target="../charts/chart147.xml"/><Relationship Id="rId6" Type="http://schemas.openxmlformats.org/officeDocument/2006/relationships/notesSlide" Target="../notesSlides/notesSlide216.xml"/><Relationship Id="rId7" Type="http://schemas.openxmlformats.org/officeDocument/2006/relationships/image" Target="../media/image2.png"/></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xml"/><Relationship Id="rId4" Type="http://schemas.openxmlformats.org/officeDocument/2006/relationships/notesSlide" Target="../notesSlides/notesSlide217.xml"/><Relationship Id="rId5" Type="http://schemas.openxmlformats.org/officeDocument/2006/relationships/image" Target="../media/image2.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 Id="rId4" Type="http://schemas.openxmlformats.org/officeDocument/2006/relationships/image" Target="../media/image2.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 Id="rId4"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 Id="rId4" Type="http://schemas.openxmlformats.org/officeDocument/2006/relationships/image" Target="../media/image2.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North America Packaged Muffins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(MT) Analysis and Forecast, 2021–2036</a:t>
            </a:r>
          </a:p>
          <a:p>
            <a:pPr algn="l"/>
            <a:r>
              <a:rPr sz="1100" b="0">
                <a:solidFill>
                  <a:srgbClr val="8FCBE6"/>
                </a:solidFill>
                <a:latin typeface="Calibri"/>
              </a:rPr>
              <a:t>Region focus: North America   ·   Country focus: U.S.   ·   Generated 07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71915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86913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345325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403737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16" name="Rounded Rectangle 15">
            <a:hlinkClick action="ppaction://hlinksldjump" r:id="rId9"/>
          </p:cNvPr>
          <p:cNvSpPr/>
          <p:nvPr/>
        </p:nvSpPr>
        <p:spPr>
          <a:xfrm>
            <a:off x="314325" y="460324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North America Overview</a:t>
            </a:r>
          </a:p>
        </p:txBody>
      </p:sp>
      <p:sp>
        <p:nvSpPr>
          <p:cNvPr id="17" name="Rounded Rectangle 16">
            <a:hlinkClick action="ppaction://hlinksldjump" r:id="rId10"/>
          </p:cNvPr>
          <p:cNvSpPr/>
          <p:nvPr/>
        </p:nvSpPr>
        <p:spPr>
          <a:xfrm>
            <a:off x="314325" y="518735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North America Market Analysis By Region</a:t>
            </a:r>
          </a:p>
        </p:txBody>
      </p:sp>
      <p:sp>
        <p:nvSpPr>
          <p:cNvPr id="18" name="Rounded Rectangle 17">
            <a:hlinkClick action="ppaction://hlinksldjump" r:id="rId11"/>
          </p:cNvPr>
          <p:cNvSpPr/>
          <p:nvPr/>
        </p:nvSpPr>
        <p:spPr>
          <a:xfrm>
            <a:off x="314325" y="577147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North America Market Analysis By Segments</a:t>
            </a:r>
          </a:p>
        </p:txBody>
      </p:sp>
      <p:sp>
        <p:nvSpPr>
          <p:cNvPr id="19" name="Rounded Rectangle 18">
            <a:hlinkClick action="ppaction://hlinksldjump" r:id="rId12"/>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0" name="Rounded Rectangle 19">
            <a:hlinkClick action="ppaction://hlinksldjump" r:id="rId13"/>
          </p:cNvPr>
          <p:cNvSpPr/>
          <p:nvPr/>
        </p:nvSpPr>
        <p:spPr>
          <a:xfrm>
            <a:off x="6391275" y="1700902"/>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Packaged Muffins Market Pricing Analysis</a:t>
            </a:r>
          </a:p>
        </p:txBody>
      </p:sp>
      <p:sp>
        <p:nvSpPr>
          <p:cNvPr id="21" name="Rounded Rectangle 20">
            <a:hlinkClick action="ppaction://hlinksldjump" r:id="rId14"/>
          </p:cNvPr>
          <p:cNvSpPr/>
          <p:nvPr/>
        </p:nvSpPr>
        <p:spPr>
          <a:xfrm>
            <a:off x="639127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Supply Chain Analysis</a:t>
            </a:r>
          </a:p>
        </p:txBody>
      </p:sp>
      <p:sp>
        <p:nvSpPr>
          <p:cNvPr id="22" name="Rounded Rectangle 21">
            <a:hlinkClick action="ppaction://hlinksldjump" r:id="rId15"/>
          </p:cNvPr>
          <p:cNvSpPr/>
          <p:nvPr/>
        </p:nvSpPr>
        <p:spPr>
          <a:xfrm>
            <a:off x="6219825" y="286913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23" name="Rounded Rectangle 22">
            <a:hlinkClick action="ppaction://hlinksldjump" r:id="rId16"/>
          </p:cNvPr>
          <p:cNvSpPr/>
          <p:nvPr/>
        </p:nvSpPr>
        <p:spPr>
          <a:xfrm>
            <a:off x="6391275" y="343500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Market Dynamics &amp; Forces</a:t>
            </a:r>
          </a:p>
        </p:txBody>
      </p:sp>
      <p:sp>
        <p:nvSpPr>
          <p:cNvPr id="24" name="Rounded Rectangle 23">
            <a:hlinkClick action="ppaction://hlinksldjump" r:id="rId17"/>
          </p:cNvPr>
          <p:cNvSpPr/>
          <p:nvPr/>
        </p:nvSpPr>
        <p:spPr>
          <a:xfrm>
            <a:off x="6219825" y="401912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25" name="Rounded Rectangle 24">
            <a:hlinkClick action="ppaction://hlinksldjump" r:id="rId18"/>
          </p:cNvPr>
          <p:cNvSpPr/>
          <p:nvPr/>
        </p:nvSpPr>
        <p:spPr>
          <a:xfrm>
            <a:off x="6391275" y="458498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Competitive Landscape</a:t>
            </a:r>
          </a:p>
        </p:txBody>
      </p:sp>
      <p:sp>
        <p:nvSpPr>
          <p:cNvPr id="26" name="Rounded Rectangle 25">
            <a:hlinkClick action="ppaction://hlinksldjump" r:id="rId19"/>
          </p:cNvPr>
          <p:cNvSpPr/>
          <p:nvPr/>
        </p:nvSpPr>
        <p:spPr>
          <a:xfrm>
            <a:off x="6391275" y="516910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Market Share by Leading Players</a:t>
            </a:r>
          </a:p>
        </p:txBody>
      </p:sp>
      <p:sp>
        <p:nvSpPr>
          <p:cNvPr id="27" name="Rounded Rectangle 26">
            <a:hlinkClick action="ppaction://hlinksldjump" r:id="rId20"/>
          </p:cNvPr>
          <p:cNvSpPr/>
          <p:nvPr/>
        </p:nvSpPr>
        <p:spPr>
          <a:xfrm>
            <a:off x="6391275" y="575322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Company Profiles &amp; Strategic Benchmarking</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Packaged Muffins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Packaged Muffins demand, the evidence behind each and what it implies for the North America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Packaged Muffins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Packaged Muffins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2157238" cy="186689"/>
          </a:xfrm>
          <a:prstGeom prst="rect">
            <a:avLst/>
          </a:prstGeom>
          <a:noFill/>
        </p:spPr>
        <p:txBody>
          <a:bodyPr wrap="none" lIns="0" rIns="0" tIns="0" bIns="0">
            <a:spAutoFit/>
          </a:bodyPr>
          <a:lstStyle/>
          <a:p>
            <a:r>
              <a:rPr sz="1100" b="0">
                <a:solidFill>
                  <a:srgbClr val="2E2E2E"/>
                </a:solidFill>
                <a:latin typeface="Calibri"/>
              </a:rPr>
              <a:t>North America demand expands at a</a:t>
            </a:r>
          </a:p>
        </p:txBody>
      </p:sp>
      <p:pic>
        <p:nvPicPr>
          <p:cNvPr id="13" name="Picture 12" descr="lock.png"/>
          <p:cNvPicPr>
            <a:picLocks noChangeAspect="1"/>
          </p:cNvPicPr>
          <p:nvPr/>
        </p:nvPicPr>
        <p:blipFill>
          <a:blip r:embed="rId4"/>
          <a:stretch>
            <a:fillRect/>
          </a:stretch>
        </p:blipFill>
        <p:spPr>
          <a:xfrm>
            <a:off x="5890040" y="1751653"/>
            <a:ext cx="128699" cy="187198"/>
          </a:xfrm>
          <a:prstGeom prst="rect">
            <a:avLst/>
          </a:prstGeom>
        </p:spPr>
      </p:pic>
      <p:sp>
        <p:nvSpPr>
          <p:cNvPr id="14" name="TextBox 13"/>
          <p:cNvSpPr txBox="1"/>
          <p:nvPr/>
        </p:nvSpPr>
        <p:spPr>
          <a:xfrm>
            <a:off x="6057536" y="1761432"/>
            <a:ext cx="2399786" cy="186689"/>
          </a:xfrm>
          <a:prstGeom prst="rect">
            <a:avLst/>
          </a:prstGeom>
          <a:noFill/>
        </p:spPr>
        <p:txBody>
          <a:bodyPr wrap="none" lIns="0" rIns="0" tIns="0" bIns="0">
            <a:spAutoFit/>
          </a:bodyPr>
          <a:lstStyle/>
          <a:p>
            <a:r>
              <a:rPr sz="1100" b="0">
                <a:solidFill>
                  <a:srgbClr val="2E2E2E"/>
                </a:solidFill>
                <a:latin typeface="Calibri"/>
              </a:rPr>
              <a:t>forecast CAGR (2026–2036), accelerating</a:t>
            </a:r>
          </a:p>
        </p:txBody>
      </p:sp>
      <p:sp>
        <p:nvSpPr>
          <p:cNvPr id="15" name="TextBox 14"/>
          <p:cNvSpPr txBox="1"/>
          <p:nvPr/>
        </p:nvSpPr>
        <p:spPr>
          <a:xfrm>
            <a:off x="3784750" y="1929072"/>
            <a:ext cx="352871" cy="186689"/>
          </a:xfrm>
          <a:prstGeom prst="rect">
            <a:avLst/>
          </a:prstGeom>
          <a:noFill/>
        </p:spPr>
        <p:txBody>
          <a:bodyPr wrap="none" lIns="0" rIns="0" tIns="0" bIns="0">
            <a:spAutoFit/>
          </a:bodyPr>
          <a:lstStyle/>
          <a:p>
            <a:r>
              <a:rPr sz="1100" b="0">
                <a:solidFill>
                  <a:srgbClr val="2E2E2E"/>
                </a:solidFill>
                <a:latin typeface="Calibri"/>
              </a:rPr>
              <a:t>from</a:t>
            </a:r>
          </a:p>
        </p:txBody>
      </p:sp>
      <p:pic>
        <p:nvPicPr>
          <p:cNvPr id="16" name="Picture 15" descr="lock.png"/>
          <p:cNvPicPr>
            <a:picLocks noChangeAspect="1"/>
          </p:cNvPicPr>
          <p:nvPr/>
        </p:nvPicPr>
        <p:blipFill>
          <a:blip r:embed="rId4"/>
          <a:stretch>
            <a:fillRect/>
          </a:stretch>
        </p:blipFill>
        <p:spPr>
          <a:xfrm>
            <a:off x="4085673" y="1919293"/>
            <a:ext cx="128699" cy="187198"/>
          </a:xfrm>
          <a:prstGeom prst="rect">
            <a:avLst/>
          </a:prstGeom>
        </p:spPr>
      </p:pic>
      <p:sp>
        <p:nvSpPr>
          <p:cNvPr id="17" name="TextBox 16"/>
          <p:cNvSpPr txBox="1"/>
          <p:nvPr/>
        </p:nvSpPr>
        <p:spPr>
          <a:xfrm>
            <a:off x="4253168"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8" name="Picture 17" descr="lock.png"/>
          <p:cNvPicPr>
            <a:picLocks noChangeAspect="1"/>
          </p:cNvPicPr>
          <p:nvPr/>
        </p:nvPicPr>
        <p:blipFill>
          <a:blip r:embed="rId4"/>
          <a:stretch>
            <a:fillRect/>
          </a:stretch>
        </p:blipFill>
        <p:spPr>
          <a:xfrm>
            <a:off x="10214228" y="1689042"/>
            <a:ext cx="330041" cy="480060"/>
          </a:xfrm>
          <a:prstGeom prst="rect">
            <a:avLst/>
          </a:prstGeom>
        </p:spPr>
      </p:pic>
      <p:sp>
        <p:nvSpPr>
          <p:cNvPr id="19" name="TextBox 18"/>
          <p:cNvSpPr txBox="1"/>
          <p:nvPr/>
        </p:nvSpPr>
        <p:spPr>
          <a:xfrm>
            <a:off x="3784750" y="2801893"/>
            <a:ext cx="2182341" cy="186689"/>
          </a:xfrm>
          <a:prstGeom prst="rect">
            <a:avLst/>
          </a:prstGeom>
          <a:noFill/>
        </p:spPr>
        <p:txBody>
          <a:bodyPr wrap="none" lIns="0" rIns="0" tIns="0" bIns="0">
            <a:spAutoFit/>
          </a:bodyPr>
          <a:lstStyle/>
          <a:p>
            <a:r>
              <a:rPr sz="1100" b="0">
                <a:solidFill>
                  <a:srgbClr val="2E2E2E"/>
                </a:solidFill>
                <a:latin typeface="Calibri"/>
              </a:rPr>
              <a:t>Sweet muffins leads Product Type, at</a:t>
            </a:r>
          </a:p>
        </p:txBody>
      </p:sp>
      <p:pic>
        <p:nvPicPr>
          <p:cNvPr id="20" name="Picture 19" descr="lock.png"/>
          <p:cNvPicPr>
            <a:picLocks noChangeAspect="1"/>
          </p:cNvPicPr>
          <p:nvPr/>
        </p:nvPicPr>
        <p:blipFill>
          <a:blip r:embed="rId4"/>
          <a:stretch>
            <a:fillRect/>
          </a:stretch>
        </p:blipFill>
        <p:spPr>
          <a:xfrm>
            <a:off x="5915142" y="2792114"/>
            <a:ext cx="128699" cy="187198"/>
          </a:xfrm>
          <a:prstGeom prst="rect">
            <a:avLst/>
          </a:prstGeom>
        </p:spPr>
      </p:pic>
      <p:sp>
        <p:nvSpPr>
          <p:cNvPr id="21" name="TextBox 20"/>
          <p:cNvSpPr txBox="1"/>
          <p:nvPr/>
        </p:nvSpPr>
        <p:spPr>
          <a:xfrm>
            <a:off x="6082638" y="2801893"/>
            <a:ext cx="2314128" cy="186689"/>
          </a:xfrm>
          <a:prstGeom prst="rect">
            <a:avLst/>
          </a:prstGeom>
          <a:noFill/>
        </p:spPr>
        <p:txBody>
          <a:bodyPr wrap="none" lIns="0" rIns="0" tIns="0" bIns="0">
            <a:spAutoFit/>
          </a:bodyPr>
          <a:lstStyle/>
          <a:p>
            <a:r>
              <a:rPr sz="1100" b="0">
                <a:solidFill>
                  <a:srgbClr val="2E2E2E"/>
                </a:solidFill>
                <a:latin typeface="Calibri"/>
              </a:rPr>
              <a:t>of 2036 value, within a mix of 2 tracked</a:t>
            </a:r>
          </a:p>
        </p:txBody>
      </p:sp>
      <p:sp>
        <p:nvSpPr>
          <p:cNvPr id="22" name="TextBox 21"/>
          <p:cNvSpPr txBox="1"/>
          <p:nvPr/>
        </p:nvSpPr>
        <p:spPr>
          <a:xfrm>
            <a:off x="3784750" y="2969533"/>
            <a:ext cx="698574" cy="186689"/>
          </a:xfrm>
          <a:prstGeom prst="rect">
            <a:avLst/>
          </a:prstGeom>
          <a:noFill/>
        </p:spPr>
        <p:txBody>
          <a:bodyPr wrap="none" lIns="0" rIns="0" tIns="0" bIns="0">
            <a:spAutoFit/>
          </a:bodyPr>
          <a:lstStyle/>
          <a:p>
            <a:r>
              <a:rPr sz="1100" b="0">
                <a:solidFill>
                  <a:srgbClr val="2E2E2E"/>
                </a:solidFill>
                <a:latin typeface="Calibri"/>
              </a:rPr>
              <a:t>categories.</a:t>
            </a:r>
          </a:p>
        </p:txBody>
      </p:sp>
      <p:sp>
        <p:nvSpPr>
          <p:cNvPr id="23" name="TextBox 22"/>
          <p:cNvSpPr txBox="1"/>
          <p:nvPr/>
        </p:nvSpPr>
        <p:spPr>
          <a:xfrm>
            <a:off x="8785375" y="2885713"/>
            <a:ext cx="1292572" cy="186689"/>
          </a:xfrm>
          <a:prstGeom prst="rect">
            <a:avLst/>
          </a:prstGeom>
          <a:noFill/>
        </p:spPr>
        <p:txBody>
          <a:bodyPr wrap="none" lIns="0" rIns="0" tIns="0" bIns="0">
            <a:spAutoFit/>
          </a:bodyPr>
          <a:lstStyle/>
          <a:p>
            <a:r>
              <a:rPr sz="1100" b="0">
                <a:solidFill>
                  <a:srgbClr val="2E2E2E"/>
                </a:solidFill>
                <a:latin typeface="Calibri"/>
              </a:rPr>
              <a:t>Lead: Sweet muffins ·</a:t>
            </a:r>
          </a:p>
        </p:txBody>
      </p:sp>
      <p:pic>
        <p:nvPicPr>
          <p:cNvPr id="24" name="Picture 23" descr="lock.png"/>
          <p:cNvPicPr>
            <a:picLocks noChangeAspect="1"/>
          </p:cNvPicPr>
          <p:nvPr/>
        </p:nvPicPr>
        <p:blipFill>
          <a:blip r:embed="rId4"/>
          <a:stretch>
            <a:fillRect/>
          </a:stretch>
        </p:blipFill>
        <p:spPr>
          <a:xfrm>
            <a:off x="10025998" y="2875934"/>
            <a:ext cx="128699" cy="187198"/>
          </a:xfrm>
          <a:prstGeom prst="rect">
            <a:avLst/>
          </a:prstGeom>
        </p:spPr>
      </p:pic>
      <p:sp>
        <p:nvSpPr>
          <p:cNvPr id="25" name="TextBox 24"/>
          <p:cNvSpPr txBox="1"/>
          <p:nvPr/>
        </p:nvSpPr>
        <p:spPr>
          <a:xfrm>
            <a:off x="10193494"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6" name="TextBox 25"/>
          <p:cNvSpPr txBox="1"/>
          <p:nvPr/>
        </p:nvSpPr>
        <p:spPr>
          <a:xfrm>
            <a:off x="3784750" y="3842354"/>
            <a:ext cx="4484087" cy="186689"/>
          </a:xfrm>
          <a:prstGeom prst="rect">
            <a:avLst/>
          </a:prstGeom>
          <a:noFill/>
        </p:spPr>
        <p:txBody>
          <a:bodyPr wrap="none" lIns="0" rIns="0" tIns="0" bIns="0">
            <a:spAutoFit/>
          </a:bodyPr>
          <a:lstStyle/>
          <a:p>
            <a:r>
              <a:rPr sz="1100" b="0">
                <a:solidFill>
                  <a:srgbClr val="2E2E2E"/>
                </a:solidFill>
                <a:latin typeface="Calibri"/>
              </a:rPr>
              <a:t>Foodservice and institutional is the fastest-growing part of Sales Channel, at a</a:t>
            </a:r>
          </a:p>
        </p:txBody>
      </p:sp>
      <p:pic>
        <p:nvPicPr>
          <p:cNvPr id="27" name="Picture 26" descr="lock.png"/>
          <p:cNvPicPr>
            <a:picLocks noChangeAspect="1"/>
          </p:cNvPicPr>
          <p:nvPr/>
        </p:nvPicPr>
        <p:blipFill>
          <a:blip r:embed="rId4"/>
          <a:stretch>
            <a:fillRect/>
          </a:stretch>
        </p:blipFill>
        <p:spPr>
          <a:xfrm>
            <a:off x="8216888" y="3832575"/>
            <a:ext cx="128699" cy="187198"/>
          </a:xfrm>
          <a:prstGeom prst="rect">
            <a:avLst/>
          </a:prstGeom>
        </p:spPr>
      </p:pic>
      <p:sp>
        <p:nvSpPr>
          <p:cNvPr id="28" name="TextBox 27"/>
          <p:cNvSpPr txBox="1"/>
          <p:nvPr/>
        </p:nvSpPr>
        <p:spPr>
          <a:xfrm>
            <a:off x="3784750" y="4009994"/>
            <a:ext cx="2537031" cy="186689"/>
          </a:xfrm>
          <a:prstGeom prst="rect">
            <a:avLst/>
          </a:prstGeom>
          <a:noFill/>
        </p:spPr>
        <p:txBody>
          <a:bodyPr wrap="none" lIns="0" rIns="0" tIns="0" bIns="0">
            <a:spAutoFit/>
          </a:bodyPr>
          <a:lstStyle/>
          <a:p>
            <a:r>
              <a:rPr sz="1100" b="0">
                <a:solidFill>
                  <a:srgbClr val="2E2E2E"/>
                </a:solidFill>
                <a:latin typeface="Calibri"/>
              </a:rPr>
              <a:t>forecast CAGR outpacing the wider market.</a:t>
            </a:r>
          </a:p>
        </p:txBody>
      </p:sp>
      <p:sp>
        <p:nvSpPr>
          <p:cNvPr id="29" name="TextBox 28"/>
          <p:cNvSpPr txBox="1"/>
          <p:nvPr/>
        </p:nvSpPr>
        <p:spPr>
          <a:xfrm>
            <a:off x="8785375" y="3926174"/>
            <a:ext cx="2259195" cy="186689"/>
          </a:xfrm>
          <a:prstGeom prst="rect">
            <a:avLst/>
          </a:prstGeom>
          <a:noFill/>
        </p:spPr>
        <p:txBody>
          <a:bodyPr wrap="none" lIns="0" rIns="0" tIns="0" bIns="0">
            <a:spAutoFit/>
          </a:bodyPr>
          <a:lstStyle/>
          <a:p>
            <a:r>
              <a:rPr sz="1100" b="0">
                <a:solidFill>
                  <a:srgbClr val="2E2E2E"/>
                </a:solidFill>
                <a:latin typeface="Calibri"/>
              </a:rPr>
              <a:t>Fastest: Foodservice and institutional ·</a:t>
            </a:r>
          </a:p>
        </p:txBody>
      </p:sp>
      <p:pic>
        <p:nvPicPr>
          <p:cNvPr id="30" name="Picture 29" descr="lock.png"/>
          <p:cNvPicPr>
            <a:picLocks noChangeAspect="1"/>
          </p:cNvPicPr>
          <p:nvPr/>
        </p:nvPicPr>
        <p:blipFill>
          <a:blip r:embed="rId4"/>
          <a:stretch>
            <a:fillRect/>
          </a:stretch>
        </p:blipFill>
        <p:spPr>
          <a:xfrm>
            <a:off x="10992622" y="3916395"/>
            <a:ext cx="128699" cy="187198"/>
          </a:xfrm>
          <a:prstGeom prst="rect">
            <a:avLst/>
          </a:prstGeom>
        </p:spPr>
      </p:pic>
      <p:sp>
        <p:nvSpPr>
          <p:cNvPr id="31" name="TextBox 30"/>
          <p:cNvSpPr txBox="1"/>
          <p:nvPr/>
        </p:nvSpPr>
        <p:spPr>
          <a:xfrm>
            <a:off x="11160118"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2" name="TextBox 31"/>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3" name="Picture 32" descr="lock.png"/>
          <p:cNvPicPr>
            <a:picLocks noChangeAspect="1"/>
          </p:cNvPicPr>
          <p:nvPr/>
        </p:nvPicPr>
        <p:blipFill>
          <a:blip r:embed="rId4"/>
          <a:stretch>
            <a:fillRect/>
          </a:stretch>
        </p:blipFill>
        <p:spPr>
          <a:xfrm>
            <a:off x="6406275" y="4873036"/>
            <a:ext cx="128699" cy="187198"/>
          </a:xfrm>
          <a:prstGeom prst="rect">
            <a:avLst/>
          </a:prstGeom>
        </p:spPr>
      </p:pic>
      <p:sp>
        <p:nvSpPr>
          <p:cNvPr id="34" name="TextBox 33"/>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5" name="TextBox 34"/>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6" name="Picture 35" descr="lock.png"/>
          <p:cNvPicPr>
            <a:picLocks noChangeAspect="1"/>
          </p:cNvPicPr>
          <p:nvPr/>
        </p:nvPicPr>
        <p:blipFill>
          <a:blip r:embed="rId4"/>
          <a:stretch>
            <a:fillRect/>
          </a:stretch>
        </p:blipFill>
        <p:spPr>
          <a:xfrm>
            <a:off x="5106956" y="5040676"/>
            <a:ext cx="128699" cy="187198"/>
          </a:xfrm>
          <a:prstGeom prst="rect">
            <a:avLst/>
          </a:prstGeom>
        </p:spPr>
      </p:pic>
      <p:sp>
        <p:nvSpPr>
          <p:cNvPr id="37" name="TextBox 36"/>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8" name="TextBox 37"/>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9" name="Picture 38" descr="lock.png"/>
          <p:cNvPicPr>
            <a:picLocks noChangeAspect="1"/>
          </p:cNvPicPr>
          <p:nvPr/>
        </p:nvPicPr>
        <p:blipFill>
          <a:blip r:embed="rId4"/>
          <a:stretch>
            <a:fillRect/>
          </a:stretch>
        </p:blipFill>
        <p:spPr>
          <a:xfrm>
            <a:off x="10197622" y="4873036"/>
            <a:ext cx="128699" cy="187198"/>
          </a:xfrm>
          <a:prstGeom prst="rect">
            <a:avLst/>
          </a:prstGeom>
        </p:spPr>
      </p:pic>
      <p:sp>
        <p:nvSpPr>
          <p:cNvPr id="40" name="TextBox 39"/>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41" name="TextBox 40"/>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2" name="Picture 41" descr="lock.png"/>
          <p:cNvPicPr>
            <a:picLocks noChangeAspect="1"/>
          </p:cNvPicPr>
          <p:nvPr/>
        </p:nvPicPr>
        <p:blipFill>
          <a:blip r:embed="rId4"/>
          <a:stretch>
            <a:fillRect/>
          </a:stretch>
        </p:blipFill>
        <p:spPr>
          <a:xfrm>
            <a:off x="9248099" y="5040676"/>
            <a:ext cx="128699" cy="187198"/>
          </a:xfrm>
          <a:prstGeom prst="rect">
            <a:avLst/>
          </a:prstGeom>
        </p:spPr>
      </p:pic>
      <p:sp>
        <p:nvSpPr>
          <p:cNvPr id="43" name="TextBox 42"/>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4" name="TextBox 43"/>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5" name="Picture 44" descr="lock.png"/>
          <p:cNvPicPr>
            <a:picLocks noChangeAspect="1"/>
          </p:cNvPicPr>
          <p:nvPr/>
        </p:nvPicPr>
        <p:blipFill>
          <a:blip r:embed="rId4"/>
          <a:stretch>
            <a:fillRect/>
          </a:stretch>
        </p:blipFill>
        <p:spPr>
          <a:xfrm>
            <a:off x="4678579" y="5913497"/>
            <a:ext cx="128699" cy="187198"/>
          </a:xfrm>
          <a:prstGeom prst="rect">
            <a:avLst/>
          </a:prstGeom>
        </p:spPr>
      </p:pic>
      <p:sp>
        <p:nvSpPr>
          <p:cNvPr id="46" name="TextBox 45"/>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7" name="TextBox 46"/>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8" name="TextBox 47"/>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9" name="Picture 48" descr="lock.png"/>
          <p:cNvPicPr>
            <a:picLocks noChangeAspect="1"/>
          </p:cNvPicPr>
          <p:nvPr/>
        </p:nvPicPr>
        <p:blipFill>
          <a:blip r:embed="rId4"/>
          <a:stretch>
            <a:fillRect/>
          </a:stretch>
        </p:blipFill>
        <p:spPr>
          <a:xfrm>
            <a:off x="9591346" y="5997317"/>
            <a:ext cx="128699" cy="187198"/>
          </a:xfrm>
          <a:prstGeom prst="rect">
            <a:avLst/>
          </a:prstGeom>
        </p:spPr>
      </p:pic>
      <p:sp>
        <p:nvSpPr>
          <p:cNvPr id="50" name="TextBox 49"/>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51" name="Picture 50" descr="lock.png"/>
          <p:cNvPicPr>
            <a:picLocks noChangeAspect="1"/>
          </p:cNvPicPr>
          <p:nvPr/>
        </p:nvPicPr>
        <p:blipFill>
          <a:blip r:embed="rId4"/>
          <a:stretch>
            <a:fillRect/>
          </a:stretch>
        </p:blipFill>
        <p:spPr>
          <a:xfrm>
            <a:off x="11052672" y="5997317"/>
            <a:ext cx="128699" cy="187198"/>
          </a:xfrm>
          <a:prstGeom prst="rect">
            <a:avLst/>
          </a:prstGeom>
        </p:spPr>
      </p:pic>
      <p:sp>
        <p:nvSpPr>
          <p:cNvPr id="52" name="TextBox 51"/>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North America market broken into 2 countries and the countries assessed under each</a:t>
            </a:r>
          </a:p>
        </p:txBody>
      </p:sp>
      <p:cxnSp>
        <p:nvCxnSpPr>
          <p:cNvPr id="10" name="Connector 9"/>
          <p:cNvCxnSpPr/>
          <p:nvPr/>
        </p:nvCxnSpPr>
        <p:spPr>
          <a:xfrm>
            <a:off x="6096000" y="1445350"/>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627887"/>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51530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56795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933026"/>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298100"/>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66317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4028248"/>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39332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767523"/>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51325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497671"/>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86274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622781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71628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916305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81315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518735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111633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4" name="Rounded Rectangle 53"/>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Packaged Muffins Market</a:t>
            </a:r>
          </a:p>
        </p:txBody>
      </p:sp>
      <p:sp>
        <p:nvSpPr>
          <p:cNvPr id="55" name="Rounded Rectangle 54"/>
          <p:cNvSpPr/>
          <p:nvPr/>
        </p:nvSpPr>
        <p:spPr>
          <a:xfrm>
            <a:off x="1428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6" name="Rounded Rectangle 55"/>
          <p:cNvSpPr/>
          <p:nvPr/>
        </p:nvSpPr>
        <p:spPr>
          <a:xfrm>
            <a:off x="2762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7" name="Rounded Rectangle 56"/>
          <p:cNvSpPr/>
          <p:nvPr/>
        </p:nvSpPr>
        <p:spPr>
          <a:xfrm>
            <a:off x="27622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8" name="Rounded Rectangle 57"/>
          <p:cNvSpPr/>
          <p:nvPr/>
        </p:nvSpPr>
        <p:spPr>
          <a:xfrm>
            <a:off x="214312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59" name="Rounded Rectangle 58"/>
          <p:cNvSpPr/>
          <p:nvPr/>
        </p:nvSpPr>
        <p:spPr>
          <a:xfrm>
            <a:off x="227647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0" name="Rounded Rectangle 59"/>
          <p:cNvSpPr/>
          <p:nvPr/>
        </p:nvSpPr>
        <p:spPr>
          <a:xfrm>
            <a:off x="227647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1" name="Rounded Rectangle 60"/>
          <p:cNvSpPr/>
          <p:nvPr/>
        </p:nvSpPr>
        <p:spPr>
          <a:xfrm>
            <a:off x="2276475"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LATAM</a:t>
            </a:r>
          </a:p>
        </p:txBody>
      </p:sp>
      <p:sp>
        <p:nvSpPr>
          <p:cNvPr id="62" name="Rounded Rectangle 61"/>
          <p:cNvSpPr/>
          <p:nvPr/>
        </p:nvSpPr>
        <p:spPr>
          <a:xfrm>
            <a:off x="41433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3" name="Rounded Rectangle 62"/>
          <p:cNvSpPr/>
          <p:nvPr/>
        </p:nvSpPr>
        <p:spPr>
          <a:xfrm>
            <a:off x="42767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4" name="Rounded Rectangle 63"/>
          <p:cNvSpPr/>
          <p:nvPr/>
        </p:nvSpPr>
        <p:spPr>
          <a:xfrm>
            <a:off x="4276725" y="263184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5" name="Rounded Rectangle 64"/>
          <p:cNvSpPr/>
          <p:nvPr/>
        </p:nvSpPr>
        <p:spPr>
          <a:xfrm>
            <a:off x="4276725" y="2996914"/>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6" name="Rounded Rectangle 65"/>
          <p:cNvSpPr/>
          <p:nvPr/>
        </p:nvSpPr>
        <p:spPr>
          <a:xfrm>
            <a:off x="4276725" y="336198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7" name="Rounded Rectangle 66"/>
          <p:cNvSpPr/>
          <p:nvPr/>
        </p:nvSpPr>
        <p:spPr>
          <a:xfrm>
            <a:off x="4276725" y="372706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68" name="Rounded Rectangle 67"/>
          <p:cNvSpPr/>
          <p:nvPr/>
        </p:nvSpPr>
        <p:spPr>
          <a:xfrm>
            <a:off x="4276725" y="409213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69" name="Rounded Rectangle 68"/>
          <p:cNvSpPr/>
          <p:nvPr/>
        </p:nvSpPr>
        <p:spPr>
          <a:xfrm>
            <a:off x="4276725" y="446633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0" name="Rounded Rectangle 69"/>
          <p:cNvSpPr/>
          <p:nvPr/>
        </p:nvSpPr>
        <p:spPr>
          <a:xfrm>
            <a:off x="4276725" y="483141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1" name="Rounded Rectangle 70"/>
          <p:cNvSpPr/>
          <p:nvPr/>
        </p:nvSpPr>
        <p:spPr>
          <a:xfrm>
            <a:off x="4276725" y="5196485"/>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2" name="Rounded Rectangle 71"/>
          <p:cNvSpPr/>
          <p:nvPr/>
        </p:nvSpPr>
        <p:spPr>
          <a:xfrm>
            <a:off x="4276725" y="556155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3" name="Rounded Rectangle 72"/>
          <p:cNvSpPr/>
          <p:nvPr/>
        </p:nvSpPr>
        <p:spPr>
          <a:xfrm>
            <a:off x="4276725" y="592663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629170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5" name="Rounded Rectangle 74"/>
          <p:cNvSpPr/>
          <p:nvPr/>
        </p:nvSpPr>
        <p:spPr>
          <a:xfrm>
            <a:off x="61531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6" name="Rounded Rectangle 75"/>
          <p:cNvSpPr/>
          <p:nvPr/>
        </p:nvSpPr>
        <p:spPr>
          <a:xfrm>
            <a:off x="62865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7" name="Rounded Rectangle 76"/>
          <p:cNvSpPr/>
          <p:nvPr/>
        </p:nvSpPr>
        <p:spPr>
          <a:xfrm>
            <a:off x="62865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78" name="Rounded Rectangle 77"/>
          <p:cNvSpPr/>
          <p:nvPr/>
        </p:nvSpPr>
        <p:spPr>
          <a:xfrm>
            <a:off x="62865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79" name="Rounded Rectangle 78"/>
          <p:cNvSpPr/>
          <p:nvPr/>
        </p:nvSpPr>
        <p:spPr>
          <a:xfrm>
            <a:off x="815340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0" name="Rounded Rectangle 79"/>
          <p:cNvSpPr/>
          <p:nvPr/>
        </p:nvSpPr>
        <p:spPr>
          <a:xfrm>
            <a:off x="828675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1" name="Rounded Rectangle 80"/>
          <p:cNvSpPr/>
          <p:nvPr/>
        </p:nvSpPr>
        <p:spPr>
          <a:xfrm>
            <a:off x="828675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2" name="Rounded Rectangle 81"/>
          <p:cNvSpPr/>
          <p:nvPr/>
        </p:nvSpPr>
        <p:spPr>
          <a:xfrm>
            <a:off x="828675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3" name="Rounded Rectangle 82"/>
          <p:cNvSpPr/>
          <p:nvPr/>
        </p:nvSpPr>
        <p:spPr>
          <a:xfrm>
            <a:off x="828675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4" name="Rounded Rectangle 83"/>
          <p:cNvSpPr/>
          <p:nvPr/>
        </p:nvSpPr>
        <p:spPr>
          <a:xfrm>
            <a:off x="828675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5" name="Rounded Rectangle 84"/>
          <p:cNvSpPr/>
          <p:nvPr/>
        </p:nvSpPr>
        <p:spPr>
          <a:xfrm>
            <a:off x="828675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6" name="Rounded Rectangle 85"/>
          <p:cNvSpPr/>
          <p:nvPr/>
        </p:nvSpPr>
        <p:spPr>
          <a:xfrm>
            <a:off x="828675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7" name="Rounded Rectangle 86"/>
          <p:cNvSpPr/>
          <p:nvPr/>
        </p:nvSpPr>
        <p:spPr>
          <a:xfrm>
            <a:off x="8286750" y="488617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88" name="Rounded Rectangle 87"/>
          <p:cNvSpPr/>
          <p:nvPr/>
        </p:nvSpPr>
        <p:spPr>
          <a:xfrm>
            <a:off x="8286750" y="52603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East Asia</a:t>
            </a:r>
          </a:p>
        </p:txBody>
      </p:sp>
      <p:sp>
        <p:nvSpPr>
          <p:cNvPr id="89" name="Rounded Rectangle 88"/>
          <p:cNvSpPr/>
          <p:nvPr/>
        </p:nvSpPr>
        <p:spPr>
          <a:xfrm>
            <a:off x="101536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0" name="Rounded Rectangle 89"/>
          <p:cNvSpPr/>
          <p:nvPr/>
        </p:nvSpPr>
        <p:spPr>
          <a:xfrm>
            <a:off x="102870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1" name="Rounded Rectangle 90"/>
          <p:cNvSpPr/>
          <p:nvPr/>
        </p:nvSpPr>
        <p:spPr>
          <a:xfrm>
            <a:off x="102870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2" name="Rounded Rectangle 91"/>
          <p:cNvSpPr/>
          <p:nvPr/>
        </p:nvSpPr>
        <p:spPr>
          <a:xfrm>
            <a:off x="102870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3" name="Rounded Rectangle 92"/>
          <p:cNvSpPr/>
          <p:nvPr/>
        </p:nvSpPr>
        <p:spPr>
          <a:xfrm>
            <a:off x="1028700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4" name="Rounded Rectangle 93"/>
          <p:cNvSpPr/>
          <p:nvPr/>
        </p:nvSpPr>
        <p:spPr>
          <a:xfrm>
            <a:off x="1028700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5" name="Rounded Rectangle 94"/>
          <p:cNvSpPr/>
          <p:nvPr/>
        </p:nvSpPr>
        <p:spPr>
          <a:xfrm>
            <a:off x="1028700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6" name="Rounded Rectangle 95"/>
          <p:cNvSpPr/>
          <p:nvPr/>
        </p:nvSpPr>
        <p:spPr>
          <a:xfrm>
            <a:off x="1028700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7" name="TextBox 9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17 axes and the sub-segments sized under each</a:t>
            </a:r>
          </a:p>
        </p:txBody>
      </p:sp>
      <p:sp>
        <p:nvSpPr>
          <p:cNvPr id="10" name="Rectangle 9"/>
          <p:cNvSpPr/>
          <p:nvPr/>
        </p:nvSpPr>
        <p:spPr>
          <a:xfrm>
            <a:off x="142875" y="1028700"/>
            <a:ext cx="2876550" cy="253174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Sweet muffins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 muffins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 and cocoa muffins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 muffins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and vanilla muffins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Spice-flavoured muffins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sweet muffins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Savoury muffins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 muffins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Vegetable muffins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Meat-containing muffins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714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5619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Herb and spice muffins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savoury muffins</a:t>
            </a:r>
          </a:p>
        </p:txBody>
      </p:sp>
      <p:sp>
        <p:nvSpPr>
          <p:cNvPr id="51" name="Rectangle 50"/>
          <p:cNvSpPr/>
          <p:nvPr/>
        </p:nvSpPr>
        <p:spPr>
          <a:xfrm>
            <a:off x="142875" y="3674745"/>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142875" y="367474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19075" y="367474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Individual Muffin Size</a:t>
            </a:r>
          </a:p>
        </p:txBody>
      </p:sp>
      <p:sp>
        <p:nvSpPr>
          <p:cNvPr id="54" name="TextBox 53"/>
          <p:cNvSpPr txBox="1"/>
          <p:nvPr/>
        </p:nvSpPr>
        <p:spPr>
          <a:xfrm>
            <a:off x="20002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5" name="TextBox 54"/>
          <p:cNvSpPr txBox="1"/>
          <p:nvPr/>
        </p:nvSpPr>
        <p:spPr>
          <a:xfrm>
            <a:off x="390525" y="3903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cxnSp>
        <p:nvCxnSpPr>
          <p:cNvPr id="56" name="Connector 55"/>
          <p:cNvCxnSpPr/>
          <p:nvPr/>
        </p:nvCxnSpPr>
        <p:spPr>
          <a:xfrm>
            <a:off x="1524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000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390525" y="4080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cxnSp>
        <p:nvCxnSpPr>
          <p:cNvPr id="59" name="Connector 58"/>
          <p:cNvCxnSpPr/>
          <p:nvPr/>
        </p:nvCxnSpPr>
        <p:spPr>
          <a:xfrm>
            <a:off x="1524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20002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90525" y="4257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cxnSp>
        <p:nvCxnSpPr>
          <p:cNvPr id="62" name="Connector 61"/>
          <p:cNvCxnSpPr/>
          <p:nvPr/>
        </p:nvCxnSpPr>
        <p:spPr>
          <a:xfrm>
            <a:off x="1524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2000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90525" y="4434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65" name="Rectangle 64"/>
          <p:cNvSpPr/>
          <p:nvPr/>
        </p:nvSpPr>
        <p:spPr>
          <a:xfrm>
            <a:off x="142875" y="4726305"/>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42875" y="472630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19075" y="472630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Storage Format</a:t>
            </a:r>
          </a:p>
        </p:txBody>
      </p:sp>
      <p:sp>
        <p:nvSpPr>
          <p:cNvPr id="68" name="TextBox 67"/>
          <p:cNvSpPr txBox="1"/>
          <p:nvPr/>
        </p:nvSpPr>
        <p:spPr>
          <a:xfrm>
            <a:off x="200025" y="49549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90525" y="49549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cxnSp>
        <p:nvCxnSpPr>
          <p:cNvPr id="70" name="Connector 69"/>
          <p:cNvCxnSpPr/>
          <p:nvPr/>
        </p:nvCxnSpPr>
        <p:spPr>
          <a:xfrm>
            <a:off x="152400" y="51320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200025" y="51320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390525" y="51320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cxnSp>
        <p:nvCxnSpPr>
          <p:cNvPr id="73" name="Connector 72"/>
          <p:cNvCxnSpPr/>
          <p:nvPr/>
        </p:nvCxnSpPr>
        <p:spPr>
          <a:xfrm>
            <a:off x="152400" y="53092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200025" y="53092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390525" y="53092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76" name="Rectangle 75"/>
          <p:cNvSpPr/>
          <p:nvPr/>
        </p:nvSpPr>
        <p:spPr>
          <a:xfrm>
            <a:off x="3152775" y="102870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Flavour</a:t>
            </a:r>
          </a:p>
        </p:txBody>
      </p:sp>
      <p:sp>
        <p:nvSpPr>
          <p:cNvPr id="79" name="TextBox 78"/>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Sweet Muffins Flavours</a:t>
            </a:r>
          </a:p>
        </p:txBody>
      </p:sp>
      <p:cxnSp>
        <p:nvCxnSpPr>
          <p:cNvPr id="81" name="Connector 80"/>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Fruit-based</a:t>
            </a:r>
          </a:p>
        </p:txBody>
      </p:sp>
      <p:cxnSp>
        <p:nvCxnSpPr>
          <p:cNvPr id="84" name="Connector 83"/>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Chocolate-based</a:t>
            </a:r>
          </a:p>
        </p:txBody>
      </p:sp>
      <p:cxnSp>
        <p:nvCxnSpPr>
          <p:cNvPr id="87" name="Connector 86"/>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seed-based</a:t>
            </a:r>
          </a:p>
        </p:txBody>
      </p:sp>
      <p:cxnSp>
        <p:nvCxnSpPr>
          <p:cNvPr id="90" name="Connector 89"/>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and classic</a:t>
            </a:r>
          </a:p>
        </p:txBody>
      </p:sp>
      <p:cxnSp>
        <p:nvCxnSpPr>
          <p:cNvPr id="93" name="Connector 92"/>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Spice and dessert-inspired</a:t>
            </a:r>
          </a:p>
        </p:txBody>
      </p:sp>
      <p:cxnSp>
        <p:nvCxnSpPr>
          <p:cNvPr id="96" name="Connector 95"/>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Savoury Muffins Flavours</a:t>
            </a:r>
          </a:p>
        </p:txBody>
      </p:sp>
      <p:cxnSp>
        <p:nvCxnSpPr>
          <p:cNvPr id="99" name="Connector 98"/>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33813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35718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Cheese-based</a:t>
            </a:r>
          </a:p>
        </p:txBody>
      </p:sp>
      <p:cxnSp>
        <p:nvCxnSpPr>
          <p:cNvPr id="102" name="Connector 101"/>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4" name="TextBox 103"/>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Vegetable-based</a:t>
            </a:r>
          </a:p>
        </p:txBody>
      </p:sp>
      <p:cxnSp>
        <p:nvCxnSpPr>
          <p:cNvPr id="105" name="Connector 104"/>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6" name="TextBox 105"/>
          <p:cNvSpPr txBox="1"/>
          <p:nvPr/>
        </p:nvSpPr>
        <p:spPr>
          <a:xfrm>
            <a:off x="33813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7" name="TextBox 106"/>
          <p:cNvSpPr txBox="1"/>
          <p:nvPr/>
        </p:nvSpPr>
        <p:spPr>
          <a:xfrm>
            <a:off x="35718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Meat-based</a:t>
            </a:r>
          </a:p>
        </p:txBody>
      </p:sp>
      <p:cxnSp>
        <p:nvCxnSpPr>
          <p:cNvPr id="108" name="Connector 107"/>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9" name="TextBox 108"/>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Herb and spice-based</a:t>
            </a:r>
          </a:p>
        </p:txBody>
      </p:sp>
      <p:sp>
        <p:nvSpPr>
          <p:cNvPr id="111" name="Rectangle 110"/>
          <p:cNvSpPr/>
          <p:nvPr/>
        </p:nvSpPr>
        <p:spPr>
          <a:xfrm>
            <a:off x="3152775" y="3320415"/>
            <a:ext cx="2876550" cy="182308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3152775" y="332041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228975" y="332041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Structure</a:t>
            </a:r>
          </a:p>
        </p:txBody>
      </p:sp>
      <p:sp>
        <p:nvSpPr>
          <p:cNvPr id="114" name="TextBox 113"/>
          <p:cNvSpPr txBox="1"/>
          <p:nvPr/>
        </p:nvSpPr>
        <p:spPr>
          <a:xfrm>
            <a:off x="320992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3400425" y="35490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Unfilled muffins</a:t>
            </a:r>
          </a:p>
        </p:txBody>
      </p:sp>
      <p:cxnSp>
        <p:nvCxnSpPr>
          <p:cNvPr id="116" name="Connector 115"/>
          <p:cNvCxnSpPr/>
          <p:nvPr/>
        </p:nvCxnSpPr>
        <p:spPr>
          <a:xfrm>
            <a:off x="31623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33813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8" name="TextBox 117"/>
          <p:cNvSpPr txBox="1"/>
          <p:nvPr/>
        </p:nvSpPr>
        <p:spPr>
          <a:xfrm>
            <a:off x="35718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batter</a:t>
            </a:r>
          </a:p>
        </p:txBody>
      </p:sp>
      <p:cxnSp>
        <p:nvCxnSpPr>
          <p:cNvPr id="119" name="Connector 118"/>
          <p:cNvCxnSpPr/>
          <p:nvPr/>
        </p:nvCxnSpPr>
        <p:spPr>
          <a:xfrm>
            <a:off x="31623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33813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35718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Batter with inclusions</a:t>
            </a:r>
          </a:p>
        </p:txBody>
      </p:sp>
      <p:cxnSp>
        <p:nvCxnSpPr>
          <p:cNvPr id="122" name="Connector 121"/>
          <p:cNvCxnSpPr/>
          <p:nvPr/>
        </p:nvCxnSpPr>
        <p:spPr>
          <a:xfrm>
            <a:off x="31623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3" name="TextBox 122"/>
          <p:cNvSpPr txBox="1"/>
          <p:nvPr/>
        </p:nvSpPr>
        <p:spPr>
          <a:xfrm>
            <a:off x="32099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4" name="TextBox 123"/>
          <p:cNvSpPr txBox="1"/>
          <p:nvPr/>
        </p:nvSpPr>
        <p:spPr>
          <a:xfrm>
            <a:off x="3400425" y="40805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Filled muffins</a:t>
            </a:r>
          </a:p>
        </p:txBody>
      </p:sp>
      <p:cxnSp>
        <p:nvCxnSpPr>
          <p:cNvPr id="125" name="Connector 124"/>
          <p:cNvCxnSpPr/>
          <p:nvPr/>
        </p:nvCxnSpPr>
        <p:spPr>
          <a:xfrm>
            <a:off x="31623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6" name="TextBox 125"/>
          <p:cNvSpPr txBox="1"/>
          <p:nvPr/>
        </p:nvSpPr>
        <p:spPr>
          <a:xfrm>
            <a:off x="33813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7" name="TextBox 126"/>
          <p:cNvSpPr txBox="1"/>
          <p:nvPr/>
        </p:nvSpPr>
        <p:spPr>
          <a:xfrm>
            <a:off x="35718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 and jam-filled</a:t>
            </a:r>
          </a:p>
        </p:txBody>
      </p:sp>
      <p:cxnSp>
        <p:nvCxnSpPr>
          <p:cNvPr id="128" name="Connector 127"/>
          <p:cNvCxnSpPr/>
          <p:nvPr/>
        </p:nvCxnSpPr>
        <p:spPr>
          <a:xfrm>
            <a:off x="31623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33813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0" name="TextBox 129"/>
          <p:cNvSpPr txBox="1"/>
          <p:nvPr/>
        </p:nvSpPr>
        <p:spPr>
          <a:xfrm>
            <a:off x="35718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Chocolate-filled</a:t>
            </a:r>
          </a:p>
        </p:txBody>
      </p:sp>
      <p:cxnSp>
        <p:nvCxnSpPr>
          <p:cNvPr id="131" name="Connector 130"/>
          <p:cNvCxnSpPr/>
          <p:nvPr/>
        </p:nvCxnSpPr>
        <p:spPr>
          <a:xfrm>
            <a:off x="31623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2" name="TextBox 131"/>
          <p:cNvSpPr txBox="1"/>
          <p:nvPr/>
        </p:nvSpPr>
        <p:spPr>
          <a:xfrm>
            <a:off x="33813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3" name="TextBox 132"/>
          <p:cNvSpPr txBox="1"/>
          <p:nvPr/>
        </p:nvSpPr>
        <p:spPr>
          <a:xfrm>
            <a:off x="35718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Cream and custard-filled</a:t>
            </a:r>
          </a:p>
        </p:txBody>
      </p:sp>
      <p:cxnSp>
        <p:nvCxnSpPr>
          <p:cNvPr id="134" name="Connector 133"/>
          <p:cNvCxnSpPr/>
          <p:nvPr/>
        </p:nvCxnSpPr>
        <p:spPr>
          <a:xfrm>
            <a:off x="31623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5" name="TextBox 134"/>
          <p:cNvSpPr txBox="1"/>
          <p:nvPr/>
        </p:nvSpPr>
        <p:spPr>
          <a:xfrm>
            <a:off x="33813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6" name="TextBox 135"/>
          <p:cNvSpPr txBox="1"/>
          <p:nvPr/>
        </p:nvSpPr>
        <p:spPr>
          <a:xfrm>
            <a:off x="35718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butter-filled</a:t>
            </a:r>
          </a:p>
        </p:txBody>
      </p:sp>
      <p:cxnSp>
        <p:nvCxnSpPr>
          <p:cNvPr id="137" name="Connector 136"/>
          <p:cNvCxnSpPr/>
          <p:nvPr/>
        </p:nvCxnSpPr>
        <p:spPr>
          <a:xfrm>
            <a:off x="31623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8" name="TextBox 137"/>
          <p:cNvSpPr txBox="1"/>
          <p:nvPr/>
        </p:nvSpPr>
        <p:spPr>
          <a:xfrm>
            <a:off x="33813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9" name="TextBox 138"/>
          <p:cNvSpPr txBox="1"/>
          <p:nvPr/>
        </p:nvSpPr>
        <p:spPr>
          <a:xfrm>
            <a:off x="35718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 and savoury-filled</a:t>
            </a:r>
          </a:p>
        </p:txBody>
      </p:sp>
      <p:sp>
        <p:nvSpPr>
          <p:cNvPr id="140" name="Rectangle 139"/>
          <p:cNvSpPr/>
          <p:nvPr/>
        </p:nvSpPr>
        <p:spPr>
          <a:xfrm>
            <a:off x="6162675" y="1028700"/>
            <a:ext cx="2876550" cy="200025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Primary Flour Base</a:t>
            </a:r>
          </a:p>
        </p:txBody>
      </p:sp>
      <p:sp>
        <p:nvSpPr>
          <p:cNvPr id="143" name="TextBox 142"/>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Wheat-based</a:t>
            </a:r>
          </a:p>
        </p:txBody>
      </p:sp>
      <p:cxnSp>
        <p:nvCxnSpPr>
          <p:cNvPr id="145" name="Connector 144"/>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6" name="TextBox 145"/>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7" name="TextBox 146"/>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Refined wheat</a:t>
            </a:r>
          </a:p>
        </p:txBody>
      </p:sp>
      <p:cxnSp>
        <p:nvCxnSpPr>
          <p:cNvPr id="148" name="Connector 147"/>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0" name="TextBox 149"/>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Whole wheat</a:t>
            </a:r>
          </a:p>
        </p:txBody>
      </p:sp>
      <p:cxnSp>
        <p:nvCxnSpPr>
          <p:cNvPr id="151" name="Connector 150"/>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2" name="TextBox 151"/>
          <p:cNvSpPr txBox="1"/>
          <p:nvPr/>
        </p:nvSpPr>
        <p:spPr>
          <a:xfrm>
            <a:off x="62198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3" name="TextBox 152"/>
          <p:cNvSpPr txBox="1"/>
          <p:nvPr/>
        </p:nvSpPr>
        <p:spPr>
          <a:xfrm>
            <a:off x="64103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Oat-based</a:t>
            </a:r>
          </a:p>
        </p:txBody>
      </p:sp>
      <p:cxnSp>
        <p:nvCxnSpPr>
          <p:cNvPr id="154" name="Connector 153"/>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62198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6" name="TextBox 155"/>
          <p:cNvSpPr txBox="1"/>
          <p:nvPr/>
        </p:nvSpPr>
        <p:spPr>
          <a:xfrm>
            <a:off x="6410325" y="19659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Rice-based</a:t>
            </a:r>
          </a:p>
        </p:txBody>
      </p:sp>
      <p:cxnSp>
        <p:nvCxnSpPr>
          <p:cNvPr id="157" name="Connector 156"/>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9" name="TextBox 158"/>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Corn-based</a:t>
            </a:r>
          </a:p>
        </p:txBody>
      </p:sp>
      <p:cxnSp>
        <p:nvCxnSpPr>
          <p:cNvPr id="160" name="Connector 159"/>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1" name="TextBox 160"/>
          <p:cNvSpPr txBox="1"/>
          <p:nvPr/>
        </p:nvSpPr>
        <p:spPr>
          <a:xfrm>
            <a:off x="62198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2" name="TextBox 161"/>
          <p:cNvSpPr txBox="1"/>
          <p:nvPr/>
        </p:nvSpPr>
        <p:spPr>
          <a:xfrm>
            <a:off x="64103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Millet-based</a:t>
            </a:r>
          </a:p>
        </p:txBody>
      </p:sp>
      <p:cxnSp>
        <p:nvCxnSpPr>
          <p:cNvPr id="163" name="Connector 162"/>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62198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5" name="TextBox 164"/>
          <p:cNvSpPr txBox="1"/>
          <p:nvPr/>
        </p:nvSpPr>
        <p:spPr>
          <a:xfrm>
            <a:off x="64103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Almond and other nut flour-based</a:t>
            </a:r>
          </a:p>
        </p:txBody>
      </p:sp>
      <p:cxnSp>
        <p:nvCxnSpPr>
          <p:cNvPr id="166" name="Connector 165"/>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7" name="TextBox 166"/>
          <p:cNvSpPr txBox="1"/>
          <p:nvPr/>
        </p:nvSpPr>
        <p:spPr>
          <a:xfrm>
            <a:off x="621982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8" name="TextBox 167"/>
          <p:cNvSpPr txBox="1"/>
          <p:nvPr/>
        </p:nvSpPr>
        <p:spPr>
          <a:xfrm>
            <a:off x="6410325" y="267462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Other single-flour bases</a:t>
            </a:r>
          </a:p>
        </p:txBody>
      </p:sp>
      <p:cxnSp>
        <p:nvCxnSpPr>
          <p:cNvPr id="169" name="Connector 168"/>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0" name="TextBox 169"/>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1" name="TextBox 170"/>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Multigrain and blended flour bases</a:t>
            </a:r>
          </a:p>
        </p:txBody>
      </p:sp>
      <p:sp>
        <p:nvSpPr>
          <p:cNvPr id="172" name="Rectangle 171"/>
          <p:cNvSpPr/>
          <p:nvPr/>
        </p:nvSpPr>
        <p:spPr>
          <a:xfrm>
            <a:off x="6162675" y="314325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6162675" y="314325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6238875" y="314325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Recipe and Ingredient Claims</a:t>
            </a:r>
          </a:p>
        </p:txBody>
      </p:sp>
      <p:sp>
        <p:nvSpPr>
          <p:cNvPr id="175" name="TextBox 174"/>
          <p:cNvSpPr txBox="1"/>
          <p:nvPr/>
        </p:nvSpPr>
        <p:spPr>
          <a:xfrm>
            <a:off x="62198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33718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Organic-certified</a:t>
            </a:r>
          </a:p>
        </p:txBody>
      </p:sp>
      <p:cxnSp>
        <p:nvCxnSpPr>
          <p:cNvPr id="177" name="Connector 176"/>
          <p:cNvCxnSpPr/>
          <p:nvPr/>
        </p:nvCxnSpPr>
        <p:spPr>
          <a:xfrm>
            <a:off x="61722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5490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Conventional / non-organic</a:t>
            </a:r>
          </a:p>
        </p:txBody>
      </p:sp>
      <p:cxnSp>
        <p:nvCxnSpPr>
          <p:cNvPr id="180" name="Connector 179"/>
          <p:cNvCxnSpPr/>
          <p:nvPr/>
        </p:nvCxnSpPr>
        <p:spPr>
          <a:xfrm>
            <a:off x="61722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7261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Additional claim mapping</a:t>
            </a:r>
          </a:p>
        </p:txBody>
      </p:sp>
      <p:cxnSp>
        <p:nvCxnSpPr>
          <p:cNvPr id="183" name="Connector 182"/>
          <p:cNvCxnSpPr/>
          <p:nvPr/>
        </p:nvCxnSpPr>
        <p:spPr>
          <a:xfrm>
            <a:off x="61722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3912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5817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Clean-label positioning</a:t>
            </a:r>
          </a:p>
        </p:txBody>
      </p:sp>
      <p:cxnSp>
        <p:nvCxnSpPr>
          <p:cNvPr id="186" name="Connector 185"/>
          <p:cNvCxnSpPr/>
          <p:nvPr/>
        </p:nvCxnSpPr>
        <p:spPr>
          <a:xfrm>
            <a:off x="61722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40805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colours</a:t>
            </a:r>
          </a:p>
        </p:txBody>
      </p:sp>
      <p:cxnSp>
        <p:nvCxnSpPr>
          <p:cNvPr id="189" name="Connector 188"/>
          <p:cNvCxnSpPr/>
          <p:nvPr/>
        </p:nvCxnSpPr>
        <p:spPr>
          <a:xfrm>
            <a:off x="61722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flavours</a:t>
            </a:r>
          </a:p>
        </p:txBody>
      </p:sp>
      <p:cxnSp>
        <p:nvCxnSpPr>
          <p:cNvPr id="192" name="Connector 191"/>
          <p:cNvCxnSpPr/>
          <p:nvPr/>
        </p:nvCxnSpPr>
        <p:spPr>
          <a:xfrm>
            <a:off x="61722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preservatives</a:t>
            </a:r>
          </a:p>
        </p:txBody>
      </p:sp>
      <p:cxnSp>
        <p:nvCxnSpPr>
          <p:cNvPr id="195" name="Connector 194"/>
          <p:cNvCxnSpPr/>
          <p:nvPr/>
        </p:nvCxnSpPr>
        <p:spPr>
          <a:xfrm>
            <a:off x="61722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6" name="TextBox 195"/>
          <p:cNvSpPr txBox="1"/>
          <p:nvPr/>
        </p:nvSpPr>
        <p:spPr>
          <a:xfrm>
            <a:off x="63912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7" name="TextBox 196"/>
          <p:cNvSpPr txBox="1"/>
          <p:nvPr/>
        </p:nvSpPr>
        <p:spPr>
          <a:xfrm>
            <a:off x="65817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Non-GMO</a:t>
            </a:r>
          </a:p>
        </p:txBody>
      </p:sp>
      <p:cxnSp>
        <p:nvCxnSpPr>
          <p:cNvPr id="198" name="Connector 197"/>
          <p:cNvCxnSpPr/>
          <p:nvPr/>
        </p:nvCxnSpPr>
        <p:spPr>
          <a:xfrm>
            <a:off x="61722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9" name="TextBox 198"/>
          <p:cNvSpPr txBox="1"/>
          <p:nvPr/>
        </p:nvSpPr>
        <p:spPr>
          <a:xfrm>
            <a:off x="63912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0" name="TextBox 199"/>
          <p:cNvSpPr txBox="1"/>
          <p:nvPr/>
        </p:nvSpPr>
        <p:spPr>
          <a:xfrm>
            <a:off x="65817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Dairy-free</a:t>
            </a:r>
          </a:p>
        </p:txBody>
      </p:sp>
      <p:cxnSp>
        <p:nvCxnSpPr>
          <p:cNvPr id="201" name="Connector 200"/>
          <p:cNvCxnSpPr/>
          <p:nvPr/>
        </p:nvCxnSpPr>
        <p:spPr>
          <a:xfrm>
            <a:off x="61722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2" name="TextBox 201"/>
          <p:cNvSpPr txBox="1"/>
          <p:nvPr/>
        </p:nvSpPr>
        <p:spPr>
          <a:xfrm>
            <a:off x="63912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3" name="TextBox 202"/>
          <p:cNvSpPr txBox="1"/>
          <p:nvPr/>
        </p:nvSpPr>
        <p:spPr>
          <a:xfrm>
            <a:off x="65817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Egg-free</a:t>
            </a:r>
          </a:p>
        </p:txBody>
      </p:sp>
      <p:cxnSp>
        <p:nvCxnSpPr>
          <p:cNvPr id="204" name="Connector 203"/>
          <p:cNvCxnSpPr/>
          <p:nvPr/>
        </p:nvCxnSpPr>
        <p:spPr>
          <a:xfrm>
            <a:off x="61722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5" name="TextBox 204"/>
          <p:cNvSpPr txBox="1"/>
          <p:nvPr/>
        </p:nvSpPr>
        <p:spPr>
          <a:xfrm>
            <a:off x="63912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6" name="TextBox 205"/>
          <p:cNvSpPr txBox="1"/>
          <p:nvPr/>
        </p:nvSpPr>
        <p:spPr>
          <a:xfrm>
            <a:off x="65817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Nut-free</a:t>
            </a:r>
          </a:p>
        </p:txBody>
      </p:sp>
      <p:sp>
        <p:nvSpPr>
          <p:cNvPr id="207" name="Rectangle 206"/>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Dietary Formulation</a:t>
            </a:r>
          </a:p>
        </p:txBody>
      </p:sp>
      <p:sp>
        <p:nvSpPr>
          <p:cNvPr id="210" name="TextBox 209"/>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1" name="TextBox 210"/>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cxnSp>
        <p:nvCxnSpPr>
          <p:cNvPr id="212" name="Connector 211"/>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3" name="TextBox 212"/>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4" name="TextBox 213"/>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cxnSp>
        <p:nvCxnSpPr>
          <p:cNvPr id="215" name="Connector 214"/>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6" name="TextBox 215"/>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7" name="TextBox 216"/>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cxnSp>
        <p:nvCxnSpPr>
          <p:cNvPr id="218" name="Connector 217"/>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9" name="TextBox 218"/>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0" name="TextBox 219"/>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221" name="Rectangle 220"/>
          <p:cNvSpPr/>
          <p:nvPr/>
        </p:nvSpPr>
        <p:spPr>
          <a:xfrm>
            <a:off x="9172575" y="208026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TextBox 222"/>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Nutritional Positioning</a:t>
            </a:r>
          </a:p>
        </p:txBody>
      </p:sp>
      <p:sp>
        <p:nvSpPr>
          <p:cNvPr id="224" name="TextBox 223"/>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cxnSp>
        <p:nvCxnSpPr>
          <p:cNvPr id="226" name="Connector 225"/>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2297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4202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cxnSp>
        <p:nvCxnSpPr>
          <p:cNvPr id="229" name="Connector 228"/>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2297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4202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cxnSp>
        <p:nvCxnSpPr>
          <p:cNvPr id="232" name="Connector 231"/>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2297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4202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cxnSp>
        <p:nvCxnSpPr>
          <p:cNvPr id="235" name="Connector 234"/>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2297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4202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cxnSp>
        <p:nvCxnSpPr>
          <p:cNvPr id="238" name="Connector 237"/>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2297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4202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cxnSp>
        <p:nvCxnSpPr>
          <p:cNvPr id="241" name="Connector 240"/>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337185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244" name="Rectangle 243"/>
          <p:cNvSpPr/>
          <p:nvPr/>
        </p:nvSpPr>
        <p:spPr>
          <a:xfrm>
            <a:off x="9172575" y="3663315"/>
            <a:ext cx="2876550" cy="12915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9172575" y="366331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TextBox 245"/>
          <p:cNvSpPr txBox="1"/>
          <p:nvPr/>
        </p:nvSpPr>
        <p:spPr>
          <a:xfrm>
            <a:off x="9248775" y="366331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Surface Finish</a:t>
            </a:r>
          </a:p>
        </p:txBody>
      </p:sp>
      <p:sp>
        <p:nvSpPr>
          <p:cNvPr id="247" name="TextBox 246"/>
          <p:cNvSpPr txBox="1"/>
          <p:nvPr/>
        </p:nvSpPr>
        <p:spPr>
          <a:xfrm>
            <a:off x="9229725" y="38919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8" name="TextBox 247"/>
          <p:cNvSpPr txBox="1"/>
          <p:nvPr/>
        </p:nvSpPr>
        <p:spPr>
          <a:xfrm>
            <a:off x="9420225" y="389191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cxnSp>
        <p:nvCxnSpPr>
          <p:cNvPr id="249" name="Connector 248"/>
          <p:cNvCxnSpPr/>
          <p:nvPr/>
        </p:nvCxnSpPr>
        <p:spPr>
          <a:xfrm>
            <a:off x="9182100" y="40690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0" name="TextBox 249"/>
          <p:cNvSpPr txBox="1"/>
          <p:nvPr/>
        </p:nvSpPr>
        <p:spPr>
          <a:xfrm>
            <a:off x="9229725" y="40690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1" name="TextBox 250"/>
          <p:cNvSpPr txBox="1"/>
          <p:nvPr/>
        </p:nvSpPr>
        <p:spPr>
          <a:xfrm>
            <a:off x="9420225" y="40690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cxnSp>
        <p:nvCxnSpPr>
          <p:cNvPr id="252" name="Connector 251"/>
          <p:cNvCxnSpPr/>
          <p:nvPr/>
        </p:nvCxnSpPr>
        <p:spPr>
          <a:xfrm>
            <a:off x="9182100" y="42462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3" name="TextBox 252"/>
          <p:cNvSpPr txBox="1"/>
          <p:nvPr/>
        </p:nvSpPr>
        <p:spPr>
          <a:xfrm>
            <a:off x="9229725" y="42462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4" name="TextBox 253"/>
          <p:cNvSpPr txBox="1"/>
          <p:nvPr/>
        </p:nvSpPr>
        <p:spPr>
          <a:xfrm>
            <a:off x="9420225" y="42462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cxnSp>
        <p:nvCxnSpPr>
          <p:cNvPr id="255" name="Connector 254"/>
          <p:cNvCxnSpPr/>
          <p:nvPr/>
        </p:nvCxnSpPr>
        <p:spPr>
          <a:xfrm>
            <a:off x="9182100" y="44234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6" name="TextBox 255"/>
          <p:cNvSpPr txBox="1"/>
          <p:nvPr/>
        </p:nvSpPr>
        <p:spPr>
          <a:xfrm>
            <a:off x="9229725" y="44234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7" name="TextBox 256"/>
          <p:cNvSpPr txBox="1"/>
          <p:nvPr/>
        </p:nvSpPr>
        <p:spPr>
          <a:xfrm>
            <a:off x="9420225" y="44234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cxnSp>
        <p:nvCxnSpPr>
          <p:cNvPr id="258" name="Connector 257"/>
          <p:cNvCxnSpPr/>
          <p:nvPr/>
        </p:nvCxnSpPr>
        <p:spPr>
          <a:xfrm>
            <a:off x="9182100" y="46005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9" name="TextBox 258"/>
          <p:cNvSpPr txBox="1"/>
          <p:nvPr/>
        </p:nvSpPr>
        <p:spPr>
          <a:xfrm>
            <a:off x="9229725" y="46005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0" name="TextBox 259"/>
          <p:cNvSpPr txBox="1"/>
          <p:nvPr/>
        </p:nvSpPr>
        <p:spPr>
          <a:xfrm>
            <a:off x="9420225" y="46005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cxnSp>
        <p:nvCxnSpPr>
          <p:cNvPr id="261" name="Connector 260"/>
          <p:cNvCxnSpPr/>
          <p:nvPr/>
        </p:nvCxnSpPr>
        <p:spPr>
          <a:xfrm>
            <a:off x="9182100" y="47777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62" name="TextBox 261"/>
          <p:cNvSpPr txBox="1"/>
          <p:nvPr/>
        </p:nvSpPr>
        <p:spPr>
          <a:xfrm>
            <a:off x="9229725" y="47777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3" name="TextBox 262"/>
          <p:cNvSpPr txBox="1"/>
          <p:nvPr/>
        </p:nvSpPr>
        <p:spPr>
          <a:xfrm>
            <a:off x="9420225" y="47777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264" name="Rectangle 263"/>
          <p:cNvSpPr/>
          <p:nvPr/>
        </p:nvSpPr>
        <p:spPr>
          <a:xfrm>
            <a:off x="9172575" y="5069205"/>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9172575" y="506920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9248775" y="506920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Shelf Life</a:t>
            </a:r>
          </a:p>
        </p:txBody>
      </p:sp>
      <p:sp>
        <p:nvSpPr>
          <p:cNvPr id="267" name="TextBox 266"/>
          <p:cNvSpPr txBox="1"/>
          <p:nvPr/>
        </p:nvSpPr>
        <p:spPr>
          <a:xfrm>
            <a:off x="9229725" y="52978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8" name="TextBox 267"/>
          <p:cNvSpPr txBox="1"/>
          <p:nvPr/>
        </p:nvSpPr>
        <p:spPr>
          <a:xfrm>
            <a:off x="9420225" y="52978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cxnSp>
        <p:nvCxnSpPr>
          <p:cNvPr id="269" name="Connector 268"/>
          <p:cNvCxnSpPr/>
          <p:nvPr/>
        </p:nvCxnSpPr>
        <p:spPr>
          <a:xfrm>
            <a:off x="9182100" y="54749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0" name="TextBox 269"/>
          <p:cNvSpPr txBox="1"/>
          <p:nvPr/>
        </p:nvSpPr>
        <p:spPr>
          <a:xfrm>
            <a:off x="9229725" y="54749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1" name="TextBox 270"/>
          <p:cNvSpPr txBox="1"/>
          <p:nvPr/>
        </p:nvSpPr>
        <p:spPr>
          <a:xfrm>
            <a:off x="9420225" y="54749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cxnSp>
        <p:nvCxnSpPr>
          <p:cNvPr id="272" name="Connector 271"/>
          <p:cNvCxnSpPr/>
          <p:nvPr/>
        </p:nvCxnSpPr>
        <p:spPr>
          <a:xfrm>
            <a:off x="9182100" y="56521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3" name="TextBox 272"/>
          <p:cNvSpPr txBox="1"/>
          <p:nvPr/>
        </p:nvSpPr>
        <p:spPr>
          <a:xfrm>
            <a:off x="9229725" y="56521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4" name="TextBox 273"/>
          <p:cNvSpPr txBox="1"/>
          <p:nvPr/>
        </p:nvSpPr>
        <p:spPr>
          <a:xfrm>
            <a:off x="9420225" y="56521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cxnSp>
        <p:nvCxnSpPr>
          <p:cNvPr id="275" name="Connector 274"/>
          <p:cNvCxnSpPr/>
          <p:nvPr/>
        </p:nvCxnSpPr>
        <p:spPr>
          <a:xfrm>
            <a:off x="9182100" y="58293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229725" y="5829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7" name="TextBox 276"/>
          <p:cNvSpPr txBox="1"/>
          <p:nvPr/>
        </p:nvSpPr>
        <p:spPr>
          <a:xfrm>
            <a:off x="9420225" y="5829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278" name="TextBox 27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17 axes and the sub-segments sized under each</a:t>
            </a:r>
          </a:p>
        </p:txBody>
      </p:sp>
      <p:sp>
        <p:nvSpPr>
          <p:cNvPr id="10" name="Rectangle 9"/>
          <p:cNvSpPr/>
          <p:nvPr/>
        </p:nvSpPr>
        <p:spPr>
          <a:xfrm>
            <a:off x="142875" y="102870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Packaging Format</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Flexible packs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Flow-wrap packs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Pouches and bags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2000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3905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Rigid plastic packs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Trays with sealed film</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Clamshell containers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Tubs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Paperboard packs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Cartons with inner wrapping</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Windowed cartons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2000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3905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Other packaging formats</a:t>
            </a:r>
          </a:p>
        </p:txBody>
      </p:sp>
      <p:sp>
        <p:nvSpPr>
          <p:cNvPr id="45" name="Rectangle 44"/>
          <p:cNvSpPr/>
          <p:nvPr/>
        </p:nvSpPr>
        <p:spPr>
          <a:xfrm>
            <a:off x="3152775" y="102870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Pack Configuration</a:t>
            </a:r>
          </a:p>
        </p:txBody>
      </p:sp>
      <p:sp>
        <p:nvSpPr>
          <p:cNvPr id="48" name="TextBox 47"/>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9" name="TextBox 48"/>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Single-muffin packs</a:t>
            </a:r>
          </a:p>
        </p:txBody>
      </p:sp>
      <p:cxnSp>
        <p:nvCxnSpPr>
          <p:cNvPr id="50" name="Connector 49"/>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1" name="TextBox 50"/>
          <p:cNvSpPr txBox="1"/>
          <p:nvPr/>
        </p:nvSpPr>
        <p:spPr>
          <a:xfrm>
            <a:off x="32099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2" name="TextBox 51"/>
          <p:cNvSpPr txBox="1"/>
          <p:nvPr/>
        </p:nvSpPr>
        <p:spPr>
          <a:xfrm>
            <a:off x="34004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Multipacks</a:t>
            </a:r>
          </a:p>
        </p:txBody>
      </p:sp>
      <p:cxnSp>
        <p:nvCxnSpPr>
          <p:cNvPr id="53" name="Connector 52"/>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5" name="TextBox 54"/>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2-4 muffins</a:t>
            </a:r>
          </a:p>
        </p:txBody>
      </p:sp>
      <p:cxnSp>
        <p:nvCxnSpPr>
          <p:cNvPr id="56" name="Connector 55"/>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5-8 muffins</a:t>
            </a:r>
          </a:p>
        </p:txBody>
      </p:sp>
      <p:cxnSp>
        <p:nvCxnSpPr>
          <p:cNvPr id="59" name="Connector 58"/>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9-12 muffins</a:t>
            </a:r>
          </a:p>
        </p:txBody>
      </p:sp>
      <p:cxnSp>
        <p:nvCxnSpPr>
          <p:cNvPr id="62" name="Connector 61"/>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More than 12 muffins</a:t>
            </a:r>
          </a:p>
        </p:txBody>
      </p:sp>
      <p:cxnSp>
        <p:nvCxnSpPr>
          <p:cNvPr id="65" name="Connector 64"/>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7" name="TextBox 66"/>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Bulk foodservice packs</a:t>
            </a:r>
          </a:p>
        </p:txBody>
      </p:sp>
      <p:sp>
        <p:nvSpPr>
          <p:cNvPr id="68" name="Rectangle 67"/>
          <p:cNvSpPr/>
          <p:nvPr/>
        </p:nvSpPr>
        <p:spPr>
          <a:xfrm>
            <a:off x="61626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Multipack Wrapping</a:t>
            </a:r>
          </a:p>
        </p:txBody>
      </p:sp>
      <p:sp>
        <p:nvSpPr>
          <p:cNvPr id="71" name="TextBox 70"/>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6410325" y="1257300"/>
            <a:ext cx="259080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Individually wrapped muffins within an outer pack</a:t>
            </a:r>
          </a:p>
        </p:txBody>
      </p:sp>
      <p:cxnSp>
        <p:nvCxnSpPr>
          <p:cNvPr id="73" name="Connector 7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2198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64103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76" name="Rectangle 75"/>
          <p:cNvSpPr/>
          <p:nvPr/>
        </p:nvSpPr>
        <p:spPr>
          <a:xfrm>
            <a:off x="6162675" y="1903095"/>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61626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6238875" y="19030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Brand Ownership</a:t>
            </a:r>
          </a:p>
        </p:txBody>
      </p:sp>
      <p:sp>
        <p:nvSpPr>
          <p:cNvPr id="79" name="TextBox 78"/>
          <p:cNvSpPr txBox="1"/>
          <p:nvPr/>
        </p:nvSpPr>
        <p:spPr>
          <a:xfrm>
            <a:off x="6219825" y="21316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6410325" y="21316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Manufacturer brands</a:t>
            </a:r>
          </a:p>
        </p:txBody>
      </p:sp>
      <p:cxnSp>
        <p:nvCxnSpPr>
          <p:cNvPr id="81" name="Connector 80"/>
          <p:cNvCxnSpPr/>
          <p:nvPr/>
        </p:nvCxnSpPr>
        <p:spPr>
          <a:xfrm>
            <a:off x="61722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9127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6581775" y="23088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National brands</a:t>
            </a:r>
          </a:p>
        </p:txBody>
      </p:sp>
      <p:cxnSp>
        <p:nvCxnSpPr>
          <p:cNvPr id="84" name="Connector 83"/>
          <p:cNvCxnSpPr/>
          <p:nvPr/>
        </p:nvCxnSpPr>
        <p:spPr>
          <a:xfrm>
            <a:off x="61722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3912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65817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Regional / local brands</a:t>
            </a:r>
          </a:p>
        </p:txBody>
      </p:sp>
      <p:cxnSp>
        <p:nvCxnSpPr>
          <p:cNvPr id="87" name="Connector 86"/>
          <p:cNvCxnSpPr/>
          <p:nvPr/>
        </p:nvCxnSpPr>
        <p:spPr>
          <a:xfrm>
            <a:off x="61722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2198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6410325" y="26631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Retailer private labels</a:t>
            </a:r>
          </a:p>
        </p:txBody>
      </p:sp>
      <p:cxnSp>
        <p:nvCxnSpPr>
          <p:cNvPr id="90" name="Connector 89"/>
          <p:cNvCxnSpPr/>
          <p:nvPr/>
        </p:nvCxnSpPr>
        <p:spPr>
          <a:xfrm>
            <a:off x="61722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3912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65817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Value private labels</a:t>
            </a:r>
          </a:p>
        </p:txBody>
      </p:sp>
      <p:cxnSp>
        <p:nvCxnSpPr>
          <p:cNvPr id="93" name="Connector 92"/>
          <p:cNvCxnSpPr/>
          <p:nvPr/>
        </p:nvCxnSpPr>
        <p:spPr>
          <a:xfrm>
            <a:off x="61722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63912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5817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private labels</a:t>
            </a:r>
          </a:p>
        </p:txBody>
      </p:sp>
      <p:cxnSp>
        <p:nvCxnSpPr>
          <p:cNvPr id="96" name="Connector 95"/>
          <p:cNvCxnSpPr/>
          <p:nvPr/>
        </p:nvCxnSpPr>
        <p:spPr>
          <a:xfrm>
            <a:off x="61722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912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5817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Premium private labels</a:t>
            </a:r>
          </a:p>
        </p:txBody>
      </p:sp>
      <p:cxnSp>
        <p:nvCxnSpPr>
          <p:cNvPr id="99" name="Connector 98"/>
          <p:cNvCxnSpPr/>
          <p:nvPr/>
        </p:nvCxnSpPr>
        <p:spPr>
          <a:xfrm>
            <a:off x="61722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2198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6410325" y="33718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Foodservice / operator brands</a:t>
            </a:r>
          </a:p>
        </p:txBody>
      </p:sp>
      <p:sp>
        <p:nvSpPr>
          <p:cNvPr id="102" name="Rectangle 101"/>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Price Positioning</a:t>
            </a:r>
          </a:p>
        </p:txBody>
      </p:sp>
      <p:sp>
        <p:nvSpPr>
          <p:cNvPr id="105" name="TextBox 104"/>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cxnSp>
        <p:nvCxnSpPr>
          <p:cNvPr id="107" name="Connector 106"/>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cxnSp>
        <p:nvCxnSpPr>
          <p:cNvPr id="110" name="Connector 109"/>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cxnSp>
        <p:nvCxnSpPr>
          <p:cNvPr id="113" name="Connector 112"/>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116" name="Rectangle 115"/>
          <p:cNvSpPr/>
          <p:nvPr/>
        </p:nvSpPr>
        <p:spPr>
          <a:xfrm>
            <a:off x="9172575" y="2080260"/>
            <a:ext cx="2876550" cy="359473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Sales Channel</a:t>
            </a:r>
          </a:p>
        </p:txBody>
      </p:sp>
      <p:sp>
        <p:nvSpPr>
          <p:cNvPr id="119" name="TextBox 118"/>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Retail</a:t>
            </a:r>
          </a:p>
        </p:txBody>
      </p:sp>
      <p:cxnSp>
        <p:nvCxnSpPr>
          <p:cNvPr id="121" name="Connector 120"/>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Supermarkets and hypermarkets</a:t>
            </a:r>
          </a:p>
        </p:txBody>
      </p:sp>
      <p:cxnSp>
        <p:nvCxnSpPr>
          <p:cNvPr id="124" name="Connector 123"/>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Convenience stores</a:t>
            </a:r>
          </a:p>
        </p:txBody>
      </p:sp>
      <p:cxnSp>
        <p:nvCxnSpPr>
          <p:cNvPr id="127" name="Connector 126"/>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Discount stores</a:t>
            </a:r>
          </a:p>
        </p:txBody>
      </p:sp>
      <p:cxnSp>
        <p:nvCxnSpPr>
          <p:cNvPr id="130" name="Connector 129"/>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Warehouse clubs</a:t>
            </a:r>
          </a:p>
        </p:txBody>
      </p:sp>
      <p:cxnSp>
        <p:nvCxnSpPr>
          <p:cNvPr id="133" name="Connector 132"/>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Traditional grocery stores</a:t>
            </a:r>
          </a:p>
        </p:txBody>
      </p:sp>
      <p:cxnSp>
        <p:nvCxnSpPr>
          <p:cNvPr id="136" name="Connector 135"/>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Speciality food and health stores</a:t>
            </a:r>
          </a:p>
        </p:txBody>
      </p:sp>
      <p:cxnSp>
        <p:nvCxnSpPr>
          <p:cNvPr id="139" name="Connector 138"/>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9591675" y="354901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Bakery outlets selling packaged products</a:t>
            </a:r>
          </a:p>
        </p:txBody>
      </p:sp>
      <p:cxnSp>
        <p:nvCxnSpPr>
          <p:cNvPr id="142" name="Connector 141"/>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95916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retail</a:t>
            </a:r>
          </a:p>
        </p:txBody>
      </p:sp>
      <p:cxnSp>
        <p:nvCxnSpPr>
          <p:cNvPr id="145" name="Connector 144"/>
          <p:cNvCxnSpPr/>
          <p:nvPr/>
        </p:nvCxnSpPr>
        <p:spPr>
          <a:xfrm>
            <a:off x="91821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6" name="TextBox 145"/>
          <p:cNvSpPr txBox="1"/>
          <p:nvPr/>
        </p:nvSpPr>
        <p:spPr>
          <a:xfrm>
            <a:off x="92297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7" name="TextBox 146"/>
          <p:cNvSpPr txBox="1"/>
          <p:nvPr/>
        </p:nvSpPr>
        <p:spPr>
          <a:xfrm>
            <a:off x="9420225" y="40805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Foodservice and institutional</a:t>
            </a:r>
          </a:p>
        </p:txBody>
      </p:sp>
      <p:cxnSp>
        <p:nvCxnSpPr>
          <p:cNvPr id="148" name="Connector 147"/>
          <p:cNvCxnSpPr/>
          <p:nvPr/>
        </p:nvCxnSpPr>
        <p:spPr>
          <a:xfrm>
            <a:off x="91821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94011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0" name="TextBox 149"/>
          <p:cNvSpPr txBox="1"/>
          <p:nvPr/>
        </p:nvSpPr>
        <p:spPr>
          <a:xfrm>
            <a:off x="95916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Cafés and coffee chains</a:t>
            </a:r>
          </a:p>
        </p:txBody>
      </p:sp>
      <p:cxnSp>
        <p:nvCxnSpPr>
          <p:cNvPr id="151" name="Connector 15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2" name="TextBox 151"/>
          <p:cNvSpPr txBox="1"/>
          <p:nvPr/>
        </p:nvSpPr>
        <p:spPr>
          <a:xfrm>
            <a:off x="94011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3" name="TextBox 152"/>
          <p:cNvSpPr txBox="1"/>
          <p:nvPr/>
        </p:nvSpPr>
        <p:spPr>
          <a:xfrm>
            <a:off x="95916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Hotels and restaurants</a:t>
            </a:r>
          </a:p>
        </p:txBody>
      </p:sp>
      <p:cxnSp>
        <p:nvCxnSpPr>
          <p:cNvPr id="154" name="Connector 15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6" name="TextBox 15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Quick-service restaurants</a:t>
            </a:r>
          </a:p>
        </p:txBody>
      </p:sp>
      <p:cxnSp>
        <p:nvCxnSpPr>
          <p:cNvPr id="157" name="Connector 15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9" name="TextBox 15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Corporate catering</a:t>
            </a:r>
          </a:p>
        </p:txBody>
      </p:sp>
      <p:cxnSp>
        <p:nvCxnSpPr>
          <p:cNvPr id="160" name="Connector 15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1" name="TextBox 16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2" name="TextBox 16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Educational institutions</a:t>
            </a:r>
          </a:p>
        </p:txBody>
      </p:sp>
      <p:cxnSp>
        <p:nvCxnSpPr>
          <p:cNvPr id="163" name="Connector 16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5" name="TextBox 16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Healthcare institutions</a:t>
            </a:r>
          </a:p>
        </p:txBody>
      </p:sp>
      <p:cxnSp>
        <p:nvCxnSpPr>
          <p:cNvPr id="166" name="Connector 16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7" name="TextBox 16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8" name="TextBox 16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Airline and travel catering</a:t>
            </a:r>
          </a:p>
        </p:txBody>
      </p:sp>
      <p:cxnSp>
        <p:nvCxnSpPr>
          <p:cNvPr id="169" name="Connector 168"/>
          <p:cNvCxnSpPr/>
          <p:nvPr/>
        </p:nvCxnSpPr>
        <p:spPr>
          <a:xfrm>
            <a:off x="9182100" y="5497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0" name="TextBox 169"/>
          <p:cNvSpPr txBox="1"/>
          <p:nvPr/>
        </p:nvSpPr>
        <p:spPr>
          <a:xfrm>
            <a:off x="9229725" y="5497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1" name="TextBox 170"/>
          <p:cNvSpPr txBox="1"/>
          <p:nvPr/>
        </p:nvSpPr>
        <p:spPr>
          <a:xfrm>
            <a:off x="9420225" y="549783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Vending</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Packaged Muffins Market profiled and benchmarked in the Competition Assessment section.</a:t>
            </a:r>
          </a:p>
        </p:txBody>
      </p:sp>
      <p:sp>
        <p:nvSpPr>
          <p:cNvPr id="11" name="Rectangle 10"/>
          <p:cNvSpPr/>
          <p:nvPr/>
        </p:nvSpPr>
        <p:spPr>
          <a:xfrm>
            <a:off x="142875"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182867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182867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Grupo Bimbo (Bimbo, Marinela, Little Bites, Thomas')</a:t>
            </a:r>
          </a:p>
        </p:txBody>
      </p:sp>
      <p:sp>
        <p:nvSpPr>
          <p:cNvPr id="16" name="Rectangle 15"/>
          <p:cNvSpPr/>
          <p:nvPr/>
        </p:nvSpPr>
        <p:spPr>
          <a:xfrm>
            <a:off x="152400" y="212073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212073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212073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212073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McKee Foods Corporation (Little Debbie, Sunbelt Bakery, Drake's, Fieldstone Bakery)</a:t>
            </a:r>
          </a:p>
        </p:txBody>
      </p:sp>
      <p:cxnSp>
        <p:nvCxnSpPr>
          <p:cNvPr id="20" name="Connector 19"/>
          <p:cNvCxnSpPr/>
          <p:nvPr/>
        </p:nvCxnSpPr>
        <p:spPr>
          <a:xfrm>
            <a:off x="152400" y="241279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241279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241279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Hostess Brands (Hostess)</a:t>
            </a:r>
          </a:p>
        </p:txBody>
      </p:sp>
      <p:sp>
        <p:nvSpPr>
          <p:cNvPr id="23" name="Rectangle 22"/>
          <p:cNvSpPr/>
          <p:nvPr/>
        </p:nvSpPr>
        <p:spPr>
          <a:xfrm>
            <a:off x="152400" y="2704855"/>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2704855"/>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2704855"/>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Rich Products Corporation (Rich's)</a:t>
            </a:r>
          </a:p>
        </p:txBody>
      </p:sp>
      <p:cxnSp>
        <p:nvCxnSpPr>
          <p:cNvPr id="27" name="Connector 26"/>
          <p:cNvCxnSpPr/>
          <p:nvPr/>
        </p:nvCxnSpPr>
        <p:spPr>
          <a:xfrm>
            <a:off x="152400" y="299691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2996914"/>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9" name="TextBox 28"/>
          <p:cNvSpPr txBox="1"/>
          <p:nvPr/>
        </p:nvSpPr>
        <p:spPr>
          <a:xfrm>
            <a:off x="581025" y="2996914"/>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ARYZTA / Aspire Bakeries (Otis Spunkmeyer, Cuisine de France, Hiestand, Delice de France)</a:t>
            </a:r>
          </a:p>
        </p:txBody>
      </p:sp>
      <p:sp>
        <p:nvSpPr>
          <p:cNvPr id="30" name="Rectangle 29"/>
          <p:cNvSpPr/>
          <p:nvPr/>
        </p:nvSpPr>
        <p:spPr>
          <a:xfrm>
            <a:off x="152400" y="3288973"/>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52400" y="328897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333375" y="3288973"/>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3" name="TextBox 32"/>
          <p:cNvSpPr txBox="1"/>
          <p:nvPr/>
        </p:nvSpPr>
        <p:spPr>
          <a:xfrm>
            <a:off x="581025" y="3288973"/>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Europastry (Europastry, Dots)</a:t>
            </a:r>
          </a:p>
        </p:txBody>
      </p:sp>
      <p:cxnSp>
        <p:nvCxnSpPr>
          <p:cNvPr id="34" name="Connector 33"/>
          <p:cNvCxnSpPr/>
          <p:nvPr/>
        </p:nvCxnSpPr>
        <p:spPr>
          <a:xfrm>
            <a:off x="152400"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33375" y="358103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6" name="TextBox 35"/>
          <p:cNvSpPr txBox="1"/>
          <p:nvPr/>
        </p:nvSpPr>
        <p:spPr>
          <a:xfrm>
            <a:off x="581025" y="358103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Bridor (Bridor, Evasions)</a:t>
            </a:r>
          </a:p>
        </p:txBody>
      </p:sp>
      <p:sp>
        <p:nvSpPr>
          <p:cNvPr id="37" name="Rectangle 36"/>
          <p:cNvSpPr/>
          <p:nvPr/>
        </p:nvSpPr>
        <p:spPr>
          <a:xfrm>
            <a:off x="152400" y="3873092"/>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8" name="Connector 37"/>
          <p:cNvCxnSpPr/>
          <p:nvPr/>
        </p:nvCxnSpPr>
        <p:spPr>
          <a:xfrm>
            <a:off x="152400" y="387309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3375" y="387309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0" name="TextBox 39"/>
          <p:cNvSpPr txBox="1"/>
          <p:nvPr/>
        </p:nvSpPr>
        <p:spPr>
          <a:xfrm>
            <a:off x="581025" y="387309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Lantmännen Unibake (Schulstad, Hatting, Vaasan, Pastridor, Euro-Bake)</a:t>
            </a:r>
          </a:p>
        </p:txBody>
      </p:sp>
      <p:cxnSp>
        <p:nvCxnSpPr>
          <p:cNvPr id="41" name="Connector 40"/>
          <p:cNvCxnSpPr/>
          <p:nvPr/>
        </p:nvCxnSpPr>
        <p:spPr>
          <a:xfrm>
            <a:off x="152400" y="416515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33375" y="4165151"/>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3" name="TextBox 42"/>
          <p:cNvSpPr txBox="1"/>
          <p:nvPr/>
        </p:nvSpPr>
        <p:spPr>
          <a:xfrm>
            <a:off x="581025" y="4165151"/>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Flowers Foods (Tastykake, Nature's Own, Wonder, Dave's Killer Bread, Canyon Bakehouse)</a:t>
            </a:r>
          </a:p>
        </p:txBody>
      </p:sp>
      <p:sp>
        <p:nvSpPr>
          <p:cNvPr id="44" name="Rectangle 43"/>
          <p:cNvSpPr/>
          <p:nvPr/>
        </p:nvSpPr>
        <p:spPr>
          <a:xfrm>
            <a:off x="152400" y="4457210"/>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5" name="Connector 44"/>
          <p:cNvCxnSpPr/>
          <p:nvPr/>
        </p:nvCxnSpPr>
        <p:spPr>
          <a:xfrm>
            <a:off x="152400"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33375" y="4457210"/>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7" name="TextBox 46"/>
          <p:cNvSpPr txBox="1"/>
          <p:nvPr/>
        </p:nvSpPr>
        <p:spPr>
          <a:xfrm>
            <a:off x="581025" y="4457210"/>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Premier Foods (Mr Kipling)</a:t>
            </a:r>
          </a:p>
        </p:txBody>
      </p:sp>
      <p:cxnSp>
        <p:nvCxnSpPr>
          <p:cNvPr id="48" name="Connector 47"/>
          <p:cNvCxnSpPr/>
          <p:nvPr/>
        </p:nvCxnSpPr>
        <p:spPr>
          <a:xfrm>
            <a:off x="152400" y="474926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33375" y="4749269"/>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0" name="TextBox 49"/>
          <p:cNvSpPr txBox="1"/>
          <p:nvPr/>
        </p:nvSpPr>
        <p:spPr>
          <a:xfrm>
            <a:off x="581025" y="4749269"/>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Warburtons (Warburtons)</a:t>
            </a:r>
          </a:p>
        </p:txBody>
      </p:sp>
      <p:sp>
        <p:nvSpPr>
          <p:cNvPr id="51" name="Rectangle 50"/>
          <p:cNvSpPr/>
          <p:nvPr/>
        </p:nvSpPr>
        <p:spPr>
          <a:xfrm>
            <a:off x="152400" y="5041328"/>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52400" y="504132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3375" y="5041328"/>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4" name="TextBox 53"/>
          <p:cNvSpPr txBox="1"/>
          <p:nvPr/>
        </p:nvSpPr>
        <p:spPr>
          <a:xfrm>
            <a:off x="581025" y="5041328"/>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Goodman Fielder (Nature's Fresh, Freya's, Quality Bakers)</a:t>
            </a:r>
          </a:p>
        </p:txBody>
      </p:sp>
      <p:cxnSp>
        <p:nvCxnSpPr>
          <p:cNvPr id="55" name="Connector 54"/>
          <p:cNvCxnSpPr/>
          <p:nvPr/>
        </p:nvCxnSpPr>
        <p:spPr>
          <a:xfrm>
            <a:off x="152400"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33375" y="533338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7" name="TextBox 56"/>
          <p:cNvSpPr txBox="1"/>
          <p:nvPr/>
        </p:nvSpPr>
        <p:spPr>
          <a:xfrm>
            <a:off x="581025" y="533338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St Michel (St Michel)</a:t>
            </a:r>
          </a:p>
        </p:txBody>
      </p:sp>
      <p:sp>
        <p:nvSpPr>
          <p:cNvPr id="58" name="Rectangle 57"/>
          <p:cNvSpPr/>
          <p:nvPr/>
        </p:nvSpPr>
        <p:spPr>
          <a:xfrm>
            <a:off x="152400" y="562544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9" name="Connector 58"/>
          <p:cNvCxnSpPr/>
          <p:nvPr/>
        </p:nvCxnSpPr>
        <p:spPr>
          <a:xfrm>
            <a:off x="152400" y="562544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3375" y="562544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1" name="TextBox 60"/>
          <p:cNvSpPr txBox="1"/>
          <p:nvPr/>
        </p:nvSpPr>
        <p:spPr>
          <a:xfrm>
            <a:off x="581025" y="562544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Dr. Schär (Schär)</a:t>
            </a:r>
          </a:p>
        </p:txBody>
      </p:sp>
      <p:cxnSp>
        <p:nvCxnSpPr>
          <p:cNvPr id="62" name="Connector 61"/>
          <p:cNvCxnSpPr/>
          <p:nvPr/>
        </p:nvCxnSpPr>
        <p:spPr>
          <a:xfrm>
            <a:off x="152400" y="591750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3375" y="591750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4" name="TextBox 63"/>
          <p:cNvSpPr txBox="1"/>
          <p:nvPr/>
        </p:nvSpPr>
        <p:spPr>
          <a:xfrm>
            <a:off x="581025" y="591750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General Mills (Betty Crocker, Pillsbury)</a:t>
            </a:r>
          </a:p>
        </p:txBody>
      </p:sp>
      <p:sp>
        <p:nvSpPr>
          <p:cNvPr id="65" name="Rectangle 64"/>
          <p:cNvSpPr/>
          <p:nvPr/>
        </p:nvSpPr>
        <p:spPr>
          <a:xfrm>
            <a:off x="6191250"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191250"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191250"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68" name="TextBox 67"/>
          <p:cNvSpPr txBox="1"/>
          <p:nvPr/>
        </p:nvSpPr>
        <p:spPr>
          <a:xfrm>
            <a:off x="6381750" y="182867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9" name="TextBox 68"/>
          <p:cNvSpPr txBox="1"/>
          <p:nvPr/>
        </p:nvSpPr>
        <p:spPr>
          <a:xfrm>
            <a:off x="6629400" y="182867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Britannia Industries (Britannia)</a:t>
            </a:r>
          </a:p>
        </p:txBody>
      </p:sp>
      <p:sp>
        <p:nvSpPr>
          <p:cNvPr id="70" name="Rectangle 69"/>
          <p:cNvSpPr/>
          <p:nvPr/>
        </p:nvSpPr>
        <p:spPr>
          <a:xfrm>
            <a:off x="6200775" y="212073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1" name="Connector 70"/>
          <p:cNvCxnSpPr/>
          <p:nvPr/>
        </p:nvCxnSpPr>
        <p:spPr>
          <a:xfrm>
            <a:off x="6200775" y="212073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6381750" y="212073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3" name="TextBox 72"/>
          <p:cNvSpPr txBox="1"/>
          <p:nvPr/>
        </p:nvSpPr>
        <p:spPr>
          <a:xfrm>
            <a:off x="6629400" y="212073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Monginis Foods (Monginis)</a:t>
            </a:r>
          </a:p>
        </p:txBody>
      </p:sp>
      <p:cxnSp>
        <p:nvCxnSpPr>
          <p:cNvPr id="74" name="Connector 73"/>
          <p:cNvCxnSpPr/>
          <p:nvPr/>
        </p:nvCxnSpPr>
        <p:spPr>
          <a:xfrm>
            <a:off x="6200775" y="241279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6381750" y="241279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6" name="TextBox 75"/>
          <p:cNvSpPr txBox="1"/>
          <p:nvPr/>
        </p:nvSpPr>
        <p:spPr>
          <a:xfrm>
            <a:off x="6629400" y="241279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Bonn Group of Industries (Bonn)</a:t>
            </a:r>
          </a:p>
        </p:txBody>
      </p:sp>
      <p:sp>
        <p:nvSpPr>
          <p:cNvPr id="77" name="Rectangle 76"/>
          <p:cNvSpPr/>
          <p:nvPr/>
        </p:nvSpPr>
        <p:spPr>
          <a:xfrm>
            <a:off x="6200775" y="2704855"/>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8" name="Connector 77"/>
          <p:cNvCxnSpPr/>
          <p:nvPr/>
        </p:nvCxnSpPr>
        <p:spPr>
          <a:xfrm>
            <a:off x="6200775"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81750" y="2704855"/>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0" name="TextBox 79"/>
          <p:cNvSpPr txBox="1"/>
          <p:nvPr/>
        </p:nvSpPr>
        <p:spPr>
          <a:xfrm>
            <a:off x="6629400" y="2704855"/>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Karachi Bakery (Karachi Bakery)</a:t>
            </a:r>
          </a:p>
        </p:txBody>
      </p:sp>
      <p:cxnSp>
        <p:nvCxnSpPr>
          <p:cNvPr id="81" name="Connector 80"/>
          <p:cNvCxnSpPr/>
          <p:nvPr/>
        </p:nvCxnSpPr>
        <p:spPr>
          <a:xfrm>
            <a:off x="6200775" y="299691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81750" y="2996914"/>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3" name="TextBox 82"/>
          <p:cNvSpPr txBox="1"/>
          <p:nvPr/>
        </p:nvSpPr>
        <p:spPr>
          <a:xfrm>
            <a:off x="6629400" y="2996914"/>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Gardenia Bakeries Philippines (Gardenia)</a:t>
            </a:r>
          </a:p>
        </p:txBody>
      </p:sp>
      <p:sp>
        <p:nvSpPr>
          <p:cNvPr id="84" name="Rectangle 83"/>
          <p:cNvSpPr/>
          <p:nvPr/>
        </p:nvSpPr>
        <p:spPr>
          <a:xfrm>
            <a:off x="6200775" y="3288973"/>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5" name="Connector 84"/>
          <p:cNvCxnSpPr/>
          <p:nvPr/>
        </p:nvCxnSpPr>
        <p:spPr>
          <a:xfrm>
            <a:off x="6200775" y="328897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6381750" y="3288973"/>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7" name="TextBox 86"/>
          <p:cNvSpPr txBox="1"/>
          <p:nvPr/>
        </p:nvSpPr>
        <p:spPr>
          <a:xfrm>
            <a:off x="6629400" y="3288973"/>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Gardenia Bakeries Malaysia (Gardenia, Gardenia QuickBites)</a:t>
            </a:r>
          </a:p>
        </p:txBody>
      </p:sp>
      <p:cxnSp>
        <p:nvCxnSpPr>
          <p:cNvPr id="88" name="Connector 87"/>
          <p:cNvCxnSpPr/>
          <p:nvPr/>
        </p:nvCxnSpPr>
        <p:spPr>
          <a:xfrm>
            <a:off x="6200775"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6381750" y="358103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0" name="TextBox 89"/>
          <p:cNvSpPr txBox="1"/>
          <p:nvPr/>
        </p:nvSpPr>
        <p:spPr>
          <a:xfrm>
            <a:off x="6629400" y="358103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PT Nippon Indosari Corpindo (Sari Roti)</a:t>
            </a:r>
          </a:p>
        </p:txBody>
      </p:sp>
      <p:sp>
        <p:nvSpPr>
          <p:cNvPr id="91" name="Rectangle 90"/>
          <p:cNvSpPr/>
          <p:nvPr/>
        </p:nvSpPr>
        <p:spPr>
          <a:xfrm>
            <a:off x="6200775" y="3873092"/>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2" name="Connector 91"/>
          <p:cNvCxnSpPr/>
          <p:nvPr/>
        </p:nvCxnSpPr>
        <p:spPr>
          <a:xfrm>
            <a:off x="6200775" y="387309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6381750" y="387309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4" name="TextBox 93"/>
          <p:cNvSpPr txBox="1"/>
          <p:nvPr/>
        </p:nvSpPr>
        <p:spPr>
          <a:xfrm>
            <a:off x="6629400" y="387309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BreadTalk Group (BreadTalk)</a:t>
            </a:r>
          </a:p>
        </p:txBody>
      </p:sp>
      <p:cxnSp>
        <p:nvCxnSpPr>
          <p:cNvPr id="95" name="Connector 94"/>
          <p:cNvCxnSpPr/>
          <p:nvPr/>
        </p:nvCxnSpPr>
        <p:spPr>
          <a:xfrm>
            <a:off x="6200775" y="416515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6381750" y="4165151"/>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7" name="TextBox 96"/>
          <p:cNvSpPr txBox="1"/>
          <p:nvPr/>
        </p:nvSpPr>
        <p:spPr>
          <a:xfrm>
            <a:off x="6629400" y="4165151"/>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QAF Limited (Bakers Maison)</a:t>
            </a:r>
          </a:p>
        </p:txBody>
      </p:sp>
      <p:sp>
        <p:nvSpPr>
          <p:cNvPr id="98" name="Rectangle 97"/>
          <p:cNvSpPr/>
          <p:nvPr/>
        </p:nvSpPr>
        <p:spPr>
          <a:xfrm>
            <a:off x="6200775" y="4457210"/>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9" name="Connector 98"/>
          <p:cNvCxnSpPr/>
          <p:nvPr/>
        </p:nvCxnSpPr>
        <p:spPr>
          <a:xfrm>
            <a:off x="6200775"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381750" y="4457210"/>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1" name="TextBox 100"/>
          <p:cNvSpPr txBox="1"/>
          <p:nvPr/>
        </p:nvSpPr>
        <p:spPr>
          <a:xfrm>
            <a:off x="6629400" y="4457210"/>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SPC Samlip (Samlip)</a:t>
            </a:r>
          </a:p>
        </p:txBody>
      </p:sp>
      <p:cxnSp>
        <p:nvCxnSpPr>
          <p:cNvPr id="102" name="Connector 101"/>
          <p:cNvCxnSpPr/>
          <p:nvPr/>
        </p:nvCxnSpPr>
        <p:spPr>
          <a:xfrm>
            <a:off x="6200775" y="474926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6381750" y="4749269"/>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4" name="TextBox 103"/>
          <p:cNvSpPr txBox="1"/>
          <p:nvPr/>
        </p:nvSpPr>
        <p:spPr>
          <a:xfrm>
            <a:off x="6629400" y="4749269"/>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Yamazaki Baking (Yamazaki, Vie de France Yamazaki, Four Leaves)</a:t>
            </a:r>
          </a:p>
        </p:txBody>
      </p:sp>
      <p:sp>
        <p:nvSpPr>
          <p:cNvPr id="105" name="Rectangle 104"/>
          <p:cNvSpPr/>
          <p:nvPr/>
        </p:nvSpPr>
        <p:spPr>
          <a:xfrm>
            <a:off x="6200775" y="5041328"/>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6" name="Connector 105"/>
          <p:cNvCxnSpPr/>
          <p:nvPr/>
        </p:nvCxnSpPr>
        <p:spPr>
          <a:xfrm>
            <a:off x="6200775" y="504132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6381750" y="5041328"/>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8" name="TextBox 107"/>
          <p:cNvSpPr txBox="1"/>
          <p:nvPr/>
        </p:nvSpPr>
        <p:spPr>
          <a:xfrm>
            <a:off x="6629400" y="5041328"/>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Toly Bread (Toly Bread)</a:t>
            </a:r>
          </a:p>
        </p:txBody>
      </p:sp>
      <p:cxnSp>
        <p:nvCxnSpPr>
          <p:cNvPr id="109" name="Connector 108"/>
          <p:cNvCxnSpPr/>
          <p:nvPr/>
        </p:nvCxnSpPr>
        <p:spPr>
          <a:xfrm>
            <a:off x="6200775"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6381750" y="533338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1" name="TextBox 110"/>
          <p:cNvSpPr txBox="1"/>
          <p:nvPr/>
        </p:nvSpPr>
        <p:spPr>
          <a:xfrm>
            <a:off x="6629400" y="533338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Almarai (L'usine, Bake Mart)</a:t>
            </a:r>
          </a:p>
        </p:txBody>
      </p:sp>
      <p:sp>
        <p:nvSpPr>
          <p:cNvPr id="112" name="Rectangle 111"/>
          <p:cNvSpPr/>
          <p:nvPr/>
        </p:nvSpPr>
        <p:spPr>
          <a:xfrm>
            <a:off x="6200775" y="562544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3" name="Connector 112"/>
          <p:cNvCxnSpPr/>
          <p:nvPr/>
        </p:nvCxnSpPr>
        <p:spPr>
          <a:xfrm>
            <a:off x="6200775" y="562544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381750" y="562544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5" name="TextBox 114"/>
          <p:cNvSpPr txBox="1"/>
          <p:nvPr/>
        </p:nvSpPr>
        <p:spPr>
          <a:xfrm>
            <a:off x="6629400" y="562544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United Foods International (United Foods)</a:t>
            </a:r>
          </a:p>
        </p:txBody>
      </p:sp>
      <p:cxnSp>
        <p:nvCxnSpPr>
          <p:cNvPr id="116" name="Connector 115"/>
          <p:cNvCxnSpPr/>
          <p:nvPr/>
        </p:nvCxnSpPr>
        <p:spPr>
          <a:xfrm>
            <a:off x="6200775" y="591750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6381750" y="591750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8" name="TextBox 117"/>
          <p:cNvSpPr txBox="1"/>
          <p:nvPr/>
        </p:nvSpPr>
        <p:spPr>
          <a:xfrm>
            <a:off x="6629400" y="591750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Mimansa Industries / The Baker's Dozen (The Baker's Dozen)</a:t>
            </a:r>
          </a:p>
        </p:txBody>
      </p:sp>
      <p:sp>
        <p:nvSpPr>
          <p:cNvPr id="119" name="TextBox 118"/>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120" name="TextBox 1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0" i="0">
                          <a:solidFill>
                            <a:srgbClr val="0070C0"/>
                          </a:solidFill>
                          <a:latin typeface="Calibri"/>
                        </a:rPr>
                        <a:t>1.3.</a:t>
                      </a:r>
                      <a:r>
                        <a:rPr sz="700" b="0" i="0">
                          <a:solidFill>
                            <a:srgbClr val="0070C0"/>
                          </a:solidFill>
                          <a:latin typeface="Times New Roman"/>
                        </a:rPr>
                        <a:t>    </a:t>
                      </a:r>
                      <a:r>
                        <a:rPr sz="1100" b="0" i="0">
                          <a:solidFill>
                            <a:srgbClr val="0070C0"/>
                          </a:solidFill>
                          <a:latin typeface="Calibri"/>
                        </a:rPr>
                        <a:t>Regional Macro Economic Indicators</a:t>
                      </a:r>
                      <a:endParaRPr sz="1100"/>
                    </a:p>
                  </a:txBody>
                  <a:tcPr marL="428625" marR="9525" marT="9525" marB="0" anchor="ctr"/>
                </a:tc>
              </a:tr>
              <a:tr h="175260">
                <a:tc>
                  <a:txBody>
                    <a:bodyPr wrap="square"/>
                    <a:lstStyle/>
                    <a:p>
                      <a:pPr algn="l"/>
                      <a:r>
                        <a:rPr sz="1100" b="0" i="0">
                          <a:solidFill>
                            <a:srgbClr val="000000"/>
                          </a:solidFill>
                          <a:latin typeface="Calibri"/>
                        </a:rPr>
                        <a:t>1.3.1.</a:t>
                      </a:r>
                      <a:r>
                        <a:rPr sz="700" b="0" i="0">
                          <a:solidFill>
                            <a:srgbClr val="000000"/>
                          </a:solidFill>
                          <a:latin typeface="Times New Roman"/>
                        </a:rPr>
                        <a:t>   </a:t>
                      </a:r>
                      <a:r>
                        <a:rPr sz="1100" b="0" i="0">
                          <a:solidFill>
                            <a:srgbClr val="000000"/>
                          </a:solidFill>
                          <a:latin typeface="Calibri"/>
                        </a:rPr>
                        <a:t>Consumer Price Inflation (CPI)</a:t>
                      </a:r>
                      <a:endParaRPr sz="1100"/>
                    </a:p>
                  </a:txBody>
                  <a:tcPr marL="771525" marR="9525" marT="9525" marB="0" anchor="ctr"/>
                </a:tc>
              </a:tr>
              <a:tr h="175260">
                <a:tc>
                  <a:txBody>
                    <a:bodyPr wrap="square"/>
                    <a:lstStyle/>
                    <a:p>
                      <a:pPr algn="l"/>
                      <a:r>
                        <a:rPr sz="1100" b="0" i="0">
                          <a:solidFill>
                            <a:srgbClr val="000000"/>
                          </a:solidFill>
                          <a:latin typeface="Calibri"/>
                        </a:rPr>
                        <a:t>1.3.2.</a:t>
                      </a:r>
                      <a:r>
                        <a:rPr sz="700" b="0" i="0">
                          <a:solidFill>
                            <a:srgbClr val="000000"/>
                          </a:solidFill>
                          <a:latin typeface="Times New Roman"/>
                        </a:rPr>
                        <a:t>   </a:t>
                      </a:r>
                      <a:r>
                        <a:rPr sz="1100" b="0" i="0">
                          <a:solidFill>
                            <a:srgbClr val="000000"/>
                          </a:solidFill>
                          <a:latin typeface="Calibri"/>
                        </a:rPr>
                        <a:t>Private Final Consumption Expenditure Growth</a:t>
                      </a:r>
                      <a:endParaRPr sz="1100"/>
                    </a:p>
                  </a:txBody>
                  <a:tcPr marL="771525" marR="9525" marT="9525" marB="0" anchor="ctr"/>
                </a:tc>
              </a:tr>
              <a:tr h="175260">
                <a:tc>
                  <a:txBody>
                    <a:bodyPr wrap="square"/>
                    <a:lstStyle/>
                    <a:p>
                      <a:pPr algn="l"/>
                      <a:r>
                        <a:rPr sz="1100" b="0" i="0">
                          <a:solidFill>
                            <a:srgbClr val="000000"/>
                          </a:solidFill>
                          <a:latin typeface="Calibri"/>
                        </a:rPr>
                        <a:t>1.3.3.</a:t>
                      </a:r>
                      <a:r>
                        <a:rPr sz="700" b="0" i="0">
                          <a:solidFill>
                            <a:srgbClr val="000000"/>
                          </a:solidFill>
                          <a:latin typeface="Times New Roman"/>
                        </a:rPr>
                        <a:t>   </a:t>
                      </a:r>
                      <a:r>
                        <a:rPr sz="1100" b="0" i="0">
                          <a:solidFill>
                            <a:srgbClr val="000000"/>
                          </a:solidFill>
                          <a:latin typeface="Calibri"/>
                        </a:rPr>
                        <a:t>Food &amp; Non-Alcoholic Beverage Expenditure Growth</a:t>
                      </a:r>
                      <a:endParaRPr sz="1100"/>
                    </a:p>
                  </a:txBody>
                  <a:tcPr marL="771525" marR="9525" marT="9525" marB="0" anchor="ctr"/>
                </a:tc>
              </a:tr>
              <a:tr h="175260">
                <a:tc>
                  <a:txBody>
                    <a:bodyPr wrap="square"/>
                    <a:lstStyle/>
                    <a:p>
                      <a:pPr algn="l"/>
                      <a:r>
                        <a:rPr sz="1100" b="0" i="0">
                          <a:solidFill>
                            <a:srgbClr val="000000"/>
                          </a:solidFill>
                          <a:latin typeface="Calibri"/>
                        </a:rPr>
                        <a:t>1.3.4.</a:t>
                      </a:r>
                      <a:r>
                        <a:rPr sz="700" b="0" i="0">
                          <a:solidFill>
                            <a:srgbClr val="000000"/>
                          </a:solidFill>
                          <a:latin typeface="Times New Roman"/>
                        </a:rPr>
                        <a:t>   </a:t>
                      </a:r>
                      <a:r>
                        <a:rPr sz="1100" b="0" i="0">
                          <a:solidFill>
                            <a:srgbClr val="000000"/>
                          </a:solidFill>
                          <a:latin typeface="Calibri"/>
                        </a:rPr>
                        <a:t>Retail Sales Growth</a:t>
                      </a:r>
                      <a:endParaRPr sz="1100"/>
                    </a:p>
                  </a:txBody>
                  <a:tcPr marL="771525" marR="9525" marT="9525" marB="0" anchor="ctr"/>
                </a:tc>
              </a:tr>
              <a:tr h="175260">
                <a:tc>
                  <a:txBody>
                    <a:bodyPr wrap="square"/>
                    <a:lstStyle/>
                    <a:p>
                      <a:pPr algn="l"/>
                      <a:r>
                        <a:rPr sz="1100" b="0" i="0">
                          <a:solidFill>
                            <a:srgbClr val="000000"/>
                          </a:solidFill>
                          <a:latin typeface="Calibri"/>
                        </a:rPr>
                        <a:t>1.3.5.</a:t>
                      </a:r>
                      <a:r>
                        <a:rPr sz="700" b="0" i="0">
                          <a:solidFill>
                            <a:srgbClr val="000000"/>
                          </a:solidFill>
                          <a:latin typeface="Times New Roman"/>
                        </a:rPr>
                        <a:t>   </a:t>
                      </a:r>
                      <a:r>
                        <a:rPr sz="1100" b="0" i="0">
                          <a:solidFill>
                            <a:srgbClr val="000000"/>
                          </a:solidFill>
                          <a:latin typeface="Calibri"/>
                        </a:rPr>
                        <a:t>Consumer Confidence Index</a:t>
                      </a:r>
                      <a:endParaRPr sz="1100"/>
                    </a:p>
                  </a:txBody>
                  <a:tcPr marL="771525" marR="9525" marT="9525" marB="0" anchor="ctr"/>
                </a:tc>
              </a:tr>
              <a:tr h="175260">
                <a:tc>
                  <a:txBody>
                    <a:bodyPr wrap="square"/>
                    <a:lstStyle/>
                    <a:p>
                      <a:pPr algn="l"/>
                      <a:r>
                        <a:rPr sz="1100" b="0" i="0">
                          <a:solidFill>
                            <a:srgbClr val="0070C0"/>
                          </a:solidFill>
                          <a:latin typeface="Calibri"/>
                        </a:rPr>
                        <a:t>1.4.</a:t>
                      </a:r>
                      <a:r>
                        <a:rPr sz="700" b="0" i="0">
                          <a:solidFill>
                            <a:srgbClr val="0070C0"/>
                          </a:solidFill>
                          <a:latin typeface="Times New Roman"/>
                        </a:rPr>
                        <a:t>    </a:t>
                      </a:r>
                      <a:r>
                        <a:rPr sz="1100" b="0" i="0">
                          <a:solidFill>
                            <a:srgbClr val="0070C0"/>
                          </a:solidFill>
                          <a:latin typeface="Calibri"/>
                        </a:rPr>
                        <a:t>Regional Micro Economic Indicators</a:t>
                      </a:r>
                      <a:endParaRPr sz="1100"/>
                    </a:p>
                  </a:txBody>
                  <a:tcPr marL="428625" marR="9525" marT="9525" marB="0" anchor="ctr"/>
                </a:tc>
              </a:tr>
              <a:tr h="175260">
                <a:tc>
                  <a:txBody>
                    <a:bodyPr wrap="square"/>
                    <a:lstStyle/>
                    <a:p>
                      <a:pPr algn="l"/>
                      <a:r>
                        <a:rPr sz="1100" b="0" i="0">
                          <a:solidFill>
                            <a:srgbClr val="000000"/>
                          </a:solidFill>
                          <a:latin typeface="Calibri"/>
                        </a:rPr>
                        <a:t>1.4.1.</a:t>
                      </a:r>
                      <a:r>
                        <a:rPr sz="700" b="0" i="0">
                          <a:solidFill>
                            <a:srgbClr val="000000"/>
                          </a:solidFill>
                          <a:latin typeface="Times New Roman"/>
                        </a:rPr>
                        <a:t>   </a:t>
                      </a:r>
                      <a:r>
                        <a:rPr sz="1100" b="0" i="0">
                          <a:solidFill>
                            <a:srgbClr val="000000"/>
                          </a:solidFill>
                          <a:latin typeface="Calibri"/>
                        </a:rPr>
                        <a:t>Packaged Bakery Products Sales Growth</a:t>
                      </a:r>
                      <a:endParaRPr sz="1100"/>
                    </a:p>
                  </a:txBody>
                  <a:tcPr marL="771525" marR="9525" marT="9525" marB="0" anchor="ctr"/>
                </a:tc>
              </a:tr>
              <a:tr h="175260">
                <a:tc>
                  <a:txBody>
                    <a:bodyPr wrap="square"/>
                    <a:lstStyle/>
                    <a:p>
                      <a:pPr algn="l"/>
                      <a:r>
                        <a:rPr sz="1100" b="0" i="0">
                          <a:solidFill>
                            <a:srgbClr val="000000"/>
                          </a:solidFill>
                          <a:latin typeface="Calibri"/>
                        </a:rPr>
                        <a:t>1.4.2.</a:t>
                      </a:r>
                      <a:r>
                        <a:rPr sz="700" b="0" i="0">
                          <a:solidFill>
                            <a:srgbClr val="000000"/>
                          </a:solidFill>
                          <a:latin typeface="Times New Roman"/>
                        </a:rPr>
                        <a:t>   </a:t>
                      </a:r>
                      <a:r>
                        <a:rPr sz="1100" b="0" i="0">
                          <a:solidFill>
                            <a:srgbClr val="000000"/>
                          </a:solidFill>
                          <a:latin typeface="Calibri"/>
                        </a:rPr>
                        <a:t>Supermarket &amp; Hypermarket Sales Growth</a:t>
                      </a:r>
                      <a:endParaRPr sz="1100"/>
                    </a:p>
                  </a:txBody>
                  <a:tcPr marL="771525" marR="9525" marT="9525" marB="0" anchor="ctr"/>
                </a:tc>
              </a:tr>
              <a:tr h="175260">
                <a:tc>
                  <a:txBody>
                    <a:bodyPr wrap="square"/>
                    <a:lstStyle/>
                    <a:p>
                      <a:pPr algn="l"/>
                      <a:r>
                        <a:rPr sz="1100" b="0" i="0">
                          <a:solidFill>
                            <a:srgbClr val="000000"/>
                          </a:solidFill>
                          <a:latin typeface="Calibri"/>
                        </a:rPr>
                        <a:t>1.4.3.</a:t>
                      </a:r>
                      <a:r>
                        <a:rPr sz="700" b="0" i="0">
                          <a:solidFill>
                            <a:srgbClr val="000000"/>
                          </a:solidFill>
                          <a:latin typeface="Times New Roman"/>
                        </a:rPr>
                        <a:t>   </a:t>
                      </a:r>
                      <a:r>
                        <a:rPr sz="1100" b="0" i="0">
                          <a:solidFill>
                            <a:srgbClr val="000000"/>
                          </a:solidFill>
                          <a:latin typeface="Calibri"/>
                        </a:rPr>
                        <a:t>Convenience Store Sales Growth</a:t>
                      </a:r>
                      <a:endParaRPr sz="1100"/>
                    </a:p>
                  </a:txBody>
                  <a:tcPr marL="771525" marR="9525" marT="9525" marB="0" anchor="ctr"/>
                </a:tc>
              </a:tr>
              <a:tr h="175260">
                <a:tc>
                  <a:txBody>
                    <a:bodyPr wrap="square"/>
                    <a:lstStyle/>
                    <a:p>
                      <a:pPr algn="l"/>
                      <a:r>
                        <a:rPr sz="1100" b="0" i="0">
                          <a:solidFill>
                            <a:srgbClr val="000000"/>
                          </a:solidFill>
                          <a:latin typeface="Calibri"/>
                        </a:rPr>
                        <a:t>1.4.4.</a:t>
                      </a:r>
                      <a:r>
                        <a:rPr sz="700" b="0" i="0">
                          <a:solidFill>
                            <a:srgbClr val="000000"/>
                          </a:solidFill>
                          <a:latin typeface="Times New Roman"/>
                        </a:rPr>
                        <a:t>   </a:t>
                      </a:r>
                      <a:r>
                        <a:rPr sz="1100" b="0" i="0">
                          <a:solidFill>
                            <a:srgbClr val="000000"/>
                          </a:solidFill>
                          <a:latin typeface="Calibri"/>
                        </a:rPr>
                        <a:t>Online Grocery / Food E-Commerce Sales Growth</a:t>
                      </a:r>
                      <a:endParaRPr sz="1100"/>
                    </a:p>
                  </a:txBody>
                  <a:tcPr marL="771525" marR="9525" marT="9525" marB="0" anchor="ctr"/>
                </a:tc>
              </a:tr>
              <a:tr h="175260">
                <a:tc>
                  <a:txBody>
                    <a:bodyPr wrap="square"/>
                    <a:lstStyle/>
                    <a:p>
                      <a:pPr algn="l"/>
                      <a:r>
                        <a:rPr sz="1100" b="0" i="0">
                          <a:solidFill>
                            <a:srgbClr val="000000"/>
                          </a:solidFill>
                          <a:latin typeface="Calibri"/>
                        </a:rPr>
                        <a:t>1.4.5.</a:t>
                      </a:r>
                      <a:r>
                        <a:rPr sz="700" b="0" i="0">
                          <a:solidFill>
                            <a:srgbClr val="000000"/>
                          </a:solidFill>
                          <a:latin typeface="Times New Roman"/>
                        </a:rPr>
                        <a:t>   </a:t>
                      </a:r>
                      <a:r>
                        <a:rPr sz="1100" b="0" i="0">
                          <a:solidFill>
                            <a:srgbClr val="000000"/>
                          </a:solidFill>
                          <a:latin typeface="Calibri"/>
                        </a:rPr>
                        <a:t>Wheat, Sugar, Egg &amp; Dairy Input Price Index</a:t>
                      </a:r>
                      <a:endParaRPr sz="1100"/>
                    </a:p>
                  </a:txBody>
                  <a:tcPr marL="771525" marR="9525" marT="9525" marB="0" anchor="ctr"/>
                </a:tc>
              </a:tr>
              <a:tr h="175260">
                <a:tc>
                  <a:txBody>
                    <a:bodyPr wrap="square"/>
                    <a:lstStyle/>
                    <a:p>
                      <a:pPr algn="l"/>
                      <a:r>
                        <a:rPr sz="1100" b="0" i="0">
                          <a:solidFill>
                            <a:srgbClr val="0070C0"/>
                          </a:solidFill>
                          <a:latin typeface="Calibri"/>
                        </a:rPr>
                        <a:t>1.5.</a:t>
                      </a:r>
                      <a:r>
                        <a:rPr sz="700" b="0" i="0">
                          <a:solidFill>
                            <a:srgbClr val="0070C0"/>
                          </a:solidFill>
                          <a:latin typeface="Times New Roman"/>
                        </a:rPr>
                        <a:t>    </a:t>
                      </a:r>
                      <a:r>
                        <a:rPr sz="1100" b="0" i="0">
                          <a:solidFill>
                            <a:srgbClr val="0070C0"/>
                          </a:solidFill>
                          <a:latin typeface="Calibri"/>
                        </a:rPr>
                        <a:t>Per Capita Consumption- By Country</a:t>
                      </a:r>
                      <a:endParaRPr sz="1100"/>
                    </a:p>
                  </a:txBody>
                  <a:tcPr marL="428625" marR="9525" marT="9525" marB="0" anchor="ctr"/>
                </a:tc>
              </a:tr>
              <a:tr h="175260">
                <a:tc>
                  <a:txBody>
                    <a:bodyPr wrap="square"/>
                    <a:lstStyle/>
                    <a:p>
                      <a:pPr algn="l"/>
                      <a:r>
                        <a:rPr sz="1100" b="0" i="0">
                          <a:solidFill>
                            <a:srgbClr val="0070C0"/>
                          </a:solidFill>
                          <a:latin typeface="Calibri"/>
                        </a:rPr>
                        <a:t>1.6.</a:t>
                      </a:r>
                      <a:r>
                        <a:rPr sz="700" b="0" i="0">
                          <a:solidFill>
                            <a:srgbClr val="0070C0"/>
                          </a:solidFill>
                          <a:latin typeface="Times New Roman"/>
                        </a:rPr>
                        <a:t>    </a:t>
                      </a:r>
                      <a:r>
                        <a:rPr sz="1100" b="0" i="0">
                          <a:solidFill>
                            <a:srgbClr val="0070C0"/>
                          </a:solidFill>
                          <a:latin typeface="Calibri"/>
                        </a:rPr>
                        <a:t>Per Capita Spending By Country</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Sweet muffins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Fruit muffins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Chocolate and cocoa muffins</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Nut and seed muffins</a:t>
                      </a:r>
                      <a:endParaRPr sz="1100"/>
                    </a:p>
                  </a:txBody>
                  <a:tcPr marL="1028700" marR="9525" marT="9525" marB="0" anchor="ctr"/>
                </a:tc>
              </a:tr>
              <a:tr h="175260">
                <a:tc>
                  <a:txBody>
                    <a:bodyPr wrap="square"/>
                    <a:lstStyle/>
                    <a:p>
                      <a:pPr algn="l"/>
                      <a:r>
                        <a:rPr sz="1100" b="0" i="1">
                          <a:solidFill>
                            <a:srgbClr val="000000"/>
                          </a:solidFill>
                          <a:latin typeface="Calibri"/>
                        </a:rPr>
                        <a:t>3.5.1.4.</a:t>
                      </a:r>
                      <a:r>
                        <a:rPr sz="700" b="0" i="1">
                          <a:solidFill>
                            <a:srgbClr val="000000"/>
                          </a:solidFill>
                          <a:latin typeface="Times New Roman"/>
                        </a:rPr>
                        <a:t>    </a:t>
                      </a:r>
                      <a:r>
                        <a:rPr sz="1100" b="0" i="1">
                          <a:solidFill>
                            <a:srgbClr val="000000"/>
                          </a:solidFill>
                          <a:latin typeface="Calibri"/>
                        </a:rPr>
                        <a:t>Plain and vanilla muffins</a:t>
                      </a:r>
                      <a:endParaRPr sz="1100"/>
                    </a:p>
                  </a:txBody>
                  <a:tcPr marL="1028700" marR="9525" marT="9525" marB="0" anchor="ctr"/>
                </a:tc>
              </a:tr>
              <a:tr h="175260">
                <a:tc>
                  <a:txBody>
                    <a:bodyPr wrap="square"/>
                    <a:lstStyle/>
                    <a:p>
                      <a:pPr algn="l"/>
                      <a:r>
                        <a:rPr sz="1100" b="0" i="1">
                          <a:solidFill>
                            <a:srgbClr val="000000"/>
                          </a:solidFill>
                          <a:latin typeface="Calibri"/>
                        </a:rPr>
                        <a:t>3.5.1.5.</a:t>
                      </a:r>
                      <a:r>
                        <a:rPr sz="700" b="0" i="1">
                          <a:solidFill>
                            <a:srgbClr val="000000"/>
                          </a:solidFill>
                          <a:latin typeface="Times New Roman"/>
                        </a:rPr>
                        <a:t>    </a:t>
                      </a:r>
                      <a:r>
                        <a:rPr sz="1100" b="0" i="1">
                          <a:solidFill>
                            <a:srgbClr val="000000"/>
                          </a:solidFill>
                          <a:latin typeface="Calibri"/>
                        </a:rPr>
                        <a:t>Spice-flavoured muffins</a:t>
                      </a:r>
                      <a:endParaRPr sz="1100"/>
                    </a:p>
                  </a:txBody>
                  <a:tcPr marL="1028700" marR="9525" marT="9525" marB="0" anchor="ctr"/>
                </a:tc>
              </a:tr>
              <a:tr h="175260">
                <a:tc>
                  <a:txBody>
                    <a:bodyPr wrap="square"/>
                    <a:lstStyle/>
                    <a:p>
                      <a:pPr algn="l"/>
                      <a:r>
                        <a:rPr sz="1100" b="0" i="1">
                          <a:solidFill>
                            <a:srgbClr val="000000"/>
                          </a:solidFill>
                          <a:latin typeface="Calibri"/>
                        </a:rPr>
                        <a:t>3.5.1.6.</a:t>
                      </a:r>
                      <a:r>
                        <a:rPr sz="700" b="0" i="1">
                          <a:solidFill>
                            <a:srgbClr val="000000"/>
                          </a:solidFill>
                          <a:latin typeface="Times New Roman"/>
                        </a:rPr>
                        <a:t>    </a:t>
                      </a:r>
                      <a:r>
                        <a:rPr sz="1100" b="0" i="1">
                          <a:solidFill>
                            <a:srgbClr val="000000"/>
                          </a:solidFill>
                          <a:latin typeface="Calibri"/>
                        </a:rPr>
                        <a:t>Other sweet muffins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Savoury muffins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Cheese muffins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Vegetable muffins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Meat-containing muffins</a:t>
                      </a:r>
                      <a:endParaRPr sz="1100"/>
                    </a:p>
                  </a:txBody>
                  <a:tcPr marL="1028700" marR="9525" marT="9525" marB="0" anchor="ctr"/>
                </a:tc>
              </a:tr>
              <a:tr h="175260">
                <a:tc>
                  <a:txBody>
                    <a:bodyPr wrap="square"/>
                    <a:lstStyle/>
                    <a:p>
                      <a:pPr algn="l"/>
                      <a:r>
                        <a:rPr sz="1100" b="0" i="1">
                          <a:solidFill>
                            <a:srgbClr val="000000"/>
                          </a:solidFill>
                          <a:latin typeface="Calibri"/>
                        </a:rPr>
                        <a:t>3.5.2.4.</a:t>
                      </a:r>
                      <a:r>
                        <a:rPr sz="700" b="0" i="1">
                          <a:solidFill>
                            <a:srgbClr val="000000"/>
                          </a:solidFill>
                          <a:latin typeface="Times New Roman"/>
                        </a:rPr>
                        <a:t>    </a:t>
                      </a:r>
                      <a:r>
                        <a:rPr sz="1100" b="0" i="1">
                          <a:solidFill>
                            <a:srgbClr val="000000"/>
                          </a:solidFill>
                          <a:latin typeface="Calibri"/>
                        </a:rPr>
                        <a:t>Herb and spice muffins</a:t>
                      </a:r>
                      <a:endParaRPr sz="1100"/>
                    </a:p>
                  </a:txBody>
                  <a:tcPr marL="1028700" marR="9525" marT="9525" marB="0" anchor="ctr"/>
                </a:tc>
              </a:tr>
              <a:tr h="175260">
                <a:tc>
                  <a:txBody>
                    <a:bodyPr wrap="square"/>
                    <a:lstStyle/>
                    <a:p>
                      <a:pPr algn="l"/>
                      <a:r>
                        <a:rPr sz="1100" b="0" i="1">
                          <a:solidFill>
                            <a:srgbClr val="000000"/>
                          </a:solidFill>
                          <a:latin typeface="Calibri"/>
                        </a:rPr>
                        <a:t>3.5.2.5.</a:t>
                      </a:r>
                      <a:r>
                        <a:rPr sz="700" b="0" i="1">
                          <a:solidFill>
                            <a:srgbClr val="000000"/>
                          </a:solidFill>
                          <a:latin typeface="Times New Roman"/>
                        </a:rPr>
                        <a:t>    </a:t>
                      </a:r>
                      <a:r>
                        <a:rPr sz="1100" b="0" i="1">
                          <a:solidFill>
                            <a:srgbClr val="000000"/>
                          </a:solidFill>
                          <a:latin typeface="Calibri"/>
                        </a:rPr>
                        <a:t>Other savoury muffins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Flavour</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Sweet Muffins Flavours</a:t>
                      </a:r>
                      <a:endParaRPr sz="1100"/>
                    </a:p>
                  </a:txBody>
                  <a:tcPr marL="771525" marR="9525" marT="9525" marB="0" anchor="ctr"/>
                </a:tc>
              </a:tr>
              <a:tr h="175260">
                <a:tc>
                  <a:txBody>
                    <a:bodyPr wrap="square"/>
                    <a:lstStyle/>
                    <a:p>
                      <a:pPr algn="l"/>
                      <a:r>
                        <a:rPr sz="1100" b="0" i="1">
                          <a:solidFill>
                            <a:srgbClr val="000000"/>
                          </a:solidFill>
                          <a:latin typeface="Calibri"/>
                        </a:rPr>
                        <a:t>4.5.1.1.</a:t>
                      </a:r>
                      <a:r>
                        <a:rPr sz="700" b="0" i="1">
                          <a:solidFill>
                            <a:srgbClr val="000000"/>
                          </a:solidFill>
                          <a:latin typeface="Times New Roman"/>
                        </a:rPr>
                        <a:t>    </a:t>
                      </a:r>
                      <a:r>
                        <a:rPr sz="1100" b="0" i="1">
                          <a:solidFill>
                            <a:srgbClr val="000000"/>
                          </a:solidFill>
                          <a:latin typeface="Calibri"/>
                        </a:rPr>
                        <a:t>Fruit-based</a:t>
                      </a:r>
                      <a:endParaRPr sz="1100"/>
                    </a:p>
                  </a:txBody>
                  <a:tcPr marL="1028700" marR="9525" marT="9525" marB="0" anchor="ctr"/>
                </a:tc>
              </a:tr>
              <a:tr h="175260">
                <a:tc>
                  <a:txBody>
                    <a:bodyPr wrap="square"/>
                    <a:lstStyle/>
                    <a:p>
                      <a:pPr algn="l"/>
                      <a:r>
                        <a:rPr sz="1100" b="0" i="1">
                          <a:solidFill>
                            <a:srgbClr val="000000"/>
                          </a:solidFill>
                          <a:latin typeface="Calibri"/>
                        </a:rPr>
                        <a:t>4.5.1.1.1.</a:t>
                      </a:r>
                      <a:r>
                        <a:rPr sz="700" b="0" i="1">
                          <a:solidFill>
                            <a:srgbClr val="000000"/>
                          </a:solidFill>
                          <a:latin typeface="Times New Roman"/>
                        </a:rPr>
                        <a:t>    </a:t>
                      </a:r>
                      <a:r>
                        <a:rPr sz="1100" b="0" i="1">
                          <a:solidFill>
                            <a:srgbClr val="000000"/>
                          </a:solidFill>
                          <a:latin typeface="Calibri"/>
                        </a:rPr>
                        <a:t>Blueberry</a:t>
                      </a:r>
                      <a:endParaRPr sz="1100"/>
                    </a:p>
                  </a:txBody>
                  <a:tcPr marL="1257300" marR="9525" marT="9525" marB="0" anchor="ctr"/>
                </a:tc>
              </a:tr>
              <a:tr h="175260">
                <a:tc>
                  <a:txBody>
                    <a:bodyPr wrap="square"/>
                    <a:lstStyle/>
                    <a:p>
                      <a:pPr algn="l"/>
                      <a:r>
                        <a:rPr sz="1100" b="0" i="1">
                          <a:solidFill>
                            <a:srgbClr val="000000"/>
                          </a:solidFill>
                          <a:latin typeface="Calibri"/>
                        </a:rPr>
                        <a:t>4.5.1.1.2.</a:t>
                      </a:r>
                      <a:r>
                        <a:rPr sz="700" b="0" i="1">
                          <a:solidFill>
                            <a:srgbClr val="000000"/>
                          </a:solidFill>
                          <a:latin typeface="Times New Roman"/>
                        </a:rPr>
                        <a:t>    </a:t>
                      </a:r>
                      <a:r>
                        <a:rPr sz="1100" b="0" i="1">
                          <a:solidFill>
                            <a:srgbClr val="000000"/>
                          </a:solidFill>
                          <a:latin typeface="Calibri"/>
                        </a:rPr>
                        <a:t>Banana</a:t>
                      </a:r>
                      <a:endParaRPr sz="1100"/>
                    </a:p>
                  </a:txBody>
                  <a:tcPr marL="1257300" marR="9525" marT="9525" marB="0" anchor="ctr"/>
                </a:tc>
              </a:tr>
              <a:tr h="175260">
                <a:tc>
                  <a:txBody>
                    <a:bodyPr wrap="square"/>
                    <a:lstStyle/>
                    <a:p>
                      <a:pPr algn="l"/>
                      <a:r>
                        <a:rPr sz="1100" b="0" i="1">
                          <a:solidFill>
                            <a:srgbClr val="000000"/>
                          </a:solidFill>
                          <a:latin typeface="Calibri"/>
                        </a:rPr>
                        <a:t>4.5.1.1.3.</a:t>
                      </a:r>
                      <a:r>
                        <a:rPr sz="700" b="0" i="1">
                          <a:solidFill>
                            <a:srgbClr val="000000"/>
                          </a:solidFill>
                          <a:latin typeface="Times New Roman"/>
                        </a:rPr>
                        <a:t>    </a:t>
                      </a:r>
                      <a:r>
                        <a:rPr sz="1100" b="0" i="1">
                          <a:solidFill>
                            <a:srgbClr val="000000"/>
                          </a:solidFill>
                          <a:latin typeface="Calibri"/>
                        </a:rPr>
                        <a:t>Apple</a:t>
                      </a:r>
                      <a:endParaRPr sz="1100"/>
                    </a:p>
                  </a:txBody>
                  <a:tcPr marL="1257300" marR="9525" marT="9525" marB="0" anchor="ctr"/>
                </a:tc>
              </a:tr>
              <a:tr h="175260">
                <a:tc>
                  <a:txBody>
                    <a:bodyPr wrap="square"/>
                    <a:lstStyle/>
                    <a:p>
                      <a:pPr algn="l"/>
                      <a:r>
                        <a:rPr sz="1100" b="0" i="1">
                          <a:solidFill>
                            <a:srgbClr val="000000"/>
                          </a:solidFill>
                          <a:latin typeface="Calibri"/>
                        </a:rPr>
                        <a:t>4.5.1.1.4.</a:t>
                      </a:r>
                      <a:r>
                        <a:rPr sz="700" b="0" i="1">
                          <a:solidFill>
                            <a:srgbClr val="000000"/>
                          </a:solidFill>
                          <a:latin typeface="Times New Roman"/>
                        </a:rPr>
                        <a:t>    </a:t>
                      </a:r>
                      <a:r>
                        <a:rPr sz="1100" b="0" i="1">
                          <a:solidFill>
                            <a:srgbClr val="000000"/>
                          </a:solidFill>
                          <a:latin typeface="Calibri"/>
                        </a:rPr>
                        <a:t>Lemon and citrus</a:t>
                      </a:r>
                      <a:endParaRPr sz="1100"/>
                    </a:p>
                  </a:txBody>
                  <a:tcPr marL="12573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4.5.1.1.5.</a:t>
                      </a:r>
                      <a:r>
                        <a:rPr sz="700" b="0" i="1">
                          <a:solidFill>
                            <a:srgbClr val="000000"/>
                          </a:solidFill>
                          <a:latin typeface="Times New Roman"/>
                        </a:rPr>
                        <a:t>    </a:t>
                      </a:r>
                      <a:r>
                        <a:rPr sz="1100" b="0" i="1">
                          <a:solidFill>
                            <a:srgbClr val="000000"/>
                          </a:solidFill>
                          <a:latin typeface="Calibri"/>
                        </a:rPr>
                        <a:t>Strawberry and raspberry</a:t>
                      </a:r>
                      <a:endParaRPr sz="1100"/>
                    </a:p>
                  </a:txBody>
                  <a:tcPr marL="1257300" marR="9525" marT="9525" marB="0" anchor="ctr"/>
                </a:tc>
              </a:tr>
              <a:tr h="175260">
                <a:tc>
                  <a:txBody>
                    <a:bodyPr wrap="square"/>
                    <a:lstStyle/>
                    <a:p>
                      <a:pPr algn="l"/>
                      <a:r>
                        <a:rPr sz="1100" b="0" i="1">
                          <a:solidFill>
                            <a:srgbClr val="000000"/>
                          </a:solidFill>
                          <a:latin typeface="Calibri"/>
                        </a:rPr>
                        <a:t>4.5.1.1.6.</a:t>
                      </a:r>
                      <a:r>
                        <a:rPr sz="700" b="0" i="1">
                          <a:solidFill>
                            <a:srgbClr val="000000"/>
                          </a:solidFill>
                          <a:latin typeface="Times New Roman"/>
                        </a:rPr>
                        <a:t>    </a:t>
                      </a:r>
                      <a:r>
                        <a:rPr sz="1100" b="0" i="1">
                          <a:solidFill>
                            <a:srgbClr val="000000"/>
                          </a:solidFill>
                          <a:latin typeface="Calibri"/>
                        </a:rPr>
                        <a:t>Cranberry</a:t>
                      </a:r>
                      <a:endParaRPr sz="1100"/>
                    </a:p>
                  </a:txBody>
                  <a:tcPr marL="1257300" marR="9525" marT="9525" marB="0" anchor="ctr"/>
                </a:tc>
              </a:tr>
              <a:tr h="175260">
                <a:tc>
                  <a:txBody>
                    <a:bodyPr wrap="square"/>
                    <a:lstStyle/>
                    <a:p>
                      <a:pPr algn="l"/>
                      <a:r>
                        <a:rPr sz="1100" b="0" i="1">
                          <a:solidFill>
                            <a:srgbClr val="000000"/>
                          </a:solidFill>
                          <a:latin typeface="Calibri"/>
                        </a:rPr>
                        <a:t>4.5.1.1.7.</a:t>
                      </a:r>
                      <a:r>
                        <a:rPr sz="700" b="0" i="1">
                          <a:solidFill>
                            <a:srgbClr val="000000"/>
                          </a:solidFill>
                          <a:latin typeface="Times New Roman"/>
                        </a:rPr>
                        <a:t>    </a:t>
                      </a:r>
                      <a:r>
                        <a:rPr sz="1100" b="0" i="1">
                          <a:solidFill>
                            <a:srgbClr val="000000"/>
                          </a:solidFill>
                          <a:latin typeface="Calibri"/>
                        </a:rPr>
                        <a:t>Mixed fruit</a:t>
                      </a:r>
                      <a:endParaRPr sz="1100"/>
                    </a:p>
                  </a:txBody>
                  <a:tcPr marL="1257300" marR="9525" marT="9525" marB="0" anchor="ctr"/>
                </a:tc>
              </a:tr>
              <a:tr h="175260">
                <a:tc>
                  <a:txBody>
                    <a:bodyPr wrap="square"/>
                    <a:lstStyle/>
                    <a:p>
                      <a:pPr algn="l"/>
                      <a:r>
                        <a:rPr sz="1100" b="0" i="1">
                          <a:solidFill>
                            <a:srgbClr val="000000"/>
                          </a:solidFill>
                          <a:latin typeface="Calibri"/>
                        </a:rPr>
                        <a:t>4.5.1.1.8.</a:t>
                      </a:r>
                      <a:r>
                        <a:rPr sz="700" b="0" i="1">
                          <a:solidFill>
                            <a:srgbClr val="000000"/>
                          </a:solidFill>
                          <a:latin typeface="Times New Roman"/>
                        </a:rPr>
                        <a:t>    </a:t>
                      </a:r>
                      <a:r>
                        <a:rPr sz="1100" b="0" i="1">
                          <a:solidFill>
                            <a:srgbClr val="000000"/>
                          </a:solidFill>
                          <a:latin typeface="Calibri"/>
                        </a:rPr>
                        <a:t>Other fruit flavours</a:t>
                      </a:r>
                      <a:endParaRPr sz="1100"/>
                    </a:p>
                  </a:txBody>
                  <a:tcPr marL="1257300" marR="9525" marT="9525" marB="0" anchor="ctr"/>
                </a:tc>
              </a:tr>
              <a:tr h="175260">
                <a:tc>
                  <a:txBody>
                    <a:bodyPr wrap="square"/>
                    <a:lstStyle/>
                    <a:p>
                      <a:pPr algn="l"/>
                      <a:r>
                        <a:rPr sz="1100" b="0" i="1">
                          <a:solidFill>
                            <a:srgbClr val="000000"/>
                          </a:solidFill>
                          <a:latin typeface="Calibri"/>
                        </a:rPr>
                        <a:t>4.5.1.2.</a:t>
                      </a:r>
                      <a:r>
                        <a:rPr sz="700" b="0" i="1">
                          <a:solidFill>
                            <a:srgbClr val="000000"/>
                          </a:solidFill>
                          <a:latin typeface="Times New Roman"/>
                        </a:rPr>
                        <a:t>    </a:t>
                      </a:r>
                      <a:r>
                        <a:rPr sz="1100" b="0" i="1">
                          <a:solidFill>
                            <a:srgbClr val="000000"/>
                          </a:solidFill>
                          <a:latin typeface="Calibri"/>
                        </a:rPr>
                        <a:t>Chocolate-based</a:t>
                      </a:r>
                      <a:endParaRPr sz="1100"/>
                    </a:p>
                  </a:txBody>
                  <a:tcPr marL="1028700" marR="9525" marT="9525" marB="0" anchor="ctr"/>
                </a:tc>
              </a:tr>
              <a:tr h="175260">
                <a:tc>
                  <a:txBody>
                    <a:bodyPr wrap="square"/>
                    <a:lstStyle/>
                    <a:p>
                      <a:pPr algn="l"/>
                      <a:r>
                        <a:rPr sz="1100" b="0" i="1">
                          <a:solidFill>
                            <a:srgbClr val="000000"/>
                          </a:solidFill>
                          <a:latin typeface="Calibri"/>
                        </a:rPr>
                        <a:t>4.5.1.2.1.</a:t>
                      </a:r>
                      <a:r>
                        <a:rPr sz="700" b="0" i="1">
                          <a:solidFill>
                            <a:srgbClr val="000000"/>
                          </a:solidFill>
                          <a:latin typeface="Times New Roman"/>
                        </a:rPr>
                        <a:t>    </a:t>
                      </a:r>
                      <a:r>
                        <a:rPr sz="1100" b="0" i="1">
                          <a:solidFill>
                            <a:srgbClr val="000000"/>
                          </a:solidFill>
                          <a:latin typeface="Calibri"/>
                        </a:rPr>
                        <a:t>Chocolate chip</a:t>
                      </a:r>
                      <a:endParaRPr sz="1100"/>
                    </a:p>
                  </a:txBody>
                  <a:tcPr marL="1257300" marR="9525" marT="9525" marB="0" anchor="ctr"/>
                </a:tc>
              </a:tr>
              <a:tr h="175260">
                <a:tc>
                  <a:txBody>
                    <a:bodyPr wrap="square"/>
                    <a:lstStyle/>
                    <a:p>
                      <a:pPr algn="l"/>
                      <a:r>
                        <a:rPr sz="1100" b="0" i="1">
                          <a:solidFill>
                            <a:srgbClr val="000000"/>
                          </a:solidFill>
                          <a:latin typeface="Calibri"/>
                        </a:rPr>
                        <a:t>4.5.1.2.2.</a:t>
                      </a:r>
                      <a:r>
                        <a:rPr sz="700" b="0" i="1">
                          <a:solidFill>
                            <a:srgbClr val="000000"/>
                          </a:solidFill>
                          <a:latin typeface="Times New Roman"/>
                        </a:rPr>
                        <a:t>    </a:t>
                      </a:r>
                      <a:r>
                        <a:rPr sz="1100" b="0" i="1">
                          <a:solidFill>
                            <a:srgbClr val="000000"/>
                          </a:solidFill>
                          <a:latin typeface="Calibri"/>
                        </a:rPr>
                        <a:t>Double chocolate</a:t>
                      </a:r>
                      <a:endParaRPr sz="1100"/>
                    </a:p>
                  </a:txBody>
                  <a:tcPr marL="1257300" marR="9525" marT="9525" marB="0" anchor="ctr"/>
                </a:tc>
              </a:tr>
              <a:tr h="175260">
                <a:tc>
                  <a:txBody>
                    <a:bodyPr wrap="square"/>
                    <a:lstStyle/>
                    <a:p>
                      <a:pPr algn="l"/>
                      <a:r>
                        <a:rPr sz="1100" b="0" i="1">
                          <a:solidFill>
                            <a:srgbClr val="000000"/>
                          </a:solidFill>
                          <a:latin typeface="Calibri"/>
                        </a:rPr>
                        <a:t>4.5.1.2.3.</a:t>
                      </a:r>
                      <a:r>
                        <a:rPr sz="700" b="0" i="1">
                          <a:solidFill>
                            <a:srgbClr val="000000"/>
                          </a:solidFill>
                          <a:latin typeface="Times New Roman"/>
                        </a:rPr>
                        <a:t>    </a:t>
                      </a:r>
                      <a:r>
                        <a:rPr sz="1100" b="0" i="1">
                          <a:solidFill>
                            <a:srgbClr val="000000"/>
                          </a:solidFill>
                          <a:latin typeface="Calibri"/>
                        </a:rPr>
                        <a:t>Triple chocolate</a:t>
                      </a:r>
                      <a:endParaRPr sz="1100"/>
                    </a:p>
                  </a:txBody>
                  <a:tcPr marL="1257300" marR="9525" marT="9525" marB="0" anchor="ctr"/>
                </a:tc>
              </a:tr>
              <a:tr h="175260">
                <a:tc>
                  <a:txBody>
                    <a:bodyPr wrap="square"/>
                    <a:lstStyle/>
                    <a:p>
                      <a:pPr algn="l"/>
                      <a:r>
                        <a:rPr sz="1100" b="0" i="1">
                          <a:solidFill>
                            <a:srgbClr val="000000"/>
                          </a:solidFill>
                          <a:latin typeface="Calibri"/>
                        </a:rPr>
                        <a:t>4.5.1.2.4.</a:t>
                      </a:r>
                      <a:r>
                        <a:rPr sz="700" b="0" i="1">
                          <a:solidFill>
                            <a:srgbClr val="000000"/>
                          </a:solidFill>
                          <a:latin typeface="Times New Roman"/>
                        </a:rPr>
                        <a:t>    </a:t>
                      </a:r>
                      <a:r>
                        <a:rPr sz="1100" b="0" i="1">
                          <a:solidFill>
                            <a:srgbClr val="000000"/>
                          </a:solidFill>
                          <a:latin typeface="Calibri"/>
                        </a:rPr>
                        <a:t>Chocolate and fruit</a:t>
                      </a:r>
                      <a:endParaRPr sz="1100"/>
                    </a:p>
                  </a:txBody>
                  <a:tcPr marL="1257300" marR="9525" marT="9525" marB="0" anchor="ctr"/>
                </a:tc>
              </a:tr>
              <a:tr h="175260">
                <a:tc>
                  <a:txBody>
                    <a:bodyPr wrap="square"/>
                    <a:lstStyle/>
                    <a:p>
                      <a:pPr algn="l"/>
                      <a:r>
                        <a:rPr sz="1100" b="0" i="1">
                          <a:solidFill>
                            <a:srgbClr val="000000"/>
                          </a:solidFill>
                          <a:latin typeface="Calibri"/>
                        </a:rPr>
                        <a:t>4.5.1.2.5.</a:t>
                      </a:r>
                      <a:r>
                        <a:rPr sz="700" b="0" i="1">
                          <a:solidFill>
                            <a:srgbClr val="000000"/>
                          </a:solidFill>
                          <a:latin typeface="Times New Roman"/>
                        </a:rPr>
                        <a:t>    </a:t>
                      </a:r>
                      <a:r>
                        <a:rPr sz="1100" b="0" i="1">
                          <a:solidFill>
                            <a:srgbClr val="000000"/>
                          </a:solidFill>
                          <a:latin typeface="Calibri"/>
                        </a:rPr>
                        <a:t>Chocolate and nut</a:t>
                      </a:r>
                      <a:endParaRPr sz="1100"/>
                    </a:p>
                  </a:txBody>
                  <a:tcPr marL="1257300" marR="9525" marT="9525" marB="0" anchor="ctr"/>
                </a:tc>
              </a:tr>
              <a:tr h="175260">
                <a:tc>
                  <a:txBody>
                    <a:bodyPr wrap="square"/>
                    <a:lstStyle/>
                    <a:p>
                      <a:pPr algn="l"/>
                      <a:r>
                        <a:rPr sz="1100" b="0" i="1">
                          <a:solidFill>
                            <a:srgbClr val="000000"/>
                          </a:solidFill>
                          <a:latin typeface="Calibri"/>
                        </a:rPr>
                        <a:t>4.5.1.3.</a:t>
                      </a:r>
                      <a:r>
                        <a:rPr sz="700" b="0" i="1">
                          <a:solidFill>
                            <a:srgbClr val="000000"/>
                          </a:solidFill>
                          <a:latin typeface="Times New Roman"/>
                        </a:rPr>
                        <a:t>    </a:t>
                      </a:r>
                      <a:r>
                        <a:rPr sz="1100" b="0" i="1">
                          <a:solidFill>
                            <a:srgbClr val="000000"/>
                          </a:solidFill>
                          <a:latin typeface="Calibri"/>
                        </a:rPr>
                        <a:t>Nut and seed-based</a:t>
                      </a:r>
                      <a:endParaRPr sz="1100"/>
                    </a:p>
                  </a:txBody>
                  <a:tcPr marL="1028700" marR="9525" marT="9525" marB="0" anchor="ctr"/>
                </a:tc>
              </a:tr>
              <a:tr h="175260">
                <a:tc>
                  <a:txBody>
                    <a:bodyPr wrap="square"/>
                    <a:lstStyle/>
                    <a:p>
                      <a:pPr algn="l"/>
                      <a:r>
                        <a:rPr sz="1100" b="0" i="1">
                          <a:solidFill>
                            <a:srgbClr val="000000"/>
                          </a:solidFill>
                          <a:latin typeface="Calibri"/>
                        </a:rPr>
                        <a:t>4.5.1.3.1.</a:t>
                      </a:r>
                      <a:r>
                        <a:rPr sz="700" b="0" i="1">
                          <a:solidFill>
                            <a:srgbClr val="000000"/>
                          </a:solidFill>
                          <a:latin typeface="Times New Roman"/>
                        </a:rPr>
                        <a:t>    </a:t>
                      </a:r>
                      <a:r>
                        <a:rPr sz="1100" b="0" i="1">
                          <a:solidFill>
                            <a:srgbClr val="000000"/>
                          </a:solidFill>
                          <a:latin typeface="Calibri"/>
                        </a:rPr>
                        <a:t>Walnut</a:t>
                      </a:r>
                      <a:endParaRPr sz="1100"/>
                    </a:p>
                  </a:txBody>
                  <a:tcPr marL="1257300" marR="9525" marT="9525" marB="0" anchor="ctr"/>
                </a:tc>
              </a:tr>
              <a:tr h="175260">
                <a:tc>
                  <a:txBody>
                    <a:bodyPr wrap="square"/>
                    <a:lstStyle/>
                    <a:p>
                      <a:pPr algn="l"/>
                      <a:r>
                        <a:rPr sz="1100" b="0" i="1">
                          <a:solidFill>
                            <a:srgbClr val="000000"/>
                          </a:solidFill>
                          <a:latin typeface="Calibri"/>
                        </a:rPr>
                        <a:t>4.5.1.3.2.</a:t>
                      </a:r>
                      <a:r>
                        <a:rPr sz="700" b="0" i="1">
                          <a:solidFill>
                            <a:srgbClr val="000000"/>
                          </a:solidFill>
                          <a:latin typeface="Times New Roman"/>
                        </a:rPr>
                        <a:t>    </a:t>
                      </a:r>
                      <a:r>
                        <a:rPr sz="1100" b="0" i="1">
                          <a:solidFill>
                            <a:srgbClr val="000000"/>
                          </a:solidFill>
                          <a:latin typeface="Calibri"/>
                        </a:rPr>
                        <a:t>Almond</a:t>
                      </a:r>
                      <a:endParaRPr sz="1100"/>
                    </a:p>
                  </a:txBody>
                  <a:tcPr marL="1257300" marR="9525" marT="9525" marB="0" anchor="ctr"/>
                </a:tc>
              </a:tr>
              <a:tr h="175260">
                <a:tc>
                  <a:txBody>
                    <a:bodyPr wrap="square"/>
                    <a:lstStyle/>
                    <a:p>
                      <a:pPr algn="l"/>
                      <a:r>
                        <a:rPr sz="1100" b="0" i="1">
                          <a:solidFill>
                            <a:srgbClr val="000000"/>
                          </a:solidFill>
                          <a:latin typeface="Calibri"/>
                        </a:rPr>
                        <a:t>4.5.1.3.3.</a:t>
                      </a:r>
                      <a:r>
                        <a:rPr sz="700" b="0" i="1">
                          <a:solidFill>
                            <a:srgbClr val="000000"/>
                          </a:solidFill>
                          <a:latin typeface="Times New Roman"/>
                        </a:rPr>
                        <a:t>    </a:t>
                      </a:r>
                      <a:r>
                        <a:rPr sz="1100" b="0" i="1">
                          <a:solidFill>
                            <a:srgbClr val="000000"/>
                          </a:solidFill>
                          <a:latin typeface="Calibri"/>
                        </a:rPr>
                        <a:t>Pecan</a:t>
                      </a:r>
                      <a:endParaRPr sz="1100"/>
                    </a:p>
                  </a:txBody>
                  <a:tcPr marL="1257300" marR="9525" marT="9525" marB="0" anchor="ctr"/>
                </a:tc>
              </a:tr>
              <a:tr h="175260">
                <a:tc>
                  <a:txBody>
                    <a:bodyPr wrap="square"/>
                    <a:lstStyle/>
                    <a:p>
                      <a:pPr algn="l"/>
                      <a:r>
                        <a:rPr sz="1100" b="0" i="1">
                          <a:solidFill>
                            <a:srgbClr val="000000"/>
                          </a:solidFill>
                          <a:latin typeface="Calibri"/>
                        </a:rPr>
                        <a:t>4.5.1.3.4.</a:t>
                      </a:r>
                      <a:r>
                        <a:rPr sz="700" b="0" i="1">
                          <a:solidFill>
                            <a:srgbClr val="000000"/>
                          </a:solidFill>
                          <a:latin typeface="Times New Roman"/>
                        </a:rPr>
                        <a:t>    </a:t>
                      </a:r>
                      <a:r>
                        <a:rPr sz="1100" b="0" i="1">
                          <a:solidFill>
                            <a:srgbClr val="000000"/>
                          </a:solidFill>
                          <a:latin typeface="Calibri"/>
                        </a:rPr>
                        <a:t>Poppy seed</a:t>
                      </a:r>
                      <a:endParaRPr sz="1100"/>
                    </a:p>
                  </a:txBody>
                  <a:tcPr marL="1257300" marR="9525" marT="9525" marB="0" anchor="ctr"/>
                </a:tc>
              </a:tr>
              <a:tr h="175260">
                <a:tc>
                  <a:txBody>
                    <a:bodyPr wrap="square"/>
                    <a:lstStyle/>
                    <a:p>
                      <a:pPr algn="l"/>
                      <a:r>
                        <a:rPr sz="1100" b="0" i="1">
                          <a:solidFill>
                            <a:srgbClr val="000000"/>
                          </a:solidFill>
                          <a:latin typeface="Calibri"/>
                        </a:rPr>
                        <a:t>4.5.1.3.5.</a:t>
                      </a:r>
                      <a:r>
                        <a:rPr sz="700" b="0" i="1">
                          <a:solidFill>
                            <a:srgbClr val="000000"/>
                          </a:solidFill>
                          <a:latin typeface="Times New Roman"/>
                        </a:rPr>
                        <a:t>    </a:t>
                      </a:r>
                      <a:r>
                        <a:rPr sz="1100" b="0" i="1">
                          <a:solidFill>
                            <a:srgbClr val="000000"/>
                          </a:solidFill>
                          <a:latin typeface="Calibri"/>
                        </a:rPr>
                        <a:t>Mixed nuts and seeds</a:t>
                      </a:r>
                      <a:endParaRPr sz="1100"/>
                    </a:p>
                  </a:txBody>
                  <a:tcPr marL="1257300" marR="9525" marT="9525" marB="0" anchor="ctr"/>
                </a:tc>
              </a:tr>
              <a:tr h="175260">
                <a:tc>
                  <a:txBody>
                    <a:bodyPr wrap="square"/>
                    <a:lstStyle/>
                    <a:p>
                      <a:pPr algn="l"/>
                      <a:r>
                        <a:rPr sz="1100" b="0" i="1">
                          <a:solidFill>
                            <a:srgbClr val="000000"/>
                          </a:solidFill>
                          <a:latin typeface="Calibri"/>
                        </a:rPr>
                        <a:t>4.5.1.4.</a:t>
                      </a:r>
                      <a:r>
                        <a:rPr sz="700" b="0" i="1">
                          <a:solidFill>
                            <a:srgbClr val="000000"/>
                          </a:solidFill>
                          <a:latin typeface="Times New Roman"/>
                        </a:rPr>
                        <a:t>    </a:t>
                      </a:r>
                      <a:r>
                        <a:rPr sz="1100" b="0" i="1">
                          <a:solidFill>
                            <a:srgbClr val="000000"/>
                          </a:solidFill>
                          <a:latin typeface="Calibri"/>
                        </a:rPr>
                        <a:t>Plain and classic</a:t>
                      </a:r>
                      <a:endParaRPr sz="1100"/>
                    </a:p>
                  </a:txBody>
                  <a:tcPr marL="1028700" marR="9525" marT="9525" marB="0" anchor="ctr"/>
                </a:tc>
              </a:tr>
              <a:tr h="175260">
                <a:tc>
                  <a:txBody>
                    <a:bodyPr wrap="square"/>
                    <a:lstStyle/>
                    <a:p>
                      <a:pPr algn="l"/>
                      <a:r>
                        <a:rPr sz="1100" b="0" i="1">
                          <a:solidFill>
                            <a:srgbClr val="000000"/>
                          </a:solidFill>
                          <a:latin typeface="Calibri"/>
                        </a:rPr>
                        <a:t>4.5.1.4.1.</a:t>
                      </a:r>
                      <a:r>
                        <a:rPr sz="700" b="0" i="1">
                          <a:solidFill>
                            <a:srgbClr val="000000"/>
                          </a:solidFill>
                          <a:latin typeface="Times New Roman"/>
                        </a:rPr>
                        <a:t>    </a:t>
                      </a:r>
                      <a:r>
                        <a:rPr sz="1100" b="0" i="1">
                          <a:solidFill>
                            <a:srgbClr val="000000"/>
                          </a:solidFill>
                          <a:latin typeface="Calibri"/>
                        </a:rPr>
                        <a:t>Plain</a:t>
                      </a:r>
                      <a:endParaRPr sz="1100"/>
                    </a:p>
                  </a:txBody>
                  <a:tcPr marL="1257300" marR="9525" marT="9525" marB="0" anchor="ctr"/>
                </a:tc>
              </a:tr>
              <a:tr h="175260">
                <a:tc>
                  <a:txBody>
                    <a:bodyPr wrap="square"/>
                    <a:lstStyle/>
                    <a:p>
                      <a:pPr algn="l"/>
                      <a:r>
                        <a:rPr sz="1100" b="0" i="1">
                          <a:solidFill>
                            <a:srgbClr val="000000"/>
                          </a:solidFill>
                          <a:latin typeface="Calibri"/>
                        </a:rPr>
                        <a:t>4.5.1.4.2.</a:t>
                      </a:r>
                      <a:r>
                        <a:rPr sz="700" b="0" i="1">
                          <a:solidFill>
                            <a:srgbClr val="000000"/>
                          </a:solidFill>
                          <a:latin typeface="Times New Roman"/>
                        </a:rPr>
                        <a:t>    </a:t>
                      </a:r>
                      <a:r>
                        <a:rPr sz="1100" b="0" i="1">
                          <a:solidFill>
                            <a:srgbClr val="000000"/>
                          </a:solidFill>
                          <a:latin typeface="Calibri"/>
                        </a:rPr>
                        <a:t>Vanilla</a:t>
                      </a:r>
                      <a:endParaRPr sz="1100"/>
                    </a:p>
                  </a:txBody>
                  <a:tcPr marL="1257300" marR="9525" marT="9525" marB="0" anchor="ctr"/>
                </a:tc>
              </a:tr>
              <a:tr h="175260">
                <a:tc>
                  <a:txBody>
                    <a:bodyPr wrap="square"/>
                    <a:lstStyle/>
                    <a:p>
                      <a:pPr algn="l"/>
                      <a:r>
                        <a:rPr sz="1100" b="0" i="1">
                          <a:solidFill>
                            <a:srgbClr val="000000"/>
                          </a:solidFill>
                          <a:latin typeface="Calibri"/>
                        </a:rPr>
                        <a:t>4.5.1.4.3.</a:t>
                      </a:r>
                      <a:r>
                        <a:rPr sz="700" b="0" i="1">
                          <a:solidFill>
                            <a:srgbClr val="000000"/>
                          </a:solidFill>
                          <a:latin typeface="Times New Roman"/>
                        </a:rPr>
                        <a:t>    </a:t>
                      </a:r>
                      <a:r>
                        <a:rPr sz="1100" b="0" i="1">
                          <a:solidFill>
                            <a:srgbClr val="000000"/>
                          </a:solidFill>
                          <a:latin typeface="Calibri"/>
                        </a:rPr>
                        <a:t>Butter</a:t>
                      </a:r>
                      <a:endParaRPr sz="1100"/>
                    </a:p>
                  </a:txBody>
                  <a:tcPr marL="1257300" marR="9525" marT="9525" marB="0" anchor="ctr"/>
                </a:tc>
              </a:tr>
              <a:tr h="175260">
                <a:tc>
                  <a:txBody>
                    <a:bodyPr wrap="square"/>
                    <a:lstStyle/>
                    <a:p>
                      <a:pPr algn="l"/>
                      <a:r>
                        <a:rPr sz="1100" b="0" i="1">
                          <a:solidFill>
                            <a:srgbClr val="000000"/>
                          </a:solidFill>
                          <a:latin typeface="Calibri"/>
                        </a:rPr>
                        <a:t>4.5.1.5.</a:t>
                      </a:r>
                      <a:r>
                        <a:rPr sz="700" b="0" i="1">
                          <a:solidFill>
                            <a:srgbClr val="000000"/>
                          </a:solidFill>
                          <a:latin typeface="Times New Roman"/>
                        </a:rPr>
                        <a:t>    </a:t>
                      </a:r>
                      <a:r>
                        <a:rPr sz="1100" b="0" i="1">
                          <a:solidFill>
                            <a:srgbClr val="000000"/>
                          </a:solidFill>
                          <a:latin typeface="Calibri"/>
                        </a:rPr>
                        <a:t>Spice and dessert-inspired</a:t>
                      </a:r>
                      <a:endParaRPr sz="1100"/>
                    </a:p>
                  </a:txBody>
                  <a:tcPr marL="1028700" marR="9525" marT="9525" marB="0" anchor="ctr"/>
                </a:tc>
              </a:tr>
              <a:tr h="175260">
                <a:tc>
                  <a:txBody>
                    <a:bodyPr wrap="square"/>
                    <a:lstStyle/>
                    <a:p>
                      <a:pPr algn="l"/>
                      <a:r>
                        <a:rPr sz="1100" b="0" i="1">
                          <a:solidFill>
                            <a:srgbClr val="000000"/>
                          </a:solidFill>
                          <a:latin typeface="Calibri"/>
                        </a:rPr>
                        <a:t>4.5.1.5.1.</a:t>
                      </a:r>
                      <a:r>
                        <a:rPr sz="700" b="0" i="1">
                          <a:solidFill>
                            <a:srgbClr val="000000"/>
                          </a:solidFill>
                          <a:latin typeface="Times New Roman"/>
                        </a:rPr>
                        <a:t>    </a:t>
                      </a:r>
                      <a:r>
                        <a:rPr sz="1100" b="0" i="1">
                          <a:solidFill>
                            <a:srgbClr val="000000"/>
                          </a:solidFill>
                          <a:latin typeface="Calibri"/>
                        </a:rPr>
                        <a:t>Cinnamon</a:t>
                      </a:r>
                      <a:endParaRPr sz="1100"/>
                    </a:p>
                  </a:txBody>
                  <a:tcPr marL="1257300" marR="9525" marT="9525" marB="0" anchor="ctr"/>
                </a:tc>
              </a:tr>
              <a:tr h="175260">
                <a:tc>
                  <a:txBody>
                    <a:bodyPr wrap="square"/>
                    <a:lstStyle/>
                    <a:p>
                      <a:pPr algn="l"/>
                      <a:r>
                        <a:rPr sz="1100" b="0" i="1">
                          <a:solidFill>
                            <a:srgbClr val="000000"/>
                          </a:solidFill>
                          <a:latin typeface="Calibri"/>
                        </a:rPr>
                        <a:t>4.5.1.5.2.</a:t>
                      </a:r>
                      <a:r>
                        <a:rPr sz="700" b="0" i="1">
                          <a:solidFill>
                            <a:srgbClr val="000000"/>
                          </a:solidFill>
                          <a:latin typeface="Times New Roman"/>
                        </a:rPr>
                        <a:t>    </a:t>
                      </a:r>
                      <a:r>
                        <a:rPr sz="1100" b="0" i="1">
                          <a:solidFill>
                            <a:srgbClr val="000000"/>
                          </a:solidFill>
                          <a:latin typeface="Calibri"/>
                        </a:rPr>
                        <a:t>Pumpkin spice</a:t>
                      </a:r>
                      <a:endParaRPr sz="1100"/>
                    </a:p>
                  </a:txBody>
                  <a:tcPr marL="1257300" marR="9525" marT="9525" marB="0" anchor="ctr"/>
                </a:tc>
              </a:tr>
              <a:tr h="175260">
                <a:tc>
                  <a:txBody>
                    <a:bodyPr wrap="square"/>
                    <a:lstStyle/>
                    <a:p>
                      <a:pPr algn="l"/>
                      <a:r>
                        <a:rPr sz="1100" b="0" i="1">
                          <a:solidFill>
                            <a:srgbClr val="000000"/>
                          </a:solidFill>
                          <a:latin typeface="Calibri"/>
                        </a:rPr>
                        <a:t>4.5.1.5.3.</a:t>
                      </a:r>
                      <a:r>
                        <a:rPr sz="700" b="0" i="1">
                          <a:solidFill>
                            <a:srgbClr val="000000"/>
                          </a:solidFill>
                          <a:latin typeface="Times New Roman"/>
                        </a:rPr>
                        <a:t>    </a:t>
                      </a:r>
                      <a:r>
                        <a:rPr sz="1100" b="0" i="1">
                          <a:solidFill>
                            <a:srgbClr val="000000"/>
                          </a:solidFill>
                          <a:latin typeface="Calibri"/>
                        </a:rPr>
                        <a:t>Coffee</a:t>
                      </a:r>
                      <a:endParaRPr sz="1100"/>
                    </a:p>
                  </a:txBody>
                  <a:tcPr marL="1257300" marR="9525" marT="9525" marB="0" anchor="ctr"/>
                </a:tc>
              </a:tr>
              <a:tr h="175260">
                <a:tc>
                  <a:txBody>
                    <a:bodyPr wrap="square"/>
                    <a:lstStyle/>
                    <a:p>
                      <a:pPr algn="l"/>
                      <a:r>
                        <a:rPr sz="1100" b="0" i="1">
                          <a:solidFill>
                            <a:srgbClr val="000000"/>
                          </a:solidFill>
                          <a:latin typeface="Calibri"/>
                        </a:rPr>
                        <a:t>4.5.1.5.4.</a:t>
                      </a:r>
                      <a:r>
                        <a:rPr sz="700" b="0" i="1">
                          <a:solidFill>
                            <a:srgbClr val="000000"/>
                          </a:solidFill>
                          <a:latin typeface="Times New Roman"/>
                        </a:rPr>
                        <a:t>    </a:t>
                      </a:r>
                      <a:r>
                        <a:rPr sz="1100" b="0" i="1">
                          <a:solidFill>
                            <a:srgbClr val="000000"/>
                          </a:solidFill>
                          <a:latin typeface="Calibri"/>
                        </a:rPr>
                        <a:t>Caramel and toffee</a:t>
                      </a:r>
                      <a:endParaRPr sz="1100"/>
                    </a:p>
                  </a:txBody>
                  <a:tcPr marL="1257300" marR="9525" marT="9525" marB="0" anchor="ctr"/>
                </a:tc>
              </a:tr>
              <a:tr h="175260">
                <a:tc>
                  <a:txBody>
                    <a:bodyPr wrap="square"/>
                    <a:lstStyle/>
                    <a:p>
                      <a:pPr algn="l"/>
                      <a:r>
                        <a:rPr sz="1100" b="0" i="1">
                          <a:solidFill>
                            <a:srgbClr val="000000"/>
                          </a:solidFill>
                          <a:latin typeface="Calibri"/>
                        </a:rPr>
                        <a:t>4.5.1.5.5.</a:t>
                      </a:r>
                      <a:r>
                        <a:rPr sz="700" b="0" i="1">
                          <a:solidFill>
                            <a:srgbClr val="000000"/>
                          </a:solidFill>
                          <a:latin typeface="Times New Roman"/>
                        </a:rPr>
                        <a:t>    </a:t>
                      </a:r>
                      <a:r>
                        <a:rPr sz="1100" b="0" i="1">
                          <a:solidFill>
                            <a:srgbClr val="000000"/>
                          </a:solidFill>
                          <a:latin typeface="Calibri"/>
                        </a:rPr>
                        <a:t>Other dessert-inspired flavours</a:t>
                      </a:r>
                      <a:endParaRPr sz="1100"/>
                    </a:p>
                  </a:txBody>
                  <a:tcPr marL="1257300"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Savoury Muffins Flavours</a:t>
                      </a:r>
                      <a:endParaRPr sz="1100"/>
                    </a:p>
                  </a:txBody>
                  <a:tcPr marL="771525" marR="9525" marT="9525" marB="0" anchor="ctr"/>
                </a:tc>
              </a:tr>
              <a:tr h="175260">
                <a:tc>
                  <a:txBody>
                    <a:bodyPr wrap="square"/>
                    <a:lstStyle/>
                    <a:p>
                      <a:pPr algn="l"/>
                      <a:r>
                        <a:rPr sz="1100" b="0" i="1">
                          <a:solidFill>
                            <a:srgbClr val="000000"/>
                          </a:solidFill>
                          <a:latin typeface="Calibri"/>
                        </a:rPr>
                        <a:t>4.5.2.1.</a:t>
                      </a:r>
                      <a:r>
                        <a:rPr sz="700" b="0" i="1">
                          <a:solidFill>
                            <a:srgbClr val="000000"/>
                          </a:solidFill>
                          <a:latin typeface="Times New Roman"/>
                        </a:rPr>
                        <a:t>    </a:t>
                      </a:r>
                      <a:r>
                        <a:rPr sz="1100" b="0" i="1">
                          <a:solidFill>
                            <a:srgbClr val="000000"/>
                          </a:solidFill>
                          <a:latin typeface="Calibri"/>
                        </a:rPr>
                        <a:t>Cheese-based</a:t>
                      </a:r>
                      <a:endParaRPr sz="1100"/>
                    </a:p>
                  </a:txBody>
                  <a:tcPr marL="1028700" marR="9525" marT="9525" marB="0" anchor="ctr"/>
                </a:tc>
              </a:tr>
              <a:tr h="175260">
                <a:tc>
                  <a:txBody>
                    <a:bodyPr wrap="square"/>
                    <a:lstStyle/>
                    <a:p>
                      <a:pPr algn="l"/>
                      <a:r>
                        <a:rPr sz="1100" b="0" i="1">
                          <a:solidFill>
                            <a:srgbClr val="000000"/>
                          </a:solidFill>
                          <a:latin typeface="Calibri"/>
                        </a:rPr>
                        <a:t>4.5.2.1.1.</a:t>
                      </a:r>
                      <a:r>
                        <a:rPr sz="700" b="0" i="1">
                          <a:solidFill>
                            <a:srgbClr val="000000"/>
                          </a:solidFill>
                          <a:latin typeface="Times New Roman"/>
                        </a:rPr>
                        <a:t>    </a:t>
                      </a:r>
                      <a:r>
                        <a:rPr sz="1100" b="0" i="1">
                          <a:solidFill>
                            <a:srgbClr val="000000"/>
                          </a:solidFill>
                          <a:latin typeface="Calibri"/>
                        </a:rPr>
                        <a:t>Cheddar</a:t>
                      </a:r>
                      <a:endParaRPr sz="1100"/>
                    </a:p>
                  </a:txBody>
                  <a:tcPr marL="1257300" marR="9525" marT="9525" marB="0" anchor="ctr"/>
                </a:tc>
              </a:tr>
              <a:tr h="175260">
                <a:tc>
                  <a:txBody>
                    <a:bodyPr wrap="square"/>
                    <a:lstStyle/>
                    <a:p>
                      <a:pPr algn="l"/>
                      <a:r>
                        <a:rPr sz="1100" b="0" i="1">
                          <a:solidFill>
                            <a:srgbClr val="000000"/>
                          </a:solidFill>
                          <a:latin typeface="Calibri"/>
                        </a:rPr>
                        <a:t>4.5.2.1.2.</a:t>
                      </a:r>
                      <a:r>
                        <a:rPr sz="700" b="0" i="1">
                          <a:solidFill>
                            <a:srgbClr val="000000"/>
                          </a:solidFill>
                          <a:latin typeface="Times New Roman"/>
                        </a:rPr>
                        <a:t>    </a:t>
                      </a:r>
                      <a:r>
                        <a:rPr sz="1100" b="0" i="1">
                          <a:solidFill>
                            <a:srgbClr val="000000"/>
                          </a:solidFill>
                          <a:latin typeface="Calibri"/>
                        </a:rPr>
                        <a:t>Parmesan</a:t>
                      </a:r>
                      <a:endParaRPr sz="1100"/>
                    </a:p>
                  </a:txBody>
                  <a:tcPr marL="12573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4.5.2.1.3.</a:t>
                      </a:r>
                      <a:r>
                        <a:rPr sz="700" b="0" i="1">
                          <a:solidFill>
                            <a:srgbClr val="000000"/>
                          </a:solidFill>
                          <a:latin typeface="Times New Roman"/>
                        </a:rPr>
                        <a:t>    </a:t>
                      </a:r>
                      <a:r>
                        <a:rPr sz="1100" b="0" i="1">
                          <a:solidFill>
                            <a:srgbClr val="000000"/>
                          </a:solidFill>
                          <a:latin typeface="Calibri"/>
                        </a:rPr>
                        <a:t>Mixed cheese</a:t>
                      </a:r>
                      <a:endParaRPr sz="1100"/>
                    </a:p>
                  </a:txBody>
                  <a:tcPr marL="1257300" marR="9525" marT="9525" marB="0" anchor="ctr"/>
                </a:tc>
              </a:tr>
              <a:tr h="175260">
                <a:tc>
                  <a:txBody>
                    <a:bodyPr wrap="square"/>
                    <a:lstStyle/>
                    <a:p>
                      <a:pPr algn="l"/>
                      <a:r>
                        <a:rPr sz="1100" b="0" i="1">
                          <a:solidFill>
                            <a:srgbClr val="000000"/>
                          </a:solidFill>
                          <a:latin typeface="Calibri"/>
                        </a:rPr>
                        <a:t>4.5.2.2.</a:t>
                      </a:r>
                      <a:r>
                        <a:rPr sz="700" b="0" i="1">
                          <a:solidFill>
                            <a:srgbClr val="000000"/>
                          </a:solidFill>
                          <a:latin typeface="Times New Roman"/>
                        </a:rPr>
                        <a:t>    </a:t>
                      </a:r>
                      <a:r>
                        <a:rPr sz="1100" b="0" i="1">
                          <a:solidFill>
                            <a:srgbClr val="000000"/>
                          </a:solidFill>
                          <a:latin typeface="Calibri"/>
                        </a:rPr>
                        <a:t>Vegetable-based</a:t>
                      </a:r>
                      <a:endParaRPr sz="1100"/>
                    </a:p>
                  </a:txBody>
                  <a:tcPr marL="1028700" marR="9525" marT="9525" marB="0" anchor="ctr"/>
                </a:tc>
              </a:tr>
              <a:tr h="175260">
                <a:tc>
                  <a:txBody>
                    <a:bodyPr wrap="square"/>
                    <a:lstStyle/>
                    <a:p>
                      <a:pPr algn="l"/>
                      <a:r>
                        <a:rPr sz="1100" b="0" i="1">
                          <a:solidFill>
                            <a:srgbClr val="000000"/>
                          </a:solidFill>
                          <a:latin typeface="Calibri"/>
                        </a:rPr>
                        <a:t>4.5.2.2.1.</a:t>
                      </a:r>
                      <a:r>
                        <a:rPr sz="700" b="0" i="1">
                          <a:solidFill>
                            <a:srgbClr val="000000"/>
                          </a:solidFill>
                          <a:latin typeface="Times New Roman"/>
                        </a:rPr>
                        <a:t>    </a:t>
                      </a:r>
                      <a:r>
                        <a:rPr sz="1100" b="0" i="1">
                          <a:solidFill>
                            <a:srgbClr val="000000"/>
                          </a:solidFill>
                          <a:latin typeface="Calibri"/>
                        </a:rPr>
                        <a:t>Spinach</a:t>
                      </a:r>
                      <a:endParaRPr sz="1100"/>
                    </a:p>
                  </a:txBody>
                  <a:tcPr marL="1257300" marR="9525" marT="9525" marB="0" anchor="ctr"/>
                </a:tc>
              </a:tr>
              <a:tr h="175260">
                <a:tc>
                  <a:txBody>
                    <a:bodyPr wrap="square"/>
                    <a:lstStyle/>
                    <a:p>
                      <a:pPr algn="l"/>
                      <a:r>
                        <a:rPr sz="1100" b="0" i="1">
                          <a:solidFill>
                            <a:srgbClr val="000000"/>
                          </a:solidFill>
                          <a:latin typeface="Calibri"/>
                        </a:rPr>
                        <a:t>4.5.2.2.2.</a:t>
                      </a:r>
                      <a:r>
                        <a:rPr sz="700" b="0" i="1">
                          <a:solidFill>
                            <a:srgbClr val="000000"/>
                          </a:solidFill>
                          <a:latin typeface="Times New Roman"/>
                        </a:rPr>
                        <a:t>    </a:t>
                      </a:r>
                      <a:r>
                        <a:rPr sz="1100" b="0" i="1">
                          <a:solidFill>
                            <a:srgbClr val="000000"/>
                          </a:solidFill>
                          <a:latin typeface="Calibri"/>
                        </a:rPr>
                        <a:t>Carrot</a:t>
                      </a:r>
                      <a:endParaRPr sz="1100"/>
                    </a:p>
                  </a:txBody>
                  <a:tcPr marL="1257300" marR="9525" marT="9525" marB="0" anchor="ctr"/>
                </a:tc>
              </a:tr>
              <a:tr h="175260">
                <a:tc>
                  <a:txBody>
                    <a:bodyPr wrap="square"/>
                    <a:lstStyle/>
                    <a:p>
                      <a:pPr algn="l"/>
                      <a:r>
                        <a:rPr sz="1100" b="0" i="1">
                          <a:solidFill>
                            <a:srgbClr val="000000"/>
                          </a:solidFill>
                          <a:latin typeface="Calibri"/>
                        </a:rPr>
                        <a:t>4.5.2.2.3.</a:t>
                      </a:r>
                      <a:r>
                        <a:rPr sz="700" b="0" i="1">
                          <a:solidFill>
                            <a:srgbClr val="000000"/>
                          </a:solidFill>
                          <a:latin typeface="Times New Roman"/>
                        </a:rPr>
                        <a:t>    </a:t>
                      </a:r>
                      <a:r>
                        <a:rPr sz="1100" b="0" i="1">
                          <a:solidFill>
                            <a:srgbClr val="000000"/>
                          </a:solidFill>
                          <a:latin typeface="Calibri"/>
                        </a:rPr>
                        <a:t>Corn</a:t>
                      </a:r>
                      <a:endParaRPr sz="1100"/>
                    </a:p>
                  </a:txBody>
                  <a:tcPr marL="1257300" marR="9525" marT="9525" marB="0" anchor="ctr"/>
                </a:tc>
              </a:tr>
              <a:tr h="175260">
                <a:tc>
                  <a:txBody>
                    <a:bodyPr wrap="square"/>
                    <a:lstStyle/>
                    <a:p>
                      <a:pPr algn="l"/>
                      <a:r>
                        <a:rPr sz="1100" b="0" i="1">
                          <a:solidFill>
                            <a:srgbClr val="000000"/>
                          </a:solidFill>
                          <a:latin typeface="Calibri"/>
                        </a:rPr>
                        <a:t>4.5.2.2.4.</a:t>
                      </a:r>
                      <a:r>
                        <a:rPr sz="700" b="0" i="1">
                          <a:solidFill>
                            <a:srgbClr val="000000"/>
                          </a:solidFill>
                          <a:latin typeface="Times New Roman"/>
                        </a:rPr>
                        <a:t>    </a:t>
                      </a:r>
                      <a:r>
                        <a:rPr sz="1100" b="0" i="1">
                          <a:solidFill>
                            <a:srgbClr val="000000"/>
                          </a:solidFill>
                          <a:latin typeface="Calibri"/>
                        </a:rPr>
                        <a:t>Zucchini</a:t>
                      </a:r>
                      <a:endParaRPr sz="1100"/>
                    </a:p>
                  </a:txBody>
                  <a:tcPr marL="1257300" marR="9525" marT="9525" marB="0" anchor="ctr"/>
                </a:tc>
              </a:tr>
              <a:tr h="175260">
                <a:tc>
                  <a:txBody>
                    <a:bodyPr wrap="square"/>
                    <a:lstStyle/>
                    <a:p>
                      <a:pPr algn="l"/>
                      <a:r>
                        <a:rPr sz="1100" b="0" i="1">
                          <a:solidFill>
                            <a:srgbClr val="000000"/>
                          </a:solidFill>
                          <a:latin typeface="Calibri"/>
                        </a:rPr>
                        <a:t>4.5.2.2.5.</a:t>
                      </a:r>
                      <a:r>
                        <a:rPr sz="700" b="0" i="1">
                          <a:solidFill>
                            <a:srgbClr val="000000"/>
                          </a:solidFill>
                          <a:latin typeface="Times New Roman"/>
                        </a:rPr>
                        <a:t>    </a:t>
                      </a:r>
                      <a:r>
                        <a:rPr sz="1100" b="0" i="1">
                          <a:solidFill>
                            <a:srgbClr val="000000"/>
                          </a:solidFill>
                          <a:latin typeface="Calibri"/>
                        </a:rPr>
                        <a:t>Mixed vegetables</a:t>
                      </a:r>
                      <a:endParaRPr sz="1100"/>
                    </a:p>
                  </a:txBody>
                  <a:tcPr marL="1257300" marR="9525" marT="9525" marB="0" anchor="ctr"/>
                </a:tc>
              </a:tr>
              <a:tr h="175260">
                <a:tc>
                  <a:txBody>
                    <a:bodyPr wrap="square"/>
                    <a:lstStyle/>
                    <a:p>
                      <a:pPr algn="l"/>
                      <a:r>
                        <a:rPr sz="1100" b="0" i="1">
                          <a:solidFill>
                            <a:srgbClr val="000000"/>
                          </a:solidFill>
                          <a:latin typeface="Calibri"/>
                        </a:rPr>
                        <a:t>4.5.2.3.</a:t>
                      </a:r>
                      <a:r>
                        <a:rPr sz="700" b="0" i="1">
                          <a:solidFill>
                            <a:srgbClr val="000000"/>
                          </a:solidFill>
                          <a:latin typeface="Times New Roman"/>
                        </a:rPr>
                        <a:t>    </a:t>
                      </a:r>
                      <a:r>
                        <a:rPr sz="1100" b="0" i="1">
                          <a:solidFill>
                            <a:srgbClr val="000000"/>
                          </a:solidFill>
                          <a:latin typeface="Calibri"/>
                        </a:rPr>
                        <a:t>Meat-based</a:t>
                      </a:r>
                      <a:endParaRPr sz="1100"/>
                    </a:p>
                  </a:txBody>
                  <a:tcPr marL="1028700" marR="9525" marT="9525" marB="0" anchor="ctr"/>
                </a:tc>
              </a:tr>
              <a:tr h="175260">
                <a:tc>
                  <a:txBody>
                    <a:bodyPr wrap="square"/>
                    <a:lstStyle/>
                    <a:p>
                      <a:pPr algn="l"/>
                      <a:r>
                        <a:rPr sz="1100" b="0" i="1">
                          <a:solidFill>
                            <a:srgbClr val="000000"/>
                          </a:solidFill>
                          <a:latin typeface="Calibri"/>
                        </a:rPr>
                        <a:t>4.5.2.3.1.</a:t>
                      </a:r>
                      <a:r>
                        <a:rPr sz="700" b="0" i="1">
                          <a:solidFill>
                            <a:srgbClr val="000000"/>
                          </a:solidFill>
                          <a:latin typeface="Times New Roman"/>
                        </a:rPr>
                        <a:t>    </a:t>
                      </a:r>
                      <a:r>
                        <a:rPr sz="1100" b="0" i="1">
                          <a:solidFill>
                            <a:srgbClr val="000000"/>
                          </a:solidFill>
                          <a:latin typeface="Calibri"/>
                        </a:rPr>
                        <a:t>Bacon</a:t>
                      </a:r>
                      <a:endParaRPr sz="1100"/>
                    </a:p>
                  </a:txBody>
                  <a:tcPr marL="1257300" marR="9525" marT="9525" marB="0" anchor="ctr"/>
                </a:tc>
              </a:tr>
              <a:tr h="175260">
                <a:tc>
                  <a:txBody>
                    <a:bodyPr wrap="square"/>
                    <a:lstStyle/>
                    <a:p>
                      <a:pPr algn="l"/>
                      <a:r>
                        <a:rPr sz="1100" b="0" i="1">
                          <a:solidFill>
                            <a:srgbClr val="000000"/>
                          </a:solidFill>
                          <a:latin typeface="Calibri"/>
                        </a:rPr>
                        <a:t>4.5.2.3.2.</a:t>
                      </a:r>
                      <a:r>
                        <a:rPr sz="700" b="0" i="1">
                          <a:solidFill>
                            <a:srgbClr val="000000"/>
                          </a:solidFill>
                          <a:latin typeface="Times New Roman"/>
                        </a:rPr>
                        <a:t>    </a:t>
                      </a:r>
                      <a:r>
                        <a:rPr sz="1100" b="0" i="1">
                          <a:solidFill>
                            <a:srgbClr val="000000"/>
                          </a:solidFill>
                          <a:latin typeface="Calibri"/>
                        </a:rPr>
                        <a:t>Ham</a:t>
                      </a:r>
                      <a:endParaRPr sz="1100"/>
                    </a:p>
                  </a:txBody>
                  <a:tcPr marL="1257300" marR="9525" marT="9525" marB="0" anchor="ctr"/>
                </a:tc>
              </a:tr>
              <a:tr h="175260">
                <a:tc>
                  <a:txBody>
                    <a:bodyPr wrap="square"/>
                    <a:lstStyle/>
                    <a:p>
                      <a:pPr algn="l"/>
                      <a:r>
                        <a:rPr sz="1100" b="0" i="1">
                          <a:solidFill>
                            <a:srgbClr val="000000"/>
                          </a:solidFill>
                          <a:latin typeface="Calibri"/>
                        </a:rPr>
                        <a:t>4.5.2.3.3.</a:t>
                      </a:r>
                      <a:r>
                        <a:rPr sz="700" b="0" i="1">
                          <a:solidFill>
                            <a:srgbClr val="000000"/>
                          </a:solidFill>
                          <a:latin typeface="Times New Roman"/>
                        </a:rPr>
                        <a:t>    </a:t>
                      </a:r>
                      <a:r>
                        <a:rPr sz="1100" b="0" i="1">
                          <a:solidFill>
                            <a:srgbClr val="000000"/>
                          </a:solidFill>
                          <a:latin typeface="Calibri"/>
                        </a:rPr>
                        <a:t>Chicken</a:t>
                      </a:r>
                      <a:endParaRPr sz="1100"/>
                    </a:p>
                  </a:txBody>
                  <a:tcPr marL="1257300" marR="9525" marT="9525" marB="0" anchor="ctr"/>
                </a:tc>
              </a:tr>
              <a:tr h="175260">
                <a:tc>
                  <a:txBody>
                    <a:bodyPr wrap="square"/>
                    <a:lstStyle/>
                    <a:p>
                      <a:pPr algn="l"/>
                      <a:r>
                        <a:rPr sz="1100" b="0" i="1">
                          <a:solidFill>
                            <a:srgbClr val="000000"/>
                          </a:solidFill>
                          <a:latin typeface="Calibri"/>
                        </a:rPr>
                        <a:t>4.5.2.3.4.</a:t>
                      </a:r>
                      <a:r>
                        <a:rPr sz="700" b="0" i="1">
                          <a:solidFill>
                            <a:srgbClr val="000000"/>
                          </a:solidFill>
                          <a:latin typeface="Times New Roman"/>
                        </a:rPr>
                        <a:t>    </a:t>
                      </a:r>
                      <a:r>
                        <a:rPr sz="1100" b="0" i="1">
                          <a:solidFill>
                            <a:srgbClr val="000000"/>
                          </a:solidFill>
                          <a:latin typeface="Calibri"/>
                        </a:rPr>
                        <a:t>Other meat varieties</a:t>
                      </a:r>
                      <a:endParaRPr sz="1100"/>
                    </a:p>
                  </a:txBody>
                  <a:tcPr marL="1257300" marR="9525" marT="9525" marB="0" anchor="ctr"/>
                </a:tc>
              </a:tr>
              <a:tr h="175260">
                <a:tc>
                  <a:txBody>
                    <a:bodyPr wrap="square"/>
                    <a:lstStyle/>
                    <a:p>
                      <a:pPr algn="l"/>
                      <a:r>
                        <a:rPr sz="1100" b="0" i="1">
                          <a:solidFill>
                            <a:srgbClr val="000000"/>
                          </a:solidFill>
                          <a:latin typeface="Calibri"/>
                        </a:rPr>
                        <a:t>4.5.2.4.</a:t>
                      </a:r>
                      <a:r>
                        <a:rPr sz="700" b="0" i="1">
                          <a:solidFill>
                            <a:srgbClr val="000000"/>
                          </a:solidFill>
                          <a:latin typeface="Times New Roman"/>
                        </a:rPr>
                        <a:t>    </a:t>
                      </a:r>
                      <a:r>
                        <a:rPr sz="1100" b="0" i="1">
                          <a:solidFill>
                            <a:srgbClr val="000000"/>
                          </a:solidFill>
                          <a:latin typeface="Calibri"/>
                        </a:rPr>
                        <a:t>Herb and spice-based</a:t>
                      </a:r>
                      <a:endParaRPr sz="1100"/>
                    </a:p>
                  </a:txBody>
                  <a:tcPr marL="1028700" marR="9525" marT="9525" marB="0" anchor="ctr"/>
                </a:tc>
              </a:tr>
              <a:tr h="175260">
                <a:tc>
                  <a:txBody>
                    <a:bodyPr wrap="square"/>
                    <a:lstStyle/>
                    <a:p>
                      <a:pPr algn="l"/>
                      <a:r>
                        <a:rPr sz="1100" b="0" i="1">
                          <a:solidFill>
                            <a:srgbClr val="000000"/>
                          </a:solidFill>
                          <a:latin typeface="Calibri"/>
                        </a:rPr>
                        <a:t>4.5.2.4.1.</a:t>
                      </a:r>
                      <a:r>
                        <a:rPr sz="700" b="0" i="1">
                          <a:solidFill>
                            <a:srgbClr val="000000"/>
                          </a:solidFill>
                          <a:latin typeface="Times New Roman"/>
                        </a:rPr>
                        <a:t>    </a:t>
                      </a:r>
                      <a:r>
                        <a:rPr sz="1100" b="0" i="1">
                          <a:solidFill>
                            <a:srgbClr val="000000"/>
                          </a:solidFill>
                          <a:latin typeface="Calibri"/>
                        </a:rPr>
                        <a:t>Garlic and herbs</a:t>
                      </a:r>
                      <a:endParaRPr sz="1100"/>
                    </a:p>
                  </a:txBody>
                  <a:tcPr marL="1257300" marR="9525" marT="9525" marB="0" anchor="ctr"/>
                </a:tc>
              </a:tr>
              <a:tr h="175260">
                <a:tc>
                  <a:txBody>
                    <a:bodyPr wrap="square"/>
                    <a:lstStyle/>
                    <a:p>
                      <a:pPr algn="l"/>
                      <a:r>
                        <a:rPr sz="1100" b="0" i="1">
                          <a:solidFill>
                            <a:srgbClr val="000000"/>
                          </a:solidFill>
                          <a:latin typeface="Calibri"/>
                        </a:rPr>
                        <a:t>4.5.2.4.2.</a:t>
                      </a:r>
                      <a:r>
                        <a:rPr sz="700" b="0" i="1">
                          <a:solidFill>
                            <a:srgbClr val="000000"/>
                          </a:solidFill>
                          <a:latin typeface="Times New Roman"/>
                        </a:rPr>
                        <a:t>    </a:t>
                      </a:r>
                      <a:r>
                        <a:rPr sz="1100" b="0" i="1">
                          <a:solidFill>
                            <a:srgbClr val="000000"/>
                          </a:solidFill>
                          <a:latin typeface="Calibri"/>
                        </a:rPr>
                        <a:t>Chilli and jalapeño</a:t>
                      </a:r>
                      <a:endParaRPr sz="1100"/>
                    </a:p>
                  </a:txBody>
                  <a:tcPr marL="1257300" marR="9525" marT="9525" marB="0" anchor="ctr"/>
                </a:tc>
              </a:tr>
              <a:tr h="175260">
                <a:tc>
                  <a:txBody>
                    <a:bodyPr wrap="square"/>
                    <a:lstStyle/>
                    <a:p>
                      <a:pPr algn="l"/>
                      <a:r>
                        <a:rPr sz="1100" b="0" i="1">
                          <a:solidFill>
                            <a:srgbClr val="000000"/>
                          </a:solidFill>
                          <a:latin typeface="Calibri"/>
                        </a:rPr>
                        <a:t>4.5.2.4.3.</a:t>
                      </a:r>
                      <a:r>
                        <a:rPr sz="700" b="0" i="1">
                          <a:solidFill>
                            <a:srgbClr val="000000"/>
                          </a:solidFill>
                          <a:latin typeface="Times New Roman"/>
                        </a:rPr>
                        <a:t>    </a:t>
                      </a:r>
                      <a:r>
                        <a:rPr sz="1100" b="0" i="1">
                          <a:solidFill>
                            <a:srgbClr val="000000"/>
                          </a:solidFill>
                          <a:latin typeface="Calibri"/>
                        </a:rPr>
                        <a:t>Other herb and spice combinations</a:t>
                      </a:r>
                      <a:endParaRPr sz="1100"/>
                    </a:p>
                  </a:txBody>
                  <a:tcPr marL="12573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Primary Flour Base</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Wheat-based</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Refined wheat</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Whole wheat</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Oat-based</a:t>
                      </a:r>
                      <a:endParaRPr sz="1100"/>
                    </a:p>
                  </a:txBody>
                  <a:tcPr marL="771525"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Rice-based</a:t>
                      </a:r>
                      <a:endParaRPr sz="1100"/>
                    </a:p>
                  </a:txBody>
                  <a:tcPr marL="771525"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Corn-based</a:t>
                      </a:r>
                      <a:endParaRPr sz="1100"/>
                    </a:p>
                  </a:txBody>
                  <a:tcPr marL="771525"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Millet-based</a:t>
                      </a:r>
                      <a:endParaRPr sz="1100"/>
                    </a:p>
                  </a:txBody>
                  <a:tcPr marL="771525"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Almond and other nut flour-based</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Other single-flour bases</a:t>
                      </a:r>
                      <a:endParaRPr sz="1100"/>
                    </a:p>
                  </a:txBody>
                  <a:tcPr marL="771525"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Multigrain and blended flour bases</a:t>
                      </a:r>
                      <a:endParaRPr sz="1100"/>
                    </a:p>
                  </a:txBody>
                  <a:tcPr marL="771525"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Dietary Formulation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Conventional</a:t>
                      </a:r>
                      <a:endParaRPr sz="1100"/>
                    </a:p>
                  </a:txBody>
                  <a:tcPr marL="771525"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Gluten-free</a:t>
                      </a:r>
                      <a:endParaRPr sz="1100"/>
                    </a:p>
                  </a:txBody>
                  <a:tcPr marL="771525"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Vegan</a:t>
                      </a:r>
                      <a:endParaRPr sz="1100"/>
                    </a:p>
                  </a:txBody>
                  <a:tcPr marL="771525"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Gluten-free and vegan</a:t>
                      </a:r>
                      <a:endParaRPr sz="1100"/>
                    </a:p>
                  </a:txBody>
                  <a:tcPr marL="771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Nutritional Positioning</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7.5.1.</a:t>
                      </a:r>
                      <a:r>
                        <a:rPr sz="700" b="0" i="0">
                          <a:solidFill>
                            <a:srgbClr val="000000"/>
                          </a:solidFill>
                          <a:latin typeface="Times New Roman"/>
                        </a:rPr>
                        <a:t>   </a:t>
                      </a:r>
                      <a:r>
                        <a:rPr sz="1100" b="0" i="0">
                          <a:solidFill>
                            <a:srgbClr val="000000"/>
                          </a:solidFill>
                          <a:latin typeface="Calibri"/>
                        </a:rPr>
                        <a:t>Standard/indulgent</a:t>
                      </a:r>
                      <a:endParaRPr sz="1100"/>
                    </a:p>
                  </a:txBody>
                  <a:tcPr marL="771525" marR="9525" marT="9525" marB="0" anchor="ctr"/>
                </a:tc>
              </a:tr>
              <a:tr h="175260">
                <a:tc>
                  <a:txBody>
                    <a:bodyPr wrap="square"/>
                    <a:lstStyle/>
                    <a:p>
                      <a:pPr algn="l"/>
                      <a:r>
                        <a:rPr sz="1100" b="0" i="0">
                          <a:solidFill>
                            <a:srgbClr val="000000"/>
                          </a:solidFill>
                          <a:latin typeface="Calibri"/>
                        </a:rPr>
                        <a:t>7.5.2.</a:t>
                      </a:r>
                      <a:r>
                        <a:rPr sz="700" b="0" i="0">
                          <a:solidFill>
                            <a:srgbClr val="000000"/>
                          </a:solidFill>
                          <a:latin typeface="Times New Roman"/>
                        </a:rPr>
                        <a:t>   </a:t>
                      </a:r>
                      <a:r>
                        <a:rPr sz="1100" b="0" i="0">
                          <a:solidFill>
                            <a:srgbClr val="000000"/>
                          </a:solidFill>
                          <a:latin typeface="Calibri"/>
                        </a:rPr>
                        <a:t>Protein-enriched</a:t>
                      </a:r>
                      <a:endParaRPr sz="1100"/>
                    </a:p>
                  </a:txBody>
                  <a:tcPr marL="771525" marR="9525" marT="9525" marB="0" anchor="ctr"/>
                </a:tc>
              </a:tr>
              <a:tr h="175260">
                <a:tc>
                  <a:txBody>
                    <a:bodyPr wrap="square"/>
                    <a:lstStyle/>
                    <a:p>
                      <a:pPr algn="l"/>
                      <a:r>
                        <a:rPr sz="1100" b="0" i="0">
                          <a:solidFill>
                            <a:srgbClr val="000000"/>
                          </a:solidFill>
                          <a:latin typeface="Calibri"/>
                        </a:rPr>
                        <a:t>7.5.3.</a:t>
                      </a:r>
                      <a:r>
                        <a:rPr sz="700" b="0" i="0">
                          <a:solidFill>
                            <a:srgbClr val="000000"/>
                          </a:solidFill>
                          <a:latin typeface="Times New Roman"/>
                        </a:rPr>
                        <a:t>   </a:t>
                      </a:r>
                      <a:r>
                        <a:rPr sz="1100" b="0" i="0">
                          <a:solidFill>
                            <a:srgbClr val="000000"/>
                          </a:solidFill>
                          <a:latin typeface="Calibri"/>
                        </a:rPr>
                        <a:t>Fibre-enriched</a:t>
                      </a:r>
                      <a:endParaRPr sz="1100"/>
                    </a:p>
                  </a:txBody>
                  <a:tcPr marL="771525" marR="9525" marT="9525" marB="0" anchor="ctr"/>
                </a:tc>
              </a:tr>
              <a:tr h="175260">
                <a:tc>
                  <a:txBody>
                    <a:bodyPr wrap="square"/>
                    <a:lstStyle/>
                    <a:p>
                      <a:pPr algn="l"/>
                      <a:r>
                        <a:rPr sz="1100" b="0" i="0">
                          <a:solidFill>
                            <a:srgbClr val="000000"/>
                          </a:solidFill>
                          <a:latin typeface="Calibri"/>
                        </a:rPr>
                        <a:t>7.5.4.</a:t>
                      </a:r>
                      <a:r>
                        <a:rPr sz="700" b="0" i="0">
                          <a:solidFill>
                            <a:srgbClr val="000000"/>
                          </a:solidFill>
                          <a:latin typeface="Times New Roman"/>
                        </a:rPr>
                        <a:t>   </a:t>
                      </a:r>
                      <a:r>
                        <a:rPr sz="1100" b="0" i="0">
                          <a:solidFill>
                            <a:srgbClr val="000000"/>
                          </a:solidFill>
                          <a:latin typeface="Calibri"/>
                        </a:rPr>
                        <a:t>Reduced-sugar</a:t>
                      </a:r>
                      <a:endParaRPr sz="1100"/>
                    </a:p>
                  </a:txBody>
                  <a:tcPr marL="771525" marR="9525" marT="9525" marB="0" anchor="ctr"/>
                </a:tc>
              </a:tr>
              <a:tr h="175260">
                <a:tc>
                  <a:txBody>
                    <a:bodyPr wrap="square"/>
                    <a:lstStyle/>
                    <a:p>
                      <a:pPr algn="l"/>
                      <a:r>
                        <a:rPr sz="1100" b="0" i="0">
                          <a:solidFill>
                            <a:srgbClr val="000000"/>
                          </a:solidFill>
                          <a:latin typeface="Calibri"/>
                        </a:rPr>
                        <a:t>7.5.5.</a:t>
                      </a:r>
                      <a:r>
                        <a:rPr sz="700" b="0" i="0">
                          <a:solidFill>
                            <a:srgbClr val="000000"/>
                          </a:solidFill>
                          <a:latin typeface="Times New Roman"/>
                        </a:rPr>
                        <a:t>   </a:t>
                      </a:r>
                      <a:r>
                        <a:rPr sz="1100" b="0" i="0">
                          <a:solidFill>
                            <a:srgbClr val="000000"/>
                          </a:solidFill>
                          <a:latin typeface="Calibri"/>
                        </a:rPr>
                        <a:t>No-added-sugar</a:t>
                      </a:r>
                      <a:endParaRPr sz="1100"/>
                    </a:p>
                  </a:txBody>
                  <a:tcPr marL="771525" marR="9525" marT="9525" marB="0" anchor="ctr"/>
                </a:tc>
              </a:tr>
              <a:tr h="175260">
                <a:tc>
                  <a:txBody>
                    <a:bodyPr wrap="square"/>
                    <a:lstStyle/>
                    <a:p>
                      <a:pPr algn="l"/>
                      <a:r>
                        <a:rPr sz="1100" b="0" i="0">
                          <a:solidFill>
                            <a:srgbClr val="000000"/>
                          </a:solidFill>
                          <a:latin typeface="Calibri"/>
                        </a:rPr>
                        <a:t>7.5.6.</a:t>
                      </a:r>
                      <a:r>
                        <a:rPr sz="700" b="0" i="0">
                          <a:solidFill>
                            <a:srgbClr val="000000"/>
                          </a:solidFill>
                          <a:latin typeface="Times New Roman"/>
                        </a:rPr>
                        <a:t>   </a:t>
                      </a:r>
                      <a:r>
                        <a:rPr sz="1100" b="0" i="0">
                          <a:solidFill>
                            <a:srgbClr val="000000"/>
                          </a:solidFill>
                          <a:latin typeface="Calibri"/>
                        </a:rPr>
                        <a:t>Reduced-fat</a:t>
                      </a:r>
                      <a:endParaRPr sz="1100"/>
                    </a:p>
                  </a:txBody>
                  <a:tcPr marL="771525" marR="9525" marT="9525" marB="0" anchor="ctr"/>
                </a:tc>
              </a:tr>
              <a:tr h="175260">
                <a:tc>
                  <a:txBody>
                    <a:bodyPr wrap="square"/>
                    <a:lstStyle/>
                    <a:p>
                      <a:pPr algn="l"/>
                      <a:r>
                        <a:rPr sz="1100" b="0" i="0">
                          <a:solidFill>
                            <a:srgbClr val="000000"/>
                          </a:solidFill>
                          <a:latin typeface="Calibri"/>
                        </a:rPr>
                        <a:t>7.5.7.</a:t>
                      </a:r>
                      <a:r>
                        <a:rPr sz="700" b="0" i="0">
                          <a:solidFill>
                            <a:srgbClr val="000000"/>
                          </a:solidFill>
                          <a:latin typeface="Times New Roman"/>
                        </a:rPr>
                        <a:t>   </a:t>
                      </a:r>
                      <a:r>
                        <a:rPr sz="1100" b="0" i="0">
                          <a:solidFill>
                            <a:srgbClr val="000000"/>
                          </a:solidFill>
                          <a:latin typeface="Calibri"/>
                        </a:rPr>
                        <a:t>Other nutrition-focused formulations</a:t>
                      </a:r>
                      <a:endParaRPr sz="1100"/>
                    </a:p>
                  </a:txBody>
                  <a:tcPr marL="771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Recipe and Ingredient Claims</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8.5.1.</a:t>
                      </a:r>
                      <a:r>
                        <a:rPr sz="700" b="0" i="0">
                          <a:solidFill>
                            <a:srgbClr val="000000"/>
                          </a:solidFill>
                          <a:latin typeface="Times New Roman"/>
                        </a:rPr>
                        <a:t>   </a:t>
                      </a:r>
                      <a:r>
                        <a:rPr sz="1100" b="0" i="0">
                          <a:solidFill>
                            <a:srgbClr val="000000"/>
                          </a:solidFill>
                          <a:latin typeface="Calibri"/>
                        </a:rPr>
                        <a:t>Organic-certified</a:t>
                      </a:r>
                      <a:endParaRPr sz="1100"/>
                    </a:p>
                  </a:txBody>
                  <a:tcPr marL="771525" marR="9525" marT="9525" marB="0" anchor="ctr"/>
                </a:tc>
              </a:tr>
              <a:tr h="175260">
                <a:tc>
                  <a:txBody>
                    <a:bodyPr wrap="square"/>
                    <a:lstStyle/>
                    <a:p>
                      <a:pPr algn="l"/>
                      <a:r>
                        <a:rPr sz="1100" b="0" i="0">
                          <a:solidFill>
                            <a:srgbClr val="000000"/>
                          </a:solidFill>
                          <a:latin typeface="Calibri"/>
                        </a:rPr>
                        <a:t>8.5.2.</a:t>
                      </a:r>
                      <a:r>
                        <a:rPr sz="700" b="0" i="0">
                          <a:solidFill>
                            <a:srgbClr val="000000"/>
                          </a:solidFill>
                          <a:latin typeface="Times New Roman"/>
                        </a:rPr>
                        <a:t>   </a:t>
                      </a:r>
                      <a:r>
                        <a:rPr sz="1100" b="0" i="0">
                          <a:solidFill>
                            <a:srgbClr val="000000"/>
                          </a:solidFill>
                          <a:latin typeface="Calibri"/>
                        </a:rPr>
                        <a:t>Conventional/non-organic</a:t>
                      </a:r>
                      <a:endParaRPr sz="1100"/>
                    </a:p>
                  </a:txBody>
                  <a:tcPr marL="771525" marR="9525" marT="9525" marB="0" anchor="ctr"/>
                </a:tc>
              </a:tr>
              <a:tr h="175260">
                <a:tc>
                  <a:txBody>
                    <a:bodyPr wrap="square"/>
                    <a:lstStyle/>
                    <a:p>
                      <a:pPr algn="l"/>
                      <a:r>
                        <a:rPr sz="1100" b="0" i="0">
                          <a:solidFill>
                            <a:srgbClr val="000000"/>
                          </a:solidFill>
                          <a:latin typeface="Calibri"/>
                        </a:rPr>
                        <a:t>8.5.3.</a:t>
                      </a:r>
                      <a:r>
                        <a:rPr sz="700" b="0" i="0">
                          <a:solidFill>
                            <a:srgbClr val="000000"/>
                          </a:solidFill>
                          <a:latin typeface="Times New Roman"/>
                        </a:rPr>
                        <a:t>   </a:t>
                      </a:r>
                      <a:r>
                        <a:rPr sz="1100" b="0" i="0">
                          <a:solidFill>
                            <a:srgbClr val="000000"/>
                          </a:solidFill>
                          <a:latin typeface="Calibri"/>
                        </a:rPr>
                        <a:t>Additional claim mapping</a:t>
                      </a:r>
                      <a:endParaRPr sz="1100"/>
                    </a:p>
                  </a:txBody>
                  <a:tcPr marL="771525" marR="9525" marT="9525" marB="0" anchor="ctr"/>
                </a:tc>
              </a:tr>
              <a:tr h="175260">
                <a:tc>
                  <a:txBody>
                    <a:bodyPr wrap="square"/>
                    <a:lstStyle/>
                    <a:p>
                      <a:pPr algn="l"/>
                      <a:r>
                        <a:rPr sz="1100" b="0" i="1">
                          <a:solidFill>
                            <a:srgbClr val="000000"/>
                          </a:solidFill>
                          <a:latin typeface="Calibri"/>
                        </a:rPr>
                        <a:t>8.5.3.1.</a:t>
                      </a:r>
                      <a:r>
                        <a:rPr sz="700" b="0" i="1">
                          <a:solidFill>
                            <a:srgbClr val="000000"/>
                          </a:solidFill>
                          <a:latin typeface="Times New Roman"/>
                        </a:rPr>
                        <a:t>    </a:t>
                      </a:r>
                      <a:r>
                        <a:rPr sz="1100" b="0" i="1">
                          <a:solidFill>
                            <a:srgbClr val="000000"/>
                          </a:solidFill>
                          <a:latin typeface="Calibri"/>
                        </a:rPr>
                        <a:t>Clean-label positioning</a:t>
                      </a:r>
                      <a:endParaRPr sz="1100"/>
                    </a:p>
                  </a:txBody>
                  <a:tcPr marL="1028700" marR="9525" marT="9525" marB="0" anchor="ctr"/>
                </a:tc>
              </a:tr>
              <a:tr h="175260">
                <a:tc>
                  <a:txBody>
                    <a:bodyPr wrap="square"/>
                    <a:lstStyle/>
                    <a:p>
                      <a:pPr algn="l"/>
                      <a:r>
                        <a:rPr sz="1100" b="0" i="1">
                          <a:solidFill>
                            <a:srgbClr val="000000"/>
                          </a:solidFill>
                          <a:latin typeface="Calibri"/>
                        </a:rPr>
                        <a:t>8.5.3.2.</a:t>
                      </a:r>
                      <a:r>
                        <a:rPr sz="700" b="0" i="1">
                          <a:solidFill>
                            <a:srgbClr val="000000"/>
                          </a:solidFill>
                          <a:latin typeface="Times New Roman"/>
                        </a:rPr>
                        <a:t>    </a:t>
                      </a:r>
                      <a:r>
                        <a:rPr sz="1100" b="0" i="1">
                          <a:solidFill>
                            <a:srgbClr val="000000"/>
                          </a:solidFill>
                          <a:latin typeface="Calibri"/>
                        </a:rPr>
                        <a:t>No artificial colours</a:t>
                      </a:r>
                      <a:endParaRPr sz="1100"/>
                    </a:p>
                  </a:txBody>
                  <a:tcPr marL="1028700" marR="9525" marT="9525" marB="0" anchor="ctr"/>
                </a:tc>
              </a:tr>
              <a:tr h="175260">
                <a:tc>
                  <a:txBody>
                    <a:bodyPr wrap="square"/>
                    <a:lstStyle/>
                    <a:p>
                      <a:pPr algn="l"/>
                      <a:r>
                        <a:rPr sz="1100" b="0" i="1">
                          <a:solidFill>
                            <a:srgbClr val="000000"/>
                          </a:solidFill>
                          <a:latin typeface="Calibri"/>
                        </a:rPr>
                        <a:t>8.5.3.3.</a:t>
                      </a:r>
                      <a:r>
                        <a:rPr sz="700" b="0" i="1">
                          <a:solidFill>
                            <a:srgbClr val="000000"/>
                          </a:solidFill>
                          <a:latin typeface="Times New Roman"/>
                        </a:rPr>
                        <a:t>    </a:t>
                      </a:r>
                      <a:r>
                        <a:rPr sz="1100" b="0" i="1">
                          <a:solidFill>
                            <a:srgbClr val="000000"/>
                          </a:solidFill>
                          <a:latin typeface="Calibri"/>
                        </a:rPr>
                        <a:t>No artificial flavours</a:t>
                      </a:r>
                      <a:endParaRPr sz="1100"/>
                    </a:p>
                  </a:txBody>
                  <a:tcPr marL="1028700" marR="9525" marT="9525" marB="0" anchor="ctr"/>
                </a:tc>
              </a:tr>
              <a:tr h="175260">
                <a:tc>
                  <a:txBody>
                    <a:bodyPr wrap="square"/>
                    <a:lstStyle/>
                    <a:p>
                      <a:pPr algn="l"/>
                      <a:r>
                        <a:rPr sz="1100" b="0" i="1">
                          <a:solidFill>
                            <a:srgbClr val="000000"/>
                          </a:solidFill>
                          <a:latin typeface="Calibri"/>
                        </a:rPr>
                        <a:t>8.5.3.4.</a:t>
                      </a:r>
                      <a:r>
                        <a:rPr sz="700" b="0" i="1">
                          <a:solidFill>
                            <a:srgbClr val="000000"/>
                          </a:solidFill>
                          <a:latin typeface="Times New Roman"/>
                        </a:rPr>
                        <a:t>    </a:t>
                      </a:r>
                      <a:r>
                        <a:rPr sz="1100" b="0" i="1">
                          <a:solidFill>
                            <a:srgbClr val="000000"/>
                          </a:solidFill>
                          <a:latin typeface="Calibri"/>
                        </a:rPr>
                        <a:t>No artificial preservatives</a:t>
                      </a:r>
                      <a:endParaRPr sz="1100"/>
                    </a:p>
                  </a:txBody>
                  <a:tcPr marL="1028700" marR="9525" marT="9525" marB="0" anchor="ctr"/>
                </a:tc>
              </a:tr>
              <a:tr h="175260">
                <a:tc>
                  <a:txBody>
                    <a:bodyPr wrap="square"/>
                    <a:lstStyle/>
                    <a:p>
                      <a:pPr algn="l"/>
                      <a:r>
                        <a:rPr sz="1100" b="0" i="1">
                          <a:solidFill>
                            <a:srgbClr val="000000"/>
                          </a:solidFill>
                          <a:latin typeface="Calibri"/>
                        </a:rPr>
                        <a:t>8.5.3.5.</a:t>
                      </a:r>
                      <a:r>
                        <a:rPr sz="700" b="0" i="1">
                          <a:solidFill>
                            <a:srgbClr val="000000"/>
                          </a:solidFill>
                          <a:latin typeface="Times New Roman"/>
                        </a:rPr>
                        <a:t>    </a:t>
                      </a:r>
                      <a:r>
                        <a:rPr sz="1100" b="0" i="1">
                          <a:solidFill>
                            <a:srgbClr val="000000"/>
                          </a:solidFill>
                          <a:latin typeface="Calibri"/>
                        </a:rPr>
                        <a:t>Non-GMO</a:t>
                      </a:r>
                      <a:endParaRPr sz="1100"/>
                    </a:p>
                  </a:txBody>
                  <a:tcPr marL="1028700" marR="9525" marT="9525" marB="0" anchor="ctr"/>
                </a:tc>
              </a:tr>
              <a:tr h="175260">
                <a:tc>
                  <a:txBody>
                    <a:bodyPr wrap="square"/>
                    <a:lstStyle/>
                    <a:p>
                      <a:pPr algn="l"/>
                      <a:r>
                        <a:rPr sz="1100" b="0" i="1">
                          <a:solidFill>
                            <a:srgbClr val="000000"/>
                          </a:solidFill>
                          <a:latin typeface="Calibri"/>
                        </a:rPr>
                        <a:t>8.5.3.6.</a:t>
                      </a:r>
                      <a:r>
                        <a:rPr sz="700" b="0" i="1">
                          <a:solidFill>
                            <a:srgbClr val="000000"/>
                          </a:solidFill>
                          <a:latin typeface="Times New Roman"/>
                        </a:rPr>
                        <a:t>    </a:t>
                      </a:r>
                      <a:r>
                        <a:rPr sz="1100" b="0" i="1">
                          <a:solidFill>
                            <a:srgbClr val="000000"/>
                          </a:solidFill>
                          <a:latin typeface="Calibri"/>
                        </a:rPr>
                        <a:t>Dairy-free</a:t>
                      </a:r>
                      <a:endParaRPr sz="1100"/>
                    </a:p>
                  </a:txBody>
                  <a:tcPr marL="1028700" marR="9525" marT="9525" marB="0" anchor="ctr"/>
                </a:tc>
              </a:tr>
              <a:tr h="175260">
                <a:tc>
                  <a:txBody>
                    <a:bodyPr wrap="square"/>
                    <a:lstStyle/>
                    <a:p>
                      <a:pPr algn="l"/>
                      <a:r>
                        <a:rPr sz="1100" b="0" i="1">
                          <a:solidFill>
                            <a:srgbClr val="000000"/>
                          </a:solidFill>
                          <a:latin typeface="Calibri"/>
                        </a:rPr>
                        <a:t>8.5.3.7.</a:t>
                      </a:r>
                      <a:r>
                        <a:rPr sz="700" b="0" i="1">
                          <a:solidFill>
                            <a:srgbClr val="000000"/>
                          </a:solidFill>
                          <a:latin typeface="Times New Roman"/>
                        </a:rPr>
                        <a:t>    </a:t>
                      </a:r>
                      <a:r>
                        <a:rPr sz="1100" b="0" i="1">
                          <a:solidFill>
                            <a:srgbClr val="000000"/>
                          </a:solidFill>
                          <a:latin typeface="Calibri"/>
                        </a:rPr>
                        <a:t>Egg-free</a:t>
                      </a:r>
                      <a:endParaRPr sz="1100"/>
                    </a:p>
                  </a:txBody>
                  <a:tcPr marL="1028700" marR="9525" marT="9525" marB="0" anchor="ctr"/>
                </a:tc>
              </a:tr>
              <a:tr h="175260">
                <a:tc>
                  <a:txBody>
                    <a:bodyPr wrap="square"/>
                    <a:lstStyle/>
                    <a:p>
                      <a:pPr algn="l"/>
                      <a:r>
                        <a:rPr sz="1100" b="0" i="1">
                          <a:solidFill>
                            <a:srgbClr val="000000"/>
                          </a:solidFill>
                          <a:latin typeface="Calibri"/>
                        </a:rPr>
                        <a:t>8.5.3.8.</a:t>
                      </a:r>
                      <a:r>
                        <a:rPr sz="700" b="0" i="1">
                          <a:solidFill>
                            <a:srgbClr val="000000"/>
                          </a:solidFill>
                          <a:latin typeface="Times New Roman"/>
                        </a:rPr>
                        <a:t>    </a:t>
                      </a:r>
                      <a:r>
                        <a:rPr sz="1100" b="0" i="1">
                          <a:solidFill>
                            <a:srgbClr val="000000"/>
                          </a:solidFill>
                          <a:latin typeface="Calibri"/>
                        </a:rPr>
                        <a:t>Nut-free</a:t>
                      </a:r>
                      <a:endParaRPr sz="1100"/>
                    </a:p>
                  </a:txBody>
                  <a:tcPr marL="1028700"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Product Structure</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1">
                          <a:solidFill>
                            <a:srgbClr val="000000"/>
                          </a:solidFill>
                          <a:latin typeface="Calibri"/>
                        </a:rPr>
                        <a:t>9.5.1.1.</a:t>
                      </a:r>
                      <a:r>
                        <a:rPr sz="700" b="0" i="1">
                          <a:solidFill>
                            <a:srgbClr val="000000"/>
                          </a:solidFill>
                          <a:latin typeface="Times New Roman"/>
                        </a:rPr>
                        <a:t>    </a:t>
                      </a:r>
                      <a:r>
                        <a:rPr sz="1100" b="0" i="1">
                          <a:solidFill>
                            <a:srgbClr val="000000"/>
                          </a:solidFill>
                          <a:latin typeface="Calibri"/>
                        </a:rPr>
                        <a:t>Unfilled muffins</a:t>
                      </a:r>
                      <a:endParaRPr sz="1100"/>
                    </a:p>
                  </a:txBody>
                  <a:tcPr marL="1028700" marR="9525" marT="9525" marB="0" anchor="ctr"/>
                </a:tc>
              </a:tr>
              <a:tr h="175260">
                <a:tc>
                  <a:txBody>
                    <a:bodyPr wrap="square"/>
                    <a:lstStyle/>
                    <a:p>
                      <a:pPr algn="l"/>
                      <a:r>
                        <a:rPr sz="1100" b="0" i="1">
                          <a:solidFill>
                            <a:srgbClr val="000000"/>
                          </a:solidFill>
                          <a:latin typeface="Calibri"/>
                        </a:rPr>
                        <a:t>9.5.1.1.1.</a:t>
                      </a:r>
                      <a:r>
                        <a:rPr sz="700" b="0" i="1">
                          <a:solidFill>
                            <a:srgbClr val="000000"/>
                          </a:solidFill>
                          <a:latin typeface="Times New Roman"/>
                        </a:rPr>
                        <a:t>    </a:t>
                      </a:r>
                      <a:r>
                        <a:rPr sz="1100" b="0" i="1">
                          <a:solidFill>
                            <a:srgbClr val="000000"/>
                          </a:solidFill>
                          <a:latin typeface="Calibri"/>
                        </a:rPr>
                        <a:t>Plain batter</a:t>
                      </a:r>
                      <a:endParaRPr sz="1100"/>
                    </a:p>
                  </a:txBody>
                  <a:tcPr marL="1257300" marR="9525" marT="9525" marB="0" anchor="ctr"/>
                </a:tc>
              </a:tr>
              <a:tr h="175260">
                <a:tc>
                  <a:txBody>
                    <a:bodyPr wrap="square"/>
                    <a:lstStyle/>
                    <a:p>
                      <a:pPr algn="l"/>
                      <a:r>
                        <a:rPr sz="1100" b="0" i="1">
                          <a:solidFill>
                            <a:srgbClr val="000000"/>
                          </a:solidFill>
                          <a:latin typeface="Calibri"/>
                        </a:rPr>
                        <a:t>9.5.1.1.2.</a:t>
                      </a:r>
                      <a:r>
                        <a:rPr sz="700" b="0" i="1">
                          <a:solidFill>
                            <a:srgbClr val="000000"/>
                          </a:solidFill>
                          <a:latin typeface="Times New Roman"/>
                        </a:rPr>
                        <a:t>    </a:t>
                      </a:r>
                      <a:r>
                        <a:rPr sz="1100" b="0" i="1">
                          <a:solidFill>
                            <a:srgbClr val="000000"/>
                          </a:solidFill>
                          <a:latin typeface="Calibri"/>
                        </a:rPr>
                        <a:t>Batter with inclusions</a:t>
                      </a:r>
                      <a:endParaRPr sz="1100"/>
                    </a:p>
                  </a:txBody>
                  <a:tcPr marL="1257300" marR="9525" marT="9525" marB="0" anchor="ctr"/>
                </a:tc>
              </a:tr>
              <a:tr h="175260">
                <a:tc>
                  <a:txBody>
                    <a:bodyPr wrap="square"/>
                    <a:lstStyle/>
                    <a:p>
                      <a:pPr algn="l"/>
                      <a:r>
                        <a:rPr sz="1100" b="0" i="1">
                          <a:solidFill>
                            <a:srgbClr val="000000"/>
                          </a:solidFill>
                          <a:latin typeface="Calibri"/>
                        </a:rPr>
                        <a:t>9.5.1.2.</a:t>
                      </a:r>
                      <a:r>
                        <a:rPr sz="700" b="0" i="1">
                          <a:solidFill>
                            <a:srgbClr val="000000"/>
                          </a:solidFill>
                          <a:latin typeface="Times New Roman"/>
                        </a:rPr>
                        <a:t>    </a:t>
                      </a:r>
                      <a:r>
                        <a:rPr sz="1100" b="0" i="1">
                          <a:solidFill>
                            <a:srgbClr val="000000"/>
                          </a:solidFill>
                          <a:latin typeface="Calibri"/>
                        </a:rPr>
                        <a:t>Filled muffins</a:t>
                      </a:r>
                      <a:endParaRPr sz="1100"/>
                    </a:p>
                  </a:txBody>
                  <a:tcPr marL="1028700" marR="9525" marT="9525" marB="0" anchor="ctr"/>
                </a:tc>
              </a:tr>
              <a:tr h="175260">
                <a:tc>
                  <a:txBody>
                    <a:bodyPr wrap="square"/>
                    <a:lstStyle/>
                    <a:p>
                      <a:pPr algn="l"/>
                      <a:r>
                        <a:rPr sz="1100" b="0" i="1">
                          <a:solidFill>
                            <a:srgbClr val="000000"/>
                          </a:solidFill>
                          <a:latin typeface="Calibri"/>
                        </a:rPr>
                        <a:t>9.5.1.2.1.</a:t>
                      </a:r>
                      <a:r>
                        <a:rPr sz="700" b="0" i="1">
                          <a:solidFill>
                            <a:srgbClr val="000000"/>
                          </a:solidFill>
                          <a:latin typeface="Times New Roman"/>
                        </a:rPr>
                        <a:t>    </a:t>
                      </a:r>
                      <a:r>
                        <a:rPr sz="1100" b="0" i="1">
                          <a:solidFill>
                            <a:srgbClr val="000000"/>
                          </a:solidFill>
                          <a:latin typeface="Calibri"/>
                        </a:rPr>
                        <a:t>Fruit and jam-filled</a:t>
                      </a:r>
                      <a:endParaRPr sz="1100"/>
                    </a:p>
                  </a:txBody>
                  <a:tcPr marL="1257300" marR="9525" marT="9525" marB="0" anchor="ctr"/>
                </a:tc>
              </a:tr>
              <a:tr h="175260">
                <a:tc>
                  <a:txBody>
                    <a:bodyPr wrap="square"/>
                    <a:lstStyle/>
                    <a:p>
                      <a:pPr algn="l"/>
                      <a:r>
                        <a:rPr sz="1100" b="0" i="1">
                          <a:solidFill>
                            <a:srgbClr val="000000"/>
                          </a:solidFill>
                          <a:latin typeface="Calibri"/>
                        </a:rPr>
                        <a:t>9.5.1.2.2.</a:t>
                      </a:r>
                      <a:r>
                        <a:rPr sz="700" b="0" i="1">
                          <a:solidFill>
                            <a:srgbClr val="000000"/>
                          </a:solidFill>
                          <a:latin typeface="Times New Roman"/>
                        </a:rPr>
                        <a:t>    </a:t>
                      </a:r>
                      <a:r>
                        <a:rPr sz="1100" b="0" i="1">
                          <a:solidFill>
                            <a:srgbClr val="000000"/>
                          </a:solidFill>
                          <a:latin typeface="Calibri"/>
                        </a:rPr>
                        <a:t>Chocolate-filled</a:t>
                      </a:r>
                      <a:endParaRPr sz="1100"/>
                    </a:p>
                  </a:txBody>
                  <a:tcPr marL="1257300" marR="9525" marT="9525" marB="0" anchor="ctr"/>
                </a:tc>
              </a:tr>
              <a:tr h="175260">
                <a:tc>
                  <a:txBody>
                    <a:bodyPr wrap="square"/>
                    <a:lstStyle/>
                    <a:p>
                      <a:pPr algn="l"/>
                      <a:r>
                        <a:rPr sz="1100" b="0" i="1">
                          <a:solidFill>
                            <a:srgbClr val="000000"/>
                          </a:solidFill>
                          <a:latin typeface="Calibri"/>
                        </a:rPr>
                        <a:t>9.5.1.2.3.</a:t>
                      </a:r>
                      <a:r>
                        <a:rPr sz="700" b="0" i="1">
                          <a:solidFill>
                            <a:srgbClr val="000000"/>
                          </a:solidFill>
                          <a:latin typeface="Times New Roman"/>
                        </a:rPr>
                        <a:t>    </a:t>
                      </a:r>
                      <a:r>
                        <a:rPr sz="1100" b="0" i="1">
                          <a:solidFill>
                            <a:srgbClr val="000000"/>
                          </a:solidFill>
                          <a:latin typeface="Calibri"/>
                        </a:rPr>
                        <a:t>Cream and custard-filled</a:t>
                      </a:r>
                      <a:endParaRPr sz="1100"/>
                    </a:p>
                  </a:txBody>
                  <a:tcPr marL="1257300" marR="9525" marT="9525" marB="0" anchor="ctr"/>
                </a:tc>
              </a:tr>
              <a:tr h="175260">
                <a:tc>
                  <a:txBody>
                    <a:bodyPr wrap="square"/>
                    <a:lstStyle/>
                    <a:p>
                      <a:pPr algn="l"/>
                      <a:r>
                        <a:rPr sz="1100" b="0" i="1">
                          <a:solidFill>
                            <a:srgbClr val="000000"/>
                          </a:solidFill>
                          <a:latin typeface="Calibri"/>
                        </a:rPr>
                        <a:t>9.5.1.2.4.</a:t>
                      </a:r>
                      <a:r>
                        <a:rPr sz="700" b="0" i="1">
                          <a:solidFill>
                            <a:srgbClr val="000000"/>
                          </a:solidFill>
                          <a:latin typeface="Times New Roman"/>
                        </a:rPr>
                        <a:t>    </a:t>
                      </a:r>
                      <a:r>
                        <a:rPr sz="1100" b="0" i="1">
                          <a:solidFill>
                            <a:srgbClr val="000000"/>
                          </a:solidFill>
                          <a:latin typeface="Calibri"/>
                        </a:rPr>
                        <a:t>Nut butter-filled</a:t>
                      </a:r>
                      <a:endParaRPr sz="1100"/>
                    </a:p>
                  </a:txBody>
                  <a:tcPr marL="1257300" marR="9525" marT="9525" marB="0" anchor="ctr"/>
                </a:tc>
              </a:tr>
              <a:tr h="175260">
                <a:tc>
                  <a:txBody>
                    <a:bodyPr wrap="square"/>
                    <a:lstStyle/>
                    <a:p>
                      <a:pPr algn="l"/>
                      <a:r>
                        <a:rPr sz="1100" b="0" i="1">
                          <a:solidFill>
                            <a:srgbClr val="000000"/>
                          </a:solidFill>
                          <a:latin typeface="Calibri"/>
                        </a:rPr>
                        <a:t>9.5.1.2.5.</a:t>
                      </a:r>
                      <a:r>
                        <a:rPr sz="700" b="0" i="1">
                          <a:solidFill>
                            <a:srgbClr val="000000"/>
                          </a:solidFill>
                          <a:latin typeface="Times New Roman"/>
                        </a:rPr>
                        <a:t>    </a:t>
                      </a:r>
                      <a:r>
                        <a:rPr sz="1100" b="0" i="1">
                          <a:solidFill>
                            <a:srgbClr val="000000"/>
                          </a:solidFill>
                          <a:latin typeface="Calibri"/>
                        </a:rPr>
                        <a:t>Cheese and savoury-filled</a:t>
                      </a:r>
                      <a:endParaRPr sz="1100"/>
                    </a:p>
                  </a:txBody>
                  <a:tcPr marL="1257300"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Global Market (Value- Volume) Analysis 2021–2036, By Surface Finish</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10.5.1.</a:t>
                      </a:r>
                      <a:r>
                        <a:rPr sz="700" b="0" i="0">
                          <a:solidFill>
                            <a:srgbClr val="000000"/>
                          </a:solidFill>
                          <a:latin typeface="Times New Roman"/>
                        </a:rPr>
                        <a:t> </a:t>
                      </a:r>
                      <a:r>
                        <a:rPr sz="1100" b="0" i="0">
                          <a:solidFill>
                            <a:srgbClr val="000000"/>
                          </a:solidFill>
                          <a:latin typeface="Calibri"/>
                        </a:rPr>
                        <a:t>Untopped</a:t>
                      </a:r>
                      <a:endParaRPr sz="1100"/>
                    </a:p>
                  </a:txBody>
                  <a:tcPr marL="771525" marR="9525" marT="9525" marB="0" anchor="ctr"/>
                </a:tc>
              </a:tr>
              <a:tr h="175260">
                <a:tc>
                  <a:txBody>
                    <a:bodyPr wrap="square"/>
                    <a:lstStyle/>
                    <a:p>
                      <a:pPr algn="l"/>
                      <a:r>
                        <a:rPr sz="1100" b="0" i="0">
                          <a:solidFill>
                            <a:srgbClr val="000000"/>
                          </a:solidFill>
                          <a:latin typeface="Calibri"/>
                        </a:rPr>
                        <a:t>10.5.2.</a:t>
                      </a:r>
                      <a:r>
                        <a:rPr sz="700" b="0" i="0">
                          <a:solidFill>
                            <a:srgbClr val="000000"/>
                          </a:solidFill>
                          <a:latin typeface="Times New Roman"/>
                        </a:rPr>
                        <a:t> </a:t>
                      </a:r>
                      <a:r>
                        <a:rPr sz="1100" b="0" i="0">
                          <a:solidFill>
                            <a:srgbClr val="000000"/>
                          </a:solidFill>
                          <a:latin typeface="Calibri"/>
                        </a:rPr>
                        <a:t>Crumb/streusel-topped</a:t>
                      </a:r>
                      <a:endParaRPr sz="1100"/>
                    </a:p>
                  </a:txBody>
                  <a:tcPr marL="771525" marR="9525" marT="9525" marB="0" anchor="ctr"/>
                </a:tc>
              </a:tr>
              <a:tr h="175260">
                <a:tc>
                  <a:txBody>
                    <a:bodyPr wrap="square"/>
                    <a:lstStyle/>
                    <a:p>
                      <a:pPr algn="l"/>
                      <a:r>
                        <a:rPr sz="1100" b="0" i="0">
                          <a:solidFill>
                            <a:srgbClr val="000000"/>
                          </a:solidFill>
                          <a:latin typeface="Calibri"/>
                        </a:rPr>
                        <a:t>10.5.3.</a:t>
                      </a:r>
                      <a:r>
                        <a:rPr sz="700" b="0" i="0">
                          <a:solidFill>
                            <a:srgbClr val="000000"/>
                          </a:solidFill>
                          <a:latin typeface="Times New Roman"/>
                        </a:rPr>
                        <a:t> </a:t>
                      </a:r>
                      <a:r>
                        <a:rPr sz="1100" b="0" i="0">
                          <a:solidFill>
                            <a:srgbClr val="000000"/>
                          </a:solidFill>
                          <a:latin typeface="Calibri"/>
                        </a:rPr>
                        <a:t>Sugar-topped</a:t>
                      </a:r>
                      <a:endParaRPr sz="1100"/>
                    </a:p>
                  </a:txBody>
                  <a:tcPr marL="771525" marR="9525" marT="9525" marB="0" anchor="ctr"/>
                </a:tc>
              </a:tr>
              <a:tr h="175260">
                <a:tc>
                  <a:txBody>
                    <a:bodyPr wrap="square"/>
                    <a:lstStyle/>
                    <a:p>
                      <a:pPr algn="l"/>
                      <a:r>
                        <a:rPr sz="1100" b="0" i="0">
                          <a:solidFill>
                            <a:srgbClr val="000000"/>
                          </a:solidFill>
                          <a:latin typeface="Calibri"/>
                        </a:rPr>
                        <a:t>10.5.4.</a:t>
                      </a:r>
                      <a:r>
                        <a:rPr sz="700" b="0" i="0">
                          <a:solidFill>
                            <a:srgbClr val="000000"/>
                          </a:solidFill>
                          <a:latin typeface="Times New Roman"/>
                        </a:rPr>
                        <a:t> </a:t>
                      </a:r>
                      <a:r>
                        <a:rPr sz="1100" b="0" i="0">
                          <a:solidFill>
                            <a:srgbClr val="000000"/>
                          </a:solidFill>
                          <a:latin typeface="Calibri"/>
                        </a:rPr>
                        <a:t>Nut and seed-topped</a:t>
                      </a:r>
                      <a:endParaRPr sz="1100"/>
                    </a:p>
                  </a:txBody>
                  <a:tcPr marL="771525" marR="9525" marT="9525" marB="0" anchor="ctr"/>
                </a:tc>
              </a:tr>
              <a:tr h="175260">
                <a:tc>
                  <a:txBody>
                    <a:bodyPr wrap="square"/>
                    <a:lstStyle/>
                    <a:p>
                      <a:pPr algn="l"/>
                      <a:r>
                        <a:rPr sz="1100" b="0" i="0">
                          <a:solidFill>
                            <a:srgbClr val="000000"/>
                          </a:solidFill>
                          <a:latin typeface="Calibri"/>
                        </a:rPr>
                        <a:t>10.5.5.</a:t>
                      </a:r>
                      <a:r>
                        <a:rPr sz="700" b="0" i="0">
                          <a:solidFill>
                            <a:srgbClr val="000000"/>
                          </a:solidFill>
                          <a:latin typeface="Times New Roman"/>
                        </a:rPr>
                        <a:t> </a:t>
                      </a:r>
                      <a:r>
                        <a:rPr sz="1100" b="0" i="0">
                          <a:solidFill>
                            <a:srgbClr val="000000"/>
                          </a:solidFill>
                          <a:latin typeface="Calibri"/>
                        </a:rPr>
                        <a:t>Glazed/drizzled</a:t>
                      </a:r>
                      <a:endParaRPr sz="1100"/>
                    </a:p>
                  </a:txBody>
                  <a:tcPr marL="771525" marR="9525" marT="9525" marB="0" anchor="ctr"/>
                </a:tc>
              </a:tr>
              <a:tr h="175260">
                <a:tc>
                  <a:txBody>
                    <a:bodyPr wrap="square"/>
                    <a:lstStyle/>
                    <a:p>
                      <a:pPr algn="l"/>
                      <a:r>
                        <a:rPr sz="1100" b="0" i="0">
                          <a:solidFill>
                            <a:srgbClr val="000000"/>
                          </a:solidFill>
                          <a:latin typeface="Calibri"/>
                        </a:rPr>
                        <a:t>10.5.6.</a:t>
                      </a:r>
                      <a:r>
                        <a:rPr sz="700" b="0" i="0">
                          <a:solidFill>
                            <a:srgbClr val="000000"/>
                          </a:solidFill>
                          <a:latin typeface="Times New Roman"/>
                        </a:rPr>
                        <a:t> </a:t>
                      </a:r>
                      <a:r>
                        <a:rPr sz="1100" b="0" i="0">
                          <a:solidFill>
                            <a:srgbClr val="000000"/>
                          </a:solidFill>
                          <a:latin typeface="Calibri"/>
                        </a:rPr>
                        <a:t>Other toppings</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Global Market (Value- Volume) Analysis 2021–2036, By Individual Muffin Size</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11.5.1.</a:t>
                      </a:r>
                      <a:r>
                        <a:rPr sz="700" b="0" i="0">
                          <a:solidFill>
                            <a:srgbClr val="000000"/>
                          </a:solidFill>
                          <a:latin typeface="Times New Roman"/>
                        </a:rPr>
                        <a:t> </a:t>
                      </a:r>
                      <a:r>
                        <a:rPr sz="1100" b="0" i="0">
                          <a:solidFill>
                            <a:srgbClr val="000000"/>
                          </a:solidFill>
                          <a:latin typeface="Calibri"/>
                        </a:rPr>
                        <a:t>Mini/bite-sized - below 30 g</a:t>
                      </a:r>
                      <a:endParaRPr sz="1100"/>
                    </a:p>
                  </a:txBody>
                  <a:tcPr marL="771525" marR="9525" marT="9525" marB="0" anchor="ctr"/>
                </a:tc>
              </a:tr>
              <a:tr h="175260">
                <a:tc>
                  <a:txBody>
                    <a:bodyPr wrap="square"/>
                    <a:lstStyle/>
                    <a:p>
                      <a:pPr algn="l"/>
                      <a:r>
                        <a:rPr sz="1100" b="0" i="0">
                          <a:solidFill>
                            <a:srgbClr val="000000"/>
                          </a:solidFill>
                          <a:latin typeface="Calibri"/>
                        </a:rPr>
                        <a:t>11.5.2.</a:t>
                      </a:r>
                      <a:r>
                        <a:rPr sz="700" b="0" i="0">
                          <a:solidFill>
                            <a:srgbClr val="000000"/>
                          </a:solidFill>
                          <a:latin typeface="Times New Roman"/>
                        </a:rPr>
                        <a:t> </a:t>
                      </a:r>
                      <a:r>
                        <a:rPr sz="1100" b="0" i="0">
                          <a:solidFill>
                            <a:srgbClr val="000000"/>
                          </a:solidFill>
                          <a:latin typeface="Calibri"/>
                        </a:rPr>
                        <a:t>Small - 30 g to below 60 g</a:t>
                      </a:r>
                      <a:endParaRPr sz="1100"/>
                    </a:p>
                  </a:txBody>
                  <a:tcPr marL="771525" marR="9525" marT="9525" marB="0" anchor="ctr"/>
                </a:tc>
              </a:tr>
              <a:tr h="175260">
                <a:tc>
                  <a:txBody>
                    <a:bodyPr wrap="square"/>
                    <a:lstStyle/>
                    <a:p>
                      <a:pPr algn="l"/>
                      <a:r>
                        <a:rPr sz="1100" b="0" i="0">
                          <a:solidFill>
                            <a:srgbClr val="000000"/>
                          </a:solidFill>
                          <a:latin typeface="Calibri"/>
                        </a:rPr>
                        <a:t>11.5.3.</a:t>
                      </a:r>
                      <a:r>
                        <a:rPr sz="700" b="0" i="0">
                          <a:solidFill>
                            <a:srgbClr val="000000"/>
                          </a:solidFill>
                          <a:latin typeface="Times New Roman"/>
                        </a:rPr>
                        <a:t> </a:t>
                      </a:r>
                      <a:r>
                        <a:rPr sz="1100" b="0" i="0">
                          <a:solidFill>
                            <a:srgbClr val="000000"/>
                          </a:solidFill>
                          <a:latin typeface="Calibri"/>
                        </a:rPr>
                        <a:t>Standard - 60 g to below 100 g</a:t>
                      </a:r>
                      <a:endParaRPr sz="1100"/>
                    </a:p>
                  </a:txBody>
                  <a:tcPr marL="771525" marR="9525" marT="9525" marB="0" anchor="ctr"/>
                </a:tc>
              </a:tr>
              <a:tr h="175260">
                <a:tc>
                  <a:txBody>
                    <a:bodyPr wrap="square"/>
                    <a:lstStyle/>
                    <a:p>
                      <a:pPr algn="l"/>
                      <a:r>
                        <a:rPr sz="1100" b="0" i="0">
                          <a:solidFill>
                            <a:srgbClr val="000000"/>
                          </a:solidFill>
                          <a:latin typeface="Calibri"/>
                        </a:rPr>
                        <a:t>11.5.4.</a:t>
                      </a:r>
                      <a:r>
                        <a:rPr sz="700" b="0" i="0">
                          <a:solidFill>
                            <a:srgbClr val="000000"/>
                          </a:solidFill>
                          <a:latin typeface="Times New Roman"/>
                        </a:rPr>
                        <a:t> </a:t>
                      </a:r>
                      <a:r>
                        <a:rPr sz="1100" b="0" i="0">
                          <a:solidFill>
                            <a:srgbClr val="000000"/>
                          </a:solidFill>
                          <a:latin typeface="Calibri"/>
                        </a:rPr>
                        <a:t>Large/jumbo - 100 g and above</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Global Market (Value- Volume) Analysis 2021–2036, By Sales Channel</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12.5.1.</a:t>
                      </a:r>
                      <a:r>
                        <a:rPr sz="700" b="0" i="0">
                          <a:solidFill>
                            <a:srgbClr val="000000"/>
                          </a:solidFill>
                          <a:latin typeface="Times New Roman"/>
                        </a:rPr>
                        <a:t> </a:t>
                      </a:r>
                      <a:r>
                        <a:rPr sz="1100" b="0" i="0">
                          <a:solidFill>
                            <a:srgbClr val="000000"/>
                          </a:solidFill>
                          <a:latin typeface="Calibri"/>
                        </a:rPr>
                        <a:t>Ambient</a:t>
                      </a:r>
                      <a:endParaRPr sz="1100"/>
                    </a:p>
                  </a:txBody>
                  <a:tcPr marL="771525" marR="9525" marT="9525" marB="0" anchor="ctr"/>
                </a:tc>
              </a:tr>
              <a:tr h="175260">
                <a:tc>
                  <a:txBody>
                    <a:bodyPr wrap="square"/>
                    <a:lstStyle/>
                    <a:p>
                      <a:pPr algn="l"/>
                      <a:r>
                        <a:rPr sz="1100" b="0" i="0">
                          <a:solidFill>
                            <a:srgbClr val="000000"/>
                          </a:solidFill>
                          <a:latin typeface="Calibri"/>
                        </a:rPr>
                        <a:t>12.5.2.</a:t>
                      </a:r>
                      <a:r>
                        <a:rPr sz="700" b="0" i="0">
                          <a:solidFill>
                            <a:srgbClr val="000000"/>
                          </a:solidFill>
                          <a:latin typeface="Times New Roman"/>
                        </a:rPr>
                        <a:t> </a:t>
                      </a:r>
                      <a:r>
                        <a:rPr sz="1100" b="0" i="0">
                          <a:solidFill>
                            <a:srgbClr val="000000"/>
                          </a:solidFill>
                          <a:latin typeface="Calibri"/>
                        </a:rPr>
                        <a:t>Chilled</a:t>
                      </a:r>
                      <a:endParaRPr sz="1100"/>
                    </a:p>
                  </a:txBody>
                  <a:tcPr marL="771525" marR="9525" marT="9525" marB="0" anchor="ctr"/>
                </a:tc>
              </a:tr>
              <a:tr h="175260">
                <a:tc>
                  <a:txBody>
                    <a:bodyPr wrap="square"/>
                    <a:lstStyle/>
                    <a:p>
                      <a:pPr algn="l"/>
                      <a:r>
                        <a:rPr sz="1100" b="0" i="0">
                          <a:solidFill>
                            <a:srgbClr val="000000"/>
                          </a:solidFill>
                          <a:latin typeface="Calibri"/>
                        </a:rPr>
                        <a:t>12.5.3.</a:t>
                      </a:r>
                      <a:r>
                        <a:rPr sz="700" b="0" i="0">
                          <a:solidFill>
                            <a:srgbClr val="000000"/>
                          </a:solidFill>
                          <a:latin typeface="Times New Roman"/>
                        </a:rPr>
                        <a:t> </a:t>
                      </a:r>
                      <a:r>
                        <a:rPr sz="1100" b="0" i="0">
                          <a:solidFill>
                            <a:srgbClr val="000000"/>
                          </a:solidFill>
                          <a:latin typeface="Calibri"/>
                        </a:rPr>
                        <a:t>Frozen</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Global Market (Value- Volume) Analysis 2021–2036, By Shelf Life</a:t>
                      </a:r>
                      <a:endParaRPr sz="1100"/>
                    </a:p>
                  </a:txBody>
                  <a:tcPr marL="171450" marR="9525" marT="9525" marB="0" anchor="ctr"/>
                </a:tc>
              </a:tr>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13.5.1.</a:t>
                      </a:r>
                      <a:r>
                        <a:rPr sz="700" b="0" i="0">
                          <a:solidFill>
                            <a:srgbClr val="000000"/>
                          </a:solidFill>
                          <a:latin typeface="Times New Roman"/>
                        </a:rPr>
                        <a:t> </a:t>
                      </a:r>
                      <a:r>
                        <a:rPr sz="1100" b="0" i="0">
                          <a:solidFill>
                            <a:srgbClr val="000000"/>
                          </a:solidFill>
                          <a:latin typeface="Calibri"/>
                        </a:rPr>
                        <a:t>Up to 7 days</a:t>
                      </a:r>
                      <a:endParaRPr sz="1100"/>
                    </a:p>
                  </a:txBody>
                  <a:tcPr marL="771525" marR="9525" marT="9525" marB="0" anchor="ctr"/>
                </a:tc>
              </a:tr>
              <a:tr h="175260">
                <a:tc>
                  <a:txBody>
                    <a:bodyPr wrap="square"/>
                    <a:lstStyle/>
                    <a:p>
                      <a:pPr algn="l"/>
                      <a:r>
                        <a:rPr sz="1100" b="0" i="0">
                          <a:solidFill>
                            <a:srgbClr val="000000"/>
                          </a:solidFill>
                          <a:latin typeface="Calibri"/>
                        </a:rPr>
                        <a:t>13.5.2.</a:t>
                      </a:r>
                      <a:r>
                        <a:rPr sz="700" b="0" i="0">
                          <a:solidFill>
                            <a:srgbClr val="000000"/>
                          </a:solidFill>
                          <a:latin typeface="Times New Roman"/>
                        </a:rPr>
                        <a:t> </a:t>
                      </a:r>
                      <a:r>
                        <a:rPr sz="1100" b="0" i="0">
                          <a:solidFill>
                            <a:srgbClr val="000000"/>
                          </a:solidFill>
                          <a:latin typeface="Calibri"/>
                        </a:rPr>
                        <a:t>8–30 days</a:t>
                      </a:r>
                      <a:endParaRPr sz="1100"/>
                    </a:p>
                  </a:txBody>
                  <a:tcPr marL="771525" marR="9525" marT="9525" marB="0" anchor="ctr"/>
                </a:tc>
              </a:tr>
              <a:tr h="175260">
                <a:tc>
                  <a:txBody>
                    <a:bodyPr wrap="square"/>
                    <a:lstStyle/>
                    <a:p>
                      <a:pPr algn="l"/>
                      <a:r>
                        <a:rPr sz="1100" b="0" i="0">
                          <a:solidFill>
                            <a:srgbClr val="000000"/>
                          </a:solidFill>
                          <a:latin typeface="Calibri"/>
                        </a:rPr>
                        <a:t>13.5.3.</a:t>
                      </a:r>
                      <a:r>
                        <a:rPr sz="700" b="0" i="0">
                          <a:solidFill>
                            <a:srgbClr val="000000"/>
                          </a:solidFill>
                          <a:latin typeface="Times New Roman"/>
                        </a:rPr>
                        <a:t> </a:t>
                      </a:r>
                      <a:r>
                        <a:rPr sz="1100" b="0" i="0">
                          <a:solidFill>
                            <a:srgbClr val="000000"/>
                          </a:solidFill>
                          <a:latin typeface="Calibri"/>
                        </a:rPr>
                        <a:t>31–90 days</a:t>
                      </a:r>
                      <a:endParaRPr sz="1100"/>
                    </a:p>
                  </a:txBody>
                  <a:tcPr marL="771525" marR="9525" marT="9525" marB="0" anchor="ctr"/>
                </a:tc>
              </a:tr>
              <a:tr h="175260">
                <a:tc>
                  <a:txBody>
                    <a:bodyPr wrap="square"/>
                    <a:lstStyle/>
                    <a:p>
                      <a:pPr algn="l"/>
                      <a:r>
                        <a:rPr sz="1100" b="0" i="0">
                          <a:solidFill>
                            <a:srgbClr val="000000"/>
                          </a:solidFill>
                          <a:latin typeface="Calibri"/>
                        </a:rPr>
                        <a:t>13.5.4.</a:t>
                      </a:r>
                      <a:r>
                        <a:rPr sz="700" b="0" i="0">
                          <a:solidFill>
                            <a:srgbClr val="000000"/>
                          </a:solidFill>
                          <a:latin typeface="Times New Roman"/>
                        </a:rPr>
                        <a:t> </a:t>
                      </a:r>
                      <a:r>
                        <a:rPr sz="1100" b="0" i="0">
                          <a:solidFill>
                            <a:srgbClr val="000000"/>
                          </a:solidFill>
                          <a:latin typeface="Calibri"/>
                        </a:rPr>
                        <a:t>More than 90 days</a:t>
                      </a:r>
                      <a:endParaRPr sz="1100"/>
                    </a:p>
                  </a:txBody>
                  <a:tcPr marL="771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Market (Value- Volume) Analysis 2021–2036, By Packaging Format</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14.5.1.</a:t>
                      </a:r>
                      <a:r>
                        <a:rPr sz="700" b="0" i="0">
                          <a:solidFill>
                            <a:srgbClr val="000000"/>
                          </a:solidFill>
                          <a:latin typeface="Times New Roman"/>
                        </a:rPr>
                        <a:t> </a:t>
                      </a:r>
                      <a:r>
                        <a:rPr sz="1100" b="0" i="0">
                          <a:solidFill>
                            <a:srgbClr val="000000"/>
                          </a:solidFill>
                          <a:latin typeface="Calibri"/>
                        </a:rPr>
                        <a:t>Flexible packs</a:t>
                      </a:r>
                      <a:endParaRPr sz="1100"/>
                    </a:p>
                  </a:txBody>
                  <a:tcPr marL="771525" marR="9525" marT="9525" marB="0" anchor="ctr"/>
                </a:tc>
              </a:tr>
              <a:tr h="175260">
                <a:tc>
                  <a:txBody>
                    <a:bodyPr wrap="square"/>
                    <a:lstStyle/>
                    <a:p>
                      <a:pPr algn="l"/>
                      <a:r>
                        <a:rPr sz="1100" b="0" i="1">
                          <a:solidFill>
                            <a:srgbClr val="000000"/>
                          </a:solidFill>
                          <a:latin typeface="Calibri"/>
                        </a:rPr>
                        <a:t>14.5.1.1.</a:t>
                      </a:r>
                      <a:r>
                        <a:rPr sz="700" b="0" i="1">
                          <a:solidFill>
                            <a:srgbClr val="000000"/>
                          </a:solidFill>
                          <a:latin typeface="Times New Roman"/>
                        </a:rPr>
                        <a:t> </a:t>
                      </a:r>
                      <a:r>
                        <a:rPr sz="1100" b="0" i="1">
                          <a:solidFill>
                            <a:srgbClr val="000000"/>
                          </a:solidFill>
                          <a:latin typeface="Calibri"/>
                        </a:rPr>
                        <a:t>Flow-wrap packs</a:t>
                      </a:r>
                      <a:endParaRPr sz="1100"/>
                    </a:p>
                  </a:txBody>
                  <a:tcPr marL="1028700" marR="9525" marT="9525" marB="0" anchor="ctr"/>
                </a:tc>
              </a:tr>
              <a:tr h="175260">
                <a:tc>
                  <a:txBody>
                    <a:bodyPr wrap="square"/>
                    <a:lstStyle/>
                    <a:p>
                      <a:pPr algn="l"/>
                      <a:r>
                        <a:rPr sz="1100" b="0" i="1">
                          <a:solidFill>
                            <a:srgbClr val="000000"/>
                          </a:solidFill>
                          <a:latin typeface="Calibri"/>
                        </a:rPr>
                        <a:t>14.5.1.2.</a:t>
                      </a:r>
                      <a:r>
                        <a:rPr sz="700" b="0" i="1">
                          <a:solidFill>
                            <a:srgbClr val="000000"/>
                          </a:solidFill>
                          <a:latin typeface="Times New Roman"/>
                        </a:rPr>
                        <a:t> </a:t>
                      </a:r>
                      <a:r>
                        <a:rPr sz="1100" b="0" i="1">
                          <a:solidFill>
                            <a:srgbClr val="000000"/>
                          </a:solidFill>
                          <a:latin typeface="Calibri"/>
                        </a:rPr>
                        <a:t>Pouches and bags</a:t>
                      </a:r>
                      <a:endParaRPr sz="1100"/>
                    </a:p>
                  </a:txBody>
                  <a:tcPr marL="1028700" marR="9525" marT="9525" marB="0" anchor="ctr"/>
                </a:tc>
              </a:tr>
              <a:tr h="175260">
                <a:tc>
                  <a:txBody>
                    <a:bodyPr wrap="square"/>
                    <a:lstStyle/>
                    <a:p>
                      <a:pPr algn="l"/>
                      <a:r>
                        <a:rPr sz="1100" b="0" i="0">
                          <a:solidFill>
                            <a:srgbClr val="000000"/>
                          </a:solidFill>
                          <a:latin typeface="Calibri"/>
                        </a:rPr>
                        <a:t>14.5.2.</a:t>
                      </a:r>
                      <a:r>
                        <a:rPr sz="700" b="0" i="0">
                          <a:solidFill>
                            <a:srgbClr val="000000"/>
                          </a:solidFill>
                          <a:latin typeface="Times New Roman"/>
                        </a:rPr>
                        <a:t> </a:t>
                      </a:r>
                      <a:r>
                        <a:rPr sz="1100" b="0" i="0">
                          <a:solidFill>
                            <a:srgbClr val="000000"/>
                          </a:solidFill>
                          <a:latin typeface="Calibri"/>
                        </a:rPr>
                        <a:t>Rigid plastic packs</a:t>
                      </a:r>
                      <a:endParaRPr sz="1100"/>
                    </a:p>
                  </a:txBody>
                  <a:tcPr marL="771525" marR="9525" marT="9525" marB="0" anchor="ctr"/>
                </a:tc>
              </a:tr>
              <a:tr h="175260">
                <a:tc>
                  <a:txBody>
                    <a:bodyPr wrap="square"/>
                    <a:lstStyle/>
                    <a:p>
                      <a:pPr algn="l"/>
                      <a:r>
                        <a:rPr sz="1100" b="0" i="1">
                          <a:solidFill>
                            <a:srgbClr val="000000"/>
                          </a:solidFill>
                          <a:latin typeface="Calibri"/>
                        </a:rPr>
                        <a:t>14.5.2.1.</a:t>
                      </a:r>
                      <a:r>
                        <a:rPr sz="700" b="0" i="1">
                          <a:solidFill>
                            <a:srgbClr val="000000"/>
                          </a:solidFill>
                          <a:latin typeface="Times New Roman"/>
                        </a:rPr>
                        <a:t> </a:t>
                      </a:r>
                      <a:r>
                        <a:rPr sz="1100" b="0" i="1">
                          <a:solidFill>
                            <a:srgbClr val="000000"/>
                          </a:solidFill>
                          <a:latin typeface="Calibri"/>
                        </a:rPr>
                        <a:t>Trays with sealed film</a:t>
                      </a:r>
                      <a:endParaRPr sz="1100"/>
                    </a:p>
                  </a:txBody>
                  <a:tcPr marL="1028700" marR="9525" marT="9525" marB="0" anchor="ctr"/>
                </a:tc>
              </a:tr>
              <a:tr h="175260">
                <a:tc>
                  <a:txBody>
                    <a:bodyPr wrap="square"/>
                    <a:lstStyle/>
                    <a:p>
                      <a:pPr algn="l"/>
                      <a:r>
                        <a:rPr sz="1100" b="0" i="1">
                          <a:solidFill>
                            <a:srgbClr val="000000"/>
                          </a:solidFill>
                          <a:latin typeface="Calibri"/>
                        </a:rPr>
                        <a:t>14.5.2.2.</a:t>
                      </a:r>
                      <a:r>
                        <a:rPr sz="700" b="0" i="1">
                          <a:solidFill>
                            <a:srgbClr val="000000"/>
                          </a:solidFill>
                          <a:latin typeface="Times New Roman"/>
                        </a:rPr>
                        <a:t> </a:t>
                      </a:r>
                      <a:r>
                        <a:rPr sz="1100" b="0" i="1">
                          <a:solidFill>
                            <a:srgbClr val="000000"/>
                          </a:solidFill>
                          <a:latin typeface="Calibri"/>
                        </a:rPr>
                        <a:t>Clamshell containers</a:t>
                      </a:r>
                      <a:endParaRPr sz="1100"/>
                    </a:p>
                  </a:txBody>
                  <a:tcPr marL="1028700" marR="9525" marT="9525" marB="0" anchor="ctr"/>
                </a:tc>
              </a:tr>
              <a:tr h="175260">
                <a:tc>
                  <a:txBody>
                    <a:bodyPr wrap="square"/>
                    <a:lstStyle/>
                    <a:p>
                      <a:pPr algn="l"/>
                      <a:r>
                        <a:rPr sz="1100" b="0" i="1">
                          <a:solidFill>
                            <a:srgbClr val="000000"/>
                          </a:solidFill>
                          <a:latin typeface="Calibri"/>
                        </a:rPr>
                        <a:t>14.5.2.3.</a:t>
                      </a:r>
                      <a:r>
                        <a:rPr sz="700" b="0" i="1">
                          <a:solidFill>
                            <a:srgbClr val="000000"/>
                          </a:solidFill>
                          <a:latin typeface="Times New Roman"/>
                        </a:rPr>
                        <a:t> </a:t>
                      </a:r>
                      <a:r>
                        <a:rPr sz="1100" b="0" i="1">
                          <a:solidFill>
                            <a:srgbClr val="000000"/>
                          </a:solidFill>
                          <a:latin typeface="Calibri"/>
                        </a:rPr>
                        <a:t>Tubs</a:t>
                      </a:r>
                      <a:endParaRPr sz="1100"/>
                    </a:p>
                  </a:txBody>
                  <a:tcPr marL="1028700" marR="9525" marT="9525" marB="0" anchor="ctr"/>
                </a:tc>
              </a:tr>
              <a:tr h="175260">
                <a:tc>
                  <a:txBody>
                    <a:bodyPr wrap="square"/>
                    <a:lstStyle/>
                    <a:p>
                      <a:pPr algn="l"/>
                      <a:r>
                        <a:rPr sz="1100" b="0" i="0">
                          <a:solidFill>
                            <a:srgbClr val="000000"/>
                          </a:solidFill>
                          <a:latin typeface="Calibri"/>
                        </a:rPr>
                        <a:t>14.5.3.</a:t>
                      </a:r>
                      <a:r>
                        <a:rPr sz="700" b="0" i="0">
                          <a:solidFill>
                            <a:srgbClr val="000000"/>
                          </a:solidFill>
                          <a:latin typeface="Times New Roman"/>
                        </a:rPr>
                        <a:t> </a:t>
                      </a:r>
                      <a:r>
                        <a:rPr sz="1100" b="0" i="0">
                          <a:solidFill>
                            <a:srgbClr val="000000"/>
                          </a:solidFill>
                          <a:latin typeface="Calibri"/>
                        </a:rPr>
                        <a:t>Paperboard packs</a:t>
                      </a:r>
                      <a:endParaRPr sz="1100"/>
                    </a:p>
                  </a:txBody>
                  <a:tcPr marL="771525" marR="9525" marT="9525" marB="0" anchor="ctr"/>
                </a:tc>
              </a:tr>
              <a:tr h="175260">
                <a:tc>
                  <a:txBody>
                    <a:bodyPr wrap="square"/>
                    <a:lstStyle/>
                    <a:p>
                      <a:pPr algn="l"/>
                      <a:r>
                        <a:rPr sz="1100" b="0" i="1">
                          <a:solidFill>
                            <a:srgbClr val="000000"/>
                          </a:solidFill>
                          <a:latin typeface="Calibri"/>
                        </a:rPr>
                        <a:t>14.5.3.1.</a:t>
                      </a:r>
                      <a:r>
                        <a:rPr sz="700" b="0" i="1">
                          <a:solidFill>
                            <a:srgbClr val="000000"/>
                          </a:solidFill>
                          <a:latin typeface="Times New Roman"/>
                        </a:rPr>
                        <a:t> </a:t>
                      </a:r>
                      <a:r>
                        <a:rPr sz="1100" b="0" i="1">
                          <a:solidFill>
                            <a:srgbClr val="000000"/>
                          </a:solidFill>
                          <a:latin typeface="Calibri"/>
                        </a:rPr>
                        <a:t>Cartons with inner wrapping</a:t>
                      </a:r>
                      <a:endParaRPr sz="1100"/>
                    </a:p>
                  </a:txBody>
                  <a:tcPr marL="1028700" marR="9525" marT="9525" marB="0" anchor="ctr"/>
                </a:tc>
              </a:tr>
              <a:tr h="175260">
                <a:tc>
                  <a:txBody>
                    <a:bodyPr wrap="square"/>
                    <a:lstStyle/>
                    <a:p>
                      <a:pPr algn="l"/>
                      <a:r>
                        <a:rPr sz="1100" b="0" i="1">
                          <a:solidFill>
                            <a:srgbClr val="000000"/>
                          </a:solidFill>
                          <a:latin typeface="Calibri"/>
                        </a:rPr>
                        <a:t>14.5.3.2.</a:t>
                      </a:r>
                      <a:r>
                        <a:rPr sz="700" b="0" i="1">
                          <a:solidFill>
                            <a:srgbClr val="000000"/>
                          </a:solidFill>
                          <a:latin typeface="Times New Roman"/>
                        </a:rPr>
                        <a:t> </a:t>
                      </a:r>
                      <a:r>
                        <a:rPr sz="1100" b="0" i="1">
                          <a:solidFill>
                            <a:srgbClr val="000000"/>
                          </a:solidFill>
                          <a:latin typeface="Calibri"/>
                        </a:rPr>
                        <a:t>Windowed cartons</a:t>
                      </a:r>
                      <a:endParaRPr sz="1100"/>
                    </a:p>
                  </a:txBody>
                  <a:tcPr marL="1028700" marR="9525" marT="9525" marB="0" anchor="ctr"/>
                </a:tc>
              </a:tr>
              <a:tr h="175260">
                <a:tc>
                  <a:txBody>
                    <a:bodyPr wrap="square"/>
                    <a:lstStyle/>
                    <a:p>
                      <a:pPr algn="l"/>
                      <a:r>
                        <a:rPr sz="1100" b="0" i="0">
                          <a:solidFill>
                            <a:srgbClr val="000000"/>
                          </a:solidFill>
                          <a:latin typeface="Calibri"/>
                        </a:rPr>
                        <a:t>14.5.4.</a:t>
                      </a:r>
                      <a:r>
                        <a:rPr sz="700" b="0" i="0">
                          <a:solidFill>
                            <a:srgbClr val="000000"/>
                          </a:solidFill>
                          <a:latin typeface="Times New Roman"/>
                        </a:rPr>
                        <a:t> </a:t>
                      </a:r>
                      <a:r>
                        <a:rPr sz="1100" b="0" i="0">
                          <a:solidFill>
                            <a:srgbClr val="000000"/>
                          </a:solidFill>
                          <a:latin typeface="Calibri"/>
                        </a:rPr>
                        <a:t>Other packaging formats</a:t>
                      </a:r>
                      <a:endParaRPr sz="1100"/>
                    </a:p>
                  </a:txBody>
                  <a:tcPr marL="771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Global Market (Value- Volume) Analysis 2021–2036, By Pack Configuration</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15.5.1.</a:t>
                      </a:r>
                      <a:r>
                        <a:rPr sz="700" b="0" i="0">
                          <a:solidFill>
                            <a:srgbClr val="000000"/>
                          </a:solidFill>
                          <a:latin typeface="Times New Roman"/>
                        </a:rPr>
                        <a:t> </a:t>
                      </a:r>
                      <a:r>
                        <a:rPr sz="1100" b="0" i="0">
                          <a:solidFill>
                            <a:srgbClr val="000000"/>
                          </a:solidFill>
                          <a:latin typeface="Calibri"/>
                        </a:rPr>
                        <a:t>Single-muffin packs</a:t>
                      </a:r>
                      <a:endParaRPr sz="1100"/>
                    </a:p>
                  </a:txBody>
                  <a:tcPr marL="771525" marR="9525" marT="9525" marB="0" anchor="ctr"/>
                </a:tc>
              </a:tr>
              <a:tr h="175260">
                <a:tc>
                  <a:txBody>
                    <a:bodyPr wrap="square"/>
                    <a:lstStyle/>
                    <a:p>
                      <a:pPr algn="l"/>
                      <a:r>
                        <a:rPr sz="1100" b="0" i="0">
                          <a:solidFill>
                            <a:srgbClr val="000000"/>
                          </a:solidFill>
                          <a:latin typeface="Calibri"/>
                        </a:rPr>
                        <a:t>15.5.2.</a:t>
                      </a:r>
                      <a:r>
                        <a:rPr sz="700" b="0" i="0">
                          <a:solidFill>
                            <a:srgbClr val="000000"/>
                          </a:solidFill>
                          <a:latin typeface="Times New Roman"/>
                        </a:rPr>
                        <a:t> </a:t>
                      </a:r>
                      <a:r>
                        <a:rPr sz="1100" b="0" i="0">
                          <a:solidFill>
                            <a:srgbClr val="000000"/>
                          </a:solidFill>
                          <a:latin typeface="Calibri"/>
                        </a:rPr>
                        <a:t>Multipacks</a:t>
                      </a:r>
                      <a:endParaRPr sz="1100"/>
                    </a:p>
                  </a:txBody>
                  <a:tcPr marL="771525" marR="9525" marT="9525" marB="0" anchor="ctr"/>
                </a:tc>
              </a:tr>
              <a:tr h="175260">
                <a:tc>
                  <a:txBody>
                    <a:bodyPr wrap="square"/>
                    <a:lstStyle/>
                    <a:p>
                      <a:pPr algn="l"/>
                      <a:r>
                        <a:rPr sz="1100" b="0" i="1">
                          <a:solidFill>
                            <a:srgbClr val="000000"/>
                          </a:solidFill>
                          <a:latin typeface="Calibri"/>
                        </a:rPr>
                        <a:t>15.5.2.1.</a:t>
                      </a:r>
                      <a:r>
                        <a:rPr sz="700" b="0" i="1">
                          <a:solidFill>
                            <a:srgbClr val="000000"/>
                          </a:solidFill>
                          <a:latin typeface="Times New Roman"/>
                        </a:rPr>
                        <a:t> </a:t>
                      </a:r>
                      <a:r>
                        <a:rPr sz="1100" b="0" i="1">
                          <a:solidFill>
                            <a:srgbClr val="000000"/>
                          </a:solidFill>
                          <a:latin typeface="Calibri"/>
                        </a:rPr>
                        <a:t>2–4 muffins</a:t>
                      </a:r>
                      <a:endParaRPr sz="1100"/>
                    </a:p>
                  </a:txBody>
                  <a:tcPr marL="1028700" marR="9525" marT="9525" marB="0" anchor="ctr"/>
                </a:tc>
              </a:tr>
              <a:tr h="175260">
                <a:tc>
                  <a:txBody>
                    <a:bodyPr wrap="square"/>
                    <a:lstStyle/>
                    <a:p>
                      <a:pPr algn="l"/>
                      <a:r>
                        <a:rPr sz="1100" b="0" i="1">
                          <a:solidFill>
                            <a:srgbClr val="000000"/>
                          </a:solidFill>
                          <a:latin typeface="Calibri"/>
                        </a:rPr>
                        <a:t>15.5.2.2.</a:t>
                      </a:r>
                      <a:r>
                        <a:rPr sz="700" b="0" i="1">
                          <a:solidFill>
                            <a:srgbClr val="000000"/>
                          </a:solidFill>
                          <a:latin typeface="Times New Roman"/>
                        </a:rPr>
                        <a:t> </a:t>
                      </a:r>
                      <a:r>
                        <a:rPr sz="1100" b="0" i="1">
                          <a:solidFill>
                            <a:srgbClr val="000000"/>
                          </a:solidFill>
                          <a:latin typeface="Calibri"/>
                        </a:rPr>
                        <a:t>5–8 muffins</a:t>
                      </a:r>
                      <a:endParaRPr sz="1100"/>
                    </a:p>
                  </a:txBody>
                  <a:tcPr marL="1028700" marR="9525" marT="9525" marB="0" anchor="ctr"/>
                </a:tc>
              </a:tr>
              <a:tr h="175260">
                <a:tc>
                  <a:txBody>
                    <a:bodyPr wrap="square"/>
                    <a:lstStyle/>
                    <a:p>
                      <a:pPr algn="l"/>
                      <a:r>
                        <a:rPr sz="1100" b="0" i="1">
                          <a:solidFill>
                            <a:srgbClr val="000000"/>
                          </a:solidFill>
                          <a:latin typeface="Calibri"/>
                        </a:rPr>
                        <a:t>15.5.2.3.</a:t>
                      </a:r>
                      <a:r>
                        <a:rPr sz="700" b="0" i="1">
                          <a:solidFill>
                            <a:srgbClr val="000000"/>
                          </a:solidFill>
                          <a:latin typeface="Times New Roman"/>
                        </a:rPr>
                        <a:t> </a:t>
                      </a:r>
                      <a:r>
                        <a:rPr sz="1100" b="0" i="1">
                          <a:solidFill>
                            <a:srgbClr val="000000"/>
                          </a:solidFill>
                          <a:latin typeface="Calibri"/>
                        </a:rPr>
                        <a:t>9–12 muffins</a:t>
                      </a:r>
                      <a:endParaRPr sz="1100"/>
                    </a:p>
                  </a:txBody>
                  <a:tcPr marL="1028700" marR="9525" marT="9525" marB="0" anchor="ctr"/>
                </a:tc>
              </a:tr>
              <a:tr h="175260">
                <a:tc>
                  <a:txBody>
                    <a:bodyPr wrap="square"/>
                    <a:lstStyle/>
                    <a:p>
                      <a:pPr algn="l"/>
                      <a:r>
                        <a:rPr sz="1100" b="0" i="1">
                          <a:solidFill>
                            <a:srgbClr val="000000"/>
                          </a:solidFill>
                          <a:latin typeface="Calibri"/>
                        </a:rPr>
                        <a:t>15.5.2.4.</a:t>
                      </a:r>
                      <a:r>
                        <a:rPr sz="700" b="0" i="1">
                          <a:solidFill>
                            <a:srgbClr val="000000"/>
                          </a:solidFill>
                          <a:latin typeface="Times New Roman"/>
                        </a:rPr>
                        <a:t> </a:t>
                      </a:r>
                      <a:r>
                        <a:rPr sz="1100" b="0" i="1">
                          <a:solidFill>
                            <a:srgbClr val="000000"/>
                          </a:solidFill>
                          <a:latin typeface="Calibri"/>
                        </a:rPr>
                        <a:t>More than 12 muffins</a:t>
                      </a:r>
                      <a:endParaRPr sz="1100"/>
                    </a:p>
                  </a:txBody>
                  <a:tcPr marL="1028700" marR="9525" marT="9525" marB="0" anchor="ctr"/>
                </a:tc>
              </a:tr>
              <a:tr h="175260">
                <a:tc>
                  <a:txBody>
                    <a:bodyPr wrap="square"/>
                    <a:lstStyle/>
                    <a:p>
                      <a:pPr algn="l"/>
                      <a:r>
                        <a:rPr sz="1100" b="0" i="0">
                          <a:solidFill>
                            <a:srgbClr val="000000"/>
                          </a:solidFill>
                          <a:latin typeface="Calibri"/>
                        </a:rPr>
                        <a:t>15.5.3.</a:t>
                      </a:r>
                      <a:r>
                        <a:rPr sz="700" b="0" i="0">
                          <a:solidFill>
                            <a:srgbClr val="000000"/>
                          </a:solidFill>
                          <a:latin typeface="Times New Roman"/>
                        </a:rPr>
                        <a:t> </a:t>
                      </a:r>
                      <a:r>
                        <a:rPr sz="1100" b="0" i="0">
                          <a:solidFill>
                            <a:srgbClr val="000000"/>
                          </a:solidFill>
                          <a:latin typeface="Calibri"/>
                        </a:rPr>
                        <a:t>Bulk foodservice packs</a:t>
                      </a:r>
                      <a:endParaRPr sz="1100"/>
                    </a:p>
                  </a:txBody>
                  <a:tcPr marL="7715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Global Market (Value- Volume) Analysis 2021–2036, By Multipack Wrapping</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16.5.1.</a:t>
                      </a:r>
                      <a:r>
                        <a:rPr sz="700" b="0" i="0">
                          <a:solidFill>
                            <a:srgbClr val="000000"/>
                          </a:solidFill>
                          <a:latin typeface="Times New Roman"/>
                        </a:rPr>
                        <a:t> </a:t>
                      </a:r>
                      <a:r>
                        <a:rPr sz="1100" b="0" i="0">
                          <a:solidFill>
                            <a:srgbClr val="000000"/>
                          </a:solidFill>
                          <a:latin typeface="Calibri"/>
                        </a:rPr>
                        <a:t>Individually wrapped muffins within an outer pack</a:t>
                      </a:r>
                      <a:endParaRPr sz="1100"/>
                    </a:p>
                  </a:txBody>
                  <a:tcPr marL="771525" marR="9525" marT="9525" marB="0" anchor="ctr"/>
                </a:tc>
              </a:tr>
              <a:tr h="175260">
                <a:tc>
                  <a:txBody>
                    <a:bodyPr wrap="square"/>
                    <a:lstStyle/>
                    <a:p>
                      <a:pPr algn="l"/>
                      <a:r>
                        <a:rPr sz="1100" b="0" i="0">
                          <a:solidFill>
                            <a:srgbClr val="000000"/>
                          </a:solidFill>
                          <a:latin typeface="Calibri"/>
                        </a:rPr>
                        <a:t>16.5.2.</a:t>
                      </a:r>
                      <a:r>
                        <a:rPr sz="700" b="0" i="0">
                          <a:solidFill>
                            <a:srgbClr val="000000"/>
                          </a:solidFill>
                          <a:latin typeface="Times New Roman"/>
                        </a:rPr>
                        <a:t> </a:t>
                      </a:r>
                      <a:r>
                        <a:rPr sz="1100" b="0" i="0">
                          <a:solidFill>
                            <a:srgbClr val="000000"/>
                          </a:solidFill>
                          <a:latin typeface="Calibri"/>
                        </a:rPr>
                        <a:t>Shared pack without individual wrapping</a:t>
                      </a:r>
                      <a:endParaRPr sz="1100"/>
                    </a:p>
                  </a:txBody>
                  <a:tcPr marL="7715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Global Market (Value- Volume) Analysis 2021–2036, By Price Positioning</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17.5.1.</a:t>
                      </a:r>
                      <a:r>
                        <a:rPr sz="700" b="0" i="0">
                          <a:solidFill>
                            <a:srgbClr val="000000"/>
                          </a:solidFill>
                          <a:latin typeface="Times New Roman"/>
                        </a:rPr>
                        <a:t> </a:t>
                      </a:r>
                      <a:r>
                        <a:rPr sz="1100" b="0" i="0">
                          <a:solidFill>
                            <a:srgbClr val="000000"/>
                          </a:solidFill>
                          <a:latin typeface="Calibri"/>
                        </a:rPr>
                        <a:t>Economy/value</a:t>
                      </a:r>
                      <a:endParaRPr sz="1100"/>
                    </a:p>
                  </a:txBody>
                  <a:tcPr marL="771525" marR="9525" marT="9525" marB="0" anchor="ctr"/>
                </a:tc>
              </a:tr>
              <a:tr h="175260">
                <a:tc>
                  <a:txBody>
                    <a:bodyPr wrap="square"/>
                    <a:lstStyle/>
                    <a:p>
                      <a:pPr algn="l"/>
                      <a:r>
                        <a:rPr sz="1100" b="0" i="0">
                          <a:solidFill>
                            <a:srgbClr val="000000"/>
                          </a:solidFill>
                          <a:latin typeface="Calibri"/>
                        </a:rPr>
                        <a:t>17.5.2.</a:t>
                      </a:r>
                      <a:r>
                        <a:rPr sz="700" b="0" i="0">
                          <a:solidFill>
                            <a:srgbClr val="000000"/>
                          </a:solidFill>
                          <a:latin typeface="Times New Roman"/>
                        </a:rPr>
                        <a:t> </a:t>
                      </a:r>
                      <a:r>
                        <a:rPr sz="1100" b="0" i="0">
                          <a:solidFill>
                            <a:srgbClr val="000000"/>
                          </a:solidFill>
                          <a:latin typeface="Calibri"/>
                        </a:rPr>
                        <a:t>Mid-range</a:t>
                      </a:r>
                      <a:endParaRPr sz="1100"/>
                    </a:p>
                  </a:txBody>
                  <a:tcPr marL="771525" marR="9525" marT="9525" marB="0" anchor="ctr"/>
                </a:tc>
              </a:tr>
              <a:tr h="175260">
                <a:tc>
                  <a:txBody>
                    <a:bodyPr wrap="square"/>
                    <a:lstStyle/>
                    <a:p>
                      <a:pPr algn="l"/>
                      <a:r>
                        <a:rPr sz="1100" b="0" i="0">
                          <a:solidFill>
                            <a:srgbClr val="000000"/>
                          </a:solidFill>
                          <a:latin typeface="Calibri"/>
                        </a:rPr>
                        <a:t>17.5.3.</a:t>
                      </a:r>
                      <a:r>
                        <a:rPr sz="700" b="0" i="0">
                          <a:solidFill>
                            <a:srgbClr val="000000"/>
                          </a:solidFill>
                          <a:latin typeface="Times New Roman"/>
                        </a:rPr>
                        <a:t> </a:t>
                      </a:r>
                      <a:r>
                        <a:rPr sz="1100" b="0" i="0">
                          <a:solidFill>
                            <a:srgbClr val="000000"/>
                          </a:solidFill>
                          <a:latin typeface="Calibri"/>
                        </a:rPr>
                        <a:t>Premium</a:t>
                      </a:r>
                      <a:endParaRPr sz="1100"/>
                    </a:p>
                  </a:txBody>
                  <a:tcPr marL="771525" marR="9525" marT="9525" marB="0" anchor="ctr"/>
                </a:tc>
              </a:tr>
              <a:tr h="175260">
                <a:tc>
                  <a:txBody>
                    <a:bodyPr wrap="square"/>
                    <a:lstStyle/>
                    <a:p>
                      <a:pPr algn="l"/>
                      <a:r>
                        <a:rPr sz="1100" b="0" i="0">
                          <a:solidFill>
                            <a:srgbClr val="000000"/>
                          </a:solidFill>
                          <a:latin typeface="Calibri"/>
                        </a:rPr>
                        <a:t>17.5.4.</a:t>
                      </a:r>
                      <a:r>
                        <a:rPr sz="700" b="0" i="0">
                          <a:solidFill>
                            <a:srgbClr val="000000"/>
                          </a:solidFill>
                          <a:latin typeface="Times New Roman"/>
                        </a:rPr>
                        <a:t> </a:t>
                      </a:r>
                      <a:r>
                        <a:rPr sz="1100" b="0" i="0">
                          <a:solidFill>
                            <a:srgbClr val="000000"/>
                          </a:solidFill>
                          <a:latin typeface="Calibri"/>
                        </a:rPr>
                        <a:t>Super-premium/speciality</a:t>
                      </a:r>
                      <a:endParaRPr sz="1100"/>
                    </a:p>
                  </a:txBody>
                  <a:tcPr marL="771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(Value- Volume) Analysis 2021–2036, By Brand Ownership</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18.5.1.</a:t>
                      </a:r>
                      <a:r>
                        <a:rPr sz="700" b="0" i="0">
                          <a:solidFill>
                            <a:srgbClr val="000000"/>
                          </a:solidFill>
                          <a:latin typeface="Times New Roman"/>
                        </a:rPr>
                        <a:t> </a:t>
                      </a:r>
                      <a:r>
                        <a:rPr sz="1100" b="0" i="0">
                          <a:solidFill>
                            <a:srgbClr val="000000"/>
                          </a:solidFill>
                          <a:latin typeface="Calibri"/>
                        </a:rPr>
                        <a:t>Manufacturer brands</a:t>
                      </a:r>
                      <a:endParaRPr sz="1100"/>
                    </a:p>
                  </a:txBody>
                  <a:tcPr marL="771525" marR="9525" marT="9525" marB="0" anchor="ctr"/>
                </a:tc>
              </a:tr>
              <a:tr h="175260">
                <a:tc>
                  <a:txBody>
                    <a:bodyPr wrap="square"/>
                    <a:lstStyle/>
                    <a:p>
                      <a:pPr algn="l"/>
                      <a:r>
                        <a:rPr sz="1100" b="0" i="1">
                          <a:solidFill>
                            <a:srgbClr val="000000"/>
                          </a:solidFill>
                          <a:latin typeface="Calibri"/>
                        </a:rPr>
                        <a:t>18.5.1.1.</a:t>
                      </a:r>
                      <a:r>
                        <a:rPr sz="700" b="0" i="1">
                          <a:solidFill>
                            <a:srgbClr val="000000"/>
                          </a:solidFill>
                          <a:latin typeface="Times New Roman"/>
                        </a:rPr>
                        <a:t> </a:t>
                      </a:r>
                      <a:r>
                        <a:rPr sz="1100" b="0" i="1">
                          <a:solidFill>
                            <a:srgbClr val="000000"/>
                          </a:solidFill>
                          <a:latin typeface="Calibri"/>
                        </a:rPr>
                        <a:t>National brands</a:t>
                      </a:r>
                      <a:endParaRPr sz="1100"/>
                    </a:p>
                  </a:txBody>
                  <a:tcPr marL="1028700" marR="9525" marT="9525" marB="0" anchor="ctr"/>
                </a:tc>
              </a:tr>
              <a:tr h="175260">
                <a:tc>
                  <a:txBody>
                    <a:bodyPr wrap="square"/>
                    <a:lstStyle/>
                    <a:p>
                      <a:pPr algn="l"/>
                      <a:r>
                        <a:rPr sz="1100" b="0" i="1">
                          <a:solidFill>
                            <a:srgbClr val="000000"/>
                          </a:solidFill>
                          <a:latin typeface="Calibri"/>
                        </a:rPr>
                        <a:t>18.5.1.2.</a:t>
                      </a:r>
                      <a:r>
                        <a:rPr sz="700" b="0" i="1">
                          <a:solidFill>
                            <a:srgbClr val="000000"/>
                          </a:solidFill>
                          <a:latin typeface="Times New Roman"/>
                        </a:rPr>
                        <a:t> </a:t>
                      </a:r>
                      <a:r>
                        <a:rPr sz="1100" b="0" i="1">
                          <a:solidFill>
                            <a:srgbClr val="000000"/>
                          </a:solidFill>
                          <a:latin typeface="Calibri"/>
                        </a:rPr>
                        <a:t>Regional/local brands</a:t>
                      </a:r>
                      <a:endParaRPr sz="1100"/>
                    </a:p>
                  </a:txBody>
                  <a:tcPr marL="1028700" marR="9525" marT="9525" marB="0" anchor="ctr"/>
                </a:tc>
              </a:tr>
              <a:tr h="175260">
                <a:tc>
                  <a:txBody>
                    <a:bodyPr wrap="square"/>
                    <a:lstStyle/>
                    <a:p>
                      <a:pPr algn="l"/>
                      <a:r>
                        <a:rPr sz="1100" b="0" i="0">
                          <a:solidFill>
                            <a:srgbClr val="000000"/>
                          </a:solidFill>
                          <a:latin typeface="Calibri"/>
                        </a:rPr>
                        <a:t>18.5.2.</a:t>
                      </a:r>
                      <a:r>
                        <a:rPr sz="700" b="0" i="0">
                          <a:solidFill>
                            <a:srgbClr val="000000"/>
                          </a:solidFill>
                          <a:latin typeface="Times New Roman"/>
                        </a:rPr>
                        <a:t> </a:t>
                      </a:r>
                      <a:r>
                        <a:rPr sz="1100" b="0" i="0">
                          <a:solidFill>
                            <a:srgbClr val="000000"/>
                          </a:solidFill>
                          <a:latin typeface="Calibri"/>
                        </a:rPr>
                        <a:t>Retailer private labels</a:t>
                      </a:r>
                      <a:endParaRPr sz="1100"/>
                    </a:p>
                  </a:txBody>
                  <a:tcPr marL="771525" marR="9525" marT="9525" marB="0" anchor="ctr"/>
                </a:tc>
              </a:tr>
              <a:tr h="175260">
                <a:tc>
                  <a:txBody>
                    <a:bodyPr wrap="square"/>
                    <a:lstStyle/>
                    <a:p>
                      <a:pPr algn="l"/>
                      <a:r>
                        <a:rPr sz="1100" b="0" i="1">
                          <a:solidFill>
                            <a:srgbClr val="000000"/>
                          </a:solidFill>
                          <a:latin typeface="Calibri"/>
                        </a:rPr>
                        <a:t>18.5.2.1.</a:t>
                      </a:r>
                      <a:r>
                        <a:rPr sz="700" b="0" i="1">
                          <a:solidFill>
                            <a:srgbClr val="000000"/>
                          </a:solidFill>
                          <a:latin typeface="Times New Roman"/>
                        </a:rPr>
                        <a:t> </a:t>
                      </a:r>
                      <a:r>
                        <a:rPr sz="1100" b="0" i="1">
                          <a:solidFill>
                            <a:srgbClr val="000000"/>
                          </a:solidFill>
                          <a:latin typeface="Calibri"/>
                        </a:rPr>
                        <a:t>Value private labels</a:t>
                      </a:r>
                      <a:endParaRPr sz="1100"/>
                    </a:p>
                  </a:txBody>
                  <a:tcPr marL="1028700" marR="9525" marT="9525" marB="0" anchor="ctr"/>
                </a:tc>
              </a:tr>
              <a:tr h="175260">
                <a:tc>
                  <a:txBody>
                    <a:bodyPr wrap="square"/>
                    <a:lstStyle/>
                    <a:p>
                      <a:pPr algn="l"/>
                      <a:r>
                        <a:rPr sz="1100" b="0" i="1">
                          <a:solidFill>
                            <a:srgbClr val="000000"/>
                          </a:solidFill>
                          <a:latin typeface="Calibri"/>
                        </a:rPr>
                        <a:t>18.5.2.2.</a:t>
                      </a:r>
                      <a:r>
                        <a:rPr sz="700" b="0" i="1">
                          <a:solidFill>
                            <a:srgbClr val="000000"/>
                          </a:solidFill>
                          <a:latin typeface="Times New Roman"/>
                        </a:rPr>
                        <a:t> </a:t>
                      </a:r>
                      <a:r>
                        <a:rPr sz="1100" b="0" i="1">
                          <a:solidFill>
                            <a:srgbClr val="000000"/>
                          </a:solidFill>
                          <a:latin typeface="Calibri"/>
                        </a:rPr>
                        <a:t>Standard private labels</a:t>
                      </a:r>
                      <a:endParaRPr sz="1100"/>
                    </a:p>
                  </a:txBody>
                  <a:tcPr marL="1028700" marR="9525" marT="9525" marB="0" anchor="ctr"/>
                </a:tc>
              </a:tr>
              <a:tr h="175260">
                <a:tc>
                  <a:txBody>
                    <a:bodyPr wrap="square"/>
                    <a:lstStyle/>
                    <a:p>
                      <a:pPr algn="l"/>
                      <a:r>
                        <a:rPr sz="1100" b="0" i="1">
                          <a:solidFill>
                            <a:srgbClr val="000000"/>
                          </a:solidFill>
                          <a:latin typeface="Calibri"/>
                        </a:rPr>
                        <a:t>18.5.2.3.</a:t>
                      </a:r>
                      <a:r>
                        <a:rPr sz="700" b="0" i="1">
                          <a:solidFill>
                            <a:srgbClr val="000000"/>
                          </a:solidFill>
                          <a:latin typeface="Times New Roman"/>
                        </a:rPr>
                        <a:t> </a:t>
                      </a:r>
                      <a:r>
                        <a:rPr sz="1100" b="0" i="1">
                          <a:solidFill>
                            <a:srgbClr val="000000"/>
                          </a:solidFill>
                          <a:latin typeface="Calibri"/>
                        </a:rPr>
                        <a:t>Premium private labels</a:t>
                      </a:r>
                      <a:endParaRPr sz="1100"/>
                    </a:p>
                  </a:txBody>
                  <a:tcPr marL="1028700" marR="9525" marT="9525" marB="0" anchor="ctr"/>
                </a:tc>
              </a:tr>
              <a:tr h="175260">
                <a:tc>
                  <a:txBody>
                    <a:bodyPr wrap="square"/>
                    <a:lstStyle/>
                    <a:p>
                      <a:pPr algn="l"/>
                      <a:r>
                        <a:rPr sz="1100" b="0" i="0">
                          <a:solidFill>
                            <a:srgbClr val="000000"/>
                          </a:solidFill>
                          <a:latin typeface="Calibri"/>
                        </a:rPr>
                        <a:t>18.5.3.</a:t>
                      </a:r>
                      <a:r>
                        <a:rPr sz="700" b="0" i="0">
                          <a:solidFill>
                            <a:srgbClr val="000000"/>
                          </a:solidFill>
                          <a:latin typeface="Times New Roman"/>
                        </a:rPr>
                        <a:t> </a:t>
                      </a:r>
                      <a:r>
                        <a:rPr sz="1100" b="0" i="0">
                          <a:solidFill>
                            <a:srgbClr val="000000"/>
                          </a:solidFill>
                          <a:latin typeface="Calibri"/>
                        </a:rPr>
                        <a:t>Foodservice/operator brands</a:t>
                      </a:r>
                      <a:endParaRPr sz="1100"/>
                    </a:p>
                  </a:txBody>
                  <a:tcPr marL="7715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Global Market (Value- Volume) Analysis 2021–2036, By Sales Channel</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19.5.1.</a:t>
                      </a:r>
                      <a:r>
                        <a:rPr sz="700" b="0" i="0">
                          <a:solidFill>
                            <a:srgbClr val="000000"/>
                          </a:solidFill>
                          <a:latin typeface="Times New Roman"/>
                        </a:rPr>
                        <a:t> </a:t>
                      </a:r>
                      <a:r>
                        <a:rPr sz="1100" b="0" i="0">
                          <a:solidFill>
                            <a:srgbClr val="000000"/>
                          </a:solidFill>
                          <a:latin typeface="Calibri"/>
                        </a:rPr>
                        <a:t>Retail</a:t>
                      </a:r>
                      <a:endParaRPr sz="1100"/>
                    </a:p>
                  </a:txBody>
                  <a:tcPr marL="771525" marR="9525" marT="9525" marB="0" anchor="ctr"/>
                </a:tc>
              </a:tr>
              <a:tr h="175260">
                <a:tc>
                  <a:txBody>
                    <a:bodyPr wrap="square"/>
                    <a:lstStyle/>
                    <a:p>
                      <a:pPr algn="l"/>
                      <a:r>
                        <a:rPr sz="1100" b="0" i="1">
                          <a:solidFill>
                            <a:srgbClr val="000000"/>
                          </a:solidFill>
                          <a:latin typeface="Calibri"/>
                        </a:rPr>
                        <a:t>19.5.1.1.</a:t>
                      </a:r>
                      <a:r>
                        <a:rPr sz="700" b="0" i="1">
                          <a:solidFill>
                            <a:srgbClr val="000000"/>
                          </a:solidFill>
                          <a:latin typeface="Times New Roman"/>
                        </a:rPr>
                        <a:t> </a:t>
                      </a:r>
                      <a:r>
                        <a:rPr sz="1100" b="0" i="1">
                          <a:solidFill>
                            <a:srgbClr val="000000"/>
                          </a:solidFill>
                          <a:latin typeface="Calibri"/>
                        </a:rPr>
                        <a:t>Supermarkets and hypermarkets</a:t>
                      </a:r>
                      <a:endParaRPr sz="1100"/>
                    </a:p>
                  </a:txBody>
                  <a:tcPr marL="1028700" marR="9525" marT="9525" marB="0" anchor="ctr"/>
                </a:tc>
              </a:tr>
              <a:tr h="175260">
                <a:tc>
                  <a:txBody>
                    <a:bodyPr wrap="square"/>
                    <a:lstStyle/>
                    <a:p>
                      <a:pPr algn="l"/>
                      <a:r>
                        <a:rPr sz="1100" b="0" i="1">
                          <a:solidFill>
                            <a:srgbClr val="000000"/>
                          </a:solidFill>
                          <a:latin typeface="Calibri"/>
                        </a:rPr>
                        <a:t>19.5.1.2.</a:t>
                      </a:r>
                      <a:r>
                        <a:rPr sz="700" b="0" i="1">
                          <a:solidFill>
                            <a:srgbClr val="000000"/>
                          </a:solidFill>
                          <a:latin typeface="Times New Roman"/>
                        </a:rPr>
                        <a:t> </a:t>
                      </a:r>
                      <a:r>
                        <a:rPr sz="1100" b="0" i="1">
                          <a:solidFill>
                            <a:srgbClr val="000000"/>
                          </a:solidFill>
                          <a:latin typeface="Calibri"/>
                        </a:rPr>
                        <a:t>Convenience stores</a:t>
                      </a:r>
                      <a:endParaRPr sz="1100"/>
                    </a:p>
                  </a:txBody>
                  <a:tcPr marL="1028700" marR="9525" marT="9525" marB="0" anchor="ctr"/>
                </a:tc>
              </a:tr>
              <a:tr h="175260">
                <a:tc>
                  <a:txBody>
                    <a:bodyPr wrap="square"/>
                    <a:lstStyle/>
                    <a:p>
                      <a:pPr algn="l"/>
                      <a:r>
                        <a:rPr sz="1100" b="0" i="1">
                          <a:solidFill>
                            <a:srgbClr val="000000"/>
                          </a:solidFill>
                          <a:latin typeface="Calibri"/>
                        </a:rPr>
                        <a:t>19.5.1.3.</a:t>
                      </a:r>
                      <a:r>
                        <a:rPr sz="700" b="0" i="1">
                          <a:solidFill>
                            <a:srgbClr val="000000"/>
                          </a:solidFill>
                          <a:latin typeface="Times New Roman"/>
                        </a:rPr>
                        <a:t> </a:t>
                      </a:r>
                      <a:r>
                        <a:rPr sz="1100" b="0" i="1">
                          <a:solidFill>
                            <a:srgbClr val="000000"/>
                          </a:solidFill>
                          <a:latin typeface="Calibri"/>
                        </a:rPr>
                        <a:t>Discount stores</a:t>
                      </a:r>
                      <a:endParaRPr sz="1100"/>
                    </a:p>
                  </a:txBody>
                  <a:tcPr marL="1028700" marR="9525" marT="9525" marB="0" anchor="ctr"/>
                </a:tc>
              </a:tr>
              <a:tr h="175260">
                <a:tc>
                  <a:txBody>
                    <a:bodyPr wrap="square"/>
                    <a:lstStyle/>
                    <a:p>
                      <a:pPr algn="l"/>
                      <a:r>
                        <a:rPr sz="1100" b="0" i="1">
                          <a:solidFill>
                            <a:srgbClr val="000000"/>
                          </a:solidFill>
                          <a:latin typeface="Calibri"/>
                        </a:rPr>
                        <a:t>19.5.1.4.</a:t>
                      </a:r>
                      <a:r>
                        <a:rPr sz="700" b="0" i="1">
                          <a:solidFill>
                            <a:srgbClr val="000000"/>
                          </a:solidFill>
                          <a:latin typeface="Times New Roman"/>
                        </a:rPr>
                        <a:t> </a:t>
                      </a:r>
                      <a:r>
                        <a:rPr sz="1100" b="0" i="1">
                          <a:solidFill>
                            <a:srgbClr val="000000"/>
                          </a:solidFill>
                          <a:latin typeface="Calibri"/>
                        </a:rPr>
                        <a:t>Warehouse clubs</a:t>
                      </a:r>
                      <a:endParaRPr sz="1100"/>
                    </a:p>
                  </a:txBody>
                  <a:tcPr marL="1028700" marR="9525" marT="9525" marB="0" anchor="ctr"/>
                </a:tc>
              </a:tr>
              <a:tr h="175260">
                <a:tc>
                  <a:txBody>
                    <a:bodyPr wrap="square"/>
                    <a:lstStyle/>
                    <a:p>
                      <a:pPr algn="l"/>
                      <a:r>
                        <a:rPr sz="1100" b="0" i="1">
                          <a:solidFill>
                            <a:srgbClr val="000000"/>
                          </a:solidFill>
                          <a:latin typeface="Calibri"/>
                        </a:rPr>
                        <a:t>19.5.1.5.</a:t>
                      </a:r>
                      <a:r>
                        <a:rPr sz="700" b="0" i="1">
                          <a:solidFill>
                            <a:srgbClr val="000000"/>
                          </a:solidFill>
                          <a:latin typeface="Times New Roman"/>
                        </a:rPr>
                        <a:t> </a:t>
                      </a:r>
                      <a:r>
                        <a:rPr sz="1100" b="0" i="1">
                          <a:solidFill>
                            <a:srgbClr val="000000"/>
                          </a:solidFill>
                          <a:latin typeface="Calibri"/>
                        </a:rPr>
                        <a:t>Traditional grocery stores</a:t>
                      </a:r>
                      <a:endParaRPr sz="1100"/>
                    </a:p>
                  </a:txBody>
                  <a:tcPr marL="1028700" marR="9525" marT="9525" marB="0" anchor="ctr"/>
                </a:tc>
              </a:tr>
              <a:tr h="175260">
                <a:tc>
                  <a:txBody>
                    <a:bodyPr wrap="square"/>
                    <a:lstStyle/>
                    <a:p>
                      <a:pPr algn="l"/>
                      <a:r>
                        <a:rPr sz="1100" b="0" i="1">
                          <a:solidFill>
                            <a:srgbClr val="000000"/>
                          </a:solidFill>
                          <a:latin typeface="Calibri"/>
                        </a:rPr>
                        <a:t>19.5.1.6.</a:t>
                      </a:r>
                      <a:r>
                        <a:rPr sz="700" b="0" i="1">
                          <a:solidFill>
                            <a:srgbClr val="000000"/>
                          </a:solidFill>
                          <a:latin typeface="Times New Roman"/>
                        </a:rPr>
                        <a:t> </a:t>
                      </a:r>
                      <a:r>
                        <a:rPr sz="1100" b="0" i="1">
                          <a:solidFill>
                            <a:srgbClr val="000000"/>
                          </a:solidFill>
                          <a:latin typeface="Calibri"/>
                        </a:rPr>
                        <a:t>Speciality food and health stores</a:t>
                      </a:r>
                      <a:endParaRPr sz="1100"/>
                    </a:p>
                  </a:txBody>
                  <a:tcPr marL="1028700" marR="9525" marT="9525" marB="0" anchor="ctr"/>
                </a:tc>
              </a:tr>
              <a:tr h="175260">
                <a:tc>
                  <a:txBody>
                    <a:bodyPr wrap="square"/>
                    <a:lstStyle/>
                    <a:p>
                      <a:pPr algn="l"/>
                      <a:r>
                        <a:rPr sz="1100" b="0" i="1">
                          <a:solidFill>
                            <a:srgbClr val="000000"/>
                          </a:solidFill>
                          <a:latin typeface="Calibri"/>
                        </a:rPr>
                        <a:t>19.5.1.7.</a:t>
                      </a:r>
                      <a:r>
                        <a:rPr sz="700" b="0" i="1">
                          <a:solidFill>
                            <a:srgbClr val="000000"/>
                          </a:solidFill>
                          <a:latin typeface="Times New Roman"/>
                        </a:rPr>
                        <a:t> </a:t>
                      </a:r>
                      <a:r>
                        <a:rPr sz="1100" b="0" i="1">
                          <a:solidFill>
                            <a:srgbClr val="000000"/>
                          </a:solidFill>
                          <a:latin typeface="Calibri"/>
                        </a:rPr>
                        <a:t>Bakery outlets selling packaged products</a:t>
                      </a:r>
                      <a:endParaRPr sz="1100"/>
                    </a:p>
                  </a:txBody>
                  <a:tcPr marL="1028700" marR="9525" marT="9525" marB="0" anchor="ctr"/>
                </a:tc>
              </a:tr>
              <a:tr h="175260">
                <a:tc>
                  <a:txBody>
                    <a:bodyPr wrap="square"/>
                    <a:lstStyle/>
                    <a:p>
                      <a:pPr algn="l"/>
                      <a:r>
                        <a:rPr sz="1100" b="0" i="1">
                          <a:solidFill>
                            <a:srgbClr val="000000"/>
                          </a:solidFill>
                          <a:latin typeface="Calibri"/>
                        </a:rPr>
                        <a:t>19.5.1.8.</a:t>
                      </a:r>
                      <a:r>
                        <a:rPr sz="700" b="0" i="1">
                          <a:solidFill>
                            <a:srgbClr val="000000"/>
                          </a:solidFill>
                          <a:latin typeface="Times New Roman"/>
                        </a:rPr>
                        <a:t> </a:t>
                      </a:r>
                      <a:r>
                        <a:rPr sz="1100" b="0" i="1">
                          <a:solidFill>
                            <a:srgbClr val="000000"/>
                          </a:solidFill>
                          <a:latin typeface="Calibri"/>
                        </a:rPr>
                        <a:t>Online retail</a:t>
                      </a:r>
                      <a:endParaRPr sz="1100"/>
                    </a:p>
                  </a:txBody>
                  <a:tcPr marL="1028700" marR="9525" marT="9525" marB="0" anchor="ctr"/>
                </a:tc>
              </a:tr>
              <a:tr h="175260">
                <a:tc>
                  <a:txBody>
                    <a:bodyPr wrap="square"/>
                    <a:lstStyle/>
                    <a:p>
                      <a:pPr algn="l"/>
                      <a:r>
                        <a:rPr sz="1100" b="0" i="1">
                          <a:solidFill>
                            <a:srgbClr val="000000"/>
                          </a:solidFill>
                          <a:latin typeface="Calibri"/>
                        </a:rPr>
                        <a:t>19.5.1.8.1.</a:t>
                      </a:r>
                      <a:r>
                        <a:rPr sz="700" b="0" i="1">
                          <a:solidFill>
                            <a:srgbClr val="000000"/>
                          </a:solidFill>
                          <a:latin typeface="Times New Roman"/>
                        </a:rPr>
                        <a:t> </a:t>
                      </a:r>
                      <a:r>
                        <a:rPr sz="1100" b="0" i="1">
                          <a:solidFill>
                            <a:srgbClr val="000000"/>
                          </a:solidFill>
                          <a:latin typeface="Calibri"/>
                        </a:rPr>
                        <a:t>Retailer websites and apps</a:t>
                      </a:r>
                      <a:endParaRPr sz="1100"/>
                    </a:p>
                  </a:txBody>
                  <a:tcPr marL="1257300" marR="9525" marT="9525" marB="0" anchor="ctr"/>
                </a:tc>
              </a:tr>
              <a:tr h="175260">
                <a:tc>
                  <a:txBody>
                    <a:bodyPr wrap="square"/>
                    <a:lstStyle/>
                    <a:p>
                      <a:pPr algn="l"/>
                      <a:r>
                        <a:rPr sz="1100" b="0" i="1">
                          <a:solidFill>
                            <a:srgbClr val="000000"/>
                          </a:solidFill>
                          <a:latin typeface="Calibri"/>
                        </a:rPr>
                        <a:t>19.5.1.8.2.</a:t>
                      </a:r>
                      <a:r>
                        <a:rPr sz="700" b="0" i="1">
                          <a:solidFill>
                            <a:srgbClr val="000000"/>
                          </a:solidFill>
                          <a:latin typeface="Times New Roman"/>
                        </a:rPr>
                        <a:t> </a:t>
                      </a:r>
                      <a:r>
                        <a:rPr sz="1100" b="0" i="1">
                          <a:solidFill>
                            <a:srgbClr val="000000"/>
                          </a:solidFill>
                          <a:latin typeface="Calibri"/>
                        </a:rPr>
                        <a:t>Online marketplaces</a:t>
                      </a:r>
                      <a:endParaRPr sz="1100"/>
                    </a:p>
                  </a:txBody>
                  <a:tcPr marL="1257300" marR="9525" marT="9525" marB="0" anchor="ctr"/>
                </a:tc>
              </a:tr>
              <a:tr h="175260">
                <a:tc>
                  <a:txBody>
                    <a:bodyPr wrap="square"/>
                    <a:lstStyle/>
                    <a:p>
                      <a:pPr algn="l"/>
                      <a:r>
                        <a:rPr sz="1100" b="0" i="1">
                          <a:solidFill>
                            <a:srgbClr val="000000"/>
                          </a:solidFill>
                          <a:latin typeface="Calibri"/>
                        </a:rPr>
                        <a:t>19.5.1.8.3.</a:t>
                      </a:r>
                      <a:r>
                        <a:rPr sz="700" b="0" i="1">
                          <a:solidFill>
                            <a:srgbClr val="000000"/>
                          </a:solidFill>
                          <a:latin typeface="Times New Roman"/>
                        </a:rPr>
                        <a:t> </a:t>
                      </a:r>
                      <a:r>
                        <a:rPr sz="1100" b="0" i="1">
                          <a:solidFill>
                            <a:srgbClr val="000000"/>
                          </a:solidFill>
                          <a:latin typeface="Calibri"/>
                        </a:rPr>
                        <a:t>Quick-commerce platforms</a:t>
                      </a:r>
                      <a:endParaRPr sz="1100"/>
                    </a:p>
                  </a:txBody>
                  <a:tcPr marL="1257300" marR="9525" marT="9525" marB="0" anchor="ctr"/>
                </a:tc>
              </a:tr>
              <a:tr h="175260">
                <a:tc>
                  <a:txBody>
                    <a:bodyPr wrap="square"/>
                    <a:lstStyle/>
                    <a:p>
                      <a:pPr algn="l"/>
                      <a:r>
                        <a:rPr sz="1100" b="0" i="1">
                          <a:solidFill>
                            <a:srgbClr val="000000"/>
                          </a:solidFill>
                          <a:latin typeface="Calibri"/>
                        </a:rPr>
                        <a:t>19.5.1.8.4.</a:t>
                      </a:r>
                      <a:r>
                        <a:rPr sz="700" b="0" i="1">
                          <a:solidFill>
                            <a:srgbClr val="000000"/>
                          </a:solidFill>
                          <a:latin typeface="Times New Roman"/>
                        </a:rPr>
                        <a:t> </a:t>
                      </a:r>
                      <a:r>
                        <a:rPr sz="1100" b="0" i="1">
                          <a:solidFill>
                            <a:srgbClr val="000000"/>
                          </a:solidFill>
                          <a:latin typeface="Calibri"/>
                        </a:rPr>
                        <a:t>Brand-owned direct-to-consumer websites</a:t>
                      </a:r>
                      <a:endParaRPr sz="1100"/>
                    </a:p>
                  </a:txBody>
                  <a:tcPr marL="1257300" marR="9525" marT="9525" marB="0" anchor="ctr"/>
                </a:tc>
              </a:tr>
              <a:tr h="175260">
                <a:tc>
                  <a:txBody>
                    <a:bodyPr wrap="square"/>
                    <a:lstStyle/>
                    <a:p>
                      <a:pPr algn="l"/>
                      <a:r>
                        <a:rPr sz="1100" b="0" i="0">
                          <a:solidFill>
                            <a:srgbClr val="000000"/>
                          </a:solidFill>
                          <a:latin typeface="Calibri"/>
                        </a:rPr>
                        <a:t>19.5.2.</a:t>
                      </a:r>
                      <a:r>
                        <a:rPr sz="700" b="0" i="0">
                          <a:solidFill>
                            <a:srgbClr val="000000"/>
                          </a:solidFill>
                          <a:latin typeface="Times New Roman"/>
                        </a:rPr>
                        <a:t> </a:t>
                      </a:r>
                      <a:r>
                        <a:rPr sz="1100" b="0" i="0">
                          <a:solidFill>
                            <a:srgbClr val="000000"/>
                          </a:solidFill>
                          <a:latin typeface="Calibri"/>
                        </a:rPr>
                        <a:t>Foodservice and institutional</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19.5.2.1.</a:t>
                      </a:r>
                      <a:r>
                        <a:rPr sz="700" b="0" i="1">
                          <a:solidFill>
                            <a:srgbClr val="000000"/>
                          </a:solidFill>
                          <a:latin typeface="Times New Roman"/>
                        </a:rPr>
                        <a:t> </a:t>
                      </a:r>
                      <a:r>
                        <a:rPr sz="1100" b="0" i="1">
                          <a:solidFill>
                            <a:srgbClr val="000000"/>
                          </a:solidFill>
                          <a:latin typeface="Calibri"/>
                        </a:rPr>
                        <a:t>Cafés and coffee chains</a:t>
                      </a:r>
                      <a:endParaRPr sz="1100"/>
                    </a:p>
                  </a:txBody>
                  <a:tcPr marL="1028700" marR="9525" marT="9525" marB="0" anchor="ctr"/>
                </a:tc>
              </a:tr>
              <a:tr h="175260">
                <a:tc>
                  <a:txBody>
                    <a:bodyPr wrap="square"/>
                    <a:lstStyle/>
                    <a:p>
                      <a:pPr algn="l"/>
                      <a:r>
                        <a:rPr sz="1100" b="0" i="1">
                          <a:solidFill>
                            <a:srgbClr val="000000"/>
                          </a:solidFill>
                          <a:latin typeface="Calibri"/>
                        </a:rPr>
                        <a:t>19.5.2.2.</a:t>
                      </a:r>
                      <a:r>
                        <a:rPr sz="700" b="0" i="1">
                          <a:solidFill>
                            <a:srgbClr val="000000"/>
                          </a:solidFill>
                          <a:latin typeface="Times New Roman"/>
                        </a:rPr>
                        <a:t> </a:t>
                      </a:r>
                      <a:r>
                        <a:rPr sz="1100" b="0" i="1">
                          <a:solidFill>
                            <a:srgbClr val="000000"/>
                          </a:solidFill>
                          <a:latin typeface="Calibri"/>
                        </a:rPr>
                        <a:t>Hotels and restaurants</a:t>
                      </a:r>
                      <a:endParaRPr sz="1100"/>
                    </a:p>
                  </a:txBody>
                  <a:tcPr marL="1028700" marR="9525" marT="9525" marB="0" anchor="ctr"/>
                </a:tc>
              </a:tr>
              <a:tr h="175260">
                <a:tc>
                  <a:txBody>
                    <a:bodyPr wrap="square"/>
                    <a:lstStyle/>
                    <a:p>
                      <a:pPr algn="l"/>
                      <a:r>
                        <a:rPr sz="1100" b="0" i="1">
                          <a:solidFill>
                            <a:srgbClr val="000000"/>
                          </a:solidFill>
                          <a:latin typeface="Calibri"/>
                        </a:rPr>
                        <a:t>19.5.2.3.</a:t>
                      </a:r>
                      <a:r>
                        <a:rPr sz="700" b="0" i="1">
                          <a:solidFill>
                            <a:srgbClr val="000000"/>
                          </a:solidFill>
                          <a:latin typeface="Times New Roman"/>
                        </a:rPr>
                        <a:t> </a:t>
                      </a:r>
                      <a:r>
                        <a:rPr sz="1100" b="0" i="1">
                          <a:solidFill>
                            <a:srgbClr val="000000"/>
                          </a:solidFill>
                          <a:latin typeface="Calibri"/>
                        </a:rPr>
                        <a:t>Quick-service restaurants</a:t>
                      </a:r>
                      <a:endParaRPr sz="1100"/>
                    </a:p>
                  </a:txBody>
                  <a:tcPr marL="1028700" marR="9525" marT="9525" marB="0" anchor="ctr"/>
                </a:tc>
              </a:tr>
              <a:tr h="175260">
                <a:tc>
                  <a:txBody>
                    <a:bodyPr wrap="square"/>
                    <a:lstStyle/>
                    <a:p>
                      <a:pPr algn="l"/>
                      <a:r>
                        <a:rPr sz="1100" b="0" i="1">
                          <a:solidFill>
                            <a:srgbClr val="000000"/>
                          </a:solidFill>
                          <a:latin typeface="Calibri"/>
                        </a:rPr>
                        <a:t>19.5.2.4.</a:t>
                      </a:r>
                      <a:r>
                        <a:rPr sz="700" b="0" i="1">
                          <a:solidFill>
                            <a:srgbClr val="000000"/>
                          </a:solidFill>
                          <a:latin typeface="Times New Roman"/>
                        </a:rPr>
                        <a:t> </a:t>
                      </a:r>
                      <a:r>
                        <a:rPr sz="1100" b="0" i="1">
                          <a:solidFill>
                            <a:srgbClr val="000000"/>
                          </a:solidFill>
                          <a:latin typeface="Calibri"/>
                        </a:rPr>
                        <a:t>Corporate catering</a:t>
                      </a:r>
                      <a:endParaRPr sz="1100"/>
                    </a:p>
                  </a:txBody>
                  <a:tcPr marL="1028700" marR="9525" marT="9525" marB="0" anchor="ctr"/>
                </a:tc>
              </a:tr>
              <a:tr h="175260">
                <a:tc>
                  <a:txBody>
                    <a:bodyPr wrap="square"/>
                    <a:lstStyle/>
                    <a:p>
                      <a:pPr algn="l"/>
                      <a:r>
                        <a:rPr sz="1100" b="0" i="1">
                          <a:solidFill>
                            <a:srgbClr val="000000"/>
                          </a:solidFill>
                          <a:latin typeface="Calibri"/>
                        </a:rPr>
                        <a:t>19.5.2.5.</a:t>
                      </a:r>
                      <a:r>
                        <a:rPr sz="700" b="0" i="1">
                          <a:solidFill>
                            <a:srgbClr val="000000"/>
                          </a:solidFill>
                          <a:latin typeface="Times New Roman"/>
                        </a:rPr>
                        <a:t> </a:t>
                      </a:r>
                      <a:r>
                        <a:rPr sz="1100" b="0" i="1">
                          <a:solidFill>
                            <a:srgbClr val="000000"/>
                          </a:solidFill>
                          <a:latin typeface="Calibri"/>
                        </a:rPr>
                        <a:t>Educational institutions</a:t>
                      </a:r>
                      <a:endParaRPr sz="1100"/>
                    </a:p>
                  </a:txBody>
                  <a:tcPr marL="1028700" marR="9525" marT="9525" marB="0" anchor="ctr"/>
                </a:tc>
              </a:tr>
              <a:tr h="175260">
                <a:tc>
                  <a:txBody>
                    <a:bodyPr wrap="square"/>
                    <a:lstStyle/>
                    <a:p>
                      <a:pPr algn="l"/>
                      <a:r>
                        <a:rPr sz="1100" b="0" i="1">
                          <a:solidFill>
                            <a:srgbClr val="000000"/>
                          </a:solidFill>
                          <a:latin typeface="Calibri"/>
                        </a:rPr>
                        <a:t>19.5.2.6.</a:t>
                      </a:r>
                      <a:r>
                        <a:rPr sz="700" b="0" i="1">
                          <a:solidFill>
                            <a:srgbClr val="000000"/>
                          </a:solidFill>
                          <a:latin typeface="Times New Roman"/>
                        </a:rPr>
                        <a:t> </a:t>
                      </a:r>
                      <a:r>
                        <a:rPr sz="1100" b="0" i="1">
                          <a:solidFill>
                            <a:srgbClr val="000000"/>
                          </a:solidFill>
                          <a:latin typeface="Calibri"/>
                        </a:rPr>
                        <a:t>Healthcare institutions</a:t>
                      </a:r>
                      <a:endParaRPr sz="1100"/>
                    </a:p>
                  </a:txBody>
                  <a:tcPr marL="1028700" marR="9525" marT="9525" marB="0" anchor="ctr"/>
                </a:tc>
              </a:tr>
              <a:tr h="175260">
                <a:tc>
                  <a:txBody>
                    <a:bodyPr wrap="square"/>
                    <a:lstStyle/>
                    <a:p>
                      <a:pPr algn="l"/>
                      <a:r>
                        <a:rPr sz="1100" b="0" i="1">
                          <a:solidFill>
                            <a:srgbClr val="000000"/>
                          </a:solidFill>
                          <a:latin typeface="Calibri"/>
                        </a:rPr>
                        <a:t>19.5.2.7.</a:t>
                      </a:r>
                      <a:r>
                        <a:rPr sz="700" b="0" i="1">
                          <a:solidFill>
                            <a:srgbClr val="000000"/>
                          </a:solidFill>
                          <a:latin typeface="Times New Roman"/>
                        </a:rPr>
                        <a:t> </a:t>
                      </a:r>
                      <a:r>
                        <a:rPr sz="1100" b="0" i="1">
                          <a:solidFill>
                            <a:srgbClr val="000000"/>
                          </a:solidFill>
                          <a:latin typeface="Calibri"/>
                        </a:rPr>
                        <a:t>Airline and travel catering</a:t>
                      </a:r>
                      <a:endParaRPr sz="1100"/>
                    </a:p>
                  </a:txBody>
                  <a:tcPr marL="1028700" marR="9525" marT="9525" marB="0" anchor="ctr"/>
                </a:tc>
              </a:tr>
              <a:tr h="175260">
                <a:tc>
                  <a:txBody>
                    <a:bodyPr wrap="square"/>
                    <a:lstStyle/>
                    <a:p>
                      <a:pPr algn="l"/>
                      <a:r>
                        <a:rPr sz="1100" b="0" i="0">
                          <a:solidFill>
                            <a:srgbClr val="000000"/>
                          </a:solidFill>
                          <a:latin typeface="Calibri"/>
                        </a:rPr>
                        <a:t>19.5.3.</a:t>
                      </a:r>
                      <a:r>
                        <a:rPr sz="700" b="0" i="0">
                          <a:solidFill>
                            <a:srgbClr val="000000"/>
                          </a:solidFill>
                          <a:latin typeface="Times New Roman"/>
                        </a:rPr>
                        <a:t> </a:t>
                      </a:r>
                      <a:r>
                        <a:rPr sz="1100" b="0" i="0">
                          <a:solidFill>
                            <a:srgbClr val="000000"/>
                          </a:solidFill>
                          <a:latin typeface="Calibri"/>
                        </a:rPr>
                        <a:t>Vending</a:t>
                      </a:r>
                      <a:endParaRPr sz="1100"/>
                    </a:p>
                  </a:txBody>
                  <a:tcPr marL="771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20.5.1.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20.5.1.1.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20.5.1.2.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20.5.2.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20.5.2.1.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20.5.2.2.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20.5.2.3.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20.5.3.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20.5.3.1.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20.5.3.2.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20.5.3.3.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20.5.4.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20.5.4.1.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20.5.4.2.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20.5.4.3.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20.5.4.4.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20.5.4.5.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20.5.4.6.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20.5.4.7.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20.5.4.8.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20.5.4.9.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20.5.5.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20.5.5.1.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20.5.5.2.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20.5.5.3.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20.5.5.4.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20.5.5.5.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20.5.5.6.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20.5.5.7.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20.5.5.8.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r h="175260">
                <a:tc>
                  <a:txBody>
                    <a:bodyPr wrap="square"/>
                    <a:lstStyle/>
                    <a:p>
                      <a:pPr algn="l"/>
                      <a:r>
                        <a:rPr sz="1100" b="0" i="1">
                          <a:solidFill>
                            <a:srgbClr val="000000"/>
                          </a:solidFill>
                          <a:latin typeface="Calibri"/>
                        </a:rPr>
                        <a:t>20.5.5.9.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20.5.5.10.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20.5.5.11.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20.5.5.12.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20.5.6.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20.5.6.1.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20.5.6.2.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20.5.6.3.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20.5.6.4.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20.5.6.5.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20.5.6.6.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20.5.6.7.</a:t>
                      </a:r>
                      <a:r>
                        <a:rPr sz="700" b="0" i="1">
                          <a:solidFill>
                            <a:srgbClr val="000000"/>
                          </a:solidFill>
                          <a:latin typeface="Times New Roman"/>
                        </a:rPr>
                        <a:t> </a:t>
                      </a:r>
                      <a:r>
                        <a:rPr sz="1100" b="0" i="1">
                          <a:solidFill>
                            <a:srgbClr val="000000"/>
                          </a:solidFill>
                          <a:latin typeface="Calibri"/>
                        </a:rPr>
                        <a:t>Rest of MEA</a:t>
                      </a:r>
                      <a:endParaRPr sz="1100"/>
                    </a:p>
                  </a:txBody>
                  <a:tcPr marL="1028700" marR="9525" marT="9525" marB="0" anchor="ctr"/>
                </a:tc>
              </a:tr>
              <a:tr h="175260">
                <a:tc>
                  <a:txBody>
                    <a:bodyPr wrap="square"/>
                    <a:lstStyle/>
                    <a:p>
                      <a:pPr algn="l"/>
                      <a:r>
                        <a:rPr sz="1100" b="0" i="1">
                          <a:solidFill>
                            <a:srgbClr val="EE0000"/>
                          </a:solidFill>
                          <a:latin typeface="Calibri"/>
                        </a:rPr>
                        <a:t>Note: Value &amp; Volume (US$ Mn / MT)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Product Type × Flavour</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Product Type × Packaging Format</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(7/12)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Product Type × Sales Channel</a:t>
                      </a:r>
                      <a:endParaRPr sz="1100"/>
                    </a:p>
                  </a:txBody>
                  <a:tcPr marL="428625" marR="9525" marT="9525" marB="0" anchor="ctr"/>
                </a:tc>
              </a:tr>
              <a:tr h="175260">
                <a:tc>
                  <a:txBody>
                    <a:bodyPr wrap="square"/>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Product Type × Individual Muffin Size</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22.4.2.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22.4.3.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22.4.4.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22.4.5.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22.4.6.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22.4.7.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22.4.8.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22.4.9.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22.4.10.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22.4.11.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22.4.12.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22.4.13.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22.4.14.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22.4.15.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22.4.16.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22.4.17.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22.4.18.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23.4.2.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23.4.3.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23.4.4.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23.4.5.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23.4.6.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23.4.7.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23.4.8.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23.4.9.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23.4.10.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23.4.11.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23.4.12.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23.4.13.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23.4.14.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23.4.15.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23.4.16.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23.4.17.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23.4.18.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24.4.1.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24.4.2.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24.4.3.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24.4.4.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24.4.5.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(8/12)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24.4.6.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24.4.7.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24.4.8.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24.4.9.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24.4.10.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24.4.11.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24.4.12.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24.4.13.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24.4.14.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24.4.15.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24.4.16.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24.4.17.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24.4.18.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25.4.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25.4.1.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25.4.2.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25.4.3.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25.4.4.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25.4.5.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25.4.6.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25.4.7.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25.4.8.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25.4.9.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25.4.10.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25.4.11.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25.4.12.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25.4.13.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25.4.14.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25.4.15.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25.4.16.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25.4.17.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25.4.18.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26.3.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26.4.1.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26.4.2.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26.4.3.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26.4.4.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26.4.5.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26.4.6.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26.4.7.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26.4.8.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26.4.9.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26.4.10.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26.4.11.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26.4.12.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26.4.13.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26.4.14.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26.4.15.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26.4.16.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26.4.17.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26.4.18.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(9/12)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27.1.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27.2.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27.3.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27.4.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27.4.1.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27.4.2.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27.4.3.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27.4.4.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27.4.5.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27.4.6.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27.4.7.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27.4.8.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27.4.9.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27.4.10.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27.4.11.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27.4.12.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27.4.13.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27.4.14.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27.4.15.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27.4.16.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27.4.17.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27.4.18.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28.1.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28.1.1.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28.1.2.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28.1.3.</a:t>
                      </a:r>
                      <a:r>
                        <a:rPr sz="700" b="0" i="0">
                          <a:solidFill>
                            <a:srgbClr val="000000"/>
                          </a:solidFill>
                          <a:latin typeface="Times New Roman"/>
                        </a:rPr>
                        <a:t> </a:t>
                      </a:r>
                      <a:r>
                        <a:rPr sz="1100" b="0" i="0">
                          <a:solidFill>
                            <a:srgbClr val="000000"/>
                          </a:solidFill>
                          <a:latin typeface="Calibri"/>
                        </a:rPr>
                        <a:t>Retail Level Pricing</a:t>
                      </a:r>
                      <a:endParaRPr sz="1100"/>
                    </a:p>
                  </a:txBody>
                  <a:tcPr marL="771525" marR="9525" marT="9525" marB="0" anchor="ctr"/>
                </a:tc>
              </a:tr>
              <a:tr h="175260">
                <a:tc>
                  <a:txBody>
                    <a:bodyPr wrap="square"/>
                    <a:lstStyle/>
                    <a:p>
                      <a:pPr algn="l"/>
                      <a:r>
                        <a:rPr sz="1100" b="0" i="0">
                          <a:solidFill>
                            <a:srgbClr val="0070C0"/>
                          </a:solidFill>
                          <a:latin typeface="Calibri"/>
                        </a:rPr>
                        <a:t>28.2.</a:t>
                      </a:r>
                      <a:r>
                        <a:rPr sz="700" b="0" i="0">
                          <a:solidFill>
                            <a:srgbClr val="0070C0"/>
                          </a:solidFill>
                          <a:latin typeface="Times New Roman"/>
                        </a:rPr>
                        <a:t>  </a:t>
                      </a:r>
                      <a:r>
                        <a:rPr sz="1100" b="0" i="0">
                          <a:solidFill>
                            <a:srgbClr val="0070C0"/>
                          </a:solidFill>
                          <a:latin typeface="Calibri"/>
                        </a:rPr>
                        <a:t>Segment-wise Price Comparison (Product Type vs Product Format)</a:t>
                      </a:r>
                      <a:endParaRPr sz="1100"/>
                    </a:p>
                  </a:txBody>
                  <a:tcPr marL="428625" marR="9525" marT="9525" marB="0" anchor="ctr"/>
                </a:tc>
              </a:tr>
              <a:tr h="175260">
                <a:tc>
                  <a:txBody>
                    <a:bodyPr wrap="square"/>
                    <a:lstStyle/>
                    <a:p>
                      <a:pPr algn="l"/>
                      <a:r>
                        <a:rPr sz="1100" b="0" i="0">
                          <a:solidFill>
                            <a:srgbClr val="0070C0"/>
                          </a:solidFill>
                          <a:latin typeface="Calibri"/>
                        </a:rPr>
                        <a:t>28.3.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28.4.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28.5.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28.6.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Voice of Customer and Decision-driver Analysis</a:t>
                      </a:r>
                      <a:endParaRPr sz="1100"/>
                    </a:p>
                  </a:txBody>
                  <a:tcPr marL="9525" marR="9525" marT="9525" marB="0" anchor="ctr"/>
                </a:tc>
              </a:tr>
              <a:tr h="175260">
                <a:tc>
                  <a:txBody>
                    <a:bodyPr wrap="square"/>
                    <a:lstStyle/>
                    <a:p>
                      <a:pPr algn="l"/>
                      <a:r>
                        <a:rPr sz="1100" b="1" i="0">
                          <a:solidFill>
                            <a:srgbClr val="000000"/>
                          </a:solidFill>
                          <a:latin typeface="Calibri"/>
                        </a:rPr>
                        <a:t>29.</a:t>
                      </a:r>
                      <a:r>
                        <a:rPr sz="700" b="1" i="0">
                          <a:solidFill>
                            <a:srgbClr val="000000"/>
                          </a:solidFill>
                          <a:latin typeface="Times New Roman"/>
                        </a:rPr>
                        <a:t>    </a:t>
                      </a:r>
                      <a:r>
                        <a:rPr sz="1100" b="1" i="0">
                          <a:solidFill>
                            <a:srgbClr val="000000"/>
                          </a:solidFill>
                          <a:latin typeface="Calibri"/>
                        </a:rPr>
                        <a:t>Consumer Perception Analysis</a:t>
                      </a:r>
                      <a:endParaRPr sz="1100"/>
                    </a:p>
                  </a:txBody>
                  <a:tcPr marL="171450" marR="9525" marT="9525" marB="0" anchor="ctr"/>
                </a:tc>
              </a:tr>
              <a:tr h="175260">
                <a:tc>
                  <a:txBody>
                    <a:bodyPr wrap="square"/>
                    <a:lstStyle/>
                    <a:p>
                      <a:pPr algn="l"/>
                      <a:r>
                        <a:rPr sz="1100" b="0" i="0">
                          <a:solidFill>
                            <a:srgbClr val="0070C0"/>
                          </a:solidFill>
                          <a:latin typeface="Calibri"/>
                        </a:rPr>
                        <a:t>29.1.</a:t>
                      </a:r>
                      <a:r>
                        <a:rPr sz="700" b="0" i="0">
                          <a:solidFill>
                            <a:srgbClr val="0070C0"/>
                          </a:solidFill>
                          <a:latin typeface="Times New Roman"/>
                        </a:rPr>
                        <a:t>  </a:t>
                      </a:r>
                      <a:r>
                        <a:rPr sz="1100" b="0" i="0">
                          <a:solidFill>
                            <a:srgbClr val="0070C0"/>
                          </a:solidFill>
                          <a:latin typeface="Calibri"/>
                        </a:rPr>
                        <a:t>Consumer Demand and Consumption Behavior</a:t>
                      </a:r>
                      <a:endParaRPr sz="1100"/>
                    </a:p>
                  </a:txBody>
                  <a:tcPr marL="428625" marR="9525" marT="9525" marB="0" anchor="ctr"/>
                </a:tc>
              </a:tr>
              <a:tr h="175260">
                <a:tc>
                  <a:txBody>
                    <a:bodyPr wrap="square"/>
                    <a:lstStyle/>
                    <a:p>
                      <a:pPr algn="l"/>
                      <a:r>
                        <a:rPr sz="1100" b="0" i="0">
                          <a:solidFill>
                            <a:srgbClr val="000000"/>
                          </a:solidFill>
                          <a:latin typeface="Calibri"/>
                        </a:rPr>
                        <a:t>29.1.1.</a:t>
                      </a:r>
                      <a:r>
                        <a:rPr sz="700" b="0" i="0">
                          <a:solidFill>
                            <a:srgbClr val="000000"/>
                          </a:solidFill>
                          <a:latin typeface="Times New Roman"/>
                        </a:rPr>
                        <a:t> </a:t>
                      </a:r>
                      <a:r>
                        <a:rPr sz="1100" b="0" i="0">
                          <a:solidFill>
                            <a:srgbClr val="000000"/>
                          </a:solidFill>
                          <a:latin typeface="Calibri"/>
                        </a:rPr>
                        <a:t>Consumer Demand by Age Group, Income Group and Household Type</a:t>
                      </a:r>
                      <a:endParaRPr sz="1100"/>
                    </a:p>
                  </a:txBody>
                  <a:tcPr marL="771525" marR="9525" marT="9525" marB="0" anchor="ctr"/>
                </a:tc>
              </a:tr>
              <a:tr h="350520">
                <a:tc>
                  <a:txBody>
                    <a:bodyPr wrap="square"/>
                    <a:lstStyle/>
                    <a:p>
                      <a:pPr algn="l"/>
                      <a:r>
                        <a:rPr sz="1100" b="0" i="0">
                          <a:solidFill>
                            <a:srgbClr val="000000"/>
                          </a:solidFill>
                          <a:latin typeface="Calibri"/>
                        </a:rPr>
                        <a:t>29.1.2.</a:t>
                      </a:r>
                      <a:r>
                        <a:rPr sz="700" b="0" i="0">
                          <a:solidFill>
                            <a:srgbClr val="000000"/>
                          </a:solidFill>
                          <a:latin typeface="Times New Roman"/>
                        </a:rPr>
                        <a:t> </a:t>
                      </a:r>
                      <a:r>
                        <a:rPr sz="1100" b="0" i="0">
                          <a:solidFill>
                            <a:srgbClr val="000000"/>
                          </a:solidFill>
                          <a:latin typeface="Calibri"/>
                        </a:rPr>
                        <a:t>Consumption Frequency by Muffin Category, Product Format and Usage Occasion</a:t>
                      </a:r>
                      <a:endParaRPr sz="1100"/>
                    </a:p>
                  </a:txBody>
                  <a:tcPr marL="771525" marR="9525" marT="9525" marB="0" anchor="ctr"/>
                </a:tc>
              </a:tr>
              <a:tr h="175260">
                <a:tc>
                  <a:txBody>
                    <a:bodyPr wrap="square"/>
                    <a:lstStyle/>
                    <a:p>
                      <a:pPr algn="l"/>
                      <a:r>
                        <a:rPr sz="1100" b="0" i="0">
                          <a:solidFill>
                            <a:srgbClr val="000000"/>
                          </a:solidFill>
                          <a:latin typeface="Calibri"/>
                        </a:rPr>
                        <a:t>29.1.3.</a:t>
                      </a:r>
                      <a:r>
                        <a:rPr sz="700" b="0" i="0">
                          <a:solidFill>
                            <a:srgbClr val="000000"/>
                          </a:solidFill>
                          <a:latin typeface="Times New Roman"/>
                        </a:rPr>
                        <a:t> </a:t>
                      </a:r>
                      <a:r>
                        <a:rPr sz="1100" b="0" i="0">
                          <a:solidFill>
                            <a:srgbClr val="000000"/>
                          </a:solidFill>
                          <a:latin typeface="Calibri"/>
                        </a:rPr>
                        <a:t>Consumption Pattern by Daypart, Purchase Mission and Household Type</a:t>
                      </a:r>
                      <a:endParaRPr sz="1100"/>
                    </a:p>
                  </a:txBody>
                  <a:tcPr marL="771525" marR="9525" marT="9525" marB="0" anchor="ctr"/>
                </a:tc>
              </a:tr>
              <a:tr h="175260">
                <a:tc>
                  <a:txBody>
                    <a:bodyPr wrap="square"/>
                    <a:lstStyle/>
                    <a:p>
                      <a:pPr algn="l"/>
                      <a:r>
                        <a:rPr sz="1100" b="0" i="0">
                          <a:solidFill>
                            <a:srgbClr val="000000"/>
                          </a:solidFill>
                          <a:latin typeface="Calibri"/>
                        </a:rPr>
                        <a:t>29.1.4.</a:t>
                      </a:r>
                      <a:r>
                        <a:rPr sz="700" b="0" i="0">
                          <a:solidFill>
                            <a:srgbClr val="000000"/>
                          </a:solidFill>
                          <a:latin typeface="Times New Roman"/>
                        </a:rPr>
                        <a:t> </a:t>
                      </a:r>
                      <a:r>
                        <a:rPr sz="1100" b="0" i="0">
                          <a:solidFill>
                            <a:srgbClr val="000000"/>
                          </a:solidFill>
                          <a:latin typeface="Calibri"/>
                        </a:rPr>
                        <a:t>Demand Preference by Region, Country and Consumer Segment</a:t>
                      </a:r>
                      <a:endParaRPr sz="1100"/>
                    </a:p>
                  </a:txBody>
                  <a:tcPr marL="771525" marR="9525" marT="9525" marB="0" anchor="ctr"/>
                </a:tc>
              </a:tr>
              <a:tr h="175260">
                <a:tc>
                  <a:txBody>
                    <a:bodyPr wrap="square"/>
                    <a:lstStyle/>
                    <a:p>
                      <a:pPr algn="l"/>
                      <a:r>
                        <a:rPr sz="1100" b="0" i="0">
                          <a:solidFill>
                            <a:srgbClr val="000000"/>
                          </a:solidFill>
                          <a:latin typeface="Calibri"/>
                        </a:rPr>
                        <a:t>29.1.5.</a:t>
                      </a:r>
                      <a:r>
                        <a:rPr sz="700" b="0" i="0">
                          <a:solidFill>
                            <a:srgbClr val="000000"/>
                          </a:solidFill>
                          <a:latin typeface="Times New Roman"/>
                        </a:rPr>
                        <a:t> </a:t>
                      </a:r>
                      <a:r>
                        <a:rPr sz="1100" b="0" i="0">
                          <a:solidFill>
                            <a:srgbClr val="000000"/>
                          </a:solidFill>
                          <a:latin typeface="Calibri"/>
                        </a:rPr>
                        <a:t>Purchase Intent by Consumption Occasion and Product Need-State</a:t>
                      </a:r>
                      <a:endParaRPr sz="1100"/>
                    </a:p>
                  </a:txBody>
                  <a:tcPr marL="771525" marR="9525" marT="9525" marB="0" anchor="ctr"/>
                </a:tc>
              </a:tr>
              <a:tr h="175260">
                <a:tc>
                  <a:txBody>
                    <a:bodyPr wrap="square"/>
                    <a:lstStyle/>
                    <a:p>
                      <a:pPr algn="l"/>
                      <a:r>
                        <a:rPr sz="1100" b="0" i="0">
                          <a:solidFill>
                            <a:srgbClr val="0070C0"/>
                          </a:solidFill>
                          <a:latin typeface="Calibri"/>
                        </a:rPr>
                        <a:t>29.2.</a:t>
                      </a:r>
                      <a:r>
                        <a:rPr sz="700" b="0" i="0">
                          <a:solidFill>
                            <a:srgbClr val="0070C0"/>
                          </a:solidFill>
                          <a:latin typeface="Times New Roman"/>
                        </a:rPr>
                        <a:t>  </a:t>
                      </a:r>
                      <a:r>
                        <a:rPr sz="1100" b="0" i="0">
                          <a:solidFill>
                            <a:srgbClr val="0070C0"/>
                          </a:solidFill>
                          <a:latin typeface="Calibri"/>
                        </a:rPr>
                        <a:t>Purchase Drivers and Consumer Decision Journey</a:t>
                      </a:r>
                      <a:endParaRPr sz="1100"/>
                    </a:p>
                  </a:txBody>
                  <a:tcPr marL="428625" marR="9525" marT="9525" marB="0" anchor="ctr"/>
                </a:tc>
              </a:tr>
              <a:tr h="175260">
                <a:tc>
                  <a:txBody>
                    <a:bodyPr wrap="square"/>
                    <a:lstStyle/>
                    <a:p>
                      <a:pPr algn="l"/>
                      <a:r>
                        <a:rPr sz="1100" b="0" i="0">
                          <a:solidFill>
                            <a:srgbClr val="000000"/>
                          </a:solidFill>
                          <a:latin typeface="Calibri"/>
                        </a:rPr>
                        <a:t>29.2.1.</a:t>
                      </a:r>
                      <a:r>
                        <a:rPr sz="700" b="0" i="0">
                          <a:solidFill>
                            <a:srgbClr val="000000"/>
                          </a:solidFill>
                          <a:latin typeface="Times New Roman"/>
                        </a:rPr>
                        <a:t> </a:t>
                      </a:r>
                      <a:r>
                        <a:rPr sz="1100" b="0" i="0">
                          <a:solidFill>
                            <a:srgbClr val="000000"/>
                          </a:solidFill>
                          <a:latin typeface="Calibri"/>
                        </a:rPr>
                        <a:t>Purchase Drivers by Taste, Freshness, Price, Convenience and Product Quality</a:t>
                      </a:r>
                      <a:endParaRPr sz="1100"/>
                    </a:p>
                  </a:txBody>
                  <a:tcPr marL="771525" marR="9525" marT="9525" marB="0" anchor="ctr"/>
                </a:tc>
              </a:tr>
              <a:tr h="175260">
                <a:tc>
                  <a:txBody>
                    <a:bodyPr wrap="square"/>
                    <a:lstStyle/>
                    <a:p>
                      <a:pPr algn="l"/>
                      <a:r>
                        <a:rPr sz="1100" b="0" i="0">
                          <a:solidFill>
                            <a:srgbClr val="000000"/>
                          </a:solidFill>
                          <a:latin typeface="Calibri"/>
                        </a:rPr>
                        <a:t>29.2.2.</a:t>
                      </a:r>
                      <a:r>
                        <a:rPr sz="700" b="0" i="0">
                          <a:solidFill>
                            <a:srgbClr val="000000"/>
                          </a:solidFill>
                          <a:latin typeface="Times New Roman"/>
                        </a:rPr>
                        <a:t> </a:t>
                      </a:r>
                      <a:r>
                        <a:rPr sz="1100" b="0" i="0">
                          <a:solidFill>
                            <a:srgbClr val="000000"/>
                          </a:solidFill>
                          <a:latin typeface="Calibri"/>
                        </a:rPr>
                        <a:t>Consumer Decision Factors by Brand, Product Format and Purchase Occasion</a:t>
                      </a:r>
                      <a:endParaRPr sz="1100"/>
                    </a:p>
                  </a:txBody>
                  <a:tcPr marL="771525" marR="9525" marT="9525" marB="0" anchor="ctr"/>
                </a:tc>
              </a:tr>
              <a:tr h="175260">
                <a:tc>
                  <a:txBody>
                    <a:bodyPr wrap="square"/>
                    <a:lstStyle/>
                    <a:p>
                      <a:pPr algn="l"/>
                      <a:r>
                        <a:rPr sz="1100" b="0" i="0">
                          <a:solidFill>
                            <a:srgbClr val="000000"/>
                          </a:solidFill>
                          <a:latin typeface="Calibri"/>
                        </a:rPr>
                        <a:t>29.2.3.</a:t>
                      </a:r>
                      <a:r>
                        <a:rPr sz="700" b="0" i="0">
                          <a:solidFill>
                            <a:srgbClr val="000000"/>
                          </a:solidFill>
                          <a:latin typeface="Times New Roman"/>
                        </a:rPr>
                        <a:t> </a:t>
                      </a:r>
                      <a:r>
                        <a:rPr sz="1100" b="0" i="0">
                          <a:solidFill>
                            <a:srgbClr val="000000"/>
                          </a:solidFill>
                          <a:latin typeface="Calibri"/>
                        </a:rPr>
                        <a:t>Shopping Journey by Product Discovery, Evaluation and Purchase Stage</a:t>
                      </a:r>
                      <a:endParaRPr sz="1100"/>
                    </a:p>
                  </a:txBody>
                  <a:tcPr marL="771525" marR="9525" marT="9525" marB="0" anchor="ctr"/>
                </a:tc>
              </a:tr>
              <a:tr h="175260">
                <a:tc>
                  <a:txBody>
                    <a:bodyPr wrap="square"/>
                    <a:lstStyle/>
                    <a:p>
                      <a:pPr algn="l"/>
                      <a:r>
                        <a:rPr sz="1100" b="0" i="0">
                          <a:solidFill>
                            <a:srgbClr val="000000"/>
                          </a:solidFill>
                          <a:latin typeface="Calibri"/>
                        </a:rPr>
                        <a:t>29.2.4.</a:t>
                      </a:r>
                      <a:r>
                        <a:rPr sz="700" b="0" i="0">
                          <a:solidFill>
                            <a:srgbClr val="000000"/>
                          </a:solidFill>
                          <a:latin typeface="Times New Roman"/>
                        </a:rPr>
                        <a:t> </a:t>
                      </a:r>
                      <a:r>
                        <a:rPr sz="1100" b="0" i="0">
                          <a:solidFill>
                            <a:srgbClr val="000000"/>
                          </a:solidFill>
                          <a:latin typeface="Calibri"/>
                        </a:rPr>
                        <a:t>Retail Price Sensitivity by Consumer Segment and Affordability Band</a:t>
                      </a:r>
                      <a:endParaRPr sz="1100"/>
                    </a:p>
                  </a:txBody>
                  <a:tcPr marL="771525" marR="9525" marT="9525" marB="0" anchor="ctr"/>
                </a:tc>
              </a:tr>
              <a:tr h="350520">
                <a:tc>
                  <a:txBody>
                    <a:bodyPr wrap="square"/>
                    <a:lstStyle/>
                    <a:p>
                      <a:pPr algn="l"/>
                      <a:r>
                        <a:rPr sz="1100" b="0" i="0">
                          <a:solidFill>
                            <a:srgbClr val="000000"/>
                          </a:solidFill>
                          <a:latin typeface="Calibri"/>
                        </a:rPr>
                        <a:t>29.2.5.</a:t>
                      </a:r>
                      <a:r>
                        <a:rPr sz="700" b="0" i="0">
                          <a:solidFill>
                            <a:srgbClr val="000000"/>
                          </a:solidFill>
                          <a:latin typeface="Times New Roman"/>
                        </a:rPr>
                        <a:t> </a:t>
                      </a:r>
                      <a:r>
                        <a:rPr sz="1100" b="0" i="0">
                          <a:solidFill>
                            <a:srgbClr val="000000"/>
                          </a:solidFill>
                          <a:latin typeface="Calibri"/>
                        </a:rPr>
                        <a:t>Repeat Purchase Drivers by Product Satisfaction, Brand Experience and Value Perception</a:t>
                      </a:r>
                      <a:endParaRPr sz="1100"/>
                    </a:p>
                  </a:txBody>
                  <a:tcPr marL="771525" marR="9525" marT="9525" marB="0" anchor="ctr"/>
                </a:tc>
              </a:tr>
              <a:tr h="175260">
                <a:tc>
                  <a:txBody>
                    <a:bodyPr wrap="square"/>
                    <a:lstStyle/>
                    <a:p>
                      <a:pPr algn="l"/>
                      <a:r>
                        <a:rPr sz="1100" b="0" i="0">
                          <a:solidFill>
                            <a:srgbClr val="0070C0"/>
                          </a:solidFill>
                          <a:latin typeface="Calibri"/>
                        </a:rPr>
                        <a:t>29.3.</a:t>
                      </a:r>
                      <a:r>
                        <a:rPr sz="700" b="0" i="0">
                          <a:solidFill>
                            <a:srgbClr val="0070C0"/>
                          </a:solidFill>
                          <a:latin typeface="Times New Roman"/>
                        </a:rPr>
                        <a:t>  </a:t>
                      </a:r>
                      <a:r>
                        <a:rPr sz="1100" b="0" i="0">
                          <a:solidFill>
                            <a:srgbClr val="0070C0"/>
                          </a:solidFill>
                          <a:latin typeface="Calibri"/>
                        </a:rPr>
                        <a:t>Product, Flavor and Attribute Preferences</a:t>
                      </a:r>
                      <a:endParaRPr sz="1100"/>
                    </a:p>
                  </a:txBody>
                  <a:tcPr marL="428625" marR="9525" marT="9525" marB="0" anchor="ctr"/>
                </a:tc>
              </a:tr>
              <a:tr h="175260">
                <a:tc>
                  <a:txBody>
                    <a:bodyPr wrap="square"/>
                    <a:lstStyle/>
                    <a:p>
                      <a:pPr algn="l"/>
                      <a:r>
                        <a:rPr sz="1100" b="0" i="0">
                          <a:solidFill>
                            <a:srgbClr val="000000"/>
                          </a:solidFill>
                          <a:latin typeface="Calibri"/>
                        </a:rPr>
                        <a:t>29.3.1.</a:t>
                      </a:r>
                      <a:r>
                        <a:rPr sz="700" b="0" i="0">
                          <a:solidFill>
                            <a:srgbClr val="000000"/>
                          </a:solidFill>
                          <a:latin typeface="Times New Roman"/>
                        </a:rPr>
                        <a:t> </a:t>
                      </a:r>
                      <a:r>
                        <a:rPr sz="1100" b="0" i="0">
                          <a:solidFill>
                            <a:srgbClr val="000000"/>
                          </a:solidFill>
                          <a:latin typeface="Calibri"/>
                        </a:rPr>
                        <a:t>Flavor Preference by Age Group, Consumption Occasion and Product Format</a:t>
                      </a:r>
                      <a:endParaRPr sz="1100"/>
                    </a:p>
                  </a:txBody>
                  <a:tcPr marL="771525" marR="9525" marT="9525" marB="0" anchor="ctr"/>
                </a:tc>
              </a:tr>
              <a:tr h="350520">
                <a:tc>
                  <a:txBody>
                    <a:bodyPr wrap="square"/>
                    <a:lstStyle/>
                    <a:p>
                      <a:pPr algn="l"/>
                      <a:r>
                        <a:rPr sz="1100" b="0" i="0">
                          <a:solidFill>
                            <a:srgbClr val="000000"/>
                          </a:solidFill>
                          <a:latin typeface="Calibri"/>
                        </a:rPr>
                        <a:t>29.3.2.</a:t>
                      </a:r>
                      <a:r>
                        <a:rPr sz="700" b="0" i="0">
                          <a:solidFill>
                            <a:srgbClr val="000000"/>
                          </a:solidFill>
                          <a:latin typeface="Times New Roman"/>
                        </a:rPr>
                        <a:t> </a:t>
                      </a:r>
                      <a:r>
                        <a:rPr sz="1100" b="0" i="0">
                          <a:solidFill>
                            <a:srgbClr val="000000"/>
                          </a:solidFill>
                          <a:latin typeface="Calibri"/>
                        </a:rPr>
                        <a:t>Ingredient Preference by Consumer Segment and Health-orientated Need-State</a:t>
                      </a:r>
                      <a:endParaRPr sz="1100"/>
                    </a:p>
                  </a:txBody>
                  <a:tcPr marL="771525" marR="9525" marT="9525" marB="0" anchor="ctr"/>
                </a:tc>
              </a:tr>
              <a:tr h="175260">
                <a:tc>
                  <a:txBody>
                    <a:bodyPr wrap="square"/>
                    <a:lstStyle/>
                    <a:p>
                      <a:pPr algn="l"/>
                      <a:r>
                        <a:rPr sz="1100" b="0" i="0">
                          <a:solidFill>
                            <a:srgbClr val="000000"/>
                          </a:solidFill>
                          <a:latin typeface="Calibri"/>
                        </a:rPr>
                        <a:t>29.3.3.</a:t>
                      </a:r>
                      <a:r>
                        <a:rPr sz="700" b="0" i="0">
                          <a:solidFill>
                            <a:srgbClr val="000000"/>
                          </a:solidFill>
                          <a:latin typeface="Times New Roman"/>
                        </a:rPr>
                        <a:t> </a:t>
                      </a:r>
                      <a:r>
                        <a:rPr sz="1100" b="0" i="0">
                          <a:solidFill>
                            <a:srgbClr val="000000"/>
                          </a:solidFill>
                          <a:latin typeface="Calibri"/>
                        </a:rPr>
                        <a:t>Product Attribute Preference by Taste, Texture, Freshness and Portion Size</a:t>
                      </a:r>
                      <a:endParaRPr sz="1100"/>
                    </a:p>
                  </a:txBody>
                  <a:tcPr marL="771525" marR="9525" marT="9525" marB="0" anchor="ctr"/>
                </a:tc>
              </a:tr>
              <a:tr h="350520">
                <a:tc>
                  <a:txBody>
                    <a:bodyPr wrap="square"/>
                    <a:lstStyle/>
                    <a:p>
                      <a:pPr algn="l"/>
                      <a:r>
                        <a:rPr sz="1100" b="0" i="0">
                          <a:solidFill>
                            <a:srgbClr val="000000"/>
                          </a:solidFill>
                          <a:latin typeface="Calibri"/>
                        </a:rPr>
                        <a:t>29.3.4.</a:t>
                      </a:r>
                      <a:r>
                        <a:rPr sz="700" b="0" i="0">
                          <a:solidFill>
                            <a:srgbClr val="000000"/>
                          </a:solidFill>
                          <a:latin typeface="Times New Roman"/>
                        </a:rPr>
                        <a:t> </a:t>
                      </a:r>
                      <a:r>
                        <a:rPr sz="1100" b="0" i="0">
                          <a:solidFill>
                            <a:srgbClr val="000000"/>
                          </a:solidFill>
                          <a:latin typeface="Calibri"/>
                        </a:rPr>
                        <a:t>Claim Preference by Consumer Segment, Product Category and Purchase Intent</a:t>
                      </a:r>
                      <a:endParaRPr sz="1100"/>
                    </a:p>
                  </a:txBody>
                  <a:tcPr marL="771525" marR="9525" marT="9525" marB="0" anchor="ctr"/>
                </a:tc>
              </a:tr>
              <a:tr h="350520">
                <a:tc>
                  <a:txBody>
                    <a:bodyPr wrap="square"/>
                    <a:lstStyle/>
                    <a:p>
                      <a:pPr algn="l"/>
                      <a:r>
                        <a:rPr sz="1100" b="0" i="0">
                          <a:solidFill>
                            <a:srgbClr val="000000"/>
                          </a:solidFill>
                          <a:latin typeface="Calibri"/>
                        </a:rPr>
                        <a:t>29.3.5.</a:t>
                      </a:r>
                      <a:r>
                        <a:rPr sz="700" b="0" i="0">
                          <a:solidFill>
                            <a:srgbClr val="000000"/>
                          </a:solidFill>
                          <a:latin typeface="Times New Roman"/>
                        </a:rPr>
                        <a:t> </a:t>
                      </a:r>
                      <a:r>
                        <a:rPr sz="1100" b="0" i="0">
                          <a:solidFill>
                            <a:srgbClr val="000000"/>
                          </a:solidFill>
                          <a:latin typeface="Calibri"/>
                        </a:rPr>
                        <a:t>Pack-size Preference by Household Type, Consumption Frequency and Purchase Mission</a:t>
                      </a:r>
                      <a:endParaRPr sz="1100"/>
                    </a:p>
                  </a:txBody>
                  <a:tcPr marL="771525" marR="9525" marT="9525" marB="0" anchor="ctr"/>
                </a:tc>
              </a:tr>
              <a:tr h="175260">
                <a:tc>
                  <a:txBody>
                    <a:bodyPr wrap="square"/>
                    <a:lstStyle/>
                    <a:p>
                      <a:pPr algn="l"/>
                      <a:r>
                        <a:rPr sz="1100" b="0" i="0">
                          <a:solidFill>
                            <a:srgbClr val="0070C0"/>
                          </a:solidFill>
                          <a:latin typeface="Calibri"/>
                        </a:rPr>
                        <a:t>29.4.</a:t>
                      </a:r>
                      <a:r>
                        <a:rPr sz="700" b="0" i="0">
                          <a:solidFill>
                            <a:srgbClr val="0070C0"/>
                          </a:solidFill>
                          <a:latin typeface="Times New Roman"/>
                        </a:rPr>
                        <a:t>  </a:t>
                      </a:r>
                      <a:r>
                        <a:rPr sz="1100" b="0" i="0">
                          <a:solidFill>
                            <a:srgbClr val="0070C0"/>
                          </a:solidFill>
                          <a:latin typeface="Calibri"/>
                        </a:rPr>
                        <a:t>Channel, Brand and Purchase Behavior</a:t>
                      </a:r>
                      <a:endParaRPr sz="1100"/>
                    </a:p>
                  </a:txBody>
                  <a:tcPr marL="428625" marR="9525" marT="9525" marB="0" anchor="ctr"/>
                </a:tc>
              </a:tr>
              <a:tr h="175260">
                <a:tc>
                  <a:txBody>
                    <a:bodyPr wrap="square"/>
                    <a:lstStyle/>
                    <a:p>
                      <a:pPr algn="l"/>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(10/12)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350520">
                <a:tc>
                  <a:txBody>
                    <a:bodyPr wrap="square"/>
                    <a:lstStyle/>
                    <a:p>
                      <a:pPr algn="l"/>
                      <a:r>
                        <a:rPr sz="1100" b="0" i="0">
                          <a:solidFill>
                            <a:srgbClr val="000000"/>
                          </a:solidFill>
                          <a:latin typeface="Calibri"/>
                        </a:rPr>
                        <a:t>29.4.1.</a:t>
                      </a:r>
                      <a:r>
                        <a:rPr sz="700" b="0" i="0">
                          <a:solidFill>
                            <a:srgbClr val="000000"/>
                          </a:solidFill>
                          <a:latin typeface="Times New Roman"/>
                        </a:rPr>
                        <a:t> </a:t>
                      </a:r>
                      <a:r>
                        <a:rPr sz="1100" b="0" i="0">
                          <a:solidFill>
                            <a:srgbClr val="000000"/>
                          </a:solidFill>
                          <a:latin typeface="Calibri"/>
                        </a:rPr>
                        <a:t>Channel Preference by Consumer Segment, Purchase Frequency and Product Category</a:t>
                      </a:r>
                      <a:endParaRPr sz="1100"/>
                    </a:p>
                  </a:txBody>
                  <a:tcPr marL="771525" marR="9525" marT="9525" marB="0" anchor="ctr"/>
                </a:tc>
              </a:tr>
              <a:tr h="350520">
                <a:tc>
                  <a:txBody>
                    <a:bodyPr wrap="square"/>
                    <a:lstStyle/>
                    <a:p>
                      <a:pPr algn="l"/>
                      <a:r>
                        <a:rPr sz="1100" b="0" i="0">
                          <a:solidFill>
                            <a:srgbClr val="000000"/>
                          </a:solidFill>
                          <a:latin typeface="Calibri"/>
                        </a:rPr>
                        <a:t>29.4.2.</a:t>
                      </a:r>
                      <a:r>
                        <a:rPr sz="700" b="0" i="0">
                          <a:solidFill>
                            <a:srgbClr val="000000"/>
                          </a:solidFill>
                          <a:latin typeface="Times New Roman"/>
                        </a:rPr>
                        <a:t> </a:t>
                      </a:r>
                      <a:r>
                        <a:rPr sz="1100" b="0" i="0">
                          <a:solidFill>
                            <a:srgbClr val="000000"/>
                          </a:solidFill>
                          <a:latin typeface="Calibri"/>
                        </a:rPr>
                        <a:t>Retail versus E-commerce Purchase Preference by Consumer Segment and Product Type</a:t>
                      </a:r>
                      <a:endParaRPr sz="1100"/>
                    </a:p>
                  </a:txBody>
                  <a:tcPr marL="771525" marR="9525" marT="9525" marB="0" anchor="ctr"/>
                </a:tc>
              </a:tr>
              <a:tr h="350520">
                <a:tc>
                  <a:txBody>
                    <a:bodyPr wrap="square"/>
                    <a:lstStyle/>
                    <a:p>
                      <a:pPr algn="l"/>
                      <a:r>
                        <a:rPr sz="1100" b="0" i="0">
                          <a:solidFill>
                            <a:srgbClr val="000000"/>
                          </a:solidFill>
                          <a:latin typeface="Calibri"/>
                        </a:rPr>
                        <a:t>29.4.3.</a:t>
                      </a:r>
                      <a:r>
                        <a:rPr sz="700" b="0" i="0">
                          <a:solidFill>
                            <a:srgbClr val="000000"/>
                          </a:solidFill>
                          <a:latin typeface="Times New Roman"/>
                        </a:rPr>
                        <a:t> </a:t>
                      </a:r>
                      <a:r>
                        <a:rPr sz="1100" b="0" i="0">
                          <a:solidFill>
                            <a:srgbClr val="000000"/>
                          </a:solidFill>
                          <a:latin typeface="Calibri"/>
                        </a:rPr>
                        <a:t>Brand Preference by Consumer Segment, Purchase Frequency and Consumption Occasion</a:t>
                      </a:r>
                      <a:endParaRPr sz="1100"/>
                    </a:p>
                  </a:txBody>
                  <a:tcPr marL="771525" marR="9525" marT="9525" marB="0" anchor="ctr"/>
                </a:tc>
              </a:tr>
              <a:tr h="350520">
                <a:tc>
                  <a:txBody>
                    <a:bodyPr wrap="square"/>
                    <a:lstStyle/>
                    <a:p>
                      <a:pPr algn="l"/>
                      <a:r>
                        <a:rPr sz="1100" b="0" i="0">
                          <a:solidFill>
                            <a:srgbClr val="000000"/>
                          </a:solidFill>
                          <a:latin typeface="Calibri"/>
                        </a:rPr>
                        <a:t>29.4.4.</a:t>
                      </a:r>
                      <a:r>
                        <a:rPr sz="700" b="0" i="0">
                          <a:solidFill>
                            <a:srgbClr val="000000"/>
                          </a:solidFill>
                          <a:latin typeface="Times New Roman"/>
                        </a:rPr>
                        <a:t> </a:t>
                      </a:r>
                      <a:r>
                        <a:rPr sz="1100" b="0" i="0">
                          <a:solidFill>
                            <a:srgbClr val="000000"/>
                          </a:solidFill>
                          <a:latin typeface="Calibri"/>
                        </a:rPr>
                        <a:t>Brand Switching by Price Change, Product Attribute and Competitive Availability</a:t>
                      </a:r>
                      <a:endParaRPr sz="1100"/>
                    </a:p>
                  </a:txBody>
                  <a:tcPr marL="771525" marR="9525" marT="9525" marB="0" anchor="ctr"/>
                </a:tc>
              </a:tr>
              <a:tr h="350520">
                <a:tc>
                  <a:txBody>
                    <a:bodyPr wrap="square"/>
                    <a:lstStyle/>
                    <a:p>
                      <a:pPr algn="l"/>
                      <a:r>
                        <a:rPr sz="1100" b="0" i="0">
                          <a:solidFill>
                            <a:srgbClr val="000000"/>
                          </a:solidFill>
                          <a:latin typeface="Calibri"/>
                        </a:rPr>
                        <a:t>29.4.5.</a:t>
                      </a:r>
                      <a:r>
                        <a:rPr sz="700" b="0" i="0">
                          <a:solidFill>
                            <a:srgbClr val="000000"/>
                          </a:solidFill>
                          <a:latin typeface="Times New Roman"/>
                        </a:rPr>
                        <a:t> </a:t>
                      </a:r>
                      <a:r>
                        <a:rPr sz="1100" b="0" i="0">
                          <a:solidFill>
                            <a:srgbClr val="000000"/>
                          </a:solidFill>
                          <a:latin typeface="Calibri"/>
                        </a:rPr>
                        <a:t>Loyalty Drivers by Brand Preference, Product Satisfaction and Repeat Purchase</a:t>
                      </a:r>
                      <a:endParaRPr sz="1100"/>
                    </a:p>
                  </a:txBody>
                  <a:tcPr marL="771525" marR="9525" marT="9525" marB="0" anchor="ctr"/>
                </a:tc>
              </a:tr>
              <a:tr h="175260">
                <a:tc>
                  <a:txBody>
                    <a:bodyPr wrap="square"/>
                    <a:lstStyle/>
                    <a:p>
                      <a:pPr algn="l"/>
                      <a:r>
                        <a:rPr sz="1100" b="0" i="0">
                          <a:solidFill>
                            <a:srgbClr val="0070C0"/>
                          </a:solidFill>
                          <a:latin typeface="Calibri"/>
                        </a:rPr>
                        <a:t>29.5.</a:t>
                      </a:r>
                      <a:r>
                        <a:rPr sz="700" b="0" i="0">
                          <a:solidFill>
                            <a:srgbClr val="0070C0"/>
                          </a:solidFill>
                          <a:latin typeface="Times New Roman"/>
                        </a:rPr>
                        <a:t>  </a:t>
                      </a:r>
                      <a:r>
                        <a:rPr sz="1100" b="0" i="0">
                          <a:solidFill>
                            <a:srgbClr val="0070C0"/>
                          </a:solidFill>
                          <a:latin typeface="Calibri"/>
                        </a:rPr>
                        <a:t>Unmet Needs and Decision-driver Opportunities</a:t>
                      </a:r>
                      <a:endParaRPr sz="1100"/>
                    </a:p>
                  </a:txBody>
                  <a:tcPr marL="428625" marR="9525" marT="9525" marB="0" anchor="ctr"/>
                </a:tc>
              </a:tr>
              <a:tr h="175260">
                <a:tc>
                  <a:txBody>
                    <a:bodyPr wrap="square"/>
                    <a:lstStyle/>
                    <a:p>
                      <a:pPr algn="l"/>
                      <a:r>
                        <a:rPr sz="1100" b="0" i="0">
                          <a:solidFill>
                            <a:srgbClr val="000000"/>
                          </a:solidFill>
                          <a:latin typeface="Calibri"/>
                        </a:rPr>
                        <a:t>29.5.1.</a:t>
                      </a:r>
                      <a:r>
                        <a:rPr sz="700" b="0" i="0">
                          <a:solidFill>
                            <a:srgbClr val="000000"/>
                          </a:solidFill>
                          <a:latin typeface="Times New Roman"/>
                        </a:rPr>
                        <a:t> </a:t>
                      </a:r>
                      <a:r>
                        <a:rPr sz="1100" b="0" i="0">
                          <a:solidFill>
                            <a:srgbClr val="000000"/>
                          </a:solidFill>
                          <a:latin typeface="Calibri"/>
                        </a:rPr>
                        <a:t>Unmet Consumer Needs by Flavor, Ingredient, Texture and Product Attribute</a:t>
                      </a:r>
                      <a:endParaRPr sz="1100"/>
                    </a:p>
                  </a:txBody>
                  <a:tcPr marL="771525" marR="9525" marT="9525" marB="0" anchor="ctr"/>
                </a:tc>
              </a:tr>
              <a:tr h="175260">
                <a:tc>
                  <a:txBody>
                    <a:bodyPr wrap="square"/>
                    <a:lstStyle/>
                    <a:p>
                      <a:pPr algn="l"/>
                      <a:r>
                        <a:rPr sz="1100" b="0" i="0">
                          <a:solidFill>
                            <a:srgbClr val="000000"/>
                          </a:solidFill>
                          <a:latin typeface="Calibri"/>
                        </a:rPr>
                        <a:t>29.5.2.</a:t>
                      </a:r>
                      <a:r>
                        <a:rPr sz="700" b="0" i="0">
                          <a:solidFill>
                            <a:srgbClr val="000000"/>
                          </a:solidFill>
                          <a:latin typeface="Times New Roman"/>
                        </a:rPr>
                        <a:t> </a:t>
                      </a:r>
                      <a:r>
                        <a:rPr sz="1100" b="0" i="0">
                          <a:solidFill>
                            <a:srgbClr val="000000"/>
                          </a:solidFill>
                          <a:latin typeface="Calibri"/>
                        </a:rPr>
                        <a:t>Consumer Pain Points by Price, Pack Size, Availability and Product Quality</a:t>
                      </a:r>
                      <a:endParaRPr sz="1100"/>
                    </a:p>
                  </a:txBody>
                  <a:tcPr marL="771525" marR="9525" marT="9525" marB="0" anchor="ctr"/>
                </a:tc>
              </a:tr>
              <a:tr h="175260">
                <a:tc>
                  <a:txBody>
                    <a:bodyPr wrap="square"/>
                    <a:lstStyle/>
                    <a:p>
                      <a:pPr algn="l"/>
                      <a:r>
                        <a:rPr sz="1100" b="0" i="0">
                          <a:solidFill>
                            <a:srgbClr val="000000"/>
                          </a:solidFill>
                          <a:latin typeface="Calibri"/>
                        </a:rPr>
                        <a:t>29.5.3.</a:t>
                      </a:r>
                      <a:r>
                        <a:rPr sz="700" b="0" i="0">
                          <a:solidFill>
                            <a:srgbClr val="000000"/>
                          </a:solidFill>
                          <a:latin typeface="Times New Roman"/>
                        </a:rPr>
                        <a:t> </a:t>
                      </a:r>
                      <a:r>
                        <a:rPr sz="1100" b="0" i="0">
                          <a:solidFill>
                            <a:srgbClr val="000000"/>
                          </a:solidFill>
                          <a:latin typeface="Calibri"/>
                        </a:rPr>
                        <a:t>Purchase Barriers by Consumer Segment, Channel and Affordability Band</a:t>
                      </a:r>
                      <a:endParaRPr sz="1100"/>
                    </a:p>
                  </a:txBody>
                  <a:tcPr marL="771525" marR="9525" marT="9525" marB="0" anchor="ctr"/>
                </a:tc>
              </a:tr>
              <a:tr h="350520">
                <a:tc>
                  <a:txBody>
                    <a:bodyPr wrap="square"/>
                    <a:lstStyle/>
                    <a:p>
                      <a:pPr algn="l"/>
                      <a:r>
                        <a:rPr sz="1100" b="0" i="0">
                          <a:solidFill>
                            <a:srgbClr val="000000"/>
                          </a:solidFill>
                          <a:latin typeface="Calibri"/>
                        </a:rPr>
                        <a:t>29.5.4.</a:t>
                      </a:r>
                      <a:r>
                        <a:rPr sz="700" b="0" i="0">
                          <a:solidFill>
                            <a:srgbClr val="000000"/>
                          </a:solidFill>
                          <a:latin typeface="Times New Roman"/>
                        </a:rPr>
                        <a:t> </a:t>
                      </a:r>
                      <a:r>
                        <a:rPr sz="1100" b="0" i="0">
                          <a:solidFill>
                            <a:srgbClr val="000000"/>
                          </a:solidFill>
                          <a:latin typeface="Calibri"/>
                        </a:rPr>
                        <a:t>Innovation Interest by Product Concept, Usage Occasion and Consumer Need-State</a:t>
                      </a:r>
                      <a:endParaRPr sz="1100"/>
                    </a:p>
                  </a:txBody>
                  <a:tcPr marL="771525" marR="9525" marT="9525" marB="0" anchor="ctr"/>
                </a:tc>
              </a:tr>
              <a:tr h="350520">
                <a:tc>
                  <a:txBody>
                    <a:bodyPr wrap="square"/>
                    <a:lstStyle/>
                    <a:p>
                      <a:pPr algn="l"/>
                      <a:r>
                        <a:rPr sz="1100" b="0" i="0">
                          <a:solidFill>
                            <a:srgbClr val="000000"/>
                          </a:solidFill>
                          <a:latin typeface="Calibri"/>
                        </a:rPr>
                        <a:t>29.5.5.</a:t>
                      </a:r>
                      <a:r>
                        <a:rPr sz="700" b="0" i="0">
                          <a:solidFill>
                            <a:srgbClr val="000000"/>
                          </a:solidFill>
                          <a:latin typeface="Times New Roman"/>
                        </a:rPr>
                        <a:t> </a:t>
                      </a:r>
                      <a:r>
                        <a:rPr sz="1100" b="0" i="0">
                          <a:solidFill>
                            <a:srgbClr val="000000"/>
                          </a:solidFill>
                          <a:latin typeface="Calibri"/>
                        </a:rPr>
                        <a:t>Purchase Intent for New Concepts by Consumer Segment, Price Point and Product Positioning</a:t>
                      </a:r>
                      <a:endParaRPr sz="1100"/>
                    </a:p>
                  </a:txBody>
                  <a:tcPr marL="771525" marR="9525" marT="9525" marB="0" anchor="ctr"/>
                </a:tc>
              </a:tr>
              <a:tr h="175260">
                <a:tc>
                  <a:txBody>
                    <a:bodyPr wrap="square"/>
                    <a:lstStyle/>
                    <a:p>
                      <a:pPr algn="l"/>
                      <a:r>
                        <a:rPr sz="1100" b="1" i="0">
                          <a:solidFill>
                            <a:srgbClr val="000000"/>
                          </a:solidFill>
                          <a:latin typeface="Calibri"/>
                        </a:rPr>
                        <a:t>Section 5: Market Dynamics</a:t>
                      </a:r>
                      <a:endParaRPr sz="1100"/>
                    </a:p>
                  </a:txBody>
                  <a:tcPr marL="9525" marR="9525" marT="9525" marB="0" anchor="ctr"/>
                </a:tc>
              </a:tr>
              <a:tr h="175260">
                <a:tc>
                  <a:txBody>
                    <a:bodyPr wrap="square"/>
                    <a:lstStyle/>
                    <a:p>
                      <a:pPr algn="l"/>
                      <a:r>
                        <a:rPr sz="1100" b="1" i="0">
                          <a:solidFill>
                            <a:srgbClr val="000000"/>
                          </a:solidFill>
                          <a:latin typeface="Calibri"/>
                        </a:rPr>
                        <a:t>30.</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30.1.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30.1.1.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30.1.2.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30.1.3.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30.2.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31.</a:t>
                      </a:r>
                      <a:r>
                        <a:rPr sz="700" b="1" i="0">
                          <a:solidFill>
                            <a:srgbClr val="000000"/>
                          </a:solidFill>
                          <a:latin typeface="Times New Roman"/>
                        </a:rPr>
                        <a:t>    </a:t>
                      </a:r>
                      <a:r>
                        <a:rPr sz="1100" b="1" i="0">
                          <a:solidFill>
                            <a:srgbClr val="000000"/>
                          </a:solidFill>
                          <a:latin typeface="Calibri"/>
                        </a:rPr>
                        <a:t>Market Dynamics</a:t>
                      </a:r>
                      <a:endParaRPr sz="1100"/>
                    </a:p>
                  </a:txBody>
                  <a:tcPr marL="171450" marR="9525" marT="9525" marB="0" anchor="ctr"/>
                </a:tc>
              </a:tr>
              <a:tr h="175260">
                <a:tc>
                  <a:txBody>
                    <a:bodyPr wrap="square"/>
                    <a:lstStyle/>
                    <a:p>
                      <a:pPr algn="l"/>
                      <a:r>
                        <a:rPr sz="1100" b="0" i="0">
                          <a:solidFill>
                            <a:srgbClr val="0070C0"/>
                          </a:solidFill>
                          <a:latin typeface="Calibri"/>
                        </a:rPr>
                        <a:t>31.1.</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31.1.1.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31.1.2.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31.1.3.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31.2.</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31.3.</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31.4.</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31.5.</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0000"/>
                          </a:solidFill>
                          <a:latin typeface="Calibri"/>
                        </a:rPr>
                        <a:t>31.5.1.</a:t>
                      </a:r>
                      <a:r>
                        <a:rPr sz="700" b="0" i="0">
                          <a:solidFill>
                            <a:srgbClr val="000000"/>
                          </a:solidFill>
                          <a:latin typeface="Times New Roman"/>
                        </a:rPr>
                        <a:t> </a:t>
                      </a:r>
                      <a:r>
                        <a:rPr sz="1100" b="0" i="0">
                          <a:solidFill>
                            <a:srgbClr val="000000"/>
                          </a:solidFill>
                          <a:latin typeface="Calibri"/>
                        </a:rPr>
                        <a:t>Expansion of On-the-Go &amp; Convenience Snacking</a:t>
                      </a:r>
                      <a:endParaRPr sz="1100"/>
                    </a:p>
                  </a:txBody>
                  <a:tcPr marL="771525" marR="9525" marT="9525" marB="0" anchor="ctr"/>
                </a:tc>
              </a:tr>
              <a:tr h="175260">
                <a:tc>
                  <a:txBody>
                    <a:bodyPr wrap="square"/>
                    <a:lstStyle/>
                    <a:p>
                      <a:pPr algn="l"/>
                      <a:r>
                        <a:rPr sz="1100" b="0" i="0">
                          <a:solidFill>
                            <a:srgbClr val="000000"/>
                          </a:solidFill>
                          <a:latin typeface="Calibri"/>
                        </a:rPr>
                        <a:t>31.5.2.</a:t>
                      </a:r>
                      <a:r>
                        <a:rPr sz="700" b="0" i="0">
                          <a:solidFill>
                            <a:srgbClr val="000000"/>
                          </a:solidFill>
                          <a:latin typeface="Times New Roman"/>
                        </a:rPr>
                        <a:t> </a:t>
                      </a:r>
                      <a:r>
                        <a:rPr sz="1100" b="0" i="0">
                          <a:solidFill>
                            <a:srgbClr val="000000"/>
                          </a:solidFill>
                          <a:latin typeface="Calibri"/>
                        </a:rPr>
                        <a:t>Growth of Snackification &amp; More Frequent Eating Occasions</a:t>
                      </a:r>
                      <a:endParaRPr sz="1100"/>
                    </a:p>
                  </a:txBody>
                  <a:tcPr marL="771525" marR="9525" marT="9525" marB="0" anchor="ctr"/>
                </a:tc>
              </a:tr>
              <a:tr h="175260">
                <a:tc>
                  <a:txBody>
                    <a:bodyPr wrap="square"/>
                    <a:lstStyle/>
                    <a:p>
                      <a:pPr algn="l"/>
                      <a:r>
                        <a:rPr sz="1100" b="0" i="0">
                          <a:solidFill>
                            <a:srgbClr val="000000"/>
                          </a:solidFill>
                          <a:latin typeface="Calibri"/>
                        </a:rPr>
                        <a:t>31.5.3.</a:t>
                      </a:r>
                      <a:r>
                        <a:rPr sz="700" b="0" i="0">
                          <a:solidFill>
                            <a:srgbClr val="000000"/>
                          </a:solidFill>
                          <a:latin typeface="Times New Roman"/>
                        </a:rPr>
                        <a:t> </a:t>
                      </a:r>
                      <a:r>
                        <a:rPr sz="1100" b="0" i="0">
                          <a:solidFill>
                            <a:srgbClr val="000000"/>
                          </a:solidFill>
                          <a:latin typeface="Calibri"/>
                        </a:rPr>
                        <a:t>Product Innovation &amp; Flavor Diversification</a:t>
                      </a:r>
                      <a:endParaRPr sz="1100"/>
                    </a:p>
                  </a:txBody>
                  <a:tcPr marL="771525" marR="9525" marT="9525" marB="0" anchor="ctr"/>
                </a:tc>
              </a:tr>
              <a:tr h="175260">
                <a:tc>
                  <a:txBody>
                    <a:bodyPr wrap="square"/>
                    <a:lstStyle/>
                    <a:p>
                      <a:pPr algn="l"/>
                      <a:r>
                        <a:rPr sz="1100" b="0" i="0">
                          <a:solidFill>
                            <a:srgbClr val="000000"/>
                          </a:solidFill>
                          <a:latin typeface="Calibri"/>
                        </a:rPr>
                        <a:t>31.5.4.</a:t>
                      </a:r>
                      <a:r>
                        <a:rPr sz="700" b="0" i="0">
                          <a:solidFill>
                            <a:srgbClr val="000000"/>
                          </a:solidFill>
                          <a:latin typeface="Times New Roman"/>
                        </a:rPr>
                        <a:t> </a:t>
                      </a:r>
                      <a:r>
                        <a:rPr sz="1100" b="0" i="0">
                          <a:solidFill>
                            <a:srgbClr val="000000"/>
                          </a:solidFill>
                          <a:latin typeface="Calibri"/>
                        </a:rPr>
                        <a:t>Rising Demand for Better-for-You Muffins</a:t>
                      </a:r>
                      <a:endParaRPr sz="1100"/>
                    </a:p>
                  </a:txBody>
                  <a:tcPr marL="771525" marR="9525" marT="9525" marB="0" anchor="ctr"/>
                </a:tc>
              </a:tr>
              <a:tr h="175260">
                <a:tc>
                  <a:txBody>
                    <a:bodyPr wrap="square"/>
                    <a:lstStyle/>
                    <a:p>
                      <a:pPr algn="l"/>
                      <a:r>
                        <a:rPr sz="1100" b="0" i="0">
                          <a:solidFill>
                            <a:srgbClr val="000000"/>
                          </a:solidFill>
                          <a:latin typeface="Calibri"/>
                        </a:rPr>
                        <a:t>31.5.5.</a:t>
                      </a:r>
                      <a:r>
                        <a:rPr sz="700" b="0" i="0">
                          <a:solidFill>
                            <a:srgbClr val="000000"/>
                          </a:solidFill>
                          <a:latin typeface="Times New Roman"/>
                        </a:rPr>
                        <a:t> </a:t>
                      </a:r>
                      <a:r>
                        <a:rPr sz="1100" b="0" i="0">
                          <a:solidFill>
                            <a:srgbClr val="000000"/>
                          </a:solidFill>
                          <a:latin typeface="Calibri"/>
                        </a:rPr>
                        <a:t>Premiumization &amp; Premium Bakery Positioning</a:t>
                      </a:r>
                      <a:endParaRPr sz="1100"/>
                    </a:p>
                  </a:txBody>
                  <a:tcPr marL="771525" marR="9525" marT="9525" marB="0" anchor="ctr"/>
                </a:tc>
              </a:tr>
              <a:tr h="175260">
                <a:tc>
                  <a:txBody>
                    <a:bodyPr wrap="square"/>
                    <a:lstStyle/>
                    <a:p>
                      <a:pPr algn="l"/>
                      <a:r>
                        <a:rPr sz="1100" b="0" i="0">
                          <a:solidFill>
                            <a:srgbClr val="000000"/>
                          </a:solidFill>
                          <a:latin typeface="Calibri"/>
                        </a:rPr>
                        <a:t>31.5.6.</a:t>
                      </a:r>
                      <a:r>
                        <a:rPr sz="700" b="0" i="0">
                          <a:solidFill>
                            <a:srgbClr val="000000"/>
                          </a:solidFill>
                          <a:latin typeface="Times New Roman"/>
                        </a:rPr>
                        <a:t> </a:t>
                      </a:r>
                      <a:r>
                        <a:rPr sz="1100" b="0" i="0">
                          <a:solidFill>
                            <a:srgbClr val="000000"/>
                          </a:solidFill>
                          <a:latin typeface="Calibri"/>
                        </a:rPr>
                        <a:t>Expansion of Supermarkets, Convenience Stores &amp; Modern Grocery Retail</a:t>
                      </a:r>
                      <a:endParaRPr sz="1100"/>
                    </a:p>
                  </a:txBody>
                  <a:tcPr marL="771525" marR="9525" marT="9525" marB="0" anchor="ctr"/>
                </a:tc>
              </a:tr>
              <a:tr h="175260">
                <a:tc>
                  <a:txBody>
                    <a:bodyPr wrap="square"/>
                    <a:lstStyle/>
                    <a:p>
                      <a:pPr algn="l"/>
                      <a:r>
                        <a:rPr sz="1100" b="0" i="0">
                          <a:solidFill>
                            <a:srgbClr val="000000"/>
                          </a:solidFill>
                          <a:latin typeface="Calibri"/>
                        </a:rPr>
                        <a:t>31.5.7.</a:t>
                      </a:r>
                      <a:r>
                        <a:rPr sz="700" b="0" i="0">
                          <a:solidFill>
                            <a:srgbClr val="000000"/>
                          </a:solidFill>
                          <a:latin typeface="Times New Roman"/>
                        </a:rPr>
                        <a:t> </a:t>
                      </a:r>
                      <a:r>
                        <a:rPr sz="1100" b="0" i="0">
                          <a:solidFill>
                            <a:srgbClr val="000000"/>
                          </a:solidFill>
                          <a:latin typeface="Calibri"/>
                        </a:rPr>
                        <a:t>Growth of Online Grocery &amp; E-Commerce Food Purchasing</a:t>
                      </a:r>
                      <a:endParaRPr sz="1100"/>
                    </a:p>
                  </a:txBody>
                  <a:tcPr marL="771525" marR="9525" marT="9525" marB="0" anchor="ctr"/>
                </a:tc>
              </a:tr>
              <a:tr h="175260">
                <a:tc>
                  <a:txBody>
                    <a:bodyPr wrap="square"/>
                    <a:lstStyle/>
                    <a:p>
                      <a:pPr algn="l"/>
                      <a:r>
                        <a:rPr sz="1100" b="0" i="0">
                          <a:solidFill>
                            <a:srgbClr val="000000"/>
                          </a:solidFill>
                          <a:latin typeface="Calibri"/>
                        </a:rPr>
                        <a:t>31.5.8.</a:t>
                      </a:r>
                      <a:r>
                        <a:rPr sz="700" b="0" i="0">
                          <a:solidFill>
                            <a:srgbClr val="000000"/>
                          </a:solidFill>
                          <a:latin typeface="Times New Roman"/>
                        </a:rPr>
                        <a:t> </a:t>
                      </a:r>
                      <a:r>
                        <a:rPr sz="1100" b="0" i="0">
                          <a:solidFill>
                            <a:srgbClr val="000000"/>
                          </a:solidFill>
                          <a:latin typeface="Calibri"/>
                        </a:rPr>
                        <a:t>Shelf-Life Extension &amp; Improved Packaging Technologies</a:t>
                      </a:r>
                      <a:endParaRPr sz="1100"/>
                    </a:p>
                  </a:txBody>
                  <a:tcPr marL="771525" marR="9525" marT="9525" marB="0" anchor="ctr"/>
                </a:tc>
              </a:tr>
              <a:tr h="175260">
                <a:tc>
                  <a:txBody>
                    <a:bodyPr wrap="square"/>
                    <a:lstStyle/>
                    <a:p>
                      <a:pPr algn="l"/>
                      <a:r>
                        <a:rPr sz="1100" b="0" i="0">
                          <a:solidFill>
                            <a:srgbClr val="000000"/>
                          </a:solidFill>
                          <a:latin typeface="Calibri"/>
                        </a:rPr>
                        <a:t>31.5.9.</a:t>
                      </a:r>
                      <a:r>
                        <a:rPr sz="700" b="0" i="0">
                          <a:solidFill>
                            <a:srgbClr val="000000"/>
                          </a:solidFill>
                          <a:latin typeface="Times New Roman"/>
                        </a:rPr>
                        <a:t> </a:t>
                      </a:r>
                      <a:r>
                        <a:rPr sz="1100" b="0" i="0">
                          <a:solidFill>
                            <a:srgbClr val="000000"/>
                          </a:solidFill>
                          <a:latin typeface="Calibri"/>
                        </a:rPr>
                        <a:t>Rising Demand for Portion-Controlled &amp; Mini Muffin Formats</a:t>
                      </a:r>
                      <a:endParaRPr sz="1100"/>
                    </a:p>
                  </a:txBody>
                  <a:tcPr marL="771525" marR="9525" marT="9525" marB="0" anchor="ctr"/>
                </a:tc>
              </a:tr>
              <a:tr h="175260">
                <a:tc>
                  <a:txBody>
                    <a:bodyPr wrap="square"/>
                    <a:lstStyle/>
                    <a:p>
                      <a:pPr algn="l"/>
                      <a:r>
                        <a:rPr sz="1100" b="0" i="0">
                          <a:solidFill>
                            <a:srgbClr val="000000"/>
                          </a:solidFill>
                          <a:latin typeface="Calibri"/>
                        </a:rPr>
                        <a:t>31.5.10.</a:t>
                      </a:r>
                      <a:r>
                        <a:rPr sz="700" b="0" i="0">
                          <a:solidFill>
                            <a:srgbClr val="000000"/>
                          </a:solidFill>
                          <a:latin typeface="Times New Roman"/>
                        </a:rPr>
                        <a:t> </a:t>
                      </a:r>
                      <a:r>
                        <a:rPr sz="1100" b="0" i="0">
                          <a:solidFill>
                            <a:srgbClr val="000000"/>
                          </a:solidFill>
                          <a:latin typeface="Calibri"/>
                        </a:rPr>
                        <a:t>Expansion of Bakery Consumption in Emerging Markets</a:t>
                      </a:r>
                      <a:endParaRPr sz="1100"/>
                    </a:p>
                  </a:txBody>
                  <a:tcPr marL="771525" marR="9525" marT="9525" marB="0" anchor="ctr"/>
                </a:tc>
              </a:tr>
              <a:tr h="175260">
                <a:tc>
                  <a:txBody>
                    <a:bodyPr wrap="square"/>
                    <a:lstStyle/>
                    <a:p>
                      <a:pPr algn="l"/>
                      <a:r>
                        <a:rPr sz="1100" b="0" i="0">
                          <a:solidFill>
                            <a:srgbClr val="000000"/>
                          </a:solidFill>
                          <a:latin typeface="Calibri"/>
                        </a:rPr>
                        <a:t>31.5.11.</a:t>
                      </a:r>
                      <a:r>
                        <a:rPr sz="700" b="0" i="0">
                          <a:solidFill>
                            <a:srgbClr val="000000"/>
                          </a:solidFill>
                          <a:latin typeface="Times New Roman"/>
                        </a:rPr>
                        <a:t> </a:t>
                      </a:r>
                      <a:r>
                        <a:rPr sz="1100" b="0" i="0">
                          <a:solidFill>
                            <a:srgbClr val="000000"/>
                          </a:solidFill>
                          <a:latin typeface="Calibri"/>
                        </a:rPr>
                        <a:t>Other Forecast Factors</a:t>
                      </a:r>
                      <a:endParaRPr sz="1100"/>
                    </a:p>
                  </a:txBody>
                  <a:tcPr marL="771525" marR="9525" marT="9525" marB="0" anchor="ctr"/>
                </a:tc>
              </a:tr>
              <a:tr h="175260">
                <a:tc>
                  <a:txBody>
                    <a:bodyPr wrap="square"/>
                    <a:lstStyle/>
                    <a:p>
                      <a:pPr algn="l"/>
                      <a:r>
                        <a:rPr sz="1100" b="0" i="0">
                          <a:solidFill>
                            <a:srgbClr val="0070C0"/>
                          </a:solidFill>
                          <a:latin typeface="Calibri"/>
                        </a:rPr>
                        <a:t>31.6.</a:t>
                      </a:r>
                      <a:r>
                        <a:rPr sz="700" b="0" i="0">
                          <a:solidFill>
                            <a:srgbClr val="0070C0"/>
                          </a:solidFill>
                          <a:latin typeface="Times New Roman"/>
                        </a:rPr>
                        <a:t>  </a:t>
                      </a:r>
                      <a:r>
                        <a:rPr sz="1100" b="0" i="0">
                          <a:solidFill>
                            <a:srgbClr val="0070C0"/>
                          </a:solidFill>
                          <a:latin typeface="Calibri"/>
                        </a:rPr>
                        <a:t>Regulations</a:t>
                      </a:r>
                      <a:endParaRPr sz="1100"/>
                    </a:p>
                  </a:txBody>
                  <a:tcPr marL="428625" marR="9525" marT="9525" marB="0" anchor="ctr"/>
                </a:tc>
              </a:tr>
              <a:tr h="175260">
                <a:tc>
                  <a:txBody>
                    <a:bodyPr wrap="square"/>
                    <a:lstStyle/>
                    <a:p>
                      <a:pPr algn="l"/>
                      <a:r>
                        <a:rPr sz="1100" b="0" i="0">
                          <a:solidFill>
                            <a:srgbClr val="0070C0"/>
                          </a:solidFill>
                          <a:latin typeface="Calibri"/>
                        </a:rPr>
                        <a:t>31.7.</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31.8.</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32.</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32.1.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32.1.1.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32.1.2.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r h="175260">
                <a:tc>
                  <a:txBody>
                    <a:bodyPr wrap="square"/>
                    <a:lstStyle/>
                    <a:p>
                      <a:pPr algn="l"/>
                      <a:r>
                        <a:rPr sz="1100" b="0" i="0">
                          <a:solidFill>
                            <a:srgbClr val="0070C0"/>
                          </a:solidFill>
                          <a:latin typeface="Calibri"/>
                        </a:rPr>
                        <a:t>32.2.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32.3.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32.3.1.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32.3.2.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32.3.3.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6: Competition Assessment</a:t>
                      </a:r>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(11/12)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Calibri"/>
                        </a:rPr>
                        <a:t>33.</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34.</a:t>
                      </a:r>
                      <a:r>
                        <a:rPr sz="700" b="1" i="0">
                          <a:solidFill>
                            <a:srgbClr val="000000"/>
                          </a:solidFill>
                          <a:latin typeface="Times New Roman"/>
                        </a:rPr>
                        <a:t>    </a:t>
                      </a:r>
                      <a:r>
                        <a:rPr sz="1100" b="1" i="0">
                          <a:solidFill>
                            <a:srgbClr val="000000"/>
                          </a:solidFill>
                          <a:latin typeface="Calibri"/>
                        </a:rPr>
                        <a:t>Brand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34.1.</a:t>
                      </a:r>
                      <a:r>
                        <a:rPr sz="700" b="0" i="0">
                          <a:solidFill>
                            <a:srgbClr val="0070C0"/>
                          </a:solidFill>
                          <a:latin typeface="Times New Roman"/>
                        </a:rPr>
                        <a:t>  </a:t>
                      </a:r>
                      <a:r>
                        <a:rPr sz="1100" b="0" i="0">
                          <a:solidFill>
                            <a:srgbClr val="0070C0"/>
                          </a:solidFill>
                          <a:latin typeface="Calibri"/>
                        </a:rPr>
                        <a:t>By Country</a:t>
                      </a:r>
                      <a:endParaRPr sz="1100"/>
                    </a:p>
                  </a:txBody>
                  <a:tcPr marL="428625" marR="9525" marT="9525" marB="0" anchor="ctr"/>
                </a:tc>
              </a:tr>
              <a:tr h="175260">
                <a:tc>
                  <a:txBody>
                    <a:bodyPr wrap="square"/>
                    <a:lstStyle/>
                    <a:p>
                      <a:pPr algn="l"/>
                      <a:r>
                        <a:rPr sz="1100" b="0" i="0">
                          <a:solidFill>
                            <a:srgbClr val="0070C0"/>
                          </a:solidFill>
                          <a:latin typeface="Calibri"/>
                        </a:rPr>
                        <a:t>34.2.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34.3.</a:t>
                      </a:r>
                      <a:r>
                        <a:rPr sz="700" b="0" i="0">
                          <a:solidFill>
                            <a:srgbClr val="0070C0"/>
                          </a:solidFill>
                          <a:latin typeface="Times New Roman"/>
                        </a:rPr>
                        <a:t>  </a:t>
                      </a:r>
                      <a:r>
                        <a:rPr sz="1100" b="0" i="0">
                          <a:solidFill>
                            <a:srgbClr val="0070C0"/>
                          </a:solidFill>
                          <a:latin typeface="Calibri"/>
                        </a:rPr>
                        <a:t>Sales Channel</a:t>
                      </a:r>
                      <a:endParaRPr sz="1100"/>
                    </a:p>
                  </a:txBody>
                  <a:tcPr marL="428625" marR="9525" marT="9525" marB="0" anchor="ctr"/>
                </a:tc>
              </a:tr>
              <a:tr h="175260">
                <a:tc>
                  <a:txBody>
                    <a:bodyPr wrap="square"/>
                    <a:lstStyle/>
                    <a:p>
                      <a:pPr algn="l"/>
                      <a:r>
                        <a:rPr sz="1100" b="1" i="0">
                          <a:solidFill>
                            <a:srgbClr val="000000"/>
                          </a:solidFill>
                          <a:latin typeface="Calibri"/>
                        </a:rPr>
                        <a:t>35.</a:t>
                      </a:r>
                      <a:r>
                        <a:rPr sz="700" b="1" i="0">
                          <a:solidFill>
                            <a:srgbClr val="000000"/>
                          </a:solidFill>
                          <a:latin typeface="Times New Roman"/>
                        </a:rPr>
                        <a:t>    </a:t>
                      </a:r>
                      <a:r>
                        <a:rPr sz="1100" b="1" i="0">
                          <a:solidFill>
                            <a:srgbClr val="000000"/>
                          </a:solidFill>
                          <a:latin typeface="Calibri"/>
                        </a:rPr>
                        <a:t>Brand Share Breakdown (2026)</a:t>
                      </a:r>
                      <a:endParaRPr sz="1100"/>
                    </a:p>
                  </a:txBody>
                  <a:tcPr marL="171450" marR="9525" marT="9525" marB="0" anchor="ctr"/>
                </a:tc>
              </a:tr>
              <a:tr h="175260">
                <a:tc>
                  <a:txBody>
                    <a:bodyPr wrap="square"/>
                    <a:lstStyle/>
                    <a:p>
                      <a:pPr algn="l"/>
                      <a:r>
                        <a:rPr sz="1100" b="0" i="0">
                          <a:solidFill>
                            <a:srgbClr val="0070C0"/>
                          </a:solidFill>
                          <a:latin typeface="Calibri"/>
                        </a:rPr>
                        <a:t>35.1.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35.2.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35.3.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36.</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36.1.</a:t>
                      </a:r>
                      <a:r>
                        <a:rPr sz="700" b="0" i="0">
                          <a:solidFill>
                            <a:srgbClr val="0070C0"/>
                          </a:solidFill>
                          <a:latin typeface="Times New Roman"/>
                        </a:rPr>
                        <a:t>  </a:t>
                      </a:r>
                      <a:r>
                        <a:rPr sz="1100" b="0" i="0">
                          <a:solidFill>
                            <a:srgbClr val="0070C0"/>
                          </a:solidFill>
                          <a:latin typeface="Calibri"/>
                        </a:rPr>
                        <a:t>Grupo Bimbo (Bimbo, Marinela, Little Bites, Thomas')</a:t>
                      </a:r>
                      <a:endParaRPr sz="1100"/>
                    </a:p>
                  </a:txBody>
                  <a:tcPr marL="428625" marR="9525" marT="9525" marB="0" anchor="ctr"/>
                </a:tc>
              </a:tr>
              <a:tr h="175260">
                <a:tc>
                  <a:txBody>
                    <a:bodyPr wrap="square"/>
                    <a:lstStyle/>
                    <a:p>
                      <a:pPr algn="l"/>
                      <a:r>
                        <a:rPr sz="1100" b="0" i="0">
                          <a:solidFill>
                            <a:srgbClr val="000000"/>
                          </a:solidFill>
                          <a:latin typeface="Calibri"/>
                        </a:rPr>
                        <a:t>36.1.1.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36.1.2.</a:t>
                      </a:r>
                      <a:r>
                        <a:rPr sz="700" b="0" i="0">
                          <a:solidFill>
                            <a:srgbClr val="000000"/>
                          </a:solidFill>
                          <a:latin typeface="Times New Roman"/>
                        </a:rPr>
                        <a:t> </a:t>
                      </a:r>
                      <a:r>
                        <a:rPr sz="1100" b="0" i="0">
                          <a:solidFill>
                            <a:srgbClr val="000000"/>
                          </a:solidFill>
                          <a:latin typeface="Calibri"/>
                        </a:rPr>
                        <a:t>Market Segments</a:t>
                      </a:r>
                      <a:endParaRPr sz="1100"/>
                    </a:p>
                  </a:txBody>
                  <a:tcPr marL="771525" marR="9525" marT="9525" marB="0" anchor="ctr"/>
                </a:tc>
              </a:tr>
              <a:tr h="175260">
                <a:tc>
                  <a:txBody>
                    <a:bodyPr wrap="square"/>
                    <a:lstStyle/>
                    <a:p>
                      <a:pPr algn="l"/>
                      <a:r>
                        <a:rPr sz="1100" b="0" i="1">
                          <a:solidFill>
                            <a:srgbClr val="000000"/>
                          </a:solidFill>
                          <a:latin typeface="Calibri"/>
                        </a:rPr>
                        <a:t>36.1.2.1.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36.1.2.2.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36.1.2.3.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36.1.3.</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36.1.4.</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36.1.4.1.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36.1.4.2.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r h="175260">
                <a:tc>
                  <a:txBody>
                    <a:bodyPr wrap="square"/>
                    <a:lstStyle/>
                    <a:p>
                      <a:pPr algn="l"/>
                      <a:r>
                        <a:rPr sz="1100" b="0" i="1">
                          <a:solidFill>
                            <a:srgbClr val="000000"/>
                          </a:solidFill>
                          <a:latin typeface="Calibri"/>
                        </a:rPr>
                        <a:t>36.1.4.3.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36.1.4.4.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36.1.5.</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36.1.6.</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36.2.</a:t>
                      </a:r>
                      <a:r>
                        <a:rPr sz="700" b="0" i="0">
                          <a:solidFill>
                            <a:srgbClr val="0070C0"/>
                          </a:solidFill>
                          <a:latin typeface="Times New Roman"/>
                        </a:rPr>
                        <a:t>  </a:t>
                      </a:r>
                      <a:r>
                        <a:rPr sz="1100" b="0" i="0">
                          <a:solidFill>
                            <a:srgbClr val="0070C0"/>
                          </a:solidFill>
                          <a:latin typeface="Calibri"/>
                        </a:rPr>
                        <a:t>McKee Foods Corporation (Little Debbie, Sunbelt Bakery, Drake's, Fieldstone Bakery)</a:t>
                      </a:r>
                      <a:endParaRPr sz="1100"/>
                    </a:p>
                  </a:txBody>
                  <a:tcPr marL="428625" marR="9525" marT="9525" marB="0" anchor="ctr"/>
                </a:tc>
              </a:tr>
              <a:tr h="175260">
                <a:tc>
                  <a:txBody>
                    <a:bodyPr wrap="square"/>
                    <a:lstStyle/>
                    <a:p>
                      <a:pPr algn="l"/>
                      <a:r>
                        <a:rPr sz="1100" b="0" i="0">
                          <a:solidFill>
                            <a:srgbClr val="0070C0"/>
                          </a:solidFill>
                          <a:latin typeface="Calibri"/>
                        </a:rPr>
                        <a:t>36.3.</a:t>
                      </a:r>
                      <a:r>
                        <a:rPr sz="700" b="0" i="0">
                          <a:solidFill>
                            <a:srgbClr val="0070C0"/>
                          </a:solidFill>
                          <a:latin typeface="Times New Roman"/>
                        </a:rPr>
                        <a:t>  </a:t>
                      </a:r>
                      <a:r>
                        <a:rPr sz="1100" b="0" i="0">
                          <a:solidFill>
                            <a:srgbClr val="0070C0"/>
                          </a:solidFill>
                          <a:latin typeface="Calibri"/>
                        </a:rPr>
                        <a:t>Hostess Brands (Hostess)</a:t>
                      </a:r>
                      <a:endParaRPr sz="1100"/>
                    </a:p>
                  </a:txBody>
                  <a:tcPr marL="428625" marR="9525" marT="9525" marB="0" anchor="ctr"/>
                </a:tc>
              </a:tr>
              <a:tr h="175260">
                <a:tc>
                  <a:txBody>
                    <a:bodyPr wrap="square"/>
                    <a:lstStyle/>
                    <a:p>
                      <a:pPr algn="l"/>
                      <a:r>
                        <a:rPr sz="1100" b="0" i="0">
                          <a:solidFill>
                            <a:srgbClr val="0070C0"/>
                          </a:solidFill>
                          <a:latin typeface="Calibri"/>
                        </a:rPr>
                        <a:t>36.4.</a:t>
                      </a:r>
                      <a:r>
                        <a:rPr sz="700" b="0" i="0">
                          <a:solidFill>
                            <a:srgbClr val="0070C0"/>
                          </a:solidFill>
                          <a:latin typeface="Times New Roman"/>
                        </a:rPr>
                        <a:t>  </a:t>
                      </a:r>
                      <a:r>
                        <a:rPr sz="1100" b="0" i="0">
                          <a:solidFill>
                            <a:srgbClr val="0070C0"/>
                          </a:solidFill>
                          <a:latin typeface="Calibri"/>
                        </a:rPr>
                        <a:t>Rich Products Corporation (Rich's)</a:t>
                      </a:r>
                      <a:endParaRPr sz="1100"/>
                    </a:p>
                  </a:txBody>
                  <a:tcPr marL="428625" marR="9525" marT="9525" marB="0" anchor="ctr"/>
                </a:tc>
              </a:tr>
              <a:tr h="350520">
                <a:tc>
                  <a:txBody>
                    <a:bodyPr wrap="square"/>
                    <a:lstStyle/>
                    <a:p>
                      <a:pPr algn="l"/>
                      <a:r>
                        <a:rPr sz="1100" b="0" i="0">
                          <a:solidFill>
                            <a:srgbClr val="0070C0"/>
                          </a:solidFill>
                          <a:latin typeface="Calibri"/>
                        </a:rPr>
                        <a:t>36.5.</a:t>
                      </a:r>
                      <a:r>
                        <a:rPr sz="700" b="0" i="0">
                          <a:solidFill>
                            <a:srgbClr val="0070C0"/>
                          </a:solidFill>
                          <a:latin typeface="Times New Roman"/>
                        </a:rPr>
                        <a:t>  </a:t>
                      </a:r>
                      <a:r>
                        <a:rPr sz="1100" b="0" i="0">
                          <a:solidFill>
                            <a:srgbClr val="0070C0"/>
                          </a:solidFill>
                          <a:latin typeface="Calibri"/>
                        </a:rPr>
                        <a:t>ARYZTA / Aspire Bakeries (Otis Spunkmeyer, Cuisine de France, Hiestand, Delice de France)</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36.6.</a:t>
                      </a:r>
                      <a:r>
                        <a:rPr sz="700" b="0" i="0">
                          <a:solidFill>
                            <a:srgbClr val="0070C0"/>
                          </a:solidFill>
                          <a:latin typeface="Times New Roman"/>
                        </a:rPr>
                        <a:t>  </a:t>
                      </a:r>
                      <a:r>
                        <a:rPr sz="1100" b="0" i="0">
                          <a:solidFill>
                            <a:srgbClr val="0070C0"/>
                          </a:solidFill>
                          <a:latin typeface="Calibri"/>
                        </a:rPr>
                        <a:t>Europastry (Europastry, Dots)</a:t>
                      </a:r>
                      <a:endParaRPr sz="1100"/>
                    </a:p>
                  </a:txBody>
                  <a:tcPr marL="428625" marR="9525" marT="9525" marB="0" anchor="ctr"/>
                </a:tc>
              </a:tr>
              <a:tr h="175260">
                <a:tc>
                  <a:txBody>
                    <a:bodyPr wrap="square"/>
                    <a:lstStyle/>
                    <a:p>
                      <a:pPr algn="l"/>
                      <a:r>
                        <a:rPr sz="1100" b="0" i="0">
                          <a:solidFill>
                            <a:srgbClr val="0070C0"/>
                          </a:solidFill>
                          <a:latin typeface="Calibri"/>
                        </a:rPr>
                        <a:t>36.7.</a:t>
                      </a:r>
                      <a:r>
                        <a:rPr sz="700" b="0" i="0">
                          <a:solidFill>
                            <a:srgbClr val="0070C0"/>
                          </a:solidFill>
                          <a:latin typeface="Times New Roman"/>
                        </a:rPr>
                        <a:t>  </a:t>
                      </a:r>
                      <a:r>
                        <a:rPr sz="1100" b="0" i="0">
                          <a:solidFill>
                            <a:srgbClr val="0070C0"/>
                          </a:solidFill>
                          <a:latin typeface="Calibri"/>
                        </a:rPr>
                        <a:t>Bridor (Bridor, Evasions)</a:t>
                      </a:r>
                      <a:endParaRPr sz="1100"/>
                    </a:p>
                  </a:txBody>
                  <a:tcPr marL="428625" marR="9525" marT="9525" marB="0" anchor="ctr"/>
                </a:tc>
              </a:tr>
              <a:tr h="175260">
                <a:tc>
                  <a:txBody>
                    <a:bodyPr wrap="square"/>
                    <a:lstStyle/>
                    <a:p>
                      <a:pPr algn="l"/>
                      <a:r>
                        <a:rPr sz="1100" b="0" i="0">
                          <a:solidFill>
                            <a:srgbClr val="0070C0"/>
                          </a:solidFill>
                          <a:latin typeface="Calibri"/>
                        </a:rPr>
                        <a:t>36.8.</a:t>
                      </a:r>
                      <a:r>
                        <a:rPr sz="700" b="0" i="0">
                          <a:solidFill>
                            <a:srgbClr val="0070C0"/>
                          </a:solidFill>
                          <a:latin typeface="Times New Roman"/>
                        </a:rPr>
                        <a:t>  </a:t>
                      </a:r>
                      <a:r>
                        <a:rPr sz="1100" b="0" i="0">
                          <a:solidFill>
                            <a:srgbClr val="0070C0"/>
                          </a:solidFill>
                          <a:latin typeface="Calibri"/>
                        </a:rPr>
                        <a:t>Lantmännen Unibake (Schulstad, Hatting, Vaasan, Pastridor, Euro-Bake)</a:t>
                      </a:r>
                      <a:endParaRPr sz="1100"/>
                    </a:p>
                  </a:txBody>
                  <a:tcPr marL="428625" marR="9525" marT="9525" marB="0" anchor="ctr"/>
                </a:tc>
              </a:tr>
              <a:tr h="350520">
                <a:tc>
                  <a:txBody>
                    <a:bodyPr wrap="square"/>
                    <a:lstStyle/>
                    <a:p>
                      <a:pPr algn="l"/>
                      <a:r>
                        <a:rPr sz="1100" b="0" i="0">
                          <a:solidFill>
                            <a:srgbClr val="0070C0"/>
                          </a:solidFill>
                          <a:latin typeface="Calibri"/>
                        </a:rPr>
                        <a:t>36.9.</a:t>
                      </a:r>
                      <a:r>
                        <a:rPr sz="700" b="0" i="0">
                          <a:solidFill>
                            <a:srgbClr val="0070C0"/>
                          </a:solidFill>
                          <a:latin typeface="Times New Roman"/>
                        </a:rPr>
                        <a:t>  </a:t>
                      </a:r>
                      <a:r>
                        <a:rPr sz="1100" b="0" i="0">
                          <a:solidFill>
                            <a:srgbClr val="0070C0"/>
                          </a:solidFill>
                          <a:latin typeface="Calibri"/>
                        </a:rPr>
                        <a:t>Flowers Foods (Tastykake, Nature's Own, Wonder, Dave's Killer Bread, Canyon Bakehouse)</a:t>
                      </a:r>
                      <a:endParaRPr sz="1100"/>
                    </a:p>
                  </a:txBody>
                  <a:tcPr marL="428625" marR="9525" marT="9525" marB="0" anchor="ctr"/>
                </a:tc>
              </a:tr>
              <a:tr h="175260">
                <a:tc>
                  <a:txBody>
                    <a:bodyPr wrap="square"/>
                    <a:lstStyle/>
                    <a:p>
                      <a:pPr algn="l"/>
                      <a:r>
                        <a:rPr sz="1100" b="0" i="0">
                          <a:solidFill>
                            <a:srgbClr val="0070C0"/>
                          </a:solidFill>
                          <a:latin typeface="Calibri"/>
                        </a:rPr>
                        <a:t>36.10.</a:t>
                      </a:r>
                      <a:r>
                        <a:rPr sz="700" b="0" i="0">
                          <a:solidFill>
                            <a:srgbClr val="0070C0"/>
                          </a:solidFill>
                          <a:latin typeface="Times New Roman"/>
                        </a:rPr>
                        <a:t> </a:t>
                      </a:r>
                      <a:r>
                        <a:rPr sz="1100" b="0" i="0">
                          <a:solidFill>
                            <a:srgbClr val="0070C0"/>
                          </a:solidFill>
                          <a:latin typeface="Calibri"/>
                        </a:rPr>
                        <a:t>Premier Foods (Mr Kipling)</a:t>
                      </a:r>
                      <a:endParaRPr sz="1100"/>
                    </a:p>
                  </a:txBody>
                  <a:tcPr marL="428625" marR="9525" marT="9525" marB="0" anchor="ctr"/>
                </a:tc>
              </a:tr>
              <a:tr h="175260">
                <a:tc>
                  <a:txBody>
                    <a:bodyPr wrap="square"/>
                    <a:lstStyle/>
                    <a:p>
                      <a:pPr algn="l"/>
                      <a:r>
                        <a:rPr sz="1100" b="0" i="0">
                          <a:solidFill>
                            <a:srgbClr val="0070C0"/>
                          </a:solidFill>
                          <a:latin typeface="Calibri"/>
                        </a:rPr>
                        <a:t>36.11.</a:t>
                      </a:r>
                      <a:r>
                        <a:rPr sz="700" b="0" i="0">
                          <a:solidFill>
                            <a:srgbClr val="0070C0"/>
                          </a:solidFill>
                          <a:latin typeface="Times New Roman"/>
                        </a:rPr>
                        <a:t> </a:t>
                      </a:r>
                      <a:r>
                        <a:rPr sz="1100" b="0" i="0">
                          <a:solidFill>
                            <a:srgbClr val="0070C0"/>
                          </a:solidFill>
                          <a:latin typeface="Calibri"/>
                        </a:rPr>
                        <a:t>Warburtons (Warburtons)</a:t>
                      </a:r>
                      <a:endParaRPr sz="1100"/>
                    </a:p>
                  </a:txBody>
                  <a:tcPr marL="428625" marR="9525" marT="9525" marB="0" anchor="ctr"/>
                </a:tc>
              </a:tr>
              <a:tr h="175260">
                <a:tc>
                  <a:txBody>
                    <a:bodyPr wrap="square"/>
                    <a:lstStyle/>
                    <a:p>
                      <a:pPr algn="l"/>
                      <a:r>
                        <a:rPr sz="1100" b="0" i="0">
                          <a:solidFill>
                            <a:srgbClr val="0070C0"/>
                          </a:solidFill>
                          <a:latin typeface="Calibri"/>
                        </a:rPr>
                        <a:t>36.12.</a:t>
                      </a:r>
                      <a:r>
                        <a:rPr sz="700" b="0" i="0">
                          <a:solidFill>
                            <a:srgbClr val="0070C0"/>
                          </a:solidFill>
                          <a:latin typeface="Times New Roman"/>
                        </a:rPr>
                        <a:t> </a:t>
                      </a:r>
                      <a:r>
                        <a:rPr sz="1100" b="0" i="0">
                          <a:solidFill>
                            <a:srgbClr val="0070C0"/>
                          </a:solidFill>
                          <a:latin typeface="Calibri"/>
                        </a:rPr>
                        <a:t>Goodman Fielder (Nature's Fresh, Freya's, Quality Bakers)</a:t>
                      </a:r>
                      <a:endParaRPr sz="1100"/>
                    </a:p>
                  </a:txBody>
                  <a:tcPr marL="428625" marR="9525" marT="9525" marB="0" anchor="ctr"/>
                </a:tc>
              </a:tr>
              <a:tr h="175260">
                <a:tc>
                  <a:txBody>
                    <a:bodyPr wrap="square"/>
                    <a:lstStyle/>
                    <a:p>
                      <a:pPr algn="l"/>
                      <a:r>
                        <a:rPr sz="1100" b="0" i="0">
                          <a:solidFill>
                            <a:srgbClr val="0070C0"/>
                          </a:solidFill>
                          <a:latin typeface="Calibri"/>
                        </a:rPr>
                        <a:t>36.13.</a:t>
                      </a:r>
                      <a:r>
                        <a:rPr sz="700" b="0" i="0">
                          <a:solidFill>
                            <a:srgbClr val="0070C0"/>
                          </a:solidFill>
                          <a:latin typeface="Times New Roman"/>
                        </a:rPr>
                        <a:t> </a:t>
                      </a:r>
                      <a:r>
                        <a:rPr sz="1100" b="0" i="0">
                          <a:solidFill>
                            <a:srgbClr val="0070C0"/>
                          </a:solidFill>
                          <a:latin typeface="Calibri"/>
                        </a:rPr>
                        <a:t>St Michel (St Michel)</a:t>
                      </a:r>
                      <a:endParaRPr sz="1100"/>
                    </a:p>
                  </a:txBody>
                  <a:tcPr marL="428625" marR="9525" marT="9525" marB="0" anchor="ctr"/>
                </a:tc>
              </a:tr>
              <a:tr h="175260">
                <a:tc>
                  <a:txBody>
                    <a:bodyPr wrap="square"/>
                    <a:lstStyle/>
                    <a:p>
                      <a:pPr algn="l"/>
                      <a:r>
                        <a:rPr sz="1100" b="0" i="0">
                          <a:solidFill>
                            <a:srgbClr val="0070C0"/>
                          </a:solidFill>
                          <a:latin typeface="Calibri"/>
                        </a:rPr>
                        <a:t>36.14.</a:t>
                      </a:r>
                      <a:r>
                        <a:rPr sz="700" b="0" i="0">
                          <a:solidFill>
                            <a:srgbClr val="0070C0"/>
                          </a:solidFill>
                          <a:latin typeface="Times New Roman"/>
                        </a:rPr>
                        <a:t> </a:t>
                      </a:r>
                      <a:r>
                        <a:rPr sz="1100" b="0" i="0">
                          <a:solidFill>
                            <a:srgbClr val="0070C0"/>
                          </a:solidFill>
                          <a:latin typeface="Calibri"/>
                        </a:rPr>
                        <a:t>Dr. Schär (Schär)</a:t>
                      </a:r>
                      <a:endParaRPr sz="1100"/>
                    </a:p>
                  </a:txBody>
                  <a:tcPr marL="428625" marR="9525" marT="9525" marB="0" anchor="ctr"/>
                </a:tc>
              </a:tr>
              <a:tr h="175260">
                <a:tc>
                  <a:txBody>
                    <a:bodyPr wrap="square"/>
                    <a:lstStyle/>
                    <a:p>
                      <a:pPr algn="l"/>
                      <a:r>
                        <a:rPr sz="1100" b="0" i="0">
                          <a:solidFill>
                            <a:srgbClr val="0070C0"/>
                          </a:solidFill>
                          <a:latin typeface="Calibri"/>
                        </a:rPr>
                        <a:t>36.15.</a:t>
                      </a:r>
                      <a:r>
                        <a:rPr sz="700" b="0" i="0">
                          <a:solidFill>
                            <a:srgbClr val="0070C0"/>
                          </a:solidFill>
                          <a:latin typeface="Times New Roman"/>
                        </a:rPr>
                        <a:t> </a:t>
                      </a:r>
                      <a:r>
                        <a:rPr sz="1100" b="0" i="0">
                          <a:solidFill>
                            <a:srgbClr val="0070C0"/>
                          </a:solidFill>
                          <a:latin typeface="Calibri"/>
                        </a:rPr>
                        <a:t>General Mills (Betty Crocker, Pillsbury)</a:t>
                      </a:r>
                      <a:endParaRPr sz="1100"/>
                    </a:p>
                  </a:txBody>
                  <a:tcPr marL="428625" marR="9525" marT="9525" marB="0" anchor="ctr"/>
                </a:tc>
              </a:tr>
              <a:tr h="175260">
                <a:tc>
                  <a:txBody>
                    <a:bodyPr wrap="square"/>
                    <a:lstStyle/>
                    <a:p>
                      <a:pPr algn="l"/>
                      <a:r>
                        <a:rPr sz="1100" b="0" i="0">
                          <a:solidFill>
                            <a:srgbClr val="0070C0"/>
                          </a:solidFill>
                          <a:latin typeface="Calibri"/>
                        </a:rPr>
                        <a:t>36.16.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37.</a:t>
                      </a:r>
                      <a:r>
                        <a:rPr sz="700" b="1" i="0">
                          <a:solidFill>
                            <a:srgbClr val="000000"/>
                          </a:solidFill>
                          <a:latin typeface="Times New Roman"/>
                        </a:rPr>
                        <a:t>    </a:t>
                      </a:r>
                      <a:r>
                        <a:rPr sz="1100" b="1" i="0">
                          <a:solidFill>
                            <a:srgbClr val="000000"/>
                          </a:solidFill>
                          <a:latin typeface="Calibri"/>
                        </a:rPr>
                        <a:t>Company Profile- Asia-Based</a:t>
                      </a:r>
                      <a:endParaRPr sz="1100"/>
                    </a:p>
                  </a:txBody>
                  <a:tcPr marL="171450" marR="9525" marT="9525" marB="0" anchor="ctr"/>
                </a:tc>
              </a:tr>
              <a:tr h="175260">
                <a:tc>
                  <a:txBody>
                    <a:bodyPr wrap="square"/>
                    <a:lstStyle/>
                    <a:p>
                      <a:pPr algn="l"/>
                      <a:r>
                        <a:rPr sz="1100" b="0" i="0">
                          <a:solidFill>
                            <a:srgbClr val="0070C0"/>
                          </a:solidFill>
                          <a:latin typeface="Calibri"/>
                        </a:rPr>
                        <a:t>37.1.</a:t>
                      </a:r>
                      <a:r>
                        <a:rPr sz="700" b="0" i="0">
                          <a:solidFill>
                            <a:srgbClr val="0070C0"/>
                          </a:solidFill>
                          <a:latin typeface="Times New Roman"/>
                        </a:rPr>
                        <a:t>  </a:t>
                      </a:r>
                      <a:r>
                        <a:rPr sz="1100" b="0" i="0">
                          <a:solidFill>
                            <a:srgbClr val="0070C0"/>
                          </a:solidFill>
                          <a:latin typeface="Calibri"/>
                        </a:rPr>
                        <a:t>Britannia Industries (Britannia)</a:t>
                      </a:r>
                      <a:endParaRPr sz="1100"/>
                    </a:p>
                  </a:txBody>
                  <a:tcPr marL="428625" marR="9525" marT="9525" marB="0" anchor="ctr"/>
                </a:tc>
              </a:tr>
              <a:tr h="175260">
                <a:tc>
                  <a:txBody>
                    <a:bodyPr wrap="square"/>
                    <a:lstStyle/>
                    <a:p>
                      <a:pPr algn="l"/>
                      <a:r>
                        <a:rPr sz="1100" b="0" i="0">
                          <a:solidFill>
                            <a:srgbClr val="0070C0"/>
                          </a:solidFill>
                          <a:latin typeface="Calibri"/>
                        </a:rPr>
                        <a:t>37.2.</a:t>
                      </a:r>
                      <a:r>
                        <a:rPr sz="700" b="0" i="0">
                          <a:solidFill>
                            <a:srgbClr val="0070C0"/>
                          </a:solidFill>
                          <a:latin typeface="Times New Roman"/>
                        </a:rPr>
                        <a:t>  </a:t>
                      </a:r>
                      <a:r>
                        <a:rPr sz="1100" b="0" i="0">
                          <a:solidFill>
                            <a:srgbClr val="0070C0"/>
                          </a:solidFill>
                          <a:latin typeface="Calibri"/>
                        </a:rPr>
                        <a:t>Monginis Foods (Monginis)</a:t>
                      </a:r>
                      <a:endParaRPr sz="1100"/>
                    </a:p>
                  </a:txBody>
                  <a:tcPr marL="428625" marR="9525" marT="9525" marB="0" anchor="ctr"/>
                </a:tc>
              </a:tr>
              <a:tr h="175260">
                <a:tc>
                  <a:txBody>
                    <a:bodyPr wrap="square"/>
                    <a:lstStyle/>
                    <a:p>
                      <a:pPr algn="l"/>
                      <a:r>
                        <a:rPr sz="1100" b="0" i="0">
                          <a:solidFill>
                            <a:srgbClr val="0070C0"/>
                          </a:solidFill>
                          <a:latin typeface="Calibri"/>
                        </a:rPr>
                        <a:t>37.3.</a:t>
                      </a:r>
                      <a:r>
                        <a:rPr sz="700" b="0" i="0">
                          <a:solidFill>
                            <a:srgbClr val="0070C0"/>
                          </a:solidFill>
                          <a:latin typeface="Times New Roman"/>
                        </a:rPr>
                        <a:t>  </a:t>
                      </a:r>
                      <a:r>
                        <a:rPr sz="1100" b="0" i="0">
                          <a:solidFill>
                            <a:srgbClr val="0070C0"/>
                          </a:solidFill>
                          <a:latin typeface="Calibri"/>
                        </a:rPr>
                        <a:t>Bonn Group of Industries (Bonn)</a:t>
                      </a:r>
                      <a:endParaRPr sz="1100"/>
                    </a:p>
                  </a:txBody>
                  <a:tcPr marL="428625" marR="9525" marT="9525" marB="0" anchor="ctr"/>
                </a:tc>
              </a:tr>
              <a:tr h="175260">
                <a:tc>
                  <a:txBody>
                    <a:bodyPr wrap="square"/>
                    <a:lstStyle/>
                    <a:p>
                      <a:pPr algn="l"/>
                      <a:r>
                        <a:rPr sz="1100" b="0" i="0">
                          <a:solidFill>
                            <a:srgbClr val="0070C0"/>
                          </a:solidFill>
                          <a:latin typeface="Calibri"/>
                        </a:rPr>
                        <a:t>37.4.</a:t>
                      </a:r>
                      <a:r>
                        <a:rPr sz="700" b="0" i="0">
                          <a:solidFill>
                            <a:srgbClr val="0070C0"/>
                          </a:solidFill>
                          <a:latin typeface="Times New Roman"/>
                        </a:rPr>
                        <a:t>  </a:t>
                      </a:r>
                      <a:r>
                        <a:rPr sz="1100" b="0" i="0">
                          <a:solidFill>
                            <a:srgbClr val="0070C0"/>
                          </a:solidFill>
                          <a:latin typeface="Calibri"/>
                        </a:rPr>
                        <a:t>Karachi Bakery (Karachi Bakery)</a:t>
                      </a:r>
                      <a:endParaRPr sz="1100"/>
                    </a:p>
                  </a:txBody>
                  <a:tcPr marL="428625" marR="9525" marT="9525" marB="0" anchor="ctr"/>
                </a:tc>
              </a:tr>
              <a:tr h="175260">
                <a:tc>
                  <a:txBody>
                    <a:bodyPr wrap="square"/>
                    <a:lstStyle/>
                    <a:p>
                      <a:pPr algn="l"/>
                      <a:r>
                        <a:rPr sz="1100" b="0" i="0">
                          <a:solidFill>
                            <a:srgbClr val="0070C0"/>
                          </a:solidFill>
                          <a:latin typeface="Calibri"/>
                        </a:rPr>
                        <a:t>37.5.</a:t>
                      </a:r>
                      <a:r>
                        <a:rPr sz="700" b="0" i="0">
                          <a:solidFill>
                            <a:srgbClr val="0070C0"/>
                          </a:solidFill>
                          <a:latin typeface="Times New Roman"/>
                        </a:rPr>
                        <a:t>  </a:t>
                      </a:r>
                      <a:r>
                        <a:rPr sz="1100" b="0" i="0">
                          <a:solidFill>
                            <a:srgbClr val="0070C0"/>
                          </a:solidFill>
                          <a:latin typeface="Calibri"/>
                        </a:rPr>
                        <a:t>Gardenia Bakeries Philippines (Gardenia)</a:t>
                      </a:r>
                      <a:endParaRPr sz="1100"/>
                    </a:p>
                  </a:txBody>
                  <a:tcPr marL="428625" marR="9525" marT="9525" marB="0" anchor="ctr"/>
                </a:tc>
              </a:tr>
              <a:tr h="175260">
                <a:tc>
                  <a:txBody>
                    <a:bodyPr wrap="square"/>
                    <a:lstStyle/>
                    <a:p>
                      <a:pPr algn="l"/>
                      <a:r>
                        <a:rPr sz="1100" b="0" i="0">
                          <a:solidFill>
                            <a:srgbClr val="0070C0"/>
                          </a:solidFill>
                          <a:latin typeface="Calibri"/>
                        </a:rPr>
                        <a:t>37.6.</a:t>
                      </a:r>
                      <a:r>
                        <a:rPr sz="700" b="0" i="0">
                          <a:solidFill>
                            <a:srgbClr val="0070C0"/>
                          </a:solidFill>
                          <a:latin typeface="Times New Roman"/>
                        </a:rPr>
                        <a:t>  </a:t>
                      </a:r>
                      <a:r>
                        <a:rPr sz="1100" b="0" i="0">
                          <a:solidFill>
                            <a:srgbClr val="0070C0"/>
                          </a:solidFill>
                          <a:latin typeface="Calibri"/>
                        </a:rPr>
                        <a:t>Gardenia Bakeries Malaysia (Gardenia, Gardenia QuickBites)</a:t>
                      </a:r>
                      <a:endParaRPr sz="1100"/>
                    </a:p>
                  </a:txBody>
                  <a:tcPr marL="428625" marR="9525" marT="9525" marB="0" anchor="ctr"/>
                </a:tc>
              </a:tr>
              <a:tr h="175260">
                <a:tc>
                  <a:txBody>
                    <a:bodyPr wrap="square"/>
                    <a:lstStyle/>
                    <a:p>
                      <a:pPr algn="l"/>
                      <a:r>
                        <a:rPr sz="1100" b="0" i="0">
                          <a:solidFill>
                            <a:srgbClr val="0070C0"/>
                          </a:solidFill>
                          <a:latin typeface="Calibri"/>
                        </a:rPr>
                        <a:t>37.7.</a:t>
                      </a:r>
                      <a:r>
                        <a:rPr sz="700" b="0" i="0">
                          <a:solidFill>
                            <a:srgbClr val="0070C0"/>
                          </a:solidFill>
                          <a:latin typeface="Times New Roman"/>
                        </a:rPr>
                        <a:t>  </a:t>
                      </a:r>
                      <a:r>
                        <a:rPr sz="1100" b="0" i="0">
                          <a:solidFill>
                            <a:srgbClr val="0070C0"/>
                          </a:solidFill>
                          <a:latin typeface="Calibri"/>
                        </a:rPr>
                        <a:t>PT Nippon Indosari Corpindo (Sari Roti)</a:t>
                      </a:r>
                      <a:endParaRPr sz="1100"/>
                    </a:p>
                  </a:txBody>
                  <a:tcPr marL="428625" marR="9525" marT="9525" marB="0" anchor="ctr"/>
                </a:tc>
              </a:tr>
              <a:tr h="175260">
                <a:tc>
                  <a:txBody>
                    <a:bodyPr wrap="square"/>
                    <a:lstStyle/>
                    <a:p>
                      <a:pPr algn="l"/>
                      <a:r>
                        <a:rPr sz="1100" b="0" i="0">
                          <a:solidFill>
                            <a:srgbClr val="0070C0"/>
                          </a:solidFill>
                          <a:latin typeface="Calibri"/>
                        </a:rPr>
                        <a:t>37.8.</a:t>
                      </a:r>
                      <a:r>
                        <a:rPr sz="700" b="0" i="0">
                          <a:solidFill>
                            <a:srgbClr val="0070C0"/>
                          </a:solidFill>
                          <a:latin typeface="Times New Roman"/>
                        </a:rPr>
                        <a:t>  </a:t>
                      </a:r>
                      <a:r>
                        <a:rPr sz="1100" b="0" i="0">
                          <a:solidFill>
                            <a:srgbClr val="0070C0"/>
                          </a:solidFill>
                          <a:latin typeface="Calibri"/>
                        </a:rPr>
                        <a:t>BreadTalk Group (BreadTalk)</a:t>
                      </a:r>
                      <a:endParaRPr sz="1100"/>
                    </a:p>
                  </a:txBody>
                  <a:tcPr marL="428625" marR="9525" marT="9525" marB="0" anchor="ctr"/>
                </a:tc>
              </a:tr>
              <a:tr h="175260">
                <a:tc>
                  <a:txBody>
                    <a:bodyPr wrap="square"/>
                    <a:lstStyle/>
                    <a:p>
                      <a:pPr algn="l"/>
                      <a:r>
                        <a:rPr sz="1100" b="0" i="0">
                          <a:solidFill>
                            <a:srgbClr val="0070C0"/>
                          </a:solidFill>
                          <a:latin typeface="Calibri"/>
                        </a:rPr>
                        <a:t>37.9.</a:t>
                      </a:r>
                      <a:r>
                        <a:rPr sz="700" b="0" i="0">
                          <a:solidFill>
                            <a:srgbClr val="0070C0"/>
                          </a:solidFill>
                          <a:latin typeface="Times New Roman"/>
                        </a:rPr>
                        <a:t>  </a:t>
                      </a:r>
                      <a:r>
                        <a:rPr sz="1100" b="0" i="0">
                          <a:solidFill>
                            <a:srgbClr val="0070C0"/>
                          </a:solidFill>
                          <a:latin typeface="Calibri"/>
                        </a:rPr>
                        <a:t>QAF Limited (Bakers Maison)</a:t>
                      </a:r>
                      <a:endParaRPr sz="1100"/>
                    </a:p>
                  </a:txBody>
                  <a:tcPr marL="428625" marR="9525" marT="9525" marB="0" anchor="ctr"/>
                </a:tc>
              </a:tr>
              <a:tr h="175260">
                <a:tc>
                  <a:txBody>
                    <a:bodyPr wrap="square"/>
                    <a:lstStyle/>
                    <a:p>
                      <a:pPr algn="l"/>
                      <a:r>
                        <a:rPr sz="1100" b="0" i="0">
                          <a:solidFill>
                            <a:srgbClr val="0070C0"/>
                          </a:solidFill>
                          <a:latin typeface="Calibri"/>
                        </a:rPr>
                        <a:t>37.10.</a:t>
                      </a:r>
                      <a:r>
                        <a:rPr sz="700" b="0" i="0">
                          <a:solidFill>
                            <a:srgbClr val="0070C0"/>
                          </a:solidFill>
                          <a:latin typeface="Times New Roman"/>
                        </a:rPr>
                        <a:t> </a:t>
                      </a:r>
                      <a:r>
                        <a:rPr sz="1100" b="0" i="0">
                          <a:solidFill>
                            <a:srgbClr val="0070C0"/>
                          </a:solidFill>
                          <a:latin typeface="Calibri"/>
                        </a:rPr>
                        <a:t>SPC Samlip (Samlip)</a:t>
                      </a:r>
                      <a:endParaRPr sz="1100"/>
                    </a:p>
                  </a:txBody>
                  <a:tcPr marL="428625" marR="9525" marT="9525" marB="0" anchor="ctr"/>
                </a:tc>
              </a:tr>
              <a:tr h="175260">
                <a:tc>
                  <a:txBody>
                    <a:bodyPr wrap="square"/>
                    <a:lstStyle/>
                    <a:p>
                      <a:pPr algn="l"/>
                      <a:r>
                        <a:rPr sz="1100" b="0" i="0">
                          <a:solidFill>
                            <a:srgbClr val="0070C0"/>
                          </a:solidFill>
                          <a:latin typeface="Calibri"/>
                        </a:rPr>
                        <a:t>37.11.</a:t>
                      </a:r>
                      <a:r>
                        <a:rPr sz="700" b="0" i="0">
                          <a:solidFill>
                            <a:srgbClr val="0070C0"/>
                          </a:solidFill>
                          <a:latin typeface="Times New Roman"/>
                        </a:rPr>
                        <a:t> </a:t>
                      </a:r>
                      <a:r>
                        <a:rPr sz="1100" b="0" i="0">
                          <a:solidFill>
                            <a:srgbClr val="0070C0"/>
                          </a:solidFill>
                          <a:latin typeface="Calibri"/>
                        </a:rPr>
                        <a:t>Yamazaki Baking (Yamazaki, Vie de France Yamazaki, Four Leaves)</a:t>
                      </a:r>
                      <a:endParaRPr sz="1100"/>
                    </a:p>
                  </a:txBody>
                  <a:tcPr marL="428625" marR="9525" marT="9525" marB="0" anchor="ctr"/>
                </a:tc>
              </a:tr>
              <a:tr h="175260">
                <a:tc>
                  <a:txBody>
                    <a:bodyPr wrap="square"/>
                    <a:lstStyle/>
                    <a:p>
                      <a:pPr algn="l"/>
                      <a:r>
                        <a:rPr sz="1100" b="0" i="0">
                          <a:solidFill>
                            <a:srgbClr val="0070C0"/>
                          </a:solidFill>
                          <a:latin typeface="Calibri"/>
                        </a:rPr>
                        <a:t>37.12.</a:t>
                      </a:r>
                      <a:r>
                        <a:rPr sz="700" b="0" i="0">
                          <a:solidFill>
                            <a:srgbClr val="0070C0"/>
                          </a:solidFill>
                          <a:latin typeface="Times New Roman"/>
                        </a:rPr>
                        <a:t> </a:t>
                      </a:r>
                      <a:r>
                        <a:rPr sz="1100" b="0" i="0">
                          <a:solidFill>
                            <a:srgbClr val="0070C0"/>
                          </a:solidFill>
                          <a:latin typeface="Calibri"/>
                        </a:rPr>
                        <a:t>Toly Bread (Toly Bread / 桃李面包)</a:t>
                      </a:r>
                      <a:endParaRPr sz="1100"/>
                    </a:p>
                  </a:txBody>
                  <a:tcPr marL="428625" marR="9525" marT="9525" marB="0" anchor="ctr"/>
                </a:tc>
              </a:tr>
              <a:tr h="175260">
                <a:tc>
                  <a:txBody>
                    <a:bodyPr wrap="square"/>
                    <a:lstStyle/>
                    <a:p>
                      <a:pPr algn="l"/>
                      <a:r>
                        <a:rPr sz="1100" b="0" i="0">
                          <a:solidFill>
                            <a:srgbClr val="0070C0"/>
                          </a:solidFill>
                          <a:latin typeface="Calibri"/>
                        </a:rPr>
                        <a:t>37.13.</a:t>
                      </a:r>
                      <a:r>
                        <a:rPr sz="700" b="0" i="0">
                          <a:solidFill>
                            <a:srgbClr val="0070C0"/>
                          </a:solidFill>
                          <a:latin typeface="Times New Roman"/>
                        </a:rPr>
                        <a:t> </a:t>
                      </a:r>
                      <a:r>
                        <a:rPr sz="1100" b="0" i="0">
                          <a:solidFill>
                            <a:srgbClr val="0070C0"/>
                          </a:solidFill>
                          <a:latin typeface="Calibri"/>
                        </a:rPr>
                        <a:t>Almarai (L'usine, Bake Mart)</a:t>
                      </a:r>
                      <a:endParaRPr sz="1100"/>
                    </a:p>
                  </a:txBody>
                  <a:tcPr marL="428625" marR="9525" marT="9525" marB="0" anchor="ctr"/>
                </a:tc>
              </a:tr>
              <a:tr h="175260">
                <a:tc>
                  <a:txBody>
                    <a:bodyPr wrap="square"/>
                    <a:lstStyle/>
                    <a:p>
                      <a:pPr algn="l"/>
                      <a:r>
                        <a:rPr sz="1100" b="0" i="0">
                          <a:solidFill>
                            <a:srgbClr val="0070C0"/>
                          </a:solidFill>
                          <a:latin typeface="Calibri"/>
                        </a:rPr>
                        <a:t>37.14.</a:t>
                      </a:r>
                      <a:r>
                        <a:rPr sz="700" b="0" i="0">
                          <a:solidFill>
                            <a:srgbClr val="0070C0"/>
                          </a:solidFill>
                          <a:latin typeface="Times New Roman"/>
                        </a:rPr>
                        <a:t> </a:t>
                      </a:r>
                      <a:r>
                        <a:rPr sz="1100" b="0" i="0">
                          <a:solidFill>
                            <a:srgbClr val="0070C0"/>
                          </a:solidFill>
                          <a:latin typeface="Calibri"/>
                        </a:rPr>
                        <a:t>United Foods International (United Foods)</a:t>
                      </a:r>
                      <a:endParaRPr sz="1100"/>
                    </a:p>
                  </a:txBody>
                  <a:tcPr marL="428625" marR="9525" marT="9525" marB="0" anchor="ctr"/>
                </a:tc>
              </a:tr>
              <a:tr h="175260">
                <a:tc>
                  <a:txBody>
                    <a:bodyPr wrap="square"/>
                    <a:lstStyle/>
                    <a:p>
                      <a:pPr algn="l"/>
                      <a:r>
                        <a:rPr sz="1100" b="0" i="0">
                          <a:solidFill>
                            <a:srgbClr val="0070C0"/>
                          </a:solidFill>
                          <a:latin typeface="Calibri"/>
                        </a:rPr>
                        <a:t>37.15.</a:t>
                      </a:r>
                      <a:r>
                        <a:rPr sz="700" b="0" i="0">
                          <a:solidFill>
                            <a:srgbClr val="0070C0"/>
                          </a:solidFill>
                          <a:latin typeface="Times New Roman"/>
                        </a:rPr>
                        <a:t> </a:t>
                      </a:r>
                      <a:r>
                        <a:rPr sz="1100" b="0" i="0">
                          <a:solidFill>
                            <a:srgbClr val="0070C0"/>
                          </a:solidFill>
                          <a:latin typeface="Calibri"/>
                        </a:rPr>
                        <a:t>Mimansa Industries / The Baker's Dozen (The Baker's Dozen)</a:t>
                      </a:r>
                      <a:endParaRPr sz="1100"/>
                    </a:p>
                  </a:txBody>
                  <a:tcPr marL="428625" marR="9525" marT="9525" marB="0" anchor="ctr"/>
                </a:tc>
              </a:tr>
              <a:tr h="175260">
                <a:tc>
                  <a:txBody>
                    <a:bodyPr wrap="square"/>
                    <a:lstStyle/>
                    <a:p>
                      <a:pPr algn="l"/>
                      <a:r>
                        <a:rPr sz="1100" b="0" i="0">
                          <a:solidFill>
                            <a:srgbClr val="0070C0"/>
                          </a:solidFill>
                          <a:latin typeface="Calibri"/>
                        </a:rPr>
                        <a:t>37.16.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38.</a:t>
                      </a:r>
                      <a:r>
                        <a:rPr sz="700" b="1" i="0">
                          <a:solidFill>
                            <a:srgbClr val="000000"/>
                          </a:solidFill>
                          <a:latin typeface="Times New Roman"/>
                        </a:rPr>
                        <a:t>    </a:t>
                      </a:r>
                      <a:r>
                        <a:rPr sz="1100" b="1" i="0">
                          <a:solidFill>
                            <a:srgbClr val="000000"/>
                          </a:solidFill>
                          <a:latin typeface="Calibri"/>
                        </a:rPr>
                        <a:t>Innovation Acceptance and White Space Analysis</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(12/12)</a:t>
            </a:r>
          </a:p>
        </p:txBody>
      </p:sp>
      <p:graphicFrame>
        <p:nvGraphicFramePr>
          <p:cNvPr id="9" name="FMI Contents Table"/>
          <p:cNvGraphicFramePr>
            <a:graphicFrameLocks noGrp="1"/>
          </p:cNvGraphicFramePr>
          <p:nvPr/>
        </p:nvGraphicFramePr>
        <p:xfrm>
          <a:off x="142875" y="981075"/>
          <a:ext cx="5876925" cy="280416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38.1.</a:t>
                      </a:r>
                      <a:r>
                        <a:rPr sz="700" b="0" i="0">
                          <a:solidFill>
                            <a:srgbClr val="0070C0"/>
                          </a:solidFill>
                          <a:latin typeface="Times New Roman"/>
                        </a:rPr>
                        <a:t>  </a:t>
                      </a:r>
                      <a:r>
                        <a:rPr sz="1100" b="0" i="0">
                          <a:solidFill>
                            <a:srgbClr val="0070C0"/>
                          </a:solidFill>
                          <a:latin typeface="Calibri"/>
                        </a:rPr>
                        <a:t>Innovation Acceptance by Consumer Segment, Product Format and Usage Occasion</a:t>
                      </a:r>
                      <a:endParaRPr sz="1100"/>
                    </a:p>
                  </a:txBody>
                  <a:tcPr marL="428625" marR="9525" marT="9525" marB="0" anchor="ctr"/>
                </a:tc>
              </a:tr>
              <a:tr h="175260">
                <a:tc>
                  <a:txBody>
                    <a:bodyPr wrap="square"/>
                    <a:lstStyle/>
                    <a:p>
                      <a:pPr algn="l"/>
                      <a:r>
                        <a:rPr sz="1100" b="0" i="0">
                          <a:solidFill>
                            <a:srgbClr val="0070C0"/>
                          </a:solidFill>
                          <a:latin typeface="Calibri"/>
                        </a:rPr>
                        <a:t>38.2.</a:t>
                      </a:r>
                      <a:r>
                        <a:rPr sz="700" b="0" i="0">
                          <a:solidFill>
                            <a:srgbClr val="0070C0"/>
                          </a:solidFill>
                          <a:latin typeface="Times New Roman"/>
                        </a:rPr>
                        <a:t>  </a:t>
                      </a:r>
                      <a:r>
                        <a:rPr sz="1100" b="0" i="0">
                          <a:solidFill>
                            <a:srgbClr val="0070C0"/>
                          </a:solidFill>
                          <a:latin typeface="Calibri"/>
                        </a:rPr>
                        <a:t>Consumer Interest in Novel Flavors, Ingredients and Muffin Formulations</a:t>
                      </a:r>
                      <a:endParaRPr sz="1100"/>
                    </a:p>
                  </a:txBody>
                  <a:tcPr marL="428625" marR="9525" marT="9525" marB="0" anchor="ctr"/>
                </a:tc>
              </a:tr>
              <a:tr h="350520">
                <a:tc>
                  <a:txBody>
                    <a:bodyPr wrap="square"/>
                    <a:lstStyle/>
                    <a:p>
                      <a:pPr algn="l"/>
                      <a:r>
                        <a:rPr sz="1100" b="0" i="0">
                          <a:solidFill>
                            <a:srgbClr val="0070C0"/>
                          </a:solidFill>
                          <a:latin typeface="Calibri"/>
                        </a:rPr>
                        <a:t>38.3.</a:t>
                      </a:r>
                      <a:r>
                        <a:rPr sz="700" b="0" i="0">
                          <a:solidFill>
                            <a:srgbClr val="0070C0"/>
                          </a:solidFill>
                          <a:latin typeface="Times New Roman"/>
                        </a:rPr>
                        <a:t>  </a:t>
                      </a:r>
                      <a:r>
                        <a:rPr sz="1100" b="0" i="0">
                          <a:solidFill>
                            <a:srgbClr val="0070C0"/>
                          </a:solidFill>
                          <a:latin typeface="Calibri"/>
                        </a:rPr>
                        <a:t>Acceptance of Functional Claims, Health-oriented Attributes and Clean-label Positioning</a:t>
                      </a:r>
                      <a:endParaRPr sz="1100"/>
                    </a:p>
                  </a:txBody>
                  <a:tcPr marL="428625" marR="9525" marT="9525" marB="0" anchor="ctr"/>
                </a:tc>
              </a:tr>
              <a:tr h="350520">
                <a:tc>
                  <a:txBody>
                    <a:bodyPr wrap="square"/>
                    <a:lstStyle/>
                    <a:p>
                      <a:pPr algn="l"/>
                      <a:r>
                        <a:rPr sz="1100" b="0" i="0">
                          <a:solidFill>
                            <a:srgbClr val="0070C0"/>
                          </a:solidFill>
                          <a:latin typeface="Calibri"/>
                        </a:rPr>
                        <a:t>38.4.</a:t>
                      </a:r>
                      <a:r>
                        <a:rPr sz="700" b="0" i="0">
                          <a:solidFill>
                            <a:srgbClr val="0070C0"/>
                          </a:solidFill>
                          <a:latin typeface="Times New Roman"/>
                        </a:rPr>
                        <a:t>  </a:t>
                      </a:r>
                      <a:r>
                        <a:rPr sz="1100" b="0" i="0">
                          <a:solidFill>
                            <a:srgbClr val="0070C0"/>
                          </a:solidFill>
                          <a:latin typeface="Calibri"/>
                        </a:rPr>
                        <a:t>Consumer Preference for Innovative Pack Formats, Portion Sizes and Convenience Features</a:t>
                      </a:r>
                      <a:endParaRPr sz="1100"/>
                    </a:p>
                  </a:txBody>
                  <a:tcPr marL="428625" marR="9525" marT="9525" marB="0" anchor="ctr"/>
                </a:tc>
              </a:tr>
              <a:tr h="175260">
                <a:tc>
                  <a:txBody>
                    <a:bodyPr wrap="square"/>
                    <a:lstStyle/>
                    <a:p>
                      <a:pPr algn="l"/>
                      <a:r>
                        <a:rPr sz="1100" b="0" i="0">
                          <a:solidFill>
                            <a:srgbClr val="0070C0"/>
                          </a:solidFill>
                          <a:latin typeface="Calibri"/>
                        </a:rPr>
                        <a:t>38.5.</a:t>
                      </a:r>
                      <a:r>
                        <a:rPr sz="700" b="0" i="0">
                          <a:solidFill>
                            <a:srgbClr val="0070C0"/>
                          </a:solidFill>
                          <a:latin typeface="Times New Roman"/>
                        </a:rPr>
                        <a:t>  </a:t>
                      </a:r>
                      <a:r>
                        <a:rPr sz="1100" b="0" i="0">
                          <a:solidFill>
                            <a:srgbClr val="0070C0"/>
                          </a:solidFill>
                          <a:latin typeface="Calibri"/>
                        </a:rPr>
                        <a:t>Purchase Intent for Premium, Indulgent and Better-for-you Muffin Concepts</a:t>
                      </a:r>
                      <a:endParaRPr sz="1100"/>
                    </a:p>
                  </a:txBody>
                  <a:tcPr marL="428625" marR="9525" marT="9525" marB="0" anchor="ctr"/>
                </a:tc>
              </a:tr>
              <a:tr h="175260">
                <a:tc>
                  <a:txBody>
                    <a:bodyPr wrap="square"/>
                    <a:lstStyle/>
                    <a:p>
                      <a:pPr algn="l"/>
                      <a:r>
                        <a:rPr sz="1100" b="0" i="0">
                          <a:solidFill>
                            <a:srgbClr val="0070C0"/>
                          </a:solidFill>
                          <a:latin typeface="Calibri"/>
                        </a:rPr>
                        <a:t>38.6.</a:t>
                      </a:r>
                      <a:r>
                        <a:rPr sz="700" b="0" i="0">
                          <a:solidFill>
                            <a:srgbClr val="0070C0"/>
                          </a:solidFill>
                          <a:latin typeface="Times New Roman"/>
                        </a:rPr>
                        <a:t>  </a:t>
                      </a:r>
                      <a:r>
                        <a:rPr sz="1100" b="0" i="0">
                          <a:solidFill>
                            <a:srgbClr val="0070C0"/>
                          </a:solidFill>
                          <a:latin typeface="Calibri"/>
                        </a:rPr>
                        <a:t>Innovation Acceptance by Price Point, Affordability Band and Premiumization Level</a:t>
                      </a:r>
                      <a:endParaRPr sz="1100"/>
                    </a:p>
                  </a:txBody>
                  <a:tcPr marL="428625" marR="9525" marT="9525" marB="0" anchor="ctr"/>
                </a:tc>
              </a:tr>
              <a:tr h="175260">
                <a:tc>
                  <a:txBody>
                    <a:bodyPr wrap="square"/>
                    <a:lstStyle/>
                    <a:p>
                      <a:pPr algn="l"/>
                      <a:r>
                        <a:rPr sz="1100" b="0" i="0">
                          <a:solidFill>
                            <a:srgbClr val="0070C0"/>
                          </a:solidFill>
                          <a:latin typeface="Calibri"/>
                        </a:rPr>
                        <a:t>38.7.</a:t>
                      </a:r>
                      <a:r>
                        <a:rPr sz="700" b="0" i="0">
                          <a:solidFill>
                            <a:srgbClr val="0070C0"/>
                          </a:solidFill>
                          <a:latin typeface="Times New Roman"/>
                        </a:rPr>
                        <a:t>  </a:t>
                      </a:r>
                      <a:r>
                        <a:rPr sz="1100" b="0" i="0">
                          <a:solidFill>
                            <a:srgbClr val="0070C0"/>
                          </a:solidFill>
                          <a:latin typeface="Calibri"/>
                        </a:rPr>
                        <a:t>Unmet Consumer Needs by Flavor, Texture, Ingredient and Product Attribute</a:t>
                      </a:r>
                      <a:endParaRPr sz="1100"/>
                    </a:p>
                  </a:txBody>
                  <a:tcPr marL="428625" marR="9525" marT="9525" marB="0" anchor="ctr"/>
                </a:tc>
              </a:tr>
              <a:tr h="350520">
                <a:tc>
                  <a:txBody>
                    <a:bodyPr wrap="square"/>
                    <a:lstStyle/>
                    <a:p>
                      <a:pPr algn="l"/>
                      <a:r>
                        <a:rPr sz="1100" b="0" i="0">
                          <a:solidFill>
                            <a:srgbClr val="0070C0"/>
                          </a:solidFill>
                          <a:latin typeface="Calibri"/>
                        </a:rPr>
                        <a:t>38.8.</a:t>
                      </a:r>
                      <a:r>
                        <a:rPr sz="700" b="0" i="0">
                          <a:solidFill>
                            <a:srgbClr val="0070C0"/>
                          </a:solidFill>
                          <a:latin typeface="Times New Roman"/>
                        </a:rPr>
                        <a:t>  </a:t>
                      </a:r>
                      <a:r>
                        <a:rPr sz="1100" b="0" i="0">
                          <a:solidFill>
                            <a:srgbClr val="0070C0"/>
                          </a:solidFill>
                          <a:latin typeface="Calibri"/>
                        </a:rPr>
                        <a:t>Market White Space by Consumer Need-State, Product Attribute and Competitive Assortment</a:t>
                      </a:r>
                      <a:endParaRPr sz="1100"/>
                    </a:p>
                  </a:txBody>
                  <a:tcPr marL="428625" marR="9525" marT="9525" marB="0" anchor="ctr"/>
                </a:tc>
              </a:tr>
              <a:tr h="175260">
                <a:tc>
                  <a:txBody>
                    <a:bodyPr wrap="square"/>
                    <a:lstStyle/>
                    <a:p>
                      <a:pPr algn="l"/>
                      <a:r>
                        <a:rPr sz="1100" b="0" i="0">
                          <a:solidFill>
                            <a:srgbClr val="0070C0"/>
                          </a:solidFill>
                          <a:latin typeface="Calibri"/>
                        </a:rPr>
                        <a:t>38.9.</a:t>
                      </a:r>
                      <a:r>
                        <a:rPr sz="700" b="0" i="0">
                          <a:solidFill>
                            <a:srgbClr val="0070C0"/>
                          </a:solidFill>
                          <a:latin typeface="Times New Roman"/>
                        </a:rPr>
                        <a:t>  </a:t>
                      </a:r>
                      <a:r>
                        <a:rPr sz="1100" b="0" i="0">
                          <a:solidFill>
                            <a:srgbClr val="0070C0"/>
                          </a:solidFill>
                          <a:latin typeface="Calibri"/>
                        </a:rPr>
                        <a:t>Launch Opportunity by Target Consumer Segment, Channel and Geographic Market</a:t>
                      </a:r>
                      <a:endParaRPr sz="1100"/>
                    </a:p>
                  </a:txBody>
                  <a:tcPr marL="428625" marR="9525" marT="9525" marB="0" anchor="ctr"/>
                </a:tc>
              </a:tr>
              <a:tr h="350520">
                <a:tc>
                  <a:txBody>
                    <a:bodyPr wrap="square"/>
                    <a:lstStyle/>
                    <a:p>
                      <a:pPr algn="l"/>
                      <a:r>
                        <a:rPr sz="1100" b="0" i="0">
                          <a:solidFill>
                            <a:srgbClr val="0070C0"/>
                          </a:solidFill>
                          <a:latin typeface="Calibri"/>
                        </a:rPr>
                        <a:t>38.10.</a:t>
                      </a:r>
                      <a:r>
                        <a:rPr sz="700" b="0" i="0">
                          <a:solidFill>
                            <a:srgbClr val="0070C0"/>
                          </a:solidFill>
                          <a:latin typeface="Times New Roman"/>
                        </a:rPr>
                        <a:t> </a:t>
                      </a:r>
                      <a:r>
                        <a:rPr sz="1100" b="0" i="0">
                          <a:solidFill>
                            <a:srgbClr val="0070C0"/>
                          </a:solidFill>
                          <a:latin typeface="Calibri"/>
                        </a:rPr>
                        <a:t>Innovation Opportunity by Product Concept, Price Positioning and Consumer Purchase Intent</a:t>
                      </a:r>
                      <a:endParaRPr sz="1100"/>
                    </a:p>
                  </a:txBody>
                  <a:tcPr marL="428625" marR="9525" marT="9525" marB="0" anchor="ctr"/>
                </a:tc>
              </a:tr>
              <a:tr h="175260">
                <a:tc>
                  <a:txBody>
                    <a:bodyPr wrap="square"/>
                    <a:lstStyle/>
                    <a:p>
                      <a:pPr algn="l"/>
                      <a:r>
                        <a:rPr sz="1100" b="1" i="0">
                          <a:solidFill>
                            <a:srgbClr val="000000"/>
                          </a:solidFill>
                          <a:latin typeface="Calibri"/>
                        </a:rPr>
                        <a:t>39.</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40.</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Figure 1: North America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2: North America Market Value Snapshot, US$ Mn, 2026 and 2036</a:t>
                      </a:r>
                      <a:endParaRPr sz="1050"/>
                    </a:p>
                  </a:txBody>
                  <a:tcPr marL="9525" marR="9525" marT="9525" marB="0" anchor="ctr"/>
                </a:tc>
              </a:tr>
              <a:tr h="169826">
                <a:tc>
                  <a:txBody>
                    <a:bodyPr wrap="square"/>
                    <a:lstStyle/>
                    <a:p>
                      <a:pPr algn="l"/>
                      <a:r>
                        <a:rPr sz="1050" b="0" i="0">
                          <a:solidFill>
                            <a:srgbClr val="000000"/>
                          </a:solidFill>
                          <a:latin typeface="Calibri"/>
                        </a:rPr>
                        <a:t>Figure 3: North America Market Taxonomy by Segment, 2026</a:t>
                      </a:r>
                      <a:endParaRPr sz="1050"/>
                    </a:p>
                  </a:txBody>
                  <a:tcPr marL="9525" marR="9525" marT="9525" marB="0" anchor="ctr"/>
                </a:tc>
              </a:tr>
              <a:tr h="169826">
                <a:tc>
                  <a:txBody>
                    <a:bodyPr wrap="square"/>
                    <a:lstStyle/>
                    <a:p>
                      <a:pPr algn="l"/>
                      <a:r>
                        <a:rPr sz="1050" b="0" i="0">
                          <a:solidFill>
                            <a:srgbClr val="000000"/>
                          </a:solidFill>
                          <a:latin typeface="Calibri"/>
                        </a:rPr>
                        <a:t>Figure 4: North America Market Share by Product Type, %, 2026</a:t>
                      </a:r>
                      <a:endParaRPr sz="1050"/>
                    </a:p>
                  </a:txBody>
                  <a:tcPr marL="9525" marR="9525" marT="9525" marB="0" anchor="ctr"/>
                </a:tc>
              </a:tr>
              <a:tr h="169826">
                <a:tc>
                  <a:txBody>
                    <a:bodyPr wrap="square"/>
                    <a:lstStyle/>
                    <a:p>
                      <a:pPr algn="l"/>
                      <a:r>
                        <a:rPr sz="1050" b="0" i="0">
                          <a:solidFill>
                            <a:srgbClr val="000000"/>
                          </a:solidFill>
                          <a:latin typeface="Calibri"/>
                        </a:rPr>
                        <a:t>Figure 5: North America Market Share by Flavour, %, 2026</a:t>
                      </a:r>
                      <a:endParaRPr sz="1050"/>
                    </a:p>
                  </a:txBody>
                  <a:tcPr marL="9525" marR="9525" marT="9525" marB="0" anchor="ctr"/>
                </a:tc>
              </a:tr>
              <a:tr h="169826">
                <a:tc>
                  <a:txBody>
                    <a:bodyPr wrap="square"/>
                    <a:lstStyle/>
                    <a:p>
                      <a:pPr algn="l"/>
                      <a:r>
                        <a:rPr sz="1050" b="0" i="0">
                          <a:solidFill>
                            <a:srgbClr val="000000"/>
                          </a:solidFill>
                          <a:latin typeface="Calibri"/>
                        </a:rPr>
                        <a:t>Figure 6: North America Market Share by Primary Flour Base, %, 2026</a:t>
                      </a:r>
                      <a:endParaRPr sz="1050"/>
                    </a:p>
                  </a:txBody>
                  <a:tcPr marL="9525" marR="9525" marT="9525" marB="0" anchor="ctr"/>
                </a:tc>
              </a:tr>
              <a:tr h="169826">
                <a:tc>
                  <a:txBody>
                    <a:bodyPr wrap="square"/>
                    <a:lstStyle/>
                    <a:p>
                      <a:pPr algn="l"/>
                      <a:r>
                        <a:rPr sz="1050" b="0" i="0">
                          <a:solidFill>
                            <a:srgbClr val="000000"/>
                          </a:solidFill>
                          <a:latin typeface="Calibri"/>
                        </a:rPr>
                        <a:t>Figure 7: North America Market Share by Dietary Formulation, %, 2026</a:t>
                      </a:r>
                      <a:endParaRPr sz="1050"/>
                    </a:p>
                  </a:txBody>
                  <a:tcPr marL="9525" marR="9525" marT="9525" marB="0" anchor="ctr"/>
                </a:tc>
              </a:tr>
              <a:tr h="169826">
                <a:tc>
                  <a:txBody>
                    <a:bodyPr wrap="square"/>
                    <a:lstStyle/>
                    <a:p>
                      <a:pPr algn="l"/>
                      <a:r>
                        <a:rPr sz="1050" b="0" i="0">
                          <a:solidFill>
                            <a:srgbClr val="000000"/>
                          </a:solidFill>
                          <a:latin typeface="Calibri"/>
                        </a:rPr>
                        <a:t>Figure 8: North America Market Share by Nutritional Positioning, %, 2026</a:t>
                      </a:r>
                      <a:endParaRPr sz="1050"/>
                    </a:p>
                  </a:txBody>
                  <a:tcPr marL="9525" marR="9525" marT="9525" marB="0" anchor="ctr"/>
                </a:tc>
              </a:tr>
              <a:tr h="169826">
                <a:tc>
                  <a:txBody>
                    <a:bodyPr wrap="square"/>
                    <a:lstStyle/>
                    <a:p>
                      <a:pPr algn="l"/>
                      <a:r>
                        <a:rPr sz="1050" b="0" i="0">
                          <a:solidFill>
                            <a:srgbClr val="000000"/>
                          </a:solidFill>
                          <a:latin typeface="Calibri"/>
                        </a:rPr>
                        <a:t>Figure 9: North America Market Share by Recipe and Ingredient Claims, %, 2026</a:t>
                      </a:r>
                      <a:endParaRPr sz="1050"/>
                    </a:p>
                  </a:txBody>
                  <a:tcPr marL="9525" marR="9525" marT="9525" marB="0" anchor="ctr"/>
                </a:tc>
              </a:tr>
              <a:tr h="169826">
                <a:tc>
                  <a:txBody>
                    <a:bodyPr wrap="square"/>
                    <a:lstStyle/>
                    <a:p>
                      <a:pPr algn="l"/>
                      <a:r>
                        <a:rPr sz="1050" b="0" i="0">
                          <a:solidFill>
                            <a:srgbClr val="000000"/>
                          </a:solidFill>
                          <a:latin typeface="Calibri"/>
                        </a:rPr>
                        <a:t>Figure 10: North America Market Historical Value, US$ Mn, 2021–2025</a:t>
                      </a:r>
                      <a:endParaRPr sz="1050"/>
                    </a:p>
                  </a:txBody>
                  <a:tcPr marL="9525" marR="9525" marT="9525" marB="0" anchor="ctr"/>
                </a:tc>
              </a:tr>
              <a:tr h="169826">
                <a:tc>
                  <a:txBody>
                    <a:bodyPr wrap="square"/>
                    <a:lstStyle/>
                    <a:p>
                      <a:pPr algn="l"/>
                      <a:r>
                        <a:rPr sz="1050" b="0" i="0">
                          <a:solidFill>
                            <a:srgbClr val="000000"/>
                          </a:solidFill>
                          <a:latin typeface="Calibri"/>
                        </a:rPr>
                        <a:t>Figure 11: North America Market Forecast Value, US$ Mn, 2026–2036</a:t>
                      </a:r>
                      <a:endParaRPr sz="1050"/>
                    </a:p>
                  </a:txBody>
                  <a:tcPr marL="9525" marR="9525" marT="9525" marB="0" anchor="ctr"/>
                </a:tc>
              </a:tr>
              <a:tr h="169826">
                <a:tc>
                  <a:txBody>
                    <a:bodyPr wrap="square"/>
                    <a:lstStyle/>
                    <a:p>
                      <a:pPr algn="l"/>
                      <a:r>
                        <a:rPr sz="1050" b="0" i="0">
                          <a:solidFill>
                            <a:srgbClr val="000000"/>
                          </a:solidFill>
                          <a:latin typeface="Calibri"/>
                        </a:rPr>
                        <a:t>Figure 12: North America Market YoY Growth, %, 2021–2036</a:t>
                      </a:r>
                      <a:endParaRPr sz="1050"/>
                    </a:p>
                  </a:txBody>
                  <a:tcPr marL="9525" marR="9525" marT="9525" marB="0" anchor="ctr"/>
                </a:tc>
              </a:tr>
              <a:tr h="169826">
                <a:tc>
                  <a:txBody>
                    <a:bodyPr wrap="square"/>
                    <a:lstStyle/>
                    <a:p>
                      <a:pPr algn="l"/>
                      <a:r>
                        <a:rPr sz="1050" b="0" i="0">
                          <a:solidFill>
                            <a:srgbClr val="000000"/>
                          </a:solidFill>
                          <a:latin typeface="Calibri"/>
                        </a:rPr>
                        <a:t>Figure 13: North America Market Volume and YoY Growth, MT and %, 2021–2036</a:t>
                      </a:r>
                      <a:endParaRPr sz="1050"/>
                    </a:p>
                  </a:txBody>
                  <a:tcPr marL="9525" marR="9525" marT="9525" marB="0" anchor="ctr"/>
                </a:tc>
              </a:tr>
              <a:tr h="169826">
                <a:tc>
                  <a:txBody>
                    <a:bodyPr wrap="square"/>
                    <a:lstStyle/>
                    <a:p>
                      <a:pPr algn="l"/>
                      <a:r>
                        <a:rPr sz="1050" b="0" i="0">
                          <a:solidFill>
                            <a:srgbClr val="000000"/>
                          </a:solidFill>
                          <a:latin typeface="Calibri"/>
                        </a:rPr>
                        <a:t>Figure 14: North America Market Volume vs Value CAGR Comparison, %, 2026–2036</a:t>
                      </a:r>
                      <a:endParaRPr sz="1050"/>
                    </a:p>
                  </a:txBody>
                  <a:tcPr marL="9525" marR="9525" marT="9525" marB="0" anchor="ctr"/>
                </a:tc>
              </a:tr>
              <a:tr h="169826">
                <a:tc>
                  <a:txBody>
                    <a:bodyPr wrap="square"/>
                    <a:lstStyle/>
                    <a:p>
                      <a:pPr algn="l"/>
                      <a:r>
                        <a:rPr sz="1050" b="0" i="0">
                          <a:solidFill>
                            <a:srgbClr val="000000"/>
                          </a:solidFill>
                          <a:latin typeface="Calibri"/>
                        </a:rPr>
                        <a:t>Figure 15: North America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Figure 16: North America Market Absolute $ Opportunity, US$ Mn, 2026–2036</a:t>
                      </a:r>
                      <a:endParaRPr sz="1050"/>
                    </a:p>
                  </a:txBody>
                  <a:tcPr marL="9525" marR="9525" marT="9525" marB="0" anchor="ctr"/>
                </a:tc>
              </a:tr>
              <a:tr h="169826">
                <a:tc>
                  <a:txBody>
                    <a:bodyPr wrap="square"/>
                    <a:lstStyle/>
                    <a:p>
                      <a:pPr algn="l"/>
                      <a:r>
                        <a:rPr sz="1050" b="0" i="0">
                          <a:solidFill>
                            <a:srgbClr val="000000"/>
                          </a:solidFill>
                          <a:latin typeface="Calibri"/>
                        </a:rPr>
                        <a:t>Figure 17: North America Market Incremental Opportunity by Year, US$ Mn, 2026–2036</a:t>
                      </a:r>
                      <a:endParaRPr sz="1050"/>
                    </a:p>
                  </a:txBody>
                  <a:tcPr marL="9525" marR="9525" marT="9525" marB="0" anchor="ctr"/>
                </a:tc>
              </a:tr>
              <a:tr h="169826">
                <a:tc>
                  <a:txBody>
                    <a:bodyPr wrap="square"/>
                    <a:lstStyle/>
                    <a:p>
                      <a:pPr algn="l"/>
                      <a:r>
                        <a:rPr sz="1050" b="0" i="0">
                          <a:solidFill>
                            <a:srgbClr val="000000"/>
                          </a:solidFill>
                          <a:latin typeface="Calibri"/>
                        </a:rPr>
                        <a:t>Figure 18: North America Market Historical vs Forecast CAGR, %, 2021–2036</a:t>
                      </a:r>
                      <a:endParaRPr sz="1050"/>
                    </a:p>
                  </a:txBody>
                  <a:tcPr marL="9525" marR="9525" marT="9525" marB="0" anchor="ctr"/>
                </a:tc>
              </a:tr>
              <a:tr h="332858">
                <a:tc>
                  <a:txBody>
                    <a:bodyPr wrap="square"/>
                    <a:lstStyle/>
                    <a:p>
                      <a:pPr algn="l"/>
                      <a:r>
                        <a:rPr sz="1050" b="0" i="0">
                          <a:solidFill>
                            <a:srgbClr val="000000"/>
                          </a:solidFill>
                          <a:latin typeface="Calibri"/>
                        </a:rPr>
                        <a:t>Figure 19: North America Market Value by Scenario (Optimistic, Likely, Pessimistic), US$ Mn, 2026–2036</a:t>
                      </a:r>
                      <a:endParaRPr sz="1050"/>
                    </a:p>
                  </a:txBody>
                  <a:tcPr marL="9525" marR="9525" marT="9525" marB="0" anchor="ctr"/>
                </a:tc>
              </a:tr>
              <a:tr h="169826">
                <a:tc>
                  <a:txBody>
                    <a:bodyPr wrap="square"/>
                    <a:lstStyle/>
                    <a:p>
                      <a:pPr algn="l"/>
                      <a:r>
                        <a:rPr sz="1050" b="0" i="0">
                          <a:solidFill>
                            <a:srgbClr val="000000"/>
                          </a:solidFill>
                          <a:latin typeface="Calibri"/>
                        </a:rPr>
                        <a:t>Figure 20: North America Market Size Evolution Index, 2025=100, 2021–2036</a:t>
                      </a:r>
                      <a:endParaRPr sz="1050"/>
                    </a:p>
                  </a:txBody>
                  <a:tcPr marL="9525" marR="9525" marT="9525" marB="0" anchor="ctr"/>
                </a:tc>
              </a:tr>
              <a:tr h="169826">
                <a:tc>
                  <a:txBody>
                    <a:bodyPr wrap="square"/>
                    <a:lstStyle/>
                    <a:p>
                      <a:pPr algn="l"/>
                      <a:r>
                        <a:rPr sz="1050" b="0" i="0">
                          <a:solidFill>
                            <a:srgbClr val="000000"/>
                          </a:solidFill>
                          <a:latin typeface="Calibri"/>
                        </a:rPr>
                        <a:t>Figure 21: North America Market Cumulative Value Addition, US$ Mn, 2026–2036</a:t>
                      </a:r>
                      <a:endParaRPr sz="1050"/>
                    </a:p>
                  </a:txBody>
                  <a:tcPr marL="9525" marR="9525" marT="9525" marB="0" anchor="ctr"/>
                </a:tc>
              </a:tr>
              <a:tr h="169826">
                <a:tc>
                  <a:txBody>
                    <a:bodyPr wrap="square"/>
                    <a:lstStyle/>
                    <a:p>
                      <a:pPr algn="l"/>
                      <a:r>
                        <a:rPr sz="1050" b="0" i="0">
                          <a:solidFill>
                            <a:srgbClr val="000000"/>
                          </a:solidFill>
                          <a:latin typeface="Calibri"/>
                        </a:rPr>
                        <a:t>Figure 22: North America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Figure 23: North America Market Value by Flavour, US$ Mn, 2021–2036</a:t>
                      </a:r>
                      <a:endParaRPr sz="1050"/>
                    </a:p>
                  </a:txBody>
                  <a:tcPr marL="9525" marR="9525" marT="9525" marB="0" anchor="ctr"/>
                </a:tc>
              </a:tr>
              <a:tr h="169826">
                <a:tc>
                  <a:txBody>
                    <a:bodyPr wrap="square"/>
                    <a:lstStyle/>
                    <a:p>
                      <a:pPr algn="l"/>
                      <a:r>
                        <a:rPr sz="1050" b="0" i="0">
                          <a:solidFill>
                            <a:srgbClr val="000000"/>
                          </a:solidFill>
                          <a:latin typeface="Calibri"/>
                        </a:rPr>
                        <a:t>Figure 24: North America Market Value by Primary Flour Base, US$ Mn, 2021–2036</a:t>
                      </a:r>
                      <a:endParaRPr sz="1050"/>
                    </a:p>
                  </a:txBody>
                  <a:tcPr marL="9525" marR="9525" marT="9525" marB="0" anchor="ctr"/>
                </a:tc>
              </a:tr>
              <a:tr h="169826">
                <a:tc>
                  <a:txBody>
                    <a:bodyPr wrap="square"/>
                    <a:lstStyle/>
                    <a:p>
                      <a:pPr algn="l"/>
                      <a:r>
                        <a:rPr sz="1050" b="0" i="0">
                          <a:solidFill>
                            <a:srgbClr val="000000"/>
                          </a:solidFill>
                          <a:latin typeface="Calibri"/>
                        </a:rPr>
                        <a:t>Figure 25: North America Market Value by Dietary Formulation, US$ Mn, 2021–2036</a:t>
                      </a:r>
                      <a:endParaRPr sz="1050"/>
                    </a:p>
                  </a:txBody>
                  <a:tcPr marL="9525" marR="9525" marT="9525" marB="0" anchor="ctr"/>
                </a:tc>
              </a:tr>
              <a:tr h="169826">
                <a:tc>
                  <a:txBody>
                    <a:bodyPr wrap="square"/>
                    <a:lstStyle/>
                    <a:p>
                      <a:pPr algn="l"/>
                      <a:r>
                        <a:rPr sz="1050" b="0" i="0">
                          <a:solidFill>
                            <a:srgbClr val="000000"/>
                          </a:solidFill>
                          <a:latin typeface="Calibri"/>
                        </a:rPr>
                        <a:t>Figure 26: North America Market Value by Nutritional Positioning, US$ Mn, 2021–2036</a:t>
                      </a:r>
                      <a:endParaRPr sz="1050"/>
                    </a:p>
                  </a:txBody>
                  <a:tcPr marL="9525" marR="9525" marT="9525" marB="0" anchor="ctr"/>
                </a:tc>
              </a:tr>
              <a:tr h="169826">
                <a:tc>
                  <a:txBody>
                    <a:bodyPr wrap="square"/>
                    <a:lstStyle/>
                    <a:p>
                      <a:pPr algn="l"/>
                      <a:r>
                        <a:rPr sz="1050" b="0" i="0">
                          <a:solidFill>
                            <a:srgbClr val="000000"/>
                          </a:solidFill>
                          <a:latin typeface="Calibri"/>
                        </a:rPr>
                        <a:t>Figure 27: North America Market Value by Recipe and Ingredient Claims, US$ Mn, 2021–2036</a:t>
                      </a:r>
                      <a:endParaRPr sz="1050"/>
                    </a:p>
                  </a:txBody>
                  <a:tcPr marL="9525" marR="9525" marT="9525" marB="0" anchor="ctr"/>
                </a:tc>
              </a:tr>
              <a:tr h="169826">
                <a:tc>
                  <a:txBody>
                    <a:bodyPr wrap="square"/>
                    <a:lstStyle/>
                    <a:p>
                      <a:pPr algn="l"/>
                      <a:r>
                        <a:rPr sz="1050" b="0" i="0">
                          <a:solidFill>
                            <a:srgbClr val="000000"/>
                          </a:solidFill>
                          <a:latin typeface="Calibri"/>
                        </a:rPr>
                        <a:t>Figure 28: North America Market Value by Product Structure, US$ Mn, 2021–2036</a:t>
                      </a:r>
                      <a:endParaRPr sz="1050"/>
                    </a:p>
                  </a:txBody>
                  <a:tcPr marL="9525" marR="9525" marT="9525" marB="0" anchor="ctr"/>
                </a:tc>
              </a:tr>
              <a:tr h="169826">
                <a:tc>
                  <a:txBody>
                    <a:bodyPr wrap="square"/>
                    <a:lstStyle/>
                    <a:p>
                      <a:pPr algn="l"/>
                      <a:r>
                        <a:rPr sz="1050" b="0" i="0">
                          <a:solidFill>
                            <a:srgbClr val="000000"/>
                          </a:solidFill>
                          <a:latin typeface="Calibri"/>
                        </a:rPr>
                        <a:t>Figure 29: North America Market Value by Surface Finish, US$ Mn, 2021–2036</a:t>
                      </a:r>
                      <a:endParaRPr sz="1050"/>
                    </a:p>
                  </a:txBody>
                  <a:tcPr marL="9525" marR="9525" marT="9525" marB="0" anchor="ctr"/>
                </a:tc>
              </a:tr>
              <a:tr h="169826">
                <a:tc>
                  <a:txBody>
                    <a:bodyPr wrap="square"/>
                    <a:lstStyle/>
                    <a:p>
                      <a:pPr algn="l"/>
                      <a:r>
                        <a:rPr sz="1050" b="0" i="0">
                          <a:solidFill>
                            <a:srgbClr val="000000"/>
                          </a:solidFill>
                          <a:latin typeface="Calibri"/>
                        </a:rPr>
                        <a:t>Figure 30: North America Market Value by Individual Muffin Size,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Figure 31: North America Market Value by Storage Format, US$ Mn, 2021–2036</a:t>
                      </a:r>
                      <a:endParaRPr sz="1050"/>
                    </a:p>
                  </a:txBody>
                  <a:tcPr marL="9525" marR="9525" marT="9525" marB="0" anchor="ctr"/>
                </a:tc>
              </a:tr>
              <a:tr h="169826">
                <a:tc>
                  <a:txBody>
                    <a:bodyPr wrap="square"/>
                    <a:lstStyle/>
                    <a:p>
                      <a:pPr algn="l"/>
                      <a:r>
                        <a:rPr sz="1050" b="0" i="0">
                          <a:solidFill>
                            <a:srgbClr val="000000"/>
                          </a:solidFill>
                          <a:latin typeface="Calibri"/>
                        </a:rPr>
                        <a:t>Figure 32: North America Market Value by Shelf Life, US$ Mn, 2021–2036</a:t>
                      </a:r>
                      <a:endParaRPr sz="1050"/>
                    </a:p>
                  </a:txBody>
                  <a:tcPr marL="9525" marR="9525" marT="9525" marB="0" anchor="ctr"/>
                </a:tc>
              </a:tr>
              <a:tr h="169826">
                <a:tc>
                  <a:txBody>
                    <a:bodyPr wrap="square"/>
                    <a:lstStyle/>
                    <a:p>
                      <a:pPr algn="l"/>
                      <a:r>
                        <a:rPr sz="1050" b="0" i="0">
                          <a:solidFill>
                            <a:srgbClr val="000000"/>
                          </a:solidFill>
                          <a:latin typeface="Calibri"/>
                        </a:rPr>
                        <a:t>Figure 33: North America Market Value by Packaging Format, US$ Mn, 2021–2036</a:t>
                      </a:r>
                      <a:endParaRPr sz="1050"/>
                    </a:p>
                  </a:txBody>
                  <a:tcPr marL="9525" marR="9525" marT="9525" marB="0" anchor="ctr"/>
                </a:tc>
              </a:tr>
              <a:tr h="169826">
                <a:tc>
                  <a:txBody>
                    <a:bodyPr wrap="square"/>
                    <a:lstStyle/>
                    <a:p>
                      <a:pPr algn="l"/>
                      <a:r>
                        <a:rPr sz="1050" b="0" i="0">
                          <a:solidFill>
                            <a:srgbClr val="000000"/>
                          </a:solidFill>
                          <a:latin typeface="Calibri"/>
                        </a:rPr>
                        <a:t>Figure 34: North America Market Value by Pack Configuration, US$ Mn, 2021–2036</a:t>
                      </a:r>
                      <a:endParaRPr sz="1050"/>
                    </a:p>
                  </a:txBody>
                  <a:tcPr marL="9525" marR="9525" marT="9525" marB="0" anchor="ctr"/>
                </a:tc>
              </a:tr>
              <a:tr h="169826">
                <a:tc>
                  <a:txBody>
                    <a:bodyPr wrap="square"/>
                    <a:lstStyle/>
                    <a:p>
                      <a:pPr algn="l"/>
                      <a:r>
                        <a:rPr sz="1050" b="0" i="0">
                          <a:solidFill>
                            <a:srgbClr val="000000"/>
                          </a:solidFill>
                          <a:latin typeface="Calibri"/>
                        </a:rPr>
                        <a:t>Figure 35: North America Market Value by Multipack Wrapping, US$ Mn, 2021–2036</a:t>
                      </a:r>
                      <a:endParaRPr sz="1050"/>
                    </a:p>
                  </a:txBody>
                  <a:tcPr marL="9525" marR="9525" marT="9525" marB="0" anchor="ctr"/>
                </a:tc>
              </a:tr>
              <a:tr h="169826">
                <a:tc>
                  <a:txBody>
                    <a:bodyPr wrap="square"/>
                    <a:lstStyle/>
                    <a:p>
                      <a:pPr algn="l"/>
                      <a:r>
                        <a:rPr sz="1050" b="0" i="0">
                          <a:solidFill>
                            <a:srgbClr val="000000"/>
                          </a:solidFill>
                          <a:latin typeface="Calibri"/>
                        </a:rPr>
                        <a:t>Figure 36: North America Market Value by Price Positioning, US$ Mn, 2021–2036</a:t>
                      </a:r>
                      <a:endParaRPr sz="1050"/>
                    </a:p>
                  </a:txBody>
                  <a:tcPr marL="9525" marR="9525" marT="9525" marB="0" anchor="ctr"/>
                </a:tc>
              </a:tr>
              <a:tr h="169826">
                <a:tc>
                  <a:txBody>
                    <a:bodyPr wrap="square"/>
                    <a:lstStyle/>
                    <a:p>
                      <a:pPr algn="l"/>
                      <a:r>
                        <a:rPr sz="1050" b="0" i="0">
                          <a:solidFill>
                            <a:srgbClr val="000000"/>
                          </a:solidFill>
                          <a:latin typeface="Calibri"/>
                        </a:rPr>
                        <a:t>Figure 37: North America Market Value by Brand Ownership, US$ Mn, 2021–2036</a:t>
                      </a:r>
                      <a:endParaRPr sz="1050"/>
                    </a:p>
                  </a:txBody>
                  <a:tcPr marL="9525" marR="9525" marT="9525" marB="0" anchor="ctr"/>
                </a:tc>
              </a:tr>
              <a:tr h="169826">
                <a:tc>
                  <a:txBody>
                    <a:bodyPr wrap="square"/>
                    <a:lstStyle/>
                    <a:p>
                      <a:pPr algn="l"/>
                      <a:r>
                        <a:rPr sz="1050" b="0" i="0">
                          <a:solidFill>
                            <a:srgbClr val="000000"/>
                          </a:solidFill>
                          <a:latin typeface="Calibri"/>
                        </a:rPr>
                        <a:t>Figure 38: North America Market Value by Sales Channel, US$ Mn, 2021–2036</a:t>
                      </a:r>
                      <a:endParaRPr sz="1050"/>
                    </a:p>
                  </a:txBody>
                  <a:tcPr marL="9525" marR="9525" marT="9525" marB="0" anchor="ctr"/>
                </a:tc>
              </a:tr>
              <a:tr h="169826">
                <a:tc>
                  <a:txBody>
                    <a:bodyPr wrap="square"/>
                    <a:lstStyle/>
                    <a:p>
                      <a:pPr algn="l"/>
                      <a:r>
                        <a:rPr sz="1050" b="0" i="0">
                          <a:solidFill>
                            <a:srgbClr val="000000"/>
                          </a:solidFill>
                          <a:latin typeface="Calibri"/>
                        </a:rPr>
                        <a:t>Figure 39: North America Market Share by Product Type, %, 2026 and 2036</a:t>
                      </a:r>
                      <a:endParaRPr sz="1050"/>
                    </a:p>
                  </a:txBody>
                  <a:tcPr marL="9525" marR="9525" marT="9525" marB="0" anchor="ctr"/>
                </a:tc>
              </a:tr>
              <a:tr h="169826">
                <a:tc>
                  <a:txBody>
                    <a:bodyPr wrap="square"/>
                    <a:lstStyle/>
                    <a:p>
                      <a:pPr algn="l"/>
                      <a:r>
                        <a:rPr sz="1050" b="0" i="0">
                          <a:solidFill>
                            <a:srgbClr val="000000"/>
                          </a:solidFill>
                          <a:latin typeface="Calibri"/>
                        </a:rPr>
                        <a:t>Figure 40: North America Market Share by Flavour, %, 2026 and 2036</a:t>
                      </a:r>
                      <a:endParaRPr sz="1050"/>
                    </a:p>
                  </a:txBody>
                  <a:tcPr marL="9525" marR="9525" marT="9525" marB="0" anchor="ctr"/>
                </a:tc>
              </a:tr>
              <a:tr h="169826">
                <a:tc>
                  <a:txBody>
                    <a:bodyPr wrap="square"/>
                    <a:lstStyle/>
                    <a:p>
                      <a:pPr algn="l"/>
                      <a:r>
                        <a:rPr sz="1050" b="0" i="0">
                          <a:solidFill>
                            <a:srgbClr val="000000"/>
                          </a:solidFill>
                          <a:latin typeface="Calibri"/>
                        </a:rPr>
                        <a:t>Figure 41: North America Market Share by Primary Flour Base, %, 2026 and 2036</a:t>
                      </a:r>
                      <a:endParaRPr sz="1050"/>
                    </a:p>
                  </a:txBody>
                  <a:tcPr marL="9525" marR="9525" marT="9525" marB="0" anchor="ctr"/>
                </a:tc>
              </a:tr>
              <a:tr h="169826">
                <a:tc>
                  <a:txBody>
                    <a:bodyPr wrap="square"/>
                    <a:lstStyle/>
                    <a:p>
                      <a:pPr algn="l"/>
                      <a:r>
                        <a:rPr sz="1050" b="0" i="0">
                          <a:solidFill>
                            <a:srgbClr val="000000"/>
                          </a:solidFill>
                          <a:latin typeface="Calibri"/>
                        </a:rPr>
                        <a:t>Figure 42: North America Market Share by Dietary Formulation, %, 2026 and 2036</a:t>
                      </a:r>
                      <a:endParaRPr sz="1050"/>
                    </a:p>
                  </a:txBody>
                  <a:tcPr marL="9525" marR="9525" marT="9525" marB="0" anchor="ctr"/>
                </a:tc>
              </a:tr>
              <a:tr h="169826">
                <a:tc>
                  <a:txBody>
                    <a:bodyPr wrap="square"/>
                    <a:lstStyle/>
                    <a:p>
                      <a:pPr algn="l"/>
                      <a:r>
                        <a:rPr sz="1050" b="0" i="0">
                          <a:solidFill>
                            <a:srgbClr val="000000"/>
                          </a:solidFill>
                          <a:latin typeface="Calibri"/>
                        </a:rPr>
                        <a:t>Figure 43: North America Market Share by Nutritional Positioning, %, 2026 and 2036</a:t>
                      </a:r>
                      <a:endParaRPr sz="1050"/>
                    </a:p>
                  </a:txBody>
                  <a:tcPr marL="9525" marR="9525" marT="9525" marB="0" anchor="ctr"/>
                </a:tc>
              </a:tr>
              <a:tr h="169826">
                <a:tc>
                  <a:txBody>
                    <a:bodyPr wrap="square"/>
                    <a:lstStyle/>
                    <a:p>
                      <a:pPr algn="l"/>
                      <a:r>
                        <a:rPr sz="1050" b="0" i="0">
                          <a:solidFill>
                            <a:srgbClr val="000000"/>
                          </a:solidFill>
                          <a:latin typeface="Calibri"/>
                        </a:rPr>
                        <a:t>Figure 44: North America Market Share by Recipe and Ingredient Claims, %, 2026 and 2036</a:t>
                      </a:r>
                      <a:endParaRPr sz="1050"/>
                    </a:p>
                  </a:txBody>
                  <a:tcPr marL="9525" marR="9525" marT="9525" marB="0" anchor="ctr"/>
                </a:tc>
              </a:tr>
              <a:tr h="169826">
                <a:tc>
                  <a:txBody>
                    <a:bodyPr wrap="square"/>
                    <a:lstStyle/>
                    <a:p>
                      <a:pPr algn="l"/>
                      <a:r>
                        <a:rPr sz="1050" b="0" i="0">
                          <a:solidFill>
                            <a:srgbClr val="000000"/>
                          </a:solidFill>
                          <a:latin typeface="Calibri"/>
                        </a:rPr>
                        <a:t>Figure 45: North America Market Share by Product Structure, %, 2026 and 2036</a:t>
                      </a:r>
                      <a:endParaRPr sz="1050"/>
                    </a:p>
                  </a:txBody>
                  <a:tcPr marL="9525" marR="9525" marT="9525" marB="0" anchor="ctr"/>
                </a:tc>
              </a:tr>
              <a:tr h="169826">
                <a:tc>
                  <a:txBody>
                    <a:bodyPr wrap="square"/>
                    <a:lstStyle/>
                    <a:p>
                      <a:pPr algn="l"/>
                      <a:r>
                        <a:rPr sz="1050" b="0" i="0">
                          <a:solidFill>
                            <a:srgbClr val="000000"/>
                          </a:solidFill>
                          <a:latin typeface="Calibri"/>
                        </a:rPr>
                        <a:t>Figure 46: North America Market Share by Surface Finish, %, 2026 and 2036</a:t>
                      </a:r>
                      <a:endParaRPr sz="1050"/>
                    </a:p>
                  </a:txBody>
                  <a:tcPr marL="9525" marR="9525" marT="9525" marB="0" anchor="ctr"/>
                </a:tc>
              </a:tr>
              <a:tr h="169826">
                <a:tc>
                  <a:txBody>
                    <a:bodyPr wrap="square"/>
                    <a:lstStyle/>
                    <a:p>
                      <a:pPr algn="l"/>
                      <a:r>
                        <a:rPr sz="1050" b="0" i="0">
                          <a:solidFill>
                            <a:srgbClr val="000000"/>
                          </a:solidFill>
                          <a:latin typeface="Calibri"/>
                        </a:rPr>
                        <a:t>Figure 47: North America Market Share by Individual Muffin Size, %, 2026 and 2036</a:t>
                      </a:r>
                      <a:endParaRPr sz="1050"/>
                    </a:p>
                  </a:txBody>
                  <a:tcPr marL="9525" marR="9525" marT="9525" marB="0" anchor="ctr"/>
                </a:tc>
              </a:tr>
              <a:tr h="169826">
                <a:tc>
                  <a:txBody>
                    <a:bodyPr wrap="square"/>
                    <a:lstStyle/>
                    <a:p>
                      <a:pPr algn="l"/>
                      <a:r>
                        <a:rPr sz="1050" b="0" i="0">
                          <a:solidFill>
                            <a:srgbClr val="000000"/>
                          </a:solidFill>
                          <a:latin typeface="Calibri"/>
                        </a:rPr>
                        <a:t>Figure 48: North America Market Share by Storage Format, %, 2026 and 2036</a:t>
                      </a:r>
                      <a:endParaRPr sz="1050"/>
                    </a:p>
                  </a:txBody>
                  <a:tcPr marL="9525" marR="9525" marT="9525" marB="0" anchor="ctr"/>
                </a:tc>
              </a:tr>
              <a:tr h="169826">
                <a:tc>
                  <a:txBody>
                    <a:bodyPr wrap="square"/>
                    <a:lstStyle/>
                    <a:p>
                      <a:pPr algn="l"/>
                      <a:r>
                        <a:rPr sz="1050" b="0" i="0">
                          <a:solidFill>
                            <a:srgbClr val="000000"/>
                          </a:solidFill>
                          <a:latin typeface="Calibri"/>
                        </a:rPr>
                        <a:t>Figure 49: North America Market Share by Shelf Life, %, 2026 and 2036</a:t>
                      </a:r>
                      <a:endParaRPr sz="1050"/>
                    </a:p>
                  </a:txBody>
                  <a:tcPr marL="9525" marR="9525" marT="9525" marB="0" anchor="ctr"/>
                </a:tc>
              </a:tr>
              <a:tr h="169826">
                <a:tc>
                  <a:txBody>
                    <a:bodyPr wrap="square"/>
                    <a:lstStyle/>
                    <a:p>
                      <a:pPr algn="l"/>
                      <a:r>
                        <a:rPr sz="1050" b="0" i="0">
                          <a:solidFill>
                            <a:srgbClr val="000000"/>
                          </a:solidFill>
                          <a:latin typeface="Calibri"/>
                        </a:rPr>
                        <a:t>Figure 50: North America Market Share by Packaging Format, %, 2026 and 2036</a:t>
                      </a:r>
                      <a:endParaRPr sz="1050"/>
                    </a:p>
                  </a:txBody>
                  <a:tcPr marL="9525" marR="9525" marT="9525" marB="0" anchor="ctr"/>
                </a:tc>
              </a:tr>
              <a:tr h="169826">
                <a:tc>
                  <a:txBody>
                    <a:bodyPr wrap="square"/>
                    <a:lstStyle/>
                    <a:p>
                      <a:pPr algn="l"/>
                      <a:r>
                        <a:rPr sz="1050" b="0" i="0">
                          <a:solidFill>
                            <a:srgbClr val="000000"/>
                          </a:solidFill>
                          <a:latin typeface="Calibri"/>
                        </a:rPr>
                        <a:t>Figure 51: North America Market Share by Pack Configuration, %, 2026 and 2036</a:t>
                      </a:r>
                      <a:endParaRPr sz="1050"/>
                    </a:p>
                  </a:txBody>
                  <a:tcPr marL="9525" marR="9525" marT="9525" marB="0" anchor="ctr"/>
                </a:tc>
              </a:tr>
              <a:tr h="169826">
                <a:tc>
                  <a:txBody>
                    <a:bodyPr wrap="square"/>
                    <a:lstStyle/>
                    <a:p>
                      <a:pPr algn="l"/>
                      <a:r>
                        <a:rPr sz="1050" b="0" i="0">
                          <a:solidFill>
                            <a:srgbClr val="000000"/>
                          </a:solidFill>
                          <a:latin typeface="Calibri"/>
                        </a:rPr>
                        <a:t>Figure 52: North America Market Share by Multipack Wrapping, %, 2026 and 2036</a:t>
                      </a:r>
                      <a:endParaRPr sz="1050"/>
                    </a:p>
                  </a:txBody>
                  <a:tcPr marL="9525" marR="9525" marT="9525" marB="0" anchor="ctr"/>
                </a:tc>
              </a:tr>
              <a:tr h="169826">
                <a:tc>
                  <a:txBody>
                    <a:bodyPr wrap="square"/>
                    <a:lstStyle/>
                    <a:p>
                      <a:pPr algn="l"/>
                      <a:r>
                        <a:rPr sz="1050" b="0" i="0">
                          <a:solidFill>
                            <a:srgbClr val="000000"/>
                          </a:solidFill>
                          <a:latin typeface="Calibri"/>
                        </a:rPr>
                        <a:t>Figure 53: North America Market Share by Price Positioning, %, 2026 and 2036</a:t>
                      </a:r>
                      <a:endParaRPr sz="1050"/>
                    </a:p>
                  </a:txBody>
                  <a:tcPr marL="9525" marR="9525" marT="9525" marB="0" anchor="ctr"/>
                </a:tc>
              </a:tr>
              <a:tr h="169826">
                <a:tc>
                  <a:txBody>
                    <a:bodyPr wrap="square"/>
                    <a:lstStyle/>
                    <a:p>
                      <a:pPr algn="l"/>
                      <a:r>
                        <a:rPr sz="1050" b="0" i="0">
                          <a:solidFill>
                            <a:srgbClr val="000000"/>
                          </a:solidFill>
                          <a:latin typeface="Calibri"/>
                        </a:rPr>
                        <a:t>Figure 54: North America Market Share by Brand Ownership, %, 2026 and 2036</a:t>
                      </a:r>
                      <a:endParaRPr sz="1050"/>
                    </a:p>
                  </a:txBody>
                  <a:tcPr marL="9525" marR="9525" marT="9525" marB="0" anchor="ctr"/>
                </a:tc>
              </a:tr>
              <a:tr h="169826">
                <a:tc>
                  <a:txBody>
                    <a:bodyPr wrap="square"/>
                    <a:lstStyle/>
                    <a:p>
                      <a:pPr algn="l"/>
                      <a:r>
                        <a:rPr sz="1050" b="0" i="0">
                          <a:solidFill>
                            <a:srgbClr val="000000"/>
                          </a:solidFill>
                          <a:latin typeface="Calibri"/>
                        </a:rPr>
                        <a:t>Figure 55: North America Market Share by Sales Channel, %, 2026 and 2036</a:t>
                      </a:r>
                      <a:endParaRPr sz="1050"/>
                    </a:p>
                  </a:txBody>
                  <a:tcPr marL="9525" marR="9525" marT="9525" marB="0" anchor="ctr"/>
                </a:tc>
              </a:tr>
              <a:tr h="169826">
                <a:tc>
                  <a:txBody>
                    <a:bodyPr wrap="square"/>
                    <a:lstStyle/>
                    <a:p>
                      <a:pPr algn="l"/>
                      <a:r>
                        <a:rPr sz="1050" b="0" i="0">
                          <a:solidFill>
                            <a:srgbClr val="000000"/>
                          </a:solidFill>
                          <a:latin typeface="Calibri"/>
                        </a:rPr>
                        <a:t>Figure 56: North America Market Absolute $ Opportunity by Product Type, US$ Mn, 2026–2036</a:t>
                      </a:r>
                      <a:endParaRPr sz="1050"/>
                    </a:p>
                  </a:txBody>
                  <a:tcPr marL="9525" marR="9525" marT="9525" marB="0" anchor="ctr"/>
                </a:tc>
              </a:tr>
              <a:tr h="169826">
                <a:tc>
                  <a:txBody>
                    <a:bodyPr wrap="square"/>
                    <a:lstStyle/>
                    <a:p>
                      <a:pPr algn="l"/>
                      <a:r>
                        <a:rPr sz="1050" b="0" i="0">
                          <a:solidFill>
                            <a:srgbClr val="000000"/>
                          </a:solidFill>
                          <a:latin typeface="Calibri"/>
                        </a:rPr>
                        <a:t>Figure 57: North America Market Absolute $ Opportunity by Flavour, US$ Mn, 2026–2036</a:t>
                      </a:r>
                      <a:endParaRPr sz="1050"/>
                    </a:p>
                  </a:txBody>
                  <a:tcPr marL="9525" marR="9525" marT="9525" marB="0" anchor="ctr"/>
                </a:tc>
              </a:tr>
              <a:tr h="169826">
                <a:tc>
                  <a:txBody>
                    <a:bodyPr wrap="square"/>
                    <a:lstStyle/>
                    <a:p>
                      <a:pPr algn="l"/>
                      <a:r>
                        <a:rPr sz="1050" b="0" i="0">
                          <a:solidFill>
                            <a:srgbClr val="000000"/>
                          </a:solidFill>
                          <a:latin typeface="Calibri"/>
                        </a:rPr>
                        <a:t>Figure 58: North America Market Absolute $ Opportunity by Primary Flour Base, US$ Mn, 2026–2036</a:t>
                      </a:r>
                      <a:endParaRPr sz="1050"/>
                    </a:p>
                  </a:txBody>
                  <a:tcPr marL="9525" marR="9525" marT="9525" marB="0" anchor="ctr"/>
                </a:tc>
              </a:tr>
              <a:tr h="169826">
                <a:tc>
                  <a:txBody>
                    <a:bodyPr wrap="square"/>
                    <a:lstStyle/>
                    <a:p>
                      <a:pPr algn="l"/>
                      <a:r>
                        <a:rPr sz="1050" b="0" i="0">
                          <a:solidFill>
                            <a:srgbClr val="000000"/>
                          </a:solidFill>
                          <a:latin typeface="Calibri"/>
                        </a:rPr>
                        <a:t>Figure 59: North America Market Absolute $ Opportunity by Dietary Formulation, US$ Mn, 2026–2036</a:t>
                      </a:r>
                      <a:endParaRPr sz="1050"/>
                    </a:p>
                  </a:txBody>
                  <a:tcPr marL="9525" marR="9525" marT="9525" marB="0" anchor="ctr"/>
                </a:tc>
              </a:tr>
              <a:tr h="332858">
                <a:tc>
                  <a:txBody>
                    <a:bodyPr wrap="square"/>
                    <a:lstStyle/>
                    <a:p>
                      <a:pPr algn="l"/>
                      <a:r>
                        <a:rPr sz="1050" b="0" i="0">
                          <a:solidFill>
                            <a:srgbClr val="000000"/>
                          </a:solidFill>
                          <a:latin typeface="Calibri"/>
                        </a:rPr>
                        <a:t>Figure 60: North America Market Absolute $ Opportunity by Nutritional Positioning,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333289">
                <a:tc>
                  <a:txBody>
                    <a:bodyPr wrap="square"/>
                    <a:lstStyle/>
                    <a:p>
                      <a:pPr algn="l"/>
                      <a:r>
                        <a:rPr sz="1050" b="0" i="0">
                          <a:solidFill>
                            <a:srgbClr val="000000"/>
                          </a:solidFill>
                          <a:latin typeface="Calibri"/>
                        </a:rPr>
                        <a:t>Figure 61: North America Market Absolute $ Opportunity by Recipe and Ingredient Claims, US$ Mn, 2026–2036</a:t>
                      </a:r>
                      <a:endParaRPr sz="1050"/>
                    </a:p>
                  </a:txBody>
                  <a:tcPr marL="9525" marR="9525" marT="9525" marB="0" anchor="ctr"/>
                </a:tc>
              </a:tr>
              <a:tr h="170045">
                <a:tc>
                  <a:txBody>
                    <a:bodyPr wrap="square"/>
                    <a:lstStyle/>
                    <a:p>
                      <a:pPr algn="l"/>
                      <a:r>
                        <a:rPr sz="1050" b="0" i="0">
                          <a:solidFill>
                            <a:srgbClr val="000000"/>
                          </a:solidFill>
                          <a:latin typeface="Calibri"/>
                        </a:rPr>
                        <a:t>Figure 62: North America Market Absolute $ Opportunity by Product Structure, US$ Mn, 2026–2036</a:t>
                      </a:r>
                      <a:endParaRPr sz="1050"/>
                    </a:p>
                  </a:txBody>
                  <a:tcPr marL="9525" marR="9525" marT="9525" marB="0" anchor="ctr"/>
                </a:tc>
              </a:tr>
              <a:tr h="170045">
                <a:tc>
                  <a:txBody>
                    <a:bodyPr wrap="square"/>
                    <a:lstStyle/>
                    <a:p>
                      <a:pPr algn="l"/>
                      <a:r>
                        <a:rPr sz="1050" b="0" i="0">
                          <a:solidFill>
                            <a:srgbClr val="000000"/>
                          </a:solidFill>
                          <a:latin typeface="Calibri"/>
                        </a:rPr>
                        <a:t>Figure 63: North America Market Absolute $ Opportunity by Surface Finish, US$ Mn, 2026–2036</a:t>
                      </a:r>
                      <a:endParaRPr sz="1050"/>
                    </a:p>
                  </a:txBody>
                  <a:tcPr marL="9525" marR="9525" marT="9525" marB="0" anchor="ctr"/>
                </a:tc>
              </a:tr>
              <a:tr h="333289">
                <a:tc>
                  <a:txBody>
                    <a:bodyPr wrap="square"/>
                    <a:lstStyle/>
                    <a:p>
                      <a:pPr algn="l"/>
                      <a:r>
                        <a:rPr sz="1050" b="0" i="0">
                          <a:solidFill>
                            <a:srgbClr val="000000"/>
                          </a:solidFill>
                          <a:latin typeface="Calibri"/>
                        </a:rPr>
                        <a:t>Figure 64: North America Market Absolute $ Opportunity by Individual Muffin Size, US$ Mn, 2026–2036</a:t>
                      </a:r>
                      <a:endParaRPr sz="1050"/>
                    </a:p>
                  </a:txBody>
                  <a:tcPr marL="9525" marR="9525" marT="9525" marB="0" anchor="ctr"/>
                </a:tc>
              </a:tr>
              <a:tr h="170045">
                <a:tc>
                  <a:txBody>
                    <a:bodyPr wrap="square"/>
                    <a:lstStyle/>
                    <a:p>
                      <a:pPr algn="l"/>
                      <a:r>
                        <a:rPr sz="1050" b="0" i="0">
                          <a:solidFill>
                            <a:srgbClr val="000000"/>
                          </a:solidFill>
                          <a:latin typeface="Calibri"/>
                        </a:rPr>
                        <a:t>Figure 65: North America Market Absolute $ Opportunity by Storage Format, US$ Mn, 2026–2036</a:t>
                      </a:r>
                      <a:endParaRPr sz="1050"/>
                    </a:p>
                  </a:txBody>
                  <a:tcPr marL="9525" marR="9525" marT="9525" marB="0" anchor="ctr"/>
                </a:tc>
              </a:tr>
              <a:tr h="170045">
                <a:tc>
                  <a:txBody>
                    <a:bodyPr wrap="square"/>
                    <a:lstStyle/>
                    <a:p>
                      <a:pPr algn="l"/>
                      <a:r>
                        <a:rPr sz="1050" b="0" i="0">
                          <a:solidFill>
                            <a:srgbClr val="000000"/>
                          </a:solidFill>
                          <a:latin typeface="Calibri"/>
                        </a:rPr>
                        <a:t>Figure 66: North America Market Absolute $ Opportunity by Shelf Life, US$ Mn, 2026–2036</a:t>
                      </a:r>
                      <a:endParaRPr sz="1050"/>
                    </a:p>
                  </a:txBody>
                  <a:tcPr marL="9525" marR="9525" marT="9525" marB="0" anchor="ctr"/>
                </a:tc>
              </a:tr>
              <a:tr h="170045">
                <a:tc>
                  <a:txBody>
                    <a:bodyPr wrap="square"/>
                    <a:lstStyle/>
                    <a:p>
                      <a:pPr algn="l"/>
                      <a:r>
                        <a:rPr sz="1050" b="0" i="0">
                          <a:solidFill>
                            <a:srgbClr val="000000"/>
                          </a:solidFill>
                          <a:latin typeface="Calibri"/>
                        </a:rPr>
                        <a:t>Figure 67: North America Market Absolute $ Opportunity by Packaging Format, US$ Mn, 2026–2036</a:t>
                      </a:r>
                      <a:endParaRPr sz="1050"/>
                    </a:p>
                  </a:txBody>
                  <a:tcPr marL="9525" marR="9525" marT="9525" marB="0" anchor="ctr"/>
                </a:tc>
              </a:tr>
              <a:tr h="170045">
                <a:tc>
                  <a:txBody>
                    <a:bodyPr wrap="square"/>
                    <a:lstStyle/>
                    <a:p>
                      <a:pPr algn="l"/>
                      <a:r>
                        <a:rPr sz="1050" b="0" i="0">
                          <a:solidFill>
                            <a:srgbClr val="000000"/>
                          </a:solidFill>
                          <a:latin typeface="Calibri"/>
                        </a:rPr>
                        <a:t>Figure 68: North America Market Absolute $ Opportunity by Pack Configuration, US$ Mn, 2026–2036</a:t>
                      </a:r>
                      <a:endParaRPr sz="1050"/>
                    </a:p>
                  </a:txBody>
                  <a:tcPr marL="9525" marR="9525" marT="9525" marB="0" anchor="ctr"/>
                </a:tc>
              </a:tr>
              <a:tr h="170045">
                <a:tc>
                  <a:txBody>
                    <a:bodyPr wrap="square"/>
                    <a:lstStyle/>
                    <a:p>
                      <a:pPr algn="l"/>
                      <a:r>
                        <a:rPr sz="1050" b="0" i="0">
                          <a:solidFill>
                            <a:srgbClr val="000000"/>
                          </a:solidFill>
                          <a:latin typeface="Calibri"/>
                        </a:rPr>
                        <a:t>Figure 69: North America Market Absolute $ Opportunity by Multipack Wrapping, US$ Mn, 2026–2036</a:t>
                      </a:r>
                      <a:endParaRPr sz="1050"/>
                    </a:p>
                  </a:txBody>
                  <a:tcPr marL="9525" marR="9525" marT="9525" marB="0" anchor="ctr"/>
                </a:tc>
              </a:tr>
              <a:tr h="170045">
                <a:tc>
                  <a:txBody>
                    <a:bodyPr wrap="square"/>
                    <a:lstStyle/>
                    <a:p>
                      <a:pPr algn="l"/>
                      <a:r>
                        <a:rPr sz="1050" b="0" i="0">
                          <a:solidFill>
                            <a:srgbClr val="000000"/>
                          </a:solidFill>
                          <a:latin typeface="Calibri"/>
                        </a:rPr>
                        <a:t>Figure 70: North America Market Absolute $ Opportunity by Price Positioning, US$ Mn, 2026–2036</a:t>
                      </a:r>
                      <a:endParaRPr sz="1050"/>
                    </a:p>
                  </a:txBody>
                  <a:tcPr marL="9525" marR="9525" marT="9525" marB="0" anchor="ctr"/>
                </a:tc>
              </a:tr>
              <a:tr h="170045">
                <a:tc>
                  <a:txBody>
                    <a:bodyPr wrap="square"/>
                    <a:lstStyle/>
                    <a:p>
                      <a:pPr algn="l"/>
                      <a:r>
                        <a:rPr sz="1050" b="0" i="0">
                          <a:solidFill>
                            <a:srgbClr val="000000"/>
                          </a:solidFill>
                          <a:latin typeface="Calibri"/>
                        </a:rPr>
                        <a:t>Figure 71: North America Market Absolute $ Opportunity by Brand Ownership, US$ Mn, 2026–2036</a:t>
                      </a:r>
                      <a:endParaRPr sz="1050"/>
                    </a:p>
                  </a:txBody>
                  <a:tcPr marL="9525" marR="9525" marT="9525" marB="0" anchor="ctr"/>
                </a:tc>
              </a:tr>
              <a:tr h="170045">
                <a:tc>
                  <a:txBody>
                    <a:bodyPr wrap="square"/>
                    <a:lstStyle/>
                    <a:p>
                      <a:pPr algn="l"/>
                      <a:r>
                        <a:rPr sz="1050" b="0" i="0">
                          <a:solidFill>
                            <a:srgbClr val="000000"/>
                          </a:solidFill>
                          <a:latin typeface="Calibri"/>
                        </a:rPr>
                        <a:t>Figure 72: North America Market Absolute $ Opportunity by Sales Channel, US$ Mn, 2026–2036</a:t>
                      </a:r>
                      <a:endParaRPr sz="1050"/>
                    </a:p>
                  </a:txBody>
                  <a:tcPr marL="9525" marR="9525" marT="9525" marB="0" anchor="ctr"/>
                </a:tc>
              </a:tr>
              <a:tr h="170045">
                <a:tc>
                  <a:txBody>
                    <a:bodyPr wrap="square"/>
                    <a:lstStyle/>
                    <a:p>
                      <a:pPr algn="l"/>
                      <a:r>
                        <a:rPr sz="1050" b="0" i="0">
                          <a:solidFill>
                            <a:srgbClr val="000000"/>
                          </a:solidFill>
                          <a:latin typeface="Calibri"/>
                        </a:rPr>
                        <a:t>Figure 73: North America Market BPS Share Change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74: North America Market BPS Share Change by Flavour, 2026–2036</a:t>
                      </a:r>
                      <a:endParaRPr sz="1050"/>
                    </a:p>
                  </a:txBody>
                  <a:tcPr marL="9525" marR="9525" marT="9525" marB="0" anchor="ctr"/>
                </a:tc>
              </a:tr>
              <a:tr h="170045">
                <a:tc>
                  <a:txBody>
                    <a:bodyPr wrap="square"/>
                    <a:lstStyle/>
                    <a:p>
                      <a:pPr algn="l"/>
                      <a:r>
                        <a:rPr sz="1050" b="0" i="0">
                          <a:solidFill>
                            <a:srgbClr val="000000"/>
                          </a:solidFill>
                          <a:latin typeface="Calibri"/>
                        </a:rPr>
                        <a:t>Figure 75: North America Market BPS Share Change by Primary Flour Base, 2026–2036</a:t>
                      </a:r>
                      <a:endParaRPr sz="1050"/>
                    </a:p>
                  </a:txBody>
                  <a:tcPr marL="9525" marR="9525" marT="9525" marB="0" anchor="ctr"/>
                </a:tc>
              </a:tr>
              <a:tr h="170045">
                <a:tc>
                  <a:txBody>
                    <a:bodyPr wrap="square"/>
                    <a:lstStyle/>
                    <a:p>
                      <a:pPr algn="l"/>
                      <a:r>
                        <a:rPr sz="1050" b="0" i="0">
                          <a:solidFill>
                            <a:srgbClr val="000000"/>
                          </a:solidFill>
                          <a:latin typeface="Calibri"/>
                        </a:rPr>
                        <a:t>Figure 76: North America Market BPS Share Change by Dietary Formulation, 2026–2036</a:t>
                      </a:r>
                      <a:endParaRPr sz="1050"/>
                    </a:p>
                  </a:txBody>
                  <a:tcPr marL="9525" marR="9525" marT="9525" marB="0" anchor="ctr"/>
                </a:tc>
              </a:tr>
              <a:tr h="170045">
                <a:tc>
                  <a:txBody>
                    <a:bodyPr wrap="square"/>
                    <a:lstStyle/>
                    <a:p>
                      <a:pPr algn="l"/>
                      <a:r>
                        <a:rPr sz="1050" b="0" i="0">
                          <a:solidFill>
                            <a:srgbClr val="000000"/>
                          </a:solidFill>
                          <a:latin typeface="Calibri"/>
                        </a:rPr>
                        <a:t>Figure 77: North America Market BPS Share Change by Nutritional Positioning, 2026–2036</a:t>
                      </a:r>
                      <a:endParaRPr sz="1050"/>
                    </a:p>
                  </a:txBody>
                  <a:tcPr marL="9525" marR="9525" marT="9525" marB="0" anchor="ctr"/>
                </a:tc>
              </a:tr>
              <a:tr h="170045">
                <a:tc>
                  <a:txBody>
                    <a:bodyPr wrap="square"/>
                    <a:lstStyle/>
                    <a:p>
                      <a:pPr algn="l"/>
                      <a:r>
                        <a:rPr sz="1050" b="0" i="0">
                          <a:solidFill>
                            <a:srgbClr val="000000"/>
                          </a:solidFill>
                          <a:latin typeface="Calibri"/>
                        </a:rPr>
                        <a:t>Figure 78: North America Market BPS Share Change by Recipe and Ingredient Claims, 2026–2036</a:t>
                      </a:r>
                      <a:endParaRPr sz="1050"/>
                    </a:p>
                  </a:txBody>
                  <a:tcPr marL="9525" marR="9525" marT="9525" marB="0" anchor="ctr"/>
                </a:tc>
              </a:tr>
              <a:tr h="170045">
                <a:tc>
                  <a:txBody>
                    <a:bodyPr wrap="square"/>
                    <a:lstStyle/>
                    <a:p>
                      <a:pPr algn="l"/>
                      <a:r>
                        <a:rPr sz="1050" b="0" i="0">
                          <a:solidFill>
                            <a:srgbClr val="000000"/>
                          </a:solidFill>
                          <a:latin typeface="Calibri"/>
                        </a:rPr>
                        <a:t>Figure 79: North America Market BPS Share Change by Product Structure, 2026–2036</a:t>
                      </a:r>
                      <a:endParaRPr sz="1050"/>
                    </a:p>
                  </a:txBody>
                  <a:tcPr marL="9525" marR="9525" marT="9525" marB="0" anchor="ctr"/>
                </a:tc>
              </a:tr>
              <a:tr h="170045">
                <a:tc>
                  <a:txBody>
                    <a:bodyPr wrap="square"/>
                    <a:lstStyle/>
                    <a:p>
                      <a:pPr algn="l"/>
                      <a:r>
                        <a:rPr sz="1050" b="0" i="0">
                          <a:solidFill>
                            <a:srgbClr val="000000"/>
                          </a:solidFill>
                          <a:latin typeface="Calibri"/>
                        </a:rPr>
                        <a:t>Figure 80: North America Market BPS Share Change by Surface Finish, 2026–2036</a:t>
                      </a:r>
                      <a:endParaRPr sz="1050"/>
                    </a:p>
                  </a:txBody>
                  <a:tcPr marL="9525" marR="9525" marT="9525" marB="0" anchor="ctr"/>
                </a:tc>
              </a:tr>
              <a:tr h="170045">
                <a:tc>
                  <a:txBody>
                    <a:bodyPr wrap="square"/>
                    <a:lstStyle/>
                    <a:p>
                      <a:pPr algn="l"/>
                      <a:r>
                        <a:rPr sz="1050" b="0" i="0">
                          <a:solidFill>
                            <a:srgbClr val="000000"/>
                          </a:solidFill>
                          <a:latin typeface="Calibri"/>
                        </a:rPr>
                        <a:t>Figure 81: North America Market BPS Share Change by Individual Muffin Size, 2026–2036</a:t>
                      </a:r>
                      <a:endParaRPr sz="1050"/>
                    </a:p>
                  </a:txBody>
                  <a:tcPr marL="9525" marR="9525" marT="9525" marB="0" anchor="ctr"/>
                </a:tc>
              </a:tr>
              <a:tr h="170045">
                <a:tc>
                  <a:txBody>
                    <a:bodyPr wrap="square"/>
                    <a:lstStyle/>
                    <a:p>
                      <a:pPr algn="l"/>
                      <a:r>
                        <a:rPr sz="1050" b="0" i="0">
                          <a:solidFill>
                            <a:srgbClr val="000000"/>
                          </a:solidFill>
                          <a:latin typeface="Calibri"/>
                        </a:rPr>
                        <a:t>Figure 82: North America Market BPS Share Change by Storage Format, 2026–2036</a:t>
                      </a:r>
                      <a:endParaRPr sz="1050"/>
                    </a:p>
                  </a:txBody>
                  <a:tcPr marL="9525" marR="9525" marT="9525" marB="0" anchor="ctr"/>
                </a:tc>
              </a:tr>
              <a:tr h="170045">
                <a:tc>
                  <a:txBody>
                    <a:bodyPr wrap="square"/>
                    <a:lstStyle/>
                    <a:p>
                      <a:pPr algn="l"/>
                      <a:r>
                        <a:rPr sz="1050" b="0" i="0">
                          <a:solidFill>
                            <a:srgbClr val="000000"/>
                          </a:solidFill>
                          <a:latin typeface="Calibri"/>
                        </a:rPr>
                        <a:t>Figure 83: North America Market BPS Share Change by Shelf Life, 2026–2036</a:t>
                      </a:r>
                      <a:endParaRPr sz="1050"/>
                    </a:p>
                  </a:txBody>
                  <a:tcPr marL="9525" marR="9525" marT="9525" marB="0" anchor="ctr"/>
                </a:tc>
              </a:tr>
              <a:tr h="170045">
                <a:tc>
                  <a:txBody>
                    <a:bodyPr wrap="square"/>
                    <a:lstStyle/>
                    <a:p>
                      <a:pPr algn="l"/>
                      <a:r>
                        <a:rPr sz="1050" b="0" i="0">
                          <a:solidFill>
                            <a:srgbClr val="000000"/>
                          </a:solidFill>
                          <a:latin typeface="Calibri"/>
                        </a:rPr>
                        <a:t>Figure 84: North America Market BPS Share Change by Packaging Format, 2026–2036</a:t>
                      </a:r>
                      <a:endParaRPr sz="1050"/>
                    </a:p>
                  </a:txBody>
                  <a:tcPr marL="9525" marR="9525" marT="9525" marB="0" anchor="ctr"/>
                </a:tc>
              </a:tr>
              <a:tr h="170045">
                <a:tc>
                  <a:txBody>
                    <a:bodyPr wrap="square"/>
                    <a:lstStyle/>
                    <a:p>
                      <a:pPr algn="l"/>
                      <a:r>
                        <a:rPr sz="1050" b="0" i="0">
                          <a:solidFill>
                            <a:srgbClr val="000000"/>
                          </a:solidFill>
                          <a:latin typeface="Calibri"/>
                        </a:rPr>
                        <a:t>Figure 85: North America Market BPS Share Change by Pack Configuration, 2026–2036</a:t>
                      </a:r>
                      <a:endParaRPr sz="1050"/>
                    </a:p>
                  </a:txBody>
                  <a:tcPr marL="9525" marR="9525" marT="9525" marB="0" anchor="ctr"/>
                </a:tc>
              </a:tr>
              <a:tr h="170045">
                <a:tc>
                  <a:txBody>
                    <a:bodyPr wrap="square"/>
                    <a:lstStyle/>
                    <a:p>
                      <a:pPr algn="l"/>
                      <a:r>
                        <a:rPr sz="1050" b="0" i="0">
                          <a:solidFill>
                            <a:srgbClr val="000000"/>
                          </a:solidFill>
                          <a:latin typeface="Calibri"/>
                        </a:rPr>
                        <a:t>Figure 86: North America Market BPS Share Change by Multipack Wrapping, 2026–2036</a:t>
                      </a:r>
                      <a:endParaRPr sz="1050"/>
                    </a:p>
                  </a:txBody>
                  <a:tcPr marL="9525" marR="9525" marT="9525" marB="0" anchor="ctr"/>
                </a:tc>
              </a:tr>
              <a:tr h="170045">
                <a:tc>
                  <a:txBody>
                    <a:bodyPr wrap="square"/>
                    <a:lstStyle/>
                    <a:p>
                      <a:pPr algn="l"/>
                      <a:r>
                        <a:rPr sz="1050" b="0" i="0">
                          <a:solidFill>
                            <a:srgbClr val="000000"/>
                          </a:solidFill>
                          <a:latin typeface="Calibri"/>
                        </a:rPr>
                        <a:t>Figure 87: North America Market BPS Share Change by Price Positioning, 2026–2036</a:t>
                      </a:r>
                      <a:endParaRPr sz="1050"/>
                    </a:p>
                  </a:txBody>
                  <a:tcPr marL="9525" marR="9525" marT="9525" marB="0" anchor="ctr"/>
                </a:tc>
              </a:tr>
              <a:tr h="170045">
                <a:tc>
                  <a:txBody>
                    <a:bodyPr wrap="square"/>
                    <a:lstStyle/>
                    <a:p>
                      <a:pPr algn="l"/>
                      <a:r>
                        <a:rPr sz="1050" b="0" i="0">
                          <a:solidFill>
                            <a:srgbClr val="000000"/>
                          </a:solidFill>
                          <a:latin typeface="Calibri"/>
                        </a:rPr>
                        <a:t>Figure 88: North America Market BPS Share Change by Brand Ownership, 2026–2036</a:t>
                      </a:r>
                      <a:endParaRPr sz="1050"/>
                    </a:p>
                  </a:txBody>
                  <a:tcPr marL="9525" marR="9525" marT="9525" marB="0" anchor="ctr"/>
                </a:tc>
              </a:tr>
              <a:tr h="170045">
                <a:tc>
                  <a:txBody>
                    <a:bodyPr wrap="square"/>
                    <a:lstStyle/>
                    <a:p>
                      <a:pPr algn="l"/>
                      <a:r>
                        <a:rPr sz="1050" b="0" i="0">
                          <a:solidFill>
                            <a:srgbClr val="000000"/>
                          </a:solidFill>
                          <a:latin typeface="Calibri"/>
                        </a:rPr>
                        <a:t>Figure 89: North America Market BPS Share Change by Sales Channel,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90: North America Market YoY Growth by Product Type, %, 2026–2036</a:t>
                      </a:r>
                      <a:endParaRPr sz="1050"/>
                    </a:p>
                  </a:txBody>
                  <a:tcPr marL="9525" marR="9525" marT="9525" marB="0" anchor="ctr"/>
                </a:tc>
              </a:tr>
              <a:tr h="169606">
                <a:tc>
                  <a:txBody>
                    <a:bodyPr wrap="square"/>
                    <a:lstStyle/>
                    <a:p>
                      <a:pPr algn="l"/>
                      <a:r>
                        <a:rPr sz="1050" b="0" i="0">
                          <a:solidFill>
                            <a:srgbClr val="000000"/>
                          </a:solidFill>
                          <a:latin typeface="Calibri"/>
                        </a:rPr>
                        <a:t>Figure 91: North America Market YoY Growth by Flavour, %, 2026–2036</a:t>
                      </a:r>
                      <a:endParaRPr sz="1050"/>
                    </a:p>
                  </a:txBody>
                  <a:tcPr marL="9525" marR="9525" marT="9525" marB="0" anchor="ctr"/>
                </a:tc>
              </a:tr>
              <a:tr h="169606">
                <a:tc>
                  <a:txBody>
                    <a:bodyPr wrap="square"/>
                    <a:lstStyle/>
                    <a:p>
                      <a:pPr algn="l"/>
                      <a:r>
                        <a:rPr sz="1050" b="0" i="0">
                          <a:solidFill>
                            <a:srgbClr val="000000"/>
                          </a:solidFill>
                          <a:latin typeface="Calibri"/>
                        </a:rPr>
                        <a:t>Figure 92: North America Market YoY Growth by Primary Flour Base, %, 2026–2036</a:t>
                      </a:r>
                      <a:endParaRPr sz="1050"/>
                    </a:p>
                  </a:txBody>
                  <a:tcPr marL="9525" marR="9525" marT="9525" marB="0" anchor="ctr"/>
                </a:tc>
              </a:tr>
              <a:tr h="169606">
                <a:tc>
                  <a:txBody>
                    <a:bodyPr wrap="square"/>
                    <a:lstStyle/>
                    <a:p>
                      <a:pPr algn="l"/>
                      <a:r>
                        <a:rPr sz="1050" b="0" i="0">
                          <a:solidFill>
                            <a:srgbClr val="000000"/>
                          </a:solidFill>
                          <a:latin typeface="Calibri"/>
                        </a:rPr>
                        <a:t>Figure 93: North America Market YoY Growth by Dietary Formulation, %, 2026–2036</a:t>
                      </a:r>
                      <a:endParaRPr sz="1050"/>
                    </a:p>
                  </a:txBody>
                  <a:tcPr marL="9525" marR="9525" marT="9525" marB="0" anchor="ctr"/>
                </a:tc>
              </a:tr>
              <a:tr h="169606">
                <a:tc>
                  <a:txBody>
                    <a:bodyPr wrap="square"/>
                    <a:lstStyle/>
                    <a:p>
                      <a:pPr algn="l"/>
                      <a:r>
                        <a:rPr sz="1050" b="0" i="0">
                          <a:solidFill>
                            <a:srgbClr val="000000"/>
                          </a:solidFill>
                          <a:latin typeface="Calibri"/>
                        </a:rPr>
                        <a:t>Figure 94: North America Market YoY Growth by Nutritional Positioning, %, 2026–2036</a:t>
                      </a:r>
                      <a:endParaRPr sz="1050"/>
                    </a:p>
                  </a:txBody>
                  <a:tcPr marL="9525" marR="9525" marT="9525" marB="0" anchor="ctr"/>
                </a:tc>
              </a:tr>
              <a:tr h="169606">
                <a:tc>
                  <a:txBody>
                    <a:bodyPr wrap="square"/>
                    <a:lstStyle/>
                    <a:p>
                      <a:pPr algn="l"/>
                      <a:r>
                        <a:rPr sz="1050" b="0" i="0">
                          <a:solidFill>
                            <a:srgbClr val="000000"/>
                          </a:solidFill>
                          <a:latin typeface="Calibri"/>
                        </a:rPr>
                        <a:t>Figure 95: North America Market YoY Growth by Recipe and Ingredient Claims, %, 2026–2036</a:t>
                      </a:r>
                      <a:endParaRPr sz="1050"/>
                    </a:p>
                  </a:txBody>
                  <a:tcPr marL="9525" marR="9525" marT="9525" marB="0" anchor="ctr"/>
                </a:tc>
              </a:tr>
              <a:tr h="169606">
                <a:tc>
                  <a:txBody>
                    <a:bodyPr wrap="square"/>
                    <a:lstStyle/>
                    <a:p>
                      <a:pPr algn="l"/>
                      <a:r>
                        <a:rPr sz="1050" b="0" i="0">
                          <a:solidFill>
                            <a:srgbClr val="000000"/>
                          </a:solidFill>
                          <a:latin typeface="Calibri"/>
                        </a:rPr>
                        <a:t>Figure 96: North America Market YoY Growth by Product Structure, %, 2026–2036</a:t>
                      </a:r>
                      <a:endParaRPr sz="1050"/>
                    </a:p>
                  </a:txBody>
                  <a:tcPr marL="9525" marR="9525" marT="9525" marB="0" anchor="ctr"/>
                </a:tc>
              </a:tr>
              <a:tr h="169606">
                <a:tc>
                  <a:txBody>
                    <a:bodyPr wrap="square"/>
                    <a:lstStyle/>
                    <a:p>
                      <a:pPr algn="l"/>
                      <a:r>
                        <a:rPr sz="1050" b="0" i="0">
                          <a:solidFill>
                            <a:srgbClr val="000000"/>
                          </a:solidFill>
                          <a:latin typeface="Calibri"/>
                        </a:rPr>
                        <a:t>Figure 97: North America Market YoY Growth by Surface Finish, %, 2026–2036</a:t>
                      </a:r>
                      <a:endParaRPr sz="1050"/>
                    </a:p>
                  </a:txBody>
                  <a:tcPr marL="9525" marR="9525" marT="9525" marB="0" anchor="ctr"/>
                </a:tc>
              </a:tr>
              <a:tr h="169606">
                <a:tc>
                  <a:txBody>
                    <a:bodyPr wrap="square"/>
                    <a:lstStyle/>
                    <a:p>
                      <a:pPr algn="l"/>
                      <a:r>
                        <a:rPr sz="1050" b="0" i="0">
                          <a:solidFill>
                            <a:srgbClr val="000000"/>
                          </a:solidFill>
                          <a:latin typeface="Calibri"/>
                        </a:rPr>
                        <a:t>Figure 98: North America Market YoY Growth by Individual Muffin Size, %, 2026–2036</a:t>
                      </a:r>
                      <a:endParaRPr sz="1050"/>
                    </a:p>
                  </a:txBody>
                  <a:tcPr marL="9525" marR="9525" marT="9525" marB="0" anchor="ctr"/>
                </a:tc>
              </a:tr>
              <a:tr h="169606">
                <a:tc>
                  <a:txBody>
                    <a:bodyPr wrap="square"/>
                    <a:lstStyle/>
                    <a:p>
                      <a:pPr algn="l"/>
                      <a:r>
                        <a:rPr sz="1050" b="0" i="0">
                          <a:solidFill>
                            <a:srgbClr val="000000"/>
                          </a:solidFill>
                          <a:latin typeface="Calibri"/>
                        </a:rPr>
                        <a:t>Figure 99: North America Market YoY Growth by Storage Format, %, 2026–2036</a:t>
                      </a:r>
                      <a:endParaRPr sz="1050"/>
                    </a:p>
                  </a:txBody>
                  <a:tcPr marL="9525" marR="9525" marT="9525" marB="0" anchor="ctr"/>
                </a:tc>
              </a:tr>
              <a:tr h="169606">
                <a:tc>
                  <a:txBody>
                    <a:bodyPr wrap="square"/>
                    <a:lstStyle/>
                    <a:p>
                      <a:pPr algn="l"/>
                      <a:r>
                        <a:rPr sz="1050" b="0" i="0">
                          <a:solidFill>
                            <a:srgbClr val="000000"/>
                          </a:solidFill>
                          <a:latin typeface="Calibri"/>
                        </a:rPr>
                        <a:t>Figure 100: North America Market YoY Growth by Shelf Life, %, 2026–2036</a:t>
                      </a:r>
                      <a:endParaRPr sz="1050"/>
                    </a:p>
                  </a:txBody>
                  <a:tcPr marL="9525" marR="9525" marT="9525" marB="0" anchor="ctr"/>
                </a:tc>
              </a:tr>
              <a:tr h="169606">
                <a:tc>
                  <a:txBody>
                    <a:bodyPr wrap="square"/>
                    <a:lstStyle/>
                    <a:p>
                      <a:pPr algn="l"/>
                      <a:r>
                        <a:rPr sz="1050" b="0" i="0">
                          <a:solidFill>
                            <a:srgbClr val="000000"/>
                          </a:solidFill>
                          <a:latin typeface="Calibri"/>
                        </a:rPr>
                        <a:t>Figure 101: North America Market YoY Growth by Packaging Format, %, 2026–2036</a:t>
                      </a:r>
                      <a:endParaRPr sz="1050"/>
                    </a:p>
                  </a:txBody>
                  <a:tcPr marL="9525" marR="9525" marT="9525" marB="0" anchor="ctr"/>
                </a:tc>
              </a:tr>
              <a:tr h="169606">
                <a:tc>
                  <a:txBody>
                    <a:bodyPr wrap="square"/>
                    <a:lstStyle/>
                    <a:p>
                      <a:pPr algn="l"/>
                      <a:r>
                        <a:rPr sz="1050" b="0" i="0">
                          <a:solidFill>
                            <a:srgbClr val="000000"/>
                          </a:solidFill>
                          <a:latin typeface="Calibri"/>
                        </a:rPr>
                        <a:t>Figure 102: North America Market YoY Growth by Pack Configuration, %, 2026–2036</a:t>
                      </a:r>
                      <a:endParaRPr sz="1050"/>
                    </a:p>
                  </a:txBody>
                  <a:tcPr marL="9525" marR="9525" marT="9525" marB="0" anchor="ctr"/>
                </a:tc>
              </a:tr>
              <a:tr h="169606">
                <a:tc>
                  <a:txBody>
                    <a:bodyPr wrap="square"/>
                    <a:lstStyle/>
                    <a:p>
                      <a:pPr algn="l"/>
                      <a:r>
                        <a:rPr sz="1050" b="0" i="0">
                          <a:solidFill>
                            <a:srgbClr val="000000"/>
                          </a:solidFill>
                          <a:latin typeface="Calibri"/>
                        </a:rPr>
                        <a:t>Figure 103: North America Market YoY Growth by Multipack Wrapping, %, 2026–2036</a:t>
                      </a:r>
                      <a:endParaRPr sz="1050"/>
                    </a:p>
                  </a:txBody>
                  <a:tcPr marL="9525" marR="9525" marT="9525" marB="0" anchor="ctr"/>
                </a:tc>
              </a:tr>
              <a:tr h="169606">
                <a:tc>
                  <a:txBody>
                    <a:bodyPr wrap="square"/>
                    <a:lstStyle/>
                    <a:p>
                      <a:pPr algn="l"/>
                      <a:r>
                        <a:rPr sz="1050" b="0" i="0">
                          <a:solidFill>
                            <a:srgbClr val="000000"/>
                          </a:solidFill>
                          <a:latin typeface="Calibri"/>
                        </a:rPr>
                        <a:t>Figure 104: Product Type × Flavour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105: Product Type × Primary Flour Base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106: Product Type × Dietary Formulation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107: Product Type × Nutritional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108: Product Type × Recipe and Ingredient Claims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109: Product Type × Product Structure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110: Product Type × Surface Finish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111: Product Type × Individual Muffin Size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112: Product Type × Storage Format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113: Product Type × Shelf Life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114: Product Type × Packaging Format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115: Product Type × Pack Configuration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116: Product Type × Multipack Wrapping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117: Product Type × Price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118: Product Type × Brand Ownership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119: Product Type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120: Flavour × Primary Flour Base Opportunity Matrix,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121: Flavour × Dietary Formulation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122: Flavour × Nutritional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123: Flavour × Recipe and Ingredient Claims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124: Flavour × Product Structure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125: Flavour × Surface Finish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126: Flavour × Individual Muffin Size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127: Flavour × Storage Format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128: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129: U.S.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U.S.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132: U.S.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U.S. Market Value by Primary Flour Base,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U.S. Market Value by Dietary Formulation,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U.S. Market Value by Nutritional Positioning,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U.S. Market Value by Recipe and Ingredient Claims,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U.S. Market Value by Product Structure,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138: U.S. Market Value by Surface Finish,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139: U.S. Market Value by Individual Muffin Size,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141: Canada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Canada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143: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144: Canada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145: Canada Market Value by Primary Flour Base,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146: Canada Market Value by Dietary Formulation,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147: Canada Market Value by Nutritional Positioning,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Canada Market Value by Recipe and Ingredient Claims,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149: Canada Market Value by Product Structure,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150: Canada Market Value by Surface Finish,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151: Canada Market Value by Individual Muffin Size, US$ Mn,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177150">
                <a:tc>
                  <a:txBody>
                    <a:bodyPr wrap="square"/>
                    <a:lstStyle/>
                    <a:p>
                      <a:pPr algn="l"/>
                      <a:r>
                        <a:rPr sz="1050" b="0" i="0">
                          <a:solidFill>
                            <a:srgbClr val="000000"/>
                          </a:solidFill>
                          <a:latin typeface="Calibri"/>
                        </a:rPr>
                        <a:t>Figure 152: North America Market Average Selling Price Trend, US$/MT, 2021–2036</a:t>
                      </a:r>
                      <a:endParaRPr sz="1050"/>
                    </a:p>
                  </a:txBody>
                  <a:tcPr marL="9525" marR="9525" marT="9525" marB="0" anchor="ctr"/>
                </a:tc>
              </a:tr>
              <a:tr h="177150">
                <a:tc>
                  <a:txBody>
                    <a:bodyPr wrap="square"/>
                    <a:lstStyle/>
                    <a:p>
                      <a:pPr algn="l"/>
                      <a:r>
                        <a:rPr sz="1050" b="0" i="0">
                          <a:solidFill>
                            <a:srgbClr val="000000"/>
                          </a:solidFill>
                          <a:latin typeface="Calibri"/>
                        </a:rPr>
                        <a:t>Figure 153: North America Market Average Selling Price Outlook, US$/MT, 2026–2036</a:t>
                      </a:r>
                      <a:endParaRPr sz="1050"/>
                    </a:p>
                  </a:txBody>
                  <a:tcPr marL="9525" marR="9525" marT="9525" marB="0" anchor="ctr"/>
                </a:tc>
              </a:tr>
              <a:tr h="177150">
                <a:tc>
                  <a:txBody>
                    <a:bodyPr wrap="square"/>
                    <a:lstStyle/>
                    <a:p>
                      <a:pPr algn="l"/>
                      <a:r>
                        <a:rPr sz="1050" b="0" i="0">
                          <a:solidFill>
                            <a:srgbClr val="000000"/>
                          </a:solidFill>
                          <a:latin typeface="Calibri"/>
                        </a:rPr>
                        <a:t>Figure 154: North America Market Average Selling Price by Product Type, US$/MT, 2026 and 2036</a:t>
                      </a:r>
                      <a:endParaRPr sz="1050"/>
                    </a:p>
                  </a:txBody>
                  <a:tcPr marL="9525" marR="9525" marT="9525" marB="0" anchor="ctr"/>
                </a:tc>
              </a:tr>
              <a:tr h="177150">
                <a:tc>
                  <a:txBody>
                    <a:bodyPr wrap="square"/>
                    <a:lstStyle/>
                    <a:p>
                      <a:pPr algn="l"/>
                      <a:r>
                        <a:rPr sz="1050" b="0" i="0">
                          <a:solidFill>
                            <a:srgbClr val="000000"/>
                          </a:solidFill>
                          <a:latin typeface="Calibri"/>
                        </a:rPr>
                        <a:t>Figure 155: North America Market Average Selling Price by Flavour, US$/MT, 2026 and 2036</a:t>
                      </a:r>
                      <a:endParaRPr sz="1050"/>
                    </a:p>
                  </a:txBody>
                  <a:tcPr marL="9525" marR="9525" marT="9525" marB="0" anchor="ctr"/>
                </a:tc>
              </a:tr>
              <a:tr h="347213">
                <a:tc>
                  <a:txBody>
                    <a:bodyPr wrap="square"/>
                    <a:lstStyle/>
                    <a:p>
                      <a:pPr algn="l"/>
                      <a:r>
                        <a:rPr sz="1050" b="0" i="0">
                          <a:solidFill>
                            <a:srgbClr val="000000"/>
                          </a:solidFill>
                          <a:latin typeface="Calibri"/>
                        </a:rPr>
                        <a:t>Figure 156: North America Market Average Selling Price by Primary Flour Base, US$/MT, 2026 and 2036</a:t>
                      </a:r>
                      <a:endParaRPr sz="1050"/>
                    </a:p>
                  </a:txBody>
                  <a:tcPr marL="9525" marR="9525" marT="9525" marB="0" anchor="ctr"/>
                </a:tc>
              </a:tr>
              <a:tr h="347213">
                <a:tc>
                  <a:txBody>
                    <a:bodyPr wrap="square"/>
                    <a:lstStyle/>
                    <a:p>
                      <a:pPr algn="l"/>
                      <a:r>
                        <a:rPr sz="1050" b="0" i="0">
                          <a:solidFill>
                            <a:srgbClr val="000000"/>
                          </a:solidFill>
                          <a:latin typeface="Calibri"/>
                        </a:rPr>
                        <a:t>Figure 157: North America Market Average Selling Price by Dietary Formulation, US$/MT, 2026 and 2036</a:t>
                      </a:r>
                      <a:endParaRPr sz="1050"/>
                    </a:p>
                  </a:txBody>
                  <a:tcPr marL="9525" marR="9525" marT="9525" marB="0" anchor="ctr"/>
                </a:tc>
              </a:tr>
              <a:tr h="347213">
                <a:tc>
                  <a:txBody>
                    <a:bodyPr wrap="square"/>
                    <a:lstStyle/>
                    <a:p>
                      <a:pPr algn="l"/>
                      <a:r>
                        <a:rPr sz="1050" b="0" i="0">
                          <a:solidFill>
                            <a:srgbClr val="000000"/>
                          </a:solidFill>
                          <a:latin typeface="Calibri"/>
                        </a:rPr>
                        <a:t>Figure 158: North America Market Average Selling Price by Nutritional Positioning, US$/MT, 2026 and 2036</a:t>
                      </a:r>
                      <a:endParaRPr sz="1050"/>
                    </a:p>
                  </a:txBody>
                  <a:tcPr marL="9525" marR="9525" marT="9525" marB="0" anchor="ctr"/>
                </a:tc>
              </a:tr>
              <a:tr h="347213">
                <a:tc>
                  <a:txBody>
                    <a:bodyPr wrap="square"/>
                    <a:lstStyle/>
                    <a:p>
                      <a:pPr algn="l"/>
                      <a:r>
                        <a:rPr sz="1050" b="0" i="0">
                          <a:solidFill>
                            <a:srgbClr val="000000"/>
                          </a:solidFill>
                          <a:latin typeface="Calibri"/>
                        </a:rPr>
                        <a:t>Figure 159: North America Market Average Selling Price by Recipe and Ingredient Claims, US$/MT, 2026 and 2036</a:t>
                      </a:r>
                      <a:endParaRPr sz="1050"/>
                    </a:p>
                  </a:txBody>
                  <a:tcPr marL="9525" marR="9525" marT="9525" marB="0" anchor="ctr"/>
                </a:tc>
              </a:tr>
              <a:tr h="177150">
                <a:tc>
                  <a:txBody>
                    <a:bodyPr wrap="square"/>
                    <a:lstStyle/>
                    <a:p>
                      <a:pPr algn="l"/>
                      <a:r>
                        <a:rPr sz="1050" b="0" i="0">
                          <a:solidFill>
                            <a:srgbClr val="000000"/>
                          </a:solidFill>
                          <a:latin typeface="Calibri"/>
                        </a:rPr>
                        <a:t>Figure 160: North America Market Average Selling Price by Product Structure, US$/MT, 2026 and 2036</a:t>
                      </a:r>
                      <a:endParaRPr sz="1050"/>
                    </a:p>
                  </a:txBody>
                  <a:tcPr marL="9525" marR="9525" marT="9525" marB="0" anchor="ctr"/>
                </a:tc>
              </a:tr>
              <a:tr h="177150">
                <a:tc>
                  <a:txBody>
                    <a:bodyPr wrap="square"/>
                    <a:lstStyle/>
                    <a:p>
                      <a:pPr algn="l"/>
                      <a:r>
                        <a:rPr sz="1050" b="0" i="0">
                          <a:solidFill>
                            <a:srgbClr val="000000"/>
                          </a:solidFill>
                          <a:latin typeface="Calibri"/>
                        </a:rPr>
                        <a:t>Figure 161: North America Market Average Selling Price by Surface Finish, US$/MT, 2026 and 2036</a:t>
                      </a:r>
                      <a:endParaRPr sz="1050"/>
                    </a:p>
                  </a:txBody>
                  <a:tcPr marL="9525" marR="9525" marT="9525" marB="0" anchor="ctr"/>
                </a:tc>
              </a:tr>
              <a:tr h="347213">
                <a:tc>
                  <a:txBody>
                    <a:bodyPr wrap="square"/>
                    <a:lstStyle/>
                    <a:p>
                      <a:pPr algn="l"/>
                      <a:r>
                        <a:rPr sz="1050" b="0" i="0">
                          <a:solidFill>
                            <a:srgbClr val="000000"/>
                          </a:solidFill>
                          <a:latin typeface="Calibri"/>
                        </a:rPr>
                        <a:t>Figure 162: North America Market Average Selling Price by Individual Muffin Size, US$/MT, 2026 and 2036</a:t>
                      </a:r>
                      <a:endParaRPr sz="1050"/>
                    </a:p>
                  </a:txBody>
                  <a:tcPr marL="9525" marR="9525" marT="9525" marB="0" anchor="ctr"/>
                </a:tc>
              </a:tr>
              <a:tr h="177150">
                <a:tc>
                  <a:txBody>
                    <a:bodyPr wrap="square"/>
                    <a:lstStyle/>
                    <a:p>
                      <a:pPr algn="l"/>
                      <a:r>
                        <a:rPr sz="1050" b="0" i="0">
                          <a:solidFill>
                            <a:srgbClr val="000000"/>
                          </a:solidFill>
                          <a:latin typeface="Calibri"/>
                        </a:rPr>
                        <a:t>Figure 163: North America Market Average Selling Price by Storage Format, US$/MT, 2026 and 2036</a:t>
                      </a:r>
                      <a:endParaRPr sz="1050"/>
                    </a:p>
                  </a:txBody>
                  <a:tcPr marL="9525" marR="9525" marT="9525" marB="0" anchor="ctr"/>
                </a:tc>
              </a:tr>
              <a:tr h="177150">
                <a:tc>
                  <a:txBody>
                    <a:bodyPr wrap="square"/>
                    <a:lstStyle/>
                    <a:p>
                      <a:pPr algn="l"/>
                      <a:r>
                        <a:rPr sz="1050" b="0" i="0">
                          <a:solidFill>
                            <a:srgbClr val="000000"/>
                          </a:solidFill>
                          <a:latin typeface="Calibri"/>
                        </a:rPr>
                        <a:t>Figure 164: North America Market Average Selling Price by Shelf Life, US$/MT, 2026 and 2036</a:t>
                      </a:r>
                      <a:endParaRPr sz="1050"/>
                    </a:p>
                  </a:txBody>
                  <a:tcPr marL="9525" marR="9525" marT="9525" marB="0" anchor="ctr"/>
                </a:tc>
              </a:tr>
              <a:tr h="177150">
                <a:tc>
                  <a:txBody>
                    <a:bodyPr wrap="square"/>
                    <a:lstStyle/>
                    <a:p>
                      <a:pPr algn="l"/>
                      <a:r>
                        <a:rPr sz="1050" b="0" i="0">
                          <a:solidFill>
                            <a:srgbClr val="000000"/>
                          </a:solidFill>
                          <a:latin typeface="Calibri"/>
                        </a:rPr>
                        <a:t>Figure 165: North America Market Average Selling Price by Packaging Format, US$/MT, 2026 and 2036</a:t>
                      </a:r>
                      <a:endParaRPr sz="1050"/>
                    </a:p>
                  </a:txBody>
                  <a:tcPr marL="9525" marR="9525" marT="9525" marB="0" anchor="ctr"/>
                </a:tc>
              </a:tr>
              <a:tr h="177150">
                <a:tc>
                  <a:txBody>
                    <a:bodyPr wrap="square"/>
                    <a:lstStyle/>
                    <a:p>
                      <a:pPr algn="l"/>
                      <a:r>
                        <a:rPr sz="1050" b="0" i="0">
                          <a:solidFill>
                            <a:srgbClr val="000000"/>
                          </a:solidFill>
                          <a:latin typeface="Calibri"/>
                        </a:rPr>
                        <a:t>Figure 166: Company Market Share in the North America Market, %, 2026</a:t>
                      </a:r>
                      <a:endParaRPr sz="1050"/>
                    </a:p>
                  </a:txBody>
                  <a:tcPr marL="9525" marR="9525" marT="9525" marB="0" anchor="ctr"/>
                </a:tc>
              </a:tr>
              <a:tr h="177150">
                <a:tc>
                  <a:txBody>
                    <a:bodyPr wrap="square"/>
                    <a:lstStyle/>
                    <a:p>
                      <a:pPr algn="l"/>
                      <a:r>
                        <a:rPr sz="1050" b="0" i="0">
                          <a:solidFill>
                            <a:srgbClr val="000000"/>
                          </a:solidFill>
                          <a:latin typeface="Calibri"/>
                        </a:rPr>
                        <a:t>Figure 167: Competitive Positioning of Leading Packaged Muffins Manufacturers, 2026</a:t>
                      </a:r>
                      <a:endParaRPr sz="1050"/>
                    </a:p>
                  </a:txBody>
                  <a:tcPr marL="9525" marR="9525" marT="9525" marB="0" anchor="ctr"/>
                </a:tc>
              </a:tr>
              <a:tr h="177150">
                <a:tc>
                  <a:txBody>
                    <a:bodyPr wrap="square"/>
                    <a:lstStyle/>
                    <a:p>
                      <a:pPr algn="l"/>
                      <a:r>
                        <a:rPr sz="1050" b="0" i="0">
                          <a:solidFill>
                            <a:srgbClr val="000000"/>
                          </a:solidFill>
                          <a:latin typeface="Calibri"/>
                        </a:rPr>
                        <a:t>Figure 168: Company Revenue from the North America Market, US$ Mn, 2026</a:t>
                      </a:r>
                      <a:endParaRPr sz="1050"/>
                    </a:p>
                  </a:txBody>
                  <a:tcPr marL="9525" marR="9525" marT="9525" marB="0" anchor="ctr"/>
                </a:tc>
              </a:tr>
              <a:tr h="177150">
                <a:tc>
                  <a:txBody>
                    <a:bodyPr wrap="square"/>
                    <a:lstStyle/>
                    <a:p>
                      <a:pPr algn="l"/>
                      <a:r>
                        <a:rPr sz="1050" b="0" i="0">
                          <a:solidFill>
                            <a:srgbClr val="000000"/>
                          </a:solidFill>
                          <a:latin typeface="Calibri"/>
                        </a:rPr>
                        <a:t>Figure 169: North America Market Concentration by Company Tier, %, 2026</a:t>
                      </a:r>
                      <a:endParaRPr sz="1050"/>
                    </a:p>
                  </a:txBody>
                  <a:tcPr marL="9525" marR="9525" marT="9525" marB="0" anchor="ctr"/>
                </a:tc>
              </a:tr>
              <a:tr h="177150">
                <a:tc>
                  <a:txBody>
                    <a:bodyPr wrap="square"/>
                    <a:lstStyle/>
                    <a:p>
                      <a:pPr algn="l"/>
                      <a:r>
                        <a:rPr sz="1050" b="0" i="0">
                          <a:solidFill>
                            <a:srgbClr val="000000"/>
                          </a:solidFill>
                          <a:latin typeface="Calibri"/>
                        </a:rPr>
                        <a:t>Figure 170: North America Market Competitive Intensity Assessment, 2026</a:t>
                      </a:r>
                      <a:endParaRPr sz="1050"/>
                    </a:p>
                  </a:txBody>
                  <a:tcPr marL="9525" marR="9525" marT="9525" marB="0" anchor="ctr"/>
                </a:tc>
              </a:tr>
              <a:tr h="347213">
                <a:tc>
                  <a:txBody>
                    <a:bodyPr wrap="square"/>
                    <a:lstStyle/>
                    <a:p>
                      <a:pPr algn="l"/>
                      <a:r>
                        <a:rPr sz="1050" b="0" i="0">
                          <a:solidFill>
                            <a:srgbClr val="000000"/>
                          </a:solidFill>
                          <a:latin typeface="Calibri"/>
                        </a:rPr>
                        <a:t>Figure 171: Grupo Bimbo (Bimbo, Marinela, Little Bites, Thomas'): Revenue from the North America Market and Share, US$ Mn and %, 2026</a:t>
                      </a:r>
                      <a:endParaRPr sz="1050"/>
                    </a:p>
                  </a:txBody>
                  <a:tcPr marL="9525" marR="9525" marT="9525" marB="0" anchor="ctr"/>
                </a:tc>
              </a:tr>
              <a:tr h="347213">
                <a:tc>
                  <a:txBody>
                    <a:bodyPr wrap="square"/>
                    <a:lstStyle/>
                    <a:p>
                      <a:pPr algn="l"/>
                      <a:r>
                        <a:rPr sz="1050" b="0" i="0">
                          <a:solidFill>
                            <a:srgbClr val="000000"/>
                          </a:solidFill>
                          <a:latin typeface="Calibri"/>
                        </a:rPr>
                        <a:t>Figure 172: McKee Foods Corporation (Little Debbie, Sunbelt Bakery, Drake's, Fieldstone Bakery): Revenue from the North America Market and Share, US$ Mn and %, 2026</a:t>
                      </a:r>
                      <a:endParaRPr sz="1050"/>
                    </a:p>
                  </a:txBody>
                  <a:tcPr marL="9525" marR="9525" marT="9525" marB="0" anchor="ctr"/>
                </a:tc>
              </a:tr>
              <a:tr h="347213">
                <a:tc>
                  <a:txBody>
                    <a:bodyPr wrap="square"/>
                    <a:lstStyle/>
                    <a:p>
                      <a:pPr algn="l"/>
                      <a:r>
                        <a:rPr sz="1050" b="0" i="0">
                          <a:solidFill>
                            <a:srgbClr val="000000"/>
                          </a:solidFill>
                          <a:latin typeface="Calibri"/>
                        </a:rPr>
                        <a:t>Figure 173: Hostess Brands (Hostess): Revenue from the North America Market and Share, US$ Mn and %,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335896">
                <a:tc>
                  <a:txBody>
                    <a:bodyPr wrap="square"/>
                    <a:lstStyle/>
                    <a:p>
                      <a:pPr algn="l"/>
                      <a:r>
                        <a:rPr sz="1050" b="0" i="0">
                          <a:solidFill>
                            <a:srgbClr val="000000"/>
                          </a:solidFill>
                          <a:latin typeface="Calibri"/>
                        </a:rPr>
                        <a:t>Figure 174: Rich Products Corporation (Rich's): Revenue from the North America Market and Share, US$ Mn and %, 2026</a:t>
                      </a:r>
                      <a:endParaRPr sz="1050"/>
                    </a:p>
                  </a:txBody>
                  <a:tcPr marL="9525" marR="9525" marT="9525" marB="0" anchor="ctr"/>
                </a:tc>
              </a:tr>
              <a:tr h="335896">
                <a:tc>
                  <a:txBody>
                    <a:bodyPr wrap="square"/>
                    <a:lstStyle/>
                    <a:p>
                      <a:pPr algn="l"/>
                      <a:r>
                        <a:rPr sz="1050" b="0" i="0">
                          <a:solidFill>
                            <a:srgbClr val="000000"/>
                          </a:solidFill>
                          <a:latin typeface="Calibri"/>
                        </a:rPr>
                        <a:t>Figure 175: ARYZTA / Aspire Bakeries (Otis Spunkmeyer, Cuisine de France, Hiestand, Delice de France): Revenue from the North America Market and Share, US$ Mn and %, 2026</a:t>
                      </a:r>
                      <a:endParaRPr sz="1050"/>
                    </a:p>
                  </a:txBody>
                  <a:tcPr marL="9525" marR="9525" marT="9525" marB="0" anchor="ctr"/>
                </a:tc>
              </a:tr>
              <a:tr h="335896">
                <a:tc>
                  <a:txBody>
                    <a:bodyPr wrap="square"/>
                    <a:lstStyle/>
                    <a:p>
                      <a:pPr algn="l"/>
                      <a:r>
                        <a:rPr sz="1050" b="0" i="0">
                          <a:solidFill>
                            <a:srgbClr val="000000"/>
                          </a:solidFill>
                          <a:latin typeface="Calibri"/>
                        </a:rPr>
                        <a:t>Figure 176: Europastry (Europastry, Dots): Revenue from the North America Market and Share, US$ Mn and %, 2026</a:t>
                      </a:r>
                      <a:endParaRPr sz="1050"/>
                    </a:p>
                  </a:txBody>
                  <a:tcPr marL="9525" marR="9525" marT="9525" marB="0" anchor="ctr"/>
                </a:tc>
              </a:tr>
              <a:tr h="335896">
                <a:tc>
                  <a:txBody>
                    <a:bodyPr wrap="square"/>
                    <a:lstStyle/>
                    <a:p>
                      <a:pPr algn="l"/>
                      <a:r>
                        <a:rPr sz="1050" b="0" i="0">
                          <a:solidFill>
                            <a:srgbClr val="000000"/>
                          </a:solidFill>
                          <a:latin typeface="Calibri"/>
                        </a:rPr>
                        <a:t>Figure 177: Bridor (Bridor, Evasions): Revenue from the North America Market and Share, US$ Mn and %, 2026</a:t>
                      </a:r>
                      <a:endParaRPr sz="1050"/>
                    </a:p>
                  </a:txBody>
                  <a:tcPr marL="9525" marR="9525" marT="9525" marB="0" anchor="ctr"/>
                </a:tc>
              </a:tr>
              <a:tr h="335896">
                <a:tc>
                  <a:txBody>
                    <a:bodyPr wrap="square"/>
                    <a:lstStyle/>
                    <a:p>
                      <a:pPr algn="l"/>
                      <a:r>
                        <a:rPr sz="1050" b="0" i="0">
                          <a:solidFill>
                            <a:srgbClr val="000000"/>
                          </a:solidFill>
                          <a:latin typeface="Calibri"/>
                        </a:rPr>
                        <a:t>Figure 178: Lantmännen Unibake (Schulstad, Hatting, Vaasan, Pastridor, Euro-Bake): Revenue from the North America Market and Share, US$ Mn and %, 2026</a:t>
                      </a:r>
                      <a:endParaRPr sz="1050"/>
                    </a:p>
                  </a:txBody>
                  <a:tcPr marL="9525" marR="9525" marT="9525" marB="0" anchor="ctr"/>
                </a:tc>
              </a:tr>
              <a:tr h="335896">
                <a:tc>
                  <a:txBody>
                    <a:bodyPr wrap="square"/>
                    <a:lstStyle/>
                    <a:p>
                      <a:pPr algn="l"/>
                      <a:r>
                        <a:rPr sz="1050" b="0" i="0">
                          <a:solidFill>
                            <a:srgbClr val="000000"/>
                          </a:solidFill>
                          <a:latin typeface="Calibri"/>
                        </a:rPr>
                        <a:t>Figure 179: Flowers Foods (Tastykake, Nature's Own, Wonder, Dave's Killer Bread, Canyon Bakehouse): Revenue from the North America Market and Share, US$ Mn and %, 2026</a:t>
                      </a:r>
                      <a:endParaRPr sz="1050"/>
                    </a:p>
                  </a:txBody>
                  <a:tcPr marL="9525" marR="9525" marT="9525" marB="0" anchor="ctr"/>
                </a:tc>
              </a:tr>
              <a:tr h="335896">
                <a:tc>
                  <a:txBody>
                    <a:bodyPr wrap="square"/>
                    <a:lstStyle/>
                    <a:p>
                      <a:pPr algn="l"/>
                      <a:r>
                        <a:rPr sz="1050" b="0" i="0">
                          <a:solidFill>
                            <a:srgbClr val="000000"/>
                          </a:solidFill>
                          <a:latin typeface="Calibri"/>
                        </a:rPr>
                        <a:t>Figure 180: Premier Foods (Mr Kipling): Revenue from the North America Market and Share, US$ Mn and %, 2026</a:t>
                      </a:r>
                      <a:endParaRPr sz="1050"/>
                    </a:p>
                  </a:txBody>
                  <a:tcPr marL="9525" marR="9525" marT="9525" marB="0" anchor="ctr"/>
                </a:tc>
              </a:tr>
              <a:tr h="171375">
                <a:tc>
                  <a:txBody>
                    <a:bodyPr wrap="square"/>
                    <a:lstStyle/>
                    <a:p>
                      <a:pPr algn="l"/>
                      <a:r>
                        <a:rPr sz="1050" b="0" i="0">
                          <a:solidFill>
                            <a:srgbClr val="000000"/>
                          </a:solidFill>
                          <a:latin typeface="Calibri"/>
                        </a:rPr>
                        <a:t>Figure 181: North America Market Strategic Developments by Type, %, 2025–2026</a:t>
                      </a:r>
                      <a:endParaRPr sz="1050"/>
                    </a:p>
                  </a:txBody>
                  <a:tcPr marL="9525" marR="9525" marT="9525" marB="0" anchor="ctr"/>
                </a:tc>
              </a:tr>
              <a:tr h="171375">
                <a:tc>
                  <a:txBody>
                    <a:bodyPr wrap="square"/>
                    <a:lstStyle/>
                    <a:p>
                      <a:pPr algn="l"/>
                      <a:r>
                        <a:rPr sz="1050" b="0" i="0">
                          <a:solidFill>
                            <a:srgbClr val="000000"/>
                          </a:solidFill>
                          <a:latin typeface="Calibri"/>
                        </a:rPr>
                        <a:t>Figure 182: North America Market Company Footprint by Region, 2026</a:t>
                      </a:r>
                      <a:endParaRPr sz="1050"/>
                    </a:p>
                  </a:txBody>
                  <a:tcPr marL="9525" marR="9525" marT="9525" marB="0" anchor="ctr"/>
                </a:tc>
              </a:tr>
              <a:tr h="171375">
                <a:tc>
                  <a:txBody>
                    <a:bodyPr wrap="square"/>
                    <a:lstStyle/>
                    <a:p>
                      <a:pPr algn="l"/>
                      <a:r>
                        <a:rPr sz="1050" b="0" i="0">
                          <a:solidFill>
                            <a:srgbClr val="000000"/>
                          </a:solidFill>
                          <a:latin typeface="Calibri"/>
                        </a:rPr>
                        <a:t>Figure 183: North America Market Value Forecast by Scenario, US$ Mn, 2026–2036</a:t>
                      </a:r>
                      <a:endParaRPr sz="1050"/>
                    </a:p>
                  </a:txBody>
                  <a:tcPr marL="9525" marR="9525" marT="9525" marB="0" anchor="ctr"/>
                </a:tc>
              </a:tr>
              <a:tr h="171375">
                <a:tc>
                  <a:txBody>
                    <a:bodyPr wrap="square"/>
                    <a:lstStyle/>
                    <a:p>
                      <a:pPr algn="l"/>
                      <a:r>
                        <a:rPr sz="1050" b="0" i="0">
                          <a:solidFill>
                            <a:srgbClr val="000000"/>
                          </a:solidFill>
                          <a:latin typeface="Calibri"/>
                        </a:rPr>
                        <a:t>Figure 184: North America Market YoY Growth by Scenario, %, 2026–2036</a:t>
                      </a:r>
                      <a:endParaRPr sz="1050"/>
                    </a:p>
                  </a:txBody>
                  <a:tcPr marL="9525" marR="9525" marT="9525" marB="0" anchor="ctr"/>
                </a:tc>
              </a:tr>
              <a:tr h="171375">
                <a:tc>
                  <a:txBody>
                    <a:bodyPr wrap="square"/>
                    <a:lstStyle/>
                    <a:p>
                      <a:pPr algn="l"/>
                      <a:r>
                        <a:rPr sz="1050" b="0" i="0">
                          <a:solidFill>
                            <a:srgbClr val="000000"/>
                          </a:solidFill>
                          <a:latin typeface="Calibri"/>
                        </a:rPr>
                        <a:t>Figure 185: North America Market Key Trends Impact Assessment, 2026–2036</a:t>
                      </a:r>
                      <a:endParaRPr sz="1050"/>
                    </a:p>
                  </a:txBody>
                  <a:tcPr marL="9525" marR="9525" marT="9525" marB="0" anchor="ctr"/>
                </a:tc>
              </a:tr>
              <a:tr h="171375">
                <a:tc>
                  <a:txBody>
                    <a:bodyPr wrap="square"/>
                    <a:lstStyle/>
                    <a:p>
                      <a:pPr algn="l"/>
                      <a:r>
                        <a:rPr sz="1050" b="0" i="0">
                          <a:solidFill>
                            <a:srgbClr val="000000"/>
                          </a:solidFill>
                          <a:latin typeface="Calibri"/>
                        </a:rPr>
                        <a:t>Figure 186: North America Market Drivers, Restraints and Opportunities Impact, 2026–2036</a:t>
                      </a:r>
                      <a:endParaRPr sz="1050"/>
                    </a:p>
                  </a:txBody>
                  <a:tcPr marL="9525" marR="9525" marT="9525" marB="0" anchor="ctr"/>
                </a:tc>
              </a:tr>
              <a:tr h="171375">
                <a:tc>
                  <a:txBody>
                    <a:bodyPr wrap="square"/>
                    <a:lstStyle/>
                    <a:p>
                      <a:pPr algn="l"/>
                      <a:r>
                        <a:rPr sz="1050" b="0" i="0">
                          <a:solidFill>
                            <a:srgbClr val="000000"/>
                          </a:solidFill>
                          <a:latin typeface="Calibri"/>
                        </a:rPr>
                        <a:t>Figure 187: North America Market Opportunity Map by Product Type, 2026–2036</a:t>
                      </a:r>
                      <a:endParaRPr sz="1050"/>
                    </a:p>
                  </a:txBody>
                  <a:tcPr marL="9525" marR="9525" marT="9525" marB="0" anchor="ctr"/>
                </a:tc>
              </a:tr>
              <a:tr h="171375">
                <a:tc>
                  <a:txBody>
                    <a:bodyPr wrap="square"/>
                    <a:lstStyle/>
                    <a:p>
                      <a:pPr algn="l"/>
                      <a:r>
                        <a:rPr sz="1050" b="0" i="0">
                          <a:solidFill>
                            <a:srgbClr val="000000"/>
                          </a:solidFill>
                          <a:latin typeface="Calibri"/>
                        </a:rPr>
                        <a:t>Figure 188: North America Market Technology Adoption Roadmap, 2021–2036</a:t>
                      </a:r>
                      <a:endParaRPr sz="1050"/>
                    </a:p>
                  </a:txBody>
                  <a:tcPr marL="9525" marR="9525" marT="9525" marB="0" anchor="ctr"/>
                </a:tc>
              </a:tr>
              <a:tr h="335896">
                <a:tc>
                  <a:txBody>
                    <a:bodyPr wrap="square"/>
                    <a:lstStyle/>
                    <a:p>
                      <a:pPr algn="l"/>
                      <a:r>
                        <a:rPr sz="1050" b="0" i="0">
                          <a:solidFill>
                            <a:srgbClr val="000000"/>
                          </a:solidFill>
                          <a:latin typeface="Calibri"/>
                        </a:rPr>
                        <a:t>Figure 189: North America Market Emerging Opportunity Pockets by Product Type, US$ Mn, 2026–2036</a:t>
                      </a:r>
                      <a:endParaRPr sz="1050"/>
                    </a:p>
                  </a:txBody>
                  <a:tcPr marL="9525" marR="9525" marT="9525" marB="0" anchor="ctr"/>
                </a:tc>
              </a:tr>
              <a:tr h="171375">
                <a:tc>
                  <a:txBody>
                    <a:bodyPr wrap="square"/>
                    <a:lstStyle/>
                    <a:p>
                      <a:pPr algn="l"/>
                      <a:r>
                        <a:rPr sz="1050" b="0" i="0">
                          <a:solidFill>
                            <a:srgbClr val="000000"/>
                          </a:solidFill>
                          <a:latin typeface="Calibri"/>
                        </a:rPr>
                        <a:t>Figure 190: North America Market Risk and Sensitivity Analysis, %, 2026–2036</a:t>
                      </a:r>
                      <a:endParaRPr sz="1050"/>
                    </a:p>
                  </a:txBody>
                  <a:tcPr marL="9525" marR="9525" marT="9525" marB="0" anchor="ctr"/>
                </a:tc>
              </a:tr>
              <a:tr h="171375">
                <a:tc>
                  <a:txBody>
                    <a:bodyPr wrap="square"/>
                    <a:lstStyle/>
                    <a:p>
                      <a:pPr algn="l"/>
                      <a:r>
                        <a:rPr sz="1050" b="0" i="0">
                          <a:solidFill>
                            <a:srgbClr val="000000"/>
                          </a:solidFill>
                          <a:latin typeface="Calibri"/>
                        </a:rPr>
                        <a:t>Figure 191: North America Market Regulatory Landscape Timeline, 2021–2036</a:t>
                      </a:r>
                      <a:endParaRPr sz="1050"/>
                    </a:p>
                  </a:txBody>
                  <a:tcPr marL="9525" marR="9525" marT="9525" marB="0" anchor="ctr"/>
                </a:tc>
              </a:tr>
              <a:tr h="171375">
                <a:tc>
                  <a:txBody>
                    <a:bodyPr wrap="square"/>
                    <a:lstStyle/>
                    <a:p>
                      <a:pPr algn="l"/>
                      <a:r>
                        <a:rPr sz="1050" b="0" i="0">
                          <a:solidFill>
                            <a:srgbClr val="000000"/>
                          </a:solidFill>
                          <a:latin typeface="Calibri"/>
                        </a:rPr>
                        <a:t>Figure 192: North America Market Investment Hotspots, 2026–2036</a:t>
                      </a:r>
                      <a:endParaRPr sz="1050"/>
                    </a:p>
                  </a:txBody>
                  <a:tcPr marL="9525" marR="9525" marT="9525" marB="0" anchor="ctr"/>
                </a:tc>
              </a:tr>
              <a:tr h="171375">
                <a:tc>
                  <a:txBody>
                    <a:bodyPr wrap="square"/>
                    <a:lstStyle/>
                    <a:p>
                      <a:pPr algn="l"/>
                      <a:r>
                        <a:rPr sz="1050" b="0" i="0">
                          <a:solidFill>
                            <a:srgbClr val="000000"/>
                          </a:solidFill>
                          <a:latin typeface="Calibri"/>
                        </a:rPr>
                        <a:t>Figure 193: North America Market Innovation Pipeline Assessment, 2026</a:t>
                      </a:r>
                      <a:endParaRPr sz="1050"/>
                    </a:p>
                  </a:txBody>
                  <a:tcPr marL="9525" marR="9525" marT="9525" marB="0" anchor="ctr"/>
                </a:tc>
              </a:tr>
              <a:tr h="171375">
                <a:tc>
                  <a:txBody>
                    <a:bodyPr wrap="square"/>
                    <a:lstStyle/>
                    <a:p>
                      <a:pPr algn="l"/>
                      <a:r>
                        <a:rPr sz="1050" b="0" i="0">
                          <a:solidFill>
                            <a:srgbClr val="000000"/>
                          </a:solidFill>
                          <a:latin typeface="Calibri"/>
                        </a:rPr>
                        <a:t>Figure 194: North America Market Demand Shift Analysis by Product Type, %, 2026–2036</a:t>
                      </a:r>
                      <a:endParaRPr sz="1050"/>
                    </a:p>
                  </a:txBody>
                  <a:tcPr marL="9525" marR="9525" marT="9525" marB="0" anchor="ctr"/>
                </a:tc>
              </a:tr>
              <a:tr h="171375">
                <a:tc>
                  <a:txBody>
                    <a:bodyPr wrap="square"/>
                    <a:lstStyle/>
                    <a:p>
                      <a:pPr algn="l"/>
                      <a:r>
                        <a:rPr sz="1050" b="0" i="0">
                          <a:solidFill>
                            <a:srgbClr val="000000"/>
                          </a:solidFill>
                          <a:latin typeface="Calibri"/>
                        </a:rPr>
                        <a:t>Figure 195: North America Market White-Space Opportunity Assessment, 2026–2036</a:t>
                      </a:r>
                      <a:endParaRPr sz="1050"/>
                    </a:p>
                  </a:txBody>
                  <a:tcPr marL="9525" marR="9525" marT="9525" marB="0" anchor="ctr"/>
                </a:tc>
              </a:tr>
              <a:tr h="171375">
                <a:tc>
                  <a:txBody>
                    <a:bodyPr wrap="square"/>
                    <a:lstStyle/>
                    <a:p>
                      <a:pPr algn="l"/>
                      <a:r>
                        <a:rPr sz="1050" b="0" i="0">
                          <a:solidFill>
                            <a:srgbClr val="000000"/>
                          </a:solidFill>
                          <a:latin typeface="Calibri"/>
                        </a:rPr>
                        <a:t>Figure 196: North America Market Customer Purchase Criteria Assessment, 2026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66675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197: North America Market Go-to-Market Priority, 2026–2036</a:t>
                      </a:r>
                      <a:endParaRPr sz="1050"/>
                    </a:p>
                  </a:txBody>
                  <a:tcPr marL="9525" marR="9525" marT="9525" marB="0" anchor="ctr"/>
                </a:tc>
              </a:tr>
              <a:tr h="166688">
                <a:tc>
                  <a:txBody>
                    <a:bodyPr wrap="square"/>
                    <a:lstStyle/>
                    <a:p>
                      <a:pPr algn="l"/>
                      <a:r>
                        <a:rPr sz="1050" b="0" i="0">
                          <a:solidFill>
                            <a:srgbClr val="000000"/>
                          </a:solidFill>
                          <a:latin typeface="Calibri"/>
                        </a:rPr>
                        <a:t>Figure 198: North America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199: North America Market Right-to-Win Assessment, 2026</a:t>
                      </a:r>
                      <a:endParaRPr sz="1050"/>
                    </a:p>
                  </a:txBody>
                  <a:tcPr marL="9525" marR="9525" marT="9525" marB="0" anchor="ctr"/>
                </a:tc>
              </a:tr>
              <a:tr h="166688">
                <a:tc>
                  <a:txBody>
                    <a:bodyPr wrap="square"/>
                    <a:lstStyle/>
                    <a:p>
                      <a:pPr algn="l"/>
                      <a:r>
                        <a:rPr sz="1050" b="0" i="0">
                          <a:solidFill>
                            <a:srgbClr val="000000"/>
                          </a:solidFill>
                          <a:latin typeface="Calibri"/>
                        </a:rPr>
                        <a:t>Figure 200: North America Market Entry Strategy Scorecard,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 North America Market Snapshot: Value, Volume and CAGR, US$ Mn, 2025–2036</a:t>
                      </a:r>
                      <a:endParaRPr sz="1050"/>
                    </a:p>
                  </a:txBody>
                  <a:tcPr marL="9525" marR="9525" marT="9525" marB="0" anchor="ctr"/>
                </a:tc>
              </a:tr>
              <a:tr h="169826">
                <a:tc>
                  <a:txBody>
                    <a:bodyPr wrap="square"/>
                    <a:lstStyle/>
                    <a:p>
                      <a:pPr algn="l"/>
                      <a:r>
                        <a:rPr sz="1050" b="0" i="0">
                          <a:solidFill>
                            <a:srgbClr val="000000"/>
                          </a:solidFill>
                          <a:latin typeface="Calibri"/>
                        </a:rPr>
                        <a:t>Table 2: North America Market Taxonomy by Segment, 2026</a:t>
                      </a:r>
                      <a:endParaRPr sz="1050"/>
                    </a:p>
                  </a:txBody>
                  <a:tcPr marL="9525" marR="9525" marT="9525" marB="0" anchor="ctr"/>
                </a:tc>
              </a:tr>
              <a:tr h="169826">
                <a:tc>
                  <a:txBody>
                    <a:bodyPr wrap="square"/>
                    <a:lstStyle/>
                    <a:p>
                      <a:pPr algn="l"/>
                      <a:r>
                        <a:rPr sz="1050" b="0" i="0">
                          <a:solidFill>
                            <a:srgbClr val="000000"/>
                          </a:solidFill>
                          <a:latin typeface="Calibri"/>
                        </a:rPr>
                        <a:t>Table 3: North America Market Scope: Inclusions and Exclusions by Segment, 2026</a:t>
                      </a:r>
                      <a:endParaRPr sz="1050"/>
                    </a:p>
                  </a:txBody>
                  <a:tcPr marL="9525" marR="9525" marT="9525" marB="0" anchor="ctr"/>
                </a:tc>
              </a:tr>
              <a:tr h="169826">
                <a:tc>
                  <a:txBody>
                    <a:bodyPr wrap="square"/>
                    <a:lstStyle/>
                    <a:p>
                      <a:pPr algn="l"/>
                      <a:r>
                        <a:rPr sz="1050" b="0" i="0">
                          <a:solidFill>
                            <a:srgbClr val="000000"/>
                          </a:solidFill>
                          <a:latin typeface="Calibri"/>
                        </a:rPr>
                        <a:t>Table 4: North America Market Key Demand Drivers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5: North America Market Key Restraints and Impact Rating, 2026–2036</a:t>
                      </a:r>
                      <a:endParaRPr sz="1050"/>
                    </a:p>
                  </a:txBody>
                  <a:tcPr marL="9525" marR="9525" marT="9525" marB="0" anchor="ctr"/>
                </a:tc>
              </a:tr>
              <a:tr h="169826">
                <a:tc>
                  <a:txBody>
                    <a:bodyPr wrap="square"/>
                    <a:lstStyle/>
                    <a:p>
                      <a:pPr algn="l"/>
                      <a:r>
                        <a:rPr sz="1050" b="0" i="0">
                          <a:solidFill>
                            <a:srgbClr val="000000"/>
                          </a:solidFill>
                          <a:latin typeface="Calibri"/>
                        </a:rPr>
                        <a:t>Table 6: North America Market Analyst Recommendations by Segment, 2026–2036</a:t>
                      </a:r>
                      <a:endParaRPr sz="1050"/>
                    </a:p>
                  </a:txBody>
                  <a:tcPr marL="9525" marR="9525" marT="9525" marB="0" anchor="ctr"/>
                </a:tc>
              </a:tr>
              <a:tr h="169826">
                <a:tc>
                  <a:txBody>
                    <a:bodyPr wrap="square"/>
                    <a:lstStyle/>
                    <a:p>
                      <a:pPr algn="l"/>
                      <a:r>
                        <a:rPr sz="1050" b="0" i="0">
                          <a:solidFill>
                            <a:srgbClr val="000000"/>
                          </a:solidFill>
                          <a:latin typeface="Calibri"/>
                        </a:rPr>
                        <a:t>Table 7: North America Market Key Market Signals and Data Points, 2026</a:t>
                      </a:r>
                      <a:endParaRPr sz="1050"/>
                    </a:p>
                  </a:txBody>
                  <a:tcPr marL="9525" marR="9525" marT="9525" marB="0" anchor="ctr"/>
                </a:tc>
              </a:tr>
              <a:tr h="169826">
                <a:tc>
                  <a:txBody>
                    <a:bodyPr wrap="square"/>
                    <a:lstStyle/>
                    <a:p>
                      <a:pPr algn="l"/>
                      <a:r>
                        <a:rPr sz="1050" b="0" i="0">
                          <a:solidFill>
                            <a:srgbClr val="000000"/>
                          </a:solidFill>
                          <a:latin typeface="Calibri"/>
                        </a:rPr>
                        <a:t>Table 8: North America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Table 9: North America Market Historical Value Analysis, US$ Mn, 2021–2025</a:t>
                      </a:r>
                      <a:endParaRPr sz="1050"/>
                    </a:p>
                  </a:txBody>
                  <a:tcPr marL="9525" marR="9525" marT="9525" marB="0" anchor="ctr"/>
                </a:tc>
              </a:tr>
              <a:tr h="169826">
                <a:tc>
                  <a:txBody>
                    <a:bodyPr wrap="square"/>
                    <a:lstStyle/>
                    <a:p>
                      <a:pPr algn="l"/>
                      <a:r>
                        <a:rPr sz="1050" b="0" i="0">
                          <a:solidFill>
                            <a:srgbClr val="000000"/>
                          </a:solidFill>
                          <a:latin typeface="Calibri"/>
                        </a:rPr>
                        <a:t>Table 10: North America Market Forecast Value Analysis, US$ Mn, 2026–2036</a:t>
                      </a:r>
                      <a:endParaRPr sz="1050"/>
                    </a:p>
                  </a:txBody>
                  <a:tcPr marL="9525" marR="9525" marT="9525" marB="0" anchor="ctr"/>
                </a:tc>
              </a:tr>
              <a:tr h="169826">
                <a:tc>
                  <a:txBody>
                    <a:bodyPr wrap="square"/>
                    <a:lstStyle/>
                    <a:p>
                      <a:pPr algn="l"/>
                      <a:r>
                        <a:rPr sz="1050" b="0" i="0">
                          <a:solidFill>
                            <a:srgbClr val="000000"/>
                          </a:solidFill>
                          <a:latin typeface="Calibri"/>
                        </a:rPr>
                        <a:t>Table 11: North America Market Volume and YoY Growth, MT and %, 2021–2036</a:t>
                      </a:r>
                      <a:endParaRPr sz="1050"/>
                    </a:p>
                  </a:txBody>
                  <a:tcPr marL="9525" marR="9525" marT="9525" marB="0" anchor="ctr"/>
                </a:tc>
              </a:tr>
              <a:tr h="169826">
                <a:tc>
                  <a:txBody>
                    <a:bodyPr wrap="square"/>
                    <a:lstStyle/>
                    <a:p>
                      <a:pPr algn="l"/>
                      <a:r>
                        <a:rPr sz="1050" b="0" i="0">
                          <a:solidFill>
                            <a:srgbClr val="000000"/>
                          </a:solidFill>
                          <a:latin typeface="Calibri"/>
                        </a:rPr>
                        <a:t>Table 12: North America Market Volume Forecast, MT, 2026–2036</a:t>
                      </a:r>
                      <a:endParaRPr sz="1050"/>
                    </a:p>
                  </a:txBody>
                  <a:tcPr marL="9525" marR="9525" marT="9525" marB="0" anchor="ctr"/>
                </a:tc>
              </a:tr>
              <a:tr h="169826">
                <a:tc>
                  <a:txBody>
                    <a:bodyPr wrap="square"/>
                    <a:lstStyle/>
                    <a:p>
                      <a:pPr algn="l"/>
                      <a:r>
                        <a:rPr sz="1050" b="0" i="0">
                          <a:solidFill>
                            <a:srgbClr val="000000"/>
                          </a:solidFill>
                          <a:latin typeface="Calibri"/>
                        </a:rPr>
                        <a:t>Table 13: North America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Table 14: North America Market Average Selling Price YoY Change, %, 2026–2036</a:t>
                      </a:r>
                      <a:endParaRPr sz="1050"/>
                    </a:p>
                  </a:txBody>
                  <a:tcPr marL="9525" marR="9525" marT="9525" marB="0" anchor="ctr"/>
                </a:tc>
              </a:tr>
              <a:tr h="169826">
                <a:tc>
                  <a:txBody>
                    <a:bodyPr wrap="square"/>
                    <a:lstStyle/>
                    <a:p>
                      <a:pPr algn="l"/>
                      <a:r>
                        <a:rPr sz="1050" b="0" i="0">
                          <a:solidFill>
                            <a:srgbClr val="000000"/>
                          </a:solidFill>
                          <a:latin typeface="Calibri"/>
                        </a:rPr>
                        <a:t>Table 15: North America Market CAGR and Absolute $ Opportunity, %, US$ Mn, 2026–2036</a:t>
                      </a:r>
                      <a:endParaRPr sz="1050"/>
                    </a:p>
                  </a:txBody>
                  <a:tcPr marL="9525" marR="9525" marT="9525" marB="0" anchor="ctr"/>
                </a:tc>
              </a:tr>
              <a:tr h="169826">
                <a:tc>
                  <a:txBody>
                    <a:bodyPr wrap="square"/>
                    <a:lstStyle/>
                    <a:p>
                      <a:pPr algn="l"/>
                      <a:r>
                        <a:rPr sz="1050" b="0" i="0">
                          <a:solidFill>
                            <a:srgbClr val="000000"/>
                          </a:solidFill>
                          <a:latin typeface="Calibri"/>
                        </a:rPr>
                        <a:t>Table 16: North America Market Absolute $ Opportunity by Year, US$ Mn, 2026–2036</a:t>
                      </a:r>
                      <a:endParaRPr sz="1050"/>
                    </a:p>
                  </a:txBody>
                  <a:tcPr marL="9525" marR="9525" marT="9525" marB="0" anchor="ctr"/>
                </a:tc>
              </a:tr>
              <a:tr h="332858">
                <a:tc>
                  <a:txBody>
                    <a:bodyPr wrap="square"/>
                    <a:lstStyle/>
                    <a:p>
                      <a:pPr algn="l"/>
                      <a:r>
                        <a:rPr sz="1050" b="0" i="0">
                          <a:solidFill>
                            <a:srgbClr val="000000"/>
                          </a:solidFill>
                          <a:latin typeface="Calibri"/>
                        </a:rPr>
                        <a:t>Table 17: North America Market Value by Scenario (Optimistic, Likely, Pessimistic), US$ Mn, 2026–2036</a:t>
                      </a:r>
                      <a:endParaRPr sz="1050"/>
                    </a:p>
                  </a:txBody>
                  <a:tcPr marL="9525" marR="9525" marT="9525" marB="0" anchor="ctr"/>
                </a:tc>
              </a:tr>
              <a:tr h="169826">
                <a:tc>
                  <a:txBody>
                    <a:bodyPr wrap="square"/>
                    <a:lstStyle/>
                    <a:p>
                      <a:pPr algn="l"/>
                      <a:r>
                        <a:rPr sz="1050" b="0" i="0">
                          <a:solidFill>
                            <a:srgbClr val="000000"/>
                          </a:solidFill>
                          <a:latin typeface="Calibri"/>
                        </a:rPr>
                        <a:t>Table 18: North America Market Scenario CAGR Comparison, %, 2026–2036</a:t>
                      </a:r>
                      <a:endParaRPr sz="1050"/>
                    </a:p>
                  </a:txBody>
                  <a:tcPr marL="9525" marR="9525" marT="9525" marB="0" anchor="ctr"/>
                </a:tc>
              </a:tr>
              <a:tr h="169826">
                <a:tc>
                  <a:txBody>
                    <a:bodyPr wrap="square"/>
                    <a:lstStyle/>
                    <a:p>
                      <a:pPr algn="l"/>
                      <a:r>
                        <a:rPr sz="1050" b="0" i="0">
                          <a:solidFill>
                            <a:srgbClr val="000000"/>
                          </a:solidFill>
                          <a:latin typeface="Calibri"/>
                        </a:rPr>
                        <a:t>Table 19: North America Market Historical vs Forecast Growth Comparison, %, 2021–2036</a:t>
                      </a:r>
                      <a:endParaRPr sz="1050"/>
                    </a:p>
                  </a:txBody>
                  <a:tcPr marL="9525" marR="9525" marT="9525" marB="0" anchor="ctr"/>
                </a:tc>
              </a:tr>
              <a:tr h="169826">
                <a:tc>
                  <a:txBody>
                    <a:bodyPr wrap="square"/>
                    <a:lstStyle/>
                    <a:p>
                      <a:pPr algn="l"/>
                      <a:r>
                        <a:rPr sz="1050" b="0" i="0">
                          <a:solidFill>
                            <a:srgbClr val="000000"/>
                          </a:solidFill>
                          <a:latin typeface="Calibri"/>
                        </a:rPr>
                        <a:t>Table 20: North America Market Five-Year Block Value Summary, US$ Mn, 2021–2036</a:t>
                      </a:r>
                      <a:endParaRPr sz="1050"/>
                    </a:p>
                  </a:txBody>
                  <a:tcPr marL="9525" marR="9525" marT="9525" marB="0" anchor="ctr"/>
                </a:tc>
              </a:tr>
              <a:tr h="169826">
                <a:tc>
                  <a:txBody>
                    <a:bodyPr wrap="square"/>
                    <a:lstStyle/>
                    <a:p>
                      <a:pPr algn="l"/>
                      <a:r>
                        <a:rPr sz="1050" b="0" i="0">
                          <a:solidFill>
                            <a:srgbClr val="000000"/>
                          </a:solidFill>
                          <a:latin typeface="Calibri"/>
                        </a:rPr>
                        <a:t>Table 21: North America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22: North America Market Value by Flavour, US$ Mn, 2021–2036</a:t>
                      </a:r>
                      <a:endParaRPr sz="1050"/>
                    </a:p>
                  </a:txBody>
                  <a:tcPr marL="9525" marR="9525" marT="9525" marB="0" anchor="ctr"/>
                </a:tc>
              </a:tr>
              <a:tr h="169826">
                <a:tc>
                  <a:txBody>
                    <a:bodyPr wrap="square"/>
                    <a:lstStyle/>
                    <a:p>
                      <a:pPr algn="l"/>
                      <a:r>
                        <a:rPr sz="1050" b="0" i="0">
                          <a:solidFill>
                            <a:srgbClr val="000000"/>
                          </a:solidFill>
                          <a:latin typeface="Calibri"/>
                        </a:rPr>
                        <a:t>Table 23: North America Market Value by Primary Flour Base, US$ Mn, 2021–2036</a:t>
                      </a:r>
                      <a:endParaRPr sz="1050"/>
                    </a:p>
                  </a:txBody>
                  <a:tcPr marL="9525" marR="9525" marT="9525" marB="0" anchor="ctr"/>
                </a:tc>
              </a:tr>
              <a:tr h="169826">
                <a:tc>
                  <a:txBody>
                    <a:bodyPr wrap="square"/>
                    <a:lstStyle/>
                    <a:p>
                      <a:pPr algn="l"/>
                      <a:r>
                        <a:rPr sz="1050" b="0" i="0">
                          <a:solidFill>
                            <a:srgbClr val="000000"/>
                          </a:solidFill>
                          <a:latin typeface="Calibri"/>
                        </a:rPr>
                        <a:t>Table 24: North America Market Value by Dietary Formulation, US$ Mn, 2021–2036</a:t>
                      </a:r>
                      <a:endParaRPr sz="1050"/>
                    </a:p>
                  </a:txBody>
                  <a:tcPr marL="9525" marR="9525" marT="9525" marB="0" anchor="ctr"/>
                </a:tc>
              </a:tr>
              <a:tr h="169826">
                <a:tc>
                  <a:txBody>
                    <a:bodyPr wrap="square"/>
                    <a:lstStyle/>
                    <a:p>
                      <a:pPr algn="l"/>
                      <a:r>
                        <a:rPr sz="1050" b="0" i="0">
                          <a:solidFill>
                            <a:srgbClr val="000000"/>
                          </a:solidFill>
                          <a:latin typeface="Calibri"/>
                        </a:rPr>
                        <a:t>Table 25: North America Market Value by Nutritional Positioning, US$ Mn, 2021–2036</a:t>
                      </a:r>
                      <a:endParaRPr sz="1050"/>
                    </a:p>
                  </a:txBody>
                  <a:tcPr marL="9525" marR="9525" marT="9525" marB="0" anchor="ctr"/>
                </a:tc>
              </a:tr>
              <a:tr h="169826">
                <a:tc>
                  <a:txBody>
                    <a:bodyPr wrap="square"/>
                    <a:lstStyle/>
                    <a:p>
                      <a:pPr algn="l"/>
                      <a:r>
                        <a:rPr sz="1050" b="0" i="0">
                          <a:solidFill>
                            <a:srgbClr val="000000"/>
                          </a:solidFill>
                          <a:latin typeface="Calibri"/>
                        </a:rPr>
                        <a:t>Table 26: North America Market Value by Recipe and Ingredient Claims, US$ Mn, 2021–2036</a:t>
                      </a:r>
                      <a:endParaRPr sz="1050"/>
                    </a:p>
                  </a:txBody>
                  <a:tcPr marL="9525" marR="9525" marT="9525" marB="0" anchor="ctr"/>
                </a:tc>
              </a:tr>
              <a:tr h="169826">
                <a:tc>
                  <a:txBody>
                    <a:bodyPr wrap="square"/>
                    <a:lstStyle/>
                    <a:p>
                      <a:pPr algn="l"/>
                      <a:r>
                        <a:rPr sz="1050" b="0" i="0">
                          <a:solidFill>
                            <a:srgbClr val="000000"/>
                          </a:solidFill>
                          <a:latin typeface="Calibri"/>
                        </a:rPr>
                        <a:t>Table 27: North America Market Value by Product Structure, US$ Mn, 2021–2036</a:t>
                      </a:r>
                      <a:endParaRPr sz="1050"/>
                    </a:p>
                  </a:txBody>
                  <a:tcPr marL="9525" marR="9525" marT="9525" marB="0" anchor="ctr"/>
                </a:tc>
              </a:tr>
              <a:tr h="169826">
                <a:tc>
                  <a:txBody>
                    <a:bodyPr wrap="square"/>
                    <a:lstStyle/>
                    <a:p>
                      <a:pPr algn="l"/>
                      <a:r>
                        <a:rPr sz="1050" b="0" i="0">
                          <a:solidFill>
                            <a:srgbClr val="000000"/>
                          </a:solidFill>
                          <a:latin typeface="Calibri"/>
                        </a:rPr>
                        <a:t>Table 28: North America Market Value by Surface Finish, US$ Mn, 2021–2036</a:t>
                      </a:r>
                      <a:endParaRPr sz="1050"/>
                    </a:p>
                  </a:txBody>
                  <a:tcPr marL="9525" marR="9525" marT="9525" marB="0" anchor="ctr"/>
                </a:tc>
              </a:tr>
              <a:tr h="169826">
                <a:tc>
                  <a:txBody>
                    <a:bodyPr wrap="square"/>
                    <a:lstStyle/>
                    <a:p>
                      <a:pPr algn="l"/>
                      <a:r>
                        <a:rPr sz="1050" b="0" i="0">
                          <a:solidFill>
                            <a:srgbClr val="000000"/>
                          </a:solidFill>
                          <a:latin typeface="Calibri"/>
                        </a:rPr>
                        <a:t>Table 29: North America Market Value by Individual Muffin Size, US$ Mn, 2021–2036</a:t>
                      </a:r>
                      <a:endParaRPr sz="1050"/>
                    </a:p>
                  </a:txBody>
                  <a:tcPr marL="9525" marR="9525" marT="9525" marB="0" anchor="ctr"/>
                </a:tc>
              </a:tr>
              <a:tr h="169826">
                <a:tc>
                  <a:txBody>
                    <a:bodyPr wrap="square"/>
                    <a:lstStyle/>
                    <a:p>
                      <a:pPr algn="l"/>
                      <a:r>
                        <a:rPr sz="1050" b="0" i="0">
                          <a:solidFill>
                            <a:srgbClr val="000000"/>
                          </a:solidFill>
                          <a:latin typeface="Calibri"/>
                        </a:rPr>
                        <a:t>Table 30: North America Market Value by Storage Format,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2"/>
        </p:xfrm>
        <a:graphic>
          <a:graphicData uri="http://schemas.openxmlformats.org/drawingml/2006/table">
            <a:tbl>
              <a:tblPr>
                <a:tableStyleId>{3B4B98B0-60AC-42C2-AFA5-B58CD77FA1E5}</a:tableStyleId>
              </a:tblPr>
              <a:tblGrid>
                <a:gridCol w="5876925"/>
              </a:tblGrid>
              <a:tr h="166808">
                <a:tc>
                  <a:txBody>
                    <a:bodyPr wrap="square"/>
                    <a:lstStyle/>
                    <a:p>
                      <a:pPr algn="l"/>
                      <a:r>
                        <a:rPr sz="1050" b="0" i="0">
                          <a:solidFill>
                            <a:srgbClr val="000000"/>
                          </a:solidFill>
                          <a:latin typeface="Calibri"/>
                        </a:rPr>
                        <a:t>Table 31: North America Market Value by Shelf Life, US$ Mn, 2021–2036</a:t>
                      </a:r>
                      <a:endParaRPr sz="1050"/>
                    </a:p>
                  </a:txBody>
                  <a:tcPr marL="9525" marR="9525" marT="9525" marB="0" anchor="ctr"/>
                </a:tc>
              </a:tr>
              <a:tr h="166808">
                <a:tc>
                  <a:txBody>
                    <a:bodyPr wrap="square"/>
                    <a:lstStyle/>
                    <a:p>
                      <a:pPr algn="l"/>
                      <a:r>
                        <a:rPr sz="1050" b="0" i="0">
                          <a:solidFill>
                            <a:srgbClr val="000000"/>
                          </a:solidFill>
                          <a:latin typeface="Calibri"/>
                        </a:rPr>
                        <a:t>Table 32: North America Market Value by Packaging Format, US$ Mn, 2021–2036</a:t>
                      </a:r>
                      <a:endParaRPr sz="1050"/>
                    </a:p>
                  </a:txBody>
                  <a:tcPr marL="9525" marR="9525" marT="9525" marB="0" anchor="ctr"/>
                </a:tc>
              </a:tr>
              <a:tr h="166808">
                <a:tc>
                  <a:txBody>
                    <a:bodyPr wrap="square"/>
                    <a:lstStyle/>
                    <a:p>
                      <a:pPr algn="l"/>
                      <a:r>
                        <a:rPr sz="1050" b="0" i="0">
                          <a:solidFill>
                            <a:srgbClr val="000000"/>
                          </a:solidFill>
                          <a:latin typeface="Calibri"/>
                        </a:rPr>
                        <a:t>Table 33: North America Market Value by Pack Configuration, US$ Mn, 2021–2036</a:t>
                      </a:r>
                      <a:endParaRPr sz="1050"/>
                    </a:p>
                  </a:txBody>
                  <a:tcPr marL="9525" marR="9525" marT="9525" marB="0" anchor="ctr"/>
                </a:tc>
              </a:tr>
              <a:tr h="166808">
                <a:tc>
                  <a:txBody>
                    <a:bodyPr wrap="square"/>
                    <a:lstStyle/>
                    <a:p>
                      <a:pPr algn="l"/>
                      <a:r>
                        <a:rPr sz="1050" b="0" i="0">
                          <a:solidFill>
                            <a:srgbClr val="000000"/>
                          </a:solidFill>
                          <a:latin typeface="Calibri"/>
                        </a:rPr>
                        <a:t>Table 34: North America Market Value by Multipack Wrapping, US$ Mn, 2021–2036</a:t>
                      </a:r>
                      <a:endParaRPr sz="1050"/>
                    </a:p>
                  </a:txBody>
                  <a:tcPr marL="9525" marR="9525" marT="9525" marB="0" anchor="ctr"/>
                </a:tc>
              </a:tr>
              <a:tr h="166808">
                <a:tc>
                  <a:txBody>
                    <a:bodyPr wrap="square"/>
                    <a:lstStyle/>
                    <a:p>
                      <a:pPr algn="l"/>
                      <a:r>
                        <a:rPr sz="1050" b="0" i="0">
                          <a:solidFill>
                            <a:srgbClr val="000000"/>
                          </a:solidFill>
                          <a:latin typeface="Calibri"/>
                        </a:rPr>
                        <a:t>Table 35: North America Market Value by Price Positioning, US$ Mn, 2021–2036</a:t>
                      </a:r>
                      <a:endParaRPr sz="1050"/>
                    </a:p>
                  </a:txBody>
                  <a:tcPr marL="9525" marR="9525" marT="9525" marB="0" anchor="ctr"/>
                </a:tc>
              </a:tr>
              <a:tr h="166808">
                <a:tc>
                  <a:txBody>
                    <a:bodyPr wrap="square"/>
                    <a:lstStyle/>
                    <a:p>
                      <a:pPr algn="l"/>
                      <a:r>
                        <a:rPr sz="1050" b="0" i="0">
                          <a:solidFill>
                            <a:srgbClr val="000000"/>
                          </a:solidFill>
                          <a:latin typeface="Calibri"/>
                        </a:rPr>
                        <a:t>Table 36: North America Market Value by Brand Ownership, US$ Mn, 2021–2036</a:t>
                      </a:r>
                      <a:endParaRPr sz="1050"/>
                    </a:p>
                  </a:txBody>
                  <a:tcPr marL="9525" marR="9525" marT="9525" marB="0" anchor="ctr"/>
                </a:tc>
              </a:tr>
              <a:tr h="166808">
                <a:tc>
                  <a:txBody>
                    <a:bodyPr wrap="square"/>
                    <a:lstStyle/>
                    <a:p>
                      <a:pPr algn="l"/>
                      <a:r>
                        <a:rPr sz="1050" b="0" i="0">
                          <a:solidFill>
                            <a:srgbClr val="000000"/>
                          </a:solidFill>
                          <a:latin typeface="Calibri"/>
                        </a:rPr>
                        <a:t>Table 37: North America Market Value by Sales Channel, US$ Mn, 2021–2036</a:t>
                      </a:r>
                      <a:endParaRPr sz="1050"/>
                    </a:p>
                  </a:txBody>
                  <a:tcPr marL="9525" marR="9525" marT="9525" marB="0" anchor="ctr"/>
                </a:tc>
              </a:tr>
              <a:tr h="326944">
                <a:tc>
                  <a:txBody>
                    <a:bodyPr wrap="square"/>
                    <a:lstStyle/>
                    <a:p>
                      <a:pPr algn="l"/>
                      <a:r>
                        <a:rPr sz="1050" b="0" i="0">
                          <a:solidFill>
                            <a:srgbClr val="000000"/>
                          </a:solidFill>
                          <a:latin typeface="Calibri"/>
                        </a:rPr>
                        <a:t>Table 38: North America Market CAGR and Absolute $ Opportunity by Product Type, %, US$ Mn, 2026–2036</a:t>
                      </a:r>
                      <a:endParaRPr sz="1050"/>
                    </a:p>
                  </a:txBody>
                  <a:tcPr marL="9525" marR="9525" marT="9525" marB="0" anchor="ctr"/>
                </a:tc>
              </a:tr>
              <a:tr h="166808">
                <a:tc>
                  <a:txBody>
                    <a:bodyPr wrap="square"/>
                    <a:lstStyle/>
                    <a:p>
                      <a:pPr algn="l"/>
                      <a:r>
                        <a:rPr sz="1050" b="0" i="0">
                          <a:solidFill>
                            <a:srgbClr val="000000"/>
                          </a:solidFill>
                          <a:latin typeface="Calibri"/>
                        </a:rPr>
                        <a:t>Table 39: North America Market CAGR and Absolute $ Opportunity by Flavour, %, US$ Mn, 2026–2036</a:t>
                      </a:r>
                      <a:endParaRPr sz="1050"/>
                    </a:p>
                  </a:txBody>
                  <a:tcPr marL="9525" marR="9525" marT="9525" marB="0" anchor="ctr"/>
                </a:tc>
              </a:tr>
              <a:tr h="326944">
                <a:tc>
                  <a:txBody>
                    <a:bodyPr wrap="square"/>
                    <a:lstStyle/>
                    <a:p>
                      <a:pPr algn="l"/>
                      <a:r>
                        <a:rPr sz="1050" b="0" i="0">
                          <a:solidFill>
                            <a:srgbClr val="000000"/>
                          </a:solidFill>
                          <a:latin typeface="Calibri"/>
                        </a:rPr>
                        <a:t>Table 40: North America Market CAGR and Absolute $ Opportunity by Primary Flour Base, %, US$ Mn, 2026–2036</a:t>
                      </a:r>
                      <a:endParaRPr sz="1050"/>
                    </a:p>
                  </a:txBody>
                  <a:tcPr marL="9525" marR="9525" marT="9525" marB="0" anchor="ctr"/>
                </a:tc>
              </a:tr>
              <a:tr h="326944">
                <a:tc>
                  <a:txBody>
                    <a:bodyPr wrap="square"/>
                    <a:lstStyle/>
                    <a:p>
                      <a:pPr algn="l"/>
                      <a:r>
                        <a:rPr sz="1050" b="0" i="0">
                          <a:solidFill>
                            <a:srgbClr val="000000"/>
                          </a:solidFill>
                          <a:latin typeface="Calibri"/>
                        </a:rPr>
                        <a:t>Table 41: North America Market CAGR and Absolute $ Opportunity by Dietary Formulation, %, US$ Mn, 2026–2036</a:t>
                      </a:r>
                      <a:endParaRPr sz="1050"/>
                    </a:p>
                  </a:txBody>
                  <a:tcPr marL="9525" marR="9525" marT="9525" marB="0" anchor="ctr"/>
                </a:tc>
              </a:tr>
              <a:tr h="326944">
                <a:tc>
                  <a:txBody>
                    <a:bodyPr wrap="square"/>
                    <a:lstStyle/>
                    <a:p>
                      <a:pPr algn="l"/>
                      <a:r>
                        <a:rPr sz="1050" b="0" i="0">
                          <a:solidFill>
                            <a:srgbClr val="000000"/>
                          </a:solidFill>
                          <a:latin typeface="Calibri"/>
                        </a:rPr>
                        <a:t>Table 42: North America Market CAGR and Absolute $ Opportunity by Nutritional Positioning, %, US$ Mn, 2026–2036</a:t>
                      </a:r>
                      <a:endParaRPr sz="1050"/>
                    </a:p>
                  </a:txBody>
                  <a:tcPr marL="9525" marR="9525" marT="9525" marB="0" anchor="ctr"/>
                </a:tc>
              </a:tr>
              <a:tr h="326944">
                <a:tc>
                  <a:txBody>
                    <a:bodyPr wrap="square"/>
                    <a:lstStyle/>
                    <a:p>
                      <a:pPr algn="l"/>
                      <a:r>
                        <a:rPr sz="1050" b="0" i="0">
                          <a:solidFill>
                            <a:srgbClr val="000000"/>
                          </a:solidFill>
                          <a:latin typeface="Calibri"/>
                        </a:rPr>
                        <a:t>Table 43: North America Market CAGR and Absolute $ Opportunity by Recipe and Ingredient Claims, %, US$ Mn, 2026–2036</a:t>
                      </a:r>
                      <a:endParaRPr sz="1050"/>
                    </a:p>
                  </a:txBody>
                  <a:tcPr marL="9525" marR="9525" marT="9525" marB="0" anchor="ctr"/>
                </a:tc>
              </a:tr>
              <a:tr h="326944">
                <a:tc>
                  <a:txBody>
                    <a:bodyPr wrap="square"/>
                    <a:lstStyle/>
                    <a:p>
                      <a:pPr algn="l"/>
                      <a:r>
                        <a:rPr sz="1050" b="0" i="0">
                          <a:solidFill>
                            <a:srgbClr val="000000"/>
                          </a:solidFill>
                          <a:latin typeface="Calibri"/>
                        </a:rPr>
                        <a:t>Table 44: North America Market CAGR and Absolute $ Opportunity by Product Structure, %, US$ Mn, 2026–2036</a:t>
                      </a:r>
                      <a:endParaRPr sz="1050"/>
                    </a:p>
                  </a:txBody>
                  <a:tcPr marL="9525" marR="9525" marT="9525" marB="0" anchor="ctr"/>
                </a:tc>
              </a:tr>
              <a:tr h="326944">
                <a:tc>
                  <a:txBody>
                    <a:bodyPr wrap="square"/>
                    <a:lstStyle/>
                    <a:p>
                      <a:pPr algn="l"/>
                      <a:r>
                        <a:rPr sz="1050" b="0" i="0">
                          <a:solidFill>
                            <a:srgbClr val="000000"/>
                          </a:solidFill>
                          <a:latin typeface="Calibri"/>
                        </a:rPr>
                        <a:t>Table 45: North America Market CAGR and Absolute $ Opportunity by Surface Finish, %, US$ Mn, 2026–2036</a:t>
                      </a:r>
                      <a:endParaRPr sz="1050"/>
                    </a:p>
                  </a:txBody>
                  <a:tcPr marL="9525" marR="9525" marT="9525" marB="0" anchor="ctr"/>
                </a:tc>
              </a:tr>
              <a:tr h="326944">
                <a:tc>
                  <a:txBody>
                    <a:bodyPr wrap="square"/>
                    <a:lstStyle/>
                    <a:p>
                      <a:pPr algn="l"/>
                      <a:r>
                        <a:rPr sz="1050" b="0" i="0">
                          <a:solidFill>
                            <a:srgbClr val="000000"/>
                          </a:solidFill>
                          <a:latin typeface="Calibri"/>
                        </a:rPr>
                        <a:t>Table 46: North America Market CAGR and Absolute $ Opportunity by Individual Muffin Size, %, US$ Mn, 2026–2036</a:t>
                      </a:r>
                      <a:endParaRPr sz="1050"/>
                    </a:p>
                  </a:txBody>
                  <a:tcPr marL="9525" marR="9525" marT="9525" marB="0" anchor="ctr"/>
                </a:tc>
              </a:tr>
              <a:tr h="326944">
                <a:tc>
                  <a:txBody>
                    <a:bodyPr wrap="square"/>
                    <a:lstStyle/>
                    <a:p>
                      <a:pPr algn="l"/>
                      <a:r>
                        <a:rPr sz="1050" b="0" i="0">
                          <a:solidFill>
                            <a:srgbClr val="000000"/>
                          </a:solidFill>
                          <a:latin typeface="Calibri"/>
                        </a:rPr>
                        <a:t>Table 47: North America Market CAGR and Absolute $ Opportunity by Storage Format, %, US$ Mn, 2026–2036</a:t>
                      </a:r>
                      <a:endParaRPr sz="1050"/>
                    </a:p>
                  </a:txBody>
                  <a:tcPr marL="9525" marR="9525" marT="9525" marB="0" anchor="ctr"/>
                </a:tc>
              </a:tr>
              <a:tr h="326944">
                <a:tc>
                  <a:txBody>
                    <a:bodyPr wrap="square"/>
                    <a:lstStyle/>
                    <a:p>
                      <a:pPr algn="l"/>
                      <a:r>
                        <a:rPr sz="1050" b="0" i="0">
                          <a:solidFill>
                            <a:srgbClr val="000000"/>
                          </a:solidFill>
                          <a:latin typeface="Calibri"/>
                        </a:rPr>
                        <a:t>Table 48: North America Market CAGR and Absolute $ Opportunity by Shelf Life, %, US$ Mn, 2026–2036</a:t>
                      </a:r>
                      <a:endParaRPr sz="1050"/>
                    </a:p>
                  </a:txBody>
                  <a:tcPr marL="9525" marR="9525" marT="9525" marB="0" anchor="ctr"/>
                </a:tc>
              </a:tr>
              <a:tr h="326944">
                <a:tc>
                  <a:txBody>
                    <a:bodyPr wrap="square"/>
                    <a:lstStyle/>
                    <a:p>
                      <a:pPr algn="l"/>
                      <a:r>
                        <a:rPr sz="1050" b="0" i="0">
                          <a:solidFill>
                            <a:srgbClr val="000000"/>
                          </a:solidFill>
                          <a:latin typeface="Calibri"/>
                        </a:rPr>
                        <a:t>Table 49: North America Market CAGR and Absolute $ Opportunity by Packaging Format, %, US$ Mn, 2026–2036</a:t>
                      </a:r>
                      <a:endParaRPr sz="1050"/>
                    </a:p>
                  </a:txBody>
                  <a:tcPr marL="9525" marR="9525" marT="9525" marB="0" anchor="ctr"/>
                </a:tc>
              </a:tr>
              <a:tr h="326944">
                <a:tc>
                  <a:txBody>
                    <a:bodyPr wrap="square"/>
                    <a:lstStyle/>
                    <a:p>
                      <a:pPr algn="l"/>
                      <a:r>
                        <a:rPr sz="1050" b="0" i="0">
                          <a:solidFill>
                            <a:srgbClr val="000000"/>
                          </a:solidFill>
                          <a:latin typeface="Calibri"/>
                        </a:rPr>
                        <a:t>Table 50: North America Market CAGR and Absolute $ Opportunity by Pack Configuration,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336334">
                <a:tc>
                  <a:txBody>
                    <a:bodyPr wrap="square"/>
                    <a:lstStyle/>
                    <a:p>
                      <a:pPr algn="l"/>
                      <a:r>
                        <a:rPr sz="1050" b="0" i="0">
                          <a:solidFill>
                            <a:srgbClr val="000000"/>
                          </a:solidFill>
                          <a:latin typeface="Calibri"/>
                        </a:rPr>
                        <a:t>Table 51: North America Market CAGR and Absolute $ Opportunity by Multipack Wrapping, %, US$ Mn, 2026–2036</a:t>
                      </a:r>
                      <a:endParaRPr sz="1050"/>
                    </a:p>
                  </a:txBody>
                  <a:tcPr marL="9525" marR="9525" marT="9525" marB="0" anchor="ctr"/>
                </a:tc>
              </a:tr>
              <a:tr h="336334">
                <a:tc>
                  <a:txBody>
                    <a:bodyPr wrap="square"/>
                    <a:lstStyle/>
                    <a:p>
                      <a:pPr algn="l"/>
                      <a:r>
                        <a:rPr sz="1050" b="0" i="0">
                          <a:solidFill>
                            <a:srgbClr val="000000"/>
                          </a:solidFill>
                          <a:latin typeface="Calibri"/>
                        </a:rPr>
                        <a:t>Table 52: North America Market CAGR and Absolute $ Opportunity by Price Positioning, %, US$ Mn, 2026–2036</a:t>
                      </a:r>
                      <a:endParaRPr sz="1050"/>
                    </a:p>
                  </a:txBody>
                  <a:tcPr marL="9525" marR="9525" marT="9525" marB="0" anchor="ctr"/>
                </a:tc>
              </a:tr>
              <a:tr h="336334">
                <a:tc>
                  <a:txBody>
                    <a:bodyPr wrap="square"/>
                    <a:lstStyle/>
                    <a:p>
                      <a:pPr algn="l"/>
                      <a:r>
                        <a:rPr sz="1050" b="0" i="0">
                          <a:solidFill>
                            <a:srgbClr val="000000"/>
                          </a:solidFill>
                          <a:latin typeface="Calibri"/>
                        </a:rPr>
                        <a:t>Table 53: North America Market CAGR and Absolute $ Opportunity by Brand Ownership, %, US$ Mn, 2026–2036</a:t>
                      </a:r>
                      <a:endParaRPr sz="1050"/>
                    </a:p>
                  </a:txBody>
                  <a:tcPr marL="9525" marR="9525" marT="9525" marB="0" anchor="ctr"/>
                </a:tc>
              </a:tr>
              <a:tr h="336334">
                <a:tc>
                  <a:txBody>
                    <a:bodyPr wrap="square"/>
                    <a:lstStyle/>
                    <a:p>
                      <a:pPr algn="l"/>
                      <a:r>
                        <a:rPr sz="1050" b="0" i="0">
                          <a:solidFill>
                            <a:srgbClr val="000000"/>
                          </a:solidFill>
                          <a:latin typeface="Calibri"/>
                        </a:rPr>
                        <a:t>Table 54: North America Market CAGR and Absolute $ Opportunity by Sales Channel, %, US$ Mn, 2026–2036</a:t>
                      </a:r>
                      <a:endParaRPr sz="1050"/>
                    </a:p>
                  </a:txBody>
                  <a:tcPr marL="9525" marR="9525" marT="9525" marB="0" anchor="ctr"/>
                </a:tc>
              </a:tr>
              <a:tr h="171599">
                <a:tc>
                  <a:txBody>
                    <a:bodyPr wrap="square"/>
                    <a:lstStyle/>
                    <a:p>
                      <a:pPr algn="l"/>
                      <a:r>
                        <a:rPr sz="1050" b="0" i="0">
                          <a:solidFill>
                            <a:srgbClr val="000000"/>
                          </a:solidFill>
                          <a:latin typeface="Calibri"/>
                        </a:rPr>
                        <a:t>Table 55: North America Market Share and BPS Change by Product Type, %, 2025, 2026 and 2036</a:t>
                      </a:r>
                      <a:endParaRPr sz="1050"/>
                    </a:p>
                  </a:txBody>
                  <a:tcPr marL="9525" marR="9525" marT="9525" marB="0" anchor="ctr"/>
                </a:tc>
              </a:tr>
              <a:tr h="171599">
                <a:tc>
                  <a:txBody>
                    <a:bodyPr wrap="square"/>
                    <a:lstStyle/>
                    <a:p>
                      <a:pPr algn="l"/>
                      <a:r>
                        <a:rPr sz="1050" b="0" i="0">
                          <a:solidFill>
                            <a:srgbClr val="000000"/>
                          </a:solidFill>
                          <a:latin typeface="Calibri"/>
                        </a:rPr>
                        <a:t>Table 56: North America Market Share and BPS Change by Flavour, %, 2025, 2026 and 2036</a:t>
                      </a:r>
                      <a:endParaRPr sz="1050"/>
                    </a:p>
                  </a:txBody>
                  <a:tcPr marL="9525" marR="9525" marT="9525" marB="0" anchor="ctr"/>
                </a:tc>
              </a:tr>
              <a:tr h="171599">
                <a:tc>
                  <a:txBody>
                    <a:bodyPr wrap="square"/>
                    <a:lstStyle/>
                    <a:p>
                      <a:pPr algn="l"/>
                      <a:r>
                        <a:rPr sz="1050" b="0" i="0">
                          <a:solidFill>
                            <a:srgbClr val="000000"/>
                          </a:solidFill>
                          <a:latin typeface="Calibri"/>
                        </a:rPr>
                        <a:t>Table 57: North America Market Share and BPS Change by Primary Flour Base, %, 2025, 2026 and 2036</a:t>
                      </a:r>
                      <a:endParaRPr sz="1050"/>
                    </a:p>
                  </a:txBody>
                  <a:tcPr marL="9525" marR="9525" marT="9525" marB="0" anchor="ctr"/>
                </a:tc>
              </a:tr>
              <a:tr h="336334">
                <a:tc>
                  <a:txBody>
                    <a:bodyPr wrap="square"/>
                    <a:lstStyle/>
                    <a:p>
                      <a:pPr algn="l"/>
                      <a:r>
                        <a:rPr sz="1050" b="0" i="0">
                          <a:solidFill>
                            <a:srgbClr val="000000"/>
                          </a:solidFill>
                          <a:latin typeface="Calibri"/>
                        </a:rPr>
                        <a:t>Table 58: North America Market Share and BPS Change by Dietary Formulation, %, 2025, 2026 and 2036</a:t>
                      </a:r>
                      <a:endParaRPr sz="1050"/>
                    </a:p>
                  </a:txBody>
                  <a:tcPr marL="9525" marR="9525" marT="9525" marB="0" anchor="ctr"/>
                </a:tc>
              </a:tr>
              <a:tr h="336334">
                <a:tc>
                  <a:txBody>
                    <a:bodyPr wrap="square"/>
                    <a:lstStyle/>
                    <a:p>
                      <a:pPr algn="l"/>
                      <a:r>
                        <a:rPr sz="1050" b="0" i="0">
                          <a:solidFill>
                            <a:srgbClr val="000000"/>
                          </a:solidFill>
                          <a:latin typeface="Calibri"/>
                        </a:rPr>
                        <a:t>Table 59: North America Market Share and BPS Change by Nutritional Positioning, %, 2025, 2026 and 2036</a:t>
                      </a:r>
                      <a:endParaRPr sz="1050"/>
                    </a:p>
                  </a:txBody>
                  <a:tcPr marL="9525" marR="9525" marT="9525" marB="0" anchor="ctr"/>
                </a:tc>
              </a:tr>
              <a:tr h="336334">
                <a:tc>
                  <a:txBody>
                    <a:bodyPr wrap="square"/>
                    <a:lstStyle/>
                    <a:p>
                      <a:pPr algn="l"/>
                      <a:r>
                        <a:rPr sz="1050" b="0" i="0">
                          <a:solidFill>
                            <a:srgbClr val="000000"/>
                          </a:solidFill>
                          <a:latin typeface="Calibri"/>
                        </a:rPr>
                        <a:t>Table 60: North America Market Share and BPS Change by Recipe and Ingredient Claims, %, 2025, 2026 and 2036</a:t>
                      </a:r>
                      <a:endParaRPr sz="1050"/>
                    </a:p>
                  </a:txBody>
                  <a:tcPr marL="9525" marR="9525" marT="9525" marB="0" anchor="ctr"/>
                </a:tc>
              </a:tr>
              <a:tr h="171599">
                <a:tc>
                  <a:txBody>
                    <a:bodyPr wrap="square"/>
                    <a:lstStyle/>
                    <a:p>
                      <a:pPr algn="l"/>
                      <a:r>
                        <a:rPr sz="1050" b="0" i="0">
                          <a:solidFill>
                            <a:srgbClr val="000000"/>
                          </a:solidFill>
                          <a:latin typeface="Calibri"/>
                        </a:rPr>
                        <a:t>Table 61: North America Market Share and BPS Change by Product Structure, %, 2025, 2026 and 2036</a:t>
                      </a:r>
                      <a:endParaRPr sz="1050"/>
                    </a:p>
                  </a:txBody>
                  <a:tcPr marL="9525" marR="9525" marT="9525" marB="0" anchor="ctr"/>
                </a:tc>
              </a:tr>
              <a:tr h="171599">
                <a:tc>
                  <a:txBody>
                    <a:bodyPr wrap="square"/>
                    <a:lstStyle/>
                    <a:p>
                      <a:pPr algn="l"/>
                      <a:r>
                        <a:rPr sz="1050" b="0" i="0">
                          <a:solidFill>
                            <a:srgbClr val="000000"/>
                          </a:solidFill>
                          <a:latin typeface="Calibri"/>
                        </a:rPr>
                        <a:t>Table 62: North America Market Share and BPS Change by Surface Finish, %, 2025, 2026 and 2036</a:t>
                      </a:r>
                      <a:endParaRPr sz="1050"/>
                    </a:p>
                  </a:txBody>
                  <a:tcPr marL="9525" marR="9525" marT="9525" marB="0" anchor="ctr"/>
                </a:tc>
              </a:tr>
              <a:tr h="336334">
                <a:tc>
                  <a:txBody>
                    <a:bodyPr wrap="square"/>
                    <a:lstStyle/>
                    <a:p>
                      <a:pPr algn="l"/>
                      <a:r>
                        <a:rPr sz="1050" b="0" i="0">
                          <a:solidFill>
                            <a:srgbClr val="000000"/>
                          </a:solidFill>
                          <a:latin typeface="Calibri"/>
                        </a:rPr>
                        <a:t>Table 63: North America Market Share and BPS Change by Individual Muffin Size, %, 2025, 2026 and 2036</a:t>
                      </a:r>
                      <a:endParaRPr sz="1050"/>
                    </a:p>
                  </a:txBody>
                  <a:tcPr marL="9525" marR="9525" marT="9525" marB="0" anchor="ctr"/>
                </a:tc>
              </a:tr>
              <a:tr h="171599">
                <a:tc>
                  <a:txBody>
                    <a:bodyPr wrap="square"/>
                    <a:lstStyle/>
                    <a:p>
                      <a:pPr algn="l"/>
                      <a:r>
                        <a:rPr sz="1050" b="0" i="0">
                          <a:solidFill>
                            <a:srgbClr val="000000"/>
                          </a:solidFill>
                          <a:latin typeface="Calibri"/>
                        </a:rPr>
                        <a:t>Table 64: North America Market Share and BPS Change by Storage Format, %, 2025, 2026 and 2036</a:t>
                      </a:r>
                      <a:endParaRPr sz="1050"/>
                    </a:p>
                  </a:txBody>
                  <a:tcPr marL="9525" marR="9525" marT="9525" marB="0" anchor="ctr"/>
                </a:tc>
              </a:tr>
              <a:tr h="171599">
                <a:tc>
                  <a:txBody>
                    <a:bodyPr wrap="square"/>
                    <a:lstStyle/>
                    <a:p>
                      <a:pPr algn="l"/>
                      <a:r>
                        <a:rPr sz="1050" b="0" i="0">
                          <a:solidFill>
                            <a:srgbClr val="000000"/>
                          </a:solidFill>
                          <a:latin typeface="Calibri"/>
                        </a:rPr>
                        <a:t>Table 65: North America Market Share and BPS Change by Shelf Life, %, 2025, 2026 and 2036</a:t>
                      </a:r>
                      <a:endParaRPr sz="1050"/>
                    </a:p>
                  </a:txBody>
                  <a:tcPr marL="9525" marR="9525" marT="9525" marB="0" anchor="ctr"/>
                </a:tc>
              </a:tr>
              <a:tr h="171599">
                <a:tc>
                  <a:txBody>
                    <a:bodyPr wrap="square"/>
                    <a:lstStyle/>
                    <a:p>
                      <a:pPr algn="l"/>
                      <a:r>
                        <a:rPr sz="1050" b="0" i="0">
                          <a:solidFill>
                            <a:srgbClr val="000000"/>
                          </a:solidFill>
                          <a:latin typeface="Calibri"/>
                        </a:rPr>
                        <a:t>Table 66: North America Market Share and BPS Change by Packaging Format, %, 2025, 2026 and 2036</a:t>
                      </a:r>
                      <a:endParaRPr sz="1050"/>
                    </a:p>
                  </a:txBody>
                  <a:tcPr marL="9525" marR="9525" marT="9525" marB="0" anchor="ctr"/>
                </a:tc>
              </a:tr>
              <a:tr h="171599">
                <a:tc>
                  <a:txBody>
                    <a:bodyPr wrap="square"/>
                    <a:lstStyle/>
                    <a:p>
                      <a:pPr algn="l"/>
                      <a:r>
                        <a:rPr sz="1050" b="0" i="0">
                          <a:solidFill>
                            <a:srgbClr val="000000"/>
                          </a:solidFill>
                          <a:latin typeface="Calibri"/>
                        </a:rPr>
                        <a:t>Table 67: North America Market Share and BPS Change by Pack Configuration, %, 2025, 2026 and 2036</a:t>
                      </a:r>
                      <a:endParaRPr sz="1050"/>
                    </a:p>
                  </a:txBody>
                  <a:tcPr marL="9525" marR="9525" marT="9525" marB="0" anchor="ctr"/>
                </a:tc>
              </a:tr>
              <a:tr h="336334">
                <a:tc>
                  <a:txBody>
                    <a:bodyPr wrap="square"/>
                    <a:lstStyle/>
                    <a:p>
                      <a:pPr algn="l"/>
                      <a:r>
                        <a:rPr sz="1050" b="0" i="0">
                          <a:solidFill>
                            <a:srgbClr val="000000"/>
                          </a:solidFill>
                          <a:latin typeface="Calibri"/>
                        </a:rPr>
                        <a:t>Table 68: North America Market Share and BPS Change by Multipack Wrapping, %, 2025, 2026 and 2036</a:t>
                      </a:r>
                      <a:endParaRPr sz="1050"/>
                    </a:p>
                  </a:txBody>
                  <a:tcPr marL="9525" marR="9525" marT="9525" marB="0" anchor="ctr"/>
                </a:tc>
              </a:tr>
              <a:tr h="171599">
                <a:tc>
                  <a:txBody>
                    <a:bodyPr wrap="square"/>
                    <a:lstStyle/>
                    <a:p>
                      <a:pPr algn="l"/>
                      <a:r>
                        <a:rPr sz="1050" b="0" i="0">
                          <a:solidFill>
                            <a:srgbClr val="000000"/>
                          </a:solidFill>
                          <a:latin typeface="Calibri"/>
                        </a:rPr>
                        <a:t>Table 69: North America Market Share and BPS Change by Price Positioning, %, 2025, 2026 and 2036</a:t>
                      </a:r>
                      <a:endParaRPr sz="1050"/>
                    </a:p>
                  </a:txBody>
                  <a:tcPr marL="9525" marR="9525" marT="9525" marB="0" anchor="ctr"/>
                </a:tc>
              </a:tr>
              <a:tr h="171599">
                <a:tc>
                  <a:txBody>
                    <a:bodyPr wrap="square"/>
                    <a:lstStyle/>
                    <a:p>
                      <a:pPr algn="l"/>
                      <a:r>
                        <a:rPr sz="1050" b="0" i="0">
                          <a:solidFill>
                            <a:srgbClr val="000000"/>
                          </a:solidFill>
                          <a:latin typeface="Calibri"/>
                        </a:rPr>
                        <a:t>Table 70: North America Market Share and BPS Change by Brand Ownership, %, 2025, 2026 and 2036</a:t>
                      </a:r>
                      <a:endParaRPr sz="1050"/>
                    </a:p>
                  </a:txBody>
                  <a:tcPr marL="9525" marR="9525" marT="9525" marB="0" anchor="ctr"/>
                </a:tc>
              </a:tr>
              <a:tr h="171599">
                <a:tc>
                  <a:txBody>
                    <a:bodyPr wrap="square"/>
                    <a:lstStyle/>
                    <a:p>
                      <a:pPr algn="l"/>
                      <a:r>
                        <a:rPr sz="1050" b="0" i="0">
                          <a:solidFill>
                            <a:srgbClr val="000000"/>
                          </a:solidFill>
                          <a:latin typeface="Calibri"/>
                        </a:rPr>
                        <a:t>Table 71: North America Market Share and BPS Change by Sales Channel, %, 2025, 2026 and 2036</a:t>
                      </a:r>
                      <a:endParaRPr sz="1050"/>
                    </a:p>
                  </a:txBody>
                  <a:tcPr marL="9525" marR="9525" marT="9525" marB="0" anchor="ctr"/>
                </a:tc>
              </a:tr>
              <a:tr h="171599">
                <a:tc>
                  <a:txBody>
                    <a:bodyPr wrap="square"/>
                    <a:lstStyle/>
                    <a:p>
                      <a:pPr algn="l"/>
                      <a:r>
                        <a:rPr sz="1050" b="0" i="0">
                          <a:solidFill>
                            <a:srgbClr val="000000"/>
                          </a:solidFill>
                          <a:latin typeface="Calibri"/>
                        </a:rPr>
                        <a:t>Table 72: North America Market YoY Growth by Product Type, %,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73: North America Market YoY Growth by Flavour, %, 2026–2036</a:t>
                      </a:r>
                      <a:endParaRPr sz="1050"/>
                    </a:p>
                  </a:txBody>
                  <a:tcPr marL="9525" marR="9525" marT="9525" marB="0" anchor="ctr"/>
                </a:tc>
              </a:tr>
              <a:tr h="169606">
                <a:tc>
                  <a:txBody>
                    <a:bodyPr wrap="square"/>
                    <a:lstStyle/>
                    <a:p>
                      <a:pPr algn="l"/>
                      <a:r>
                        <a:rPr sz="1050" b="0" i="0">
                          <a:solidFill>
                            <a:srgbClr val="000000"/>
                          </a:solidFill>
                          <a:latin typeface="Calibri"/>
                        </a:rPr>
                        <a:t>Table 74: North America Market YoY Growth by Primary Flour Base, %, 2026–2036</a:t>
                      </a:r>
                      <a:endParaRPr sz="1050"/>
                    </a:p>
                  </a:txBody>
                  <a:tcPr marL="9525" marR="9525" marT="9525" marB="0" anchor="ctr"/>
                </a:tc>
              </a:tr>
              <a:tr h="169606">
                <a:tc>
                  <a:txBody>
                    <a:bodyPr wrap="square"/>
                    <a:lstStyle/>
                    <a:p>
                      <a:pPr algn="l"/>
                      <a:r>
                        <a:rPr sz="1050" b="0" i="0">
                          <a:solidFill>
                            <a:srgbClr val="000000"/>
                          </a:solidFill>
                          <a:latin typeface="Calibri"/>
                        </a:rPr>
                        <a:t>Table 75: North America Market YoY Growth by Dietary Formulation, %, 2026–2036</a:t>
                      </a:r>
                      <a:endParaRPr sz="1050"/>
                    </a:p>
                  </a:txBody>
                  <a:tcPr marL="9525" marR="9525" marT="9525" marB="0" anchor="ctr"/>
                </a:tc>
              </a:tr>
              <a:tr h="169606">
                <a:tc>
                  <a:txBody>
                    <a:bodyPr wrap="square"/>
                    <a:lstStyle/>
                    <a:p>
                      <a:pPr algn="l"/>
                      <a:r>
                        <a:rPr sz="1050" b="0" i="0">
                          <a:solidFill>
                            <a:srgbClr val="000000"/>
                          </a:solidFill>
                          <a:latin typeface="Calibri"/>
                        </a:rPr>
                        <a:t>Table 76: North America Market YoY Growth by Nutritional Positioning, %, 2026–2036</a:t>
                      </a:r>
                      <a:endParaRPr sz="1050"/>
                    </a:p>
                  </a:txBody>
                  <a:tcPr marL="9525" marR="9525" marT="9525" marB="0" anchor="ctr"/>
                </a:tc>
              </a:tr>
              <a:tr h="169606">
                <a:tc>
                  <a:txBody>
                    <a:bodyPr wrap="square"/>
                    <a:lstStyle/>
                    <a:p>
                      <a:pPr algn="l"/>
                      <a:r>
                        <a:rPr sz="1050" b="0" i="0">
                          <a:solidFill>
                            <a:srgbClr val="000000"/>
                          </a:solidFill>
                          <a:latin typeface="Calibri"/>
                        </a:rPr>
                        <a:t>Table 77: North America Market YoY Growth by Recipe and Ingredient Claims, %, 2026–2036</a:t>
                      </a:r>
                      <a:endParaRPr sz="1050"/>
                    </a:p>
                  </a:txBody>
                  <a:tcPr marL="9525" marR="9525" marT="9525" marB="0" anchor="ctr"/>
                </a:tc>
              </a:tr>
              <a:tr h="169606">
                <a:tc>
                  <a:txBody>
                    <a:bodyPr wrap="square"/>
                    <a:lstStyle/>
                    <a:p>
                      <a:pPr algn="l"/>
                      <a:r>
                        <a:rPr sz="1050" b="0" i="0">
                          <a:solidFill>
                            <a:srgbClr val="000000"/>
                          </a:solidFill>
                          <a:latin typeface="Calibri"/>
                        </a:rPr>
                        <a:t>Table 78: North America Market YoY Growth by Product Structure, %, 2026–2036</a:t>
                      </a:r>
                      <a:endParaRPr sz="1050"/>
                    </a:p>
                  </a:txBody>
                  <a:tcPr marL="9525" marR="9525" marT="9525" marB="0" anchor="ctr"/>
                </a:tc>
              </a:tr>
              <a:tr h="169606">
                <a:tc>
                  <a:txBody>
                    <a:bodyPr wrap="square"/>
                    <a:lstStyle/>
                    <a:p>
                      <a:pPr algn="l"/>
                      <a:r>
                        <a:rPr sz="1050" b="0" i="0">
                          <a:solidFill>
                            <a:srgbClr val="000000"/>
                          </a:solidFill>
                          <a:latin typeface="Calibri"/>
                        </a:rPr>
                        <a:t>Table 79: North America Market YoY Growth by Surface Finish, %, 2026–2036</a:t>
                      </a:r>
                      <a:endParaRPr sz="1050"/>
                    </a:p>
                  </a:txBody>
                  <a:tcPr marL="9525" marR="9525" marT="9525" marB="0" anchor="ctr"/>
                </a:tc>
              </a:tr>
              <a:tr h="169606">
                <a:tc>
                  <a:txBody>
                    <a:bodyPr wrap="square"/>
                    <a:lstStyle/>
                    <a:p>
                      <a:pPr algn="l"/>
                      <a:r>
                        <a:rPr sz="1050" b="0" i="0">
                          <a:solidFill>
                            <a:srgbClr val="000000"/>
                          </a:solidFill>
                          <a:latin typeface="Calibri"/>
                        </a:rPr>
                        <a:t>Table 80: North America Market YoY Growth by Individual Muffin Size, %, 2026–2036</a:t>
                      </a:r>
                      <a:endParaRPr sz="1050"/>
                    </a:p>
                  </a:txBody>
                  <a:tcPr marL="9525" marR="9525" marT="9525" marB="0" anchor="ctr"/>
                </a:tc>
              </a:tr>
              <a:tr h="169606">
                <a:tc>
                  <a:txBody>
                    <a:bodyPr wrap="square"/>
                    <a:lstStyle/>
                    <a:p>
                      <a:pPr algn="l"/>
                      <a:r>
                        <a:rPr sz="1050" b="0" i="0">
                          <a:solidFill>
                            <a:srgbClr val="000000"/>
                          </a:solidFill>
                          <a:latin typeface="Calibri"/>
                        </a:rPr>
                        <a:t>Table 81: North America Market YoY Growth by Storage Format, %, 2026–2036</a:t>
                      </a:r>
                      <a:endParaRPr sz="1050"/>
                    </a:p>
                  </a:txBody>
                  <a:tcPr marL="9525" marR="9525" marT="9525" marB="0" anchor="ctr"/>
                </a:tc>
              </a:tr>
              <a:tr h="169606">
                <a:tc>
                  <a:txBody>
                    <a:bodyPr wrap="square"/>
                    <a:lstStyle/>
                    <a:p>
                      <a:pPr algn="l"/>
                      <a:r>
                        <a:rPr sz="1050" b="0" i="0">
                          <a:solidFill>
                            <a:srgbClr val="000000"/>
                          </a:solidFill>
                          <a:latin typeface="Calibri"/>
                        </a:rPr>
                        <a:t>Table 82: North America Market YoY Growth by Shelf Life, %, 2026–2036</a:t>
                      </a:r>
                      <a:endParaRPr sz="1050"/>
                    </a:p>
                  </a:txBody>
                  <a:tcPr marL="9525" marR="9525" marT="9525" marB="0" anchor="ctr"/>
                </a:tc>
              </a:tr>
              <a:tr h="169606">
                <a:tc>
                  <a:txBody>
                    <a:bodyPr wrap="square"/>
                    <a:lstStyle/>
                    <a:p>
                      <a:pPr algn="l"/>
                      <a:r>
                        <a:rPr sz="1050" b="0" i="0">
                          <a:solidFill>
                            <a:srgbClr val="000000"/>
                          </a:solidFill>
                          <a:latin typeface="Calibri"/>
                        </a:rPr>
                        <a:t>Table 83: North America Market YoY Growth by Packaging Format, %, 2026–2036</a:t>
                      </a:r>
                      <a:endParaRPr sz="1050"/>
                    </a:p>
                  </a:txBody>
                  <a:tcPr marL="9525" marR="9525" marT="9525" marB="0" anchor="ctr"/>
                </a:tc>
              </a:tr>
              <a:tr h="169606">
                <a:tc>
                  <a:txBody>
                    <a:bodyPr wrap="square"/>
                    <a:lstStyle/>
                    <a:p>
                      <a:pPr algn="l"/>
                      <a:r>
                        <a:rPr sz="1050" b="0" i="0">
                          <a:solidFill>
                            <a:srgbClr val="000000"/>
                          </a:solidFill>
                          <a:latin typeface="Calibri"/>
                        </a:rPr>
                        <a:t>Table 84: North America Market YoY Growth by Pack Configuration, %, 2026–2036</a:t>
                      </a:r>
                      <a:endParaRPr sz="1050"/>
                    </a:p>
                  </a:txBody>
                  <a:tcPr marL="9525" marR="9525" marT="9525" marB="0" anchor="ctr"/>
                </a:tc>
              </a:tr>
              <a:tr h="169606">
                <a:tc>
                  <a:txBody>
                    <a:bodyPr wrap="square"/>
                    <a:lstStyle/>
                    <a:p>
                      <a:pPr algn="l"/>
                      <a:r>
                        <a:rPr sz="1050" b="0" i="0">
                          <a:solidFill>
                            <a:srgbClr val="000000"/>
                          </a:solidFill>
                          <a:latin typeface="Calibri"/>
                        </a:rPr>
                        <a:t>Table 85: North America Market YoY Growth by Multipack Wrapping, %, 2026–2036</a:t>
                      </a:r>
                      <a:endParaRPr sz="1050"/>
                    </a:p>
                  </a:txBody>
                  <a:tcPr marL="9525" marR="9525" marT="9525" marB="0" anchor="ctr"/>
                </a:tc>
              </a:tr>
              <a:tr h="169606">
                <a:tc>
                  <a:txBody>
                    <a:bodyPr wrap="square"/>
                    <a:lstStyle/>
                    <a:p>
                      <a:pPr algn="l"/>
                      <a:r>
                        <a:rPr sz="1050" b="0" i="0">
                          <a:solidFill>
                            <a:srgbClr val="000000"/>
                          </a:solidFill>
                          <a:latin typeface="Calibri"/>
                        </a:rPr>
                        <a:t>Table 86: North America Market YoY Growth by Price Positioning, %, 2026–2036</a:t>
                      </a:r>
                      <a:endParaRPr sz="1050"/>
                    </a:p>
                  </a:txBody>
                  <a:tcPr marL="9525" marR="9525" marT="9525" marB="0" anchor="ctr"/>
                </a:tc>
              </a:tr>
              <a:tr h="169606">
                <a:tc>
                  <a:txBody>
                    <a:bodyPr wrap="square"/>
                    <a:lstStyle/>
                    <a:p>
                      <a:pPr algn="l"/>
                      <a:r>
                        <a:rPr sz="1050" b="0" i="0">
                          <a:solidFill>
                            <a:srgbClr val="000000"/>
                          </a:solidFill>
                          <a:latin typeface="Calibri"/>
                        </a:rPr>
                        <a:t>Table 87: North America Market YoY Growth by Brand Ownership, %, 2026–2036</a:t>
                      </a:r>
                      <a:endParaRPr sz="1050"/>
                    </a:p>
                  </a:txBody>
                  <a:tcPr marL="9525" marR="9525" marT="9525" marB="0" anchor="ctr"/>
                </a:tc>
              </a:tr>
              <a:tr h="169606">
                <a:tc>
                  <a:txBody>
                    <a:bodyPr wrap="square"/>
                    <a:lstStyle/>
                    <a:p>
                      <a:pPr algn="l"/>
                      <a:r>
                        <a:rPr sz="1050" b="0" i="0">
                          <a:solidFill>
                            <a:srgbClr val="000000"/>
                          </a:solidFill>
                          <a:latin typeface="Calibri"/>
                        </a:rPr>
                        <a:t>Table 88: North America Market YoY Growth by Sales Channel, %, 2026–2036</a:t>
                      </a:r>
                      <a:endParaRPr sz="1050"/>
                    </a:p>
                  </a:txBody>
                  <a:tcPr marL="9525" marR="9525" marT="9525" marB="0" anchor="ctr"/>
                </a:tc>
              </a:tr>
              <a:tr h="169606">
                <a:tc>
                  <a:txBody>
                    <a:bodyPr wrap="square"/>
                    <a:lstStyle/>
                    <a:p>
                      <a:pPr algn="l"/>
                      <a:r>
                        <a:rPr sz="1050" b="0" i="0">
                          <a:solidFill>
                            <a:srgbClr val="000000"/>
                          </a:solidFill>
                          <a:latin typeface="Calibri"/>
                        </a:rPr>
                        <a:t>Table 89: North America Market Volume by Product Type, MT, 2021–2036</a:t>
                      </a:r>
                      <a:endParaRPr sz="1050"/>
                    </a:p>
                  </a:txBody>
                  <a:tcPr marL="9525" marR="9525" marT="9525" marB="0" anchor="ctr"/>
                </a:tc>
              </a:tr>
              <a:tr h="169606">
                <a:tc>
                  <a:txBody>
                    <a:bodyPr wrap="square"/>
                    <a:lstStyle/>
                    <a:p>
                      <a:pPr algn="l"/>
                      <a:r>
                        <a:rPr sz="1050" b="0" i="0">
                          <a:solidFill>
                            <a:srgbClr val="000000"/>
                          </a:solidFill>
                          <a:latin typeface="Calibri"/>
                        </a:rPr>
                        <a:t>Table 90: North America Market Volume by Flavour, MT, 2021–2036</a:t>
                      </a:r>
                      <a:endParaRPr sz="1050"/>
                    </a:p>
                  </a:txBody>
                  <a:tcPr marL="9525" marR="9525" marT="9525" marB="0" anchor="ctr"/>
                </a:tc>
              </a:tr>
              <a:tr h="169606">
                <a:tc>
                  <a:txBody>
                    <a:bodyPr wrap="square"/>
                    <a:lstStyle/>
                    <a:p>
                      <a:pPr algn="l"/>
                      <a:r>
                        <a:rPr sz="1050" b="0" i="0">
                          <a:solidFill>
                            <a:srgbClr val="000000"/>
                          </a:solidFill>
                          <a:latin typeface="Calibri"/>
                        </a:rPr>
                        <a:t>Table 91: North America Market Volume by Primary Flour Base, MT, 2021–2036</a:t>
                      </a:r>
                      <a:endParaRPr sz="1050"/>
                    </a:p>
                  </a:txBody>
                  <a:tcPr marL="9525" marR="9525" marT="9525" marB="0" anchor="ctr"/>
                </a:tc>
              </a:tr>
              <a:tr h="169606">
                <a:tc>
                  <a:txBody>
                    <a:bodyPr wrap="square"/>
                    <a:lstStyle/>
                    <a:p>
                      <a:pPr algn="l"/>
                      <a:r>
                        <a:rPr sz="1050" b="0" i="0">
                          <a:solidFill>
                            <a:srgbClr val="000000"/>
                          </a:solidFill>
                          <a:latin typeface="Calibri"/>
                        </a:rPr>
                        <a:t>Table 92: North America Market Volume by Dietary Formulation, MT, 2021–2036</a:t>
                      </a:r>
                      <a:endParaRPr sz="1050"/>
                    </a:p>
                  </a:txBody>
                  <a:tcPr marL="9525" marR="9525" marT="9525" marB="0" anchor="ctr"/>
                </a:tc>
              </a:tr>
              <a:tr h="169606">
                <a:tc>
                  <a:txBody>
                    <a:bodyPr wrap="square"/>
                    <a:lstStyle/>
                    <a:p>
                      <a:pPr algn="l"/>
                      <a:r>
                        <a:rPr sz="1050" b="0" i="0">
                          <a:solidFill>
                            <a:srgbClr val="000000"/>
                          </a:solidFill>
                          <a:latin typeface="Calibri"/>
                        </a:rPr>
                        <a:t>Table 93: North America Market Volume by Nutritional Positioning, MT, 2021–2036</a:t>
                      </a:r>
                      <a:endParaRPr sz="1050"/>
                    </a:p>
                  </a:txBody>
                  <a:tcPr marL="9525" marR="9525" marT="9525" marB="0" anchor="ctr"/>
                </a:tc>
              </a:tr>
              <a:tr h="169606">
                <a:tc>
                  <a:txBody>
                    <a:bodyPr wrap="square"/>
                    <a:lstStyle/>
                    <a:p>
                      <a:pPr algn="l"/>
                      <a:r>
                        <a:rPr sz="1050" b="0" i="0">
                          <a:solidFill>
                            <a:srgbClr val="000000"/>
                          </a:solidFill>
                          <a:latin typeface="Calibri"/>
                        </a:rPr>
                        <a:t>Table 94: North America Market Volume by Recipe and Ingredient Claims, MT, 2021–2036</a:t>
                      </a:r>
                      <a:endParaRPr sz="1050"/>
                    </a:p>
                  </a:txBody>
                  <a:tcPr marL="9525" marR="9525" marT="9525" marB="0" anchor="ctr"/>
                </a:tc>
              </a:tr>
              <a:tr h="169606">
                <a:tc>
                  <a:txBody>
                    <a:bodyPr wrap="square"/>
                    <a:lstStyle/>
                    <a:p>
                      <a:pPr algn="l"/>
                      <a:r>
                        <a:rPr sz="1050" b="0" i="0">
                          <a:solidFill>
                            <a:srgbClr val="000000"/>
                          </a:solidFill>
                          <a:latin typeface="Calibri"/>
                        </a:rPr>
                        <a:t>Table 95: North America Market Volume by Product Structure, MT, 2021–2036</a:t>
                      </a:r>
                      <a:endParaRPr sz="1050"/>
                    </a:p>
                  </a:txBody>
                  <a:tcPr marL="9525" marR="9525" marT="9525" marB="0" anchor="ctr"/>
                </a:tc>
              </a:tr>
              <a:tr h="169606">
                <a:tc>
                  <a:txBody>
                    <a:bodyPr wrap="square"/>
                    <a:lstStyle/>
                    <a:p>
                      <a:pPr algn="l"/>
                      <a:r>
                        <a:rPr sz="1050" b="0" i="0">
                          <a:solidFill>
                            <a:srgbClr val="000000"/>
                          </a:solidFill>
                          <a:latin typeface="Calibri"/>
                        </a:rPr>
                        <a:t>Table 96: North America Market Volume by Surface Finish, MT, 2021–2036</a:t>
                      </a:r>
                      <a:endParaRPr sz="1050"/>
                    </a:p>
                  </a:txBody>
                  <a:tcPr marL="9525" marR="9525" marT="9525" marB="0" anchor="ctr"/>
                </a:tc>
              </a:tr>
              <a:tr h="169606">
                <a:tc>
                  <a:txBody>
                    <a:bodyPr wrap="square"/>
                    <a:lstStyle/>
                    <a:p>
                      <a:pPr algn="l"/>
                      <a:r>
                        <a:rPr sz="1050" b="0" i="0">
                          <a:solidFill>
                            <a:srgbClr val="000000"/>
                          </a:solidFill>
                          <a:latin typeface="Calibri"/>
                        </a:rPr>
                        <a:t>Table 97: North America Market Volume by Individual Muffin Size, MT, 2021–2036</a:t>
                      </a:r>
                      <a:endParaRPr sz="1050"/>
                    </a:p>
                  </a:txBody>
                  <a:tcPr marL="9525" marR="9525" marT="9525" marB="0" anchor="ctr"/>
                </a:tc>
              </a:tr>
              <a:tr h="169606">
                <a:tc>
                  <a:txBody>
                    <a:bodyPr wrap="square"/>
                    <a:lstStyle/>
                    <a:p>
                      <a:pPr algn="l"/>
                      <a:r>
                        <a:rPr sz="1050" b="0" i="0">
                          <a:solidFill>
                            <a:srgbClr val="000000"/>
                          </a:solidFill>
                          <a:latin typeface="Calibri"/>
                        </a:rPr>
                        <a:t>Table 98: North America Market Volume by Storage Format, MT, 2021–2036</a:t>
                      </a:r>
                      <a:endParaRPr sz="1050"/>
                    </a:p>
                  </a:txBody>
                  <a:tcPr marL="9525" marR="9525" marT="9525" marB="0" anchor="ctr"/>
                </a:tc>
              </a:tr>
              <a:tr h="169606">
                <a:tc>
                  <a:txBody>
                    <a:bodyPr wrap="square"/>
                    <a:lstStyle/>
                    <a:p>
                      <a:pPr algn="l"/>
                      <a:r>
                        <a:rPr sz="1050" b="0" i="0">
                          <a:solidFill>
                            <a:srgbClr val="000000"/>
                          </a:solidFill>
                          <a:latin typeface="Calibri"/>
                        </a:rPr>
                        <a:t>Table 99: North America Market Volume by Shelf Life, MT, 2021–2036</a:t>
                      </a:r>
                      <a:endParaRPr sz="1050"/>
                    </a:p>
                  </a:txBody>
                  <a:tcPr marL="9525" marR="9525" marT="9525" marB="0" anchor="ctr"/>
                </a:tc>
              </a:tr>
              <a:tr h="169606">
                <a:tc>
                  <a:txBody>
                    <a:bodyPr wrap="square"/>
                    <a:lstStyle/>
                    <a:p>
                      <a:pPr algn="l"/>
                      <a:r>
                        <a:rPr sz="1050" b="0" i="0">
                          <a:solidFill>
                            <a:srgbClr val="000000"/>
                          </a:solidFill>
                          <a:latin typeface="Calibri"/>
                        </a:rPr>
                        <a:t>Table 100: North America Market Volume by Packaging Format, MT, 2021–2036</a:t>
                      </a:r>
                      <a:endParaRPr sz="1050"/>
                    </a:p>
                  </a:txBody>
                  <a:tcPr marL="9525" marR="9525" marT="9525" marB="0" anchor="ctr"/>
                </a:tc>
              </a:tr>
              <a:tr h="169606">
                <a:tc>
                  <a:txBody>
                    <a:bodyPr wrap="square"/>
                    <a:lstStyle/>
                    <a:p>
                      <a:pPr algn="l"/>
                      <a:r>
                        <a:rPr sz="1050" b="0" i="0">
                          <a:solidFill>
                            <a:srgbClr val="000000"/>
                          </a:solidFill>
                          <a:latin typeface="Calibri"/>
                        </a:rPr>
                        <a:t>Table 101: North America Market Volume by Pack Configuration, MT, 2021–2036</a:t>
                      </a:r>
                      <a:endParaRPr sz="1050"/>
                    </a:p>
                  </a:txBody>
                  <a:tcPr marL="9525" marR="9525" marT="9525" marB="0" anchor="ctr"/>
                </a:tc>
              </a:tr>
              <a:tr h="169606">
                <a:tc>
                  <a:txBody>
                    <a:bodyPr wrap="square"/>
                    <a:lstStyle/>
                    <a:p>
                      <a:pPr algn="l"/>
                      <a:r>
                        <a:rPr sz="1050" b="0" i="0">
                          <a:solidFill>
                            <a:srgbClr val="000000"/>
                          </a:solidFill>
                          <a:latin typeface="Calibri"/>
                        </a:rPr>
                        <a:t>Table 102: North America Market Volume by Multipack Wrapping, MT, 2021–2036</a:t>
                      </a:r>
                      <a:endParaRPr sz="1050"/>
                    </a:p>
                  </a:txBody>
                  <a:tcPr marL="9525" marR="9525" marT="9525" marB="0" anchor="ctr"/>
                </a:tc>
              </a:tr>
              <a:tr h="169606">
                <a:tc>
                  <a:txBody>
                    <a:bodyPr wrap="square"/>
                    <a:lstStyle/>
                    <a:p>
                      <a:pPr algn="l"/>
                      <a:r>
                        <a:rPr sz="1050" b="0" i="0">
                          <a:solidFill>
                            <a:srgbClr val="000000"/>
                          </a:solidFill>
                          <a:latin typeface="Calibri"/>
                        </a:rPr>
                        <a:t>Table 103: North America Market Volume by Price Positioning, 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803"/>
        </p:xfrm>
        <a:graphic>
          <a:graphicData uri="http://schemas.openxmlformats.org/drawingml/2006/table">
            <a:tbl>
              <a:tblPr>
                <a:tableStyleId>{3B4B98B0-60AC-42C2-AFA5-B58CD77FA1E5}</a:tableStyleId>
              </a:tblPr>
              <a:tblGrid>
                <a:gridCol w="5876925"/>
              </a:tblGrid>
              <a:tr h="170708">
                <a:tc>
                  <a:txBody>
                    <a:bodyPr wrap="square"/>
                    <a:lstStyle/>
                    <a:p>
                      <a:pPr algn="l"/>
                      <a:r>
                        <a:rPr sz="1050" b="0" i="0">
                          <a:solidFill>
                            <a:srgbClr val="000000"/>
                          </a:solidFill>
                          <a:latin typeface="Calibri"/>
                        </a:rPr>
                        <a:t>Table 104: North America Market Volume by Brand Ownership, MT, 2021–2036</a:t>
                      </a:r>
                      <a:endParaRPr sz="1050"/>
                    </a:p>
                  </a:txBody>
                  <a:tcPr marL="9525" marR="9525" marT="9525" marB="0" anchor="ctr"/>
                </a:tc>
              </a:tr>
              <a:tr h="170708">
                <a:tc>
                  <a:txBody>
                    <a:bodyPr wrap="square"/>
                    <a:lstStyle/>
                    <a:p>
                      <a:pPr algn="l"/>
                      <a:r>
                        <a:rPr sz="1050" b="0" i="0">
                          <a:solidFill>
                            <a:srgbClr val="000000"/>
                          </a:solidFill>
                          <a:latin typeface="Calibri"/>
                        </a:rPr>
                        <a:t>Table 105: North America Market Volume by Sales Channel, MT, 2021–2036</a:t>
                      </a:r>
                      <a:endParaRPr sz="1050"/>
                    </a:p>
                  </a:txBody>
                  <a:tcPr marL="9525" marR="9525" marT="9525" marB="0" anchor="ctr"/>
                </a:tc>
              </a:tr>
              <a:tr h="170708">
                <a:tc>
                  <a:txBody>
                    <a:bodyPr wrap="square"/>
                    <a:lstStyle/>
                    <a:p>
                      <a:pPr algn="l"/>
                      <a:r>
                        <a:rPr sz="1050" b="0" i="0">
                          <a:solidFill>
                            <a:srgbClr val="000000"/>
                          </a:solidFill>
                          <a:latin typeface="Calibri"/>
                        </a:rPr>
                        <a:t>Table 106: North America Market Average Selling Price by Product Type, US$/MT, 2021–2036</a:t>
                      </a:r>
                      <a:endParaRPr sz="1050"/>
                    </a:p>
                  </a:txBody>
                  <a:tcPr marL="9525" marR="9525" marT="9525" marB="0" anchor="ctr"/>
                </a:tc>
              </a:tr>
              <a:tr h="170708">
                <a:tc>
                  <a:txBody>
                    <a:bodyPr wrap="square"/>
                    <a:lstStyle/>
                    <a:p>
                      <a:pPr algn="l"/>
                      <a:r>
                        <a:rPr sz="1050" b="0" i="0">
                          <a:solidFill>
                            <a:srgbClr val="000000"/>
                          </a:solidFill>
                          <a:latin typeface="Calibri"/>
                        </a:rPr>
                        <a:t>Table 107: North America Market Average Selling Price by Flavour, US$/MT, 2021–2036</a:t>
                      </a:r>
                      <a:endParaRPr sz="1050"/>
                    </a:p>
                  </a:txBody>
                  <a:tcPr marL="9525" marR="9525" marT="9525" marB="0" anchor="ctr"/>
                </a:tc>
              </a:tr>
              <a:tr h="170708">
                <a:tc>
                  <a:txBody>
                    <a:bodyPr wrap="square"/>
                    <a:lstStyle/>
                    <a:p>
                      <a:pPr algn="l"/>
                      <a:r>
                        <a:rPr sz="1050" b="0" i="0">
                          <a:solidFill>
                            <a:srgbClr val="000000"/>
                          </a:solidFill>
                          <a:latin typeface="Calibri"/>
                        </a:rPr>
                        <a:t>Table 108: North America Market Average Selling Price by Primary Flour Base, US$/MT, 2021–2036</a:t>
                      </a:r>
                      <a:endParaRPr sz="1050"/>
                    </a:p>
                  </a:txBody>
                  <a:tcPr marL="9525" marR="9525" marT="9525" marB="0" anchor="ctr"/>
                </a:tc>
              </a:tr>
              <a:tr h="170708">
                <a:tc>
                  <a:txBody>
                    <a:bodyPr wrap="square"/>
                    <a:lstStyle/>
                    <a:p>
                      <a:pPr algn="l"/>
                      <a:r>
                        <a:rPr sz="1050" b="0" i="0">
                          <a:solidFill>
                            <a:srgbClr val="000000"/>
                          </a:solidFill>
                          <a:latin typeface="Calibri"/>
                        </a:rPr>
                        <a:t>Table 109: North America Market Average Selling Price by Dietary Formulation, US$/MT, 2021–2036</a:t>
                      </a:r>
                      <a:endParaRPr sz="1050"/>
                    </a:p>
                  </a:txBody>
                  <a:tcPr marL="9525" marR="9525" marT="9525" marB="0" anchor="ctr"/>
                </a:tc>
              </a:tr>
              <a:tr h="170708">
                <a:tc>
                  <a:txBody>
                    <a:bodyPr wrap="square"/>
                    <a:lstStyle/>
                    <a:p>
                      <a:pPr algn="l"/>
                      <a:r>
                        <a:rPr sz="1050" b="0" i="0">
                          <a:solidFill>
                            <a:srgbClr val="000000"/>
                          </a:solidFill>
                          <a:latin typeface="Calibri"/>
                        </a:rPr>
                        <a:t>Table 110: North America Market Average Selling Price by Nutritional Positioning, US$/MT, 2021–2036</a:t>
                      </a:r>
                      <a:endParaRPr sz="1050"/>
                    </a:p>
                  </a:txBody>
                  <a:tcPr marL="9525" marR="9525" marT="9525" marB="0" anchor="ctr"/>
                </a:tc>
              </a:tr>
              <a:tr h="334587">
                <a:tc>
                  <a:txBody>
                    <a:bodyPr wrap="square"/>
                    <a:lstStyle/>
                    <a:p>
                      <a:pPr algn="l"/>
                      <a:r>
                        <a:rPr sz="1050" b="0" i="0">
                          <a:solidFill>
                            <a:srgbClr val="000000"/>
                          </a:solidFill>
                          <a:latin typeface="Calibri"/>
                        </a:rPr>
                        <a:t>Table 111: North America Market Average Selling Price by Recipe and Ingredient Claims, US$/MT, 2021–2036</a:t>
                      </a:r>
                      <a:endParaRPr sz="1050"/>
                    </a:p>
                  </a:txBody>
                  <a:tcPr marL="9525" marR="9525" marT="9525" marB="0" anchor="ctr"/>
                </a:tc>
              </a:tr>
              <a:tr h="170708">
                <a:tc>
                  <a:txBody>
                    <a:bodyPr wrap="square"/>
                    <a:lstStyle/>
                    <a:p>
                      <a:pPr algn="l"/>
                      <a:r>
                        <a:rPr sz="1050" b="0" i="0">
                          <a:solidFill>
                            <a:srgbClr val="000000"/>
                          </a:solidFill>
                          <a:latin typeface="Calibri"/>
                        </a:rPr>
                        <a:t>Table 112: North America Market Value by Product Type and Flavour, US$ Mn, 2026–2036</a:t>
                      </a:r>
                      <a:endParaRPr sz="1050"/>
                    </a:p>
                  </a:txBody>
                  <a:tcPr marL="9525" marR="9525" marT="9525" marB="0" anchor="ctr"/>
                </a:tc>
              </a:tr>
              <a:tr h="170708">
                <a:tc>
                  <a:txBody>
                    <a:bodyPr wrap="square"/>
                    <a:lstStyle/>
                    <a:p>
                      <a:pPr algn="l"/>
                      <a:r>
                        <a:rPr sz="1050" b="0" i="0">
                          <a:solidFill>
                            <a:srgbClr val="000000"/>
                          </a:solidFill>
                          <a:latin typeface="Calibri"/>
                        </a:rPr>
                        <a:t>Table 113: North America Market Value by Product Type and Primary Flour Base, US$ Mn, 2026–2036</a:t>
                      </a:r>
                      <a:endParaRPr sz="1050"/>
                    </a:p>
                  </a:txBody>
                  <a:tcPr marL="9525" marR="9525" marT="9525" marB="0" anchor="ctr"/>
                </a:tc>
              </a:tr>
              <a:tr h="170708">
                <a:tc>
                  <a:txBody>
                    <a:bodyPr wrap="square"/>
                    <a:lstStyle/>
                    <a:p>
                      <a:pPr algn="l"/>
                      <a:r>
                        <a:rPr sz="1050" b="0" i="0">
                          <a:solidFill>
                            <a:srgbClr val="000000"/>
                          </a:solidFill>
                          <a:latin typeface="Calibri"/>
                        </a:rPr>
                        <a:t>Table 114: North America Market Value by Product Type and Dietary Formulation, US$ Mn, 2026–2036</a:t>
                      </a:r>
                      <a:endParaRPr sz="1050"/>
                    </a:p>
                  </a:txBody>
                  <a:tcPr marL="9525" marR="9525" marT="9525" marB="0" anchor="ctr"/>
                </a:tc>
              </a:tr>
              <a:tr h="334587">
                <a:tc>
                  <a:txBody>
                    <a:bodyPr wrap="square"/>
                    <a:lstStyle/>
                    <a:p>
                      <a:pPr algn="l"/>
                      <a:r>
                        <a:rPr sz="1050" b="0" i="0">
                          <a:solidFill>
                            <a:srgbClr val="000000"/>
                          </a:solidFill>
                          <a:latin typeface="Calibri"/>
                        </a:rPr>
                        <a:t>Table 115: North America Market Value by Product Type and Nutritional Positioning, US$ Mn, 2026–2036</a:t>
                      </a:r>
                      <a:endParaRPr sz="1050"/>
                    </a:p>
                  </a:txBody>
                  <a:tcPr marL="9525" marR="9525" marT="9525" marB="0" anchor="ctr"/>
                </a:tc>
              </a:tr>
              <a:tr h="334587">
                <a:tc>
                  <a:txBody>
                    <a:bodyPr wrap="square"/>
                    <a:lstStyle/>
                    <a:p>
                      <a:pPr algn="l"/>
                      <a:r>
                        <a:rPr sz="1050" b="0" i="0">
                          <a:solidFill>
                            <a:srgbClr val="000000"/>
                          </a:solidFill>
                          <a:latin typeface="Calibri"/>
                        </a:rPr>
                        <a:t>Table 116: North America Market Value by Product Type and Recipe and Ingredient Claims, US$ Mn, 2026–2036</a:t>
                      </a:r>
                      <a:endParaRPr sz="1050"/>
                    </a:p>
                  </a:txBody>
                  <a:tcPr marL="9525" marR="9525" marT="9525" marB="0" anchor="ctr"/>
                </a:tc>
              </a:tr>
              <a:tr h="170708">
                <a:tc>
                  <a:txBody>
                    <a:bodyPr wrap="square"/>
                    <a:lstStyle/>
                    <a:p>
                      <a:pPr algn="l"/>
                      <a:r>
                        <a:rPr sz="1050" b="0" i="0">
                          <a:solidFill>
                            <a:srgbClr val="000000"/>
                          </a:solidFill>
                          <a:latin typeface="Calibri"/>
                        </a:rPr>
                        <a:t>Table 117: North America Market Value by Product Type and Product Structure, US$ Mn, 2026–2036</a:t>
                      </a:r>
                      <a:endParaRPr sz="1050"/>
                    </a:p>
                  </a:txBody>
                  <a:tcPr marL="9525" marR="9525" marT="9525" marB="0" anchor="ctr"/>
                </a:tc>
              </a:tr>
              <a:tr h="170708">
                <a:tc>
                  <a:txBody>
                    <a:bodyPr wrap="square"/>
                    <a:lstStyle/>
                    <a:p>
                      <a:pPr algn="l"/>
                      <a:r>
                        <a:rPr sz="1050" b="0" i="0">
                          <a:solidFill>
                            <a:srgbClr val="000000"/>
                          </a:solidFill>
                          <a:latin typeface="Calibri"/>
                        </a:rPr>
                        <a:t>Table 118: North America Market Value by Product Type and Surface Finish, US$ Mn, 2026–2036</a:t>
                      </a:r>
                      <a:endParaRPr sz="1050"/>
                    </a:p>
                  </a:txBody>
                  <a:tcPr marL="9525" marR="9525" marT="9525" marB="0" anchor="ctr"/>
                </a:tc>
              </a:tr>
              <a:tr h="334587">
                <a:tc>
                  <a:txBody>
                    <a:bodyPr wrap="square"/>
                    <a:lstStyle/>
                    <a:p>
                      <a:pPr algn="l"/>
                      <a:r>
                        <a:rPr sz="1050" b="0" i="0">
                          <a:solidFill>
                            <a:srgbClr val="000000"/>
                          </a:solidFill>
                          <a:latin typeface="Calibri"/>
                        </a:rPr>
                        <a:t>Table 119: North America Market Value by Product Type and Individual Muffin Size, US$ Mn, 2026–2036</a:t>
                      </a:r>
                      <a:endParaRPr sz="1050"/>
                    </a:p>
                  </a:txBody>
                  <a:tcPr marL="9525" marR="9525" marT="9525" marB="0" anchor="ctr"/>
                </a:tc>
              </a:tr>
              <a:tr h="170708">
                <a:tc>
                  <a:txBody>
                    <a:bodyPr wrap="square"/>
                    <a:lstStyle/>
                    <a:p>
                      <a:pPr algn="l"/>
                      <a:r>
                        <a:rPr sz="1050" b="0" i="0">
                          <a:solidFill>
                            <a:srgbClr val="000000"/>
                          </a:solidFill>
                          <a:latin typeface="Calibri"/>
                        </a:rPr>
                        <a:t>Table 120: North America Market Value by Product Type and Storage Format, US$ Mn, 2026–2036</a:t>
                      </a:r>
                      <a:endParaRPr sz="1050"/>
                    </a:p>
                  </a:txBody>
                  <a:tcPr marL="9525" marR="9525" marT="9525" marB="0" anchor="ctr"/>
                </a:tc>
              </a:tr>
              <a:tr h="170708">
                <a:tc>
                  <a:txBody>
                    <a:bodyPr wrap="square"/>
                    <a:lstStyle/>
                    <a:p>
                      <a:pPr algn="l"/>
                      <a:r>
                        <a:rPr sz="1050" b="0" i="0">
                          <a:solidFill>
                            <a:srgbClr val="000000"/>
                          </a:solidFill>
                          <a:latin typeface="Calibri"/>
                        </a:rPr>
                        <a:t>Table 121: North America Market Value by Product Type and Shelf Life, US$ Mn, 2026–2036</a:t>
                      </a:r>
                      <a:endParaRPr sz="1050"/>
                    </a:p>
                  </a:txBody>
                  <a:tcPr marL="9525" marR="9525" marT="9525" marB="0" anchor="ctr"/>
                </a:tc>
              </a:tr>
              <a:tr h="170708">
                <a:tc>
                  <a:txBody>
                    <a:bodyPr wrap="square"/>
                    <a:lstStyle/>
                    <a:p>
                      <a:pPr algn="l"/>
                      <a:r>
                        <a:rPr sz="1050" b="0" i="0">
                          <a:solidFill>
                            <a:srgbClr val="000000"/>
                          </a:solidFill>
                          <a:latin typeface="Calibri"/>
                        </a:rPr>
                        <a:t>Table 122: North America Market Value by Product Type and Packaging Format, US$ Mn, 2026–2036</a:t>
                      </a:r>
                      <a:endParaRPr sz="1050"/>
                    </a:p>
                  </a:txBody>
                  <a:tcPr marL="9525" marR="9525" marT="9525" marB="0" anchor="ctr"/>
                </a:tc>
              </a:tr>
              <a:tr h="170708">
                <a:tc>
                  <a:txBody>
                    <a:bodyPr wrap="square"/>
                    <a:lstStyle/>
                    <a:p>
                      <a:pPr algn="l"/>
                      <a:r>
                        <a:rPr sz="1050" b="0" i="0">
                          <a:solidFill>
                            <a:srgbClr val="000000"/>
                          </a:solidFill>
                          <a:latin typeface="Calibri"/>
                        </a:rPr>
                        <a:t>Table 123: North America Market Value by Product Type and Pack Configuration, US$ Mn, 2026–2036</a:t>
                      </a:r>
                      <a:endParaRPr sz="1050"/>
                    </a:p>
                  </a:txBody>
                  <a:tcPr marL="9525" marR="9525" marT="9525" marB="0" anchor="ctr"/>
                </a:tc>
              </a:tr>
              <a:tr h="334587">
                <a:tc>
                  <a:txBody>
                    <a:bodyPr wrap="square"/>
                    <a:lstStyle/>
                    <a:p>
                      <a:pPr algn="l"/>
                      <a:r>
                        <a:rPr sz="1050" b="0" i="0">
                          <a:solidFill>
                            <a:srgbClr val="000000"/>
                          </a:solidFill>
                          <a:latin typeface="Calibri"/>
                        </a:rPr>
                        <a:t>Table 124: North America Market Value by Product Type and Multipack Wrapping, US$ Mn, 2026–2036</a:t>
                      </a:r>
                      <a:endParaRPr sz="1050"/>
                    </a:p>
                  </a:txBody>
                  <a:tcPr marL="9525" marR="9525" marT="9525" marB="0" anchor="ctr"/>
                </a:tc>
              </a:tr>
              <a:tr h="170708">
                <a:tc>
                  <a:txBody>
                    <a:bodyPr wrap="square"/>
                    <a:lstStyle/>
                    <a:p>
                      <a:pPr algn="l"/>
                      <a:r>
                        <a:rPr sz="1050" b="0" i="0">
                          <a:solidFill>
                            <a:srgbClr val="000000"/>
                          </a:solidFill>
                          <a:latin typeface="Calibri"/>
                        </a:rPr>
                        <a:t>Table 125: North America Market Value by Product Type and Price Positioning, US$ Mn, 2026–2036</a:t>
                      </a:r>
                      <a:endParaRPr sz="1050"/>
                    </a:p>
                  </a:txBody>
                  <a:tcPr marL="9525" marR="9525" marT="9525" marB="0" anchor="ctr"/>
                </a:tc>
              </a:tr>
              <a:tr h="170708">
                <a:tc>
                  <a:txBody>
                    <a:bodyPr wrap="square"/>
                    <a:lstStyle/>
                    <a:p>
                      <a:pPr algn="l"/>
                      <a:r>
                        <a:rPr sz="1050" b="0" i="0">
                          <a:solidFill>
                            <a:srgbClr val="000000"/>
                          </a:solidFill>
                          <a:latin typeface="Calibri"/>
                        </a:rPr>
                        <a:t>Table 126: North America Market Value by Product Type and Brand Ownership, US$ Mn, 2026–2036</a:t>
                      </a:r>
                      <a:endParaRPr sz="1050"/>
                    </a:p>
                  </a:txBody>
                  <a:tcPr marL="9525" marR="9525" marT="9525" marB="0" anchor="ctr"/>
                </a:tc>
              </a:tr>
              <a:tr h="170708">
                <a:tc>
                  <a:txBody>
                    <a:bodyPr wrap="square"/>
                    <a:lstStyle/>
                    <a:p>
                      <a:pPr algn="l"/>
                      <a:r>
                        <a:rPr sz="1050" b="0" i="0">
                          <a:solidFill>
                            <a:srgbClr val="000000"/>
                          </a:solidFill>
                          <a:latin typeface="Calibri"/>
                        </a:rPr>
                        <a:t>Table 127: North America Market Value by Product Type and Sales Channel, US$ Mn, 2026–2036</a:t>
                      </a:r>
                      <a:endParaRPr sz="1050"/>
                    </a:p>
                  </a:txBody>
                  <a:tcPr marL="9525" marR="9525" marT="9525" marB="0" anchor="ctr"/>
                </a:tc>
              </a:tr>
              <a:tr h="170708">
                <a:tc>
                  <a:txBody>
                    <a:bodyPr wrap="square"/>
                    <a:lstStyle/>
                    <a:p>
                      <a:pPr algn="l"/>
                      <a:r>
                        <a:rPr sz="1050" b="0" i="0">
                          <a:solidFill>
                            <a:srgbClr val="000000"/>
                          </a:solidFill>
                          <a:latin typeface="Calibri"/>
                        </a:rPr>
                        <a:t>Table 128: North America Market Value by Flavour and Primary Flour Base, US$ Mn, 2026–2036</a:t>
                      </a:r>
                      <a:endParaRPr sz="1050"/>
                    </a:p>
                  </a:txBody>
                  <a:tcPr marL="9525" marR="9525" marT="9525" marB="0" anchor="ctr"/>
                </a:tc>
              </a:tr>
              <a:tr h="170708">
                <a:tc>
                  <a:txBody>
                    <a:bodyPr wrap="square"/>
                    <a:lstStyle/>
                    <a:p>
                      <a:pPr algn="l"/>
                      <a:r>
                        <a:rPr sz="1050" b="0" i="0">
                          <a:solidFill>
                            <a:srgbClr val="000000"/>
                          </a:solidFill>
                          <a:latin typeface="Calibri"/>
                        </a:rPr>
                        <a:t>Table 129: North America Market Value by Flavour and Dietary Formulation,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130: North America Market Value by Flavour and Nutritional Positioning, US$ Mn, 2026–2036</a:t>
                      </a:r>
                      <a:endParaRPr sz="1050"/>
                    </a:p>
                  </a:txBody>
                  <a:tcPr marL="9525" marR="9525" marT="9525" marB="0" anchor="ctr"/>
                </a:tc>
              </a:tr>
              <a:tr h="332858">
                <a:tc>
                  <a:txBody>
                    <a:bodyPr wrap="square"/>
                    <a:lstStyle/>
                    <a:p>
                      <a:pPr algn="l"/>
                      <a:r>
                        <a:rPr sz="1050" b="0" i="0">
                          <a:solidFill>
                            <a:srgbClr val="000000"/>
                          </a:solidFill>
                          <a:latin typeface="Calibri"/>
                        </a:rPr>
                        <a:t>Table 131: North America Market Value by Flavour and Recipe and Ingredient Claims, US$ Mn, 2026–2036</a:t>
                      </a:r>
                      <a:endParaRPr sz="1050"/>
                    </a:p>
                  </a:txBody>
                  <a:tcPr marL="9525" marR="9525" marT="9525" marB="0" anchor="ctr"/>
                </a:tc>
              </a:tr>
              <a:tr h="169826">
                <a:tc>
                  <a:txBody>
                    <a:bodyPr wrap="square"/>
                    <a:lstStyle/>
                    <a:p>
                      <a:pPr algn="l"/>
                      <a:r>
                        <a:rPr sz="1050" b="0" i="0">
                          <a:solidFill>
                            <a:srgbClr val="000000"/>
                          </a:solidFill>
                          <a:latin typeface="Calibri"/>
                        </a:rPr>
                        <a:t>Table 132: North America Market Value by Flavour and Product Structure, US$ Mn, 2026–2036</a:t>
                      </a:r>
                      <a:endParaRPr sz="1050"/>
                    </a:p>
                  </a:txBody>
                  <a:tcPr marL="9525" marR="9525" marT="9525" marB="0" anchor="ctr"/>
                </a:tc>
              </a:tr>
              <a:tr h="169826">
                <a:tc>
                  <a:txBody>
                    <a:bodyPr wrap="square"/>
                    <a:lstStyle/>
                    <a:p>
                      <a:pPr algn="l"/>
                      <a:r>
                        <a:rPr sz="1050" b="0" i="0">
                          <a:solidFill>
                            <a:srgbClr val="000000"/>
                          </a:solidFill>
                          <a:latin typeface="Calibri"/>
                        </a:rPr>
                        <a:t>Table 133: North America Market Value by Flavour and Surface Finish, US$ Mn, 2026–2036</a:t>
                      </a:r>
                      <a:endParaRPr sz="1050"/>
                    </a:p>
                  </a:txBody>
                  <a:tcPr marL="9525" marR="9525" marT="9525" marB="0" anchor="ctr"/>
                </a:tc>
              </a:tr>
              <a:tr h="169826">
                <a:tc>
                  <a:txBody>
                    <a:bodyPr wrap="square"/>
                    <a:lstStyle/>
                    <a:p>
                      <a:pPr algn="l"/>
                      <a:r>
                        <a:rPr sz="1050" b="0" i="0">
                          <a:solidFill>
                            <a:srgbClr val="000000"/>
                          </a:solidFill>
                          <a:latin typeface="Calibri"/>
                        </a:rPr>
                        <a:t>Table 134: North America Market Value by Flavour and Individual Muffin Size, US$ Mn, 2026–2036</a:t>
                      </a:r>
                      <a:endParaRPr sz="1050"/>
                    </a:p>
                  </a:txBody>
                  <a:tcPr marL="9525" marR="9525" marT="9525" marB="0" anchor="ctr"/>
                </a:tc>
              </a:tr>
              <a:tr h="169826">
                <a:tc>
                  <a:txBody>
                    <a:bodyPr wrap="square"/>
                    <a:lstStyle/>
                    <a:p>
                      <a:pPr algn="l"/>
                      <a:r>
                        <a:rPr sz="1050" b="0" i="0">
                          <a:solidFill>
                            <a:srgbClr val="000000"/>
                          </a:solidFill>
                          <a:latin typeface="Calibri"/>
                        </a:rPr>
                        <a:t>Table 135: North America Market Value by Flavour and Storage Format, US$ Mn, 2026–2036</a:t>
                      </a:r>
                      <a:endParaRPr sz="1050"/>
                    </a:p>
                  </a:txBody>
                  <a:tcPr marL="9525" marR="9525" marT="9525" marB="0" anchor="ctr"/>
                </a:tc>
              </a:tr>
              <a:tr h="169826">
                <a:tc>
                  <a:txBody>
                    <a:bodyPr wrap="square"/>
                    <a:lstStyle/>
                    <a:p>
                      <a:pPr algn="l"/>
                      <a:r>
                        <a:rPr sz="1050" b="0" i="0">
                          <a:solidFill>
                            <a:srgbClr val="000000"/>
                          </a:solidFill>
                          <a:latin typeface="Calibri"/>
                        </a:rPr>
                        <a:t>Table 136: North America Market Value by Flavour and Shelf Life, US$ Mn, 2026–2036</a:t>
                      </a:r>
                      <a:endParaRPr sz="1050"/>
                    </a:p>
                  </a:txBody>
                  <a:tcPr marL="9525" marR="9525" marT="9525" marB="0" anchor="ctr"/>
                </a:tc>
              </a:tr>
              <a:tr h="169826">
                <a:tc>
                  <a:txBody>
                    <a:bodyPr wrap="square"/>
                    <a:lstStyle/>
                    <a:p>
                      <a:pPr algn="l"/>
                      <a:r>
                        <a:rPr sz="1050" b="0" i="0">
                          <a:solidFill>
                            <a:srgbClr val="000000"/>
                          </a:solidFill>
                          <a:latin typeface="Calibri"/>
                        </a:rPr>
                        <a:t>Table 137: North America Market Value by Flavour and Packaging Format, US$ Mn, 2026–2036</a:t>
                      </a:r>
                      <a:endParaRPr sz="1050"/>
                    </a:p>
                  </a:txBody>
                  <a:tcPr marL="9525" marR="9525" marT="9525" marB="0" anchor="ctr"/>
                </a:tc>
              </a:tr>
              <a:tr h="169826">
                <a:tc>
                  <a:txBody>
                    <a:bodyPr wrap="square"/>
                    <a:lstStyle/>
                    <a:p>
                      <a:pPr algn="l"/>
                      <a:r>
                        <a:rPr sz="1050" b="0" i="0">
                          <a:solidFill>
                            <a:srgbClr val="000000"/>
                          </a:solidFill>
                          <a:latin typeface="Calibri"/>
                        </a:rPr>
                        <a:t>Table 138: North America Market Value by Flavour and Pack Configuration, US$ Mn, 2026–2036</a:t>
                      </a:r>
                      <a:endParaRPr sz="1050"/>
                    </a:p>
                  </a:txBody>
                  <a:tcPr marL="9525" marR="9525" marT="9525" marB="0" anchor="ctr"/>
                </a:tc>
              </a:tr>
              <a:tr h="169826">
                <a:tc>
                  <a:txBody>
                    <a:bodyPr wrap="square"/>
                    <a:lstStyle/>
                    <a:p>
                      <a:pPr algn="l"/>
                      <a:r>
                        <a:rPr sz="1050" b="0" i="0">
                          <a:solidFill>
                            <a:srgbClr val="000000"/>
                          </a:solidFill>
                          <a:latin typeface="Calibri"/>
                        </a:rPr>
                        <a:t>Table 139: North America Market Value by Flavour and Multipack Wrapping, US$ Mn, 2026–2036</a:t>
                      </a:r>
                      <a:endParaRPr sz="1050"/>
                    </a:p>
                  </a:txBody>
                  <a:tcPr marL="9525" marR="9525" marT="9525" marB="0" anchor="ctr"/>
                </a:tc>
              </a:tr>
              <a:tr h="169826">
                <a:tc>
                  <a:txBody>
                    <a:bodyPr wrap="square"/>
                    <a:lstStyle/>
                    <a:p>
                      <a:pPr algn="l"/>
                      <a:r>
                        <a:rPr sz="1050" b="0" i="0">
                          <a:solidFill>
                            <a:srgbClr val="000000"/>
                          </a:solidFill>
                          <a:latin typeface="Calibri"/>
                        </a:rPr>
                        <a:t>Table 140: U.S.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141: U.S.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142: U.S. Market Value by Sales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143: U.S. Market Share within North America, %, 2025, 2026 and 2036</a:t>
                      </a:r>
                      <a:endParaRPr sz="1050"/>
                    </a:p>
                  </a:txBody>
                  <a:tcPr marL="9525" marR="9525" marT="9525" marB="0" anchor="ctr"/>
                </a:tc>
              </a:tr>
              <a:tr h="169826">
                <a:tc>
                  <a:txBody>
                    <a:bodyPr wrap="square"/>
                    <a:lstStyle/>
                    <a:p>
                      <a:pPr algn="l"/>
                      <a:r>
                        <a:rPr sz="1050" b="0" i="0">
                          <a:solidFill>
                            <a:srgbClr val="000000"/>
                          </a:solidFill>
                          <a:latin typeface="Calibri"/>
                        </a:rPr>
                        <a:t>Table 144: U.S. Market Value by Flavour, US$ Mn, 2021–2036</a:t>
                      </a:r>
                      <a:endParaRPr sz="1050"/>
                    </a:p>
                  </a:txBody>
                  <a:tcPr marL="9525" marR="9525" marT="9525" marB="0" anchor="ctr"/>
                </a:tc>
              </a:tr>
              <a:tr h="169826">
                <a:tc>
                  <a:txBody>
                    <a:bodyPr wrap="square"/>
                    <a:lstStyle/>
                    <a:p>
                      <a:pPr algn="l"/>
                      <a:r>
                        <a:rPr sz="1050" b="0" i="0">
                          <a:solidFill>
                            <a:srgbClr val="000000"/>
                          </a:solidFill>
                          <a:latin typeface="Calibri"/>
                        </a:rPr>
                        <a:t>Table 145: U.S. Market Value by Primary Flour Base, US$ Mn, 2021–2036</a:t>
                      </a:r>
                      <a:endParaRPr sz="1050"/>
                    </a:p>
                  </a:txBody>
                  <a:tcPr marL="9525" marR="9525" marT="9525" marB="0" anchor="ctr"/>
                </a:tc>
              </a:tr>
              <a:tr h="169826">
                <a:tc>
                  <a:txBody>
                    <a:bodyPr wrap="square"/>
                    <a:lstStyle/>
                    <a:p>
                      <a:pPr algn="l"/>
                      <a:r>
                        <a:rPr sz="1050" b="0" i="0">
                          <a:solidFill>
                            <a:srgbClr val="000000"/>
                          </a:solidFill>
                          <a:latin typeface="Calibri"/>
                        </a:rPr>
                        <a:t>Table 146: U.S. Market Value by Dietary Formulation, US$ Mn, 2021–2036</a:t>
                      </a:r>
                      <a:endParaRPr sz="1050"/>
                    </a:p>
                  </a:txBody>
                  <a:tcPr marL="9525" marR="9525" marT="9525" marB="0" anchor="ctr"/>
                </a:tc>
              </a:tr>
              <a:tr h="169826">
                <a:tc>
                  <a:txBody>
                    <a:bodyPr wrap="square"/>
                    <a:lstStyle/>
                    <a:p>
                      <a:pPr algn="l"/>
                      <a:r>
                        <a:rPr sz="1050" b="0" i="0">
                          <a:solidFill>
                            <a:srgbClr val="000000"/>
                          </a:solidFill>
                          <a:latin typeface="Calibri"/>
                        </a:rPr>
                        <a:t>Table 147: U.S. Market Value by Nutritional Positioning, US$ Mn, 2021–2036</a:t>
                      </a:r>
                      <a:endParaRPr sz="1050"/>
                    </a:p>
                  </a:txBody>
                  <a:tcPr marL="9525" marR="9525" marT="9525" marB="0" anchor="ctr"/>
                </a:tc>
              </a:tr>
              <a:tr h="169826">
                <a:tc>
                  <a:txBody>
                    <a:bodyPr wrap="square"/>
                    <a:lstStyle/>
                    <a:p>
                      <a:pPr algn="l"/>
                      <a:r>
                        <a:rPr sz="1050" b="0" i="0">
                          <a:solidFill>
                            <a:srgbClr val="000000"/>
                          </a:solidFill>
                          <a:latin typeface="Calibri"/>
                        </a:rPr>
                        <a:t>Table 148: U.S. Market Value by Recipe and Ingredient Claims, US$ Mn, 2021–2036</a:t>
                      </a:r>
                      <a:endParaRPr sz="1050"/>
                    </a:p>
                  </a:txBody>
                  <a:tcPr marL="9525" marR="9525" marT="9525" marB="0" anchor="ctr"/>
                </a:tc>
              </a:tr>
              <a:tr h="169826">
                <a:tc>
                  <a:txBody>
                    <a:bodyPr wrap="square"/>
                    <a:lstStyle/>
                    <a:p>
                      <a:pPr algn="l"/>
                      <a:r>
                        <a:rPr sz="1050" b="0" i="0">
                          <a:solidFill>
                            <a:srgbClr val="000000"/>
                          </a:solidFill>
                          <a:latin typeface="Calibri"/>
                        </a:rPr>
                        <a:t>Table 149: U.S. Market Value by Product Structure, US$ Mn, 2021–2036</a:t>
                      </a:r>
                      <a:endParaRPr sz="1050"/>
                    </a:p>
                  </a:txBody>
                  <a:tcPr marL="9525" marR="9525" marT="9525" marB="0" anchor="ctr"/>
                </a:tc>
              </a:tr>
              <a:tr h="169826">
                <a:tc>
                  <a:txBody>
                    <a:bodyPr wrap="square"/>
                    <a:lstStyle/>
                    <a:p>
                      <a:pPr algn="l"/>
                      <a:r>
                        <a:rPr sz="1050" b="0" i="0">
                          <a:solidFill>
                            <a:srgbClr val="000000"/>
                          </a:solidFill>
                          <a:latin typeface="Calibri"/>
                        </a:rPr>
                        <a:t>Table 150: U.S. Market Value by Surface Finish, US$ Mn, 2021–2036</a:t>
                      </a:r>
                      <a:endParaRPr sz="1050"/>
                    </a:p>
                  </a:txBody>
                  <a:tcPr marL="9525" marR="9525" marT="9525" marB="0" anchor="ctr"/>
                </a:tc>
              </a:tr>
              <a:tr h="169826">
                <a:tc>
                  <a:txBody>
                    <a:bodyPr wrap="square"/>
                    <a:lstStyle/>
                    <a:p>
                      <a:pPr algn="l"/>
                      <a:r>
                        <a:rPr sz="1050" b="0" i="0">
                          <a:solidFill>
                            <a:srgbClr val="000000"/>
                          </a:solidFill>
                          <a:latin typeface="Calibri"/>
                        </a:rPr>
                        <a:t>Table 151: U.S. Market Value by Individual Muffin Size, US$ Mn, 2021–2036</a:t>
                      </a:r>
                      <a:endParaRPr sz="1050"/>
                    </a:p>
                  </a:txBody>
                  <a:tcPr marL="9525" marR="9525" marT="9525" marB="0" anchor="ctr"/>
                </a:tc>
              </a:tr>
              <a:tr h="169826">
                <a:tc>
                  <a:txBody>
                    <a:bodyPr wrap="square"/>
                    <a:lstStyle/>
                    <a:p>
                      <a:pPr algn="l"/>
                      <a:r>
                        <a:rPr sz="1050" b="0" i="0">
                          <a:solidFill>
                            <a:srgbClr val="000000"/>
                          </a:solidFill>
                          <a:latin typeface="Calibri"/>
                        </a:rPr>
                        <a:t>Table 152: Canada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153: Canada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154: Canada Market Value by Sales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155: Canada Market Share within North America, %, 2025, 2026 and 2036</a:t>
                      </a:r>
                      <a:endParaRPr sz="1050"/>
                    </a:p>
                  </a:txBody>
                  <a:tcPr marL="9525" marR="9525" marT="9525" marB="0" anchor="ctr"/>
                </a:tc>
              </a:tr>
              <a:tr h="169826">
                <a:tc>
                  <a:txBody>
                    <a:bodyPr wrap="square"/>
                    <a:lstStyle/>
                    <a:p>
                      <a:pPr algn="l"/>
                      <a:r>
                        <a:rPr sz="1050" b="0" i="0">
                          <a:solidFill>
                            <a:srgbClr val="000000"/>
                          </a:solidFill>
                          <a:latin typeface="Calibri"/>
                        </a:rPr>
                        <a:t>Table 156: Canada Market Value by Flavour, US$ Mn, 2021–2036</a:t>
                      </a:r>
                      <a:endParaRPr sz="1050"/>
                    </a:p>
                  </a:txBody>
                  <a:tcPr marL="9525" marR="9525" marT="9525" marB="0" anchor="ctr"/>
                </a:tc>
              </a:tr>
              <a:tr h="169826">
                <a:tc>
                  <a:txBody>
                    <a:bodyPr wrap="square"/>
                    <a:lstStyle/>
                    <a:p>
                      <a:pPr algn="l"/>
                      <a:r>
                        <a:rPr sz="1050" b="0" i="0">
                          <a:solidFill>
                            <a:srgbClr val="000000"/>
                          </a:solidFill>
                          <a:latin typeface="Calibri"/>
                        </a:rPr>
                        <a:t>Table 157: Canada Market Value by Primary Flour Base, US$ Mn, 2021–2036</a:t>
                      </a:r>
                      <a:endParaRPr sz="1050"/>
                    </a:p>
                  </a:txBody>
                  <a:tcPr marL="9525" marR="9525" marT="9525" marB="0" anchor="ctr"/>
                </a:tc>
              </a:tr>
              <a:tr h="169826">
                <a:tc>
                  <a:txBody>
                    <a:bodyPr wrap="square"/>
                    <a:lstStyle/>
                    <a:p>
                      <a:pPr algn="l"/>
                      <a:r>
                        <a:rPr sz="1050" b="0" i="0">
                          <a:solidFill>
                            <a:srgbClr val="000000"/>
                          </a:solidFill>
                          <a:latin typeface="Calibri"/>
                        </a:rPr>
                        <a:t>Table 158: Canada Market Value by Dietary Formulation, US$ Mn, 2021–2036</a:t>
                      </a:r>
                      <a:endParaRPr sz="1050"/>
                    </a:p>
                  </a:txBody>
                  <a:tcPr marL="9525" marR="9525" marT="9525" marB="0" anchor="ctr"/>
                </a:tc>
              </a:tr>
              <a:tr h="169826">
                <a:tc>
                  <a:txBody>
                    <a:bodyPr wrap="square"/>
                    <a:lstStyle/>
                    <a:p>
                      <a:pPr algn="l"/>
                      <a:r>
                        <a:rPr sz="1050" b="0" i="0">
                          <a:solidFill>
                            <a:srgbClr val="000000"/>
                          </a:solidFill>
                          <a:latin typeface="Calibri"/>
                        </a:rPr>
                        <a:t>Table 159: Canada Market Value by Nutritional Positioning, US$ Mn,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160: Canada Market Value by Recipe and Ingredient Claims, US$ Mn, 2021–2036</a:t>
                      </a:r>
                      <a:endParaRPr sz="1050"/>
                    </a:p>
                  </a:txBody>
                  <a:tcPr marL="9525" marR="9525" marT="9525" marB="0" anchor="ctr"/>
                </a:tc>
              </a:tr>
              <a:tr h="170266">
                <a:tc>
                  <a:txBody>
                    <a:bodyPr wrap="square"/>
                    <a:lstStyle/>
                    <a:p>
                      <a:pPr algn="l"/>
                      <a:r>
                        <a:rPr sz="1050" b="0" i="0">
                          <a:solidFill>
                            <a:srgbClr val="000000"/>
                          </a:solidFill>
                          <a:latin typeface="Calibri"/>
                        </a:rPr>
                        <a:t>Table 161: Canada Market Value by Product Structure, US$ Mn, 2021–2036</a:t>
                      </a:r>
                      <a:endParaRPr sz="1050"/>
                    </a:p>
                  </a:txBody>
                  <a:tcPr marL="9525" marR="9525" marT="9525" marB="0" anchor="ctr"/>
                </a:tc>
              </a:tr>
              <a:tr h="170266">
                <a:tc>
                  <a:txBody>
                    <a:bodyPr wrap="square"/>
                    <a:lstStyle/>
                    <a:p>
                      <a:pPr algn="l"/>
                      <a:r>
                        <a:rPr sz="1050" b="0" i="0">
                          <a:solidFill>
                            <a:srgbClr val="000000"/>
                          </a:solidFill>
                          <a:latin typeface="Calibri"/>
                        </a:rPr>
                        <a:t>Table 162: Canada Market Value by Surface Finish, US$ Mn, 2021–2036</a:t>
                      </a:r>
                      <a:endParaRPr sz="1050"/>
                    </a:p>
                  </a:txBody>
                  <a:tcPr marL="9525" marR="9525" marT="9525" marB="0" anchor="ctr"/>
                </a:tc>
              </a:tr>
              <a:tr h="170266">
                <a:tc>
                  <a:txBody>
                    <a:bodyPr wrap="square"/>
                    <a:lstStyle/>
                    <a:p>
                      <a:pPr algn="l"/>
                      <a:r>
                        <a:rPr sz="1050" b="0" i="0">
                          <a:solidFill>
                            <a:srgbClr val="000000"/>
                          </a:solidFill>
                          <a:latin typeface="Calibri"/>
                        </a:rPr>
                        <a:t>Table 163: Canada Market Value by Individual Muffin Size, US$ Mn, 2021–2036</a:t>
                      </a:r>
                      <a:endParaRPr sz="1050"/>
                    </a:p>
                  </a:txBody>
                  <a:tcPr marL="9525" marR="9525" marT="9525" marB="0" anchor="ctr"/>
                </a:tc>
              </a:tr>
              <a:tr h="170266">
                <a:tc>
                  <a:txBody>
                    <a:bodyPr wrap="square"/>
                    <a:lstStyle/>
                    <a:p>
                      <a:pPr algn="l"/>
                      <a:r>
                        <a:rPr sz="1050" b="0" i="0">
                          <a:solidFill>
                            <a:srgbClr val="000000"/>
                          </a:solidFill>
                          <a:latin typeface="Calibri"/>
                        </a:rPr>
                        <a:t>Table 164: Market Product Price Comparison by Company and Product Type, US$/MT, 2026</a:t>
                      </a:r>
                      <a:endParaRPr sz="1050"/>
                    </a:p>
                  </a:txBody>
                  <a:tcPr marL="9525" marR="9525" marT="9525" marB="0" anchor="ctr"/>
                </a:tc>
              </a:tr>
              <a:tr h="170266">
                <a:tc>
                  <a:txBody>
                    <a:bodyPr wrap="square"/>
                    <a:lstStyle/>
                    <a:p>
                      <a:pPr algn="l"/>
                      <a:r>
                        <a:rPr sz="1050" b="0" i="0">
                          <a:solidFill>
                            <a:srgbClr val="000000"/>
                          </a:solidFill>
                          <a:latin typeface="Calibri"/>
                        </a:rPr>
                        <a:t>Table 165: North America Market Average Selling Price, US$/MT, 2021–2036</a:t>
                      </a:r>
                      <a:endParaRPr sz="1050"/>
                    </a:p>
                  </a:txBody>
                  <a:tcPr marL="9525" marR="9525" marT="9525" marB="0" anchor="ctr"/>
                </a:tc>
              </a:tr>
              <a:tr h="170266">
                <a:tc>
                  <a:txBody>
                    <a:bodyPr wrap="square"/>
                    <a:lstStyle/>
                    <a:p>
                      <a:pPr algn="l"/>
                      <a:r>
                        <a:rPr sz="1050" b="0" i="0">
                          <a:solidFill>
                            <a:srgbClr val="000000"/>
                          </a:solidFill>
                          <a:latin typeface="Calibri"/>
                        </a:rPr>
                        <a:t>Table 166: North America Market Average Selling Price by Product Type, US$/MT, 2021–2036</a:t>
                      </a:r>
                      <a:endParaRPr sz="1050"/>
                    </a:p>
                  </a:txBody>
                  <a:tcPr marL="9525" marR="9525" marT="9525" marB="0" anchor="ctr"/>
                </a:tc>
              </a:tr>
              <a:tr h="170266">
                <a:tc>
                  <a:txBody>
                    <a:bodyPr wrap="square"/>
                    <a:lstStyle/>
                    <a:p>
                      <a:pPr algn="l"/>
                      <a:r>
                        <a:rPr sz="1050" b="0" i="0">
                          <a:solidFill>
                            <a:srgbClr val="000000"/>
                          </a:solidFill>
                          <a:latin typeface="Calibri"/>
                        </a:rPr>
                        <a:t>Table 167: North America Market Average Selling Price by Flavour, US$/MT, 2021–2036</a:t>
                      </a:r>
                      <a:endParaRPr sz="1050"/>
                    </a:p>
                  </a:txBody>
                  <a:tcPr marL="9525" marR="9525" marT="9525" marB="0" anchor="ctr"/>
                </a:tc>
              </a:tr>
              <a:tr h="170266">
                <a:tc>
                  <a:txBody>
                    <a:bodyPr wrap="square"/>
                    <a:lstStyle/>
                    <a:p>
                      <a:pPr algn="l"/>
                      <a:r>
                        <a:rPr sz="1050" b="0" i="0">
                          <a:solidFill>
                            <a:srgbClr val="000000"/>
                          </a:solidFill>
                          <a:latin typeface="Calibri"/>
                        </a:rPr>
                        <a:t>Table 168: North America Market Average Selling Price by Primary Flour Base, US$/MT, 2021–2036</a:t>
                      </a:r>
                      <a:endParaRPr sz="1050"/>
                    </a:p>
                  </a:txBody>
                  <a:tcPr marL="9525" marR="9525" marT="9525" marB="0" anchor="ctr"/>
                </a:tc>
              </a:tr>
              <a:tr h="170266">
                <a:tc>
                  <a:txBody>
                    <a:bodyPr wrap="square"/>
                    <a:lstStyle/>
                    <a:p>
                      <a:pPr algn="l"/>
                      <a:r>
                        <a:rPr sz="1050" b="0" i="0">
                          <a:solidFill>
                            <a:srgbClr val="000000"/>
                          </a:solidFill>
                          <a:latin typeface="Calibri"/>
                        </a:rPr>
                        <a:t>Table 169: North America Market Average Selling Price by Dietary Formulation, US$/MT, 2021–2036</a:t>
                      </a:r>
                      <a:endParaRPr sz="1050"/>
                    </a:p>
                  </a:txBody>
                  <a:tcPr marL="9525" marR="9525" marT="9525" marB="0" anchor="ctr"/>
                </a:tc>
              </a:tr>
              <a:tr h="170266">
                <a:tc>
                  <a:txBody>
                    <a:bodyPr wrap="square"/>
                    <a:lstStyle/>
                    <a:p>
                      <a:pPr algn="l"/>
                      <a:r>
                        <a:rPr sz="1050" b="0" i="0">
                          <a:solidFill>
                            <a:srgbClr val="000000"/>
                          </a:solidFill>
                          <a:latin typeface="Calibri"/>
                        </a:rPr>
                        <a:t>Table 170: North America Market Average Selling Price by Nutritional Positioning, US$/MT, 2021–2036</a:t>
                      </a:r>
                      <a:endParaRPr sz="1050"/>
                    </a:p>
                  </a:txBody>
                  <a:tcPr marL="9525" marR="9525" marT="9525" marB="0" anchor="ctr"/>
                </a:tc>
              </a:tr>
              <a:tr h="333720">
                <a:tc>
                  <a:txBody>
                    <a:bodyPr wrap="square"/>
                    <a:lstStyle/>
                    <a:p>
                      <a:pPr algn="l"/>
                      <a:r>
                        <a:rPr sz="1050" b="0" i="0">
                          <a:solidFill>
                            <a:srgbClr val="000000"/>
                          </a:solidFill>
                          <a:latin typeface="Calibri"/>
                        </a:rPr>
                        <a:t>Table 171: North America Market Average Selling Price by Recipe and Ingredient Claims, US$/MT, 2021–2036</a:t>
                      </a:r>
                      <a:endParaRPr sz="1050"/>
                    </a:p>
                  </a:txBody>
                  <a:tcPr marL="9525" marR="9525" marT="9525" marB="0" anchor="ctr"/>
                </a:tc>
              </a:tr>
              <a:tr h="170266">
                <a:tc>
                  <a:txBody>
                    <a:bodyPr wrap="square"/>
                    <a:lstStyle/>
                    <a:p>
                      <a:pPr algn="l"/>
                      <a:r>
                        <a:rPr sz="1050" b="0" i="0">
                          <a:solidFill>
                            <a:srgbClr val="000000"/>
                          </a:solidFill>
                          <a:latin typeface="Calibri"/>
                        </a:rPr>
                        <a:t>Table 172: North America Market Average Selling Price by Product Structure, US$/MT, 2021–2036</a:t>
                      </a:r>
                      <a:endParaRPr sz="1050"/>
                    </a:p>
                  </a:txBody>
                  <a:tcPr marL="9525" marR="9525" marT="9525" marB="0" anchor="ctr"/>
                </a:tc>
              </a:tr>
              <a:tr h="170266">
                <a:tc>
                  <a:txBody>
                    <a:bodyPr wrap="square"/>
                    <a:lstStyle/>
                    <a:p>
                      <a:pPr algn="l"/>
                      <a:r>
                        <a:rPr sz="1050" b="0" i="0">
                          <a:solidFill>
                            <a:srgbClr val="000000"/>
                          </a:solidFill>
                          <a:latin typeface="Calibri"/>
                        </a:rPr>
                        <a:t>Table 173: North America Market Average Selling Price by Surface Finish, US$/MT, 2021–2036</a:t>
                      </a:r>
                      <a:endParaRPr sz="1050"/>
                    </a:p>
                  </a:txBody>
                  <a:tcPr marL="9525" marR="9525" marT="9525" marB="0" anchor="ctr"/>
                </a:tc>
              </a:tr>
              <a:tr h="170266">
                <a:tc>
                  <a:txBody>
                    <a:bodyPr wrap="square"/>
                    <a:lstStyle/>
                    <a:p>
                      <a:pPr algn="l"/>
                      <a:r>
                        <a:rPr sz="1050" b="0" i="0">
                          <a:solidFill>
                            <a:srgbClr val="000000"/>
                          </a:solidFill>
                          <a:latin typeface="Calibri"/>
                        </a:rPr>
                        <a:t>Table 174: North America Market Average Selling Price by Individual Muffin Size, US$/MT, 2021–2036</a:t>
                      </a:r>
                      <a:endParaRPr sz="1050"/>
                    </a:p>
                  </a:txBody>
                  <a:tcPr marL="9525" marR="9525" marT="9525" marB="0" anchor="ctr"/>
                </a:tc>
              </a:tr>
              <a:tr h="170266">
                <a:tc>
                  <a:txBody>
                    <a:bodyPr wrap="square"/>
                    <a:lstStyle/>
                    <a:p>
                      <a:pPr algn="l"/>
                      <a:r>
                        <a:rPr sz="1050" b="0" i="0">
                          <a:solidFill>
                            <a:srgbClr val="000000"/>
                          </a:solidFill>
                          <a:latin typeface="Calibri"/>
                        </a:rPr>
                        <a:t>Table 175: North America Market Average Selling Price by Storage Format, US$/MT, 2021–2036</a:t>
                      </a:r>
                      <a:endParaRPr sz="1050"/>
                    </a:p>
                  </a:txBody>
                  <a:tcPr marL="9525" marR="9525" marT="9525" marB="0" anchor="ctr"/>
                </a:tc>
              </a:tr>
              <a:tr h="170266">
                <a:tc>
                  <a:txBody>
                    <a:bodyPr wrap="square"/>
                    <a:lstStyle/>
                    <a:p>
                      <a:pPr algn="l"/>
                      <a:r>
                        <a:rPr sz="1050" b="0" i="0">
                          <a:solidFill>
                            <a:srgbClr val="000000"/>
                          </a:solidFill>
                          <a:latin typeface="Calibri"/>
                        </a:rPr>
                        <a:t>Table 176: North America Market Average Selling Price by Shelf Life, US$/MT, 2021–2036</a:t>
                      </a:r>
                      <a:endParaRPr sz="1050"/>
                    </a:p>
                  </a:txBody>
                  <a:tcPr marL="9525" marR="9525" marT="9525" marB="0" anchor="ctr"/>
                </a:tc>
              </a:tr>
              <a:tr h="170266">
                <a:tc>
                  <a:txBody>
                    <a:bodyPr wrap="square"/>
                    <a:lstStyle/>
                    <a:p>
                      <a:pPr algn="l"/>
                      <a:r>
                        <a:rPr sz="1050" b="0" i="0">
                          <a:solidFill>
                            <a:srgbClr val="000000"/>
                          </a:solidFill>
                          <a:latin typeface="Calibri"/>
                        </a:rPr>
                        <a:t>Table 177: North America Market Average Selling Price by Packaging Format, US$/MT, 2021–2036</a:t>
                      </a:r>
                      <a:endParaRPr sz="1050"/>
                    </a:p>
                  </a:txBody>
                  <a:tcPr marL="9525" marR="9525" marT="9525" marB="0" anchor="ctr"/>
                </a:tc>
              </a:tr>
              <a:tr h="170266">
                <a:tc>
                  <a:txBody>
                    <a:bodyPr wrap="square"/>
                    <a:lstStyle/>
                    <a:p>
                      <a:pPr algn="l"/>
                      <a:r>
                        <a:rPr sz="1050" b="0" i="0">
                          <a:solidFill>
                            <a:srgbClr val="000000"/>
                          </a:solidFill>
                          <a:latin typeface="Calibri"/>
                        </a:rPr>
                        <a:t>Table 178: North America Market Average Selling Price by Pack Configuration, US$/MT, 2021–2036</a:t>
                      </a:r>
                      <a:endParaRPr sz="1050"/>
                    </a:p>
                  </a:txBody>
                  <a:tcPr marL="9525" marR="9525" marT="9525" marB="0" anchor="ctr"/>
                </a:tc>
              </a:tr>
              <a:tr h="170266">
                <a:tc>
                  <a:txBody>
                    <a:bodyPr wrap="square"/>
                    <a:lstStyle/>
                    <a:p>
                      <a:pPr algn="l"/>
                      <a:r>
                        <a:rPr sz="1050" b="0" i="0">
                          <a:solidFill>
                            <a:srgbClr val="000000"/>
                          </a:solidFill>
                          <a:latin typeface="Calibri"/>
                        </a:rPr>
                        <a:t>Table 179: North America Market Average Selling Price by Multipack Wrapping, US$/MT, 2021–2036</a:t>
                      </a:r>
                      <a:endParaRPr sz="1050"/>
                    </a:p>
                  </a:txBody>
                  <a:tcPr marL="9525" marR="9525" marT="9525" marB="0" anchor="ctr"/>
                </a:tc>
              </a:tr>
              <a:tr h="170266">
                <a:tc>
                  <a:txBody>
                    <a:bodyPr wrap="square"/>
                    <a:lstStyle/>
                    <a:p>
                      <a:pPr algn="l"/>
                      <a:r>
                        <a:rPr sz="1050" b="0" i="0">
                          <a:solidFill>
                            <a:srgbClr val="000000"/>
                          </a:solidFill>
                          <a:latin typeface="Calibri"/>
                        </a:rPr>
                        <a:t>Table 180: Leading Packaged Muffins Manufacturers: Product Portfolio and Geographic Presence, 2026</a:t>
                      </a:r>
                      <a:endParaRPr sz="1050"/>
                    </a:p>
                  </a:txBody>
                  <a:tcPr marL="9525" marR="9525" marT="9525" marB="0" anchor="ctr"/>
                </a:tc>
              </a:tr>
              <a:tr h="170266">
                <a:tc>
                  <a:txBody>
                    <a:bodyPr wrap="square"/>
                    <a:lstStyle/>
                    <a:p>
                      <a:pPr algn="l"/>
                      <a:r>
                        <a:rPr sz="1050" b="0" i="0">
                          <a:solidFill>
                            <a:srgbClr val="000000"/>
                          </a:solidFill>
                          <a:latin typeface="Calibri"/>
                        </a:rPr>
                        <a:t>Table 181: Company Revenue from the North America Market, US$ Mn, 2025–2026</a:t>
                      </a:r>
                      <a:endParaRPr sz="1050"/>
                    </a:p>
                  </a:txBody>
                  <a:tcPr marL="9525" marR="9525" marT="9525" marB="0" anchor="ctr"/>
                </a:tc>
              </a:tr>
              <a:tr h="170266">
                <a:tc>
                  <a:txBody>
                    <a:bodyPr wrap="square"/>
                    <a:lstStyle/>
                    <a:p>
                      <a:pPr algn="l"/>
                      <a:r>
                        <a:rPr sz="1050" b="0" i="0">
                          <a:solidFill>
                            <a:srgbClr val="000000"/>
                          </a:solidFill>
                          <a:latin typeface="Calibri"/>
                        </a:rPr>
                        <a:t>Table 182: Company Market Share in the North America Market by Region, %, 2026</a:t>
                      </a:r>
                      <a:endParaRPr sz="1050"/>
                    </a:p>
                  </a:txBody>
                  <a:tcPr marL="9525" marR="9525" marT="9525" marB="0" anchor="ctr"/>
                </a:tc>
              </a:tr>
              <a:tr h="170266">
                <a:tc>
                  <a:txBody>
                    <a:bodyPr wrap="square"/>
                    <a:lstStyle/>
                    <a:p>
                      <a:pPr algn="l"/>
                      <a:r>
                        <a:rPr sz="1050" b="0" i="0">
                          <a:solidFill>
                            <a:srgbClr val="000000"/>
                          </a:solidFill>
                          <a:latin typeface="Calibri"/>
                        </a:rPr>
                        <a:t>Table 183: North America Market Competitive Benchmarking Matrix, 2026</a:t>
                      </a:r>
                      <a:endParaRPr sz="1050"/>
                    </a:p>
                  </a:txBody>
                  <a:tcPr marL="9525" marR="9525" marT="9525" marB="0" anchor="ctr"/>
                </a:tc>
              </a:tr>
              <a:tr h="170266">
                <a:tc>
                  <a:txBody>
                    <a:bodyPr wrap="square"/>
                    <a:lstStyle/>
                    <a:p>
                      <a:pPr algn="l"/>
                      <a:r>
                        <a:rPr sz="1050" b="0" i="0">
                          <a:solidFill>
                            <a:srgbClr val="000000"/>
                          </a:solidFill>
                          <a:latin typeface="Calibri"/>
                        </a:rPr>
                        <a:t>Table 184: North America Market Mergers, Acquisitions and Partnerships, 2021–2026</a:t>
                      </a:r>
                      <a:endParaRPr sz="1050"/>
                    </a:p>
                  </a:txBody>
                  <a:tcPr marL="9525" marR="9525" marT="9525" marB="0" anchor="ctr"/>
                </a:tc>
              </a:tr>
              <a:tr h="333720">
                <a:tc>
                  <a:txBody>
                    <a:bodyPr wrap="square"/>
                    <a:lstStyle/>
                    <a:p>
                      <a:pPr algn="l"/>
                      <a:r>
                        <a:rPr sz="1050" b="0" i="0">
                          <a:solidFill>
                            <a:srgbClr val="000000"/>
                          </a:solidFill>
                          <a:latin typeface="Calibri"/>
                        </a:rPr>
                        <a:t>Table 185: Grupo Bimbo (Bimbo, Marinela, Little Bites, Thomas'): Company Overview, Products and Strategy, 2026</a:t>
                      </a:r>
                      <a:endParaRPr sz="1050"/>
                    </a:p>
                  </a:txBody>
                  <a:tcPr marL="9525" marR="9525" marT="9525" marB="0" anchor="ctr"/>
                </a:tc>
              </a:tr>
              <a:tr h="333720">
                <a:tc>
                  <a:txBody>
                    <a:bodyPr wrap="square"/>
                    <a:lstStyle/>
                    <a:p>
                      <a:pPr algn="l"/>
                      <a:r>
                        <a:rPr sz="1050" b="0" i="0">
                          <a:solidFill>
                            <a:srgbClr val="000000"/>
                          </a:solidFill>
                          <a:latin typeface="Calibri"/>
                        </a:rPr>
                        <a:t>Table 186: McKee Foods Corporation (Little Debbie, Sunbelt Bakery, Drake's, Fieldstone Bakery): Company Overview, Products and Strategy, 2026</a:t>
                      </a:r>
                      <a:endParaRPr sz="1050"/>
                    </a:p>
                  </a:txBody>
                  <a:tcPr marL="9525" marR="9525" marT="9525" marB="0" anchor="ctr"/>
                </a:tc>
              </a:tr>
              <a:tr h="170266">
                <a:tc>
                  <a:txBody>
                    <a:bodyPr wrap="square"/>
                    <a:lstStyle/>
                    <a:p>
                      <a:pPr algn="l"/>
                      <a:r>
                        <a:rPr sz="1050" b="0" i="0">
                          <a:solidFill>
                            <a:srgbClr val="000000"/>
                          </a:solidFill>
                          <a:latin typeface="Calibri"/>
                        </a:rPr>
                        <a:t>Table 187: Hostess Brands (Hostess): Company Overview, Products and Strategy, 2026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2647004"/>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188: Rich Products Corporation (Rich's): Company Overview, Products and Strategy, 2026</a:t>
                      </a:r>
                      <a:endParaRPr sz="1050"/>
                    </a:p>
                  </a:txBody>
                  <a:tcPr marL="9525" marR="9525" marT="9525" marB="0" anchor="ctr"/>
                </a:tc>
              </a:tr>
              <a:tr h="326708">
                <a:tc>
                  <a:txBody>
                    <a:bodyPr wrap="square"/>
                    <a:lstStyle/>
                    <a:p>
                      <a:pPr algn="l"/>
                      <a:r>
                        <a:rPr sz="1050" b="0" i="0">
                          <a:solidFill>
                            <a:srgbClr val="000000"/>
                          </a:solidFill>
                          <a:latin typeface="Calibri"/>
                        </a:rPr>
                        <a:t>Table 189: ARYZTA / Aspire Bakeries (Otis Spunkmeyer, Cuisine de France, Hiestand, Delice de France):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Europastry (Europastry, Dots):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Bridor (Bridor, Evasions): Company Overview, Products and Strategy, 2026</a:t>
                      </a:r>
                      <a:endParaRPr sz="1050"/>
                    </a:p>
                  </a:txBody>
                  <a:tcPr marL="9525" marR="9525" marT="9525" marB="0" anchor="ctr"/>
                </a:tc>
              </a:tr>
              <a:tr h="326708">
                <a:tc>
                  <a:txBody>
                    <a:bodyPr wrap="square"/>
                    <a:lstStyle/>
                    <a:p>
                      <a:pPr algn="l"/>
                      <a:r>
                        <a:rPr sz="1050" b="0" i="0">
                          <a:solidFill>
                            <a:srgbClr val="000000"/>
                          </a:solidFill>
                          <a:latin typeface="Calibri"/>
                        </a:rPr>
                        <a:t>Table 192: Lantmännen Unibake (Schulstad, Hatting, Vaasan, Pastridor, Euro-Bake): Company Overview, Products and Strategy, 2026</a:t>
                      </a:r>
                      <a:endParaRPr sz="1050"/>
                    </a:p>
                  </a:txBody>
                  <a:tcPr marL="9525" marR="9525" marT="9525" marB="0" anchor="ctr"/>
                </a:tc>
              </a:tr>
              <a:tr h="326708">
                <a:tc>
                  <a:txBody>
                    <a:bodyPr wrap="square"/>
                    <a:lstStyle/>
                    <a:p>
                      <a:pPr algn="l"/>
                      <a:r>
                        <a:rPr sz="1050" b="0" i="0">
                          <a:solidFill>
                            <a:srgbClr val="000000"/>
                          </a:solidFill>
                          <a:latin typeface="Calibri"/>
                        </a:rPr>
                        <a:t>Table 193: Flowers Foods (Tastykake, Nature's Own, Wonder, Dave's Killer Bread, Canyon Bakehouse):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Premier Foods (Mr Kipling):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195: North America Market Value by Scenario, US$ Mn, 2026–2036</a:t>
                      </a:r>
                      <a:endParaRPr sz="1050"/>
                    </a:p>
                  </a:txBody>
                  <a:tcPr marL="9525" marR="9525" marT="9525" marB="0" anchor="ctr"/>
                </a:tc>
              </a:tr>
              <a:tr h="166688">
                <a:tc>
                  <a:txBody>
                    <a:bodyPr wrap="square"/>
                    <a:lstStyle/>
                    <a:p>
                      <a:pPr algn="l"/>
                      <a:r>
                        <a:rPr sz="1050" b="0" i="0">
                          <a:solidFill>
                            <a:srgbClr val="000000"/>
                          </a:solidFill>
                          <a:latin typeface="Calibri"/>
                        </a:rPr>
                        <a:t>Table 196: North America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197: North America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198: North America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199: North America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200: North America Market Customer Purchase Criteria by Product Type,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6668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1971675"/>
            <a:ext cx="7239000" cy="5143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2676525"/>
            <a:ext cx="50673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Region</a:t>
            </a:r>
          </a:p>
        </p:txBody>
      </p:sp>
      <p:sp>
        <p:nvSpPr>
          <p:cNvPr id="8" name="TextBox 7"/>
          <p:cNvSpPr txBox="1"/>
          <p:nvPr/>
        </p:nvSpPr>
        <p:spPr>
          <a:xfrm>
            <a:off x="6096000" y="2676525"/>
            <a:ext cx="5067300" cy="51739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Flour Base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Dietary Formulation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Nutritional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Recipe and Ingredient Claims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Surface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Individual Muffin Size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Storage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Shelf Life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Packaging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 Configuration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Multipack Wrapping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Price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Brand Ownership</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Sales Channel</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Summary, By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1384089" cy="194310"/>
          </a:xfrm>
          <a:prstGeom prst="rect">
            <a:avLst/>
          </a:prstGeom>
          <a:noFill/>
        </p:spPr>
        <p:txBody>
          <a:bodyPr wrap="none" lIns="0" rIns="0" tIns="0" bIns="0">
            <a:spAutoFit/>
          </a:bodyPr>
          <a:lstStyle/>
          <a:p>
            <a:r>
              <a:rPr sz="1150" b="0">
                <a:solidFill>
                  <a:srgbClr val="2E2E2E"/>
                </a:solidFill>
                <a:latin typeface="Calibri"/>
              </a:rPr>
              <a:t>▪ The market grows at</a:t>
            </a:r>
          </a:p>
        </p:txBody>
      </p:sp>
      <p:pic>
        <p:nvPicPr>
          <p:cNvPr id="36" name="Picture 35" descr="lock.png"/>
          <p:cNvPicPr>
            <a:picLocks noChangeAspect="1"/>
          </p:cNvPicPr>
          <p:nvPr/>
        </p:nvPicPr>
        <p:blipFill>
          <a:blip r:embed="rId6"/>
          <a:stretch>
            <a:fillRect/>
          </a:stretch>
        </p:blipFill>
        <p:spPr>
          <a:xfrm>
            <a:off x="9381868" y="2036763"/>
            <a:ext cx="134549" cy="195707"/>
          </a:xfrm>
          <a:prstGeom prst="rect">
            <a:avLst/>
          </a:prstGeom>
        </p:spPr>
      </p:pic>
      <p:sp>
        <p:nvSpPr>
          <p:cNvPr id="37" name="TextBox 36"/>
          <p:cNvSpPr txBox="1"/>
          <p:nvPr/>
        </p:nvSpPr>
        <p:spPr>
          <a:xfrm>
            <a:off x="9556977" y="2046987"/>
            <a:ext cx="2148266" cy="194310"/>
          </a:xfrm>
          <a:prstGeom prst="rect">
            <a:avLst/>
          </a:prstGeom>
          <a:noFill/>
        </p:spPr>
        <p:txBody>
          <a:bodyPr wrap="none" lIns="0" rIns="0" tIns="0" bIns="0">
            <a:spAutoFit/>
          </a:bodyPr>
          <a:lstStyle/>
          <a:p>
            <a:r>
              <a:rPr sz="1150" b="0">
                <a:solidFill>
                  <a:srgbClr val="2E2E2E"/>
                </a:solidFill>
                <a:latin typeface="Calibri"/>
              </a:rPr>
              <a:t>CAGR (2021–2026), accelerating to</a:t>
            </a:r>
          </a:p>
        </p:txBody>
      </p:sp>
      <p:pic>
        <p:nvPicPr>
          <p:cNvPr id="38" name="Picture 37" descr="lock.png"/>
          <p:cNvPicPr>
            <a:picLocks noChangeAspect="1"/>
          </p:cNvPicPr>
          <p:nvPr/>
        </p:nvPicPr>
        <p:blipFill>
          <a:blip r:embed="rId6"/>
          <a:stretch>
            <a:fillRect/>
          </a:stretch>
        </p:blipFill>
        <p:spPr>
          <a:xfrm>
            <a:off x="8034545" y="2212023"/>
            <a:ext cx="134549" cy="195707"/>
          </a:xfrm>
          <a:prstGeom prst="rect">
            <a:avLst/>
          </a:prstGeom>
        </p:spPr>
      </p:pic>
      <p:sp>
        <p:nvSpPr>
          <p:cNvPr id="39" name="TextBox 38"/>
          <p:cNvSpPr txBox="1"/>
          <p:nvPr/>
        </p:nvSpPr>
        <p:spPr>
          <a:xfrm>
            <a:off x="8209654" y="2222247"/>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40" name="TextBox 39"/>
          <p:cNvSpPr txBox="1"/>
          <p:nvPr/>
        </p:nvSpPr>
        <p:spPr>
          <a:xfrm>
            <a:off x="8048625" y="2450085"/>
            <a:ext cx="1509315" cy="194310"/>
          </a:xfrm>
          <a:prstGeom prst="rect">
            <a:avLst/>
          </a:prstGeom>
          <a:noFill/>
        </p:spPr>
        <p:txBody>
          <a:bodyPr wrap="none" lIns="0" rIns="0" tIns="0" bIns="0">
            <a:spAutoFit/>
          </a:bodyPr>
          <a:lstStyle/>
          <a:p>
            <a:r>
              <a:rPr sz="1150" b="0">
                <a:solidFill>
                  <a:srgbClr val="2E2E2E"/>
                </a:solidFill>
                <a:latin typeface="Calibri"/>
              </a:rPr>
              <a:t>▪ Incremental volume of</a:t>
            </a:r>
          </a:p>
        </p:txBody>
      </p:sp>
      <p:pic>
        <p:nvPicPr>
          <p:cNvPr id="41" name="Picture 40" descr="lock.png"/>
          <p:cNvPicPr>
            <a:picLocks noChangeAspect="1"/>
          </p:cNvPicPr>
          <p:nvPr/>
        </p:nvPicPr>
        <p:blipFill>
          <a:blip r:embed="rId6"/>
          <a:stretch>
            <a:fillRect/>
          </a:stretch>
        </p:blipFill>
        <p:spPr>
          <a:xfrm>
            <a:off x="9507094" y="2439861"/>
            <a:ext cx="134549" cy="195707"/>
          </a:xfrm>
          <a:prstGeom prst="rect">
            <a:avLst/>
          </a:prstGeom>
        </p:spPr>
      </p:pic>
      <p:sp>
        <p:nvSpPr>
          <p:cNvPr id="42" name="TextBox 41"/>
          <p:cNvSpPr txBox="1"/>
          <p:nvPr/>
        </p:nvSpPr>
        <p:spPr>
          <a:xfrm>
            <a:off x="9682203" y="2450085"/>
            <a:ext cx="1946609" cy="194310"/>
          </a:xfrm>
          <a:prstGeom prst="rect">
            <a:avLst/>
          </a:prstGeom>
          <a:noFill/>
        </p:spPr>
        <p:txBody>
          <a:bodyPr wrap="none" lIns="0" rIns="0" tIns="0" bIns="0">
            <a:spAutoFit/>
          </a:bodyPr>
          <a:lstStyle/>
          <a:p>
            <a:r>
              <a:rPr sz="1150" b="0">
                <a:solidFill>
                  <a:srgbClr val="2E2E2E"/>
                </a:solidFill>
                <a:latin typeface="Calibri"/>
              </a:rPr>
              <a:t>MT is added between 2021 and</a:t>
            </a:r>
          </a:p>
        </p:txBody>
      </p:sp>
      <p:sp>
        <p:nvSpPr>
          <p:cNvPr id="43" name="TextBox 42"/>
          <p:cNvSpPr txBox="1"/>
          <p:nvPr/>
        </p:nvSpPr>
        <p:spPr>
          <a:xfrm>
            <a:off x="8048625" y="2625345"/>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4" name="TextBox 43"/>
          <p:cNvSpPr txBox="1"/>
          <p:nvPr/>
        </p:nvSpPr>
        <p:spPr>
          <a:xfrm>
            <a:off x="8048625" y="2853182"/>
            <a:ext cx="700335" cy="194310"/>
          </a:xfrm>
          <a:prstGeom prst="rect">
            <a:avLst/>
          </a:prstGeom>
          <a:noFill/>
        </p:spPr>
        <p:txBody>
          <a:bodyPr wrap="none" lIns="0" rIns="0" tIns="0" bIns="0">
            <a:spAutoFit/>
          </a:bodyPr>
          <a:lstStyle/>
          <a:p>
            <a:r>
              <a:rPr sz="1150" b="0">
                <a:solidFill>
                  <a:srgbClr val="2E2E2E"/>
                </a:solidFill>
                <a:latin typeface="Calibri"/>
              </a:rPr>
              <a:t>▪ A further</a:t>
            </a:r>
          </a:p>
        </p:txBody>
      </p:sp>
      <p:pic>
        <p:nvPicPr>
          <p:cNvPr id="45" name="Picture 44" descr="lock.png"/>
          <p:cNvPicPr>
            <a:picLocks noChangeAspect="1"/>
          </p:cNvPicPr>
          <p:nvPr/>
        </p:nvPicPr>
        <p:blipFill>
          <a:blip r:embed="rId6"/>
          <a:stretch>
            <a:fillRect/>
          </a:stretch>
        </p:blipFill>
        <p:spPr>
          <a:xfrm>
            <a:off x="8698114" y="2842959"/>
            <a:ext cx="134549" cy="195707"/>
          </a:xfrm>
          <a:prstGeom prst="rect">
            <a:avLst/>
          </a:prstGeom>
        </p:spPr>
      </p:pic>
      <p:sp>
        <p:nvSpPr>
          <p:cNvPr id="46" name="TextBox 45"/>
          <p:cNvSpPr txBox="1"/>
          <p:nvPr/>
        </p:nvSpPr>
        <p:spPr>
          <a:xfrm>
            <a:off x="8873223" y="2853182"/>
            <a:ext cx="2933017" cy="194310"/>
          </a:xfrm>
          <a:prstGeom prst="rect">
            <a:avLst/>
          </a:prstGeom>
          <a:noFill/>
        </p:spPr>
        <p:txBody>
          <a:bodyPr wrap="none" lIns="0" rIns="0" tIns="0" bIns="0">
            <a:spAutoFit/>
          </a:bodyPr>
          <a:lstStyle/>
          <a:p>
            <a:r>
              <a:rPr sz="1150" b="0">
                <a:solidFill>
                  <a:srgbClr val="2E2E2E"/>
                </a:solidFill>
                <a:latin typeface="Calibri"/>
              </a:rPr>
              <a:t>MT is added 2026–2036 more than the previous</a:t>
            </a:r>
          </a:p>
        </p:txBody>
      </p:sp>
      <p:sp>
        <p:nvSpPr>
          <p:cNvPr id="47" name="TextBox 46"/>
          <p:cNvSpPr txBox="1"/>
          <p:nvPr/>
        </p:nvSpPr>
        <p:spPr>
          <a:xfrm>
            <a:off x="8048625" y="3028442"/>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48" name="TextBox 47"/>
          <p:cNvSpPr txBox="1"/>
          <p:nvPr/>
        </p:nvSpPr>
        <p:spPr>
          <a:xfrm>
            <a:off x="8048625" y="3256280"/>
            <a:ext cx="1724682" cy="194310"/>
          </a:xfrm>
          <a:prstGeom prst="rect">
            <a:avLst/>
          </a:prstGeom>
          <a:noFill/>
        </p:spPr>
        <p:txBody>
          <a:bodyPr wrap="none" lIns="0" rIns="0" tIns="0" bIns="0">
            <a:spAutoFit/>
          </a:bodyPr>
          <a:lstStyle/>
          <a:p>
            <a:r>
              <a:rPr sz="1150" b="0">
                <a:solidFill>
                  <a:srgbClr val="2E2E2E"/>
                </a:solidFill>
                <a:latin typeface="Calibri"/>
              </a:rPr>
              <a:t>▪ Total incremental volume:</a:t>
            </a:r>
          </a:p>
        </p:txBody>
      </p:sp>
      <p:pic>
        <p:nvPicPr>
          <p:cNvPr id="49" name="Picture 48" descr="lock.png"/>
          <p:cNvPicPr>
            <a:picLocks noChangeAspect="1"/>
          </p:cNvPicPr>
          <p:nvPr/>
        </p:nvPicPr>
        <p:blipFill>
          <a:blip r:embed="rId6"/>
          <a:stretch>
            <a:fillRect/>
          </a:stretch>
        </p:blipFill>
        <p:spPr>
          <a:xfrm>
            <a:off x="9722461" y="3246057"/>
            <a:ext cx="134549" cy="195707"/>
          </a:xfrm>
          <a:prstGeom prst="rect">
            <a:avLst/>
          </a:prstGeom>
        </p:spPr>
      </p:pic>
      <p:sp>
        <p:nvSpPr>
          <p:cNvPr id="50" name="TextBox 49"/>
          <p:cNvSpPr txBox="1"/>
          <p:nvPr/>
        </p:nvSpPr>
        <p:spPr>
          <a:xfrm>
            <a:off x="9897570" y="3256280"/>
            <a:ext cx="1410903" cy="194310"/>
          </a:xfrm>
          <a:prstGeom prst="rect">
            <a:avLst/>
          </a:prstGeom>
          <a:noFill/>
        </p:spPr>
        <p:txBody>
          <a:bodyPr wrap="none" lIns="0" rIns="0" tIns="0" bIns="0">
            <a:spAutoFit/>
          </a:bodyPr>
          <a:lstStyle/>
          <a:p>
            <a:r>
              <a:rPr sz="1150" b="0">
                <a:solidFill>
                  <a:srgbClr val="2E2E2E"/>
                </a:solidFill>
                <a:latin typeface="Calibri"/>
              </a:rPr>
              <a:t>MT over 2021–2036, a</a:t>
            </a:r>
          </a:p>
        </p:txBody>
      </p:sp>
      <p:pic>
        <p:nvPicPr>
          <p:cNvPr id="51" name="Picture 50" descr="lock.png"/>
          <p:cNvPicPr>
            <a:picLocks noChangeAspect="1"/>
          </p:cNvPicPr>
          <p:nvPr/>
        </p:nvPicPr>
        <p:blipFill>
          <a:blip r:embed="rId6"/>
          <a:stretch>
            <a:fillRect/>
          </a:stretch>
        </p:blipFill>
        <p:spPr>
          <a:xfrm>
            <a:off x="11257627" y="3246057"/>
            <a:ext cx="134549" cy="195707"/>
          </a:xfrm>
          <a:prstGeom prst="rect">
            <a:avLst/>
          </a:prstGeom>
        </p:spPr>
      </p:pic>
      <p:sp>
        <p:nvSpPr>
          <p:cNvPr id="52" name="TextBox 51"/>
          <p:cNvSpPr txBox="1"/>
          <p:nvPr/>
        </p:nvSpPr>
        <p:spPr>
          <a:xfrm>
            <a:off x="11432736" y="3256280"/>
            <a:ext cx="148939" cy="194310"/>
          </a:xfrm>
          <a:prstGeom prst="rect">
            <a:avLst/>
          </a:prstGeom>
          <a:noFill/>
        </p:spPr>
        <p:txBody>
          <a:bodyPr wrap="none" lIns="0" rIns="0" tIns="0" bIns="0">
            <a:spAutoFit/>
          </a:bodyPr>
          <a:lstStyle/>
          <a:p>
            <a:r>
              <a:rPr sz="1150" b="0">
                <a:solidFill>
                  <a:srgbClr val="2E2E2E"/>
                </a:solidFill>
                <a:latin typeface="Calibri"/>
              </a:rPr>
              <a:t>×</a:t>
            </a:r>
          </a:p>
        </p:txBody>
      </p:sp>
      <p:sp>
        <p:nvSpPr>
          <p:cNvPr id="53" name="TextBox 52"/>
          <p:cNvSpPr txBox="1"/>
          <p:nvPr/>
        </p:nvSpPr>
        <p:spPr>
          <a:xfrm>
            <a:off x="8048625" y="3431540"/>
            <a:ext cx="716880" cy="194310"/>
          </a:xfrm>
          <a:prstGeom prst="rect">
            <a:avLst/>
          </a:prstGeom>
          <a:noFill/>
        </p:spPr>
        <p:txBody>
          <a:bodyPr wrap="none" lIns="0" rIns="0" tIns="0" bIns="0">
            <a:spAutoFit/>
          </a:bodyPr>
          <a:lstStyle/>
          <a:p>
            <a:r>
              <a:rPr sz="1150" b="0">
                <a:solidFill>
                  <a:srgbClr val="2E2E2E"/>
                </a:solidFill>
                <a:latin typeface="Calibri"/>
              </a:rPr>
              <a:t>expansion.</a:t>
            </a:r>
          </a:p>
        </p:txBody>
      </p:sp>
      <p:sp>
        <p:nvSpPr>
          <p:cNvPr id="54" name="TextBox 53"/>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5" name="Picture 54" descr="lock.png"/>
          <p:cNvPicPr>
            <a:picLocks noChangeAspect="1"/>
          </p:cNvPicPr>
          <p:nvPr/>
        </p:nvPicPr>
        <p:blipFill>
          <a:blip r:embed="rId6"/>
          <a:stretch>
            <a:fillRect/>
          </a:stretch>
        </p:blipFill>
        <p:spPr>
          <a:xfrm>
            <a:off x="10136079" y="4446251"/>
            <a:ext cx="134549" cy="195707"/>
          </a:xfrm>
          <a:prstGeom prst="rect">
            <a:avLst/>
          </a:prstGeom>
        </p:spPr>
      </p:pic>
      <p:sp>
        <p:nvSpPr>
          <p:cNvPr id="56" name="TextBox 55"/>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8048625" y="4684312"/>
            <a:ext cx="3827859" cy="194310"/>
          </a:xfrm>
          <a:prstGeom prst="rect">
            <a:avLst/>
          </a:prstGeom>
          <a:noFill/>
        </p:spPr>
        <p:txBody>
          <a:bodyPr wrap="none" lIns="0" rIns="0" tIns="0" bIns="0">
            <a:spAutoFit/>
          </a:bodyPr>
          <a:lstStyle/>
          <a:p>
            <a:r>
              <a:rPr sz="1150" b="0">
                <a:solidFill>
                  <a:srgbClr val="2E2E2E"/>
                </a:solidFill>
                <a:latin typeface="Calibri"/>
              </a:rPr>
              <a:t>▪ Demand concentrates in 'Sweet muffins' within Product Type.</a:t>
            </a:r>
          </a:p>
        </p:txBody>
      </p:sp>
      <p:sp>
        <p:nvSpPr>
          <p:cNvPr id="58" name="TextBox 57"/>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9" name="TextBox 58"/>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7" name="Connector 26"/>
          <p:cNvCxnSpPr/>
          <p:nvPr/>
        </p:nvCxnSpPr>
        <p:spPr>
          <a:xfrm flipV="1">
            <a:off x="2409825" y="1670329"/>
            <a:ext cx="0" cy="53157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2278380" y="220190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22783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2190750" y="1808381"/>
            <a:ext cx="438150" cy="26568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2190750" y="194292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151792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5915025" y="2711033"/>
            <a:ext cx="0" cy="40851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7835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783580" y="271103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5695950" y="2816751"/>
            <a:ext cx="438150" cy="20421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5695950" y="292004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4162425" y="2558633"/>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9" name="TextBox 38"/>
          <p:cNvSpPr txBox="1"/>
          <p:nvPr/>
        </p:nvSpPr>
        <p:spPr>
          <a:xfrm>
            <a:off x="6572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Sweet muffins</a:t>
            </a:r>
          </a:p>
        </p:txBody>
      </p:sp>
      <p:sp>
        <p:nvSpPr>
          <p:cNvPr id="40" name="TextBox 39"/>
          <p:cNvSpPr txBox="1"/>
          <p:nvPr/>
        </p:nvSpPr>
        <p:spPr>
          <a:xfrm>
            <a:off x="41624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Savoury muffins</a:t>
            </a:r>
          </a:p>
        </p:txBody>
      </p:sp>
      <p:sp>
        <p:nvSpPr>
          <p:cNvPr id="41" name="Rounded Rectangle 40"/>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43" name="Connector 42"/>
          <p:cNvCxnSpPr/>
          <p:nvPr/>
        </p:nvCxnSpPr>
        <p:spPr>
          <a:xfrm>
            <a:off x="619125" y="432402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619125" y="475857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9125" y="562765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19125" y="606220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619125" y="4324029"/>
            <a:ext cx="0" cy="1738173"/>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90550" y="432402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590550" y="475857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590550" y="562765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590550" y="606220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54" name="FMI Scale tick"/>
          <p:cNvSpPr txBox="1"/>
          <p:nvPr/>
        </p:nvSpPr>
        <p:spPr>
          <a:xfrm>
            <a:off x="219075" y="4257354"/>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sp>
        <p:nvSpPr>
          <p:cNvPr id="55" name="FMI Scale tick"/>
          <p:cNvSpPr txBox="1"/>
          <p:nvPr/>
        </p:nvSpPr>
        <p:spPr>
          <a:xfrm>
            <a:off x="219075" y="4691897"/>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56"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57" name="FMI Scale tick"/>
          <p:cNvSpPr txBox="1"/>
          <p:nvPr/>
        </p:nvSpPr>
        <p:spPr>
          <a:xfrm>
            <a:off x="219075" y="5560984"/>
            <a:ext cx="361950" cy="133350"/>
          </a:xfrm>
          <a:prstGeom prst="rect">
            <a:avLst/>
          </a:prstGeom>
          <a:noFill/>
        </p:spPr>
        <p:txBody>
          <a:bodyPr wrap="none" lIns="0" rIns="0" tIns="0" bIns="0" anchor="ctr">
            <a:spAutoFit/>
          </a:bodyPr>
          <a:lstStyle/>
          <a:p>
            <a:pPr algn="r"/>
            <a:r>
              <a:rPr sz="1100" b="0">
                <a:solidFill>
                  <a:srgbClr val="6C7A89"/>
                </a:solidFill>
                <a:latin typeface="Calibri"/>
              </a:rPr>
              <a:t>-7%</a:t>
            </a:r>
          </a:p>
        </p:txBody>
      </p:sp>
      <p:sp>
        <p:nvSpPr>
          <p:cNvPr id="58" name="FMI Scale tick"/>
          <p:cNvSpPr txBox="1"/>
          <p:nvPr/>
        </p:nvSpPr>
        <p:spPr>
          <a:xfrm>
            <a:off x="219075" y="5995527"/>
            <a:ext cx="361950" cy="133350"/>
          </a:xfrm>
          <a:prstGeom prst="rect">
            <a:avLst/>
          </a:prstGeom>
          <a:noFill/>
        </p:spPr>
        <p:txBody>
          <a:bodyPr wrap="none" lIns="0" rIns="0" tIns="0" bIns="0" anchor="ctr">
            <a:spAutoFit/>
          </a:bodyPr>
          <a:lstStyle/>
          <a:p>
            <a:pPr algn="r"/>
            <a:r>
              <a:rPr sz="1100" b="0">
                <a:solidFill>
                  <a:srgbClr val="6C7A89"/>
                </a:solidFill>
                <a:latin typeface="Calibri"/>
              </a:rPr>
              <a:t>-15%</a:t>
            </a:r>
          </a:p>
        </p:txBody>
      </p:sp>
      <p:cxnSp>
        <p:nvCxnSpPr>
          <p:cNvPr id="59" name="Connector 58"/>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2152650" y="5193116"/>
            <a:ext cx="457200" cy="29714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MI Data Label"/>
          <p:cNvSpPr txBox="1"/>
          <p:nvPr/>
        </p:nvSpPr>
        <p:spPr>
          <a:xfrm>
            <a:off x="619125" y="5499787"/>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2" name="Rectangle 61"/>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4" name="TextBox 63"/>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65" name="TextBox 64"/>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66" name="Rounded Rectangle 65"/>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8" name="Rectangle 67"/>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1" name="Picture 70" descr="lock.png"/>
          <p:cNvPicPr>
            <a:picLocks noChangeAspect="1"/>
          </p:cNvPicPr>
          <p:nvPr/>
        </p:nvPicPr>
        <p:blipFill>
          <a:blip r:embed="rId4"/>
          <a:stretch>
            <a:fillRect/>
          </a:stretch>
        </p:blipFill>
        <p:spPr>
          <a:xfrm>
            <a:off x="2345475" y="1491005"/>
            <a:ext cx="128699" cy="187198"/>
          </a:xfrm>
          <a:prstGeom prst="rect">
            <a:avLst/>
          </a:prstGeom>
        </p:spPr>
      </p:pic>
      <p:pic>
        <p:nvPicPr>
          <p:cNvPr id="72" name="Picture 71" descr="lock.png"/>
          <p:cNvPicPr>
            <a:picLocks noChangeAspect="1"/>
          </p:cNvPicPr>
          <p:nvPr/>
        </p:nvPicPr>
        <p:blipFill>
          <a:blip r:embed="rId4"/>
          <a:stretch>
            <a:fillRect/>
          </a:stretch>
        </p:blipFill>
        <p:spPr>
          <a:xfrm>
            <a:off x="5850675" y="2531709"/>
            <a:ext cx="128699" cy="187198"/>
          </a:xfrm>
          <a:prstGeom prst="rect">
            <a:avLst/>
          </a:prstGeom>
        </p:spPr>
      </p:pic>
      <p:pic>
        <p:nvPicPr>
          <p:cNvPr id="73" name="Picture 72" descr="lock.png"/>
          <p:cNvPicPr>
            <a:picLocks noChangeAspect="1"/>
          </p:cNvPicPr>
          <p:nvPr/>
        </p:nvPicPr>
        <p:blipFill>
          <a:blip r:embed="rId4"/>
          <a:stretch>
            <a:fillRect/>
          </a:stretch>
        </p:blipFill>
        <p:spPr>
          <a:xfrm>
            <a:off x="2316900" y="5472862"/>
            <a:ext cx="128699" cy="187198"/>
          </a:xfrm>
          <a:prstGeom prst="rect">
            <a:avLst/>
          </a:prstGeom>
        </p:spPr>
      </p:pic>
      <p:pic>
        <p:nvPicPr>
          <p:cNvPr id="74" name="Picture 73" descr="lock.png"/>
          <p:cNvPicPr>
            <a:picLocks noChangeAspect="1"/>
          </p:cNvPicPr>
          <p:nvPr/>
        </p:nvPicPr>
        <p:blipFill>
          <a:blip r:embed="rId4"/>
          <a:stretch>
            <a:fillRect/>
          </a:stretch>
        </p:blipFill>
        <p:spPr>
          <a:xfrm>
            <a:off x="5841150" y="4267488"/>
            <a:ext cx="128699" cy="187198"/>
          </a:xfrm>
          <a:prstGeom prst="rect">
            <a:avLst/>
          </a:prstGeom>
        </p:spPr>
      </p:pic>
      <p:sp>
        <p:nvSpPr>
          <p:cNvPr id="75" name="TextBox 74"/>
          <p:cNvSpPr txBox="1"/>
          <p:nvPr/>
        </p:nvSpPr>
        <p:spPr>
          <a:xfrm>
            <a:off x="8048625" y="1471995"/>
            <a:ext cx="3589632" cy="194310"/>
          </a:xfrm>
          <a:prstGeom prst="rect">
            <a:avLst/>
          </a:prstGeom>
          <a:noFill/>
        </p:spPr>
        <p:txBody>
          <a:bodyPr wrap="none" lIns="0" rIns="0" tIns="0" bIns="0">
            <a:spAutoFit/>
          </a:bodyPr>
          <a:lstStyle/>
          <a:p>
            <a:r>
              <a:rPr sz="1150" b="0">
                <a:solidFill>
                  <a:srgbClr val="2E2E2E"/>
                </a:solidFill>
                <a:latin typeface="Calibri"/>
              </a:rPr>
              <a:t>▪ Average selling price is derived as Value ÷ Volume; 'Sweet</a:t>
            </a:r>
          </a:p>
        </p:txBody>
      </p:sp>
      <p:sp>
        <p:nvSpPr>
          <p:cNvPr id="76" name="TextBox 75"/>
          <p:cNvSpPr txBox="1"/>
          <p:nvPr/>
        </p:nvSpPr>
        <p:spPr>
          <a:xfrm>
            <a:off x="8048625" y="1647255"/>
            <a:ext cx="3224832" cy="194310"/>
          </a:xfrm>
          <a:prstGeom prst="rect">
            <a:avLst/>
          </a:prstGeom>
          <a:noFill/>
        </p:spPr>
        <p:txBody>
          <a:bodyPr wrap="none" lIns="0" rIns="0" tIns="0" bIns="0">
            <a:spAutoFit/>
          </a:bodyPr>
          <a:lstStyle/>
          <a:p>
            <a:r>
              <a:rPr sz="1150" b="0">
                <a:solidFill>
                  <a:srgbClr val="2E2E2E"/>
                </a:solidFill>
                <a:latin typeface="Calibri"/>
              </a:rPr>
              <a:t>muffins' commands the highest product type price at</a:t>
            </a:r>
          </a:p>
        </p:txBody>
      </p:sp>
      <p:pic>
        <p:nvPicPr>
          <p:cNvPr id="77" name="Picture 76" descr="lock.png"/>
          <p:cNvPicPr>
            <a:picLocks noChangeAspect="1"/>
          </p:cNvPicPr>
          <p:nvPr/>
        </p:nvPicPr>
        <p:blipFill>
          <a:blip r:embed="rId4"/>
          <a:stretch>
            <a:fillRect/>
          </a:stretch>
        </p:blipFill>
        <p:spPr>
          <a:xfrm>
            <a:off x="11222611" y="1637031"/>
            <a:ext cx="134549" cy="195707"/>
          </a:xfrm>
          <a:prstGeom prst="rect">
            <a:avLst/>
          </a:prstGeom>
        </p:spPr>
      </p:pic>
      <p:sp>
        <p:nvSpPr>
          <p:cNvPr id="78" name="TextBox 77"/>
          <p:cNvSpPr txBox="1"/>
          <p:nvPr/>
        </p:nvSpPr>
        <p:spPr>
          <a:xfrm>
            <a:off x="8048625" y="1822515"/>
            <a:ext cx="1074018" cy="194310"/>
          </a:xfrm>
          <a:prstGeom prst="rect">
            <a:avLst/>
          </a:prstGeom>
          <a:noFill/>
        </p:spPr>
        <p:txBody>
          <a:bodyPr wrap="none" lIns="0" rIns="0" tIns="0" bIns="0">
            <a:spAutoFit/>
          </a:bodyPr>
          <a:lstStyle/>
          <a:p>
            <a:r>
              <a:rPr sz="1150" b="0">
                <a:solidFill>
                  <a:srgbClr val="2E2E2E"/>
                </a:solidFill>
                <a:latin typeface="Calibri"/>
              </a:rPr>
              <a:t>US$/MT in 2036.</a:t>
            </a:r>
          </a:p>
        </p:txBody>
      </p:sp>
      <p:sp>
        <p:nvSpPr>
          <p:cNvPr id="79" name="TextBox 78"/>
          <p:cNvSpPr txBox="1"/>
          <p:nvPr/>
        </p:nvSpPr>
        <p:spPr>
          <a:xfrm>
            <a:off x="8048625" y="2050353"/>
            <a:ext cx="3227970" cy="194310"/>
          </a:xfrm>
          <a:prstGeom prst="rect">
            <a:avLst/>
          </a:prstGeom>
          <a:noFill/>
        </p:spPr>
        <p:txBody>
          <a:bodyPr wrap="none" lIns="0" rIns="0" tIns="0" bIns="0">
            <a:spAutoFit/>
          </a:bodyPr>
          <a:lstStyle/>
          <a:p>
            <a:r>
              <a:rPr sz="1150" b="0">
                <a:solidFill>
                  <a:srgbClr val="2E2E2E"/>
                </a:solidFill>
                <a:latin typeface="Calibri"/>
              </a:rPr>
              <a:t>▪ 'Sweet muffins' shows the steepest price uplift over</a:t>
            </a:r>
          </a:p>
        </p:txBody>
      </p:sp>
      <p:sp>
        <p:nvSpPr>
          <p:cNvPr id="80" name="TextBox 79"/>
          <p:cNvSpPr txBox="1"/>
          <p:nvPr/>
        </p:nvSpPr>
        <p:spPr>
          <a:xfrm>
            <a:off x="8048625" y="2225613"/>
            <a:ext cx="892311" cy="194310"/>
          </a:xfrm>
          <a:prstGeom prst="rect">
            <a:avLst/>
          </a:prstGeom>
          <a:noFill/>
        </p:spPr>
        <p:txBody>
          <a:bodyPr wrap="none" lIns="0" rIns="0" tIns="0" bIns="0">
            <a:spAutoFit/>
          </a:bodyPr>
          <a:lstStyle/>
          <a:p>
            <a:r>
              <a:rPr sz="1150" b="0">
                <a:solidFill>
                  <a:srgbClr val="2E2E2E"/>
                </a:solidFill>
                <a:latin typeface="Calibri"/>
              </a:rPr>
              <a:t>2026–2036 (+</a:t>
            </a:r>
          </a:p>
        </p:txBody>
      </p:sp>
      <p:pic>
        <p:nvPicPr>
          <p:cNvPr id="81" name="Picture 80" descr="lock.png"/>
          <p:cNvPicPr>
            <a:picLocks noChangeAspect="1"/>
          </p:cNvPicPr>
          <p:nvPr/>
        </p:nvPicPr>
        <p:blipFill>
          <a:blip r:embed="rId4"/>
          <a:stretch>
            <a:fillRect/>
          </a:stretch>
        </p:blipFill>
        <p:spPr>
          <a:xfrm>
            <a:off x="8890090" y="2215389"/>
            <a:ext cx="134549" cy="195707"/>
          </a:xfrm>
          <a:prstGeom prst="rect">
            <a:avLst/>
          </a:prstGeom>
        </p:spPr>
      </p:pic>
      <p:sp>
        <p:nvSpPr>
          <p:cNvPr id="82" name="TextBox 81"/>
          <p:cNvSpPr txBox="1"/>
          <p:nvPr/>
        </p:nvSpPr>
        <p:spPr>
          <a:xfrm>
            <a:off x="9065199" y="222561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83" name="TextBox 82"/>
          <p:cNvSpPr txBox="1"/>
          <p:nvPr/>
        </p:nvSpPr>
        <p:spPr>
          <a:xfrm>
            <a:off x="8048625" y="2453451"/>
            <a:ext cx="2188505" cy="194310"/>
          </a:xfrm>
          <a:prstGeom prst="rect">
            <a:avLst/>
          </a:prstGeom>
          <a:noFill/>
        </p:spPr>
        <p:txBody>
          <a:bodyPr wrap="none" lIns="0" rIns="0" tIns="0" bIns="0">
            <a:spAutoFit/>
          </a:bodyPr>
          <a:lstStyle/>
          <a:p>
            <a:r>
              <a:rPr sz="1150" b="0">
                <a:solidFill>
                  <a:srgbClr val="2E2E2E"/>
                </a:solidFill>
                <a:latin typeface="Calibri"/>
              </a:rPr>
              <a:t>▪ Against the north america price of</a:t>
            </a:r>
          </a:p>
        </p:txBody>
      </p:sp>
      <p:pic>
        <p:nvPicPr>
          <p:cNvPr id="84" name="Picture 83" descr="lock.png"/>
          <p:cNvPicPr>
            <a:picLocks noChangeAspect="1"/>
          </p:cNvPicPr>
          <p:nvPr/>
        </p:nvPicPr>
        <p:blipFill>
          <a:blip r:embed="rId4"/>
          <a:stretch>
            <a:fillRect/>
          </a:stretch>
        </p:blipFill>
        <p:spPr>
          <a:xfrm>
            <a:off x="10186284" y="2443227"/>
            <a:ext cx="134549" cy="195707"/>
          </a:xfrm>
          <a:prstGeom prst="rect">
            <a:avLst/>
          </a:prstGeom>
        </p:spPr>
      </p:pic>
      <p:sp>
        <p:nvSpPr>
          <p:cNvPr id="85" name="TextBox 84"/>
          <p:cNvSpPr txBox="1"/>
          <p:nvPr/>
        </p:nvSpPr>
        <p:spPr>
          <a:xfrm>
            <a:off x="10361393" y="2453451"/>
            <a:ext cx="969615" cy="194310"/>
          </a:xfrm>
          <a:prstGeom prst="rect">
            <a:avLst/>
          </a:prstGeom>
          <a:noFill/>
        </p:spPr>
        <p:txBody>
          <a:bodyPr wrap="none" lIns="0" rIns="0" tIns="0" bIns="0">
            <a:spAutoFit/>
          </a:bodyPr>
          <a:lstStyle/>
          <a:p>
            <a:r>
              <a:rPr sz="1150" b="0">
                <a:solidFill>
                  <a:srgbClr val="2E2E2E"/>
                </a:solidFill>
                <a:latin typeface="Calibri"/>
              </a:rPr>
              <a:t>US$/MT, 1 of 2</a:t>
            </a:r>
          </a:p>
        </p:txBody>
      </p:sp>
      <p:sp>
        <p:nvSpPr>
          <p:cNvPr id="86" name="TextBox 85"/>
          <p:cNvSpPr txBox="1"/>
          <p:nvPr/>
        </p:nvSpPr>
        <p:spPr>
          <a:xfrm>
            <a:off x="8048625" y="2628711"/>
            <a:ext cx="2154845" cy="194310"/>
          </a:xfrm>
          <a:prstGeom prst="rect">
            <a:avLst/>
          </a:prstGeom>
          <a:noFill/>
        </p:spPr>
        <p:txBody>
          <a:bodyPr wrap="none" lIns="0" rIns="0" tIns="0" bIns="0">
            <a:spAutoFit/>
          </a:bodyPr>
          <a:lstStyle/>
          <a:p>
            <a:r>
              <a:rPr sz="1150" b="0">
                <a:solidFill>
                  <a:srgbClr val="2E2E2E"/>
                </a:solidFill>
                <a:latin typeface="Calibri"/>
              </a:rPr>
              <a:t>countries price above and 1 below.</a:t>
            </a:r>
          </a:p>
        </p:txBody>
      </p:sp>
      <p:sp>
        <p:nvSpPr>
          <p:cNvPr id="87" name="TextBox 86"/>
          <p:cNvSpPr txBox="1"/>
          <p:nvPr/>
        </p:nvSpPr>
        <p:spPr>
          <a:xfrm>
            <a:off x="8048625" y="2856548"/>
            <a:ext cx="1762050" cy="194310"/>
          </a:xfrm>
          <a:prstGeom prst="rect">
            <a:avLst/>
          </a:prstGeom>
          <a:noFill/>
        </p:spPr>
        <p:txBody>
          <a:bodyPr wrap="none" lIns="0" rIns="0" tIns="0" bIns="0">
            <a:spAutoFit/>
          </a:bodyPr>
          <a:lstStyle/>
          <a:p>
            <a:r>
              <a:rPr sz="1150" b="0">
                <a:solidFill>
                  <a:srgbClr val="2E2E2E"/>
                </a:solidFill>
                <a:latin typeface="Calibri"/>
              </a:rPr>
              <a:t>▪ 'Canada' is the dearest at +</a:t>
            </a:r>
          </a:p>
        </p:txBody>
      </p:sp>
      <p:pic>
        <p:nvPicPr>
          <p:cNvPr id="88" name="Picture 87" descr="lock.png"/>
          <p:cNvPicPr>
            <a:picLocks noChangeAspect="1"/>
          </p:cNvPicPr>
          <p:nvPr/>
        </p:nvPicPr>
        <p:blipFill>
          <a:blip r:embed="rId4"/>
          <a:stretch>
            <a:fillRect/>
          </a:stretch>
        </p:blipFill>
        <p:spPr>
          <a:xfrm>
            <a:off x="9759829" y="2846325"/>
            <a:ext cx="134549" cy="195707"/>
          </a:xfrm>
          <a:prstGeom prst="rect">
            <a:avLst/>
          </a:prstGeom>
        </p:spPr>
      </p:pic>
      <p:sp>
        <p:nvSpPr>
          <p:cNvPr id="89" name="TextBox 88"/>
          <p:cNvSpPr txBox="1"/>
          <p:nvPr/>
        </p:nvSpPr>
        <p:spPr>
          <a:xfrm>
            <a:off x="9934938" y="2856548"/>
            <a:ext cx="1730102" cy="194310"/>
          </a:xfrm>
          <a:prstGeom prst="rect">
            <a:avLst/>
          </a:prstGeom>
          <a:noFill/>
        </p:spPr>
        <p:txBody>
          <a:bodyPr wrap="none" lIns="0" rIns="0" tIns="0" bIns="0">
            <a:spAutoFit/>
          </a:bodyPr>
          <a:lstStyle/>
          <a:p>
            <a:r>
              <a:rPr sz="1150" b="0">
                <a:solidFill>
                  <a:srgbClr val="2E2E2E"/>
                </a:solidFill>
                <a:latin typeface="Calibri"/>
              </a:rPr>
              <a:t>versus North America, 'U.S.'</a:t>
            </a:r>
          </a:p>
        </p:txBody>
      </p:sp>
      <p:sp>
        <p:nvSpPr>
          <p:cNvPr id="90" name="TextBox 89"/>
          <p:cNvSpPr txBox="1"/>
          <p:nvPr/>
        </p:nvSpPr>
        <p:spPr>
          <a:xfrm>
            <a:off x="8048625" y="3031808"/>
            <a:ext cx="1074588" cy="194310"/>
          </a:xfrm>
          <a:prstGeom prst="rect">
            <a:avLst/>
          </a:prstGeom>
          <a:noFill/>
        </p:spPr>
        <p:txBody>
          <a:bodyPr wrap="none" lIns="0" rIns="0" tIns="0" bIns="0">
            <a:spAutoFit/>
          </a:bodyPr>
          <a:lstStyle/>
          <a:p>
            <a:r>
              <a:rPr sz="1150" b="0">
                <a:solidFill>
                  <a:srgbClr val="2E2E2E"/>
                </a:solidFill>
                <a:latin typeface="Calibri"/>
              </a:rPr>
              <a:t>the cheapest at -</a:t>
            </a:r>
          </a:p>
        </p:txBody>
      </p:sp>
      <p:pic>
        <p:nvPicPr>
          <p:cNvPr id="91" name="Picture 90" descr="lock.png"/>
          <p:cNvPicPr>
            <a:picLocks noChangeAspect="1"/>
          </p:cNvPicPr>
          <p:nvPr/>
        </p:nvPicPr>
        <p:blipFill>
          <a:blip r:embed="rId4"/>
          <a:stretch>
            <a:fillRect/>
          </a:stretch>
        </p:blipFill>
        <p:spPr>
          <a:xfrm>
            <a:off x="9072367" y="3021585"/>
            <a:ext cx="134549" cy="195707"/>
          </a:xfrm>
          <a:prstGeom prst="rect">
            <a:avLst/>
          </a:prstGeom>
        </p:spPr>
      </p:pic>
      <p:sp>
        <p:nvSpPr>
          <p:cNvPr id="92" name="TextBox 91"/>
          <p:cNvSpPr txBox="1"/>
          <p:nvPr/>
        </p:nvSpPr>
        <p:spPr>
          <a:xfrm>
            <a:off x="9247476" y="3031808"/>
            <a:ext cx="2496579" cy="194310"/>
          </a:xfrm>
          <a:prstGeom prst="rect">
            <a:avLst/>
          </a:prstGeom>
          <a:noFill/>
        </p:spPr>
        <p:txBody>
          <a:bodyPr wrap="none" lIns="0" rIns="0" tIns="0" bIns="0">
            <a:spAutoFit/>
          </a:bodyPr>
          <a:lstStyle/>
          <a:p>
            <a:r>
              <a:rPr sz="1150" b="0">
                <a:solidFill>
                  <a:srgbClr val="2E2E2E"/>
                </a:solidFill>
                <a:latin typeface="Calibri"/>
              </a:rPr>
              <a:t>pointing to premiumisation headroom in</a:t>
            </a:r>
          </a:p>
        </p:txBody>
      </p:sp>
      <p:sp>
        <p:nvSpPr>
          <p:cNvPr id="93" name="TextBox 92"/>
          <p:cNvSpPr txBox="1"/>
          <p:nvPr/>
        </p:nvSpPr>
        <p:spPr>
          <a:xfrm>
            <a:off x="8048625" y="3207068"/>
            <a:ext cx="1690166" cy="194310"/>
          </a:xfrm>
          <a:prstGeom prst="rect">
            <a:avLst/>
          </a:prstGeom>
          <a:noFill/>
        </p:spPr>
        <p:txBody>
          <a:bodyPr wrap="none" lIns="0" rIns="0" tIns="0" bIns="0">
            <a:spAutoFit/>
          </a:bodyPr>
          <a:lstStyle/>
          <a:p>
            <a:r>
              <a:rPr sz="1150" b="0">
                <a:solidFill>
                  <a:srgbClr val="2E2E2E"/>
                </a:solidFill>
                <a:latin typeface="Calibri"/>
              </a:rPr>
              <a:t>the lower-priced countries.</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1384089" cy="194310"/>
          </a:xfrm>
          <a:prstGeom prst="rect">
            <a:avLst/>
          </a:prstGeom>
          <a:noFill/>
        </p:spPr>
        <p:txBody>
          <a:bodyPr wrap="none" lIns="0" rIns="0" tIns="0" bIns="0">
            <a:spAutoFit/>
          </a:bodyPr>
          <a:lstStyle/>
          <a:p>
            <a:r>
              <a:rPr sz="1150" b="0">
                <a:solidFill>
                  <a:srgbClr val="2E2E2E"/>
                </a:solidFill>
                <a:latin typeface="Calibri"/>
              </a:rPr>
              <a:t>▪ The market grows at</a:t>
            </a:r>
          </a:p>
        </p:txBody>
      </p:sp>
      <p:pic>
        <p:nvPicPr>
          <p:cNvPr id="36" name="Picture 35" descr="lock.png"/>
          <p:cNvPicPr>
            <a:picLocks noChangeAspect="1"/>
          </p:cNvPicPr>
          <p:nvPr/>
        </p:nvPicPr>
        <p:blipFill>
          <a:blip r:embed="rId6"/>
          <a:stretch>
            <a:fillRect/>
          </a:stretch>
        </p:blipFill>
        <p:spPr>
          <a:xfrm>
            <a:off x="9381868" y="2036763"/>
            <a:ext cx="134549" cy="195707"/>
          </a:xfrm>
          <a:prstGeom prst="rect">
            <a:avLst/>
          </a:prstGeom>
        </p:spPr>
      </p:pic>
      <p:sp>
        <p:nvSpPr>
          <p:cNvPr id="37" name="TextBox 36"/>
          <p:cNvSpPr txBox="1"/>
          <p:nvPr/>
        </p:nvSpPr>
        <p:spPr>
          <a:xfrm>
            <a:off x="9556977" y="2046987"/>
            <a:ext cx="2148266" cy="194310"/>
          </a:xfrm>
          <a:prstGeom prst="rect">
            <a:avLst/>
          </a:prstGeom>
          <a:noFill/>
        </p:spPr>
        <p:txBody>
          <a:bodyPr wrap="none" lIns="0" rIns="0" tIns="0" bIns="0">
            <a:spAutoFit/>
          </a:bodyPr>
          <a:lstStyle/>
          <a:p>
            <a:r>
              <a:rPr sz="1150" b="0">
                <a:solidFill>
                  <a:srgbClr val="2E2E2E"/>
                </a:solidFill>
                <a:latin typeface="Calibri"/>
              </a:rPr>
              <a:t>CAGR (2021–2026), accelerating to</a:t>
            </a:r>
          </a:p>
        </p:txBody>
      </p:sp>
      <p:pic>
        <p:nvPicPr>
          <p:cNvPr id="38" name="Picture 37" descr="lock.png"/>
          <p:cNvPicPr>
            <a:picLocks noChangeAspect="1"/>
          </p:cNvPicPr>
          <p:nvPr/>
        </p:nvPicPr>
        <p:blipFill>
          <a:blip r:embed="rId6"/>
          <a:stretch>
            <a:fillRect/>
          </a:stretch>
        </p:blipFill>
        <p:spPr>
          <a:xfrm>
            <a:off x="8034545" y="2212023"/>
            <a:ext cx="134549" cy="195707"/>
          </a:xfrm>
          <a:prstGeom prst="rect">
            <a:avLst/>
          </a:prstGeom>
        </p:spPr>
      </p:pic>
      <p:sp>
        <p:nvSpPr>
          <p:cNvPr id="39" name="TextBox 38"/>
          <p:cNvSpPr txBox="1"/>
          <p:nvPr/>
        </p:nvSpPr>
        <p:spPr>
          <a:xfrm>
            <a:off x="8209654" y="2222247"/>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40" name="TextBox 39"/>
          <p:cNvSpPr txBox="1"/>
          <p:nvPr/>
        </p:nvSpPr>
        <p:spPr>
          <a:xfrm>
            <a:off x="8048625" y="2450085"/>
            <a:ext cx="1385515" cy="194310"/>
          </a:xfrm>
          <a:prstGeom prst="rect">
            <a:avLst/>
          </a:prstGeom>
          <a:noFill/>
        </p:spPr>
        <p:txBody>
          <a:bodyPr wrap="none" lIns="0" rIns="0" tIns="0" bIns="0">
            <a:spAutoFit/>
          </a:bodyPr>
          <a:lstStyle/>
          <a:p>
            <a:r>
              <a:rPr sz="1150" b="0">
                <a:solidFill>
                  <a:srgbClr val="2E2E2E"/>
                </a:solidFill>
                <a:latin typeface="Calibri"/>
              </a:rPr>
              <a:t>▪ Incremental value of</a:t>
            </a:r>
          </a:p>
        </p:txBody>
      </p:sp>
      <p:pic>
        <p:nvPicPr>
          <p:cNvPr id="41" name="Picture 40" descr="lock.png"/>
          <p:cNvPicPr>
            <a:picLocks noChangeAspect="1"/>
          </p:cNvPicPr>
          <p:nvPr/>
        </p:nvPicPr>
        <p:blipFill>
          <a:blip r:embed="rId6"/>
          <a:stretch>
            <a:fillRect/>
          </a:stretch>
        </p:blipFill>
        <p:spPr>
          <a:xfrm>
            <a:off x="9383294" y="2439861"/>
            <a:ext cx="134549" cy="195707"/>
          </a:xfrm>
          <a:prstGeom prst="rect">
            <a:avLst/>
          </a:prstGeom>
        </p:spPr>
      </p:pic>
      <p:sp>
        <p:nvSpPr>
          <p:cNvPr id="42" name="TextBox 41"/>
          <p:cNvSpPr txBox="1"/>
          <p:nvPr/>
        </p:nvSpPr>
        <p:spPr>
          <a:xfrm>
            <a:off x="9558403" y="2450085"/>
            <a:ext cx="2220168" cy="194310"/>
          </a:xfrm>
          <a:prstGeom prst="rect">
            <a:avLst/>
          </a:prstGeom>
          <a:noFill/>
        </p:spPr>
        <p:txBody>
          <a:bodyPr wrap="none" lIns="0" rIns="0" tIns="0" bIns="0">
            <a:spAutoFit/>
          </a:bodyPr>
          <a:lstStyle/>
          <a:p>
            <a:r>
              <a:rPr sz="1150" b="0">
                <a:solidFill>
                  <a:srgbClr val="2E2E2E"/>
                </a:solidFill>
                <a:latin typeface="Calibri"/>
              </a:rPr>
              <a:t>US$ Mn is added between 2021 and</a:t>
            </a:r>
          </a:p>
        </p:txBody>
      </p:sp>
      <p:sp>
        <p:nvSpPr>
          <p:cNvPr id="43" name="TextBox 42"/>
          <p:cNvSpPr txBox="1"/>
          <p:nvPr/>
        </p:nvSpPr>
        <p:spPr>
          <a:xfrm>
            <a:off x="8048625" y="2625345"/>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4" name="TextBox 43"/>
          <p:cNvSpPr txBox="1"/>
          <p:nvPr/>
        </p:nvSpPr>
        <p:spPr>
          <a:xfrm>
            <a:off x="8048625" y="2853182"/>
            <a:ext cx="700335" cy="194310"/>
          </a:xfrm>
          <a:prstGeom prst="rect">
            <a:avLst/>
          </a:prstGeom>
          <a:noFill/>
        </p:spPr>
        <p:txBody>
          <a:bodyPr wrap="none" lIns="0" rIns="0" tIns="0" bIns="0">
            <a:spAutoFit/>
          </a:bodyPr>
          <a:lstStyle/>
          <a:p>
            <a:r>
              <a:rPr sz="1150" b="0">
                <a:solidFill>
                  <a:srgbClr val="2E2E2E"/>
                </a:solidFill>
                <a:latin typeface="Calibri"/>
              </a:rPr>
              <a:t>▪ A further</a:t>
            </a:r>
          </a:p>
        </p:txBody>
      </p:sp>
      <p:pic>
        <p:nvPicPr>
          <p:cNvPr id="45" name="Picture 44" descr="lock.png"/>
          <p:cNvPicPr>
            <a:picLocks noChangeAspect="1"/>
          </p:cNvPicPr>
          <p:nvPr/>
        </p:nvPicPr>
        <p:blipFill>
          <a:blip r:embed="rId6"/>
          <a:stretch>
            <a:fillRect/>
          </a:stretch>
        </p:blipFill>
        <p:spPr>
          <a:xfrm>
            <a:off x="8698114" y="2842959"/>
            <a:ext cx="134549" cy="195707"/>
          </a:xfrm>
          <a:prstGeom prst="rect">
            <a:avLst/>
          </a:prstGeom>
        </p:spPr>
      </p:pic>
      <p:sp>
        <p:nvSpPr>
          <p:cNvPr id="46" name="TextBox 45"/>
          <p:cNvSpPr txBox="1"/>
          <p:nvPr/>
        </p:nvSpPr>
        <p:spPr>
          <a:xfrm>
            <a:off x="8873223" y="2853182"/>
            <a:ext cx="2662597" cy="194310"/>
          </a:xfrm>
          <a:prstGeom prst="rect">
            <a:avLst/>
          </a:prstGeom>
          <a:noFill/>
        </p:spPr>
        <p:txBody>
          <a:bodyPr wrap="none" lIns="0" rIns="0" tIns="0" bIns="0">
            <a:spAutoFit/>
          </a:bodyPr>
          <a:lstStyle/>
          <a:p>
            <a:r>
              <a:rPr sz="1150" b="0">
                <a:solidFill>
                  <a:srgbClr val="2E2E2E"/>
                </a:solidFill>
                <a:latin typeface="Calibri"/>
              </a:rPr>
              <a:t>US$ Mn is added 2026–2036 more than the</a:t>
            </a:r>
          </a:p>
        </p:txBody>
      </p:sp>
      <p:sp>
        <p:nvSpPr>
          <p:cNvPr id="47" name="TextBox 46"/>
          <p:cNvSpPr txBox="1"/>
          <p:nvPr/>
        </p:nvSpPr>
        <p:spPr>
          <a:xfrm>
            <a:off x="8048625" y="3028442"/>
            <a:ext cx="1044922" cy="194310"/>
          </a:xfrm>
          <a:prstGeom prst="rect">
            <a:avLst/>
          </a:prstGeom>
          <a:noFill/>
        </p:spPr>
        <p:txBody>
          <a:bodyPr wrap="none" lIns="0" rIns="0" tIns="0" bIns="0">
            <a:spAutoFit/>
          </a:bodyPr>
          <a:lstStyle/>
          <a:p>
            <a:r>
              <a:rPr sz="1150" b="0">
                <a:solidFill>
                  <a:srgbClr val="2E2E2E"/>
                </a:solidFill>
                <a:latin typeface="Calibri"/>
              </a:rPr>
              <a:t>previous period.</a:t>
            </a:r>
          </a:p>
        </p:txBody>
      </p:sp>
      <p:sp>
        <p:nvSpPr>
          <p:cNvPr id="48" name="TextBox 47"/>
          <p:cNvSpPr txBox="1"/>
          <p:nvPr/>
        </p:nvSpPr>
        <p:spPr>
          <a:xfrm>
            <a:off x="8048625" y="3256280"/>
            <a:ext cx="1600882" cy="194310"/>
          </a:xfrm>
          <a:prstGeom prst="rect">
            <a:avLst/>
          </a:prstGeom>
          <a:noFill/>
        </p:spPr>
        <p:txBody>
          <a:bodyPr wrap="none" lIns="0" rIns="0" tIns="0" bIns="0">
            <a:spAutoFit/>
          </a:bodyPr>
          <a:lstStyle/>
          <a:p>
            <a:r>
              <a:rPr sz="1150" b="0">
                <a:solidFill>
                  <a:srgbClr val="2E2E2E"/>
                </a:solidFill>
                <a:latin typeface="Calibri"/>
              </a:rPr>
              <a:t>▪ Total incremental value:</a:t>
            </a:r>
          </a:p>
        </p:txBody>
      </p:sp>
      <p:pic>
        <p:nvPicPr>
          <p:cNvPr id="49" name="Picture 48" descr="lock.png"/>
          <p:cNvPicPr>
            <a:picLocks noChangeAspect="1"/>
          </p:cNvPicPr>
          <p:nvPr/>
        </p:nvPicPr>
        <p:blipFill>
          <a:blip r:embed="rId6"/>
          <a:stretch>
            <a:fillRect/>
          </a:stretch>
        </p:blipFill>
        <p:spPr>
          <a:xfrm>
            <a:off x="9598661" y="3246057"/>
            <a:ext cx="134549" cy="195707"/>
          </a:xfrm>
          <a:prstGeom prst="rect">
            <a:avLst/>
          </a:prstGeom>
        </p:spPr>
      </p:pic>
      <p:sp>
        <p:nvSpPr>
          <p:cNvPr id="50" name="TextBox 49"/>
          <p:cNvSpPr txBox="1"/>
          <p:nvPr/>
        </p:nvSpPr>
        <p:spPr>
          <a:xfrm>
            <a:off x="9773770" y="3256280"/>
            <a:ext cx="1684461" cy="194310"/>
          </a:xfrm>
          <a:prstGeom prst="rect">
            <a:avLst/>
          </a:prstGeom>
          <a:noFill/>
        </p:spPr>
        <p:txBody>
          <a:bodyPr wrap="none" lIns="0" rIns="0" tIns="0" bIns="0">
            <a:spAutoFit/>
          </a:bodyPr>
          <a:lstStyle/>
          <a:p>
            <a:r>
              <a:rPr sz="1150" b="0">
                <a:solidFill>
                  <a:srgbClr val="2E2E2E"/>
                </a:solidFill>
                <a:latin typeface="Calibri"/>
              </a:rPr>
              <a:t>US$ Mn over 2021–2036, a</a:t>
            </a:r>
          </a:p>
        </p:txBody>
      </p:sp>
      <p:pic>
        <p:nvPicPr>
          <p:cNvPr id="51" name="Picture 50" descr="lock.png"/>
          <p:cNvPicPr>
            <a:picLocks noChangeAspect="1"/>
          </p:cNvPicPr>
          <p:nvPr/>
        </p:nvPicPr>
        <p:blipFill>
          <a:blip r:embed="rId6"/>
          <a:stretch>
            <a:fillRect/>
          </a:stretch>
        </p:blipFill>
        <p:spPr>
          <a:xfrm>
            <a:off x="11407385" y="3246057"/>
            <a:ext cx="134549" cy="195707"/>
          </a:xfrm>
          <a:prstGeom prst="rect">
            <a:avLst/>
          </a:prstGeom>
        </p:spPr>
      </p:pic>
      <p:sp>
        <p:nvSpPr>
          <p:cNvPr id="52" name="TextBox 51"/>
          <p:cNvSpPr txBox="1"/>
          <p:nvPr/>
        </p:nvSpPr>
        <p:spPr>
          <a:xfrm>
            <a:off x="11582495" y="3256280"/>
            <a:ext cx="148939" cy="194310"/>
          </a:xfrm>
          <a:prstGeom prst="rect">
            <a:avLst/>
          </a:prstGeom>
          <a:noFill/>
        </p:spPr>
        <p:txBody>
          <a:bodyPr wrap="none" lIns="0" rIns="0" tIns="0" bIns="0">
            <a:spAutoFit/>
          </a:bodyPr>
          <a:lstStyle/>
          <a:p>
            <a:r>
              <a:rPr sz="1150" b="0">
                <a:solidFill>
                  <a:srgbClr val="2E2E2E"/>
                </a:solidFill>
                <a:latin typeface="Calibri"/>
              </a:rPr>
              <a:t>×</a:t>
            </a:r>
          </a:p>
        </p:txBody>
      </p:sp>
      <p:sp>
        <p:nvSpPr>
          <p:cNvPr id="53" name="TextBox 52"/>
          <p:cNvSpPr txBox="1"/>
          <p:nvPr/>
        </p:nvSpPr>
        <p:spPr>
          <a:xfrm>
            <a:off x="8048625" y="3431540"/>
            <a:ext cx="716880" cy="194310"/>
          </a:xfrm>
          <a:prstGeom prst="rect">
            <a:avLst/>
          </a:prstGeom>
          <a:noFill/>
        </p:spPr>
        <p:txBody>
          <a:bodyPr wrap="none" lIns="0" rIns="0" tIns="0" bIns="0">
            <a:spAutoFit/>
          </a:bodyPr>
          <a:lstStyle/>
          <a:p>
            <a:r>
              <a:rPr sz="1150" b="0">
                <a:solidFill>
                  <a:srgbClr val="2E2E2E"/>
                </a:solidFill>
                <a:latin typeface="Calibri"/>
              </a:rPr>
              <a:t>expansion.</a:t>
            </a:r>
          </a:p>
        </p:txBody>
      </p:sp>
      <p:sp>
        <p:nvSpPr>
          <p:cNvPr id="54" name="TextBox 53"/>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5" name="Picture 54" descr="lock.png"/>
          <p:cNvPicPr>
            <a:picLocks noChangeAspect="1"/>
          </p:cNvPicPr>
          <p:nvPr/>
        </p:nvPicPr>
        <p:blipFill>
          <a:blip r:embed="rId6"/>
          <a:stretch>
            <a:fillRect/>
          </a:stretch>
        </p:blipFill>
        <p:spPr>
          <a:xfrm>
            <a:off x="10136079" y="4446251"/>
            <a:ext cx="134549" cy="195707"/>
          </a:xfrm>
          <a:prstGeom prst="rect">
            <a:avLst/>
          </a:prstGeom>
        </p:spPr>
      </p:pic>
      <p:sp>
        <p:nvSpPr>
          <p:cNvPr id="56" name="TextBox 55"/>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8048625" y="4684312"/>
            <a:ext cx="3827859" cy="194310"/>
          </a:xfrm>
          <a:prstGeom prst="rect">
            <a:avLst/>
          </a:prstGeom>
          <a:noFill/>
        </p:spPr>
        <p:txBody>
          <a:bodyPr wrap="none" lIns="0" rIns="0" tIns="0" bIns="0">
            <a:spAutoFit/>
          </a:bodyPr>
          <a:lstStyle/>
          <a:p>
            <a:r>
              <a:rPr sz="1150" b="0">
                <a:solidFill>
                  <a:srgbClr val="2E2E2E"/>
                </a:solidFill>
                <a:latin typeface="Calibri"/>
              </a:rPr>
              <a:t>▪ Demand concentrates in 'Sweet muffins' within Product Type.</a:t>
            </a:r>
          </a:p>
        </p:txBody>
      </p:sp>
      <p:sp>
        <p:nvSpPr>
          <p:cNvPr id="58" name="TextBox 57"/>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9" name="TextBox 58"/>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4022407"/>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4022407"/>
            <a:ext cx="157162" cy="228600"/>
          </a:xfrm>
          <a:prstGeom prst="rect">
            <a:avLst/>
          </a:prstGeom>
        </p:spPr>
      </p:pic>
      <p:sp>
        <p:nvSpPr>
          <p:cNvPr id="32" name="TextBox 31"/>
          <p:cNvSpPr txBox="1"/>
          <p:nvPr/>
        </p:nvSpPr>
        <p:spPr>
          <a:xfrm>
            <a:off x="276225" y="4972050"/>
            <a:ext cx="1345579" cy="194310"/>
          </a:xfrm>
          <a:prstGeom prst="rect">
            <a:avLst/>
          </a:prstGeom>
          <a:noFill/>
        </p:spPr>
        <p:txBody>
          <a:bodyPr wrap="none" lIns="0" rIns="0" tIns="0" bIns="0">
            <a:spAutoFit/>
          </a:bodyPr>
          <a:lstStyle/>
          <a:p>
            <a:r>
              <a:rPr sz="1150" b="0">
                <a:solidFill>
                  <a:srgbClr val="2E2E2E"/>
                </a:solidFill>
                <a:latin typeface="Calibri"/>
              </a:rPr>
              <a:t>▪ Value expands from</a:t>
            </a:r>
          </a:p>
        </p:txBody>
      </p:sp>
      <p:pic>
        <p:nvPicPr>
          <p:cNvPr id="33" name="Picture 32" descr="lock.png"/>
          <p:cNvPicPr>
            <a:picLocks noChangeAspect="1"/>
          </p:cNvPicPr>
          <p:nvPr/>
        </p:nvPicPr>
        <p:blipFill>
          <a:blip r:embed="rId6"/>
          <a:stretch>
            <a:fillRect/>
          </a:stretch>
        </p:blipFill>
        <p:spPr>
          <a:xfrm>
            <a:off x="1570958" y="4961826"/>
            <a:ext cx="134549" cy="195707"/>
          </a:xfrm>
          <a:prstGeom prst="rect">
            <a:avLst/>
          </a:prstGeom>
        </p:spPr>
      </p:pic>
      <p:sp>
        <p:nvSpPr>
          <p:cNvPr id="34" name="TextBox 33"/>
          <p:cNvSpPr txBox="1"/>
          <p:nvPr/>
        </p:nvSpPr>
        <p:spPr>
          <a:xfrm>
            <a:off x="1746068" y="4972050"/>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5" name="Picture 34" descr="lock.png"/>
          <p:cNvPicPr>
            <a:picLocks noChangeAspect="1"/>
          </p:cNvPicPr>
          <p:nvPr/>
        </p:nvPicPr>
        <p:blipFill>
          <a:blip r:embed="rId6"/>
          <a:stretch>
            <a:fillRect/>
          </a:stretch>
        </p:blipFill>
        <p:spPr>
          <a:xfrm>
            <a:off x="1897504" y="4961826"/>
            <a:ext cx="134549" cy="195707"/>
          </a:xfrm>
          <a:prstGeom prst="rect">
            <a:avLst/>
          </a:prstGeom>
        </p:spPr>
      </p:pic>
      <p:sp>
        <p:nvSpPr>
          <p:cNvPr id="36" name="TextBox 35"/>
          <p:cNvSpPr txBox="1"/>
          <p:nvPr/>
        </p:nvSpPr>
        <p:spPr>
          <a:xfrm>
            <a:off x="2072613" y="4972050"/>
            <a:ext cx="1051768" cy="194310"/>
          </a:xfrm>
          <a:prstGeom prst="rect">
            <a:avLst/>
          </a:prstGeom>
          <a:noFill/>
        </p:spPr>
        <p:txBody>
          <a:bodyPr wrap="none" lIns="0" rIns="0" tIns="0" bIns="0">
            <a:spAutoFit/>
          </a:bodyPr>
          <a:lstStyle/>
          <a:p>
            <a:r>
              <a:rPr sz="1150" b="0">
                <a:solidFill>
                  <a:srgbClr val="2E2E2E"/>
                </a:solidFill>
                <a:latin typeface="Calibri"/>
              </a:rPr>
              <a:t>US$ Mn by 2036</a:t>
            </a:r>
          </a:p>
        </p:txBody>
      </p:sp>
      <p:pic>
        <p:nvPicPr>
          <p:cNvPr id="37" name="Picture 36" descr="lock.png"/>
          <p:cNvPicPr>
            <a:picLocks noChangeAspect="1"/>
          </p:cNvPicPr>
          <p:nvPr/>
        </p:nvPicPr>
        <p:blipFill>
          <a:blip r:embed="rId6"/>
          <a:stretch>
            <a:fillRect/>
          </a:stretch>
        </p:blipFill>
        <p:spPr>
          <a:xfrm>
            <a:off x="3073535" y="4961826"/>
            <a:ext cx="134549" cy="195707"/>
          </a:xfrm>
          <a:prstGeom prst="rect">
            <a:avLst/>
          </a:prstGeom>
        </p:spPr>
      </p:pic>
      <p:sp>
        <p:nvSpPr>
          <p:cNvPr id="38" name="TextBox 37"/>
          <p:cNvSpPr txBox="1"/>
          <p:nvPr/>
        </p:nvSpPr>
        <p:spPr>
          <a:xfrm>
            <a:off x="3248645" y="4972050"/>
            <a:ext cx="1523845" cy="194310"/>
          </a:xfrm>
          <a:prstGeom prst="rect">
            <a:avLst/>
          </a:prstGeom>
          <a:noFill/>
        </p:spPr>
        <p:txBody>
          <a:bodyPr wrap="none" lIns="0" rIns="0" tIns="0" bIns="0">
            <a:spAutoFit/>
          </a:bodyPr>
          <a:lstStyle/>
          <a:p>
            <a:r>
              <a:rPr sz="1150" b="0">
                <a:solidFill>
                  <a:srgbClr val="2E2E2E"/>
                </a:solidFill>
                <a:latin typeface="Calibri"/>
              </a:rPr>
              <a:t>CAGR, accelerating from</a:t>
            </a:r>
          </a:p>
        </p:txBody>
      </p:sp>
      <p:pic>
        <p:nvPicPr>
          <p:cNvPr id="39" name="Picture 38" descr="lock.png"/>
          <p:cNvPicPr>
            <a:picLocks noChangeAspect="1"/>
          </p:cNvPicPr>
          <p:nvPr/>
        </p:nvPicPr>
        <p:blipFill>
          <a:blip r:embed="rId6"/>
          <a:stretch>
            <a:fillRect/>
          </a:stretch>
        </p:blipFill>
        <p:spPr>
          <a:xfrm>
            <a:off x="4721644" y="4961826"/>
            <a:ext cx="134549" cy="195707"/>
          </a:xfrm>
          <a:prstGeom prst="rect">
            <a:avLst/>
          </a:prstGeom>
        </p:spPr>
      </p:pic>
      <p:sp>
        <p:nvSpPr>
          <p:cNvPr id="40" name="TextBox 39"/>
          <p:cNvSpPr txBox="1"/>
          <p:nvPr/>
        </p:nvSpPr>
        <p:spPr>
          <a:xfrm>
            <a:off x="4896754" y="4972050"/>
            <a:ext cx="922548" cy="194310"/>
          </a:xfrm>
          <a:prstGeom prst="rect">
            <a:avLst/>
          </a:prstGeom>
          <a:noFill/>
        </p:spPr>
        <p:txBody>
          <a:bodyPr wrap="none" lIns="0" rIns="0" tIns="0" bIns="0">
            <a:spAutoFit/>
          </a:bodyPr>
          <a:lstStyle/>
          <a:p>
            <a:r>
              <a:rPr sz="1150" b="0">
                <a:solidFill>
                  <a:srgbClr val="2E2E2E"/>
                </a:solidFill>
                <a:latin typeface="Calibri"/>
              </a:rPr>
              <a:t>in 2021–2025.</a:t>
            </a:r>
          </a:p>
        </p:txBody>
      </p:sp>
      <p:sp>
        <p:nvSpPr>
          <p:cNvPr id="41" name="TextBox 40"/>
          <p:cNvSpPr txBox="1"/>
          <p:nvPr/>
        </p:nvSpPr>
        <p:spPr>
          <a:xfrm>
            <a:off x="276225" y="5199888"/>
            <a:ext cx="1247737" cy="194310"/>
          </a:xfrm>
          <a:prstGeom prst="rect">
            <a:avLst/>
          </a:prstGeom>
          <a:noFill/>
        </p:spPr>
        <p:txBody>
          <a:bodyPr wrap="none" lIns="0" rIns="0" tIns="0" bIns="0">
            <a:spAutoFit/>
          </a:bodyPr>
          <a:lstStyle/>
          <a:p>
            <a:r>
              <a:rPr sz="1150" b="0">
                <a:solidFill>
                  <a:srgbClr val="2E2E2E"/>
                </a:solidFill>
                <a:latin typeface="Calibri"/>
              </a:rPr>
              <a:t>▪ Volume rises from</a:t>
            </a:r>
          </a:p>
        </p:txBody>
      </p:sp>
      <p:pic>
        <p:nvPicPr>
          <p:cNvPr id="42" name="Picture 41" descr="lock.png"/>
          <p:cNvPicPr>
            <a:picLocks noChangeAspect="1"/>
          </p:cNvPicPr>
          <p:nvPr/>
        </p:nvPicPr>
        <p:blipFill>
          <a:blip r:embed="rId6"/>
          <a:stretch>
            <a:fillRect/>
          </a:stretch>
        </p:blipFill>
        <p:spPr>
          <a:xfrm>
            <a:off x="1473116" y="5189664"/>
            <a:ext cx="134549" cy="195707"/>
          </a:xfrm>
          <a:prstGeom prst="rect">
            <a:avLst/>
          </a:prstGeom>
        </p:spPr>
      </p:pic>
      <p:sp>
        <p:nvSpPr>
          <p:cNvPr id="43" name="TextBox 42"/>
          <p:cNvSpPr txBox="1"/>
          <p:nvPr/>
        </p:nvSpPr>
        <p:spPr>
          <a:xfrm>
            <a:off x="1648226" y="51998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6"/>
          <a:stretch>
            <a:fillRect/>
          </a:stretch>
        </p:blipFill>
        <p:spPr>
          <a:xfrm>
            <a:off x="1799662" y="5189664"/>
            <a:ext cx="134549" cy="195707"/>
          </a:xfrm>
          <a:prstGeom prst="rect">
            <a:avLst/>
          </a:prstGeom>
        </p:spPr>
      </p:pic>
      <p:sp>
        <p:nvSpPr>
          <p:cNvPr id="45" name="TextBox 44"/>
          <p:cNvSpPr txBox="1"/>
          <p:nvPr/>
        </p:nvSpPr>
        <p:spPr>
          <a:xfrm>
            <a:off x="1974771" y="5199888"/>
            <a:ext cx="1653939" cy="194310"/>
          </a:xfrm>
          <a:prstGeom prst="rect">
            <a:avLst/>
          </a:prstGeom>
          <a:noFill/>
        </p:spPr>
        <p:txBody>
          <a:bodyPr wrap="none" lIns="0" rIns="0" tIns="0" bIns="0">
            <a:spAutoFit/>
          </a:bodyPr>
          <a:lstStyle/>
          <a:p>
            <a:r>
              <a:rPr sz="1150" b="0">
                <a:solidFill>
                  <a:srgbClr val="2E2E2E"/>
                </a:solidFill>
                <a:latin typeface="Calibri"/>
              </a:rPr>
              <a:t>MT over the same decade.</a:t>
            </a:r>
          </a:p>
        </p:txBody>
      </p:sp>
      <p:sp>
        <p:nvSpPr>
          <p:cNvPr id="46" name="TextBox 45"/>
          <p:cNvSpPr txBox="1"/>
          <p:nvPr/>
        </p:nvSpPr>
        <p:spPr>
          <a:xfrm>
            <a:off x="276225" y="5427725"/>
            <a:ext cx="888317" cy="194310"/>
          </a:xfrm>
          <a:prstGeom prst="rect">
            <a:avLst/>
          </a:prstGeom>
          <a:noFill/>
        </p:spPr>
        <p:txBody>
          <a:bodyPr wrap="none" lIns="0" rIns="0" tIns="0" bIns="0">
            <a:spAutoFit/>
          </a:bodyPr>
          <a:lstStyle/>
          <a:p>
            <a:r>
              <a:rPr sz="1150" b="0">
                <a:solidFill>
                  <a:srgbClr val="2E2E2E"/>
                </a:solidFill>
                <a:latin typeface="Calibri"/>
              </a:rPr>
              <a:t>▪ Value grows</a:t>
            </a:r>
          </a:p>
        </p:txBody>
      </p:sp>
      <p:pic>
        <p:nvPicPr>
          <p:cNvPr id="47" name="Picture 46" descr="lock.png"/>
          <p:cNvPicPr>
            <a:picLocks noChangeAspect="1"/>
          </p:cNvPicPr>
          <p:nvPr/>
        </p:nvPicPr>
        <p:blipFill>
          <a:blip r:embed="rId6"/>
          <a:stretch>
            <a:fillRect/>
          </a:stretch>
        </p:blipFill>
        <p:spPr>
          <a:xfrm>
            <a:off x="1113696" y="5417502"/>
            <a:ext cx="134549" cy="195707"/>
          </a:xfrm>
          <a:prstGeom prst="rect">
            <a:avLst/>
          </a:prstGeom>
        </p:spPr>
      </p:pic>
      <p:sp>
        <p:nvSpPr>
          <p:cNvPr id="48" name="TextBox 47"/>
          <p:cNvSpPr txBox="1"/>
          <p:nvPr/>
        </p:nvSpPr>
        <p:spPr>
          <a:xfrm>
            <a:off x="1288806" y="5427725"/>
            <a:ext cx="3072774" cy="194310"/>
          </a:xfrm>
          <a:prstGeom prst="rect">
            <a:avLst/>
          </a:prstGeom>
          <a:noFill/>
        </p:spPr>
        <p:txBody>
          <a:bodyPr wrap="none" lIns="0" rIns="0" tIns="0" bIns="0">
            <a:spAutoFit/>
          </a:bodyPr>
          <a:lstStyle/>
          <a:p>
            <a:r>
              <a:rPr sz="1150" b="0">
                <a:solidFill>
                  <a:srgbClr val="2E2E2E"/>
                </a:solidFill>
                <a:latin typeface="Calibri"/>
              </a:rPr>
              <a:t>BPS of CAGR faster than volume firming price/mix.</a:t>
            </a:r>
          </a:p>
        </p:txBody>
      </p:sp>
      <p:sp>
        <p:nvSpPr>
          <p:cNvPr id="49" name="TextBox 48"/>
          <p:cNvSpPr txBox="1"/>
          <p:nvPr/>
        </p:nvSpPr>
        <p:spPr>
          <a:xfrm>
            <a:off x="276225" y="5655563"/>
            <a:ext cx="1675333" cy="194310"/>
          </a:xfrm>
          <a:prstGeom prst="rect">
            <a:avLst/>
          </a:prstGeom>
          <a:noFill/>
        </p:spPr>
        <p:txBody>
          <a:bodyPr wrap="none" lIns="0" rIns="0" tIns="0" bIns="0">
            <a:spAutoFit/>
          </a:bodyPr>
          <a:lstStyle/>
          <a:p>
            <a:r>
              <a:rPr sz="1150" b="0">
                <a:solidFill>
                  <a:srgbClr val="2E2E2E"/>
                </a:solidFill>
                <a:latin typeface="Calibri"/>
              </a:rPr>
              <a:t>▪ The forecast decade adds</a:t>
            </a:r>
          </a:p>
        </p:txBody>
      </p:sp>
      <p:pic>
        <p:nvPicPr>
          <p:cNvPr id="50" name="Picture 49" descr="lock.png"/>
          <p:cNvPicPr>
            <a:picLocks noChangeAspect="1"/>
          </p:cNvPicPr>
          <p:nvPr/>
        </p:nvPicPr>
        <p:blipFill>
          <a:blip r:embed="rId6"/>
          <a:stretch>
            <a:fillRect/>
          </a:stretch>
        </p:blipFill>
        <p:spPr>
          <a:xfrm>
            <a:off x="1900712" y="5645340"/>
            <a:ext cx="134549" cy="195707"/>
          </a:xfrm>
          <a:prstGeom prst="rect">
            <a:avLst/>
          </a:prstGeom>
        </p:spPr>
      </p:pic>
      <p:sp>
        <p:nvSpPr>
          <p:cNvPr id="51" name="TextBox 50"/>
          <p:cNvSpPr txBox="1"/>
          <p:nvPr/>
        </p:nvSpPr>
        <p:spPr>
          <a:xfrm>
            <a:off x="2075821" y="5655563"/>
            <a:ext cx="2268946" cy="194310"/>
          </a:xfrm>
          <a:prstGeom prst="rect">
            <a:avLst/>
          </a:prstGeom>
          <a:noFill/>
        </p:spPr>
        <p:txBody>
          <a:bodyPr wrap="none" lIns="0" rIns="0" tIns="0" bIns="0">
            <a:spAutoFit/>
          </a:bodyPr>
          <a:lstStyle/>
          <a:p>
            <a:r>
              <a:rPr sz="1150" b="0">
                <a:solidFill>
                  <a:srgbClr val="2E2E2E"/>
                </a:solidFill>
                <a:latin typeface="Calibri"/>
              </a:rPr>
              <a:t>US$ Mn of incremental opportunity (</a:t>
            </a:r>
          </a:p>
        </p:txBody>
      </p:sp>
      <p:pic>
        <p:nvPicPr>
          <p:cNvPr id="52" name="Picture 51" descr="lock.png"/>
          <p:cNvPicPr>
            <a:picLocks noChangeAspect="1"/>
          </p:cNvPicPr>
          <p:nvPr/>
        </p:nvPicPr>
        <p:blipFill>
          <a:blip r:embed="rId6"/>
          <a:stretch>
            <a:fillRect/>
          </a:stretch>
        </p:blipFill>
        <p:spPr>
          <a:xfrm>
            <a:off x="4293922" y="5645340"/>
            <a:ext cx="134549" cy="195707"/>
          </a:xfrm>
          <a:prstGeom prst="rect">
            <a:avLst/>
          </a:prstGeom>
        </p:spPr>
      </p:pic>
      <p:sp>
        <p:nvSpPr>
          <p:cNvPr id="53" name="TextBox 52"/>
          <p:cNvSpPr txBox="1"/>
          <p:nvPr/>
        </p:nvSpPr>
        <p:spPr>
          <a:xfrm>
            <a:off x="4469031" y="5655563"/>
            <a:ext cx="2516547" cy="194310"/>
          </a:xfrm>
          <a:prstGeom prst="rect">
            <a:avLst/>
          </a:prstGeom>
          <a:noFill/>
        </p:spPr>
        <p:txBody>
          <a:bodyPr wrap="none" lIns="0" rIns="0" tIns="0" bIns="0">
            <a:spAutoFit/>
          </a:bodyPr>
          <a:lstStyle/>
          <a:p>
            <a:r>
              <a:rPr sz="1150" b="0">
                <a:solidFill>
                  <a:srgbClr val="2E2E2E"/>
                </a:solidFill>
                <a:latin typeface="Calibri"/>
              </a:rPr>
              <a:t>in the first five years) the market reaches</a:t>
            </a:r>
          </a:p>
        </p:txBody>
      </p:sp>
      <p:pic>
        <p:nvPicPr>
          <p:cNvPr id="54" name="Picture 53" descr="lock.png"/>
          <p:cNvPicPr>
            <a:picLocks noChangeAspect="1"/>
          </p:cNvPicPr>
          <p:nvPr/>
        </p:nvPicPr>
        <p:blipFill>
          <a:blip r:embed="rId6"/>
          <a:stretch>
            <a:fillRect/>
          </a:stretch>
        </p:blipFill>
        <p:spPr>
          <a:xfrm>
            <a:off x="6934732" y="5645340"/>
            <a:ext cx="134549" cy="195707"/>
          </a:xfrm>
          <a:prstGeom prst="rect">
            <a:avLst/>
          </a:prstGeom>
        </p:spPr>
      </p:pic>
      <p:sp>
        <p:nvSpPr>
          <p:cNvPr id="55" name="TextBox 54"/>
          <p:cNvSpPr txBox="1"/>
          <p:nvPr/>
        </p:nvSpPr>
        <p:spPr>
          <a:xfrm>
            <a:off x="7109841" y="5655563"/>
            <a:ext cx="1040358" cy="194310"/>
          </a:xfrm>
          <a:prstGeom prst="rect">
            <a:avLst/>
          </a:prstGeom>
          <a:noFill/>
        </p:spPr>
        <p:txBody>
          <a:bodyPr wrap="none" lIns="0" rIns="0" tIns="0" bIns="0">
            <a:spAutoFit/>
          </a:bodyPr>
          <a:lstStyle/>
          <a:p>
            <a:r>
              <a:rPr sz="1150" b="0">
                <a:solidFill>
                  <a:srgbClr val="2E2E2E"/>
                </a:solidFill>
                <a:latin typeface="Calibri"/>
              </a:rPr>
              <a:t>× its 2026 value.</a:t>
            </a:r>
          </a:p>
        </p:txBody>
      </p:sp>
      <p:sp>
        <p:nvSpPr>
          <p:cNvPr id="56"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8"/>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42971">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42971">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6"/>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7"/>
            <a:ext cx="3743325" cy="149374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5666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5666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39"/>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8"/>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2270455" cy="186689"/>
          </a:xfrm>
          <a:prstGeom prst="rect">
            <a:avLst/>
          </a:prstGeom>
          <a:noFill/>
        </p:spPr>
        <p:txBody>
          <a:bodyPr wrap="none" lIns="0" rIns="0" tIns="0" bIns="0">
            <a:spAutoFit/>
          </a:bodyPr>
          <a:lstStyle/>
          <a:p>
            <a:r>
              <a:rPr sz="1100" b="0">
                <a:solidFill>
                  <a:srgbClr val="2E2E2E"/>
                </a:solidFill>
                <a:latin typeface="Calibri"/>
              </a:rPr>
              <a:t>Canada posts the highest CAGR Index (</a:t>
            </a:r>
          </a:p>
        </p:txBody>
      </p:sp>
      <p:pic>
        <p:nvPicPr>
          <p:cNvPr id="35" name="Picture 34" descr="lock.png"/>
          <p:cNvPicPr>
            <a:picLocks noChangeAspect="1"/>
          </p:cNvPicPr>
          <p:nvPr/>
        </p:nvPicPr>
        <p:blipFill>
          <a:blip r:embed="rId6"/>
          <a:stretch>
            <a:fillRect/>
          </a:stretch>
        </p:blipFill>
        <p:spPr>
          <a:xfrm>
            <a:off x="2475681" y="6150795"/>
            <a:ext cx="128699" cy="187198"/>
          </a:xfrm>
          <a:prstGeom prst="rect">
            <a:avLst/>
          </a:prstGeom>
        </p:spPr>
      </p:pic>
      <p:sp>
        <p:nvSpPr>
          <p:cNvPr id="36" name="TextBox 35"/>
          <p:cNvSpPr txBox="1"/>
          <p:nvPr/>
        </p:nvSpPr>
        <p:spPr>
          <a:xfrm>
            <a:off x="2643177"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37" name="Picture 36" descr="lock.png"/>
          <p:cNvPicPr>
            <a:picLocks noChangeAspect="1"/>
          </p:cNvPicPr>
          <p:nvPr/>
        </p:nvPicPr>
        <p:blipFill>
          <a:blip r:embed="rId6"/>
          <a:stretch>
            <a:fillRect/>
          </a:stretch>
        </p:blipFill>
        <p:spPr>
          <a:xfrm>
            <a:off x="3381208" y="6150795"/>
            <a:ext cx="128699" cy="187198"/>
          </a:xfrm>
          <a:prstGeom prst="rect">
            <a:avLst/>
          </a:prstGeom>
        </p:spPr>
      </p:pic>
      <p:sp>
        <p:nvSpPr>
          <p:cNvPr id="38" name="TextBox 37"/>
          <p:cNvSpPr txBox="1"/>
          <p:nvPr/>
        </p:nvSpPr>
        <p:spPr>
          <a:xfrm>
            <a:off x="3548704" y="6160574"/>
            <a:ext cx="5105400" cy="186689"/>
          </a:xfrm>
          <a:prstGeom prst="rect">
            <a:avLst/>
          </a:prstGeom>
          <a:noFill/>
        </p:spPr>
        <p:txBody>
          <a:bodyPr wrap="none" lIns="0" rIns="0" tIns="0" bIns="0">
            <a:spAutoFit/>
          </a:bodyPr>
          <a:lstStyle/>
          <a:p>
            <a:r>
              <a:rPr sz="1100" b="0">
                <a:solidFill>
                  <a:srgbClr val="2E2E2E"/>
                </a:solidFill>
                <a:latin typeface="Calibri"/>
              </a:rPr>
              <a:t>against the North America benchmark, while U.S. offers the largest absolute opportunity</a:t>
            </a:r>
          </a:p>
        </p:txBody>
      </p:sp>
      <p:pic>
        <p:nvPicPr>
          <p:cNvPr id="39" name="Picture 38" descr="lock.png"/>
          <p:cNvPicPr>
            <a:picLocks noChangeAspect="1"/>
          </p:cNvPicPr>
          <p:nvPr/>
        </p:nvPicPr>
        <p:blipFill>
          <a:blip r:embed="rId6"/>
          <a:stretch>
            <a:fillRect/>
          </a:stretch>
        </p:blipFill>
        <p:spPr>
          <a:xfrm>
            <a:off x="8602156" y="6150795"/>
            <a:ext cx="128699" cy="187198"/>
          </a:xfrm>
          <a:prstGeom prst="rect">
            <a:avLst/>
          </a:prstGeom>
        </p:spPr>
      </p:pic>
      <p:sp>
        <p:nvSpPr>
          <p:cNvPr id="40" name="TextBox 39"/>
          <p:cNvSpPr txBox="1"/>
          <p:nvPr/>
        </p:nvSpPr>
        <p:spPr>
          <a:xfrm>
            <a:off x="8769652" y="6160574"/>
            <a:ext cx="1827907" cy="186689"/>
          </a:xfrm>
          <a:prstGeom prst="rect">
            <a:avLst/>
          </a:prstGeom>
          <a:noFill/>
        </p:spPr>
        <p:txBody>
          <a:bodyPr wrap="none" lIns="0" rIns="0" tIns="0" bIns="0">
            <a:spAutoFit/>
          </a:bodyPr>
          <a:lstStyle/>
          <a:p>
            <a:r>
              <a:rPr sz="1100" b="0">
                <a:solidFill>
                  <a:srgbClr val="2E2E2E"/>
                </a:solidFill>
                <a:latin typeface="Calibri"/>
              </a:rPr>
              <a:t>US$ Mn of incremental market</a:t>
            </a:r>
          </a:p>
        </p:txBody>
      </p:sp>
      <p:sp>
        <p:nvSpPr>
          <p:cNvPr id="41" name="TextBox 40"/>
          <p:cNvSpPr txBox="1"/>
          <p:nvPr/>
        </p:nvSpPr>
        <p:spPr>
          <a:xfrm>
            <a:off x="257175" y="6328214"/>
            <a:ext cx="1528588" cy="186689"/>
          </a:xfrm>
          <a:prstGeom prst="rect">
            <a:avLst/>
          </a:prstGeom>
          <a:noFill/>
        </p:spPr>
        <p:txBody>
          <a:bodyPr wrap="none" lIns="0" rIns="0" tIns="0" bIns="0">
            <a:spAutoFit/>
          </a:bodyPr>
          <a:lstStyle/>
          <a:p>
            <a:r>
              <a:rPr sz="1100" b="0">
                <a:solidFill>
                  <a:srgbClr val="2E2E2E"/>
                </a:solidFill>
                <a:latin typeface="Calibri"/>
              </a:rPr>
              <a:t>between 2026 and 2036 (</a:t>
            </a:r>
          </a:p>
        </p:txBody>
      </p:sp>
      <p:pic>
        <p:nvPicPr>
          <p:cNvPr id="42" name="Picture 41" descr="lock.png"/>
          <p:cNvPicPr>
            <a:picLocks noChangeAspect="1"/>
          </p:cNvPicPr>
          <p:nvPr/>
        </p:nvPicPr>
        <p:blipFill>
          <a:blip r:embed="rId6"/>
          <a:stretch>
            <a:fillRect/>
          </a:stretch>
        </p:blipFill>
        <p:spPr>
          <a:xfrm>
            <a:off x="1733815" y="6318435"/>
            <a:ext cx="128699" cy="187198"/>
          </a:xfrm>
          <a:prstGeom prst="rect">
            <a:avLst/>
          </a:prstGeom>
        </p:spPr>
      </p:pic>
      <p:sp>
        <p:nvSpPr>
          <p:cNvPr id="43" name="TextBox 42"/>
          <p:cNvSpPr txBox="1"/>
          <p:nvPr/>
        </p:nvSpPr>
        <p:spPr>
          <a:xfrm>
            <a:off x="1901311" y="6328214"/>
            <a:ext cx="1973336" cy="186689"/>
          </a:xfrm>
          <a:prstGeom prst="rect">
            <a:avLst/>
          </a:prstGeom>
          <a:noFill/>
        </p:spPr>
        <p:txBody>
          <a:bodyPr wrap="none" lIns="0" rIns="0" tIns="0" bIns="0">
            <a:spAutoFit/>
          </a:bodyPr>
          <a:lstStyle/>
          <a:p>
            <a:r>
              <a:rPr sz="1100" b="0">
                <a:solidFill>
                  <a:srgbClr val="2E2E2E"/>
                </a:solidFill>
                <a:latin typeface="Calibri"/>
              </a:rPr>
              <a:t>of the North America increment).</a:t>
            </a:r>
          </a:p>
        </p:txBody>
      </p:sp>
      <p:sp>
        <p:nvSpPr>
          <p:cNvPr id="44"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142875" y="2781300"/>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8670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051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190875"/>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581525"/>
            <a:ext cx="39433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6672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053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991100"/>
            <a:ext cx="36766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581525"/>
            <a:ext cx="3819525"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6672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053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4991100"/>
            <a:ext cx="3552825"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581525"/>
            <a:ext cx="3819525"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6672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053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4991100"/>
            <a:ext cx="3552825"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'Sweet muffins'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2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536329" cy="194310"/>
          </a:xfrm>
          <a:prstGeom prst="rect">
            <a:avLst/>
          </a:prstGeom>
          <a:noFill/>
        </p:spPr>
        <p:txBody>
          <a:bodyPr wrap="none" lIns="0" rIns="0" tIns="0" bIns="0">
            <a:spAutoFit/>
          </a:bodyPr>
          <a:lstStyle/>
          <a:p>
            <a:r>
              <a:rPr sz="1150" b="0">
                <a:solidFill>
                  <a:srgbClr val="2E2E2E"/>
                </a:solidFill>
                <a:latin typeface="Calibri"/>
              </a:rPr>
              <a:t>▪ The North America Packaged Muffins market is valued at</a:t>
            </a:r>
          </a:p>
        </p:txBody>
      </p:sp>
      <p:pic>
        <p:nvPicPr>
          <p:cNvPr id="32" name="Picture 31" descr="lock.png"/>
          <p:cNvPicPr>
            <a:picLocks noChangeAspect="1"/>
          </p:cNvPicPr>
          <p:nvPr/>
        </p:nvPicPr>
        <p:blipFill>
          <a:blip r:embed="rId4"/>
          <a:stretch>
            <a:fillRect/>
          </a:stretch>
        </p:blipFill>
        <p:spPr>
          <a:xfrm>
            <a:off x="3761708" y="1389951"/>
            <a:ext cx="134549" cy="195707"/>
          </a:xfrm>
          <a:prstGeom prst="rect">
            <a:avLst/>
          </a:prstGeom>
        </p:spPr>
      </p:pic>
      <p:sp>
        <p:nvSpPr>
          <p:cNvPr id="33" name="TextBox 32"/>
          <p:cNvSpPr txBox="1"/>
          <p:nvPr/>
        </p:nvSpPr>
        <p:spPr>
          <a:xfrm>
            <a:off x="3936818" y="1400175"/>
            <a:ext cx="2440384" cy="194310"/>
          </a:xfrm>
          <a:prstGeom prst="rect">
            <a:avLst/>
          </a:prstGeom>
          <a:noFill/>
        </p:spPr>
        <p:txBody>
          <a:bodyPr wrap="none" lIns="0" rIns="0" tIns="0" bIns="0">
            <a:spAutoFit/>
          </a:bodyPr>
          <a:lstStyle/>
          <a:p>
            <a:r>
              <a:rPr sz="1150" b="0">
                <a:solidFill>
                  <a:srgbClr val="2E2E2E"/>
                </a:solidFill>
                <a:latin typeface="Calibri"/>
              </a:rPr>
              <a:t>US$ Mn in 2026 and is forecast to reach</a:t>
            </a:r>
          </a:p>
        </p:txBody>
      </p:sp>
      <p:pic>
        <p:nvPicPr>
          <p:cNvPr id="34" name="Picture 33" descr="lock.png"/>
          <p:cNvPicPr>
            <a:picLocks noChangeAspect="1"/>
          </p:cNvPicPr>
          <p:nvPr/>
        </p:nvPicPr>
        <p:blipFill>
          <a:blip r:embed="rId4"/>
          <a:stretch>
            <a:fillRect/>
          </a:stretch>
        </p:blipFill>
        <p:spPr>
          <a:xfrm>
            <a:off x="6326356" y="1389951"/>
            <a:ext cx="134549" cy="195707"/>
          </a:xfrm>
          <a:prstGeom prst="rect">
            <a:avLst/>
          </a:prstGeom>
        </p:spPr>
      </p:pic>
      <p:sp>
        <p:nvSpPr>
          <p:cNvPr id="35" name="TextBox 34"/>
          <p:cNvSpPr txBox="1"/>
          <p:nvPr/>
        </p:nvSpPr>
        <p:spPr>
          <a:xfrm>
            <a:off x="6501465" y="1400175"/>
            <a:ext cx="1088566" cy="194310"/>
          </a:xfrm>
          <a:prstGeom prst="rect">
            <a:avLst/>
          </a:prstGeom>
          <a:noFill/>
        </p:spPr>
        <p:txBody>
          <a:bodyPr wrap="none" lIns="0" rIns="0" tIns="0" bIns="0">
            <a:spAutoFit/>
          </a:bodyPr>
          <a:lstStyle/>
          <a:p>
            <a:r>
              <a:rPr sz="1150" b="0">
                <a:solidFill>
                  <a:srgbClr val="2E2E2E"/>
                </a:solidFill>
                <a:latin typeface="Calibri"/>
              </a:rPr>
              <a:t>US$ Mn by 2036.</a:t>
            </a:r>
          </a:p>
        </p:txBody>
      </p:sp>
      <p:sp>
        <p:nvSpPr>
          <p:cNvPr id="36" name="TextBox 35"/>
          <p:cNvSpPr txBox="1"/>
          <p:nvPr/>
        </p:nvSpPr>
        <p:spPr>
          <a:xfrm>
            <a:off x="276225" y="1628013"/>
            <a:ext cx="988156" cy="194310"/>
          </a:xfrm>
          <a:prstGeom prst="rect">
            <a:avLst/>
          </a:prstGeom>
          <a:noFill/>
        </p:spPr>
        <p:txBody>
          <a:bodyPr wrap="none" lIns="0" rIns="0" tIns="0" bIns="0">
            <a:spAutoFit/>
          </a:bodyPr>
          <a:lstStyle/>
          <a:p>
            <a:r>
              <a:rPr sz="1150" b="0">
                <a:solidFill>
                  <a:srgbClr val="2E2E2E"/>
                </a:solidFill>
                <a:latin typeface="Calibri"/>
              </a:rPr>
              <a:t>▪ That implies a</a:t>
            </a:r>
          </a:p>
        </p:txBody>
      </p:sp>
      <p:pic>
        <p:nvPicPr>
          <p:cNvPr id="37" name="Picture 36" descr="lock.png"/>
          <p:cNvPicPr>
            <a:picLocks noChangeAspect="1"/>
          </p:cNvPicPr>
          <p:nvPr/>
        </p:nvPicPr>
        <p:blipFill>
          <a:blip r:embed="rId4"/>
          <a:stretch>
            <a:fillRect/>
          </a:stretch>
        </p:blipFill>
        <p:spPr>
          <a:xfrm>
            <a:off x="1213535" y="1617789"/>
            <a:ext cx="134549" cy="195707"/>
          </a:xfrm>
          <a:prstGeom prst="rect">
            <a:avLst/>
          </a:prstGeom>
        </p:spPr>
      </p:pic>
      <p:sp>
        <p:nvSpPr>
          <p:cNvPr id="38" name="TextBox 37"/>
          <p:cNvSpPr txBox="1"/>
          <p:nvPr/>
        </p:nvSpPr>
        <p:spPr>
          <a:xfrm>
            <a:off x="1388644" y="1628013"/>
            <a:ext cx="2163955" cy="194310"/>
          </a:xfrm>
          <a:prstGeom prst="rect">
            <a:avLst/>
          </a:prstGeom>
          <a:noFill/>
        </p:spPr>
        <p:txBody>
          <a:bodyPr wrap="none" lIns="0" rIns="0" tIns="0" bIns="0">
            <a:spAutoFit/>
          </a:bodyPr>
          <a:lstStyle/>
          <a:p>
            <a:r>
              <a:rPr sz="1150" b="0">
                <a:solidFill>
                  <a:srgbClr val="2E2E2E"/>
                </a:solidFill>
                <a:latin typeface="Calibri"/>
              </a:rPr>
              <a:t>forecast CAGR (2026–2036), versus</a:t>
            </a:r>
          </a:p>
        </p:txBody>
      </p:sp>
      <p:pic>
        <p:nvPicPr>
          <p:cNvPr id="39" name="Picture 38" descr="lock.png"/>
          <p:cNvPicPr>
            <a:picLocks noChangeAspect="1"/>
          </p:cNvPicPr>
          <p:nvPr/>
        </p:nvPicPr>
        <p:blipFill>
          <a:blip r:embed="rId4"/>
          <a:stretch>
            <a:fillRect/>
          </a:stretch>
        </p:blipFill>
        <p:spPr>
          <a:xfrm>
            <a:off x="3501754" y="1617789"/>
            <a:ext cx="134549" cy="195707"/>
          </a:xfrm>
          <a:prstGeom prst="rect">
            <a:avLst/>
          </a:prstGeom>
        </p:spPr>
      </p:pic>
      <p:sp>
        <p:nvSpPr>
          <p:cNvPr id="40" name="TextBox 39"/>
          <p:cNvSpPr txBox="1"/>
          <p:nvPr/>
        </p:nvSpPr>
        <p:spPr>
          <a:xfrm>
            <a:off x="3676863" y="1628013"/>
            <a:ext cx="1078867" cy="194310"/>
          </a:xfrm>
          <a:prstGeom prst="rect">
            <a:avLst/>
          </a:prstGeom>
          <a:noFill/>
        </p:spPr>
        <p:txBody>
          <a:bodyPr wrap="none" lIns="0" rIns="0" tIns="0" bIns="0">
            <a:spAutoFit/>
          </a:bodyPr>
          <a:lstStyle/>
          <a:p>
            <a:r>
              <a:rPr sz="1150" b="0">
                <a:solidFill>
                  <a:srgbClr val="2E2E2E"/>
                </a:solidFill>
                <a:latin typeface="Calibri"/>
              </a:rPr>
              <a:t>over 2021–2025.</a:t>
            </a:r>
          </a:p>
        </p:txBody>
      </p:sp>
      <p:sp>
        <p:nvSpPr>
          <p:cNvPr id="41" name="TextBox 40"/>
          <p:cNvSpPr txBox="1"/>
          <p:nvPr/>
        </p:nvSpPr>
        <p:spPr>
          <a:xfrm>
            <a:off x="276225" y="1855851"/>
            <a:ext cx="1070024" cy="194310"/>
          </a:xfrm>
          <a:prstGeom prst="rect">
            <a:avLst/>
          </a:prstGeom>
          <a:noFill/>
        </p:spPr>
        <p:txBody>
          <a:bodyPr wrap="none" lIns="0" rIns="0" tIns="0" bIns="0">
            <a:spAutoFit/>
          </a:bodyPr>
          <a:lstStyle/>
          <a:p>
            <a:r>
              <a:rPr sz="1150" b="0">
                <a:solidFill>
                  <a:srgbClr val="2E2E2E"/>
                </a:solidFill>
                <a:latin typeface="Calibri"/>
              </a:rPr>
              <a:t>▪ An incremental</a:t>
            </a:r>
          </a:p>
        </p:txBody>
      </p:sp>
      <p:pic>
        <p:nvPicPr>
          <p:cNvPr id="42" name="Picture 41" descr="lock.png"/>
          <p:cNvPicPr>
            <a:picLocks noChangeAspect="1"/>
          </p:cNvPicPr>
          <p:nvPr/>
        </p:nvPicPr>
        <p:blipFill>
          <a:blip r:embed="rId4"/>
          <a:stretch>
            <a:fillRect/>
          </a:stretch>
        </p:blipFill>
        <p:spPr>
          <a:xfrm>
            <a:off x="1295403" y="1845627"/>
            <a:ext cx="134549" cy="195707"/>
          </a:xfrm>
          <a:prstGeom prst="rect">
            <a:avLst/>
          </a:prstGeom>
        </p:spPr>
      </p:pic>
      <p:sp>
        <p:nvSpPr>
          <p:cNvPr id="43" name="TextBox 42"/>
          <p:cNvSpPr txBox="1"/>
          <p:nvPr/>
        </p:nvSpPr>
        <p:spPr>
          <a:xfrm>
            <a:off x="1470512" y="1855851"/>
            <a:ext cx="2984934" cy="194310"/>
          </a:xfrm>
          <a:prstGeom prst="rect">
            <a:avLst/>
          </a:prstGeom>
          <a:noFill/>
        </p:spPr>
        <p:txBody>
          <a:bodyPr wrap="none" lIns="0" rIns="0" tIns="0" bIns="0">
            <a:spAutoFit/>
          </a:bodyPr>
          <a:lstStyle/>
          <a:p>
            <a:r>
              <a:rPr sz="1150" b="0">
                <a:solidFill>
                  <a:srgbClr val="2E2E2E"/>
                </a:solidFill>
                <a:latin typeface="Calibri"/>
              </a:rPr>
              <a:t>US$ Mn of demand is created over the forecast a</a:t>
            </a:r>
          </a:p>
        </p:txBody>
      </p:sp>
      <p:pic>
        <p:nvPicPr>
          <p:cNvPr id="44" name="Picture 43" descr="lock.png"/>
          <p:cNvPicPr>
            <a:picLocks noChangeAspect="1"/>
          </p:cNvPicPr>
          <p:nvPr/>
        </p:nvPicPr>
        <p:blipFill>
          <a:blip r:embed="rId4"/>
          <a:stretch>
            <a:fillRect/>
          </a:stretch>
        </p:blipFill>
        <p:spPr>
          <a:xfrm>
            <a:off x="4404600" y="1845627"/>
            <a:ext cx="134549" cy="195707"/>
          </a:xfrm>
          <a:prstGeom prst="rect">
            <a:avLst/>
          </a:prstGeom>
        </p:spPr>
      </p:pic>
      <p:sp>
        <p:nvSpPr>
          <p:cNvPr id="45" name="TextBox 44"/>
          <p:cNvSpPr txBox="1"/>
          <p:nvPr/>
        </p:nvSpPr>
        <p:spPr>
          <a:xfrm>
            <a:off x="4579710" y="1855851"/>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6" name="TextBox 45"/>
          <p:cNvSpPr txBox="1"/>
          <p:nvPr/>
        </p:nvSpPr>
        <p:spPr>
          <a:xfrm>
            <a:off x="276225" y="3200400"/>
            <a:ext cx="5146302" cy="194310"/>
          </a:xfrm>
          <a:prstGeom prst="rect">
            <a:avLst/>
          </a:prstGeom>
          <a:noFill/>
        </p:spPr>
        <p:txBody>
          <a:bodyPr wrap="none" lIns="0" rIns="0" tIns="0" bIns="0">
            <a:spAutoFit/>
          </a:bodyPr>
          <a:lstStyle/>
          <a:p>
            <a:r>
              <a:rPr sz="1150" b="0">
                <a:solidFill>
                  <a:srgbClr val="2E2E2E"/>
                </a:solidFill>
                <a:latin typeface="Calibri"/>
              </a:rPr>
              <a:t>▪ The market is consolidated: the leading product type category 'Sweet muffins' holds</a:t>
            </a:r>
          </a:p>
        </p:txBody>
      </p:sp>
      <p:pic>
        <p:nvPicPr>
          <p:cNvPr id="47" name="Picture 46" descr="lock.png"/>
          <p:cNvPicPr>
            <a:picLocks noChangeAspect="1"/>
          </p:cNvPicPr>
          <p:nvPr/>
        </p:nvPicPr>
        <p:blipFill>
          <a:blip r:embed="rId4"/>
          <a:stretch>
            <a:fillRect/>
          </a:stretch>
        </p:blipFill>
        <p:spPr>
          <a:xfrm>
            <a:off x="5371681" y="3190176"/>
            <a:ext cx="134549" cy="195707"/>
          </a:xfrm>
          <a:prstGeom prst="rect">
            <a:avLst/>
          </a:prstGeom>
        </p:spPr>
      </p:pic>
      <p:sp>
        <p:nvSpPr>
          <p:cNvPr id="48" name="TextBox 47"/>
          <p:cNvSpPr txBox="1"/>
          <p:nvPr/>
        </p:nvSpPr>
        <p:spPr>
          <a:xfrm>
            <a:off x="5546791" y="32004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9" name="TextBox 48"/>
          <p:cNvSpPr txBox="1"/>
          <p:nvPr/>
        </p:nvSpPr>
        <p:spPr>
          <a:xfrm>
            <a:off x="276225" y="3428237"/>
            <a:ext cx="5104085" cy="194310"/>
          </a:xfrm>
          <a:prstGeom prst="rect">
            <a:avLst/>
          </a:prstGeom>
          <a:noFill/>
        </p:spPr>
        <p:txBody>
          <a:bodyPr wrap="none" lIns="0" rIns="0" tIns="0" bIns="0">
            <a:spAutoFit/>
          </a:bodyPr>
          <a:lstStyle/>
          <a:p>
            <a:r>
              <a:rPr sz="1150" b="0">
                <a:solidFill>
                  <a:srgbClr val="2E2E2E"/>
                </a:solidFill>
                <a:latin typeface="Calibri"/>
              </a:rPr>
              <a:t>▪ Demand spans 2 countries and 21 segmentation lenses (2 product type categories).</a:t>
            </a:r>
          </a:p>
        </p:txBody>
      </p:sp>
      <p:sp>
        <p:nvSpPr>
          <p:cNvPr id="50" name="TextBox 49"/>
          <p:cNvSpPr txBox="1"/>
          <p:nvPr/>
        </p:nvSpPr>
        <p:spPr>
          <a:xfrm>
            <a:off x="276225" y="3656075"/>
            <a:ext cx="2288914" cy="194310"/>
          </a:xfrm>
          <a:prstGeom prst="rect">
            <a:avLst/>
          </a:prstGeom>
          <a:noFill/>
        </p:spPr>
        <p:txBody>
          <a:bodyPr wrap="none" lIns="0" rIns="0" tIns="0" bIns="0">
            <a:spAutoFit/>
          </a:bodyPr>
          <a:lstStyle/>
          <a:p>
            <a:r>
              <a:rPr sz="1150" b="0">
                <a:solidFill>
                  <a:srgbClr val="2E2E2E"/>
                </a:solidFill>
                <a:latin typeface="Calibri"/>
              </a:rPr>
              <a:t>▪ U.S. is the largest country market at</a:t>
            </a:r>
          </a:p>
        </p:txBody>
      </p:sp>
      <p:pic>
        <p:nvPicPr>
          <p:cNvPr id="51" name="Picture 50" descr="lock.png"/>
          <p:cNvPicPr>
            <a:picLocks noChangeAspect="1"/>
          </p:cNvPicPr>
          <p:nvPr/>
        </p:nvPicPr>
        <p:blipFill>
          <a:blip r:embed="rId4"/>
          <a:stretch>
            <a:fillRect/>
          </a:stretch>
        </p:blipFill>
        <p:spPr>
          <a:xfrm>
            <a:off x="2514293" y="3645852"/>
            <a:ext cx="134549" cy="195707"/>
          </a:xfrm>
          <a:prstGeom prst="rect">
            <a:avLst/>
          </a:prstGeom>
        </p:spPr>
      </p:pic>
      <p:sp>
        <p:nvSpPr>
          <p:cNvPr id="52" name="TextBox 51"/>
          <p:cNvSpPr txBox="1"/>
          <p:nvPr/>
        </p:nvSpPr>
        <p:spPr>
          <a:xfrm>
            <a:off x="2689402" y="36560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3" name="TextBox 52"/>
          <p:cNvSpPr txBox="1"/>
          <p:nvPr/>
        </p:nvSpPr>
        <p:spPr>
          <a:xfrm>
            <a:off x="276225" y="5000625"/>
            <a:ext cx="2520540" cy="194310"/>
          </a:xfrm>
          <a:prstGeom prst="rect">
            <a:avLst/>
          </a:prstGeom>
          <a:noFill/>
        </p:spPr>
        <p:txBody>
          <a:bodyPr wrap="none" lIns="0" rIns="0" tIns="0" bIns="0">
            <a:spAutoFit/>
          </a:bodyPr>
          <a:lstStyle/>
          <a:p>
            <a:r>
              <a:rPr sz="1150" b="0">
                <a:solidFill>
                  <a:srgbClr val="2E2E2E"/>
                </a:solidFill>
                <a:latin typeface="Calibri"/>
              </a:rPr>
              <a:t>▪ Accelerating uptake of 'Sweet muffins' (</a:t>
            </a:r>
          </a:p>
        </p:txBody>
      </p:sp>
      <p:pic>
        <p:nvPicPr>
          <p:cNvPr id="54" name="Picture 53" descr="lock.png"/>
          <p:cNvPicPr>
            <a:picLocks noChangeAspect="1"/>
          </p:cNvPicPr>
          <p:nvPr/>
        </p:nvPicPr>
        <p:blipFill>
          <a:blip r:embed="rId4"/>
          <a:stretch>
            <a:fillRect/>
          </a:stretch>
        </p:blipFill>
        <p:spPr>
          <a:xfrm>
            <a:off x="2745919" y="4990401"/>
            <a:ext cx="134549" cy="195707"/>
          </a:xfrm>
          <a:prstGeom prst="rect">
            <a:avLst/>
          </a:prstGeom>
        </p:spPr>
      </p:pic>
      <p:sp>
        <p:nvSpPr>
          <p:cNvPr id="55" name="TextBox 54"/>
          <p:cNvSpPr txBox="1"/>
          <p:nvPr/>
        </p:nvSpPr>
        <p:spPr>
          <a:xfrm>
            <a:off x="2921028" y="500062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6" name="TextBox 55"/>
          <p:cNvSpPr txBox="1"/>
          <p:nvPr/>
        </p:nvSpPr>
        <p:spPr>
          <a:xfrm>
            <a:off x="276225" y="5228463"/>
            <a:ext cx="2146510" cy="194310"/>
          </a:xfrm>
          <a:prstGeom prst="rect">
            <a:avLst/>
          </a:prstGeom>
          <a:noFill/>
        </p:spPr>
        <p:txBody>
          <a:bodyPr wrap="none" lIns="0" rIns="0" tIns="0" bIns="0">
            <a:spAutoFit/>
          </a:bodyPr>
          <a:lstStyle/>
          <a:p>
            <a:r>
              <a:rPr sz="1150" b="0">
                <a:solidFill>
                  <a:srgbClr val="2E2E2E"/>
                </a:solidFill>
                <a:latin typeface="Calibri"/>
              </a:rPr>
              <a:t>▪ Fast-growing demand in Canada (</a:t>
            </a:r>
          </a:p>
        </p:txBody>
      </p:sp>
      <p:pic>
        <p:nvPicPr>
          <p:cNvPr id="57" name="Picture 56" descr="lock.png"/>
          <p:cNvPicPr>
            <a:picLocks noChangeAspect="1"/>
          </p:cNvPicPr>
          <p:nvPr/>
        </p:nvPicPr>
        <p:blipFill>
          <a:blip r:embed="rId4"/>
          <a:stretch>
            <a:fillRect/>
          </a:stretch>
        </p:blipFill>
        <p:spPr>
          <a:xfrm>
            <a:off x="2371889" y="5218239"/>
            <a:ext cx="134549" cy="195707"/>
          </a:xfrm>
          <a:prstGeom prst="rect">
            <a:avLst/>
          </a:prstGeom>
        </p:spPr>
      </p:pic>
      <p:sp>
        <p:nvSpPr>
          <p:cNvPr id="58" name="TextBox 57"/>
          <p:cNvSpPr txBox="1"/>
          <p:nvPr/>
        </p:nvSpPr>
        <p:spPr>
          <a:xfrm>
            <a:off x="2546998" y="522846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9" name="TextBox 58"/>
          <p:cNvSpPr txBox="1"/>
          <p:nvPr/>
        </p:nvSpPr>
        <p:spPr>
          <a:xfrm>
            <a:off x="276225" y="5456300"/>
            <a:ext cx="3497218" cy="194310"/>
          </a:xfrm>
          <a:prstGeom prst="rect">
            <a:avLst/>
          </a:prstGeom>
          <a:noFill/>
        </p:spPr>
        <p:txBody>
          <a:bodyPr wrap="none" lIns="0" rIns="0" tIns="0" bIns="0">
            <a:spAutoFit/>
          </a:bodyPr>
          <a:lstStyle/>
          <a:p>
            <a:r>
              <a:rPr sz="1150" b="0">
                <a:solidFill>
                  <a:srgbClr val="2E2E2E"/>
                </a:solidFill>
                <a:latin typeface="Calibri"/>
              </a:rPr>
              <a:t>▪ Momentum in Foodservice and institutional within sales</a:t>
            </a:r>
          </a:p>
        </p:txBody>
      </p:sp>
      <p:sp>
        <p:nvSpPr>
          <p:cNvPr id="60" name="TextBox 59"/>
          <p:cNvSpPr txBox="1"/>
          <p:nvPr/>
        </p:nvSpPr>
        <p:spPr>
          <a:xfrm>
            <a:off x="276225" y="5631560"/>
            <a:ext cx="621890" cy="194310"/>
          </a:xfrm>
          <a:prstGeom prst="rect">
            <a:avLst/>
          </a:prstGeom>
          <a:noFill/>
        </p:spPr>
        <p:txBody>
          <a:bodyPr wrap="none" lIns="0" rIns="0" tIns="0" bIns="0">
            <a:spAutoFit/>
          </a:bodyPr>
          <a:lstStyle/>
          <a:p>
            <a:r>
              <a:rPr sz="1150" b="0">
                <a:solidFill>
                  <a:srgbClr val="2E2E2E"/>
                </a:solidFill>
                <a:latin typeface="Calibri"/>
              </a:rPr>
              <a:t>channel (</a:t>
            </a:r>
          </a:p>
        </p:txBody>
      </p:sp>
      <p:pic>
        <p:nvPicPr>
          <p:cNvPr id="61" name="Picture 60" descr="lock.png"/>
          <p:cNvPicPr>
            <a:picLocks noChangeAspect="1"/>
          </p:cNvPicPr>
          <p:nvPr/>
        </p:nvPicPr>
        <p:blipFill>
          <a:blip r:embed="rId4"/>
          <a:stretch>
            <a:fillRect/>
          </a:stretch>
        </p:blipFill>
        <p:spPr>
          <a:xfrm>
            <a:off x="847269" y="5621337"/>
            <a:ext cx="134549" cy="195707"/>
          </a:xfrm>
          <a:prstGeom prst="rect">
            <a:avLst/>
          </a:prstGeom>
        </p:spPr>
      </p:pic>
      <p:sp>
        <p:nvSpPr>
          <p:cNvPr id="62" name="TextBox 61"/>
          <p:cNvSpPr txBox="1"/>
          <p:nvPr/>
        </p:nvSpPr>
        <p:spPr>
          <a:xfrm>
            <a:off x="1022378" y="56315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3" name="TextBox 62"/>
          <p:cNvSpPr txBox="1"/>
          <p:nvPr/>
        </p:nvSpPr>
        <p:spPr>
          <a:xfrm>
            <a:off x="4371975" y="5000625"/>
            <a:ext cx="2577306" cy="194310"/>
          </a:xfrm>
          <a:prstGeom prst="rect">
            <a:avLst/>
          </a:prstGeom>
          <a:noFill/>
        </p:spPr>
        <p:txBody>
          <a:bodyPr wrap="none" lIns="0" rIns="0" tIns="0" bIns="0">
            <a:spAutoFit/>
          </a:bodyPr>
          <a:lstStyle/>
          <a:p>
            <a:r>
              <a:rPr sz="1150" b="0">
                <a:solidFill>
                  <a:srgbClr val="2E2E2E"/>
                </a:solidFill>
                <a:latin typeface="Calibri"/>
              </a:rPr>
              <a:t>▪ Slower momentum in 'Savoury muffins' (</a:t>
            </a:r>
          </a:p>
        </p:txBody>
      </p:sp>
      <p:pic>
        <p:nvPicPr>
          <p:cNvPr id="64" name="Picture 63" descr="lock.png"/>
          <p:cNvPicPr>
            <a:picLocks noChangeAspect="1"/>
          </p:cNvPicPr>
          <p:nvPr/>
        </p:nvPicPr>
        <p:blipFill>
          <a:blip r:embed="rId4"/>
          <a:stretch>
            <a:fillRect/>
          </a:stretch>
        </p:blipFill>
        <p:spPr>
          <a:xfrm>
            <a:off x="6898435" y="4990401"/>
            <a:ext cx="134549" cy="195707"/>
          </a:xfrm>
          <a:prstGeom prst="rect">
            <a:avLst/>
          </a:prstGeom>
        </p:spPr>
      </p:pic>
      <p:sp>
        <p:nvSpPr>
          <p:cNvPr id="65" name="TextBox 64"/>
          <p:cNvSpPr txBox="1"/>
          <p:nvPr/>
        </p:nvSpPr>
        <p:spPr>
          <a:xfrm>
            <a:off x="7073544" y="50006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6" name="TextBox 65"/>
          <p:cNvSpPr txBox="1"/>
          <p:nvPr/>
        </p:nvSpPr>
        <p:spPr>
          <a:xfrm>
            <a:off x="4371975" y="52284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7" name="TextBox 66"/>
          <p:cNvSpPr txBox="1"/>
          <p:nvPr/>
        </p:nvSpPr>
        <p:spPr>
          <a:xfrm>
            <a:off x="4371975" y="54037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8" name="Picture 67" descr="lock.png"/>
          <p:cNvPicPr>
            <a:picLocks noChangeAspect="1"/>
          </p:cNvPicPr>
          <p:nvPr/>
        </p:nvPicPr>
        <p:blipFill>
          <a:blip r:embed="rId4"/>
          <a:stretch>
            <a:fillRect/>
          </a:stretch>
        </p:blipFill>
        <p:spPr>
          <a:xfrm>
            <a:off x="4883401" y="5393499"/>
            <a:ext cx="134549" cy="195707"/>
          </a:xfrm>
          <a:prstGeom prst="rect">
            <a:avLst/>
          </a:prstGeom>
        </p:spPr>
      </p:pic>
      <p:sp>
        <p:nvSpPr>
          <p:cNvPr id="69" name="TextBox 68"/>
          <p:cNvSpPr txBox="1"/>
          <p:nvPr/>
        </p:nvSpPr>
        <p:spPr>
          <a:xfrm>
            <a:off x="5058510" y="54037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4371975" y="5631560"/>
            <a:ext cx="3530054" cy="194310"/>
          </a:xfrm>
          <a:prstGeom prst="rect">
            <a:avLst/>
          </a:prstGeom>
          <a:noFill/>
        </p:spPr>
        <p:txBody>
          <a:bodyPr wrap="none" lIns="0" rIns="0" tIns="0" bIns="0">
            <a:spAutoFit/>
          </a:bodyPr>
          <a:lstStyle/>
          <a:p>
            <a:r>
              <a:rPr sz="1150" b="0">
                <a:solidFill>
                  <a:srgbClr val="2E2E2E"/>
                </a:solidFill>
                <a:latin typeface="Calibri"/>
              </a:rPr>
              <a:t>▪ Value concentration in 'Sweet muffins' raises barriers for</a:t>
            </a:r>
          </a:p>
        </p:txBody>
      </p:sp>
      <p:sp>
        <p:nvSpPr>
          <p:cNvPr id="71" name="TextBox 70"/>
          <p:cNvSpPr txBox="1"/>
          <p:nvPr/>
        </p:nvSpPr>
        <p:spPr>
          <a:xfrm>
            <a:off x="4371975" y="5806820"/>
            <a:ext cx="902295" cy="194310"/>
          </a:xfrm>
          <a:prstGeom prst="rect">
            <a:avLst/>
          </a:prstGeom>
          <a:noFill/>
        </p:spPr>
        <p:txBody>
          <a:bodyPr wrap="none" lIns="0" rIns="0" tIns="0" bIns="0">
            <a:spAutoFit/>
          </a:bodyPr>
          <a:lstStyle/>
          <a:p>
            <a:r>
              <a:rPr sz="1150" b="0">
                <a:solidFill>
                  <a:srgbClr val="2E2E2E"/>
                </a:solidFill>
                <a:latin typeface="Calibri"/>
              </a:rPr>
              <a:t>new entrants.</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'Sweet muffins'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1856829" cy="186689"/>
          </a:xfrm>
          <a:prstGeom prst="rect">
            <a:avLst/>
          </a:prstGeom>
          <a:noFill/>
        </p:spPr>
        <p:txBody>
          <a:bodyPr wrap="none" lIns="0" rIns="0" tIns="0" bIns="0">
            <a:spAutoFit/>
          </a:bodyPr>
          <a:lstStyle/>
          <a:p>
            <a:r>
              <a:rPr sz="1100" b="0">
                <a:solidFill>
                  <a:srgbClr val="2E2E2E"/>
                </a:solidFill>
                <a:latin typeface="Calibri"/>
              </a:rPr>
              <a:t>▪ Lead category 'Sweet muffins'</a:t>
            </a:r>
          </a:p>
        </p:txBody>
      </p:sp>
      <p:pic>
        <p:nvPicPr>
          <p:cNvPr id="41" name="Picture 40" descr="lock.png"/>
          <p:cNvPicPr>
            <a:picLocks noChangeAspect="1"/>
          </p:cNvPicPr>
          <p:nvPr/>
        </p:nvPicPr>
        <p:blipFill>
          <a:blip r:embed="rId5"/>
          <a:stretch>
            <a:fillRect/>
          </a:stretch>
        </p:blipFill>
        <p:spPr>
          <a:xfrm>
            <a:off x="8110430" y="1826260"/>
            <a:ext cx="128699" cy="187198"/>
          </a:xfrm>
          <a:prstGeom prst="rect">
            <a:avLst/>
          </a:prstGeom>
        </p:spPr>
      </p:pic>
      <p:sp>
        <p:nvSpPr>
          <p:cNvPr id="42" name="TextBox 41"/>
          <p:cNvSpPr txBox="1"/>
          <p:nvPr/>
        </p:nvSpPr>
        <p:spPr>
          <a:xfrm>
            <a:off x="8277926"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152053" cy="186689"/>
          </a:xfrm>
          <a:prstGeom prst="rect">
            <a:avLst/>
          </a:prstGeom>
          <a:noFill/>
        </p:spPr>
        <p:txBody>
          <a:bodyPr wrap="none" lIns="0" rIns="0" tIns="0" bIns="0">
            <a:spAutoFit/>
          </a:bodyPr>
          <a:lstStyle/>
          <a:p>
            <a:r>
              <a:rPr sz="1100" b="0">
                <a:solidFill>
                  <a:srgbClr val="2E2E2E"/>
                </a:solidFill>
                <a:latin typeface="Calibri"/>
              </a:rPr>
              <a:t>▪ Lead country U.S.</a:t>
            </a:r>
          </a:p>
        </p:txBody>
      </p:sp>
      <p:pic>
        <p:nvPicPr>
          <p:cNvPr id="44" name="Picture 43" descr="lock.png"/>
          <p:cNvPicPr>
            <a:picLocks noChangeAspect="1"/>
          </p:cNvPicPr>
          <p:nvPr/>
        </p:nvPicPr>
        <p:blipFill>
          <a:blip r:embed="rId5"/>
          <a:stretch>
            <a:fillRect/>
          </a:stretch>
        </p:blipFill>
        <p:spPr>
          <a:xfrm>
            <a:off x="7405655" y="2044192"/>
            <a:ext cx="128699" cy="187198"/>
          </a:xfrm>
          <a:prstGeom prst="rect">
            <a:avLst/>
          </a:prstGeom>
        </p:spPr>
      </p:pic>
      <p:sp>
        <p:nvSpPr>
          <p:cNvPr id="45" name="TextBox 44"/>
          <p:cNvSpPr txBox="1"/>
          <p:nvPr/>
        </p:nvSpPr>
        <p:spPr>
          <a:xfrm>
            <a:off x="7573151"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343883" cy="194310"/>
          </a:xfrm>
          <a:prstGeom prst="rect">
            <a:avLst/>
          </a:prstGeom>
          <a:noFill/>
        </p:spPr>
        <p:txBody>
          <a:bodyPr wrap="none" lIns="0" rIns="0" tIns="0" bIns="0">
            <a:spAutoFit/>
          </a:bodyPr>
          <a:lstStyle/>
          <a:p>
            <a:r>
              <a:rPr sz="1150" b="0">
                <a:solidFill>
                  <a:srgbClr val="2E2E2E"/>
                </a:solidFill>
                <a:latin typeface="Calibri"/>
              </a:rPr>
              <a:t>▪ Investment is flowing toward the fastest-growing tier 'Sweet muffins' (</a:t>
            </a:r>
          </a:p>
        </p:txBody>
      </p:sp>
      <p:pic>
        <p:nvPicPr>
          <p:cNvPr id="50" name="Picture 49" descr="lock.png"/>
          <p:cNvPicPr>
            <a:picLocks noChangeAspect="1"/>
          </p:cNvPicPr>
          <p:nvPr/>
        </p:nvPicPr>
        <p:blipFill>
          <a:blip r:embed="rId5"/>
          <a:stretch>
            <a:fillRect/>
          </a:stretch>
        </p:blipFill>
        <p:spPr>
          <a:xfrm>
            <a:off x="4569262" y="3304476"/>
            <a:ext cx="134549" cy="195707"/>
          </a:xfrm>
          <a:prstGeom prst="rect">
            <a:avLst/>
          </a:prstGeom>
        </p:spPr>
      </p:pic>
      <p:sp>
        <p:nvSpPr>
          <p:cNvPr id="51" name="TextBox 50"/>
          <p:cNvSpPr txBox="1"/>
          <p:nvPr/>
        </p:nvSpPr>
        <p:spPr>
          <a:xfrm>
            <a:off x="4744371" y="33147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2" name="TextBox 51"/>
          <p:cNvSpPr txBox="1"/>
          <p:nvPr/>
        </p:nvSpPr>
        <p:spPr>
          <a:xfrm>
            <a:off x="276225" y="3542537"/>
            <a:ext cx="679226" cy="194310"/>
          </a:xfrm>
          <a:prstGeom prst="rect">
            <a:avLst/>
          </a:prstGeom>
          <a:noFill/>
        </p:spPr>
        <p:txBody>
          <a:bodyPr wrap="none" lIns="0" rIns="0" tIns="0" bIns="0">
            <a:spAutoFit/>
          </a:bodyPr>
          <a:lstStyle/>
          <a:p>
            <a:r>
              <a:rPr sz="1150" b="0">
                <a:solidFill>
                  <a:srgbClr val="2E2E2E"/>
                </a:solidFill>
                <a:latin typeface="Calibri"/>
              </a:rPr>
              <a:t>▪ Canada (</a:t>
            </a:r>
          </a:p>
        </p:txBody>
      </p:sp>
      <p:pic>
        <p:nvPicPr>
          <p:cNvPr id="53" name="Picture 52" descr="lock.png"/>
          <p:cNvPicPr>
            <a:picLocks noChangeAspect="1"/>
          </p:cNvPicPr>
          <p:nvPr/>
        </p:nvPicPr>
        <p:blipFill>
          <a:blip r:embed="rId5"/>
          <a:stretch>
            <a:fillRect/>
          </a:stretch>
        </p:blipFill>
        <p:spPr>
          <a:xfrm>
            <a:off x="904605" y="3532314"/>
            <a:ext cx="134549" cy="195707"/>
          </a:xfrm>
          <a:prstGeom prst="rect">
            <a:avLst/>
          </a:prstGeom>
        </p:spPr>
      </p:pic>
      <p:sp>
        <p:nvSpPr>
          <p:cNvPr id="54" name="TextBox 53"/>
          <p:cNvSpPr txBox="1"/>
          <p:nvPr/>
        </p:nvSpPr>
        <p:spPr>
          <a:xfrm>
            <a:off x="1079714" y="3542537"/>
            <a:ext cx="2362224" cy="194310"/>
          </a:xfrm>
          <a:prstGeom prst="rect">
            <a:avLst/>
          </a:prstGeom>
          <a:noFill/>
        </p:spPr>
        <p:txBody>
          <a:bodyPr wrap="none" lIns="0" rIns="0" tIns="0" bIns="0">
            <a:spAutoFit/>
          </a:bodyPr>
          <a:lstStyle/>
          <a:p>
            <a:r>
              <a:rPr sz="1150" b="0">
                <a:solidFill>
                  <a:srgbClr val="2E2E2E"/>
                </a:solidFill>
                <a:latin typeface="Calibri"/>
              </a:rPr>
              <a:t>) is a priority country for new capacity.</a:t>
            </a:r>
          </a:p>
        </p:txBody>
      </p:sp>
      <p:sp>
        <p:nvSpPr>
          <p:cNvPr id="55" name="TextBox 54"/>
          <p:cNvSpPr txBox="1"/>
          <p:nvPr/>
        </p:nvSpPr>
        <p:spPr>
          <a:xfrm>
            <a:off x="276225" y="3770375"/>
            <a:ext cx="2857996" cy="194310"/>
          </a:xfrm>
          <a:prstGeom prst="rect">
            <a:avLst/>
          </a:prstGeom>
          <a:noFill/>
        </p:spPr>
        <p:txBody>
          <a:bodyPr wrap="none" lIns="0" rIns="0" tIns="0" bIns="0">
            <a:spAutoFit/>
          </a:bodyPr>
          <a:lstStyle/>
          <a:p>
            <a:r>
              <a:rPr sz="1150" b="0">
                <a:solidFill>
                  <a:srgbClr val="2E2E2E"/>
                </a:solidFill>
                <a:latin typeface="Calibri"/>
              </a:rPr>
              <a:t>▪ Scale players anchor around 'Sweet muffins' (</a:t>
            </a:r>
          </a:p>
        </p:txBody>
      </p:sp>
      <p:pic>
        <p:nvPicPr>
          <p:cNvPr id="56" name="Picture 55" descr="lock.png"/>
          <p:cNvPicPr>
            <a:picLocks noChangeAspect="1"/>
          </p:cNvPicPr>
          <p:nvPr/>
        </p:nvPicPr>
        <p:blipFill>
          <a:blip r:embed="rId5"/>
          <a:stretch>
            <a:fillRect/>
          </a:stretch>
        </p:blipFill>
        <p:spPr>
          <a:xfrm>
            <a:off x="3083375" y="3760152"/>
            <a:ext cx="134549" cy="195707"/>
          </a:xfrm>
          <a:prstGeom prst="rect">
            <a:avLst/>
          </a:prstGeom>
        </p:spPr>
      </p:pic>
      <p:sp>
        <p:nvSpPr>
          <p:cNvPr id="57" name="TextBox 56"/>
          <p:cNvSpPr txBox="1"/>
          <p:nvPr/>
        </p:nvSpPr>
        <p:spPr>
          <a:xfrm>
            <a:off x="3258484" y="3770375"/>
            <a:ext cx="484683"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58" name="TextBox 57"/>
          <p:cNvSpPr txBox="1"/>
          <p:nvPr/>
        </p:nvSpPr>
        <p:spPr>
          <a:xfrm>
            <a:off x="6305550" y="3314700"/>
            <a:ext cx="4758642" cy="194310"/>
          </a:xfrm>
          <a:prstGeom prst="rect">
            <a:avLst/>
          </a:prstGeom>
          <a:noFill/>
        </p:spPr>
        <p:txBody>
          <a:bodyPr wrap="none" lIns="0" rIns="0" tIns="0" bIns="0">
            <a:spAutoFit/>
          </a:bodyPr>
          <a:lstStyle/>
          <a:p>
            <a:r>
              <a:rPr sz="1150" b="0">
                <a:solidFill>
                  <a:srgbClr val="2E2E2E"/>
                </a:solidFill>
                <a:latin typeface="Calibri"/>
              </a:rPr>
              <a:t>▪ R&amp;D aligns with the migration to 'Sweet muffins' and adjacent premium tiers.</a:t>
            </a:r>
          </a:p>
        </p:txBody>
      </p:sp>
      <p:sp>
        <p:nvSpPr>
          <p:cNvPr id="59" name="TextBox 58"/>
          <p:cNvSpPr txBox="1"/>
          <p:nvPr/>
        </p:nvSpPr>
        <p:spPr>
          <a:xfrm>
            <a:off x="6305550" y="3542537"/>
            <a:ext cx="4603179" cy="194310"/>
          </a:xfrm>
          <a:prstGeom prst="rect">
            <a:avLst/>
          </a:prstGeom>
          <a:noFill/>
        </p:spPr>
        <p:txBody>
          <a:bodyPr wrap="none" lIns="0" rIns="0" tIns="0" bIns="0">
            <a:spAutoFit/>
          </a:bodyPr>
          <a:lstStyle/>
          <a:p>
            <a:r>
              <a:rPr sz="1150" b="0">
                <a:solidFill>
                  <a:srgbClr val="2E2E2E"/>
                </a:solidFill>
                <a:latin typeface="Calibri"/>
              </a:rPr>
              <a:t>▪ Development spend targets product type categories gaining share to 2036.</a:t>
            </a:r>
          </a:p>
        </p:txBody>
      </p:sp>
      <p:sp>
        <p:nvSpPr>
          <p:cNvPr id="60" name="TextBox 59"/>
          <p:cNvSpPr txBox="1"/>
          <p:nvPr/>
        </p:nvSpPr>
        <p:spPr>
          <a:xfrm>
            <a:off x="6305550" y="3770375"/>
            <a:ext cx="1663352" cy="194310"/>
          </a:xfrm>
          <a:prstGeom prst="rect">
            <a:avLst/>
          </a:prstGeom>
          <a:noFill/>
        </p:spPr>
        <p:txBody>
          <a:bodyPr wrap="none" lIns="0" rIns="0" tIns="0" bIns="0">
            <a:spAutoFit/>
          </a:bodyPr>
          <a:lstStyle/>
          <a:p>
            <a:r>
              <a:rPr sz="115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918056" y="3760152"/>
            <a:ext cx="134549" cy="195707"/>
          </a:xfrm>
          <a:prstGeom prst="rect">
            <a:avLst/>
          </a:prstGeom>
        </p:spPr>
      </p:pic>
      <p:sp>
        <p:nvSpPr>
          <p:cNvPr id="62" name="TextBox 61"/>
          <p:cNvSpPr txBox="1"/>
          <p:nvPr/>
        </p:nvSpPr>
        <p:spPr>
          <a:xfrm>
            <a:off x="8093165" y="3770375"/>
            <a:ext cx="963036" cy="194310"/>
          </a:xfrm>
          <a:prstGeom prst="rect">
            <a:avLst/>
          </a:prstGeom>
          <a:noFill/>
        </p:spPr>
        <p:txBody>
          <a:bodyPr wrap="none" lIns="0" rIns="0" tIns="0" bIns="0">
            <a:spAutoFit/>
          </a:bodyPr>
          <a:lstStyle/>
          <a:p>
            <a:r>
              <a:rPr sz="115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'Sweet muffins' tier and Foodservice and institutional within sales channel.</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52417" cy="194310"/>
          </a:xfrm>
          <a:prstGeom prst="rect">
            <a:avLst/>
          </a:prstGeom>
          <a:noFill/>
        </p:spPr>
        <p:txBody>
          <a:bodyPr wrap="none" lIns="0" rIns="0" tIns="0" bIns="0">
            <a:spAutoFit/>
          </a:bodyPr>
          <a:lstStyle/>
          <a:p>
            <a:r>
              <a:rPr sz="1150" b="0">
                <a:solidFill>
                  <a:srgbClr val="2E2E2E"/>
                </a:solidFill>
                <a:latin typeface="Calibri"/>
              </a:rPr>
              <a:t>▪ Balance scale in 'Sweet muffins' with targeted growth in 'Sweet muffins', pursuing the</a:t>
            </a:r>
          </a:p>
        </p:txBody>
      </p:sp>
      <p:pic>
        <p:nvPicPr>
          <p:cNvPr id="32" name="Picture 31" descr="lock.png"/>
          <p:cNvPicPr>
            <a:picLocks noChangeAspect="1"/>
          </p:cNvPicPr>
          <p:nvPr/>
        </p:nvPicPr>
        <p:blipFill>
          <a:blip r:embed="rId4"/>
          <a:stretch>
            <a:fillRect/>
          </a:stretch>
        </p:blipFill>
        <p:spPr>
          <a:xfrm>
            <a:off x="5477796" y="1389951"/>
            <a:ext cx="134549" cy="195707"/>
          </a:xfrm>
          <a:prstGeom prst="rect">
            <a:avLst/>
          </a:prstGeom>
        </p:spPr>
      </p:pic>
      <p:sp>
        <p:nvSpPr>
          <p:cNvPr id="33" name="TextBox 32"/>
          <p:cNvSpPr txBox="1"/>
          <p:nvPr/>
        </p:nvSpPr>
        <p:spPr>
          <a:xfrm>
            <a:off x="276225"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4" name="TextBox 33"/>
          <p:cNvSpPr txBox="1"/>
          <p:nvPr/>
        </p:nvSpPr>
        <p:spPr>
          <a:xfrm>
            <a:off x="276225" y="3276600"/>
            <a:ext cx="1719262" cy="194310"/>
          </a:xfrm>
          <a:prstGeom prst="rect">
            <a:avLst/>
          </a:prstGeom>
          <a:noFill/>
        </p:spPr>
        <p:txBody>
          <a:bodyPr wrap="none" lIns="0" rIns="0" tIns="0" bIns="0">
            <a:spAutoFit/>
          </a:bodyPr>
          <a:lstStyle/>
          <a:p>
            <a:r>
              <a:rPr sz="1150" b="0">
                <a:solidFill>
                  <a:srgbClr val="2E2E2E"/>
                </a:solidFill>
                <a:latin typeface="Calibri"/>
              </a:rPr>
              <a:t>▪ Prioritise 'Sweet muffins' (</a:t>
            </a:r>
          </a:p>
        </p:txBody>
      </p:sp>
      <p:pic>
        <p:nvPicPr>
          <p:cNvPr id="35" name="Picture 34" descr="lock.png"/>
          <p:cNvPicPr>
            <a:picLocks noChangeAspect="1"/>
          </p:cNvPicPr>
          <p:nvPr/>
        </p:nvPicPr>
        <p:blipFill>
          <a:blip r:embed="rId4"/>
          <a:stretch>
            <a:fillRect/>
          </a:stretch>
        </p:blipFill>
        <p:spPr>
          <a:xfrm>
            <a:off x="1944641" y="3266376"/>
            <a:ext cx="134549" cy="195707"/>
          </a:xfrm>
          <a:prstGeom prst="rect">
            <a:avLst/>
          </a:prstGeom>
        </p:spPr>
      </p:pic>
      <p:sp>
        <p:nvSpPr>
          <p:cNvPr id="36" name="TextBox 35"/>
          <p:cNvSpPr txBox="1"/>
          <p:nvPr/>
        </p:nvSpPr>
        <p:spPr>
          <a:xfrm>
            <a:off x="2119750" y="3276600"/>
            <a:ext cx="1609439" cy="194310"/>
          </a:xfrm>
          <a:prstGeom prst="rect">
            <a:avLst/>
          </a:prstGeom>
          <a:noFill/>
        </p:spPr>
        <p:txBody>
          <a:bodyPr wrap="none" lIns="0" rIns="0" tIns="0" bIns="0">
            <a:spAutoFit/>
          </a:bodyPr>
          <a:lstStyle/>
          <a:p>
            <a:r>
              <a:rPr sz="1150" b="0">
                <a:solidFill>
                  <a:srgbClr val="2E2E2E"/>
                </a:solidFill>
                <a:latin typeface="Calibri"/>
              </a:rPr>
              <a:t>); 'Sweet muffins' anchors</a:t>
            </a:r>
          </a:p>
        </p:txBody>
      </p:sp>
      <p:pic>
        <p:nvPicPr>
          <p:cNvPr id="37" name="Picture 36" descr="lock.png"/>
          <p:cNvPicPr>
            <a:picLocks noChangeAspect="1"/>
          </p:cNvPicPr>
          <p:nvPr/>
        </p:nvPicPr>
        <p:blipFill>
          <a:blip r:embed="rId4"/>
          <a:stretch>
            <a:fillRect/>
          </a:stretch>
        </p:blipFill>
        <p:spPr>
          <a:xfrm>
            <a:off x="3678344" y="3266376"/>
            <a:ext cx="134549" cy="195707"/>
          </a:xfrm>
          <a:prstGeom prst="rect">
            <a:avLst/>
          </a:prstGeom>
        </p:spPr>
      </p:pic>
      <p:sp>
        <p:nvSpPr>
          <p:cNvPr id="38" name="TextBox 37"/>
          <p:cNvSpPr txBox="1"/>
          <p:nvPr/>
        </p:nvSpPr>
        <p:spPr>
          <a:xfrm>
            <a:off x="3853453" y="3276600"/>
            <a:ext cx="586519" cy="194310"/>
          </a:xfrm>
          <a:prstGeom prst="rect">
            <a:avLst/>
          </a:prstGeom>
          <a:noFill/>
        </p:spPr>
        <p:txBody>
          <a:bodyPr wrap="none" lIns="0" rIns="0" tIns="0" bIns="0">
            <a:spAutoFit/>
          </a:bodyPr>
          <a:lstStyle/>
          <a:p>
            <a:r>
              <a:rPr sz="1150" b="0">
                <a:solidFill>
                  <a:srgbClr val="2E2E2E"/>
                </a:solidFill>
                <a:latin typeface="Calibri"/>
              </a:rPr>
              <a:t>of value.</a:t>
            </a:r>
          </a:p>
        </p:txBody>
      </p:sp>
      <p:sp>
        <p:nvSpPr>
          <p:cNvPr id="39" name="TextBox 38"/>
          <p:cNvSpPr txBox="1"/>
          <p:nvPr/>
        </p:nvSpPr>
        <p:spPr>
          <a:xfrm>
            <a:off x="6305550" y="3276600"/>
            <a:ext cx="1083431" cy="194310"/>
          </a:xfrm>
          <a:prstGeom prst="rect">
            <a:avLst/>
          </a:prstGeom>
          <a:noFill/>
        </p:spPr>
        <p:txBody>
          <a:bodyPr wrap="none" lIns="0" rIns="0" tIns="0" bIns="0">
            <a:spAutoFit/>
          </a:bodyPr>
          <a:lstStyle/>
          <a:p>
            <a:r>
              <a:rPr sz="1150" b="0">
                <a:solidFill>
                  <a:srgbClr val="2E2E2E"/>
                </a:solidFill>
                <a:latin typeface="Calibri"/>
              </a:rPr>
              <a:t>▪ Lead with U.S. (</a:t>
            </a:r>
          </a:p>
        </p:txBody>
      </p:sp>
      <p:pic>
        <p:nvPicPr>
          <p:cNvPr id="40" name="Picture 39" descr="lock.png"/>
          <p:cNvPicPr>
            <a:picLocks noChangeAspect="1"/>
          </p:cNvPicPr>
          <p:nvPr/>
        </p:nvPicPr>
        <p:blipFill>
          <a:blip r:embed="rId4"/>
          <a:stretch>
            <a:fillRect/>
          </a:stretch>
        </p:blipFill>
        <p:spPr>
          <a:xfrm>
            <a:off x="7338135" y="3266376"/>
            <a:ext cx="134549" cy="195707"/>
          </a:xfrm>
          <a:prstGeom prst="rect">
            <a:avLst/>
          </a:prstGeom>
        </p:spPr>
      </p:pic>
      <p:sp>
        <p:nvSpPr>
          <p:cNvPr id="41" name="TextBox 40"/>
          <p:cNvSpPr txBox="1"/>
          <p:nvPr/>
        </p:nvSpPr>
        <p:spPr>
          <a:xfrm>
            <a:off x="7513244" y="3276600"/>
            <a:ext cx="1772319" cy="194310"/>
          </a:xfrm>
          <a:prstGeom prst="rect">
            <a:avLst/>
          </a:prstGeom>
          <a:noFill/>
        </p:spPr>
        <p:txBody>
          <a:bodyPr wrap="none" lIns="0" rIns="0" tIns="0" bIns="0">
            <a:spAutoFit/>
          </a:bodyPr>
          <a:lstStyle/>
          <a:p>
            <a:r>
              <a:rPr sz="1150" b="0">
                <a:solidFill>
                  <a:srgbClr val="2E2E2E"/>
                </a:solidFill>
                <a:latin typeface="Calibri"/>
              </a:rPr>
              <a:t>); capture upside in Canada (</a:t>
            </a:r>
          </a:p>
        </p:txBody>
      </p:sp>
      <p:pic>
        <p:nvPicPr>
          <p:cNvPr id="42" name="Picture 41" descr="lock.png"/>
          <p:cNvPicPr>
            <a:picLocks noChangeAspect="1"/>
          </p:cNvPicPr>
          <p:nvPr/>
        </p:nvPicPr>
        <p:blipFill>
          <a:blip r:embed="rId4"/>
          <a:stretch>
            <a:fillRect/>
          </a:stretch>
        </p:blipFill>
        <p:spPr>
          <a:xfrm>
            <a:off x="9234718" y="3266376"/>
            <a:ext cx="134549" cy="195707"/>
          </a:xfrm>
          <a:prstGeom prst="rect">
            <a:avLst/>
          </a:prstGeom>
        </p:spPr>
      </p:pic>
      <p:sp>
        <p:nvSpPr>
          <p:cNvPr id="43" name="TextBox 42"/>
          <p:cNvSpPr txBox="1"/>
          <p:nvPr/>
        </p:nvSpPr>
        <p:spPr>
          <a:xfrm>
            <a:off x="9409827" y="32766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4" name="TextBox 43"/>
          <p:cNvSpPr txBox="1"/>
          <p:nvPr/>
        </p:nvSpPr>
        <p:spPr>
          <a:xfrm>
            <a:off x="276225" y="4972050"/>
            <a:ext cx="1527571" cy="194310"/>
          </a:xfrm>
          <a:prstGeom prst="rect">
            <a:avLst/>
          </a:prstGeom>
          <a:noFill/>
        </p:spPr>
        <p:txBody>
          <a:bodyPr wrap="none" lIns="0" rIns="0" tIns="0" bIns="0">
            <a:spAutoFit/>
          </a:bodyPr>
          <a:lstStyle/>
          <a:p>
            <a:r>
              <a:rPr sz="1150" b="0">
                <a:solidFill>
                  <a:srgbClr val="2E2E2E"/>
                </a:solidFill>
                <a:latin typeface="Calibri"/>
              </a:rPr>
              <a:t>▪ Packaged Muffins adds</a:t>
            </a:r>
          </a:p>
        </p:txBody>
      </p:sp>
      <p:pic>
        <p:nvPicPr>
          <p:cNvPr id="45" name="Picture 44" descr="lock.png"/>
          <p:cNvPicPr>
            <a:picLocks noChangeAspect="1"/>
          </p:cNvPicPr>
          <p:nvPr/>
        </p:nvPicPr>
        <p:blipFill>
          <a:blip r:embed="rId4"/>
          <a:stretch>
            <a:fillRect/>
          </a:stretch>
        </p:blipFill>
        <p:spPr>
          <a:xfrm>
            <a:off x="1752950" y="4961826"/>
            <a:ext cx="134549" cy="195707"/>
          </a:xfrm>
          <a:prstGeom prst="rect">
            <a:avLst/>
          </a:prstGeom>
        </p:spPr>
      </p:pic>
      <p:sp>
        <p:nvSpPr>
          <p:cNvPr id="46" name="TextBox 45"/>
          <p:cNvSpPr txBox="1"/>
          <p:nvPr/>
        </p:nvSpPr>
        <p:spPr>
          <a:xfrm>
            <a:off x="1928060" y="4972050"/>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7" name="Picture 46" descr="lock.png"/>
          <p:cNvPicPr>
            <a:picLocks noChangeAspect="1"/>
          </p:cNvPicPr>
          <p:nvPr/>
        </p:nvPicPr>
        <p:blipFill>
          <a:blip r:embed="rId4"/>
          <a:stretch>
            <a:fillRect/>
          </a:stretch>
        </p:blipFill>
        <p:spPr>
          <a:xfrm>
            <a:off x="3692321" y="4961826"/>
            <a:ext cx="134549" cy="195707"/>
          </a:xfrm>
          <a:prstGeom prst="rect">
            <a:avLst/>
          </a:prstGeom>
        </p:spPr>
      </p:pic>
      <p:sp>
        <p:nvSpPr>
          <p:cNvPr id="48" name="TextBox 47"/>
          <p:cNvSpPr txBox="1"/>
          <p:nvPr/>
        </p:nvSpPr>
        <p:spPr>
          <a:xfrm>
            <a:off x="3867431" y="4972050"/>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9" name="TextBox 48"/>
          <p:cNvSpPr txBox="1"/>
          <p:nvPr/>
        </p:nvSpPr>
        <p:spPr>
          <a:xfrm>
            <a:off x="276225" y="5199888"/>
            <a:ext cx="634436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segment/country while seeding the fastest-growing pockets early.</a:t>
            </a:r>
          </a:p>
        </p:txBody>
      </p:sp>
      <p:sp>
        <p:nvSpPr>
          <p:cNvPr id="50" name="TextBox 49"/>
          <p:cNvSpPr txBox="1"/>
          <p:nvPr/>
        </p:nvSpPr>
        <p:spPr>
          <a:xfrm>
            <a:off x="276225" y="5427725"/>
            <a:ext cx="4210670" cy="194310"/>
          </a:xfrm>
          <a:prstGeom prst="rect">
            <a:avLst/>
          </a:prstGeom>
          <a:noFill/>
        </p:spPr>
        <p:txBody>
          <a:bodyPr wrap="none" lIns="0" rIns="0" tIns="0" bIns="0">
            <a:spAutoFit/>
          </a:bodyPr>
          <a:lstStyle/>
          <a:p>
            <a:r>
              <a:rPr sz="1150" b="0">
                <a:solidFill>
                  <a:srgbClr val="2E2E2E"/>
                </a:solidFill>
                <a:latin typeface="Calibri"/>
              </a:rPr>
              <a:t>▪ Defend share in 'Sweet muffins' as the value anchor of the portfolio.</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5.0%</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4.1%</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3.0%</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Packaged Muffins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26160"/>
            <a:ext cx="635826" cy="879140"/>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90056"/>
            <a:ext cx="635826" cy="1215244"/>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54397"/>
            <a:ext cx="635826" cy="1350903"/>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805113"/>
            <a:ext cx="635826" cy="150018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56706"/>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51931"/>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3.0%</a:t>
            </a:r>
          </a:p>
        </p:txBody>
      </p:sp>
      <p:cxnSp>
        <p:nvCxnSpPr>
          <p:cNvPr id="22" name="Connector 21"/>
          <p:cNvCxnSpPr/>
          <p:nvPr/>
        </p:nvCxnSpPr>
        <p:spPr>
          <a:xfrm>
            <a:off x="1456468" y="2699531"/>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94756"/>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4.1%</a:t>
            </a:r>
          </a:p>
        </p:txBody>
      </p:sp>
      <p:cxnSp>
        <p:nvCxnSpPr>
          <p:cNvPr id="24" name="Connector 23"/>
          <p:cNvCxnSpPr/>
          <p:nvPr/>
        </p:nvCxnSpPr>
        <p:spPr>
          <a:xfrm>
            <a:off x="1456468" y="2442356"/>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37581"/>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5.0%</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Packaged Muffins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46" name="Picture 45" descr="lock.png"/>
          <p:cNvPicPr>
            <a:picLocks noChangeAspect="1"/>
          </p:cNvPicPr>
          <p:nvPr/>
        </p:nvPicPr>
        <p:blipFill>
          <a:blip r:embed="rId5"/>
          <a:stretch>
            <a:fillRect/>
          </a:stretch>
        </p:blipFill>
        <p:spPr>
          <a:xfrm>
            <a:off x="1033540" y="5361876"/>
            <a:ext cx="134549" cy="195707"/>
          </a:xfrm>
          <a:prstGeom prst="rect">
            <a:avLst/>
          </a:prstGeom>
        </p:spPr>
      </p:pic>
      <p:sp>
        <p:nvSpPr>
          <p:cNvPr id="47" name="TextBox 46"/>
          <p:cNvSpPr txBox="1"/>
          <p:nvPr/>
        </p:nvSpPr>
        <p:spPr>
          <a:xfrm>
            <a:off x="1208649" y="5372100"/>
            <a:ext cx="1930047" cy="194310"/>
          </a:xfrm>
          <a:prstGeom prst="rect">
            <a:avLst/>
          </a:prstGeom>
          <a:noFill/>
        </p:spPr>
        <p:txBody>
          <a:bodyPr wrap="none" lIns="0" rIns="0" tIns="0" bIns="0">
            <a:spAutoFit/>
          </a:bodyPr>
          <a:lstStyle/>
          <a:p>
            <a:r>
              <a:rPr sz="1150" b="0">
                <a:solidFill>
                  <a:srgbClr val="2E2E2E"/>
                </a:solidFill>
                <a:latin typeface="Calibri"/>
              </a:rPr>
              <a:t>US$ Mn by 2036 at 5.0% CAGR.</a:t>
            </a:r>
          </a:p>
        </p:txBody>
      </p:sp>
      <p:sp>
        <p:nvSpPr>
          <p:cNvPr id="48" name="TextBox 47"/>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49" name="Picture 48" descr="lock.png"/>
          <p:cNvPicPr>
            <a:picLocks noChangeAspect="1"/>
          </p:cNvPicPr>
          <p:nvPr/>
        </p:nvPicPr>
        <p:blipFill>
          <a:blip r:embed="rId5"/>
          <a:stretch>
            <a:fillRect/>
          </a:stretch>
        </p:blipFill>
        <p:spPr>
          <a:xfrm>
            <a:off x="1673650" y="5589714"/>
            <a:ext cx="134549" cy="195707"/>
          </a:xfrm>
          <a:prstGeom prst="rect">
            <a:avLst/>
          </a:prstGeom>
        </p:spPr>
      </p:pic>
      <p:sp>
        <p:nvSpPr>
          <p:cNvPr id="50" name="TextBox 49"/>
          <p:cNvSpPr txBox="1"/>
          <p:nvPr/>
        </p:nvSpPr>
        <p:spPr>
          <a:xfrm>
            <a:off x="1848759" y="5599938"/>
            <a:ext cx="1424292" cy="194310"/>
          </a:xfrm>
          <a:prstGeom prst="rect">
            <a:avLst/>
          </a:prstGeom>
          <a:noFill/>
        </p:spPr>
        <p:txBody>
          <a:bodyPr wrap="none" lIns="0" rIns="0" tIns="0" bIns="0">
            <a:spAutoFit/>
          </a:bodyPr>
          <a:lstStyle/>
          <a:p>
            <a:r>
              <a:rPr sz="1150" b="0">
                <a:solidFill>
                  <a:srgbClr val="2E2E2E"/>
                </a:solidFill>
                <a:latin typeface="Calibri"/>
              </a:rPr>
              <a:t>US$ Mn at 4.1% CAGR.</a:t>
            </a:r>
          </a:p>
        </p:txBody>
      </p:sp>
      <p:sp>
        <p:nvSpPr>
          <p:cNvPr id="51" name="TextBox 50"/>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52" name="Picture 51" descr="lock.png"/>
          <p:cNvPicPr>
            <a:picLocks noChangeAspect="1"/>
          </p:cNvPicPr>
          <p:nvPr/>
        </p:nvPicPr>
        <p:blipFill>
          <a:blip r:embed="rId5"/>
          <a:stretch>
            <a:fillRect/>
          </a:stretch>
        </p:blipFill>
        <p:spPr>
          <a:xfrm>
            <a:off x="1194994" y="5817552"/>
            <a:ext cx="134549" cy="195707"/>
          </a:xfrm>
          <a:prstGeom prst="rect">
            <a:avLst/>
          </a:prstGeom>
        </p:spPr>
      </p:pic>
      <p:sp>
        <p:nvSpPr>
          <p:cNvPr id="53" name="TextBox 52"/>
          <p:cNvSpPr txBox="1"/>
          <p:nvPr/>
        </p:nvSpPr>
        <p:spPr>
          <a:xfrm>
            <a:off x="1370103" y="5827775"/>
            <a:ext cx="1424292" cy="194310"/>
          </a:xfrm>
          <a:prstGeom prst="rect">
            <a:avLst/>
          </a:prstGeom>
          <a:noFill/>
        </p:spPr>
        <p:txBody>
          <a:bodyPr wrap="none" lIns="0" rIns="0" tIns="0" bIns="0">
            <a:spAutoFit/>
          </a:bodyPr>
          <a:lstStyle/>
          <a:p>
            <a:r>
              <a:rPr sz="1150" b="0">
                <a:solidFill>
                  <a:srgbClr val="2E2E2E"/>
                </a:solidFill>
                <a:latin typeface="Calibri"/>
              </a:rPr>
              <a:t>US$ Mn at 3.0% CAGR.</a:t>
            </a:r>
          </a:p>
        </p:txBody>
      </p:sp>
      <p:sp>
        <p:nvSpPr>
          <p:cNvPr id="54" name="TextBox 53"/>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55" name="Picture 54" descr="lock.png"/>
          <p:cNvPicPr>
            <a:picLocks noChangeAspect="1"/>
          </p:cNvPicPr>
          <p:nvPr/>
        </p:nvPicPr>
        <p:blipFill>
          <a:blip r:embed="rId5"/>
          <a:stretch>
            <a:fillRect/>
          </a:stretch>
        </p:blipFill>
        <p:spPr>
          <a:xfrm>
            <a:off x="3885509" y="6045390"/>
            <a:ext cx="134549" cy="195707"/>
          </a:xfrm>
          <a:prstGeom prst="rect">
            <a:avLst/>
          </a:prstGeom>
        </p:spPr>
      </p:pic>
      <p:sp>
        <p:nvSpPr>
          <p:cNvPr id="56" name="TextBox 55"/>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57" name="lockshield_36"/>
          <p:cNvSpPr/>
          <p:nvPr/>
        </p:nvSpPr>
        <p:spPr>
          <a:xfrm>
            <a:off x="6267450" y="2266950"/>
            <a:ext cx="5686425" cy="2495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Region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Packaged Muffins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 (1/2)</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 (2/2)</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480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60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8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117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_744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6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217539" cy="186689"/>
          </a:xfrm>
          <a:prstGeom prst="rect">
            <a:avLst/>
          </a:prstGeom>
          <a:noFill/>
        </p:spPr>
        <p:txBody>
          <a:bodyPr wrap="none" lIns="0" rIns="0" tIns="0" bIns="0">
            <a:spAutoFit/>
          </a:bodyPr>
          <a:lstStyle/>
          <a:p>
            <a:r>
              <a:rPr sz="1100" b="0">
                <a:solidFill>
                  <a:srgbClr val="2E2E2E"/>
                </a:solidFill>
                <a:latin typeface="Calibri"/>
              </a:rPr>
              <a:t>▪ 'U.S.' holds the largest share in 2026</a:t>
            </a:r>
          </a:p>
        </p:txBody>
      </p:sp>
      <p:pic>
        <p:nvPicPr>
          <p:cNvPr id="59" name="Picture 58" descr="lock.png"/>
          <p:cNvPicPr>
            <a:picLocks noChangeAspect="1"/>
          </p:cNvPicPr>
          <p:nvPr/>
        </p:nvPicPr>
        <p:blipFill>
          <a:blip r:embed="rId10"/>
          <a:stretch>
            <a:fillRect/>
          </a:stretch>
        </p:blipFill>
        <p:spPr>
          <a:xfrm>
            <a:off x="2651365" y="4219658"/>
            <a:ext cx="128699" cy="187198"/>
          </a:xfrm>
          <a:prstGeom prst="rect">
            <a:avLst/>
          </a:prstGeom>
        </p:spPr>
      </p:pic>
      <p:sp>
        <p:nvSpPr>
          <p:cNvPr id="60" name="TextBox 59"/>
          <p:cNvSpPr txBox="1"/>
          <p:nvPr/>
        </p:nvSpPr>
        <p:spPr>
          <a:xfrm>
            <a:off x="2818861"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61" name="TextBox 60"/>
          <p:cNvSpPr txBox="1"/>
          <p:nvPr/>
        </p:nvSpPr>
        <p:spPr>
          <a:xfrm>
            <a:off x="485775" y="4397077"/>
            <a:ext cx="855464" cy="186689"/>
          </a:xfrm>
          <a:prstGeom prst="rect">
            <a:avLst/>
          </a:prstGeom>
          <a:noFill/>
        </p:spPr>
        <p:txBody>
          <a:bodyPr wrap="none" lIns="0" rIns="0" tIns="0" bIns="0">
            <a:spAutoFit/>
          </a:bodyPr>
          <a:lstStyle/>
          <a:p>
            <a:r>
              <a:rPr sz="1100" b="0">
                <a:solidFill>
                  <a:srgbClr val="2E2E2E"/>
                </a:solidFill>
                <a:latin typeface="Calibri"/>
              </a:rPr>
              <a:t>market value.</a:t>
            </a:r>
          </a:p>
        </p:txBody>
      </p:sp>
      <p:sp>
        <p:nvSpPr>
          <p:cNvPr id="62" name="TextBox 61"/>
          <p:cNvSpPr txBox="1"/>
          <p:nvPr/>
        </p:nvSpPr>
        <p:spPr>
          <a:xfrm>
            <a:off x="485775" y="4615009"/>
            <a:ext cx="2512491" cy="186689"/>
          </a:xfrm>
          <a:prstGeom prst="rect">
            <a:avLst/>
          </a:prstGeom>
          <a:noFill/>
        </p:spPr>
        <p:txBody>
          <a:bodyPr wrap="none" lIns="0" rIns="0" tIns="0" bIns="0">
            <a:spAutoFit/>
          </a:bodyPr>
          <a:lstStyle/>
          <a:p>
            <a:r>
              <a:rPr sz="1100" b="0">
                <a:solidFill>
                  <a:srgbClr val="2E2E2E"/>
                </a:solidFill>
                <a:latin typeface="Calibri"/>
              </a:rPr>
              <a:t>▪ 'Canada' is the fastest-growing country at</a:t>
            </a:r>
          </a:p>
        </p:txBody>
      </p:sp>
      <p:pic>
        <p:nvPicPr>
          <p:cNvPr id="63" name="Picture 62" descr="lock.png"/>
          <p:cNvPicPr>
            <a:picLocks noChangeAspect="1"/>
          </p:cNvPicPr>
          <p:nvPr/>
        </p:nvPicPr>
        <p:blipFill>
          <a:blip r:embed="rId10"/>
          <a:stretch>
            <a:fillRect/>
          </a:stretch>
        </p:blipFill>
        <p:spPr>
          <a:xfrm>
            <a:off x="2946318" y="4605230"/>
            <a:ext cx="128699" cy="187198"/>
          </a:xfrm>
          <a:prstGeom prst="rect">
            <a:avLst/>
          </a:prstGeom>
        </p:spPr>
      </p:pic>
      <p:sp>
        <p:nvSpPr>
          <p:cNvPr id="64" name="TextBox 63"/>
          <p:cNvSpPr txBox="1"/>
          <p:nvPr/>
        </p:nvSpPr>
        <p:spPr>
          <a:xfrm>
            <a:off x="485775"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720949" cy="186689"/>
          </a:xfrm>
          <a:prstGeom prst="rect">
            <a:avLst/>
          </a:prstGeom>
          <a:noFill/>
        </p:spPr>
        <p:txBody>
          <a:bodyPr wrap="none" lIns="0" rIns="0" tIns="0" bIns="0">
            <a:spAutoFit/>
          </a:bodyPr>
          <a:lstStyle/>
          <a:p>
            <a:r>
              <a:rPr sz="1100" b="0">
                <a:solidFill>
                  <a:srgbClr val="2E2E2E"/>
                </a:solidFill>
                <a:latin typeface="Calibri"/>
              </a:rPr>
              <a:t>▪ Market value expands from</a:t>
            </a:r>
          </a:p>
        </p:txBody>
      </p:sp>
      <p:pic>
        <p:nvPicPr>
          <p:cNvPr id="66" name="Picture 65" descr="lock.png"/>
          <p:cNvPicPr>
            <a:picLocks noChangeAspect="1"/>
          </p:cNvPicPr>
          <p:nvPr/>
        </p:nvPicPr>
        <p:blipFill>
          <a:blip r:embed="rId10"/>
          <a:stretch>
            <a:fillRect/>
          </a:stretch>
        </p:blipFill>
        <p:spPr>
          <a:xfrm>
            <a:off x="2154775" y="4990801"/>
            <a:ext cx="128699" cy="187198"/>
          </a:xfrm>
          <a:prstGeom prst="rect">
            <a:avLst/>
          </a:prstGeom>
        </p:spPr>
      </p:pic>
      <p:sp>
        <p:nvSpPr>
          <p:cNvPr id="67" name="TextBox 66"/>
          <p:cNvSpPr txBox="1"/>
          <p:nvPr/>
        </p:nvSpPr>
        <p:spPr>
          <a:xfrm>
            <a:off x="2322271"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467123" y="4990801"/>
            <a:ext cx="128699" cy="187198"/>
          </a:xfrm>
          <a:prstGeom prst="rect">
            <a:avLst/>
          </a:prstGeom>
        </p:spPr>
      </p:pic>
      <p:sp>
        <p:nvSpPr>
          <p:cNvPr id="69" name="TextBox 68"/>
          <p:cNvSpPr txBox="1"/>
          <p:nvPr/>
        </p:nvSpPr>
        <p:spPr>
          <a:xfrm>
            <a:off x="2634619"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831455" cy="186689"/>
          </a:xfrm>
          <a:prstGeom prst="rect">
            <a:avLst/>
          </a:prstGeom>
          <a:noFill/>
        </p:spPr>
        <p:txBody>
          <a:bodyPr wrap="none" lIns="0" rIns="0" tIns="0" bIns="0">
            <a:spAutoFit/>
          </a:bodyPr>
          <a:lstStyle/>
          <a:p>
            <a:r>
              <a:rPr sz="1100" b="0">
                <a:solidFill>
                  <a:srgbClr val="2E2E2E"/>
                </a:solidFill>
                <a:latin typeface="Calibri"/>
              </a:rPr>
              <a:t>▪ 2 countries make up the geographic landscape.</a:t>
            </a:r>
          </a:p>
        </p:txBody>
      </p:sp>
      <p:sp>
        <p:nvSpPr>
          <p:cNvPr id="72" name="TextBox 71"/>
          <p:cNvSpPr txBox="1"/>
          <p:nvPr/>
        </p:nvSpPr>
        <p:spPr>
          <a:xfrm>
            <a:off x="3838575" y="4229437"/>
            <a:ext cx="453826" cy="186689"/>
          </a:xfrm>
          <a:prstGeom prst="rect">
            <a:avLst/>
          </a:prstGeom>
          <a:noFill/>
        </p:spPr>
        <p:txBody>
          <a:bodyPr wrap="none" lIns="0" rIns="0" tIns="0" bIns="0">
            <a:spAutoFit/>
          </a:bodyPr>
          <a:lstStyle/>
          <a:p>
            <a:r>
              <a:rPr sz="1100" b="0">
                <a:solidFill>
                  <a:srgbClr val="2E2E2E"/>
                </a:solidFill>
                <a:latin typeface="Calibri"/>
              </a:rPr>
              <a:t>● U.S.:</a:t>
            </a:r>
          </a:p>
        </p:txBody>
      </p:sp>
      <p:pic>
        <p:nvPicPr>
          <p:cNvPr id="73" name="Picture 72" descr="lock.png"/>
          <p:cNvPicPr>
            <a:picLocks noChangeAspect="1"/>
          </p:cNvPicPr>
          <p:nvPr/>
        </p:nvPicPr>
        <p:blipFill>
          <a:blip r:embed="rId10"/>
          <a:stretch>
            <a:fillRect/>
          </a:stretch>
        </p:blipFill>
        <p:spPr>
          <a:xfrm>
            <a:off x="4240453" y="4219658"/>
            <a:ext cx="128699" cy="187198"/>
          </a:xfrm>
          <a:prstGeom prst="rect">
            <a:avLst/>
          </a:prstGeom>
        </p:spPr>
      </p:pic>
      <p:sp>
        <p:nvSpPr>
          <p:cNvPr id="74" name="TextBox 73"/>
          <p:cNvSpPr txBox="1"/>
          <p:nvPr/>
        </p:nvSpPr>
        <p:spPr>
          <a:xfrm>
            <a:off x="44079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5" name="Picture 74" descr="lock.png"/>
          <p:cNvPicPr>
            <a:picLocks noChangeAspect="1"/>
          </p:cNvPicPr>
          <p:nvPr/>
        </p:nvPicPr>
        <p:blipFill>
          <a:blip r:embed="rId10"/>
          <a:stretch>
            <a:fillRect/>
          </a:stretch>
        </p:blipFill>
        <p:spPr>
          <a:xfrm>
            <a:off x="5267399" y="4219658"/>
            <a:ext cx="128699" cy="187198"/>
          </a:xfrm>
          <a:prstGeom prst="rect">
            <a:avLst/>
          </a:prstGeom>
        </p:spPr>
      </p:pic>
      <p:sp>
        <p:nvSpPr>
          <p:cNvPr id="76" name="TextBox 75"/>
          <p:cNvSpPr txBox="1"/>
          <p:nvPr/>
        </p:nvSpPr>
        <p:spPr>
          <a:xfrm>
            <a:off x="543489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77" name="TextBox 76"/>
          <p:cNvSpPr txBox="1"/>
          <p:nvPr/>
        </p:nvSpPr>
        <p:spPr>
          <a:xfrm>
            <a:off x="3838575" y="4447369"/>
            <a:ext cx="651371" cy="186689"/>
          </a:xfrm>
          <a:prstGeom prst="rect">
            <a:avLst/>
          </a:prstGeom>
          <a:noFill/>
        </p:spPr>
        <p:txBody>
          <a:bodyPr wrap="none" lIns="0" rIns="0" tIns="0" bIns="0">
            <a:spAutoFit/>
          </a:bodyPr>
          <a:lstStyle/>
          <a:p>
            <a:r>
              <a:rPr sz="1100" b="0">
                <a:solidFill>
                  <a:srgbClr val="2E2E2E"/>
                </a:solidFill>
                <a:latin typeface="Calibri"/>
              </a:rPr>
              <a:t>● Canada:</a:t>
            </a:r>
          </a:p>
        </p:txBody>
      </p:sp>
      <p:pic>
        <p:nvPicPr>
          <p:cNvPr id="78" name="Picture 77" descr="lock.png"/>
          <p:cNvPicPr>
            <a:picLocks noChangeAspect="1"/>
          </p:cNvPicPr>
          <p:nvPr/>
        </p:nvPicPr>
        <p:blipFill>
          <a:blip r:embed="rId10"/>
          <a:stretch>
            <a:fillRect/>
          </a:stretch>
        </p:blipFill>
        <p:spPr>
          <a:xfrm>
            <a:off x="4437997" y="4437590"/>
            <a:ext cx="128699" cy="187198"/>
          </a:xfrm>
          <a:prstGeom prst="rect">
            <a:avLst/>
          </a:prstGeom>
        </p:spPr>
      </p:pic>
      <p:sp>
        <p:nvSpPr>
          <p:cNvPr id="79" name="TextBox 78"/>
          <p:cNvSpPr txBox="1"/>
          <p:nvPr/>
        </p:nvSpPr>
        <p:spPr>
          <a:xfrm>
            <a:off x="460549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0" name="Picture 79" descr="lock.png"/>
          <p:cNvPicPr>
            <a:picLocks noChangeAspect="1"/>
          </p:cNvPicPr>
          <p:nvPr/>
        </p:nvPicPr>
        <p:blipFill>
          <a:blip r:embed="rId10"/>
          <a:stretch>
            <a:fillRect/>
          </a:stretch>
        </p:blipFill>
        <p:spPr>
          <a:xfrm>
            <a:off x="5464943" y="4437590"/>
            <a:ext cx="128699" cy="187198"/>
          </a:xfrm>
          <a:prstGeom prst="rect">
            <a:avLst/>
          </a:prstGeom>
        </p:spPr>
      </p:pic>
      <p:sp>
        <p:nvSpPr>
          <p:cNvPr id="81" name="TextBox 80"/>
          <p:cNvSpPr txBox="1"/>
          <p:nvPr/>
        </p:nvSpPr>
        <p:spPr>
          <a:xfrm>
            <a:off x="563243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2" name="TextBox 8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North America market is projected to grow at a</a:t>
            </a:r>
          </a:p>
        </p:txBody>
      </p:sp>
      <p:sp>
        <p:nvSpPr>
          <p:cNvPr id="83" name="TextBox 8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4" name="Picture 83" descr="lock.png"/>
          <p:cNvPicPr>
            <a:picLocks noChangeAspect="1"/>
          </p:cNvPicPr>
          <p:nvPr/>
        </p:nvPicPr>
        <p:blipFill>
          <a:blip r:embed="rId10"/>
          <a:stretch>
            <a:fillRect/>
          </a:stretch>
        </p:blipFill>
        <p:spPr>
          <a:xfrm>
            <a:off x="9048826" y="6007677"/>
            <a:ext cx="134549" cy="195707"/>
          </a:xfrm>
          <a:prstGeom prst="rect">
            <a:avLst/>
          </a:prstGeom>
        </p:spPr>
      </p:pic>
      <p:sp>
        <p:nvSpPr>
          <p:cNvPr id="85" name="TextBox 8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Analysis, By Country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99165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19868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1068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197260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252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204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74425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0616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10015537" y="6070282"/>
            <a:ext cx="209550" cy="304800"/>
          </a:xfrm>
          <a:prstGeom prst="rect">
            <a:avLst/>
          </a:prstGeom>
        </p:spPr>
      </p:pic>
      <p:sp>
        <p:nvSpPr>
          <p:cNvPr id="34" name="TextBox 33"/>
          <p:cNvSpPr txBox="1"/>
          <p:nvPr/>
        </p:nvSpPr>
        <p:spPr>
          <a:xfrm>
            <a:off x="7239000" y="1400175"/>
            <a:ext cx="1866453" cy="194310"/>
          </a:xfrm>
          <a:prstGeom prst="rect">
            <a:avLst/>
          </a:prstGeom>
          <a:noFill/>
        </p:spPr>
        <p:txBody>
          <a:bodyPr wrap="none" lIns="0" rIns="0" tIns="0" bIns="0">
            <a:spAutoFit/>
          </a:bodyPr>
          <a:lstStyle/>
          <a:p>
            <a:r>
              <a:rPr sz="1150" b="0">
                <a:solidFill>
                  <a:srgbClr val="2E2E2E"/>
                </a:solidFill>
                <a:latin typeface="Calibri"/>
              </a:rPr>
              <a:t>▪ U.S. is the largest country, at</a:t>
            </a:r>
          </a:p>
        </p:txBody>
      </p:sp>
      <p:pic>
        <p:nvPicPr>
          <p:cNvPr id="35" name="Picture 34" descr="lock.png"/>
          <p:cNvPicPr>
            <a:picLocks noChangeAspect="1"/>
          </p:cNvPicPr>
          <p:nvPr/>
        </p:nvPicPr>
        <p:blipFill>
          <a:blip r:embed="rId5"/>
          <a:stretch>
            <a:fillRect/>
          </a:stretch>
        </p:blipFill>
        <p:spPr>
          <a:xfrm>
            <a:off x="9054607" y="1389951"/>
            <a:ext cx="134549" cy="195707"/>
          </a:xfrm>
          <a:prstGeom prst="rect">
            <a:avLst/>
          </a:prstGeom>
        </p:spPr>
      </p:pic>
      <p:sp>
        <p:nvSpPr>
          <p:cNvPr id="36" name="TextBox 35"/>
          <p:cNvSpPr txBox="1"/>
          <p:nvPr/>
        </p:nvSpPr>
        <p:spPr>
          <a:xfrm>
            <a:off x="9229716" y="1400175"/>
            <a:ext cx="1040072" cy="194310"/>
          </a:xfrm>
          <a:prstGeom prst="rect">
            <a:avLst/>
          </a:prstGeom>
          <a:noFill/>
        </p:spPr>
        <p:txBody>
          <a:bodyPr wrap="none" lIns="0" rIns="0" tIns="0" bIns="0">
            <a:spAutoFit/>
          </a:bodyPr>
          <a:lstStyle/>
          <a:p>
            <a:r>
              <a:rPr sz="1150" b="0">
                <a:solidFill>
                  <a:srgbClr val="2E2E2E"/>
                </a:solidFill>
                <a:latin typeface="Calibri"/>
              </a:rPr>
              <a:t>of 2036 volume.</a:t>
            </a:r>
          </a:p>
        </p:txBody>
      </p:sp>
      <p:sp>
        <p:nvSpPr>
          <p:cNvPr id="37" name="TextBox 36"/>
          <p:cNvSpPr txBox="1"/>
          <p:nvPr/>
        </p:nvSpPr>
        <p:spPr>
          <a:xfrm>
            <a:off x="7239000" y="1628013"/>
            <a:ext cx="2036464" cy="194310"/>
          </a:xfrm>
          <a:prstGeom prst="rect">
            <a:avLst/>
          </a:prstGeom>
          <a:noFill/>
        </p:spPr>
        <p:txBody>
          <a:bodyPr wrap="none" lIns="0" rIns="0" tIns="0" bIns="0">
            <a:spAutoFit/>
          </a:bodyPr>
          <a:lstStyle/>
          <a:p>
            <a:r>
              <a:rPr sz="1150" b="0">
                <a:solidFill>
                  <a:srgbClr val="2E2E2E"/>
                </a:solidFill>
                <a:latin typeface="Calibri"/>
              </a:rPr>
              <a:t>▪ 'Canada' gains the most share +</a:t>
            </a:r>
          </a:p>
        </p:txBody>
      </p:sp>
      <p:pic>
        <p:nvPicPr>
          <p:cNvPr id="38" name="Picture 37" descr="lock.png"/>
          <p:cNvPicPr>
            <a:picLocks noChangeAspect="1"/>
          </p:cNvPicPr>
          <p:nvPr/>
        </p:nvPicPr>
        <p:blipFill>
          <a:blip r:embed="rId5"/>
          <a:stretch>
            <a:fillRect/>
          </a:stretch>
        </p:blipFill>
        <p:spPr>
          <a:xfrm>
            <a:off x="9224618" y="1617789"/>
            <a:ext cx="134549" cy="195707"/>
          </a:xfrm>
          <a:prstGeom prst="rect">
            <a:avLst/>
          </a:prstGeom>
        </p:spPr>
      </p:pic>
      <p:sp>
        <p:nvSpPr>
          <p:cNvPr id="39" name="TextBox 38"/>
          <p:cNvSpPr txBox="1"/>
          <p:nvPr/>
        </p:nvSpPr>
        <p:spPr>
          <a:xfrm>
            <a:off x="9399728" y="1628013"/>
            <a:ext cx="2342542"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a:t>
            </a:r>
            <a:r>
              <a:rPr sz="1150" b="0">
                <a:solidFill>
                  <a:srgbClr val="2E2E2E"/>
                </a:solidFill>
                <a:latin typeface="Calibri"/>
              </a:rPr>
              <a:t> on the</a:t>
            </a:r>
          </a:p>
        </p:txBody>
      </p:sp>
      <p:sp>
        <p:nvSpPr>
          <p:cNvPr id="40" name="TextBox 39"/>
          <p:cNvSpPr txBox="1"/>
          <p:nvPr/>
        </p:nvSpPr>
        <p:spPr>
          <a:xfrm>
            <a:off x="7239000" y="1803273"/>
            <a:ext cx="764802" cy="194310"/>
          </a:xfrm>
          <a:prstGeom prst="rect">
            <a:avLst/>
          </a:prstGeom>
          <a:noFill/>
        </p:spPr>
        <p:txBody>
          <a:bodyPr wrap="none" lIns="0" rIns="0" tIns="0" bIns="0">
            <a:spAutoFit/>
          </a:bodyPr>
          <a:lstStyle/>
          <a:p>
            <a:r>
              <a:rPr sz="1150" b="0">
                <a:solidFill>
                  <a:srgbClr val="2E2E2E"/>
                </a:solidFill>
                <a:latin typeface="Calibri"/>
              </a:rPr>
              <a:t>right scale).</a:t>
            </a:r>
          </a:p>
        </p:txBody>
      </p:sp>
      <p:sp>
        <p:nvSpPr>
          <p:cNvPr id="41" name="TextBox 40"/>
          <p:cNvSpPr txBox="1"/>
          <p:nvPr/>
        </p:nvSpPr>
        <p:spPr>
          <a:xfrm>
            <a:off x="7239000" y="2031111"/>
            <a:ext cx="1476511" cy="194310"/>
          </a:xfrm>
          <a:prstGeom prst="rect">
            <a:avLst/>
          </a:prstGeom>
          <a:noFill/>
        </p:spPr>
        <p:txBody>
          <a:bodyPr wrap="none" lIns="0" rIns="0" tIns="0" bIns="0">
            <a:spAutoFit/>
          </a:bodyPr>
          <a:lstStyle/>
          <a:p>
            <a:r>
              <a:rPr sz="1150" b="0">
                <a:solidFill>
                  <a:srgbClr val="2E2E2E"/>
                </a:solidFill>
                <a:latin typeface="Calibri"/>
              </a:rPr>
              <a:t>▪ 'U.S.' cedes the most -</a:t>
            </a:r>
          </a:p>
        </p:txBody>
      </p:sp>
      <p:pic>
        <p:nvPicPr>
          <p:cNvPr id="42" name="Picture 41" descr="lock.png"/>
          <p:cNvPicPr>
            <a:picLocks noChangeAspect="1"/>
          </p:cNvPicPr>
          <p:nvPr/>
        </p:nvPicPr>
        <p:blipFill>
          <a:blip r:embed="rId5"/>
          <a:stretch>
            <a:fillRect/>
          </a:stretch>
        </p:blipFill>
        <p:spPr>
          <a:xfrm>
            <a:off x="8664665" y="2020887"/>
            <a:ext cx="134549" cy="195707"/>
          </a:xfrm>
          <a:prstGeom prst="rect">
            <a:avLst/>
          </a:prstGeom>
        </p:spPr>
      </p:pic>
      <p:sp>
        <p:nvSpPr>
          <p:cNvPr id="43" name="TextBox 42"/>
          <p:cNvSpPr txBox="1"/>
          <p:nvPr/>
        </p:nvSpPr>
        <p:spPr>
          <a:xfrm>
            <a:off x="8839774" y="2031111"/>
            <a:ext cx="1917799"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a:t>
            </a:r>
            <a:r>
              <a:rPr sz="1150" b="0">
                <a:solidFill>
                  <a:srgbClr val="2E2E2E"/>
                </a:solidFill>
                <a:latin typeface="Calibri"/>
              </a:rPr>
              <a:t>).</a:t>
            </a:r>
          </a:p>
        </p:txBody>
      </p:sp>
      <p:sp>
        <p:nvSpPr>
          <p:cNvPr id="44" name="TextBox 43"/>
          <p:cNvSpPr txBox="1"/>
          <p:nvPr/>
        </p:nvSpPr>
        <p:spPr>
          <a:xfrm>
            <a:off x="7239000" y="2258949"/>
            <a:ext cx="1425736" cy="194310"/>
          </a:xfrm>
          <a:prstGeom prst="rect">
            <a:avLst/>
          </a:prstGeom>
          <a:noFill/>
        </p:spPr>
        <p:txBody>
          <a:bodyPr wrap="none" lIns="0" rIns="0" tIns="0" bIns="0">
            <a:spAutoFit/>
          </a:bodyPr>
          <a:lstStyle/>
          <a:p>
            <a:r>
              <a:rPr sz="1150" b="0">
                <a:solidFill>
                  <a:srgbClr val="2E2E2E"/>
                </a:solidFill>
                <a:latin typeface="Calibri"/>
              </a:rPr>
              <a:t>▪ Canada grows fastest</a:t>
            </a:r>
          </a:p>
        </p:txBody>
      </p:sp>
      <p:pic>
        <p:nvPicPr>
          <p:cNvPr id="45" name="Picture 44" descr="lock.png"/>
          <p:cNvPicPr>
            <a:picLocks noChangeAspect="1"/>
          </p:cNvPicPr>
          <p:nvPr/>
        </p:nvPicPr>
        <p:blipFill>
          <a:blip r:embed="rId5"/>
          <a:stretch>
            <a:fillRect/>
          </a:stretch>
        </p:blipFill>
        <p:spPr>
          <a:xfrm>
            <a:off x="8613890" y="2248725"/>
            <a:ext cx="134549" cy="195707"/>
          </a:xfrm>
          <a:prstGeom prst="rect">
            <a:avLst/>
          </a:prstGeom>
        </p:spPr>
      </p:pic>
      <p:sp>
        <p:nvSpPr>
          <p:cNvPr id="46" name="TextBox 45"/>
          <p:cNvSpPr txBox="1"/>
          <p:nvPr/>
        </p:nvSpPr>
        <p:spPr>
          <a:xfrm>
            <a:off x="8788999" y="2258949"/>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7" name="TextBox 46"/>
          <p:cNvSpPr txBox="1"/>
          <p:nvPr/>
        </p:nvSpPr>
        <p:spPr>
          <a:xfrm>
            <a:off x="7239000" y="2486787"/>
            <a:ext cx="1088851" cy="194310"/>
          </a:xfrm>
          <a:prstGeom prst="rect">
            <a:avLst/>
          </a:prstGeom>
          <a:noFill/>
        </p:spPr>
        <p:txBody>
          <a:bodyPr wrap="none" lIns="0" rIns="0" tIns="0" bIns="0">
            <a:spAutoFit/>
          </a:bodyPr>
          <a:lstStyle/>
          <a:p>
            <a:r>
              <a:rPr sz="1150" b="0">
                <a:solidFill>
                  <a:srgbClr val="2E2E2E"/>
                </a:solidFill>
                <a:latin typeface="Calibri"/>
              </a:rPr>
              <a:t>▪ Total rises from</a:t>
            </a:r>
          </a:p>
        </p:txBody>
      </p:sp>
      <p:pic>
        <p:nvPicPr>
          <p:cNvPr id="48" name="Picture 47" descr="lock.png"/>
          <p:cNvPicPr>
            <a:picLocks noChangeAspect="1"/>
          </p:cNvPicPr>
          <p:nvPr/>
        </p:nvPicPr>
        <p:blipFill>
          <a:blip r:embed="rId5"/>
          <a:stretch>
            <a:fillRect/>
          </a:stretch>
        </p:blipFill>
        <p:spPr>
          <a:xfrm>
            <a:off x="8277005" y="2476563"/>
            <a:ext cx="134549" cy="195707"/>
          </a:xfrm>
          <a:prstGeom prst="rect">
            <a:avLst/>
          </a:prstGeom>
        </p:spPr>
      </p:pic>
      <p:sp>
        <p:nvSpPr>
          <p:cNvPr id="49" name="TextBox 48"/>
          <p:cNvSpPr txBox="1"/>
          <p:nvPr/>
        </p:nvSpPr>
        <p:spPr>
          <a:xfrm>
            <a:off x="8452114" y="2486787"/>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0" name="Picture 49" descr="lock.png"/>
          <p:cNvPicPr>
            <a:picLocks noChangeAspect="1"/>
          </p:cNvPicPr>
          <p:nvPr/>
        </p:nvPicPr>
        <p:blipFill>
          <a:blip r:embed="rId5"/>
          <a:stretch>
            <a:fillRect/>
          </a:stretch>
        </p:blipFill>
        <p:spPr>
          <a:xfrm>
            <a:off x="8603550" y="2476563"/>
            <a:ext cx="134549" cy="195707"/>
          </a:xfrm>
          <a:prstGeom prst="rect">
            <a:avLst/>
          </a:prstGeom>
        </p:spPr>
      </p:pic>
      <p:sp>
        <p:nvSpPr>
          <p:cNvPr id="51" name="TextBox 50"/>
          <p:cNvSpPr txBox="1"/>
          <p:nvPr/>
        </p:nvSpPr>
        <p:spPr>
          <a:xfrm>
            <a:off x="8778660" y="2486787"/>
            <a:ext cx="1412614" cy="194310"/>
          </a:xfrm>
          <a:prstGeom prst="rect">
            <a:avLst/>
          </a:prstGeom>
          <a:noFill/>
        </p:spPr>
        <p:txBody>
          <a:bodyPr wrap="none" lIns="0" rIns="0" tIns="0" bIns="0">
            <a:spAutoFit/>
          </a:bodyPr>
          <a:lstStyle/>
          <a:p>
            <a:r>
              <a:rPr sz="1150" b="0">
                <a:solidFill>
                  <a:srgbClr val="2E2E2E"/>
                </a:solidFill>
                <a:latin typeface="Calibri"/>
              </a:rPr>
              <a:t>MT across 2 countries.</a:t>
            </a:r>
          </a:p>
        </p:txBody>
      </p:sp>
      <p:sp>
        <p:nvSpPr>
          <p:cNvPr id="52" name="TextBox 51"/>
          <p:cNvSpPr txBox="1"/>
          <p:nvPr/>
        </p:nvSpPr>
        <p:spPr>
          <a:xfrm>
            <a:off x="1613208" y="5877496"/>
            <a:ext cx="1078882" cy="186689"/>
          </a:xfrm>
          <a:prstGeom prst="rect">
            <a:avLst/>
          </a:prstGeom>
          <a:noFill/>
        </p:spPr>
        <p:txBody>
          <a:bodyPr wrap="none" lIns="0" rIns="0" tIns="0" bIns="0">
            <a:spAutoFit/>
          </a:bodyPr>
          <a:lstStyle/>
          <a:p>
            <a:r>
              <a:rPr sz="1100" b="1">
                <a:solidFill>
                  <a:srgbClr val="6C7A89"/>
                </a:solidFill>
                <a:latin typeface="Calibri"/>
              </a:rPr>
              <a:t>2026 TOTAL (MT)</a:t>
            </a:r>
          </a:p>
        </p:txBody>
      </p:sp>
      <p:pic>
        <p:nvPicPr>
          <p:cNvPr id="53" name="Picture 52" descr="lock.png"/>
          <p:cNvPicPr>
            <a:picLocks noChangeAspect="1"/>
          </p:cNvPicPr>
          <p:nvPr/>
        </p:nvPicPr>
        <p:blipFill>
          <a:blip r:embed="rId5"/>
          <a:stretch>
            <a:fillRect/>
          </a:stretch>
        </p:blipFill>
        <p:spPr>
          <a:xfrm>
            <a:off x="1984327" y="6077648"/>
            <a:ext cx="233998" cy="340360"/>
          </a:xfrm>
          <a:prstGeom prst="rect">
            <a:avLst/>
          </a:prstGeom>
        </p:spPr>
      </p:pic>
      <p:sp>
        <p:nvSpPr>
          <p:cNvPr id="54" name="TextBox 53"/>
          <p:cNvSpPr txBox="1"/>
          <p:nvPr/>
        </p:nvSpPr>
        <p:spPr>
          <a:xfrm>
            <a:off x="5647046" y="5877496"/>
            <a:ext cx="1078882" cy="186689"/>
          </a:xfrm>
          <a:prstGeom prst="rect">
            <a:avLst/>
          </a:prstGeom>
          <a:noFill/>
        </p:spPr>
        <p:txBody>
          <a:bodyPr wrap="none" lIns="0" rIns="0" tIns="0" bIns="0">
            <a:spAutoFit/>
          </a:bodyPr>
          <a:lstStyle/>
          <a:p>
            <a:r>
              <a:rPr sz="1100" b="1">
                <a:solidFill>
                  <a:srgbClr val="6C7A89"/>
                </a:solidFill>
                <a:latin typeface="Calibri"/>
              </a:rPr>
              <a:t>2036 TOTAL (MT)</a:t>
            </a:r>
          </a:p>
        </p:txBody>
      </p:sp>
      <p:pic>
        <p:nvPicPr>
          <p:cNvPr id="55" name="Picture 54" descr="lock.png"/>
          <p:cNvPicPr>
            <a:picLocks noChangeAspect="1"/>
          </p:cNvPicPr>
          <p:nvPr/>
        </p:nvPicPr>
        <p:blipFill>
          <a:blip r:embed="rId5"/>
          <a:stretch>
            <a:fillRect/>
          </a:stretch>
        </p:blipFill>
        <p:spPr>
          <a:xfrm>
            <a:off x="6018165" y="6077648"/>
            <a:ext cx="233998" cy="340360"/>
          </a:xfrm>
          <a:prstGeom prst="rect">
            <a:avLst/>
          </a:prstGeom>
        </p:spPr>
      </p:pic>
      <p:sp>
        <p:nvSpPr>
          <p:cNvPr id="56"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593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403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881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81196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1866453" cy="194310"/>
          </a:xfrm>
          <a:prstGeom prst="rect">
            <a:avLst/>
          </a:prstGeom>
          <a:noFill/>
        </p:spPr>
        <p:txBody>
          <a:bodyPr wrap="none" lIns="0" rIns="0" tIns="0" bIns="0">
            <a:spAutoFit/>
          </a:bodyPr>
          <a:lstStyle/>
          <a:p>
            <a:r>
              <a:rPr sz="1150" b="0">
                <a:solidFill>
                  <a:srgbClr val="2E2E2E"/>
                </a:solidFill>
                <a:latin typeface="Calibri"/>
              </a:rPr>
              <a:t>▪ U.S. is the largest country, at</a:t>
            </a:r>
          </a:p>
        </p:txBody>
      </p:sp>
      <p:pic>
        <p:nvPicPr>
          <p:cNvPr id="37" name="Picture 36" descr="lock.png"/>
          <p:cNvPicPr>
            <a:picLocks noChangeAspect="1"/>
          </p:cNvPicPr>
          <p:nvPr/>
        </p:nvPicPr>
        <p:blipFill>
          <a:blip r:embed="rId5"/>
          <a:stretch>
            <a:fillRect/>
          </a:stretch>
        </p:blipFill>
        <p:spPr>
          <a:xfrm>
            <a:off x="9054607" y="1389951"/>
            <a:ext cx="134549" cy="195707"/>
          </a:xfrm>
          <a:prstGeom prst="rect">
            <a:avLst/>
          </a:prstGeom>
        </p:spPr>
      </p:pic>
      <p:sp>
        <p:nvSpPr>
          <p:cNvPr id="38" name="TextBox 37"/>
          <p:cNvSpPr txBox="1"/>
          <p:nvPr/>
        </p:nvSpPr>
        <p:spPr>
          <a:xfrm>
            <a:off x="9229716" y="14001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39" name="TextBox 38"/>
          <p:cNvSpPr txBox="1"/>
          <p:nvPr/>
        </p:nvSpPr>
        <p:spPr>
          <a:xfrm>
            <a:off x="7239000" y="1628013"/>
            <a:ext cx="2036464" cy="194310"/>
          </a:xfrm>
          <a:prstGeom prst="rect">
            <a:avLst/>
          </a:prstGeom>
          <a:noFill/>
        </p:spPr>
        <p:txBody>
          <a:bodyPr wrap="none" lIns="0" rIns="0" tIns="0" bIns="0">
            <a:spAutoFit/>
          </a:bodyPr>
          <a:lstStyle/>
          <a:p>
            <a:r>
              <a:rPr sz="1150" b="0">
                <a:solidFill>
                  <a:srgbClr val="2E2E2E"/>
                </a:solidFill>
                <a:latin typeface="Calibri"/>
              </a:rPr>
              <a:t>▪ 'Canada' gains the most share +</a:t>
            </a:r>
          </a:p>
        </p:txBody>
      </p:sp>
      <p:pic>
        <p:nvPicPr>
          <p:cNvPr id="40" name="Picture 39" descr="lock.png"/>
          <p:cNvPicPr>
            <a:picLocks noChangeAspect="1"/>
          </p:cNvPicPr>
          <p:nvPr/>
        </p:nvPicPr>
        <p:blipFill>
          <a:blip r:embed="rId5"/>
          <a:stretch>
            <a:fillRect/>
          </a:stretch>
        </p:blipFill>
        <p:spPr>
          <a:xfrm>
            <a:off x="9224618" y="1617789"/>
            <a:ext cx="134549" cy="195707"/>
          </a:xfrm>
          <a:prstGeom prst="rect">
            <a:avLst/>
          </a:prstGeom>
        </p:spPr>
      </p:pic>
      <p:sp>
        <p:nvSpPr>
          <p:cNvPr id="41" name="TextBox 40"/>
          <p:cNvSpPr txBox="1"/>
          <p:nvPr/>
        </p:nvSpPr>
        <p:spPr>
          <a:xfrm>
            <a:off x="9399728" y="1628013"/>
            <a:ext cx="2342542"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a:t>
            </a:r>
            <a:r>
              <a:rPr sz="1150" b="0">
                <a:solidFill>
                  <a:srgbClr val="2E2E2E"/>
                </a:solidFill>
                <a:latin typeface="Calibri"/>
              </a:rPr>
              <a:t> on the</a:t>
            </a:r>
          </a:p>
        </p:txBody>
      </p:sp>
      <p:sp>
        <p:nvSpPr>
          <p:cNvPr id="42" name="TextBox 41"/>
          <p:cNvSpPr txBox="1"/>
          <p:nvPr/>
        </p:nvSpPr>
        <p:spPr>
          <a:xfrm>
            <a:off x="7239000" y="1803273"/>
            <a:ext cx="764802" cy="194310"/>
          </a:xfrm>
          <a:prstGeom prst="rect">
            <a:avLst/>
          </a:prstGeom>
          <a:noFill/>
        </p:spPr>
        <p:txBody>
          <a:bodyPr wrap="none" lIns="0" rIns="0" tIns="0" bIns="0">
            <a:spAutoFit/>
          </a:bodyPr>
          <a:lstStyle/>
          <a:p>
            <a:r>
              <a:rPr sz="1150" b="0">
                <a:solidFill>
                  <a:srgbClr val="2E2E2E"/>
                </a:solidFill>
                <a:latin typeface="Calibri"/>
              </a:rPr>
              <a:t>right scale).</a:t>
            </a:r>
          </a:p>
        </p:txBody>
      </p:sp>
      <p:sp>
        <p:nvSpPr>
          <p:cNvPr id="43" name="TextBox 42"/>
          <p:cNvSpPr txBox="1"/>
          <p:nvPr/>
        </p:nvSpPr>
        <p:spPr>
          <a:xfrm>
            <a:off x="7239000" y="2031111"/>
            <a:ext cx="1476511" cy="194310"/>
          </a:xfrm>
          <a:prstGeom prst="rect">
            <a:avLst/>
          </a:prstGeom>
          <a:noFill/>
        </p:spPr>
        <p:txBody>
          <a:bodyPr wrap="none" lIns="0" rIns="0" tIns="0" bIns="0">
            <a:spAutoFit/>
          </a:bodyPr>
          <a:lstStyle/>
          <a:p>
            <a:r>
              <a:rPr sz="1150" b="0">
                <a:solidFill>
                  <a:srgbClr val="2E2E2E"/>
                </a:solidFill>
                <a:latin typeface="Calibri"/>
              </a:rPr>
              <a:t>▪ 'U.S.' cedes the most -</a:t>
            </a:r>
          </a:p>
        </p:txBody>
      </p:sp>
      <p:pic>
        <p:nvPicPr>
          <p:cNvPr id="44" name="Picture 43" descr="lock.png"/>
          <p:cNvPicPr>
            <a:picLocks noChangeAspect="1"/>
          </p:cNvPicPr>
          <p:nvPr/>
        </p:nvPicPr>
        <p:blipFill>
          <a:blip r:embed="rId5"/>
          <a:stretch>
            <a:fillRect/>
          </a:stretch>
        </p:blipFill>
        <p:spPr>
          <a:xfrm>
            <a:off x="8664665" y="2020887"/>
            <a:ext cx="134549" cy="195707"/>
          </a:xfrm>
          <a:prstGeom prst="rect">
            <a:avLst/>
          </a:prstGeom>
        </p:spPr>
      </p:pic>
      <p:sp>
        <p:nvSpPr>
          <p:cNvPr id="45" name="TextBox 44"/>
          <p:cNvSpPr txBox="1"/>
          <p:nvPr/>
        </p:nvSpPr>
        <p:spPr>
          <a:xfrm>
            <a:off x="8839774" y="2031111"/>
            <a:ext cx="1917799"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239000" y="2258949"/>
            <a:ext cx="1425736" cy="194310"/>
          </a:xfrm>
          <a:prstGeom prst="rect">
            <a:avLst/>
          </a:prstGeom>
          <a:noFill/>
        </p:spPr>
        <p:txBody>
          <a:bodyPr wrap="none" lIns="0" rIns="0" tIns="0" bIns="0">
            <a:spAutoFit/>
          </a:bodyPr>
          <a:lstStyle/>
          <a:p>
            <a:r>
              <a:rPr sz="1150" b="0">
                <a:solidFill>
                  <a:srgbClr val="2E2E2E"/>
                </a:solidFill>
                <a:latin typeface="Calibri"/>
              </a:rPr>
              <a:t>▪ Canada grows fastest</a:t>
            </a:r>
          </a:p>
        </p:txBody>
      </p:sp>
      <p:pic>
        <p:nvPicPr>
          <p:cNvPr id="47" name="Picture 46" descr="lock.png"/>
          <p:cNvPicPr>
            <a:picLocks noChangeAspect="1"/>
          </p:cNvPicPr>
          <p:nvPr/>
        </p:nvPicPr>
        <p:blipFill>
          <a:blip r:embed="rId5"/>
          <a:stretch>
            <a:fillRect/>
          </a:stretch>
        </p:blipFill>
        <p:spPr>
          <a:xfrm>
            <a:off x="8613890" y="2248725"/>
            <a:ext cx="134549" cy="195707"/>
          </a:xfrm>
          <a:prstGeom prst="rect">
            <a:avLst/>
          </a:prstGeom>
        </p:spPr>
      </p:pic>
      <p:sp>
        <p:nvSpPr>
          <p:cNvPr id="48" name="TextBox 47"/>
          <p:cNvSpPr txBox="1"/>
          <p:nvPr/>
        </p:nvSpPr>
        <p:spPr>
          <a:xfrm>
            <a:off x="8788999" y="2258949"/>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9" name="TextBox 48"/>
          <p:cNvSpPr txBox="1"/>
          <p:nvPr/>
        </p:nvSpPr>
        <p:spPr>
          <a:xfrm>
            <a:off x="7239000" y="2486787"/>
            <a:ext cx="1088851" cy="194310"/>
          </a:xfrm>
          <a:prstGeom prst="rect">
            <a:avLst/>
          </a:prstGeom>
          <a:noFill/>
        </p:spPr>
        <p:txBody>
          <a:bodyPr wrap="none" lIns="0" rIns="0" tIns="0" bIns="0">
            <a:spAutoFit/>
          </a:bodyPr>
          <a:lstStyle/>
          <a:p>
            <a:r>
              <a:rPr sz="1150" b="0">
                <a:solidFill>
                  <a:srgbClr val="2E2E2E"/>
                </a:solidFill>
                <a:latin typeface="Calibri"/>
              </a:rPr>
              <a:t>▪ Total rises from</a:t>
            </a:r>
          </a:p>
        </p:txBody>
      </p:sp>
      <p:pic>
        <p:nvPicPr>
          <p:cNvPr id="50" name="Picture 49" descr="lock.png"/>
          <p:cNvPicPr>
            <a:picLocks noChangeAspect="1"/>
          </p:cNvPicPr>
          <p:nvPr/>
        </p:nvPicPr>
        <p:blipFill>
          <a:blip r:embed="rId5"/>
          <a:stretch>
            <a:fillRect/>
          </a:stretch>
        </p:blipFill>
        <p:spPr>
          <a:xfrm>
            <a:off x="8277005" y="2476563"/>
            <a:ext cx="134549" cy="195707"/>
          </a:xfrm>
          <a:prstGeom prst="rect">
            <a:avLst/>
          </a:prstGeom>
        </p:spPr>
      </p:pic>
      <p:sp>
        <p:nvSpPr>
          <p:cNvPr id="51" name="TextBox 50"/>
          <p:cNvSpPr txBox="1"/>
          <p:nvPr/>
        </p:nvSpPr>
        <p:spPr>
          <a:xfrm>
            <a:off x="8452114" y="2486787"/>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2" name="Picture 51" descr="lock.png"/>
          <p:cNvPicPr>
            <a:picLocks noChangeAspect="1"/>
          </p:cNvPicPr>
          <p:nvPr/>
        </p:nvPicPr>
        <p:blipFill>
          <a:blip r:embed="rId5"/>
          <a:stretch>
            <a:fillRect/>
          </a:stretch>
        </p:blipFill>
        <p:spPr>
          <a:xfrm>
            <a:off x="8603550" y="2476563"/>
            <a:ext cx="134549" cy="195707"/>
          </a:xfrm>
          <a:prstGeom prst="rect">
            <a:avLst/>
          </a:prstGeom>
        </p:spPr>
      </p:pic>
      <p:sp>
        <p:nvSpPr>
          <p:cNvPr id="53" name="TextBox 52"/>
          <p:cNvSpPr txBox="1"/>
          <p:nvPr/>
        </p:nvSpPr>
        <p:spPr>
          <a:xfrm>
            <a:off x="8778660" y="2486787"/>
            <a:ext cx="1686173" cy="194310"/>
          </a:xfrm>
          <a:prstGeom prst="rect">
            <a:avLst/>
          </a:prstGeom>
          <a:noFill/>
        </p:spPr>
        <p:txBody>
          <a:bodyPr wrap="none" lIns="0" rIns="0" tIns="0" bIns="0">
            <a:spAutoFit/>
          </a:bodyPr>
          <a:lstStyle/>
          <a:p>
            <a:r>
              <a:rPr sz="1150" b="0">
                <a:solidFill>
                  <a:srgbClr val="2E2E2E"/>
                </a:solidFill>
                <a:latin typeface="Calibri"/>
              </a:rPr>
              <a:t>US$ Mn across 2 countries.</a:t>
            </a:r>
          </a:p>
        </p:txBody>
      </p:sp>
      <p:sp>
        <p:nvSpPr>
          <p:cNvPr id="54"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Share Analysis, By Country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(MT)</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607264"/>
                <a:gridCol w="604720"/>
                <a:gridCol w="604720"/>
                <a:gridCol w="604720"/>
                <a:gridCol w="604720"/>
                <a:gridCol w="604720"/>
                <a:gridCol w="604720"/>
                <a:gridCol w="604720"/>
                <a:gridCol w="719193"/>
                <a:gridCol w="719193"/>
                <a:gridCol w="719193"/>
                <a:gridCol w="719193"/>
                <a:gridCol w="719193"/>
                <a:gridCol w="719193"/>
                <a:gridCol w="719193"/>
                <a:gridCol w="719193"/>
                <a:gridCol w="719193"/>
                <a:gridCol w="574154"/>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12939" y="1589913"/>
            <a:ext cx="366712" cy="533400"/>
          </a:xfrm>
          <a:prstGeom prst="rect">
            <a:avLst/>
          </a:prstGeom>
        </p:spPr>
      </p:pic>
      <p:sp>
        <p:nvSpPr>
          <p:cNvPr id="21" name="TextBox 20"/>
          <p:cNvSpPr txBox="1"/>
          <p:nvPr/>
        </p:nvSpPr>
        <p:spPr>
          <a:xfrm>
            <a:off x="276225" y="2990850"/>
            <a:ext cx="1742368" cy="194310"/>
          </a:xfrm>
          <a:prstGeom prst="rect">
            <a:avLst/>
          </a:prstGeom>
          <a:noFill/>
        </p:spPr>
        <p:txBody>
          <a:bodyPr wrap="none" lIns="0" rIns="0" tIns="0" bIns="0">
            <a:spAutoFit/>
          </a:bodyPr>
          <a:lstStyle/>
          <a:p>
            <a:r>
              <a:rPr sz="1150" b="0">
                <a:solidFill>
                  <a:srgbClr val="2E2E2E"/>
                </a:solidFill>
                <a:latin typeface="Calibri"/>
              </a:rPr>
              <a:t>▪ 'U.S.' is the largest country</a:t>
            </a:r>
          </a:p>
        </p:txBody>
      </p:sp>
      <p:pic>
        <p:nvPicPr>
          <p:cNvPr id="22" name="Picture 21" descr="lock.png"/>
          <p:cNvPicPr>
            <a:picLocks noChangeAspect="1"/>
          </p:cNvPicPr>
          <p:nvPr/>
        </p:nvPicPr>
        <p:blipFill>
          <a:blip r:embed="rId4"/>
          <a:stretch>
            <a:fillRect/>
          </a:stretch>
        </p:blipFill>
        <p:spPr>
          <a:xfrm>
            <a:off x="1967747" y="2980626"/>
            <a:ext cx="134549" cy="195707"/>
          </a:xfrm>
          <a:prstGeom prst="rect">
            <a:avLst/>
          </a:prstGeom>
        </p:spPr>
      </p:pic>
      <p:sp>
        <p:nvSpPr>
          <p:cNvPr id="23" name="TextBox 22"/>
          <p:cNvSpPr txBox="1"/>
          <p:nvPr/>
        </p:nvSpPr>
        <p:spPr>
          <a:xfrm>
            <a:off x="2142856" y="29908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172589" y="2980626"/>
            <a:ext cx="134549" cy="195707"/>
          </a:xfrm>
          <a:prstGeom prst="rect">
            <a:avLst/>
          </a:prstGeom>
        </p:spPr>
      </p:pic>
      <p:sp>
        <p:nvSpPr>
          <p:cNvPr id="25" name="TextBox 24"/>
          <p:cNvSpPr txBox="1"/>
          <p:nvPr/>
        </p:nvSpPr>
        <p:spPr>
          <a:xfrm>
            <a:off x="3347698" y="29908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218687"/>
            <a:ext cx="1642243" cy="194310"/>
          </a:xfrm>
          <a:prstGeom prst="rect">
            <a:avLst/>
          </a:prstGeom>
          <a:noFill/>
        </p:spPr>
        <p:txBody>
          <a:bodyPr wrap="none" lIns="0" rIns="0" tIns="0" bIns="0">
            <a:spAutoFit/>
          </a:bodyPr>
          <a:lstStyle/>
          <a:p>
            <a:r>
              <a:rPr sz="1150" b="0">
                <a:solidFill>
                  <a:srgbClr val="2E2E2E"/>
                </a:solidFill>
                <a:latin typeface="Calibri"/>
              </a:rPr>
              <a:t>▪ 'Canada' grows fastest at</a:t>
            </a:r>
          </a:p>
        </p:txBody>
      </p:sp>
      <p:pic>
        <p:nvPicPr>
          <p:cNvPr id="27" name="Picture 26" descr="lock.png"/>
          <p:cNvPicPr>
            <a:picLocks noChangeAspect="1"/>
          </p:cNvPicPr>
          <p:nvPr/>
        </p:nvPicPr>
        <p:blipFill>
          <a:blip r:embed="rId4"/>
          <a:stretch>
            <a:fillRect/>
          </a:stretch>
        </p:blipFill>
        <p:spPr>
          <a:xfrm>
            <a:off x="1867622" y="3208464"/>
            <a:ext cx="134549" cy="195707"/>
          </a:xfrm>
          <a:prstGeom prst="rect">
            <a:avLst/>
          </a:prstGeom>
        </p:spPr>
      </p:pic>
      <p:sp>
        <p:nvSpPr>
          <p:cNvPr id="28" name="TextBox 27"/>
          <p:cNvSpPr txBox="1"/>
          <p:nvPr/>
        </p:nvSpPr>
        <p:spPr>
          <a:xfrm>
            <a:off x="2042732"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1999381" cy="194310"/>
          </a:xfrm>
          <a:prstGeom prst="rect">
            <a:avLst/>
          </a:prstGeom>
          <a:noFill/>
        </p:spPr>
        <p:txBody>
          <a:bodyPr wrap="none" lIns="0" rIns="0" tIns="0" bIns="0">
            <a:spAutoFit/>
          </a:bodyPr>
          <a:lstStyle/>
          <a:p>
            <a:r>
              <a:rPr sz="1150" b="0">
                <a:solidFill>
                  <a:srgbClr val="2E2E2E"/>
                </a:solidFill>
                <a:latin typeface="Calibri"/>
              </a:rPr>
              <a:t>▪ Share shifts toward 'Canada' (+</a:t>
            </a:r>
          </a:p>
        </p:txBody>
      </p:sp>
      <p:pic>
        <p:nvPicPr>
          <p:cNvPr id="30" name="Picture 29" descr="lock.png"/>
          <p:cNvPicPr>
            <a:picLocks noChangeAspect="1"/>
          </p:cNvPicPr>
          <p:nvPr/>
        </p:nvPicPr>
        <p:blipFill>
          <a:blip r:embed="rId4"/>
          <a:stretch>
            <a:fillRect/>
          </a:stretch>
        </p:blipFill>
        <p:spPr>
          <a:xfrm>
            <a:off x="2224760" y="3436302"/>
            <a:ext cx="134549" cy="195707"/>
          </a:xfrm>
          <a:prstGeom prst="rect">
            <a:avLst/>
          </a:prstGeom>
        </p:spPr>
      </p:pic>
      <p:sp>
        <p:nvSpPr>
          <p:cNvPr id="31" name="TextBox 30"/>
          <p:cNvSpPr txBox="1"/>
          <p:nvPr/>
        </p:nvSpPr>
        <p:spPr>
          <a:xfrm>
            <a:off x="2399870" y="3446525"/>
            <a:ext cx="1718977" cy="194310"/>
          </a:xfrm>
          <a:prstGeom prst="rect">
            <a:avLst/>
          </a:prstGeom>
          <a:noFill/>
        </p:spPr>
        <p:txBody>
          <a:bodyPr wrap="none" lIns="0" rIns="0" tIns="0" bIns="0">
            <a:spAutoFit/>
          </a:bodyPr>
          <a:lstStyle/>
          <a:p>
            <a:r>
              <a:rPr sz="1150" b="0">
                <a:solidFill>
                  <a:srgbClr val="2E2E2E"/>
                </a:solidFill>
                <a:latin typeface="Calibri"/>
              </a:rPr>
              <a:t>BPS) and away from 'U.S.' (-</a:t>
            </a:r>
          </a:p>
        </p:txBody>
      </p:sp>
      <p:pic>
        <p:nvPicPr>
          <p:cNvPr id="32" name="Picture 31" descr="lock.png"/>
          <p:cNvPicPr>
            <a:picLocks noChangeAspect="1"/>
          </p:cNvPicPr>
          <p:nvPr/>
        </p:nvPicPr>
        <p:blipFill>
          <a:blip r:embed="rId4"/>
          <a:stretch>
            <a:fillRect/>
          </a:stretch>
        </p:blipFill>
        <p:spPr>
          <a:xfrm>
            <a:off x="4068001" y="3436302"/>
            <a:ext cx="134549" cy="195707"/>
          </a:xfrm>
          <a:prstGeom prst="rect">
            <a:avLst/>
          </a:prstGeom>
        </p:spPr>
      </p:pic>
      <p:sp>
        <p:nvSpPr>
          <p:cNvPr id="33" name="TextBox 32"/>
          <p:cNvSpPr txBox="1"/>
          <p:nvPr/>
        </p:nvSpPr>
        <p:spPr>
          <a:xfrm>
            <a:off x="4243110"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664140"/>
            <a:ext cx="134549" cy="195707"/>
          </a:xfrm>
          <a:prstGeom prst="rect">
            <a:avLst/>
          </a:prstGeom>
        </p:spPr>
      </p:pic>
      <p:sp>
        <p:nvSpPr>
          <p:cNvPr id="36" name="TextBox 35"/>
          <p:cNvSpPr txBox="1"/>
          <p:nvPr/>
        </p:nvSpPr>
        <p:spPr>
          <a:xfrm>
            <a:off x="1965143"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664140"/>
            <a:ext cx="134549" cy="195707"/>
          </a:xfrm>
          <a:prstGeom prst="rect">
            <a:avLst/>
          </a:prstGeom>
        </p:spPr>
      </p:pic>
      <p:sp>
        <p:nvSpPr>
          <p:cNvPr id="38" name="TextBox 37"/>
          <p:cNvSpPr txBox="1"/>
          <p:nvPr/>
        </p:nvSpPr>
        <p:spPr>
          <a:xfrm>
            <a:off x="2291688" y="3674363"/>
            <a:ext cx="1412614" cy="194310"/>
          </a:xfrm>
          <a:prstGeom prst="rect">
            <a:avLst/>
          </a:prstGeom>
          <a:noFill/>
        </p:spPr>
        <p:txBody>
          <a:bodyPr wrap="none" lIns="0" rIns="0" tIns="0" bIns="0">
            <a:spAutoFit/>
          </a:bodyPr>
          <a:lstStyle/>
          <a:p>
            <a:r>
              <a:rPr sz="1150" b="0">
                <a:solidFill>
                  <a:srgbClr val="2E2E2E"/>
                </a:solidFill>
                <a:latin typeface="Calibri"/>
              </a:rPr>
              <a:t>MT across 2 countries.</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57436" y="1589913"/>
            <a:ext cx="366712" cy="533400"/>
          </a:xfrm>
          <a:prstGeom prst="rect">
            <a:avLst/>
          </a:prstGeom>
        </p:spPr>
      </p:pic>
      <p:sp>
        <p:nvSpPr>
          <p:cNvPr id="21" name="TextBox 20"/>
          <p:cNvSpPr txBox="1"/>
          <p:nvPr/>
        </p:nvSpPr>
        <p:spPr>
          <a:xfrm>
            <a:off x="276225" y="2990850"/>
            <a:ext cx="1742368" cy="194310"/>
          </a:xfrm>
          <a:prstGeom prst="rect">
            <a:avLst/>
          </a:prstGeom>
          <a:noFill/>
        </p:spPr>
        <p:txBody>
          <a:bodyPr wrap="none" lIns="0" rIns="0" tIns="0" bIns="0">
            <a:spAutoFit/>
          </a:bodyPr>
          <a:lstStyle/>
          <a:p>
            <a:r>
              <a:rPr sz="1150" b="0">
                <a:solidFill>
                  <a:srgbClr val="2E2E2E"/>
                </a:solidFill>
                <a:latin typeface="Calibri"/>
              </a:rPr>
              <a:t>▪ 'U.S.' is the largest country</a:t>
            </a:r>
          </a:p>
        </p:txBody>
      </p:sp>
      <p:pic>
        <p:nvPicPr>
          <p:cNvPr id="22" name="Picture 21" descr="lock.png"/>
          <p:cNvPicPr>
            <a:picLocks noChangeAspect="1"/>
          </p:cNvPicPr>
          <p:nvPr/>
        </p:nvPicPr>
        <p:blipFill>
          <a:blip r:embed="rId4"/>
          <a:stretch>
            <a:fillRect/>
          </a:stretch>
        </p:blipFill>
        <p:spPr>
          <a:xfrm>
            <a:off x="1967747" y="2980626"/>
            <a:ext cx="134549" cy="195707"/>
          </a:xfrm>
          <a:prstGeom prst="rect">
            <a:avLst/>
          </a:prstGeom>
        </p:spPr>
      </p:pic>
      <p:sp>
        <p:nvSpPr>
          <p:cNvPr id="23" name="TextBox 22"/>
          <p:cNvSpPr txBox="1"/>
          <p:nvPr/>
        </p:nvSpPr>
        <p:spPr>
          <a:xfrm>
            <a:off x="2142856"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048789" y="2980626"/>
            <a:ext cx="134549" cy="195707"/>
          </a:xfrm>
          <a:prstGeom prst="rect">
            <a:avLst/>
          </a:prstGeom>
        </p:spPr>
      </p:pic>
      <p:sp>
        <p:nvSpPr>
          <p:cNvPr id="25" name="TextBox 24"/>
          <p:cNvSpPr txBox="1"/>
          <p:nvPr/>
        </p:nvSpPr>
        <p:spPr>
          <a:xfrm>
            <a:off x="3223898"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642243" cy="194310"/>
          </a:xfrm>
          <a:prstGeom prst="rect">
            <a:avLst/>
          </a:prstGeom>
          <a:noFill/>
        </p:spPr>
        <p:txBody>
          <a:bodyPr wrap="none" lIns="0" rIns="0" tIns="0" bIns="0">
            <a:spAutoFit/>
          </a:bodyPr>
          <a:lstStyle/>
          <a:p>
            <a:r>
              <a:rPr sz="1150" b="0">
                <a:solidFill>
                  <a:srgbClr val="2E2E2E"/>
                </a:solidFill>
                <a:latin typeface="Calibri"/>
              </a:rPr>
              <a:t>▪ 'Canada' grows fastest at</a:t>
            </a:r>
          </a:p>
        </p:txBody>
      </p:sp>
      <p:pic>
        <p:nvPicPr>
          <p:cNvPr id="27" name="Picture 26" descr="lock.png"/>
          <p:cNvPicPr>
            <a:picLocks noChangeAspect="1"/>
          </p:cNvPicPr>
          <p:nvPr/>
        </p:nvPicPr>
        <p:blipFill>
          <a:blip r:embed="rId4"/>
          <a:stretch>
            <a:fillRect/>
          </a:stretch>
        </p:blipFill>
        <p:spPr>
          <a:xfrm>
            <a:off x="1867622" y="3208464"/>
            <a:ext cx="134549" cy="195707"/>
          </a:xfrm>
          <a:prstGeom prst="rect">
            <a:avLst/>
          </a:prstGeom>
        </p:spPr>
      </p:pic>
      <p:sp>
        <p:nvSpPr>
          <p:cNvPr id="28" name="TextBox 27"/>
          <p:cNvSpPr txBox="1"/>
          <p:nvPr/>
        </p:nvSpPr>
        <p:spPr>
          <a:xfrm>
            <a:off x="2042732"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1999381" cy="194310"/>
          </a:xfrm>
          <a:prstGeom prst="rect">
            <a:avLst/>
          </a:prstGeom>
          <a:noFill/>
        </p:spPr>
        <p:txBody>
          <a:bodyPr wrap="none" lIns="0" rIns="0" tIns="0" bIns="0">
            <a:spAutoFit/>
          </a:bodyPr>
          <a:lstStyle/>
          <a:p>
            <a:r>
              <a:rPr sz="1150" b="0">
                <a:solidFill>
                  <a:srgbClr val="2E2E2E"/>
                </a:solidFill>
                <a:latin typeface="Calibri"/>
              </a:rPr>
              <a:t>▪ Share shifts toward 'Canada' (+</a:t>
            </a:r>
          </a:p>
        </p:txBody>
      </p:sp>
      <p:pic>
        <p:nvPicPr>
          <p:cNvPr id="30" name="Picture 29" descr="lock.png"/>
          <p:cNvPicPr>
            <a:picLocks noChangeAspect="1"/>
          </p:cNvPicPr>
          <p:nvPr/>
        </p:nvPicPr>
        <p:blipFill>
          <a:blip r:embed="rId4"/>
          <a:stretch>
            <a:fillRect/>
          </a:stretch>
        </p:blipFill>
        <p:spPr>
          <a:xfrm>
            <a:off x="2224760" y="3436302"/>
            <a:ext cx="134549" cy="195707"/>
          </a:xfrm>
          <a:prstGeom prst="rect">
            <a:avLst/>
          </a:prstGeom>
        </p:spPr>
      </p:pic>
      <p:sp>
        <p:nvSpPr>
          <p:cNvPr id="31" name="TextBox 30"/>
          <p:cNvSpPr txBox="1"/>
          <p:nvPr/>
        </p:nvSpPr>
        <p:spPr>
          <a:xfrm>
            <a:off x="2399870" y="3446525"/>
            <a:ext cx="1718977" cy="194310"/>
          </a:xfrm>
          <a:prstGeom prst="rect">
            <a:avLst/>
          </a:prstGeom>
          <a:noFill/>
        </p:spPr>
        <p:txBody>
          <a:bodyPr wrap="none" lIns="0" rIns="0" tIns="0" bIns="0">
            <a:spAutoFit/>
          </a:bodyPr>
          <a:lstStyle/>
          <a:p>
            <a:r>
              <a:rPr sz="1150" b="0">
                <a:solidFill>
                  <a:srgbClr val="2E2E2E"/>
                </a:solidFill>
                <a:latin typeface="Calibri"/>
              </a:rPr>
              <a:t>BPS) and away from 'U.S.' (-</a:t>
            </a:r>
          </a:p>
        </p:txBody>
      </p:sp>
      <p:pic>
        <p:nvPicPr>
          <p:cNvPr id="32" name="Picture 31" descr="lock.png"/>
          <p:cNvPicPr>
            <a:picLocks noChangeAspect="1"/>
          </p:cNvPicPr>
          <p:nvPr/>
        </p:nvPicPr>
        <p:blipFill>
          <a:blip r:embed="rId4"/>
          <a:stretch>
            <a:fillRect/>
          </a:stretch>
        </p:blipFill>
        <p:spPr>
          <a:xfrm>
            <a:off x="4068001" y="3436302"/>
            <a:ext cx="134549" cy="195707"/>
          </a:xfrm>
          <a:prstGeom prst="rect">
            <a:avLst/>
          </a:prstGeom>
        </p:spPr>
      </p:pic>
      <p:sp>
        <p:nvSpPr>
          <p:cNvPr id="33" name="TextBox 32"/>
          <p:cNvSpPr txBox="1"/>
          <p:nvPr/>
        </p:nvSpPr>
        <p:spPr>
          <a:xfrm>
            <a:off x="4243110"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686173" cy="194310"/>
          </a:xfrm>
          <a:prstGeom prst="rect">
            <a:avLst/>
          </a:prstGeom>
          <a:noFill/>
        </p:spPr>
        <p:txBody>
          <a:bodyPr wrap="none" lIns="0" rIns="0" tIns="0" bIns="0">
            <a:spAutoFit/>
          </a:bodyPr>
          <a:lstStyle/>
          <a:p>
            <a:r>
              <a:rPr sz="1150" b="0">
                <a:solidFill>
                  <a:srgbClr val="2E2E2E"/>
                </a:solidFill>
                <a:latin typeface="Calibri"/>
              </a:rPr>
              <a:t>US$ Mn across 2 countries.</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(MT)</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6058646" y="2026489"/>
            <a:ext cx="363375" cy="528545"/>
          </a:xfrm>
          <a:prstGeom prst="rect">
            <a:avLst/>
          </a:prstGeom>
        </p:spPr>
      </p:pic>
      <p:pic>
        <p:nvPicPr>
          <p:cNvPr id="19" name="Picture 18" descr="lock.png"/>
          <p:cNvPicPr>
            <a:picLocks noChangeAspect="1"/>
          </p:cNvPicPr>
          <p:nvPr/>
        </p:nvPicPr>
        <p:blipFill>
          <a:blip r:embed="rId6"/>
          <a:stretch>
            <a:fillRect/>
          </a:stretch>
        </p:blipFill>
        <p:spPr>
          <a:xfrm>
            <a:off x="6058646" y="4912564"/>
            <a:ext cx="363375" cy="528545"/>
          </a:xfrm>
          <a:prstGeom prst="rect">
            <a:avLst/>
          </a:prstGeom>
        </p:spPr>
      </p:pic>
      <p:sp>
        <p:nvSpPr>
          <p:cNvPr id="20" name="lockshield_13"/>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86"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8137511" y="1266825"/>
            <a:ext cx="3816364"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4130192" y="3919537"/>
            <a:ext cx="115252" cy="167639"/>
          </a:xfrm>
          <a:prstGeom prst="rect">
            <a:avLst/>
          </a:prstGeom>
        </p:spPr>
      </p:pic>
      <p:pic>
        <p:nvPicPr>
          <p:cNvPr id="17" name="Picture 16" descr="lock.png"/>
          <p:cNvPicPr>
            <a:picLocks noChangeAspect="1"/>
          </p:cNvPicPr>
          <p:nvPr/>
        </p:nvPicPr>
        <p:blipFill>
          <a:blip r:embed="rId4"/>
          <a:stretch>
            <a:fillRect/>
          </a:stretch>
        </p:blipFill>
        <p:spPr>
          <a:xfrm>
            <a:off x="9988066" y="3919537"/>
            <a:ext cx="115252" cy="167639"/>
          </a:xfrm>
          <a:prstGeom prst="rect">
            <a:avLst/>
          </a:prstGeom>
        </p:spPr>
      </p:pic>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666875"/>
            <a:ext cx="103632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009775"/>
            <a:ext cx="103632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2695575"/>
            <a:ext cx="5067300" cy="36385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Flour Base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Dietary Formulation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Nutritional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Recipe and Ingredient Claims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Surface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Individual Muffin Size</a:t>
            </a:r>
          </a:p>
        </p:txBody>
      </p:sp>
      <p:sp>
        <p:nvSpPr>
          <p:cNvPr id="12" name="TextBox 11"/>
          <p:cNvSpPr txBox="1"/>
          <p:nvPr/>
        </p:nvSpPr>
        <p:spPr>
          <a:xfrm>
            <a:off x="6096000" y="2695575"/>
            <a:ext cx="5067300" cy="32448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Storage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Shelf Life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 Configuration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Multipack Wrapping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Price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Brand Ownership</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a:t>
            </a:r>
          </a:p>
        </p:txBody>
      </p:sp>
      <p:sp>
        <p:nvSpPr>
          <p:cNvPr id="13" name="TextBox 1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Sweet muffins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Savoury muffins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1_997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086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600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_268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5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05261" cy="186689"/>
          </a:xfrm>
          <a:prstGeom prst="rect">
            <a:avLst/>
          </a:prstGeom>
          <a:noFill/>
        </p:spPr>
        <p:txBody>
          <a:bodyPr wrap="none" lIns="0" rIns="0" tIns="0" bIns="0">
            <a:spAutoFit/>
          </a:bodyPr>
          <a:lstStyle/>
          <a:p>
            <a:r>
              <a:rPr sz="1100" b="0">
                <a:solidFill>
                  <a:srgbClr val="2E2E2E"/>
                </a:solidFill>
                <a:latin typeface="Calibri"/>
              </a:rPr>
              <a:t>▪ 'Sweet muffins' holds the largest share in 2026</a:t>
            </a:r>
          </a:p>
        </p:txBody>
      </p:sp>
      <p:pic>
        <p:nvPicPr>
          <p:cNvPr id="59" name="Picture 58" descr="lock.png"/>
          <p:cNvPicPr>
            <a:picLocks noChangeAspect="1"/>
          </p:cNvPicPr>
          <p:nvPr/>
        </p:nvPicPr>
        <p:blipFill>
          <a:blip r:embed="rId10"/>
          <a:stretch>
            <a:fillRect/>
          </a:stretch>
        </p:blipFill>
        <p:spPr>
          <a:xfrm>
            <a:off x="472307" y="4387298"/>
            <a:ext cx="128699" cy="187198"/>
          </a:xfrm>
          <a:prstGeom prst="rect">
            <a:avLst/>
          </a:prstGeom>
        </p:spPr>
      </p:pic>
      <p:sp>
        <p:nvSpPr>
          <p:cNvPr id="60" name="TextBox 59"/>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1" name="TextBox 60"/>
          <p:cNvSpPr txBox="1"/>
          <p:nvPr/>
        </p:nvSpPr>
        <p:spPr>
          <a:xfrm>
            <a:off x="485775" y="4615009"/>
            <a:ext cx="2286843" cy="186689"/>
          </a:xfrm>
          <a:prstGeom prst="rect">
            <a:avLst/>
          </a:prstGeom>
          <a:noFill/>
        </p:spPr>
        <p:txBody>
          <a:bodyPr wrap="none" lIns="0" rIns="0" tIns="0" bIns="0">
            <a:spAutoFit/>
          </a:bodyPr>
          <a:lstStyle/>
          <a:p>
            <a:r>
              <a:rPr sz="1100" b="0">
                <a:solidFill>
                  <a:srgbClr val="2E2E2E"/>
                </a:solidFill>
                <a:latin typeface="Calibri"/>
              </a:rPr>
              <a:t>▪ 'Sweet muffins' is the fastest-growing</a:t>
            </a:r>
          </a:p>
        </p:txBody>
      </p:sp>
      <p:sp>
        <p:nvSpPr>
          <p:cNvPr id="62" name="TextBox 61"/>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3" name="Picture 62" descr="lock.png"/>
          <p:cNvPicPr>
            <a:picLocks noChangeAspect="1"/>
          </p:cNvPicPr>
          <p:nvPr/>
        </p:nvPicPr>
        <p:blipFill>
          <a:blip r:embed="rId10"/>
          <a:stretch>
            <a:fillRect/>
          </a:stretch>
        </p:blipFill>
        <p:spPr>
          <a:xfrm>
            <a:off x="1391064" y="4772870"/>
            <a:ext cx="128699" cy="187198"/>
          </a:xfrm>
          <a:prstGeom prst="rect">
            <a:avLst/>
          </a:prstGeom>
        </p:spPr>
      </p:pic>
      <p:sp>
        <p:nvSpPr>
          <p:cNvPr id="64" name="TextBox 63"/>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6" name="Picture 65" descr="lock.png"/>
          <p:cNvPicPr>
            <a:picLocks noChangeAspect="1"/>
          </p:cNvPicPr>
          <p:nvPr/>
        </p:nvPicPr>
        <p:blipFill>
          <a:blip r:embed="rId10"/>
          <a:stretch>
            <a:fillRect/>
          </a:stretch>
        </p:blipFill>
        <p:spPr>
          <a:xfrm>
            <a:off x="2240451" y="4990801"/>
            <a:ext cx="128699" cy="187198"/>
          </a:xfrm>
          <a:prstGeom prst="rect">
            <a:avLst/>
          </a:prstGeom>
        </p:spPr>
      </p:pic>
      <p:sp>
        <p:nvSpPr>
          <p:cNvPr id="67" name="TextBox 66"/>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552799" y="4990801"/>
            <a:ext cx="128699" cy="187198"/>
          </a:xfrm>
          <a:prstGeom prst="rect">
            <a:avLst/>
          </a:prstGeom>
        </p:spPr>
      </p:pic>
      <p:sp>
        <p:nvSpPr>
          <p:cNvPr id="69" name="TextBox 68"/>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558603" cy="186689"/>
          </a:xfrm>
          <a:prstGeom prst="rect">
            <a:avLst/>
          </a:prstGeom>
          <a:noFill/>
        </p:spPr>
        <p:txBody>
          <a:bodyPr wrap="none" lIns="0" rIns="0" tIns="0" bIns="0">
            <a:spAutoFit/>
          </a:bodyPr>
          <a:lstStyle/>
          <a:p>
            <a:r>
              <a:rPr sz="1100" b="0">
                <a:solidFill>
                  <a:srgbClr val="2E2E2E"/>
                </a:solidFill>
                <a:latin typeface="Calibri"/>
              </a:rPr>
              <a:t>▪ 2 sub-segments make up the product type</a:t>
            </a:r>
          </a:p>
        </p:txBody>
      </p:sp>
      <p:sp>
        <p:nvSpPr>
          <p:cNvPr id="72" name="TextBox 71"/>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3" name="TextBox 72"/>
          <p:cNvSpPr txBox="1"/>
          <p:nvPr/>
        </p:nvSpPr>
        <p:spPr>
          <a:xfrm>
            <a:off x="3838575" y="4229437"/>
            <a:ext cx="1041548" cy="186689"/>
          </a:xfrm>
          <a:prstGeom prst="rect">
            <a:avLst/>
          </a:prstGeom>
          <a:noFill/>
        </p:spPr>
        <p:txBody>
          <a:bodyPr wrap="none" lIns="0" rIns="0" tIns="0" bIns="0">
            <a:spAutoFit/>
          </a:bodyPr>
          <a:lstStyle/>
          <a:p>
            <a:r>
              <a:rPr sz="1100" b="0">
                <a:solidFill>
                  <a:srgbClr val="2E2E2E"/>
                </a:solidFill>
                <a:latin typeface="Calibri"/>
              </a:rPr>
              <a:t>● Sweet muffins:</a:t>
            </a:r>
          </a:p>
        </p:txBody>
      </p:sp>
      <p:pic>
        <p:nvPicPr>
          <p:cNvPr id="74" name="Picture 73" descr="lock.png"/>
          <p:cNvPicPr>
            <a:picLocks noChangeAspect="1"/>
          </p:cNvPicPr>
          <p:nvPr/>
        </p:nvPicPr>
        <p:blipFill>
          <a:blip r:embed="rId10"/>
          <a:stretch>
            <a:fillRect/>
          </a:stretch>
        </p:blipFill>
        <p:spPr>
          <a:xfrm>
            <a:off x="4828175" y="4219658"/>
            <a:ext cx="128699" cy="187198"/>
          </a:xfrm>
          <a:prstGeom prst="rect">
            <a:avLst/>
          </a:prstGeom>
        </p:spPr>
      </p:pic>
      <p:sp>
        <p:nvSpPr>
          <p:cNvPr id="75" name="TextBox 74"/>
          <p:cNvSpPr txBox="1"/>
          <p:nvPr/>
        </p:nvSpPr>
        <p:spPr>
          <a:xfrm>
            <a:off x="499567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855121" y="4219658"/>
            <a:ext cx="128699" cy="187198"/>
          </a:xfrm>
          <a:prstGeom prst="rect">
            <a:avLst/>
          </a:prstGeom>
        </p:spPr>
      </p:pic>
      <p:sp>
        <p:nvSpPr>
          <p:cNvPr id="77" name="TextBox 76"/>
          <p:cNvSpPr txBox="1"/>
          <p:nvPr/>
        </p:nvSpPr>
        <p:spPr>
          <a:xfrm>
            <a:off x="602261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1144686" cy="186689"/>
          </a:xfrm>
          <a:prstGeom prst="rect">
            <a:avLst/>
          </a:prstGeom>
          <a:noFill/>
        </p:spPr>
        <p:txBody>
          <a:bodyPr wrap="none" lIns="0" rIns="0" tIns="0" bIns="0">
            <a:spAutoFit/>
          </a:bodyPr>
          <a:lstStyle/>
          <a:p>
            <a:r>
              <a:rPr sz="1100" b="0">
                <a:solidFill>
                  <a:srgbClr val="2E2E2E"/>
                </a:solidFill>
                <a:latin typeface="Calibri"/>
              </a:rPr>
              <a:t>● Savoury muffins:</a:t>
            </a:r>
          </a:p>
        </p:txBody>
      </p:sp>
      <p:pic>
        <p:nvPicPr>
          <p:cNvPr id="79" name="Picture 78" descr="lock.png"/>
          <p:cNvPicPr>
            <a:picLocks noChangeAspect="1"/>
          </p:cNvPicPr>
          <p:nvPr/>
        </p:nvPicPr>
        <p:blipFill>
          <a:blip r:embed="rId10"/>
          <a:stretch>
            <a:fillRect/>
          </a:stretch>
        </p:blipFill>
        <p:spPr>
          <a:xfrm>
            <a:off x="4931313" y="4437590"/>
            <a:ext cx="128699" cy="187198"/>
          </a:xfrm>
          <a:prstGeom prst="rect">
            <a:avLst/>
          </a:prstGeom>
        </p:spPr>
      </p:pic>
      <p:sp>
        <p:nvSpPr>
          <p:cNvPr id="80" name="TextBox 79"/>
          <p:cNvSpPr txBox="1"/>
          <p:nvPr/>
        </p:nvSpPr>
        <p:spPr>
          <a:xfrm>
            <a:off x="509880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958259" y="4437590"/>
            <a:ext cx="128699" cy="187198"/>
          </a:xfrm>
          <a:prstGeom prst="rect">
            <a:avLst/>
          </a:prstGeom>
        </p:spPr>
      </p:pic>
      <p:sp>
        <p:nvSpPr>
          <p:cNvPr id="82" name="TextBox 81"/>
          <p:cNvSpPr txBox="1"/>
          <p:nvPr/>
        </p:nvSpPr>
        <p:spPr>
          <a:xfrm>
            <a:off x="6125755"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84" name="TextBox 83"/>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5" name="Picture 84" descr="lock.png"/>
          <p:cNvPicPr>
            <a:picLocks noChangeAspect="1"/>
          </p:cNvPicPr>
          <p:nvPr/>
        </p:nvPicPr>
        <p:blipFill>
          <a:blip r:embed="rId10"/>
          <a:stretch>
            <a:fillRect/>
          </a:stretch>
        </p:blipFill>
        <p:spPr>
          <a:xfrm>
            <a:off x="9048826" y="6007677"/>
            <a:ext cx="134549" cy="195707"/>
          </a:xfrm>
          <a:prstGeom prst="rect">
            <a:avLst/>
          </a:prstGeom>
        </p:spPr>
      </p:pic>
      <p:sp>
        <p:nvSpPr>
          <p:cNvPr id="86" name="TextBox 85"/>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413722" cy="186689"/>
          </a:xfrm>
          <a:prstGeom prst="rect">
            <a:avLst/>
          </a:prstGeom>
          <a:noFill/>
        </p:spPr>
        <p:txBody>
          <a:bodyPr wrap="none" lIns="0" rIns="0" tIns="0" bIns="0">
            <a:spAutoFit/>
          </a:bodyPr>
          <a:lstStyle/>
          <a:p>
            <a:r>
              <a:rPr sz="1100" b="0">
                <a:solidFill>
                  <a:srgbClr val="2E2E2E"/>
                </a:solidFill>
                <a:latin typeface="Calibri"/>
              </a:rPr>
              <a:t>Between 2026 and 2036, 'Sweet muffins' gains the most share in the North America market (+</a:t>
            </a:r>
          </a:p>
        </p:txBody>
      </p:sp>
      <p:pic>
        <p:nvPicPr>
          <p:cNvPr id="21" name="Picture 20" descr="lock.png"/>
          <p:cNvPicPr>
            <a:picLocks noChangeAspect="1"/>
          </p:cNvPicPr>
          <p:nvPr/>
        </p:nvPicPr>
        <p:blipFill>
          <a:blip r:embed="rId6"/>
          <a:stretch>
            <a:fillRect/>
          </a:stretch>
        </p:blipFill>
        <p:spPr>
          <a:xfrm>
            <a:off x="5618948" y="5851905"/>
            <a:ext cx="128699" cy="187198"/>
          </a:xfrm>
          <a:prstGeom prst="rect">
            <a:avLst/>
          </a:prstGeom>
        </p:spPr>
      </p:pic>
      <p:sp>
        <p:nvSpPr>
          <p:cNvPr id="22" name="TextBox 21"/>
          <p:cNvSpPr txBox="1"/>
          <p:nvPr/>
        </p:nvSpPr>
        <p:spPr>
          <a:xfrm>
            <a:off x="5786444" y="5861685"/>
            <a:ext cx="2036365" cy="186689"/>
          </a:xfrm>
          <a:prstGeom prst="rect">
            <a:avLst/>
          </a:prstGeom>
          <a:noFill/>
        </p:spPr>
        <p:txBody>
          <a:bodyPr wrap="none" lIns="0" rIns="0" tIns="0" bIns="0">
            <a:spAutoFit/>
          </a:bodyPr>
          <a:lstStyle/>
          <a:p>
            <a:r>
              <a:rPr sz="1100" b="0">
                <a:solidFill>
                  <a:srgbClr val="2E2E2E"/>
                </a:solidFill>
                <a:latin typeface="Calibri"/>
              </a:rPr>
              <a:t>BPS) while 'Savoury muffins' cedes</a:t>
            </a:r>
          </a:p>
        </p:txBody>
      </p:sp>
      <p:pic>
        <p:nvPicPr>
          <p:cNvPr id="23" name="Picture 22" descr="lock.png"/>
          <p:cNvPicPr>
            <a:picLocks noChangeAspect="1"/>
          </p:cNvPicPr>
          <p:nvPr/>
        </p:nvPicPr>
        <p:blipFill>
          <a:blip r:embed="rId6"/>
          <a:stretch>
            <a:fillRect/>
          </a:stretch>
        </p:blipFill>
        <p:spPr>
          <a:xfrm>
            <a:off x="7770861" y="5851905"/>
            <a:ext cx="128699" cy="187198"/>
          </a:xfrm>
          <a:prstGeom prst="rect">
            <a:avLst/>
          </a:prstGeom>
        </p:spPr>
      </p:pic>
      <p:sp>
        <p:nvSpPr>
          <p:cNvPr id="24" name="TextBox 23"/>
          <p:cNvSpPr txBox="1"/>
          <p:nvPr/>
        </p:nvSpPr>
        <p:spPr>
          <a:xfrm>
            <a:off x="7938357"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Sweet muffins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Savoury muffins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Type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Type (MT)</a:t>
            </a:r>
          </a:p>
        </p:txBody>
      </p:sp>
      <p:graphicFrame>
        <p:nvGraphicFramePr>
          <p:cNvPr id="13" name="Table 12"/>
          <p:cNvGraphicFramePr>
            <a:graphicFrameLocks noGrp="1"/>
          </p:cNvGraphicFramePr>
          <p:nvPr/>
        </p:nvGraphicFramePr>
        <p:xfrm>
          <a:off x="152400" y="1238250"/>
          <a:ext cx="11887199" cy="1181100"/>
        </p:xfrm>
        <a:graphic>
          <a:graphicData uri="http://schemas.openxmlformats.org/drawingml/2006/table">
            <a:tbl>
              <a:tblPr>
                <a:tableStyleId>{5C22544A-7EE6-4342-B048-85BDC9FD1C3A}</a:tableStyleId>
              </a:tblPr>
              <a:tblGrid>
                <a:gridCol w="1083397"/>
                <a:gridCol w="583049"/>
                <a:gridCol w="583049"/>
                <a:gridCol w="583049"/>
                <a:gridCol w="583049"/>
                <a:gridCol w="583049"/>
                <a:gridCol w="583049"/>
                <a:gridCol w="583049"/>
                <a:gridCol w="693420"/>
                <a:gridCol w="693420"/>
                <a:gridCol w="693420"/>
                <a:gridCol w="693420"/>
                <a:gridCol w="693420"/>
                <a:gridCol w="693420"/>
                <a:gridCol w="693420"/>
                <a:gridCol w="693420"/>
                <a:gridCol w="693420"/>
                <a:gridCol w="481679"/>
              </a:tblGrid>
              <a:tr h="438912">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7396">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396">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Type</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51008" y="1781556"/>
            <a:ext cx="366712" cy="533400"/>
          </a:xfrm>
          <a:prstGeom prst="rect">
            <a:avLst/>
          </a:prstGeom>
        </p:spPr>
      </p:pic>
      <p:sp>
        <p:nvSpPr>
          <p:cNvPr id="21" name="TextBox 20"/>
          <p:cNvSpPr txBox="1"/>
          <p:nvPr/>
        </p:nvSpPr>
        <p:spPr>
          <a:xfrm>
            <a:off x="276225" y="3181350"/>
            <a:ext cx="2817204" cy="194310"/>
          </a:xfrm>
          <a:prstGeom prst="rect">
            <a:avLst/>
          </a:prstGeom>
          <a:noFill/>
        </p:spPr>
        <p:txBody>
          <a:bodyPr wrap="none" lIns="0" rIns="0" tIns="0" bIns="0">
            <a:spAutoFit/>
          </a:bodyPr>
          <a:lstStyle/>
          <a:p>
            <a:r>
              <a:rPr sz="1150" b="0">
                <a:solidFill>
                  <a:srgbClr val="2E2E2E"/>
                </a:solidFill>
                <a:latin typeface="Calibri"/>
              </a:rPr>
              <a:t>▪ 'Sweet muffins' is the largest product type at</a:t>
            </a:r>
          </a:p>
        </p:txBody>
      </p:sp>
      <p:pic>
        <p:nvPicPr>
          <p:cNvPr id="22" name="Picture 21" descr="lock.png"/>
          <p:cNvPicPr>
            <a:picLocks noChangeAspect="1"/>
          </p:cNvPicPr>
          <p:nvPr/>
        </p:nvPicPr>
        <p:blipFill>
          <a:blip r:embed="rId4"/>
          <a:stretch>
            <a:fillRect/>
          </a:stretch>
        </p:blipFill>
        <p:spPr>
          <a:xfrm>
            <a:off x="3042583" y="3171126"/>
            <a:ext cx="134549" cy="195707"/>
          </a:xfrm>
          <a:prstGeom prst="rect">
            <a:avLst/>
          </a:prstGeom>
        </p:spPr>
      </p:pic>
      <p:sp>
        <p:nvSpPr>
          <p:cNvPr id="23" name="TextBox 22"/>
          <p:cNvSpPr txBox="1"/>
          <p:nvPr/>
        </p:nvSpPr>
        <p:spPr>
          <a:xfrm>
            <a:off x="3217692" y="31813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247425" y="3171126"/>
            <a:ext cx="134549" cy="195707"/>
          </a:xfrm>
          <a:prstGeom prst="rect">
            <a:avLst/>
          </a:prstGeom>
        </p:spPr>
      </p:pic>
      <p:sp>
        <p:nvSpPr>
          <p:cNvPr id="25" name="TextBox 24"/>
          <p:cNvSpPr txBox="1"/>
          <p:nvPr/>
        </p:nvSpPr>
        <p:spPr>
          <a:xfrm>
            <a:off x="4422535" y="31813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09187"/>
            <a:ext cx="1898116" cy="194310"/>
          </a:xfrm>
          <a:prstGeom prst="rect">
            <a:avLst/>
          </a:prstGeom>
          <a:noFill/>
        </p:spPr>
        <p:txBody>
          <a:bodyPr wrap="none" lIns="0" rIns="0" tIns="0" bIns="0">
            <a:spAutoFit/>
          </a:bodyPr>
          <a:lstStyle/>
          <a:p>
            <a:r>
              <a:rPr sz="1150" b="0">
                <a:solidFill>
                  <a:srgbClr val="2E2E2E"/>
                </a:solidFill>
                <a:latin typeface="Calibri"/>
              </a:rPr>
              <a:t>▪ 'Sweet muffins' grows fastest</a:t>
            </a:r>
          </a:p>
        </p:txBody>
      </p:sp>
      <p:pic>
        <p:nvPicPr>
          <p:cNvPr id="27" name="Picture 26" descr="lock.png"/>
          <p:cNvPicPr>
            <a:picLocks noChangeAspect="1"/>
          </p:cNvPicPr>
          <p:nvPr/>
        </p:nvPicPr>
        <p:blipFill>
          <a:blip r:embed="rId4"/>
          <a:stretch>
            <a:fillRect/>
          </a:stretch>
        </p:blipFill>
        <p:spPr>
          <a:xfrm>
            <a:off x="2123495" y="3398964"/>
            <a:ext cx="134549" cy="195707"/>
          </a:xfrm>
          <a:prstGeom prst="rect">
            <a:avLst/>
          </a:prstGeom>
        </p:spPr>
      </p:pic>
      <p:sp>
        <p:nvSpPr>
          <p:cNvPr id="28" name="TextBox 27"/>
          <p:cNvSpPr txBox="1"/>
          <p:nvPr/>
        </p:nvSpPr>
        <p:spPr>
          <a:xfrm>
            <a:off x="2298604" y="34091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37025"/>
            <a:ext cx="2407294" cy="194310"/>
          </a:xfrm>
          <a:prstGeom prst="rect">
            <a:avLst/>
          </a:prstGeom>
          <a:noFill/>
        </p:spPr>
        <p:txBody>
          <a:bodyPr wrap="none" lIns="0" rIns="0" tIns="0" bIns="0">
            <a:spAutoFit/>
          </a:bodyPr>
          <a:lstStyle/>
          <a:p>
            <a:r>
              <a:rPr sz="1150" b="0">
                <a:solidFill>
                  <a:srgbClr val="2E2E2E"/>
                </a:solidFill>
                <a:latin typeface="Calibri"/>
              </a:rPr>
              <a:t>▪ Share shifts toward 'Sweet muffins' (+</a:t>
            </a:r>
          </a:p>
        </p:txBody>
      </p:sp>
      <p:pic>
        <p:nvPicPr>
          <p:cNvPr id="30" name="Picture 29" descr="lock.png"/>
          <p:cNvPicPr>
            <a:picLocks noChangeAspect="1"/>
          </p:cNvPicPr>
          <p:nvPr/>
        </p:nvPicPr>
        <p:blipFill>
          <a:blip r:embed="rId4"/>
          <a:stretch>
            <a:fillRect/>
          </a:stretch>
        </p:blipFill>
        <p:spPr>
          <a:xfrm>
            <a:off x="2632673" y="3626802"/>
            <a:ext cx="134549" cy="195707"/>
          </a:xfrm>
          <a:prstGeom prst="rect">
            <a:avLst/>
          </a:prstGeom>
        </p:spPr>
      </p:pic>
      <p:sp>
        <p:nvSpPr>
          <p:cNvPr id="31" name="TextBox 30"/>
          <p:cNvSpPr txBox="1"/>
          <p:nvPr/>
        </p:nvSpPr>
        <p:spPr>
          <a:xfrm>
            <a:off x="2807783" y="3637025"/>
            <a:ext cx="2441240" cy="194310"/>
          </a:xfrm>
          <a:prstGeom prst="rect">
            <a:avLst/>
          </a:prstGeom>
          <a:noFill/>
        </p:spPr>
        <p:txBody>
          <a:bodyPr wrap="none" lIns="0" rIns="0" tIns="0" bIns="0">
            <a:spAutoFit/>
          </a:bodyPr>
          <a:lstStyle/>
          <a:p>
            <a:r>
              <a:rPr sz="1150" b="0">
                <a:solidFill>
                  <a:srgbClr val="2E2E2E"/>
                </a:solidFill>
                <a:latin typeface="Calibri"/>
              </a:rPr>
              <a:t>BPS) and away from 'Savoury muffins' (-</a:t>
            </a:r>
          </a:p>
        </p:txBody>
      </p:sp>
      <p:pic>
        <p:nvPicPr>
          <p:cNvPr id="32" name="Picture 31" descr="lock.png"/>
          <p:cNvPicPr>
            <a:picLocks noChangeAspect="1"/>
          </p:cNvPicPr>
          <p:nvPr/>
        </p:nvPicPr>
        <p:blipFill>
          <a:blip r:embed="rId4"/>
          <a:stretch>
            <a:fillRect/>
          </a:stretch>
        </p:blipFill>
        <p:spPr>
          <a:xfrm>
            <a:off x="5198177" y="3626802"/>
            <a:ext cx="134549" cy="195707"/>
          </a:xfrm>
          <a:prstGeom prst="rect">
            <a:avLst/>
          </a:prstGeom>
        </p:spPr>
      </p:pic>
      <p:sp>
        <p:nvSpPr>
          <p:cNvPr id="33" name="TextBox 32"/>
          <p:cNvSpPr txBox="1"/>
          <p:nvPr/>
        </p:nvSpPr>
        <p:spPr>
          <a:xfrm>
            <a:off x="5373286" y="36370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8648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854640"/>
            <a:ext cx="134549" cy="195707"/>
          </a:xfrm>
          <a:prstGeom prst="rect">
            <a:avLst/>
          </a:prstGeom>
        </p:spPr>
      </p:pic>
      <p:sp>
        <p:nvSpPr>
          <p:cNvPr id="36" name="TextBox 35"/>
          <p:cNvSpPr txBox="1"/>
          <p:nvPr/>
        </p:nvSpPr>
        <p:spPr>
          <a:xfrm>
            <a:off x="1965143" y="38648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854640"/>
            <a:ext cx="134549" cy="195707"/>
          </a:xfrm>
          <a:prstGeom prst="rect">
            <a:avLst/>
          </a:prstGeom>
        </p:spPr>
      </p:pic>
      <p:sp>
        <p:nvSpPr>
          <p:cNvPr id="38" name="TextBox 37"/>
          <p:cNvSpPr txBox="1"/>
          <p:nvPr/>
        </p:nvSpPr>
        <p:spPr>
          <a:xfrm>
            <a:off x="2291688" y="38648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3" name="Table 12"/>
          <p:cNvGraphicFramePr>
            <a:graphicFrameLocks noGrp="1"/>
          </p:cNvGraphicFramePr>
          <p:nvPr/>
        </p:nvGraphicFramePr>
        <p:xfrm>
          <a:off x="152400" y="1238250"/>
          <a:ext cx="11887207" cy="990600"/>
        </p:xfrm>
        <a:graphic>
          <a:graphicData uri="http://schemas.openxmlformats.org/drawingml/2006/table">
            <a:tbl>
              <a:tblPr>
                <a:tableStyleId>{5C22544A-7EE6-4342-B048-85BDC9FD1C3A}</a:tableStyleId>
              </a:tblPr>
              <a:tblGrid>
                <a:gridCol w="1227204"/>
                <a:gridCol w="627059"/>
                <a:gridCol w="627059"/>
                <a:gridCol w="627059"/>
                <a:gridCol w="627059"/>
                <a:gridCol w="627059"/>
                <a:gridCol w="627059"/>
                <a:gridCol w="627059"/>
                <a:gridCol w="627059"/>
                <a:gridCol w="627059"/>
                <a:gridCol w="627059"/>
                <a:gridCol w="627059"/>
                <a:gridCol w="627059"/>
                <a:gridCol w="627059"/>
                <a:gridCol w="627059"/>
                <a:gridCol w="627059"/>
                <a:gridCol w="627059"/>
                <a:gridCol w="627059"/>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Type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2915" y="1589913"/>
            <a:ext cx="366712" cy="533400"/>
          </a:xfrm>
          <a:prstGeom prst="rect">
            <a:avLst/>
          </a:prstGeom>
        </p:spPr>
      </p:pic>
      <p:sp>
        <p:nvSpPr>
          <p:cNvPr id="21" name="TextBox 20"/>
          <p:cNvSpPr txBox="1"/>
          <p:nvPr/>
        </p:nvSpPr>
        <p:spPr>
          <a:xfrm>
            <a:off x="276225" y="2990850"/>
            <a:ext cx="2817204" cy="194310"/>
          </a:xfrm>
          <a:prstGeom prst="rect">
            <a:avLst/>
          </a:prstGeom>
          <a:noFill/>
        </p:spPr>
        <p:txBody>
          <a:bodyPr wrap="none" lIns="0" rIns="0" tIns="0" bIns="0">
            <a:spAutoFit/>
          </a:bodyPr>
          <a:lstStyle/>
          <a:p>
            <a:r>
              <a:rPr sz="1150" b="0">
                <a:solidFill>
                  <a:srgbClr val="2E2E2E"/>
                </a:solidFill>
                <a:latin typeface="Calibri"/>
              </a:rPr>
              <a:t>▪ 'Sweet muffins' is the largest product type at</a:t>
            </a:r>
          </a:p>
        </p:txBody>
      </p:sp>
      <p:pic>
        <p:nvPicPr>
          <p:cNvPr id="22" name="Picture 21" descr="lock.png"/>
          <p:cNvPicPr>
            <a:picLocks noChangeAspect="1"/>
          </p:cNvPicPr>
          <p:nvPr/>
        </p:nvPicPr>
        <p:blipFill>
          <a:blip r:embed="rId4"/>
          <a:stretch>
            <a:fillRect/>
          </a:stretch>
        </p:blipFill>
        <p:spPr>
          <a:xfrm>
            <a:off x="3042583" y="2980626"/>
            <a:ext cx="134549" cy="195707"/>
          </a:xfrm>
          <a:prstGeom prst="rect">
            <a:avLst/>
          </a:prstGeom>
        </p:spPr>
      </p:pic>
      <p:sp>
        <p:nvSpPr>
          <p:cNvPr id="23" name="TextBox 22"/>
          <p:cNvSpPr txBox="1"/>
          <p:nvPr/>
        </p:nvSpPr>
        <p:spPr>
          <a:xfrm>
            <a:off x="3217692"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123625" y="2980626"/>
            <a:ext cx="134549" cy="195707"/>
          </a:xfrm>
          <a:prstGeom prst="rect">
            <a:avLst/>
          </a:prstGeom>
        </p:spPr>
      </p:pic>
      <p:sp>
        <p:nvSpPr>
          <p:cNvPr id="25" name="TextBox 24"/>
          <p:cNvSpPr txBox="1"/>
          <p:nvPr/>
        </p:nvSpPr>
        <p:spPr>
          <a:xfrm>
            <a:off x="4298735"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898116" cy="194310"/>
          </a:xfrm>
          <a:prstGeom prst="rect">
            <a:avLst/>
          </a:prstGeom>
          <a:noFill/>
        </p:spPr>
        <p:txBody>
          <a:bodyPr wrap="none" lIns="0" rIns="0" tIns="0" bIns="0">
            <a:spAutoFit/>
          </a:bodyPr>
          <a:lstStyle/>
          <a:p>
            <a:r>
              <a:rPr sz="1150" b="0">
                <a:solidFill>
                  <a:srgbClr val="2E2E2E"/>
                </a:solidFill>
                <a:latin typeface="Calibri"/>
              </a:rPr>
              <a:t>▪ 'Sweet muffins' grows fastest</a:t>
            </a:r>
          </a:p>
        </p:txBody>
      </p:sp>
      <p:pic>
        <p:nvPicPr>
          <p:cNvPr id="27" name="Picture 26" descr="lock.png"/>
          <p:cNvPicPr>
            <a:picLocks noChangeAspect="1"/>
          </p:cNvPicPr>
          <p:nvPr/>
        </p:nvPicPr>
        <p:blipFill>
          <a:blip r:embed="rId4"/>
          <a:stretch>
            <a:fillRect/>
          </a:stretch>
        </p:blipFill>
        <p:spPr>
          <a:xfrm>
            <a:off x="2123495" y="3208464"/>
            <a:ext cx="134549" cy="195707"/>
          </a:xfrm>
          <a:prstGeom prst="rect">
            <a:avLst/>
          </a:prstGeom>
        </p:spPr>
      </p:pic>
      <p:sp>
        <p:nvSpPr>
          <p:cNvPr id="28" name="TextBox 27"/>
          <p:cNvSpPr txBox="1"/>
          <p:nvPr/>
        </p:nvSpPr>
        <p:spPr>
          <a:xfrm>
            <a:off x="2298604"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407294" cy="194310"/>
          </a:xfrm>
          <a:prstGeom prst="rect">
            <a:avLst/>
          </a:prstGeom>
          <a:noFill/>
        </p:spPr>
        <p:txBody>
          <a:bodyPr wrap="none" lIns="0" rIns="0" tIns="0" bIns="0">
            <a:spAutoFit/>
          </a:bodyPr>
          <a:lstStyle/>
          <a:p>
            <a:r>
              <a:rPr sz="1150" b="0">
                <a:solidFill>
                  <a:srgbClr val="2E2E2E"/>
                </a:solidFill>
                <a:latin typeface="Calibri"/>
              </a:rPr>
              <a:t>▪ Share shifts toward 'Sweet muffins' (+</a:t>
            </a:r>
          </a:p>
        </p:txBody>
      </p:sp>
      <p:pic>
        <p:nvPicPr>
          <p:cNvPr id="30" name="Picture 29" descr="lock.png"/>
          <p:cNvPicPr>
            <a:picLocks noChangeAspect="1"/>
          </p:cNvPicPr>
          <p:nvPr/>
        </p:nvPicPr>
        <p:blipFill>
          <a:blip r:embed="rId4"/>
          <a:stretch>
            <a:fillRect/>
          </a:stretch>
        </p:blipFill>
        <p:spPr>
          <a:xfrm>
            <a:off x="2632673" y="3436302"/>
            <a:ext cx="134549" cy="195707"/>
          </a:xfrm>
          <a:prstGeom prst="rect">
            <a:avLst/>
          </a:prstGeom>
        </p:spPr>
      </p:pic>
      <p:sp>
        <p:nvSpPr>
          <p:cNvPr id="31" name="TextBox 30"/>
          <p:cNvSpPr txBox="1"/>
          <p:nvPr/>
        </p:nvSpPr>
        <p:spPr>
          <a:xfrm>
            <a:off x="2807783" y="3446525"/>
            <a:ext cx="2441240" cy="194310"/>
          </a:xfrm>
          <a:prstGeom prst="rect">
            <a:avLst/>
          </a:prstGeom>
          <a:noFill/>
        </p:spPr>
        <p:txBody>
          <a:bodyPr wrap="none" lIns="0" rIns="0" tIns="0" bIns="0">
            <a:spAutoFit/>
          </a:bodyPr>
          <a:lstStyle/>
          <a:p>
            <a:r>
              <a:rPr sz="1150" b="0">
                <a:solidFill>
                  <a:srgbClr val="2E2E2E"/>
                </a:solidFill>
                <a:latin typeface="Calibri"/>
              </a:rPr>
              <a:t>BPS) and away from 'Savoury muffins' (-</a:t>
            </a:r>
          </a:p>
        </p:txBody>
      </p:sp>
      <p:pic>
        <p:nvPicPr>
          <p:cNvPr id="32" name="Picture 31" descr="lock.png"/>
          <p:cNvPicPr>
            <a:picLocks noChangeAspect="1"/>
          </p:cNvPicPr>
          <p:nvPr/>
        </p:nvPicPr>
        <p:blipFill>
          <a:blip r:embed="rId4"/>
          <a:stretch>
            <a:fillRect/>
          </a:stretch>
        </p:blipFill>
        <p:spPr>
          <a:xfrm>
            <a:off x="5198177" y="3436302"/>
            <a:ext cx="134549" cy="195707"/>
          </a:xfrm>
          <a:prstGeom prst="rect">
            <a:avLst/>
          </a:prstGeom>
        </p:spPr>
      </p:pic>
      <p:sp>
        <p:nvSpPr>
          <p:cNvPr id="33" name="TextBox 32"/>
          <p:cNvSpPr txBox="1"/>
          <p:nvPr/>
        </p:nvSpPr>
        <p:spPr>
          <a:xfrm>
            <a:off x="5373286"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3967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63490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587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Savoury muffins</a:t>
            </a:r>
          </a:p>
        </p:txBody>
      </p:sp>
      <p:sp>
        <p:nvSpPr>
          <p:cNvPr id="19" name="BPS Value 1"/>
          <p:cNvSpPr txBox="1"/>
          <p:nvPr/>
        </p:nvSpPr>
        <p:spPr>
          <a:xfrm>
            <a:off x="6896100" y="262062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9258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9211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449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Sweet muffins</a:t>
            </a:r>
          </a:p>
        </p:txBody>
      </p:sp>
      <p:sp>
        <p:nvSpPr>
          <p:cNvPr id="23" name="BPS Value 2"/>
          <p:cNvSpPr txBox="1"/>
          <p:nvPr/>
        </p:nvSpPr>
        <p:spPr>
          <a:xfrm>
            <a:off x="6896100" y="490681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Type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2444377" cy="194310"/>
          </a:xfrm>
          <a:prstGeom prst="rect">
            <a:avLst/>
          </a:prstGeom>
          <a:noFill/>
        </p:spPr>
        <p:txBody>
          <a:bodyPr wrap="none" lIns="0" rIns="0" tIns="0" bIns="0">
            <a:spAutoFit/>
          </a:bodyPr>
          <a:lstStyle/>
          <a:p>
            <a:r>
              <a:rPr sz="1150" b="0">
                <a:solidFill>
                  <a:srgbClr val="2E2E2E"/>
                </a:solidFill>
                <a:latin typeface="Calibri"/>
              </a:rPr>
              <a:t>▪ 'Sweet muffins' gains the most share +</a:t>
            </a:r>
          </a:p>
        </p:txBody>
      </p:sp>
      <p:pic>
        <p:nvPicPr>
          <p:cNvPr id="31" name="Picture 30" descr="lock.png"/>
          <p:cNvPicPr>
            <a:picLocks noChangeAspect="1"/>
          </p:cNvPicPr>
          <p:nvPr/>
        </p:nvPicPr>
        <p:blipFill>
          <a:blip r:embed="rId5"/>
          <a:stretch>
            <a:fillRect/>
          </a:stretch>
        </p:blipFill>
        <p:spPr>
          <a:xfrm>
            <a:off x="10223081" y="1389951"/>
            <a:ext cx="134549" cy="195707"/>
          </a:xfrm>
          <a:prstGeom prst="rect">
            <a:avLst/>
          </a:prstGeom>
        </p:spPr>
      </p:pic>
      <p:sp>
        <p:nvSpPr>
          <p:cNvPr id="32" name="TextBox 31"/>
          <p:cNvSpPr txBox="1"/>
          <p:nvPr/>
        </p:nvSpPr>
        <p:spPr>
          <a:xfrm>
            <a:off x="10398191"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3" name="TextBox 32"/>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198774" cy="194310"/>
          </a:xfrm>
          <a:prstGeom prst="rect">
            <a:avLst/>
          </a:prstGeom>
          <a:noFill/>
        </p:spPr>
        <p:txBody>
          <a:bodyPr wrap="none" lIns="0" rIns="0" tIns="0" bIns="0">
            <a:spAutoFit/>
          </a:bodyPr>
          <a:lstStyle/>
          <a:p>
            <a:r>
              <a:rPr sz="1150" b="0">
                <a:solidFill>
                  <a:srgbClr val="2E2E2E"/>
                </a:solidFill>
                <a:latin typeface="Calibri"/>
              </a:rPr>
              <a:t>▪ 'Savoury muffins' cedes the most -</a:t>
            </a:r>
          </a:p>
        </p:txBody>
      </p:sp>
      <p:pic>
        <p:nvPicPr>
          <p:cNvPr id="35" name="Picture 34" descr="lock.png"/>
          <p:cNvPicPr>
            <a:picLocks noChangeAspect="1"/>
          </p:cNvPicPr>
          <p:nvPr/>
        </p:nvPicPr>
        <p:blipFill>
          <a:blip r:embed="rId5"/>
          <a:stretch>
            <a:fillRect/>
          </a:stretch>
        </p:blipFill>
        <p:spPr>
          <a:xfrm>
            <a:off x="9977478" y="1793049"/>
            <a:ext cx="134549" cy="195707"/>
          </a:xfrm>
          <a:prstGeom prst="rect">
            <a:avLst/>
          </a:prstGeom>
        </p:spPr>
      </p:pic>
      <p:sp>
        <p:nvSpPr>
          <p:cNvPr id="36" name="TextBox 35"/>
          <p:cNvSpPr txBox="1"/>
          <p:nvPr/>
        </p:nvSpPr>
        <p:spPr>
          <a:xfrm>
            <a:off x="10152587"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37" name="TextBox 36"/>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339504" cy="194310"/>
          </a:xfrm>
          <a:prstGeom prst="rect">
            <a:avLst/>
          </a:prstGeom>
          <a:noFill/>
        </p:spPr>
        <p:txBody>
          <a:bodyPr wrap="none" lIns="0" rIns="0" tIns="0" bIns="0">
            <a:spAutoFit/>
          </a:bodyPr>
          <a:lstStyle/>
          <a:p>
            <a:r>
              <a:rPr sz="1150" b="0">
                <a:solidFill>
                  <a:srgbClr val="2E2E2E"/>
                </a:solidFill>
                <a:latin typeface="Calibri"/>
              </a:rPr>
              <a:t>▪ 'Sweet muffins' is the fastest-growing product type at</a:t>
            </a:r>
          </a:p>
        </p:txBody>
      </p:sp>
      <p:pic>
        <p:nvPicPr>
          <p:cNvPr id="39" name="Picture 38" descr="lock.png"/>
          <p:cNvPicPr>
            <a:picLocks noChangeAspect="1"/>
          </p:cNvPicPr>
          <p:nvPr/>
        </p:nvPicPr>
        <p:blipFill>
          <a:blip r:embed="rId5"/>
          <a:stretch>
            <a:fillRect/>
          </a:stretch>
        </p:blipFill>
        <p:spPr>
          <a:xfrm>
            <a:off x="11118208" y="2196147"/>
            <a:ext cx="134549" cy="195707"/>
          </a:xfrm>
          <a:prstGeom prst="rect">
            <a:avLst/>
          </a:prstGeom>
        </p:spPr>
      </p:pic>
      <p:sp>
        <p:nvSpPr>
          <p:cNvPr id="40" name="TextBox 39"/>
          <p:cNvSpPr txBox="1"/>
          <p:nvPr/>
        </p:nvSpPr>
        <p:spPr>
          <a:xfrm>
            <a:off x="11293317"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1" name="TextBox 40"/>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2" name="TextBox 41"/>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3" name="Picture 42" descr="lock.png"/>
          <p:cNvPicPr>
            <a:picLocks noChangeAspect="1"/>
          </p:cNvPicPr>
          <p:nvPr/>
        </p:nvPicPr>
        <p:blipFill>
          <a:blip r:embed="rId5"/>
          <a:stretch>
            <a:fillRect/>
          </a:stretch>
        </p:blipFill>
        <p:spPr>
          <a:xfrm>
            <a:off x="9327669" y="2599245"/>
            <a:ext cx="134549" cy="195707"/>
          </a:xfrm>
          <a:prstGeom prst="rect">
            <a:avLst/>
          </a:prstGeom>
        </p:spPr>
      </p:pic>
      <p:sp>
        <p:nvSpPr>
          <p:cNvPr id="44" name="TextBox 43"/>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5" name="Picture 44" descr="lock.png"/>
          <p:cNvPicPr>
            <a:picLocks noChangeAspect="1"/>
          </p:cNvPicPr>
          <p:nvPr/>
        </p:nvPicPr>
        <p:blipFill>
          <a:blip r:embed="rId5"/>
          <a:stretch>
            <a:fillRect/>
          </a:stretch>
        </p:blipFill>
        <p:spPr>
          <a:xfrm>
            <a:off x="9654215" y="2599245"/>
            <a:ext cx="134549" cy="195707"/>
          </a:xfrm>
          <a:prstGeom prst="rect">
            <a:avLst/>
          </a:prstGeom>
        </p:spPr>
      </p:pic>
      <p:sp>
        <p:nvSpPr>
          <p:cNvPr id="46" name="TextBox 45"/>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7" name="TextBox 46"/>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8" name="TextBox 47"/>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9"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Type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a:t>
            </a:r>
          </a:p>
        </p:txBody>
      </p:sp>
      <p:sp>
        <p:nvSpPr>
          <p:cNvPr id="33" name="Rectangle 32"/>
          <p:cNvSpPr/>
          <p:nvPr/>
        </p:nvSpPr>
        <p:spPr>
          <a:xfrm>
            <a:off x="1857375" y="2752725"/>
            <a:ext cx="643890" cy="190976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01417" y="1482090"/>
            <a:ext cx="330041" cy="480060"/>
          </a:xfrm>
          <a:prstGeom prst="rect">
            <a:avLst/>
          </a:prstGeom>
        </p:spPr>
      </p:pic>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Type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a:t>
            </a:r>
          </a:p>
        </p:txBody>
      </p:sp>
      <p:sp>
        <p:nvSpPr>
          <p:cNvPr id="33" name="Rectangle 32"/>
          <p:cNvSpPr/>
          <p:nvPr/>
        </p:nvSpPr>
        <p:spPr>
          <a:xfrm>
            <a:off x="185737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a:t>
            </a:r>
          </a:p>
        </p:txBody>
      </p:sp>
      <p:sp>
        <p:nvSpPr>
          <p:cNvPr id="49" name="Rectangle 48"/>
          <p:cNvSpPr/>
          <p:nvPr/>
        </p:nvSpPr>
        <p:spPr>
          <a:xfrm>
            <a:off x="185737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01417" y="1482090"/>
            <a:ext cx="330041" cy="480060"/>
          </a:xfrm>
          <a:prstGeom prst="rect">
            <a:avLst/>
          </a:prstGeom>
        </p:spPr>
      </p:pic>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Flavour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Flavour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Flavour,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Flavour segment categorizes the market by flavour.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Sweet Muffins Flavours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Savoury Muffins Flavours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Flavour split shows how demand is distributed across flavour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087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2_931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5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510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_423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8835" cy="186689"/>
          </a:xfrm>
          <a:prstGeom prst="rect">
            <a:avLst/>
          </a:prstGeom>
          <a:noFill/>
        </p:spPr>
        <p:txBody>
          <a:bodyPr wrap="none" lIns="0" rIns="0" tIns="0" bIns="0">
            <a:spAutoFit/>
          </a:bodyPr>
          <a:lstStyle/>
          <a:p>
            <a:r>
              <a:rPr sz="1100" b="0">
                <a:solidFill>
                  <a:srgbClr val="2E2E2E"/>
                </a:solidFill>
                <a:latin typeface="Calibri"/>
              </a:rPr>
              <a:t>▪ 'Sweet Muffins Flavours' holds the largest share</a:t>
            </a:r>
          </a:p>
        </p:txBody>
      </p:sp>
      <p:sp>
        <p:nvSpPr>
          <p:cNvPr id="59" name="TextBox 58"/>
          <p:cNvSpPr txBox="1"/>
          <p:nvPr/>
        </p:nvSpPr>
        <p:spPr>
          <a:xfrm>
            <a:off x="485775" y="4397077"/>
            <a:ext cx="497209" cy="186689"/>
          </a:xfrm>
          <a:prstGeom prst="rect">
            <a:avLst/>
          </a:prstGeom>
          <a:noFill/>
        </p:spPr>
        <p:txBody>
          <a:bodyPr wrap="none" lIns="0" rIns="0" tIns="0" bIns="0">
            <a:spAutoFit/>
          </a:bodyPr>
          <a:lstStyle/>
          <a:p>
            <a:r>
              <a:rPr sz="1100" b="0">
                <a:solidFill>
                  <a:srgbClr val="2E2E2E"/>
                </a:solidFill>
                <a:latin typeface="Calibri"/>
              </a:rPr>
              <a:t>in 2026</a:t>
            </a:r>
          </a:p>
        </p:txBody>
      </p:sp>
      <p:pic>
        <p:nvPicPr>
          <p:cNvPr id="60" name="Picture 59" descr="lock.png"/>
          <p:cNvPicPr>
            <a:picLocks noChangeAspect="1"/>
          </p:cNvPicPr>
          <p:nvPr/>
        </p:nvPicPr>
        <p:blipFill>
          <a:blip r:embed="rId10"/>
          <a:stretch>
            <a:fillRect/>
          </a:stretch>
        </p:blipFill>
        <p:spPr>
          <a:xfrm>
            <a:off x="931036" y="4387298"/>
            <a:ext cx="128699" cy="187198"/>
          </a:xfrm>
          <a:prstGeom prst="rect">
            <a:avLst/>
          </a:prstGeom>
        </p:spPr>
      </p:pic>
      <p:sp>
        <p:nvSpPr>
          <p:cNvPr id="61" name="TextBox 60"/>
          <p:cNvSpPr txBox="1"/>
          <p:nvPr/>
        </p:nvSpPr>
        <p:spPr>
          <a:xfrm>
            <a:off x="1098532"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2" name="TextBox 61"/>
          <p:cNvSpPr txBox="1"/>
          <p:nvPr/>
        </p:nvSpPr>
        <p:spPr>
          <a:xfrm>
            <a:off x="485775" y="4615009"/>
            <a:ext cx="2906216" cy="186689"/>
          </a:xfrm>
          <a:prstGeom prst="rect">
            <a:avLst/>
          </a:prstGeom>
          <a:noFill/>
        </p:spPr>
        <p:txBody>
          <a:bodyPr wrap="none" lIns="0" rIns="0" tIns="0" bIns="0">
            <a:spAutoFit/>
          </a:bodyPr>
          <a:lstStyle/>
          <a:p>
            <a:r>
              <a:rPr sz="1100" b="0">
                <a:solidFill>
                  <a:srgbClr val="2E2E2E"/>
                </a:solidFill>
                <a:latin typeface="Calibri"/>
              </a:rPr>
              <a:t>▪ 'Savoury Muffins Flavours' is the fastest-growing</a:t>
            </a:r>
          </a:p>
        </p:txBody>
      </p:sp>
      <p:sp>
        <p:nvSpPr>
          <p:cNvPr id="63" name="TextBox 62"/>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4" name="Picture 63" descr="lock.png"/>
          <p:cNvPicPr>
            <a:picLocks noChangeAspect="1"/>
          </p:cNvPicPr>
          <p:nvPr/>
        </p:nvPicPr>
        <p:blipFill>
          <a:blip r:embed="rId10"/>
          <a:stretch>
            <a:fillRect/>
          </a:stretch>
        </p:blipFill>
        <p:spPr>
          <a:xfrm>
            <a:off x="1391064" y="4772870"/>
            <a:ext cx="128699" cy="187198"/>
          </a:xfrm>
          <a:prstGeom prst="rect">
            <a:avLst/>
          </a:prstGeom>
        </p:spPr>
      </p:pic>
      <p:sp>
        <p:nvSpPr>
          <p:cNvPr id="65" name="TextBox 64"/>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6" name="TextBox 6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7" name="Picture 66" descr="lock.png"/>
          <p:cNvPicPr>
            <a:picLocks noChangeAspect="1"/>
          </p:cNvPicPr>
          <p:nvPr/>
        </p:nvPicPr>
        <p:blipFill>
          <a:blip r:embed="rId10"/>
          <a:stretch>
            <a:fillRect/>
          </a:stretch>
        </p:blipFill>
        <p:spPr>
          <a:xfrm>
            <a:off x="2240451" y="4990801"/>
            <a:ext cx="128699" cy="187198"/>
          </a:xfrm>
          <a:prstGeom prst="rect">
            <a:avLst/>
          </a:prstGeom>
        </p:spPr>
      </p:pic>
      <p:sp>
        <p:nvSpPr>
          <p:cNvPr id="68" name="TextBox 6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9" name="Picture 68" descr="lock.png"/>
          <p:cNvPicPr>
            <a:picLocks noChangeAspect="1"/>
          </p:cNvPicPr>
          <p:nvPr/>
        </p:nvPicPr>
        <p:blipFill>
          <a:blip r:embed="rId10"/>
          <a:stretch>
            <a:fillRect/>
          </a:stretch>
        </p:blipFill>
        <p:spPr>
          <a:xfrm>
            <a:off x="2552799" y="4990801"/>
            <a:ext cx="128699" cy="187198"/>
          </a:xfrm>
          <a:prstGeom prst="rect">
            <a:avLst/>
          </a:prstGeom>
        </p:spPr>
      </p:pic>
      <p:sp>
        <p:nvSpPr>
          <p:cNvPr id="70" name="TextBox 6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2" name="TextBox 71"/>
          <p:cNvSpPr txBox="1"/>
          <p:nvPr/>
        </p:nvSpPr>
        <p:spPr>
          <a:xfrm>
            <a:off x="485775" y="5386153"/>
            <a:ext cx="2861741" cy="186689"/>
          </a:xfrm>
          <a:prstGeom prst="rect">
            <a:avLst/>
          </a:prstGeom>
          <a:noFill/>
        </p:spPr>
        <p:txBody>
          <a:bodyPr wrap="none" lIns="0" rIns="0" tIns="0" bIns="0">
            <a:spAutoFit/>
          </a:bodyPr>
          <a:lstStyle/>
          <a:p>
            <a:r>
              <a:rPr sz="1100" b="0">
                <a:solidFill>
                  <a:srgbClr val="2E2E2E"/>
                </a:solidFill>
                <a:latin typeface="Calibri"/>
              </a:rPr>
              <a:t>▪ 2 sub-segments make up the flavour landscape.</a:t>
            </a:r>
          </a:p>
        </p:txBody>
      </p:sp>
      <p:sp>
        <p:nvSpPr>
          <p:cNvPr id="73" name="TextBox 72"/>
          <p:cNvSpPr txBox="1"/>
          <p:nvPr/>
        </p:nvSpPr>
        <p:spPr>
          <a:xfrm>
            <a:off x="3838575" y="4229437"/>
            <a:ext cx="1557783" cy="186689"/>
          </a:xfrm>
          <a:prstGeom prst="rect">
            <a:avLst/>
          </a:prstGeom>
          <a:noFill/>
        </p:spPr>
        <p:txBody>
          <a:bodyPr wrap="none" lIns="0" rIns="0" tIns="0" bIns="0">
            <a:spAutoFit/>
          </a:bodyPr>
          <a:lstStyle/>
          <a:p>
            <a:r>
              <a:rPr sz="1100" b="0">
                <a:solidFill>
                  <a:srgbClr val="2E2E2E"/>
                </a:solidFill>
                <a:latin typeface="Calibri"/>
              </a:rPr>
              <a:t>● Sweet Muffins Flavours:</a:t>
            </a:r>
          </a:p>
        </p:txBody>
      </p:sp>
      <p:pic>
        <p:nvPicPr>
          <p:cNvPr id="74" name="Picture 73" descr="lock.png"/>
          <p:cNvPicPr>
            <a:picLocks noChangeAspect="1"/>
          </p:cNvPicPr>
          <p:nvPr/>
        </p:nvPicPr>
        <p:blipFill>
          <a:blip r:embed="rId10"/>
          <a:stretch>
            <a:fillRect/>
          </a:stretch>
        </p:blipFill>
        <p:spPr>
          <a:xfrm>
            <a:off x="5344410" y="4219658"/>
            <a:ext cx="128699" cy="187198"/>
          </a:xfrm>
          <a:prstGeom prst="rect">
            <a:avLst/>
          </a:prstGeom>
        </p:spPr>
      </p:pic>
      <p:sp>
        <p:nvSpPr>
          <p:cNvPr id="75" name="TextBox 74"/>
          <p:cNvSpPr txBox="1"/>
          <p:nvPr/>
        </p:nvSpPr>
        <p:spPr>
          <a:xfrm>
            <a:off x="551190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6371356" y="4219658"/>
            <a:ext cx="128699" cy="187198"/>
          </a:xfrm>
          <a:prstGeom prst="rect">
            <a:avLst/>
          </a:prstGeom>
        </p:spPr>
      </p:pic>
      <p:sp>
        <p:nvSpPr>
          <p:cNvPr id="77" name="TextBox 76"/>
          <p:cNvSpPr txBox="1"/>
          <p:nvPr/>
        </p:nvSpPr>
        <p:spPr>
          <a:xfrm>
            <a:off x="653885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78" name="TextBox 77"/>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79" name="TextBox 78"/>
          <p:cNvSpPr txBox="1"/>
          <p:nvPr/>
        </p:nvSpPr>
        <p:spPr>
          <a:xfrm>
            <a:off x="3838575" y="4615009"/>
            <a:ext cx="1660921" cy="186689"/>
          </a:xfrm>
          <a:prstGeom prst="rect">
            <a:avLst/>
          </a:prstGeom>
          <a:noFill/>
        </p:spPr>
        <p:txBody>
          <a:bodyPr wrap="none" lIns="0" rIns="0" tIns="0" bIns="0">
            <a:spAutoFit/>
          </a:bodyPr>
          <a:lstStyle/>
          <a:p>
            <a:r>
              <a:rPr sz="1100" b="0">
                <a:solidFill>
                  <a:srgbClr val="2E2E2E"/>
                </a:solidFill>
                <a:latin typeface="Calibri"/>
              </a:rPr>
              <a:t>● Savoury Muffins Flavours:</a:t>
            </a:r>
          </a:p>
        </p:txBody>
      </p:sp>
      <p:pic>
        <p:nvPicPr>
          <p:cNvPr id="80" name="Picture 79" descr="lock.png"/>
          <p:cNvPicPr>
            <a:picLocks noChangeAspect="1"/>
          </p:cNvPicPr>
          <p:nvPr/>
        </p:nvPicPr>
        <p:blipFill>
          <a:blip r:embed="rId10"/>
          <a:stretch>
            <a:fillRect/>
          </a:stretch>
        </p:blipFill>
        <p:spPr>
          <a:xfrm>
            <a:off x="5447548" y="4605230"/>
            <a:ext cx="128699" cy="187198"/>
          </a:xfrm>
          <a:prstGeom prst="rect">
            <a:avLst/>
          </a:prstGeom>
        </p:spPr>
      </p:pic>
      <p:sp>
        <p:nvSpPr>
          <p:cNvPr id="81" name="TextBox 80"/>
          <p:cNvSpPr txBox="1"/>
          <p:nvPr/>
        </p:nvSpPr>
        <p:spPr>
          <a:xfrm>
            <a:off x="5615044"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0"/>
          <a:stretch>
            <a:fillRect/>
          </a:stretch>
        </p:blipFill>
        <p:spPr>
          <a:xfrm>
            <a:off x="6474494" y="4605230"/>
            <a:ext cx="128699" cy="187198"/>
          </a:xfrm>
          <a:prstGeom prst="rect">
            <a:avLst/>
          </a:prstGeom>
        </p:spPr>
      </p:pic>
      <p:sp>
        <p:nvSpPr>
          <p:cNvPr id="83" name="TextBox 82"/>
          <p:cNvSpPr txBox="1"/>
          <p:nvPr/>
        </p:nvSpPr>
        <p:spPr>
          <a:xfrm>
            <a:off x="6641990" y="461500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4" name="TextBox 83"/>
          <p:cNvSpPr txBox="1"/>
          <p:nvPr/>
        </p:nvSpPr>
        <p:spPr>
          <a:xfrm>
            <a:off x="3838575" y="478264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85" name="TextBox 84"/>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Flavour segment is projected to grow at a CAGR</a:t>
            </a:r>
          </a:p>
        </p:txBody>
      </p:sp>
      <p:sp>
        <p:nvSpPr>
          <p:cNvPr id="86" name="TextBox 85"/>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87" name="Picture 86" descr="lock.png"/>
          <p:cNvPicPr>
            <a:picLocks noChangeAspect="1"/>
          </p:cNvPicPr>
          <p:nvPr/>
        </p:nvPicPr>
        <p:blipFill>
          <a:blip r:embed="rId10"/>
          <a:stretch>
            <a:fillRect/>
          </a:stretch>
        </p:blipFill>
        <p:spPr>
          <a:xfrm>
            <a:off x="8674884" y="6007677"/>
            <a:ext cx="134549" cy="195707"/>
          </a:xfrm>
          <a:prstGeom prst="rect">
            <a:avLst/>
          </a:prstGeom>
        </p:spPr>
      </p:pic>
      <p:sp>
        <p:nvSpPr>
          <p:cNvPr id="88" name="TextBox 87"/>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Flavour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Flavour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Flavour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Flavour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033095" cy="186689"/>
          </a:xfrm>
          <a:prstGeom prst="rect">
            <a:avLst/>
          </a:prstGeom>
          <a:noFill/>
        </p:spPr>
        <p:txBody>
          <a:bodyPr wrap="none" lIns="0" rIns="0" tIns="0" bIns="0">
            <a:spAutoFit/>
          </a:bodyPr>
          <a:lstStyle/>
          <a:p>
            <a:r>
              <a:rPr sz="1100" b="0">
                <a:solidFill>
                  <a:srgbClr val="2E2E2E"/>
                </a:solidFill>
                <a:latin typeface="Calibri"/>
              </a:rPr>
              <a:t>Between 2026 and 2036, 'Savoury Muffins Flavours' gains the most share in the North America market (+</a:t>
            </a:r>
          </a:p>
        </p:txBody>
      </p:sp>
      <p:pic>
        <p:nvPicPr>
          <p:cNvPr id="21" name="Picture 20" descr="lock.png"/>
          <p:cNvPicPr>
            <a:picLocks noChangeAspect="1"/>
          </p:cNvPicPr>
          <p:nvPr/>
        </p:nvPicPr>
        <p:blipFill>
          <a:blip r:embed="rId6"/>
          <a:stretch>
            <a:fillRect/>
          </a:stretch>
        </p:blipFill>
        <p:spPr>
          <a:xfrm>
            <a:off x="6238321" y="5851905"/>
            <a:ext cx="128699" cy="187198"/>
          </a:xfrm>
          <a:prstGeom prst="rect">
            <a:avLst/>
          </a:prstGeom>
        </p:spPr>
      </p:pic>
      <p:sp>
        <p:nvSpPr>
          <p:cNvPr id="22" name="TextBox 21"/>
          <p:cNvSpPr txBox="1"/>
          <p:nvPr/>
        </p:nvSpPr>
        <p:spPr>
          <a:xfrm>
            <a:off x="6405817" y="5861685"/>
            <a:ext cx="2449462" cy="186689"/>
          </a:xfrm>
          <a:prstGeom prst="rect">
            <a:avLst/>
          </a:prstGeom>
          <a:noFill/>
        </p:spPr>
        <p:txBody>
          <a:bodyPr wrap="none" lIns="0" rIns="0" tIns="0" bIns="0">
            <a:spAutoFit/>
          </a:bodyPr>
          <a:lstStyle/>
          <a:p>
            <a:r>
              <a:rPr sz="1100" b="0">
                <a:solidFill>
                  <a:srgbClr val="2E2E2E"/>
                </a:solidFill>
                <a:latin typeface="Calibri"/>
              </a:rPr>
              <a:t>BPS) while 'Sweet Muffins Flavours' cedes</a:t>
            </a:r>
          </a:p>
        </p:txBody>
      </p:sp>
      <p:pic>
        <p:nvPicPr>
          <p:cNvPr id="23" name="Picture 22" descr="lock.png"/>
          <p:cNvPicPr>
            <a:picLocks noChangeAspect="1"/>
          </p:cNvPicPr>
          <p:nvPr/>
        </p:nvPicPr>
        <p:blipFill>
          <a:blip r:embed="rId6"/>
          <a:stretch>
            <a:fillRect/>
          </a:stretch>
        </p:blipFill>
        <p:spPr>
          <a:xfrm>
            <a:off x="8803332" y="5851905"/>
            <a:ext cx="128699" cy="187198"/>
          </a:xfrm>
          <a:prstGeom prst="rect">
            <a:avLst/>
          </a:prstGeom>
        </p:spPr>
      </p:pic>
      <p:sp>
        <p:nvSpPr>
          <p:cNvPr id="24" name="TextBox 23"/>
          <p:cNvSpPr txBox="1"/>
          <p:nvPr/>
        </p:nvSpPr>
        <p:spPr>
          <a:xfrm>
            <a:off x="8970828" y="5861685"/>
            <a:ext cx="2741124"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a:t>
            </a:r>
          </a:p>
        </p:txBody>
      </p:sp>
      <p:sp>
        <p:nvSpPr>
          <p:cNvPr id="25" name="TextBox 24"/>
          <p:cNvSpPr txBox="1"/>
          <p:nvPr/>
        </p:nvSpPr>
        <p:spPr>
          <a:xfrm>
            <a:off x="257175" y="602932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Flavour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Sweet Muffins Flavours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Savoury Muffins Flavours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Flavour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Flavour,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Flavour (MT)</a:t>
            </a:r>
          </a:p>
        </p:txBody>
      </p:sp>
      <p:graphicFrame>
        <p:nvGraphicFramePr>
          <p:cNvPr id="13" name="Table 12"/>
          <p:cNvGraphicFramePr>
            <a:graphicFrameLocks noGrp="1"/>
          </p:cNvGraphicFramePr>
          <p:nvPr/>
        </p:nvGraphicFramePr>
        <p:xfrm>
          <a:off x="152400" y="1238250"/>
          <a:ext cx="11887199" cy="990600"/>
        </p:xfrm>
        <a:graphic>
          <a:graphicData uri="http://schemas.openxmlformats.org/drawingml/2006/table">
            <a:tbl>
              <a:tblPr>
                <a:tableStyleId>{5C22544A-7EE6-4342-B048-85BDC9FD1C3A}</a:tableStyleId>
              </a:tblPr>
              <a:tblGrid>
                <a:gridCol w="1603399"/>
                <a:gridCol w="547922"/>
                <a:gridCol w="547922"/>
                <a:gridCol w="547922"/>
                <a:gridCol w="547922"/>
                <a:gridCol w="547922"/>
                <a:gridCol w="547922"/>
                <a:gridCol w="547922"/>
                <a:gridCol w="658895"/>
                <a:gridCol w="658895"/>
                <a:gridCol w="658895"/>
                <a:gridCol w="658895"/>
                <a:gridCol w="658895"/>
                <a:gridCol w="658895"/>
                <a:gridCol w="658895"/>
                <a:gridCol w="658895"/>
                <a:gridCol w="658895"/>
                <a:gridCol w="518291"/>
              </a:tblGrid>
              <a:tr h="246126">
                <a:tc>
                  <a:txBody>
                    <a:bodyPr wrap="none"/>
                    <a:lstStyle/>
                    <a:p>
                      <a:pPr algn="l"/>
                      <a:r>
                        <a:rPr sz="1100" b="1">
                          <a:solidFill>
                            <a:srgbClr val="0B2E4A"/>
                          </a:solidFill>
                          <a:latin typeface="Calibri"/>
                        </a:rPr>
                        <a:t>Flavour</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8158">
                <a:tc>
                  <a:txBody>
                    <a:bodyPr wrap="none"/>
                    <a:lstStyle/>
                    <a:p>
                      <a:pPr algn="l"/>
                      <a:r>
                        <a:rPr sz="1100" b="1">
                          <a:solidFill>
                            <a:srgbClr val="2E2E2E"/>
                          </a:solidFill>
                          <a:latin typeface="Calibri"/>
                        </a:rPr>
                        <a:t>Sweet Muffins Flavours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158">
                <a:tc>
                  <a:txBody>
                    <a:bodyPr wrap="none"/>
                    <a:lstStyle/>
                    <a:p>
                      <a:pPr algn="l"/>
                      <a:r>
                        <a:rPr sz="1100" b="1">
                          <a:solidFill>
                            <a:srgbClr val="2E2E2E"/>
                          </a:solidFill>
                          <a:latin typeface="Calibri"/>
                        </a:rPr>
                        <a:t>Savoury Muffins Flavours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Flavour</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11009" y="1589913"/>
            <a:ext cx="366712" cy="533400"/>
          </a:xfrm>
          <a:prstGeom prst="rect">
            <a:avLst/>
          </a:prstGeom>
        </p:spPr>
      </p:pic>
      <p:sp>
        <p:nvSpPr>
          <p:cNvPr id="21" name="TextBox 20"/>
          <p:cNvSpPr txBox="1"/>
          <p:nvPr/>
        </p:nvSpPr>
        <p:spPr>
          <a:xfrm>
            <a:off x="276225" y="2990850"/>
            <a:ext cx="3008610" cy="194310"/>
          </a:xfrm>
          <a:prstGeom prst="rect">
            <a:avLst/>
          </a:prstGeom>
          <a:noFill/>
        </p:spPr>
        <p:txBody>
          <a:bodyPr wrap="none" lIns="0" rIns="0" tIns="0" bIns="0">
            <a:spAutoFit/>
          </a:bodyPr>
          <a:lstStyle/>
          <a:p>
            <a:r>
              <a:rPr sz="1150" b="0">
                <a:solidFill>
                  <a:srgbClr val="2E2E2E"/>
                </a:solidFill>
                <a:latin typeface="Calibri"/>
              </a:rPr>
              <a:t>▪ 'Sweet Muffins Flavours' is the largest flavour at</a:t>
            </a:r>
          </a:p>
        </p:txBody>
      </p:sp>
      <p:pic>
        <p:nvPicPr>
          <p:cNvPr id="22" name="Picture 21" descr="lock.png"/>
          <p:cNvPicPr>
            <a:picLocks noChangeAspect="1"/>
          </p:cNvPicPr>
          <p:nvPr/>
        </p:nvPicPr>
        <p:blipFill>
          <a:blip r:embed="rId4"/>
          <a:stretch>
            <a:fillRect/>
          </a:stretch>
        </p:blipFill>
        <p:spPr>
          <a:xfrm>
            <a:off x="3233989" y="2980626"/>
            <a:ext cx="134549" cy="195707"/>
          </a:xfrm>
          <a:prstGeom prst="rect">
            <a:avLst/>
          </a:prstGeom>
        </p:spPr>
      </p:pic>
      <p:sp>
        <p:nvSpPr>
          <p:cNvPr id="23" name="TextBox 22"/>
          <p:cNvSpPr txBox="1"/>
          <p:nvPr/>
        </p:nvSpPr>
        <p:spPr>
          <a:xfrm>
            <a:off x="3409098" y="29908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38831" y="2980626"/>
            <a:ext cx="134549" cy="195707"/>
          </a:xfrm>
          <a:prstGeom prst="rect">
            <a:avLst/>
          </a:prstGeom>
        </p:spPr>
      </p:pic>
      <p:sp>
        <p:nvSpPr>
          <p:cNvPr id="25" name="TextBox 24"/>
          <p:cNvSpPr txBox="1"/>
          <p:nvPr/>
        </p:nvSpPr>
        <p:spPr>
          <a:xfrm>
            <a:off x="4613940" y="29908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218687"/>
            <a:ext cx="2545643" cy="194310"/>
          </a:xfrm>
          <a:prstGeom prst="rect">
            <a:avLst/>
          </a:prstGeom>
          <a:noFill/>
        </p:spPr>
        <p:txBody>
          <a:bodyPr wrap="none" lIns="0" rIns="0" tIns="0" bIns="0">
            <a:spAutoFit/>
          </a:bodyPr>
          <a:lstStyle/>
          <a:p>
            <a:r>
              <a:rPr sz="1150" b="0">
                <a:solidFill>
                  <a:srgbClr val="2E2E2E"/>
                </a:solidFill>
                <a:latin typeface="Calibri"/>
              </a:rPr>
              <a:t>▪ 'Savoury Muffins Flavours' grows fastest</a:t>
            </a:r>
          </a:p>
        </p:txBody>
      </p:sp>
      <p:pic>
        <p:nvPicPr>
          <p:cNvPr id="27" name="Picture 26" descr="lock.png"/>
          <p:cNvPicPr>
            <a:picLocks noChangeAspect="1"/>
          </p:cNvPicPr>
          <p:nvPr/>
        </p:nvPicPr>
        <p:blipFill>
          <a:blip r:embed="rId4"/>
          <a:stretch>
            <a:fillRect/>
          </a:stretch>
        </p:blipFill>
        <p:spPr>
          <a:xfrm>
            <a:off x="2771022" y="3208464"/>
            <a:ext cx="134549" cy="195707"/>
          </a:xfrm>
          <a:prstGeom prst="rect">
            <a:avLst/>
          </a:prstGeom>
        </p:spPr>
      </p:pic>
      <p:sp>
        <p:nvSpPr>
          <p:cNvPr id="28" name="TextBox 27"/>
          <p:cNvSpPr txBox="1"/>
          <p:nvPr/>
        </p:nvSpPr>
        <p:spPr>
          <a:xfrm>
            <a:off x="294613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3054821" cy="194310"/>
          </a:xfrm>
          <a:prstGeom prst="rect">
            <a:avLst/>
          </a:prstGeom>
          <a:noFill/>
        </p:spPr>
        <p:txBody>
          <a:bodyPr wrap="none" lIns="0" rIns="0" tIns="0" bIns="0">
            <a:spAutoFit/>
          </a:bodyPr>
          <a:lstStyle/>
          <a:p>
            <a:r>
              <a:rPr sz="1150" b="0">
                <a:solidFill>
                  <a:srgbClr val="2E2E2E"/>
                </a:solidFill>
                <a:latin typeface="Calibri"/>
              </a:rPr>
              <a:t>▪ Share shifts toward 'Savoury Muffins Flavours' (+</a:t>
            </a:r>
          </a:p>
        </p:txBody>
      </p:sp>
      <p:pic>
        <p:nvPicPr>
          <p:cNvPr id="30" name="Picture 29" descr="lock.png"/>
          <p:cNvPicPr>
            <a:picLocks noChangeAspect="1"/>
          </p:cNvPicPr>
          <p:nvPr/>
        </p:nvPicPr>
        <p:blipFill>
          <a:blip r:embed="rId4"/>
          <a:stretch>
            <a:fillRect/>
          </a:stretch>
        </p:blipFill>
        <p:spPr>
          <a:xfrm>
            <a:off x="3280200" y="3436302"/>
            <a:ext cx="134549" cy="195707"/>
          </a:xfrm>
          <a:prstGeom prst="rect">
            <a:avLst/>
          </a:prstGeom>
        </p:spPr>
      </p:pic>
      <p:sp>
        <p:nvSpPr>
          <p:cNvPr id="31" name="TextBox 30"/>
          <p:cNvSpPr txBox="1"/>
          <p:nvPr/>
        </p:nvSpPr>
        <p:spPr>
          <a:xfrm>
            <a:off x="3455309" y="3446525"/>
            <a:ext cx="2873114" cy="194310"/>
          </a:xfrm>
          <a:prstGeom prst="rect">
            <a:avLst/>
          </a:prstGeom>
          <a:noFill/>
        </p:spPr>
        <p:txBody>
          <a:bodyPr wrap="none" lIns="0" rIns="0" tIns="0" bIns="0">
            <a:spAutoFit/>
          </a:bodyPr>
          <a:lstStyle/>
          <a:p>
            <a:r>
              <a:rPr sz="1150" b="0">
                <a:solidFill>
                  <a:srgbClr val="2E2E2E"/>
                </a:solidFill>
                <a:latin typeface="Calibri"/>
              </a:rPr>
              <a:t>BPS) and away from 'Sweet Muffins Flavours' (-</a:t>
            </a:r>
          </a:p>
        </p:txBody>
      </p:sp>
      <p:pic>
        <p:nvPicPr>
          <p:cNvPr id="32" name="Picture 31" descr="lock.png"/>
          <p:cNvPicPr>
            <a:picLocks noChangeAspect="1"/>
          </p:cNvPicPr>
          <p:nvPr/>
        </p:nvPicPr>
        <p:blipFill>
          <a:blip r:embed="rId4"/>
          <a:stretch>
            <a:fillRect/>
          </a:stretch>
        </p:blipFill>
        <p:spPr>
          <a:xfrm>
            <a:off x="6277577" y="3436302"/>
            <a:ext cx="134549" cy="195707"/>
          </a:xfrm>
          <a:prstGeom prst="rect">
            <a:avLst/>
          </a:prstGeom>
        </p:spPr>
      </p:pic>
      <p:sp>
        <p:nvSpPr>
          <p:cNvPr id="33" name="TextBox 32"/>
          <p:cNvSpPr txBox="1"/>
          <p:nvPr/>
        </p:nvSpPr>
        <p:spPr>
          <a:xfrm>
            <a:off x="6452687"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664140"/>
            <a:ext cx="134549" cy="195707"/>
          </a:xfrm>
          <a:prstGeom prst="rect">
            <a:avLst/>
          </a:prstGeom>
        </p:spPr>
      </p:pic>
      <p:sp>
        <p:nvSpPr>
          <p:cNvPr id="36" name="TextBox 35"/>
          <p:cNvSpPr txBox="1"/>
          <p:nvPr/>
        </p:nvSpPr>
        <p:spPr>
          <a:xfrm>
            <a:off x="1965143"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664140"/>
            <a:ext cx="134549" cy="195707"/>
          </a:xfrm>
          <a:prstGeom prst="rect">
            <a:avLst/>
          </a:prstGeom>
        </p:spPr>
      </p:pic>
      <p:sp>
        <p:nvSpPr>
          <p:cNvPr id="38" name="TextBox 37"/>
          <p:cNvSpPr txBox="1"/>
          <p:nvPr/>
        </p:nvSpPr>
        <p:spPr>
          <a:xfrm>
            <a:off x="2291688" y="36743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Flavour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Flavour,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Flavour (US$ Mn)</a:t>
            </a:r>
          </a:p>
        </p:txBody>
      </p:sp>
      <p:graphicFrame>
        <p:nvGraphicFramePr>
          <p:cNvPr id="13" name="Table 12"/>
          <p:cNvGraphicFramePr>
            <a:graphicFrameLocks noGrp="1"/>
          </p:cNvGraphicFramePr>
          <p:nvPr/>
        </p:nvGraphicFramePr>
        <p:xfrm>
          <a:off x="152400" y="1238250"/>
          <a:ext cx="11887208" cy="990600"/>
        </p:xfrm>
        <a:graphic>
          <a:graphicData uri="http://schemas.openxmlformats.org/drawingml/2006/table">
            <a:tbl>
              <a:tblPr>
                <a:tableStyleId>{5C22544A-7EE6-4342-B048-85BDC9FD1C3A}</a:tableStyleId>
              </a:tblPr>
              <a:tblGrid>
                <a:gridCol w="1757520"/>
                <a:gridCol w="595864"/>
                <a:gridCol w="595864"/>
                <a:gridCol w="595864"/>
                <a:gridCol w="595864"/>
                <a:gridCol w="595864"/>
                <a:gridCol w="595864"/>
                <a:gridCol w="595864"/>
                <a:gridCol w="595864"/>
                <a:gridCol w="595864"/>
                <a:gridCol w="595864"/>
                <a:gridCol w="595864"/>
                <a:gridCol w="595864"/>
                <a:gridCol w="595864"/>
                <a:gridCol w="595864"/>
                <a:gridCol w="595864"/>
                <a:gridCol w="595864"/>
                <a:gridCol w="595864"/>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Flavour</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88074" y="1589913"/>
            <a:ext cx="366712" cy="533400"/>
          </a:xfrm>
          <a:prstGeom prst="rect">
            <a:avLst/>
          </a:prstGeom>
        </p:spPr>
      </p:pic>
      <p:sp>
        <p:nvSpPr>
          <p:cNvPr id="21" name="TextBox 20"/>
          <p:cNvSpPr txBox="1"/>
          <p:nvPr/>
        </p:nvSpPr>
        <p:spPr>
          <a:xfrm>
            <a:off x="276225" y="2990850"/>
            <a:ext cx="3008610" cy="194310"/>
          </a:xfrm>
          <a:prstGeom prst="rect">
            <a:avLst/>
          </a:prstGeom>
          <a:noFill/>
        </p:spPr>
        <p:txBody>
          <a:bodyPr wrap="none" lIns="0" rIns="0" tIns="0" bIns="0">
            <a:spAutoFit/>
          </a:bodyPr>
          <a:lstStyle/>
          <a:p>
            <a:r>
              <a:rPr sz="1150" b="0">
                <a:solidFill>
                  <a:srgbClr val="2E2E2E"/>
                </a:solidFill>
                <a:latin typeface="Calibri"/>
              </a:rPr>
              <a:t>▪ 'Sweet Muffins Flavours' is the largest flavour at</a:t>
            </a:r>
          </a:p>
        </p:txBody>
      </p:sp>
      <p:pic>
        <p:nvPicPr>
          <p:cNvPr id="22" name="Picture 21" descr="lock.png"/>
          <p:cNvPicPr>
            <a:picLocks noChangeAspect="1"/>
          </p:cNvPicPr>
          <p:nvPr/>
        </p:nvPicPr>
        <p:blipFill>
          <a:blip r:embed="rId4"/>
          <a:stretch>
            <a:fillRect/>
          </a:stretch>
        </p:blipFill>
        <p:spPr>
          <a:xfrm>
            <a:off x="3233989" y="2980626"/>
            <a:ext cx="134549" cy="195707"/>
          </a:xfrm>
          <a:prstGeom prst="rect">
            <a:avLst/>
          </a:prstGeom>
        </p:spPr>
      </p:pic>
      <p:sp>
        <p:nvSpPr>
          <p:cNvPr id="23" name="TextBox 22"/>
          <p:cNvSpPr txBox="1"/>
          <p:nvPr/>
        </p:nvSpPr>
        <p:spPr>
          <a:xfrm>
            <a:off x="3409098"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15031" y="2980626"/>
            <a:ext cx="134549" cy="195707"/>
          </a:xfrm>
          <a:prstGeom prst="rect">
            <a:avLst/>
          </a:prstGeom>
        </p:spPr>
      </p:pic>
      <p:sp>
        <p:nvSpPr>
          <p:cNvPr id="25" name="TextBox 24"/>
          <p:cNvSpPr txBox="1"/>
          <p:nvPr/>
        </p:nvSpPr>
        <p:spPr>
          <a:xfrm>
            <a:off x="4490140"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2545643" cy="194310"/>
          </a:xfrm>
          <a:prstGeom prst="rect">
            <a:avLst/>
          </a:prstGeom>
          <a:noFill/>
        </p:spPr>
        <p:txBody>
          <a:bodyPr wrap="none" lIns="0" rIns="0" tIns="0" bIns="0">
            <a:spAutoFit/>
          </a:bodyPr>
          <a:lstStyle/>
          <a:p>
            <a:r>
              <a:rPr sz="1150" b="0">
                <a:solidFill>
                  <a:srgbClr val="2E2E2E"/>
                </a:solidFill>
                <a:latin typeface="Calibri"/>
              </a:rPr>
              <a:t>▪ 'Savoury Muffins Flavours' grows fastest</a:t>
            </a:r>
          </a:p>
        </p:txBody>
      </p:sp>
      <p:pic>
        <p:nvPicPr>
          <p:cNvPr id="27" name="Picture 26" descr="lock.png"/>
          <p:cNvPicPr>
            <a:picLocks noChangeAspect="1"/>
          </p:cNvPicPr>
          <p:nvPr/>
        </p:nvPicPr>
        <p:blipFill>
          <a:blip r:embed="rId4"/>
          <a:stretch>
            <a:fillRect/>
          </a:stretch>
        </p:blipFill>
        <p:spPr>
          <a:xfrm>
            <a:off x="2771022" y="3208464"/>
            <a:ext cx="134549" cy="195707"/>
          </a:xfrm>
          <a:prstGeom prst="rect">
            <a:avLst/>
          </a:prstGeom>
        </p:spPr>
      </p:pic>
      <p:sp>
        <p:nvSpPr>
          <p:cNvPr id="28" name="TextBox 27"/>
          <p:cNvSpPr txBox="1"/>
          <p:nvPr/>
        </p:nvSpPr>
        <p:spPr>
          <a:xfrm>
            <a:off x="294613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3054821" cy="194310"/>
          </a:xfrm>
          <a:prstGeom prst="rect">
            <a:avLst/>
          </a:prstGeom>
          <a:noFill/>
        </p:spPr>
        <p:txBody>
          <a:bodyPr wrap="none" lIns="0" rIns="0" tIns="0" bIns="0">
            <a:spAutoFit/>
          </a:bodyPr>
          <a:lstStyle/>
          <a:p>
            <a:r>
              <a:rPr sz="1150" b="0">
                <a:solidFill>
                  <a:srgbClr val="2E2E2E"/>
                </a:solidFill>
                <a:latin typeface="Calibri"/>
              </a:rPr>
              <a:t>▪ Share shifts toward 'Savoury Muffins Flavours' (+</a:t>
            </a:r>
          </a:p>
        </p:txBody>
      </p:sp>
      <p:pic>
        <p:nvPicPr>
          <p:cNvPr id="30" name="Picture 29" descr="lock.png"/>
          <p:cNvPicPr>
            <a:picLocks noChangeAspect="1"/>
          </p:cNvPicPr>
          <p:nvPr/>
        </p:nvPicPr>
        <p:blipFill>
          <a:blip r:embed="rId4"/>
          <a:stretch>
            <a:fillRect/>
          </a:stretch>
        </p:blipFill>
        <p:spPr>
          <a:xfrm>
            <a:off x="3280200" y="3436302"/>
            <a:ext cx="134549" cy="195707"/>
          </a:xfrm>
          <a:prstGeom prst="rect">
            <a:avLst/>
          </a:prstGeom>
        </p:spPr>
      </p:pic>
      <p:sp>
        <p:nvSpPr>
          <p:cNvPr id="31" name="TextBox 30"/>
          <p:cNvSpPr txBox="1"/>
          <p:nvPr/>
        </p:nvSpPr>
        <p:spPr>
          <a:xfrm>
            <a:off x="3455309" y="3446525"/>
            <a:ext cx="2873114" cy="194310"/>
          </a:xfrm>
          <a:prstGeom prst="rect">
            <a:avLst/>
          </a:prstGeom>
          <a:noFill/>
        </p:spPr>
        <p:txBody>
          <a:bodyPr wrap="none" lIns="0" rIns="0" tIns="0" bIns="0">
            <a:spAutoFit/>
          </a:bodyPr>
          <a:lstStyle/>
          <a:p>
            <a:r>
              <a:rPr sz="1150" b="0">
                <a:solidFill>
                  <a:srgbClr val="2E2E2E"/>
                </a:solidFill>
                <a:latin typeface="Calibri"/>
              </a:rPr>
              <a:t>BPS) and away from 'Sweet Muffins Flavours' (-</a:t>
            </a:r>
          </a:p>
        </p:txBody>
      </p:sp>
      <p:pic>
        <p:nvPicPr>
          <p:cNvPr id="32" name="Picture 31" descr="lock.png"/>
          <p:cNvPicPr>
            <a:picLocks noChangeAspect="1"/>
          </p:cNvPicPr>
          <p:nvPr/>
        </p:nvPicPr>
        <p:blipFill>
          <a:blip r:embed="rId4"/>
          <a:stretch>
            <a:fillRect/>
          </a:stretch>
        </p:blipFill>
        <p:spPr>
          <a:xfrm>
            <a:off x="6277577" y="3436302"/>
            <a:ext cx="134549" cy="195707"/>
          </a:xfrm>
          <a:prstGeom prst="rect">
            <a:avLst/>
          </a:prstGeom>
        </p:spPr>
      </p:pic>
      <p:sp>
        <p:nvSpPr>
          <p:cNvPr id="33" name="TextBox 32"/>
          <p:cNvSpPr txBox="1"/>
          <p:nvPr/>
        </p:nvSpPr>
        <p:spPr>
          <a:xfrm>
            <a:off x="6452687"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Flavour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Flavour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70587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7011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6249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Savoury Muffins Flavours</a:t>
            </a:r>
          </a:p>
        </p:txBody>
      </p:sp>
      <p:sp>
        <p:nvSpPr>
          <p:cNvPr id="19" name="BPS Value 1"/>
          <p:cNvSpPr txBox="1"/>
          <p:nvPr/>
        </p:nvSpPr>
        <p:spPr>
          <a:xfrm>
            <a:off x="6896100" y="268682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9206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873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9111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Sweet Muffins Flavours</a:t>
            </a:r>
          </a:p>
        </p:txBody>
      </p:sp>
      <p:sp>
        <p:nvSpPr>
          <p:cNvPr id="23" name="BPS Value 2"/>
          <p:cNvSpPr txBox="1"/>
          <p:nvPr/>
        </p:nvSpPr>
        <p:spPr>
          <a:xfrm>
            <a:off x="6896100" y="497301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Flavour</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091904" cy="194310"/>
          </a:xfrm>
          <a:prstGeom prst="rect">
            <a:avLst/>
          </a:prstGeom>
          <a:noFill/>
        </p:spPr>
        <p:txBody>
          <a:bodyPr wrap="none" lIns="0" rIns="0" tIns="0" bIns="0">
            <a:spAutoFit/>
          </a:bodyPr>
          <a:lstStyle/>
          <a:p>
            <a:r>
              <a:rPr sz="1150" b="0">
                <a:solidFill>
                  <a:srgbClr val="2E2E2E"/>
                </a:solidFill>
                <a:latin typeface="Calibri"/>
              </a:rPr>
              <a:t>▪ 'Savoury Muffins Flavours' gains the most share +</a:t>
            </a:r>
          </a:p>
        </p:txBody>
      </p:sp>
      <p:pic>
        <p:nvPicPr>
          <p:cNvPr id="31" name="Picture 30" descr="lock.png"/>
          <p:cNvPicPr>
            <a:picLocks noChangeAspect="1"/>
          </p:cNvPicPr>
          <p:nvPr/>
        </p:nvPicPr>
        <p:blipFill>
          <a:blip r:embed="rId5"/>
          <a:stretch>
            <a:fillRect/>
          </a:stretch>
        </p:blipFill>
        <p:spPr>
          <a:xfrm>
            <a:off x="10870608" y="1389951"/>
            <a:ext cx="134549" cy="195707"/>
          </a:xfrm>
          <a:prstGeom prst="rect">
            <a:avLst/>
          </a:prstGeom>
        </p:spPr>
      </p:pic>
      <p:sp>
        <p:nvSpPr>
          <p:cNvPr id="32" name="TextBox 31"/>
          <p:cNvSpPr txBox="1"/>
          <p:nvPr/>
        </p:nvSpPr>
        <p:spPr>
          <a:xfrm>
            <a:off x="11045717"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3" name="TextBox 32"/>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630648" cy="194310"/>
          </a:xfrm>
          <a:prstGeom prst="rect">
            <a:avLst/>
          </a:prstGeom>
          <a:noFill/>
        </p:spPr>
        <p:txBody>
          <a:bodyPr wrap="none" lIns="0" rIns="0" tIns="0" bIns="0">
            <a:spAutoFit/>
          </a:bodyPr>
          <a:lstStyle/>
          <a:p>
            <a:r>
              <a:rPr sz="1150" b="0">
                <a:solidFill>
                  <a:srgbClr val="2E2E2E"/>
                </a:solidFill>
                <a:latin typeface="Calibri"/>
              </a:rPr>
              <a:t>▪ 'Sweet Muffins Flavours' cedes the most -</a:t>
            </a:r>
          </a:p>
        </p:txBody>
      </p:sp>
      <p:pic>
        <p:nvPicPr>
          <p:cNvPr id="35" name="Picture 34" descr="lock.png"/>
          <p:cNvPicPr>
            <a:picLocks noChangeAspect="1"/>
          </p:cNvPicPr>
          <p:nvPr/>
        </p:nvPicPr>
        <p:blipFill>
          <a:blip r:embed="rId5"/>
          <a:stretch>
            <a:fillRect/>
          </a:stretch>
        </p:blipFill>
        <p:spPr>
          <a:xfrm>
            <a:off x="10409352" y="1793049"/>
            <a:ext cx="134549" cy="195707"/>
          </a:xfrm>
          <a:prstGeom prst="rect">
            <a:avLst/>
          </a:prstGeom>
        </p:spPr>
      </p:pic>
      <p:sp>
        <p:nvSpPr>
          <p:cNvPr id="36" name="TextBox 35"/>
          <p:cNvSpPr txBox="1"/>
          <p:nvPr/>
        </p:nvSpPr>
        <p:spPr>
          <a:xfrm>
            <a:off x="10584461"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37" name="TextBox 36"/>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638736" cy="194310"/>
          </a:xfrm>
          <a:prstGeom prst="rect">
            <a:avLst/>
          </a:prstGeom>
          <a:noFill/>
        </p:spPr>
        <p:txBody>
          <a:bodyPr wrap="none" lIns="0" rIns="0" tIns="0" bIns="0">
            <a:spAutoFit/>
          </a:bodyPr>
          <a:lstStyle/>
          <a:p>
            <a:r>
              <a:rPr sz="1150" b="0">
                <a:solidFill>
                  <a:srgbClr val="2E2E2E"/>
                </a:solidFill>
                <a:latin typeface="Calibri"/>
              </a:rPr>
              <a:t>▪ 'Savoury Muffins Flavours' is the fastest-growing flavour at</a:t>
            </a:r>
          </a:p>
        </p:txBody>
      </p:sp>
      <p:pic>
        <p:nvPicPr>
          <p:cNvPr id="39" name="Picture 38" descr="lock.png"/>
          <p:cNvPicPr>
            <a:picLocks noChangeAspect="1"/>
          </p:cNvPicPr>
          <p:nvPr/>
        </p:nvPicPr>
        <p:blipFill>
          <a:blip r:embed="rId5"/>
          <a:stretch>
            <a:fillRect/>
          </a:stretch>
        </p:blipFill>
        <p:spPr>
          <a:xfrm>
            <a:off x="11417439" y="2196147"/>
            <a:ext cx="134549" cy="195707"/>
          </a:xfrm>
          <a:prstGeom prst="rect">
            <a:avLst/>
          </a:prstGeom>
        </p:spPr>
      </p:pic>
      <p:sp>
        <p:nvSpPr>
          <p:cNvPr id="40" name="TextBox 39"/>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Flavour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Flavour,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Flavour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 Flavours</a:t>
            </a:r>
          </a:p>
        </p:txBody>
      </p:sp>
      <p:sp>
        <p:nvSpPr>
          <p:cNvPr id="33" name="Rectangle 32"/>
          <p:cNvSpPr/>
          <p:nvPr/>
        </p:nvSpPr>
        <p:spPr>
          <a:xfrm>
            <a:off x="185737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 Flavours</a:t>
            </a:r>
          </a:p>
        </p:txBody>
      </p:sp>
      <p:sp>
        <p:nvSpPr>
          <p:cNvPr id="49" name="Rectangle 48"/>
          <p:cNvSpPr/>
          <p:nvPr/>
        </p:nvSpPr>
        <p:spPr>
          <a:xfrm>
            <a:off x="1857375" y="4662488"/>
            <a:ext cx="643890" cy="190976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87778" y="1482090"/>
            <a:ext cx="330041" cy="480060"/>
          </a:xfrm>
          <a:prstGeom prst="rect">
            <a:avLst/>
          </a:prstGeom>
        </p:spPr>
      </p:pic>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Flavour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Flavour,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Flavour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 Flavours</a:t>
            </a:r>
          </a:p>
        </p:txBody>
      </p:sp>
      <p:sp>
        <p:nvSpPr>
          <p:cNvPr id="33" name="Rectangle 32"/>
          <p:cNvSpPr/>
          <p:nvPr/>
        </p:nvSpPr>
        <p:spPr>
          <a:xfrm>
            <a:off x="185737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 Flavours</a:t>
            </a:r>
          </a:p>
        </p:txBody>
      </p:sp>
      <p:sp>
        <p:nvSpPr>
          <p:cNvPr id="49" name="Rectangle 48"/>
          <p:cNvSpPr/>
          <p:nvPr/>
        </p:nvSpPr>
        <p:spPr>
          <a:xfrm>
            <a:off x="1857375" y="4662488"/>
            <a:ext cx="643890" cy="190976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87778" y="1482090"/>
            <a:ext cx="330041" cy="480060"/>
          </a:xfrm>
          <a:prstGeom prst="rect">
            <a:avLst/>
          </a:prstGeom>
        </p:spPr>
      </p:pic>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Flour Base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Flour Base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Flour Base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Primary Flour Base,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Flour Base segment categorizes the market by primary flour base.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Oat-based</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Rice-based</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Wheat-based</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Corn-based</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Flour Base split shows how demand is distributed across primary flour base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714_2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_243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7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637_8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830_2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7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631_8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948_1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551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753_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80158" cy="186689"/>
          </a:xfrm>
          <a:prstGeom prst="rect">
            <a:avLst/>
          </a:prstGeom>
          <a:noFill/>
        </p:spPr>
        <p:txBody>
          <a:bodyPr wrap="none" lIns="0" rIns="0" tIns="0" bIns="0">
            <a:spAutoFit/>
          </a:bodyPr>
          <a:lstStyle/>
          <a:p>
            <a:r>
              <a:rPr sz="1100" b="0">
                <a:solidFill>
                  <a:srgbClr val="2E2E2E"/>
                </a:solidFill>
                <a:latin typeface="Calibri"/>
              </a:rPr>
              <a:t>▪ 'Oat-based' holds the largest share in 2026</a:t>
            </a:r>
          </a:p>
        </p:txBody>
      </p:sp>
      <p:pic>
        <p:nvPicPr>
          <p:cNvPr id="81" name="Picture 80" descr="lock.png"/>
          <p:cNvPicPr>
            <a:picLocks noChangeAspect="1"/>
          </p:cNvPicPr>
          <p:nvPr/>
        </p:nvPicPr>
        <p:blipFill>
          <a:blip r:embed="rId16"/>
          <a:stretch>
            <a:fillRect/>
          </a:stretch>
        </p:blipFill>
        <p:spPr>
          <a:xfrm>
            <a:off x="3013985"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'Millet-based' is the fastest-growing sub-segment</a:t>
            </a:r>
          </a:p>
        </p:txBody>
      </p:sp>
      <p:sp>
        <p:nvSpPr>
          <p:cNvPr id="84" name="TextBox 83"/>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85" name="Picture 84" descr="lock.png"/>
          <p:cNvPicPr>
            <a:picLocks noChangeAspect="1"/>
          </p:cNvPicPr>
          <p:nvPr/>
        </p:nvPicPr>
        <p:blipFill>
          <a:blip r:embed="rId16"/>
          <a:stretch>
            <a:fillRect/>
          </a:stretch>
        </p:blipFill>
        <p:spPr>
          <a:xfrm>
            <a:off x="623805" y="4772870"/>
            <a:ext cx="128699" cy="187198"/>
          </a:xfrm>
          <a:prstGeom prst="rect">
            <a:avLst/>
          </a:prstGeom>
        </p:spPr>
      </p:pic>
      <p:sp>
        <p:nvSpPr>
          <p:cNvPr id="86" name="TextBox 85"/>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868290" cy="186689"/>
          </a:xfrm>
          <a:prstGeom prst="rect">
            <a:avLst/>
          </a:prstGeom>
          <a:noFill/>
        </p:spPr>
        <p:txBody>
          <a:bodyPr wrap="none" lIns="0" rIns="0" tIns="0" bIns="0">
            <a:spAutoFit/>
          </a:bodyPr>
          <a:lstStyle/>
          <a:p>
            <a:r>
              <a:rPr sz="1100" b="0">
                <a:solidFill>
                  <a:srgbClr val="2E2E2E"/>
                </a:solidFill>
                <a:latin typeface="Calibri"/>
              </a:rPr>
              <a:t>▪ 8 sub-segments make up the primary flour base</a:t>
            </a:r>
          </a:p>
        </p:txBody>
      </p:sp>
      <p:sp>
        <p:nvSpPr>
          <p:cNvPr id="94" name="TextBox 9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5" name="TextBox 94"/>
          <p:cNvSpPr txBox="1"/>
          <p:nvPr/>
        </p:nvSpPr>
        <p:spPr>
          <a:xfrm>
            <a:off x="3838575" y="4229437"/>
            <a:ext cx="816446" cy="186689"/>
          </a:xfrm>
          <a:prstGeom prst="rect">
            <a:avLst/>
          </a:prstGeom>
          <a:noFill/>
        </p:spPr>
        <p:txBody>
          <a:bodyPr wrap="none" lIns="0" rIns="0" tIns="0" bIns="0">
            <a:spAutoFit/>
          </a:bodyPr>
          <a:lstStyle/>
          <a:p>
            <a:r>
              <a:rPr sz="1100" b="0">
                <a:solidFill>
                  <a:srgbClr val="2E2E2E"/>
                </a:solidFill>
                <a:latin typeface="Calibri"/>
              </a:rPr>
              <a:t>● Oat-based:</a:t>
            </a:r>
          </a:p>
        </p:txBody>
      </p:sp>
      <p:pic>
        <p:nvPicPr>
          <p:cNvPr id="96" name="Picture 95" descr="lock.png"/>
          <p:cNvPicPr>
            <a:picLocks noChangeAspect="1"/>
          </p:cNvPicPr>
          <p:nvPr/>
        </p:nvPicPr>
        <p:blipFill>
          <a:blip r:embed="rId16"/>
          <a:stretch>
            <a:fillRect/>
          </a:stretch>
        </p:blipFill>
        <p:spPr>
          <a:xfrm>
            <a:off x="4603072" y="4219658"/>
            <a:ext cx="128699" cy="187198"/>
          </a:xfrm>
          <a:prstGeom prst="rect">
            <a:avLst/>
          </a:prstGeom>
        </p:spPr>
      </p:pic>
      <p:sp>
        <p:nvSpPr>
          <p:cNvPr id="97" name="TextBox 96"/>
          <p:cNvSpPr txBox="1"/>
          <p:nvPr/>
        </p:nvSpPr>
        <p:spPr>
          <a:xfrm>
            <a:off x="477056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5630018" y="4219658"/>
            <a:ext cx="128699" cy="187198"/>
          </a:xfrm>
          <a:prstGeom prst="rect">
            <a:avLst/>
          </a:prstGeom>
        </p:spPr>
      </p:pic>
      <p:sp>
        <p:nvSpPr>
          <p:cNvPr id="99" name="TextBox 98"/>
          <p:cNvSpPr txBox="1"/>
          <p:nvPr/>
        </p:nvSpPr>
        <p:spPr>
          <a:xfrm>
            <a:off x="5797514"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847005" cy="186689"/>
          </a:xfrm>
          <a:prstGeom prst="rect">
            <a:avLst/>
          </a:prstGeom>
          <a:noFill/>
        </p:spPr>
        <p:txBody>
          <a:bodyPr wrap="none" lIns="0" rIns="0" tIns="0" bIns="0">
            <a:spAutoFit/>
          </a:bodyPr>
          <a:lstStyle/>
          <a:p>
            <a:r>
              <a:rPr sz="1100" b="0">
                <a:solidFill>
                  <a:srgbClr val="2E2E2E"/>
                </a:solidFill>
                <a:latin typeface="Calibri"/>
              </a:rPr>
              <a:t>● Rice-based:</a:t>
            </a:r>
          </a:p>
        </p:txBody>
      </p:sp>
      <p:pic>
        <p:nvPicPr>
          <p:cNvPr id="101" name="Picture 100" descr="lock.png"/>
          <p:cNvPicPr>
            <a:picLocks noChangeAspect="1"/>
          </p:cNvPicPr>
          <p:nvPr/>
        </p:nvPicPr>
        <p:blipFill>
          <a:blip r:embed="rId16"/>
          <a:stretch>
            <a:fillRect/>
          </a:stretch>
        </p:blipFill>
        <p:spPr>
          <a:xfrm>
            <a:off x="4633632" y="4437590"/>
            <a:ext cx="128699" cy="187198"/>
          </a:xfrm>
          <a:prstGeom prst="rect">
            <a:avLst/>
          </a:prstGeom>
        </p:spPr>
      </p:pic>
      <p:sp>
        <p:nvSpPr>
          <p:cNvPr id="102" name="TextBox 101"/>
          <p:cNvSpPr txBox="1"/>
          <p:nvPr/>
        </p:nvSpPr>
        <p:spPr>
          <a:xfrm>
            <a:off x="4801128"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5660578" y="4437590"/>
            <a:ext cx="128699" cy="187198"/>
          </a:xfrm>
          <a:prstGeom prst="rect">
            <a:avLst/>
          </a:prstGeom>
        </p:spPr>
      </p:pic>
      <p:sp>
        <p:nvSpPr>
          <p:cNvPr id="104" name="TextBox 103"/>
          <p:cNvSpPr txBox="1"/>
          <p:nvPr/>
        </p:nvSpPr>
        <p:spPr>
          <a:xfrm>
            <a:off x="5828074"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991344" cy="186689"/>
          </a:xfrm>
          <a:prstGeom prst="rect">
            <a:avLst/>
          </a:prstGeom>
          <a:noFill/>
        </p:spPr>
        <p:txBody>
          <a:bodyPr wrap="none" lIns="0" rIns="0" tIns="0" bIns="0">
            <a:spAutoFit/>
          </a:bodyPr>
          <a:lstStyle/>
          <a:p>
            <a:r>
              <a:rPr sz="1100" b="0">
                <a:solidFill>
                  <a:srgbClr val="2E2E2E"/>
                </a:solidFill>
                <a:latin typeface="Calibri"/>
              </a:rPr>
              <a:t>● Wheat-based:</a:t>
            </a:r>
          </a:p>
        </p:txBody>
      </p:sp>
      <p:pic>
        <p:nvPicPr>
          <p:cNvPr id="106" name="Picture 105" descr="lock.png"/>
          <p:cNvPicPr>
            <a:picLocks noChangeAspect="1"/>
          </p:cNvPicPr>
          <p:nvPr/>
        </p:nvPicPr>
        <p:blipFill>
          <a:blip r:embed="rId16"/>
          <a:stretch>
            <a:fillRect/>
          </a:stretch>
        </p:blipFill>
        <p:spPr>
          <a:xfrm>
            <a:off x="4777970" y="4655522"/>
            <a:ext cx="128699" cy="187198"/>
          </a:xfrm>
          <a:prstGeom prst="rect">
            <a:avLst/>
          </a:prstGeom>
        </p:spPr>
      </p:pic>
      <p:sp>
        <p:nvSpPr>
          <p:cNvPr id="107" name="TextBox 106"/>
          <p:cNvSpPr txBox="1"/>
          <p:nvPr/>
        </p:nvSpPr>
        <p:spPr>
          <a:xfrm>
            <a:off x="494546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804916" y="4655522"/>
            <a:ext cx="128699" cy="187198"/>
          </a:xfrm>
          <a:prstGeom prst="rect">
            <a:avLst/>
          </a:prstGeom>
        </p:spPr>
      </p:pic>
      <p:sp>
        <p:nvSpPr>
          <p:cNvPr id="109" name="TextBox 108"/>
          <p:cNvSpPr txBox="1"/>
          <p:nvPr/>
        </p:nvSpPr>
        <p:spPr>
          <a:xfrm>
            <a:off x="5972412"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0" name="TextBox 109"/>
          <p:cNvSpPr txBox="1"/>
          <p:nvPr/>
        </p:nvSpPr>
        <p:spPr>
          <a:xfrm>
            <a:off x="3838575" y="4883233"/>
            <a:ext cx="880566" cy="186689"/>
          </a:xfrm>
          <a:prstGeom prst="rect">
            <a:avLst/>
          </a:prstGeom>
          <a:noFill/>
        </p:spPr>
        <p:txBody>
          <a:bodyPr wrap="none" lIns="0" rIns="0" tIns="0" bIns="0">
            <a:spAutoFit/>
          </a:bodyPr>
          <a:lstStyle/>
          <a:p>
            <a:r>
              <a:rPr sz="1100" b="0">
                <a:solidFill>
                  <a:srgbClr val="2E2E2E"/>
                </a:solidFill>
                <a:latin typeface="Calibri"/>
              </a:rPr>
              <a:t>● Corn-based:</a:t>
            </a:r>
          </a:p>
        </p:txBody>
      </p:sp>
      <p:pic>
        <p:nvPicPr>
          <p:cNvPr id="111" name="Picture 110" descr="lock.png"/>
          <p:cNvPicPr>
            <a:picLocks noChangeAspect="1"/>
          </p:cNvPicPr>
          <p:nvPr/>
        </p:nvPicPr>
        <p:blipFill>
          <a:blip r:embed="rId16"/>
          <a:stretch>
            <a:fillRect/>
          </a:stretch>
        </p:blipFill>
        <p:spPr>
          <a:xfrm>
            <a:off x="4667193" y="4873454"/>
            <a:ext cx="128699" cy="187198"/>
          </a:xfrm>
          <a:prstGeom prst="rect">
            <a:avLst/>
          </a:prstGeom>
        </p:spPr>
      </p:pic>
      <p:sp>
        <p:nvSpPr>
          <p:cNvPr id="112" name="TextBox 111"/>
          <p:cNvSpPr txBox="1"/>
          <p:nvPr/>
        </p:nvSpPr>
        <p:spPr>
          <a:xfrm>
            <a:off x="4834688"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5694139" y="4873454"/>
            <a:ext cx="128699" cy="187198"/>
          </a:xfrm>
          <a:prstGeom prst="rect">
            <a:avLst/>
          </a:prstGeom>
        </p:spPr>
      </p:pic>
      <p:sp>
        <p:nvSpPr>
          <p:cNvPr id="114" name="TextBox 113"/>
          <p:cNvSpPr txBox="1"/>
          <p:nvPr/>
        </p:nvSpPr>
        <p:spPr>
          <a:xfrm>
            <a:off x="5861634"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5" name="TextBox 114"/>
          <p:cNvSpPr txBox="1"/>
          <p:nvPr/>
        </p:nvSpPr>
        <p:spPr>
          <a:xfrm>
            <a:off x="8524875" y="5842641"/>
            <a:ext cx="2937867" cy="194310"/>
          </a:xfrm>
          <a:prstGeom prst="rect">
            <a:avLst/>
          </a:prstGeom>
          <a:noFill/>
        </p:spPr>
        <p:txBody>
          <a:bodyPr wrap="none" lIns="0" rIns="0" tIns="0" bIns="0">
            <a:spAutoFit/>
          </a:bodyPr>
          <a:lstStyle/>
          <a:p>
            <a:r>
              <a:rPr sz="1150" b="1">
                <a:solidFill>
                  <a:srgbClr val="0B2E4A"/>
                </a:solidFill>
                <a:latin typeface="Calibri"/>
              </a:rPr>
              <a:t>The Primary Flour Base segment is projected to</a:t>
            </a:r>
          </a:p>
        </p:txBody>
      </p:sp>
      <p:sp>
        <p:nvSpPr>
          <p:cNvPr id="116" name="TextBox 11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7" name="Picture 116" descr="lock.png"/>
          <p:cNvPicPr>
            <a:picLocks noChangeAspect="1"/>
          </p:cNvPicPr>
          <p:nvPr/>
        </p:nvPicPr>
        <p:blipFill>
          <a:blip r:embed="rId16"/>
          <a:stretch>
            <a:fillRect/>
          </a:stretch>
        </p:blipFill>
        <p:spPr>
          <a:xfrm>
            <a:off x="9651852" y="6007677"/>
            <a:ext cx="134549" cy="195707"/>
          </a:xfrm>
          <a:prstGeom prst="rect">
            <a:avLst/>
          </a:prstGeom>
        </p:spPr>
      </p:pic>
      <p:sp>
        <p:nvSpPr>
          <p:cNvPr id="118" name="TextBox 11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Flour Base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Primary Flour Base,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Flour Base segment categorizes the market by primary flour base.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single-flour bases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Multigrain and blended flour bases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Millet-based</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Almond and other nut flour-based</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450_9_605E5C.png"/>
          <p:cNvPicPr>
            <a:picLocks noChangeAspect="1"/>
          </p:cNvPicPr>
          <p:nvPr/>
        </p:nvPicPr>
        <p:blipFill>
          <a:blip r:embed="rId4"/>
          <a:stretch>
            <a:fillRect/>
          </a:stretch>
        </p:blipFill>
        <p:spPr>
          <a:xfrm>
            <a:off x="2476330" y="2286582"/>
            <a:ext cx="1195728" cy="361950"/>
          </a:xfrm>
          <a:prstGeom prst="rect">
            <a:avLst/>
          </a:prstGeom>
        </p:spPr>
      </p:pic>
      <p:pic>
        <p:nvPicPr>
          <p:cNvPr id="54" name="Picture 53" descr="713_0_605E5C.png"/>
          <p:cNvPicPr>
            <a:picLocks noChangeAspect="1"/>
          </p:cNvPicPr>
          <p:nvPr/>
        </p:nvPicPr>
        <p:blipFill>
          <a:blip r:embed="rId5"/>
          <a:stretch>
            <a:fillRect/>
          </a:stretch>
        </p:blipFill>
        <p:spPr>
          <a:xfrm>
            <a:off x="2476330" y="2779432"/>
            <a:ext cx="1195728" cy="361950"/>
          </a:xfrm>
          <a:prstGeom prst="rect">
            <a:avLst/>
          </a:prstGeom>
        </p:spPr>
      </p:pic>
      <p:pic>
        <p:nvPicPr>
          <p:cNvPr id="55" name="Picture 54" descr="4_7__605E5C.png"/>
          <p:cNvPicPr>
            <a:picLocks noChangeAspect="1"/>
          </p:cNvPicPr>
          <p:nvPr/>
        </p:nvPicPr>
        <p:blipFill>
          <a:blip r:embed="rId6"/>
          <a:stretch>
            <a:fillRect/>
          </a:stretch>
        </p:blipFill>
        <p:spPr>
          <a:xfrm>
            <a:off x="2582976" y="3272281"/>
            <a:ext cx="982436" cy="361950"/>
          </a:xfrm>
          <a:prstGeom prst="rect">
            <a:avLst/>
          </a:prstGeom>
        </p:spPr>
      </p:pic>
      <p:pic>
        <p:nvPicPr>
          <p:cNvPr id="56" name="Picture 55" descr="258_8_605E5C.png"/>
          <p:cNvPicPr>
            <a:picLocks noChangeAspect="1"/>
          </p:cNvPicPr>
          <p:nvPr/>
        </p:nvPicPr>
        <p:blipFill>
          <a:blip r:embed="rId7"/>
          <a:stretch>
            <a:fillRect/>
          </a:stretch>
        </p:blipFill>
        <p:spPr>
          <a:xfrm>
            <a:off x="5005218" y="2286582"/>
            <a:ext cx="1195728" cy="361950"/>
          </a:xfrm>
          <a:prstGeom prst="rect">
            <a:avLst/>
          </a:prstGeom>
        </p:spPr>
      </p:pic>
      <p:pic>
        <p:nvPicPr>
          <p:cNvPr id="57" name="Picture 56" descr="276_3_605E5C.png"/>
          <p:cNvPicPr>
            <a:picLocks noChangeAspect="1"/>
          </p:cNvPicPr>
          <p:nvPr/>
        </p:nvPicPr>
        <p:blipFill>
          <a:blip r:embed="rId8"/>
          <a:stretch>
            <a:fillRect/>
          </a:stretch>
        </p:blipFill>
        <p:spPr>
          <a:xfrm>
            <a:off x="5005218" y="2779432"/>
            <a:ext cx="1195728" cy="361950"/>
          </a:xfrm>
          <a:prstGeom prst="rect">
            <a:avLst/>
          </a:prstGeom>
        </p:spPr>
      </p:pic>
      <p:pic>
        <p:nvPicPr>
          <p:cNvPr id="58" name="Picture 57" descr="0_7__605E5C.png"/>
          <p:cNvPicPr>
            <a:picLocks noChangeAspect="1"/>
          </p:cNvPicPr>
          <p:nvPr/>
        </p:nvPicPr>
        <p:blipFill>
          <a:blip r:embed="rId9"/>
          <a:stretch>
            <a:fillRect/>
          </a:stretch>
        </p:blipFill>
        <p:spPr>
          <a:xfrm>
            <a:off x="5111864" y="3272281"/>
            <a:ext cx="982436" cy="361950"/>
          </a:xfrm>
          <a:prstGeom prst="rect">
            <a:avLst/>
          </a:prstGeom>
        </p:spPr>
      </p:pic>
      <p:pic>
        <p:nvPicPr>
          <p:cNvPr id="59" name="Picture 58" descr="243_2_605E5C.png"/>
          <p:cNvPicPr>
            <a:picLocks noChangeAspect="1"/>
          </p:cNvPicPr>
          <p:nvPr/>
        </p:nvPicPr>
        <p:blipFill>
          <a:blip r:embed="rId10"/>
          <a:stretch>
            <a:fillRect/>
          </a:stretch>
        </p:blipFill>
        <p:spPr>
          <a:xfrm>
            <a:off x="7534105" y="2286582"/>
            <a:ext cx="1195728" cy="361950"/>
          </a:xfrm>
          <a:prstGeom prst="rect">
            <a:avLst/>
          </a:prstGeom>
        </p:spPr>
      </p:pic>
      <p:pic>
        <p:nvPicPr>
          <p:cNvPr id="60" name="Picture 59" descr="425_4_605E5C.png"/>
          <p:cNvPicPr>
            <a:picLocks noChangeAspect="1"/>
          </p:cNvPicPr>
          <p:nvPr/>
        </p:nvPicPr>
        <p:blipFill>
          <a:blip r:embed="rId11"/>
          <a:stretch>
            <a:fillRect/>
          </a:stretch>
        </p:blipFill>
        <p:spPr>
          <a:xfrm>
            <a:off x="7534105" y="2779432"/>
            <a:ext cx="1195728" cy="361950"/>
          </a:xfrm>
          <a:prstGeom prst="rect">
            <a:avLst/>
          </a:prstGeom>
        </p:spPr>
      </p:pic>
      <p:pic>
        <p:nvPicPr>
          <p:cNvPr id="61" name="Picture 60" descr="5_8__605E5C.png"/>
          <p:cNvPicPr>
            <a:picLocks noChangeAspect="1"/>
          </p:cNvPicPr>
          <p:nvPr/>
        </p:nvPicPr>
        <p:blipFill>
          <a:blip r:embed="rId12"/>
          <a:stretch>
            <a:fillRect/>
          </a:stretch>
        </p:blipFill>
        <p:spPr>
          <a:xfrm>
            <a:off x="7640751" y="3272281"/>
            <a:ext cx="982436" cy="361950"/>
          </a:xfrm>
          <a:prstGeom prst="rect">
            <a:avLst/>
          </a:prstGeom>
        </p:spPr>
      </p:pic>
      <p:pic>
        <p:nvPicPr>
          <p:cNvPr id="62" name="Picture 61" descr="109_0_605E5C.png"/>
          <p:cNvPicPr>
            <a:picLocks noChangeAspect="1"/>
          </p:cNvPicPr>
          <p:nvPr/>
        </p:nvPicPr>
        <p:blipFill>
          <a:blip r:embed="rId13"/>
          <a:stretch>
            <a:fillRect/>
          </a:stretch>
        </p:blipFill>
        <p:spPr>
          <a:xfrm>
            <a:off x="10062992" y="2286582"/>
            <a:ext cx="1195728" cy="361950"/>
          </a:xfrm>
          <a:prstGeom prst="rect">
            <a:avLst/>
          </a:prstGeom>
        </p:spPr>
      </p:pic>
      <p:pic>
        <p:nvPicPr>
          <p:cNvPr id="63" name="Picture 62" descr="164_0_605E5C.png"/>
          <p:cNvPicPr>
            <a:picLocks noChangeAspect="1"/>
          </p:cNvPicPr>
          <p:nvPr/>
        </p:nvPicPr>
        <p:blipFill>
          <a:blip r:embed="rId14"/>
          <a:stretch>
            <a:fillRect/>
          </a:stretch>
        </p:blipFill>
        <p:spPr>
          <a:xfrm>
            <a:off x="10062992" y="2779432"/>
            <a:ext cx="1195728" cy="361950"/>
          </a:xfrm>
          <a:prstGeom prst="rect">
            <a:avLst/>
          </a:prstGeom>
        </p:spPr>
      </p:pic>
      <p:pic>
        <p:nvPicPr>
          <p:cNvPr id="64" name="Picture 63" descr="4_2__605E5C.png"/>
          <p:cNvPicPr>
            <a:picLocks noChangeAspect="1"/>
          </p:cNvPicPr>
          <p:nvPr/>
        </p:nvPicPr>
        <p:blipFill>
          <a:blip r:embed="rId15"/>
          <a:stretch>
            <a:fillRect/>
          </a:stretch>
        </p:blipFill>
        <p:spPr>
          <a:xfrm>
            <a:off x="10169638" y="3272281"/>
            <a:ext cx="982436" cy="361950"/>
          </a:xfrm>
          <a:prstGeom prst="rect">
            <a:avLst/>
          </a:prstGeom>
        </p:spPr>
      </p:pic>
      <p:pic>
        <p:nvPicPr>
          <p:cNvPr id="65" name="Picture 64" descr="lock.png"/>
          <p:cNvPicPr>
            <a:picLocks noChangeAspect="1"/>
          </p:cNvPicPr>
          <p:nvPr/>
        </p:nvPicPr>
        <p:blipFill>
          <a:blip r:embed="rId16"/>
          <a:stretch>
            <a:fillRect/>
          </a:stretch>
        </p:blipFill>
        <p:spPr>
          <a:xfrm>
            <a:off x="2980848" y="2827057"/>
            <a:ext cx="183356" cy="266700"/>
          </a:xfrm>
          <a:prstGeom prst="rect">
            <a:avLst/>
          </a:prstGeom>
        </p:spPr>
      </p:pic>
      <p:pic>
        <p:nvPicPr>
          <p:cNvPr id="66" name="Picture 65" descr="lock.png"/>
          <p:cNvPicPr>
            <a:picLocks noChangeAspect="1"/>
          </p:cNvPicPr>
          <p:nvPr/>
        </p:nvPicPr>
        <p:blipFill>
          <a:blip r:embed="rId16"/>
          <a:stretch>
            <a:fillRect/>
          </a:stretch>
        </p:blipFill>
        <p:spPr>
          <a:xfrm>
            <a:off x="5509737" y="2827057"/>
            <a:ext cx="183356" cy="266700"/>
          </a:xfrm>
          <a:prstGeom prst="rect">
            <a:avLst/>
          </a:prstGeom>
        </p:spPr>
      </p:pic>
      <p:pic>
        <p:nvPicPr>
          <p:cNvPr id="67" name="Picture 66" descr="lock.png"/>
          <p:cNvPicPr>
            <a:picLocks noChangeAspect="1"/>
          </p:cNvPicPr>
          <p:nvPr/>
        </p:nvPicPr>
        <p:blipFill>
          <a:blip r:embed="rId16"/>
          <a:stretch>
            <a:fillRect/>
          </a:stretch>
        </p:blipFill>
        <p:spPr>
          <a:xfrm>
            <a:off x="8038624" y="2827057"/>
            <a:ext cx="183356" cy="266700"/>
          </a:xfrm>
          <a:prstGeom prst="rect">
            <a:avLst/>
          </a:prstGeom>
        </p:spPr>
      </p:pic>
      <p:pic>
        <p:nvPicPr>
          <p:cNvPr id="68" name="Picture 67" descr="lock.png"/>
          <p:cNvPicPr>
            <a:picLocks noChangeAspect="1"/>
          </p:cNvPicPr>
          <p:nvPr/>
        </p:nvPicPr>
        <p:blipFill>
          <a:blip r:embed="rId16"/>
          <a:stretch>
            <a:fillRect/>
          </a:stretch>
        </p:blipFill>
        <p:spPr>
          <a:xfrm>
            <a:off x="10567511" y="2827057"/>
            <a:ext cx="183356" cy="266700"/>
          </a:xfrm>
          <a:prstGeom prst="rect">
            <a:avLst/>
          </a:prstGeom>
        </p:spPr>
      </p:pic>
      <p:sp>
        <p:nvSpPr>
          <p:cNvPr id="69" name="TextBox 68"/>
          <p:cNvSpPr txBox="1"/>
          <p:nvPr/>
        </p:nvSpPr>
        <p:spPr>
          <a:xfrm>
            <a:off x="485775" y="4229437"/>
            <a:ext cx="1584250" cy="186689"/>
          </a:xfrm>
          <a:prstGeom prst="rect">
            <a:avLst/>
          </a:prstGeom>
          <a:noFill/>
        </p:spPr>
        <p:txBody>
          <a:bodyPr wrap="none" lIns="0" rIns="0" tIns="0" bIns="0">
            <a:spAutoFit/>
          </a:bodyPr>
          <a:lstStyle/>
          <a:p>
            <a:r>
              <a:rPr sz="1100" b="0">
                <a:solidFill>
                  <a:srgbClr val="2E2E2E"/>
                </a:solidFill>
                <a:latin typeface="Calibri"/>
              </a:rPr>
              <a:t>● Other single-flour bases:</a:t>
            </a:r>
          </a:p>
        </p:txBody>
      </p:sp>
      <p:pic>
        <p:nvPicPr>
          <p:cNvPr id="70" name="Picture 69" descr="lock.png"/>
          <p:cNvPicPr>
            <a:picLocks noChangeAspect="1"/>
          </p:cNvPicPr>
          <p:nvPr/>
        </p:nvPicPr>
        <p:blipFill>
          <a:blip r:embed="rId16"/>
          <a:stretch>
            <a:fillRect/>
          </a:stretch>
        </p:blipFill>
        <p:spPr>
          <a:xfrm>
            <a:off x="2018077" y="4219658"/>
            <a:ext cx="128699" cy="187198"/>
          </a:xfrm>
          <a:prstGeom prst="rect">
            <a:avLst/>
          </a:prstGeom>
        </p:spPr>
      </p:pic>
      <p:sp>
        <p:nvSpPr>
          <p:cNvPr id="71" name="TextBox 70"/>
          <p:cNvSpPr txBox="1"/>
          <p:nvPr/>
        </p:nvSpPr>
        <p:spPr>
          <a:xfrm>
            <a:off x="218557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2" name="Picture 71" descr="lock.png"/>
          <p:cNvPicPr>
            <a:picLocks noChangeAspect="1"/>
          </p:cNvPicPr>
          <p:nvPr/>
        </p:nvPicPr>
        <p:blipFill>
          <a:blip r:embed="rId16"/>
          <a:stretch>
            <a:fillRect/>
          </a:stretch>
        </p:blipFill>
        <p:spPr>
          <a:xfrm>
            <a:off x="3045023" y="4219658"/>
            <a:ext cx="128699" cy="187198"/>
          </a:xfrm>
          <a:prstGeom prst="rect">
            <a:avLst/>
          </a:prstGeom>
        </p:spPr>
      </p:pic>
      <p:sp>
        <p:nvSpPr>
          <p:cNvPr id="73" name="TextBox 72"/>
          <p:cNvSpPr txBox="1"/>
          <p:nvPr/>
        </p:nvSpPr>
        <p:spPr>
          <a:xfrm>
            <a:off x="3212519"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4" name="TextBox 73"/>
          <p:cNvSpPr txBox="1"/>
          <p:nvPr/>
        </p:nvSpPr>
        <p:spPr>
          <a:xfrm>
            <a:off x="485775" y="4447369"/>
            <a:ext cx="2215629" cy="186689"/>
          </a:xfrm>
          <a:prstGeom prst="rect">
            <a:avLst/>
          </a:prstGeom>
          <a:noFill/>
        </p:spPr>
        <p:txBody>
          <a:bodyPr wrap="none" lIns="0" rIns="0" tIns="0" bIns="0">
            <a:spAutoFit/>
          </a:bodyPr>
          <a:lstStyle/>
          <a:p>
            <a:r>
              <a:rPr sz="1100" b="0">
                <a:solidFill>
                  <a:srgbClr val="2E2E2E"/>
                </a:solidFill>
                <a:latin typeface="Calibri"/>
              </a:rPr>
              <a:t>● Multigrain and blended flour bases:</a:t>
            </a:r>
          </a:p>
        </p:txBody>
      </p:sp>
      <p:pic>
        <p:nvPicPr>
          <p:cNvPr id="75" name="Picture 74" descr="lock.png"/>
          <p:cNvPicPr>
            <a:picLocks noChangeAspect="1"/>
          </p:cNvPicPr>
          <p:nvPr/>
        </p:nvPicPr>
        <p:blipFill>
          <a:blip r:embed="rId16"/>
          <a:stretch>
            <a:fillRect/>
          </a:stretch>
        </p:blipFill>
        <p:spPr>
          <a:xfrm>
            <a:off x="2649455" y="4437590"/>
            <a:ext cx="128699" cy="187198"/>
          </a:xfrm>
          <a:prstGeom prst="rect">
            <a:avLst/>
          </a:prstGeom>
        </p:spPr>
      </p:pic>
      <p:sp>
        <p:nvSpPr>
          <p:cNvPr id="76" name="TextBox 75"/>
          <p:cNvSpPr txBox="1"/>
          <p:nvPr/>
        </p:nvSpPr>
        <p:spPr>
          <a:xfrm>
            <a:off x="2816951"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6"/>
          <a:stretch>
            <a:fillRect/>
          </a:stretch>
        </p:blipFill>
        <p:spPr>
          <a:xfrm>
            <a:off x="3676401" y="4437590"/>
            <a:ext cx="128699" cy="187198"/>
          </a:xfrm>
          <a:prstGeom prst="rect">
            <a:avLst/>
          </a:prstGeom>
        </p:spPr>
      </p:pic>
      <p:sp>
        <p:nvSpPr>
          <p:cNvPr id="78" name="TextBox 77"/>
          <p:cNvSpPr txBox="1"/>
          <p:nvPr/>
        </p:nvSpPr>
        <p:spPr>
          <a:xfrm>
            <a:off x="3843897"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9" name="TextBox 78"/>
          <p:cNvSpPr txBox="1"/>
          <p:nvPr/>
        </p:nvSpPr>
        <p:spPr>
          <a:xfrm>
            <a:off x="485775" y="4665301"/>
            <a:ext cx="942776" cy="186689"/>
          </a:xfrm>
          <a:prstGeom prst="rect">
            <a:avLst/>
          </a:prstGeom>
          <a:noFill/>
        </p:spPr>
        <p:txBody>
          <a:bodyPr wrap="none" lIns="0" rIns="0" tIns="0" bIns="0">
            <a:spAutoFit/>
          </a:bodyPr>
          <a:lstStyle/>
          <a:p>
            <a:r>
              <a:rPr sz="1100" b="0">
                <a:solidFill>
                  <a:srgbClr val="2E2E2E"/>
                </a:solidFill>
                <a:latin typeface="Calibri"/>
              </a:rPr>
              <a:t>● Millet-based:</a:t>
            </a:r>
          </a:p>
        </p:txBody>
      </p:sp>
      <p:pic>
        <p:nvPicPr>
          <p:cNvPr id="80" name="Picture 79" descr="lock.png"/>
          <p:cNvPicPr>
            <a:picLocks noChangeAspect="1"/>
          </p:cNvPicPr>
          <p:nvPr/>
        </p:nvPicPr>
        <p:blipFill>
          <a:blip r:embed="rId16"/>
          <a:stretch>
            <a:fillRect/>
          </a:stretch>
        </p:blipFill>
        <p:spPr>
          <a:xfrm>
            <a:off x="1376603" y="4655522"/>
            <a:ext cx="128699" cy="187198"/>
          </a:xfrm>
          <a:prstGeom prst="rect">
            <a:avLst/>
          </a:prstGeom>
        </p:spPr>
      </p:pic>
      <p:sp>
        <p:nvSpPr>
          <p:cNvPr id="81" name="TextBox 80"/>
          <p:cNvSpPr txBox="1"/>
          <p:nvPr/>
        </p:nvSpPr>
        <p:spPr>
          <a:xfrm>
            <a:off x="154409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6"/>
          <a:stretch>
            <a:fillRect/>
          </a:stretch>
        </p:blipFill>
        <p:spPr>
          <a:xfrm>
            <a:off x="2403549" y="4655522"/>
            <a:ext cx="128699" cy="187198"/>
          </a:xfrm>
          <a:prstGeom prst="rect">
            <a:avLst/>
          </a:prstGeom>
        </p:spPr>
      </p:pic>
      <p:sp>
        <p:nvSpPr>
          <p:cNvPr id="83" name="TextBox 82"/>
          <p:cNvSpPr txBox="1"/>
          <p:nvPr/>
        </p:nvSpPr>
        <p:spPr>
          <a:xfrm>
            <a:off x="2571045"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4" name="TextBox 83"/>
          <p:cNvSpPr txBox="1"/>
          <p:nvPr/>
        </p:nvSpPr>
        <p:spPr>
          <a:xfrm>
            <a:off x="485775" y="4883233"/>
            <a:ext cx="2172245" cy="186689"/>
          </a:xfrm>
          <a:prstGeom prst="rect">
            <a:avLst/>
          </a:prstGeom>
          <a:noFill/>
        </p:spPr>
        <p:txBody>
          <a:bodyPr wrap="none" lIns="0" rIns="0" tIns="0" bIns="0">
            <a:spAutoFit/>
          </a:bodyPr>
          <a:lstStyle/>
          <a:p>
            <a:r>
              <a:rPr sz="1100" b="0">
                <a:solidFill>
                  <a:srgbClr val="2E2E2E"/>
                </a:solidFill>
                <a:latin typeface="Calibri"/>
              </a:rPr>
              <a:t>● Almond and other nut flour-based:</a:t>
            </a:r>
          </a:p>
        </p:txBody>
      </p:sp>
      <p:pic>
        <p:nvPicPr>
          <p:cNvPr id="85" name="Picture 84" descr="lock.png"/>
          <p:cNvPicPr>
            <a:picLocks noChangeAspect="1"/>
          </p:cNvPicPr>
          <p:nvPr/>
        </p:nvPicPr>
        <p:blipFill>
          <a:blip r:embed="rId16"/>
          <a:stretch>
            <a:fillRect/>
          </a:stretch>
        </p:blipFill>
        <p:spPr>
          <a:xfrm>
            <a:off x="2606072" y="4873454"/>
            <a:ext cx="128699" cy="187198"/>
          </a:xfrm>
          <a:prstGeom prst="rect">
            <a:avLst/>
          </a:prstGeom>
        </p:spPr>
      </p:pic>
      <p:sp>
        <p:nvSpPr>
          <p:cNvPr id="86" name="TextBox 85"/>
          <p:cNvSpPr txBox="1"/>
          <p:nvPr/>
        </p:nvSpPr>
        <p:spPr>
          <a:xfrm>
            <a:off x="2773568"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6"/>
          <a:stretch>
            <a:fillRect/>
          </a:stretch>
        </p:blipFill>
        <p:spPr>
          <a:xfrm>
            <a:off x="3633018" y="4873454"/>
            <a:ext cx="128699" cy="187198"/>
          </a:xfrm>
          <a:prstGeom prst="rect">
            <a:avLst/>
          </a:prstGeom>
        </p:spPr>
      </p:pic>
      <p:sp>
        <p:nvSpPr>
          <p:cNvPr id="88" name="TextBox 87"/>
          <p:cNvSpPr txBox="1"/>
          <p:nvPr/>
        </p:nvSpPr>
        <p:spPr>
          <a:xfrm>
            <a:off x="3800514"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Primary Flour Base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Flour Base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Flour Base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Flour Base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188619" cy="186689"/>
          </a:xfrm>
          <a:prstGeom prst="rect">
            <a:avLst/>
          </a:prstGeom>
          <a:noFill/>
        </p:spPr>
        <p:txBody>
          <a:bodyPr wrap="none" lIns="0" rIns="0" tIns="0" bIns="0">
            <a:spAutoFit/>
          </a:bodyPr>
          <a:lstStyle/>
          <a:p>
            <a:r>
              <a:rPr sz="1100" b="0">
                <a:solidFill>
                  <a:srgbClr val="2E2E2E"/>
                </a:solidFill>
                <a:latin typeface="Calibri"/>
              </a:rPr>
              <a:t>Between 2026 and 2036, 'Oat-based' gains the most share in the North America market (+</a:t>
            </a:r>
          </a:p>
        </p:txBody>
      </p:sp>
      <p:pic>
        <p:nvPicPr>
          <p:cNvPr id="21" name="Picture 20" descr="lock.png"/>
          <p:cNvPicPr>
            <a:picLocks noChangeAspect="1"/>
          </p:cNvPicPr>
          <p:nvPr/>
        </p:nvPicPr>
        <p:blipFill>
          <a:blip r:embed="rId6"/>
          <a:stretch>
            <a:fillRect/>
          </a:stretch>
        </p:blipFill>
        <p:spPr>
          <a:xfrm>
            <a:off x="5393846" y="5851905"/>
            <a:ext cx="128699" cy="187198"/>
          </a:xfrm>
          <a:prstGeom prst="rect">
            <a:avLst/>
          </a:prstGeom>
        </p:spPr>
      </p:pic>
      <p:sp>
        <p:nvSpPr>
          <p:cNvPr id="22" name="TextBox 21"/>
          <p:cNvSpPr txBox="1"/>
          <p:nvPr/>
        </p:nvSpPr>
        <p:spPr>
          <a:xfrm>
            <a:off x="5561342" y="5861685"/>
            <a:ext cx="1738684" cy="186689"/>
          </a:xfrm>
          <a:prstGeom prst="rect">
            <a:avLst/>
          </a:prstGeom>
          <a:noFill/>
        </p:spPr>
        <p:txBody>
          <a:bodyPr wrap="none" lIns="0" rIns="0" tIns="0" bIns="0">
            <a:spAutoFit/>
          </a:bodyPr>
          <a:lstStyle/>
          <a:p>
            <a:r>
              <a:rPr sz="1100" b="0">
                <a:solidFill>
                  <a:srgbClr val="2E2E2E"/>
                </a:solidFill>
                <a:latin typeface="Calibri"/>
              </a:rPr>
              <a:t>BPS) while 'Rice-based' cedes</a:t>
            </a:r>
          </a:p>
        </p:txBody>
      </p:sp>
      <p:pic>
        <p:nvPicPr>
          <p:cNvPr id="23" name="Picture 22" descr="lock.png"/>
          <p:cNvPicPr>
            <a:picLocks noChangeAspect="1"/>
          </p:cNvPicPr>
          <p:nvPr/>
        </p:nvPicPr>
        <p:blipFill>
          <a:blip r:embed="rId6"/>
          <a:stretch>
            <a:fillRect/>
          </a:stretch>
        </p:blipFill>
        <p:spPr>
          <a:xfrm>
            <a:off x="7248078" y="5851905"/>
            <a:ext cx="128699" cy="187198"/>
          </a:xfrm>
          <a:prstGeom prst="rect">
            <a:avLst/>
          </a:prstGeom>
        </p:spPr>
      </p:pic>
      <p:sp>
        <p:nvSpPr>
          <p:cNvPr id="24" name="TextBox 23"/>
          <p:cNvSpPr txBox="1"/>
          <p:nvPr/>
        </p:nvSpPr>
        <p:spPr>
          <a:xfrm>
            <a:off x="7415574"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Primary Flour Base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Flour Base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Wheat-based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Oat-based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Rice-based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Corn-based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Primary Flour Base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Flour Base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Millet-based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Almond and other nut flour-based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single-flour bases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Multigrain and blended flour bases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Primary Flour Base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Primary Flour Base,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514725"/>
          </a:xfrm>
          <a:prstGeom prst="roundRect">
            <a:avLst>
              <a:gd name="adj" fmla="val 21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Primary Flour Base (MT)</a:t>
            </a:r>
          </a:p>
        </p:txBody>
      </p:sp>
      <p:graphicFrame>
        <p:nvGraphicFramePr>
          <p:cNvPr id="13" name="Table 12"/>
          <p:cNvGraphicFramePr>
            <a:graphicFrameLocks noGrp="1"/>
          </p:cNvGraphicFramePr>
          <p:nvPr/>
        </p:nvGraphicFramePr>
        <p:xfrm>
          <a:off x="152400" y="1238250"/>
          <a:ext cx="11887208" cy="3047997"/>
        </p:xfrm>
        <a:graphic>
          <a:graphicData uri="http://schemas.openxmlformats.org/drawingml/2006/table">
            <a:tbl>
              <a:tblPr>
                <a:tableStyleId>{5C22544A-7EE6-4342-B048-85BDC9FD1C3A}</a:tableStyleId>
              </a:tblPr>
              <a:tblGrid>
                <a:gridCol w="2012457"/>
                <a:gridCol w="530662"/>
                <a:gridCol w="530662"/>
                <a:gridCol w="530662"/>
                <a:gridCol w="530662"/>
                <a:gridCol w="530662"/>
                <a:gridCol w="530662"/>
                <a:gridCol w="530662"/>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Primary Flour Base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57">
                <a:tc>
                  <a:txBody>
                    <a:bodyPr wrap="none"/>
                    <a:lstStyle/>
                    <a:p>
                      <a:pPr algn="l"/>
                      <a:r>
                        <a:rPr sz="1100" b="1">
                          <a:solidFill>
                            <a:srgbClr val="2E2E2E"/>
                          </a:solidFill>
                          <a:latin typeface="Calibri"/>
                        </a:rPr>
                        <a:t>Wheat-based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57">
                <a:tc>
                  <a:txBody>
                    <a:bodyPr wrap="none"/>
                    <a:lstStyle/>
                    <a:p>
                      <a:pPr algn="l"/>
                      <a:r>
                        <a:rPr sz="1100" b="1">
                          <a:solidFill>
                            <a:srgbClr val="2E2E2E"/>
                          </a:solidFill>
                          <a:latin typeface="Calibri"/>
                        </a:rPr>
                        <a:t>Oat-based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Rice-based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57">
                <a:tc>
                  <a:txBody>
                    <a:bodyPr wrap="none"/>
                    <a:lstStyle/>
                    <a:p>
                      <a:pPr algn="l"/>
                      <a:r>
                        <a:rPr sz="1100" b="1">
                          <a:solidFill>
                            <a:srgbClr val="2E2E2E"/>
                          </a:solidFill>
                          <a:latin typeface="Calibri"/>
                        </a:rPr>
                        <a:t>Corn-based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Millet-based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43">
                <a:tc>
                  <a:txBody>
                    <a:bodyPr wrap="none"/>
                    <a:lstStyle/>
                    <a:p>
                      <a:pPr algn="l"/>
                      <a:r>
                        <a:rPr sz="1100" b="1">
                          <a:solidFill>
                            <a:srgbClr val="2E2E2E"/>
                          </a:solidFill>
                          <a:latin typeface="Calibri"/>
                        </a:rPr>
                        <a:t>Almond and other nut flour-</a:t>
                      </a:r>
                      <a:endParaRPr sz="1100"/>
                    </a:p>
                    <a:p>
                      <a:pPr algn="l"/>
                      <a:r>
                        <a:rPr sz="1100" b="1">
                          <a:solidFill>
                            <a:srgbClr val="2E2E2E"/>
                          </a:solidFill>
                          <a:latin typeface="Calibri"/>
                        </a:rPr>
                        <a:t>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Other single-flour bases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43">
                <a:tc>
                  <a:txBody>
                    <a:bodyPr wrap="none"/>
                    <a:lstStyle/>
                    <a:p>
                      <a:pPr algn="l"/>
                      <a:r>
                        <a:rPr sz="1100" b="1">
                          <a:solidFill>
                            <a:srgbClr val="2E2E2E"/>
                          </a:solidFill>
                          <a:latin typeface="Calibri"/>
                        </a:rPr>
                        <a:t>Multigrain and blended flour</a:t>
                      </a:r>
                      <a:endParaRPr sz="1100"/>
                    </a:p>
                    <a:p>
                      <a:pPr algn="l"/>
                      <a:r>
                        <a:rPr sz="1100" b="1">
                          <a:solidFill>
                            <a:srgbClr val="2E2E2E"/>
                          </a:solidFill>
                          <a:latin typeface="Calibri"/>
                        </a:rPr>
                        <a:t>bases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5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2957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29150"/>
            <a:ext cx="11906250" cy="2000250"/>
          </a:xfrm>
          <a:prstGeom prst="roundRect">
            <a:avLst>
              <a:gd name="adj" fmla="val 38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7148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Primary Flour Base</a:t>
            </a:r>
          </a:p>
        </p:txBody>
      </p:sp>
      <p:sp>
        <p:nvSpPr>
          <p:cNvPr id="17" name="Rectangle 16"/>
          <p:cNvSpPr/>
          <p:nvPr/>
        </p:nvSpPr>
        <p:spPr>
          <a:xfrm>
            <a:off x="276225" y="49530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38725"/>
            <a:ext cx="11639550" cy="1514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15542" y="2715004"/>
            <a:ext cx="366712" cy="533400"/>
          </a:xfrm>
          <a:prstGeom prst="rect">
            <a:avLst/>
          </a:prstGeom>
        </p:spPr>
      </p:pic>
      <p:sp>
        <p:nvSpPr>
          <p:cNvPr id="21" name="TextBox 20"/>
          <p:cNvSpPr txBox="1"/>
          <p:nvPr/>
        </p:nvSpPr>
        <p:spPr>
          <a:xfrm>
            <a:off x="276225" y="5048250"/>
            <a:ext cx="2905633" cy="194310"/>
          </a:xfrm>
          <a:prstGeom prst="rect">
            <a:avLst/>
          </a:prstGeom>
          <a:noFill/>
        </p:spPr>
        <p:txBody>
          <a:bodyPr wrap="none" lIns="0" rIns="0" tIns="0" bIns="0">
            <a:spAutoFit/>
          </a:bodyPr>
          <a:lstStyle/>
          <a:p>
            <a:r>
              <a:rPr sz="1150" b="0">
                <a:solidFill>
                  <a:srgbClr val="2E2E2E"/>
                </a:solidFill>
                <a:latin typeface="Calibri"/>
              </a:rPr>
              <a:t>▪ 'Oat-based' is the largest primary flour base at</a:t>
            </a:r>
          </a:p>
        </p:txBody>
      </p:sp>
      <p:pic>
        <p:nvPicPr>
          <p:cNvPr id="22" name="Picture 21" descr="lock.png"/>
          <p:cNvPicPr>
            <a:picLocks noChangeAspect="1"/>
          </p:cNvPicPr>
          <p:nvPr/>
        </p:nvPicPr>
        <p:blipFill>
          <a:blip r:embed="rId4"/>
          <a:stretch>
            <a:fillRect/>
          </a:stretch>
        </p:blipFill>
        <p:spPr>
          <a:xfrm>
            <a:off x="3131012" y="5038026"/>
            <a:ext cx="134549" cy="195707"/>
          </a:xfrm>
          <a:prstGeom prst="rect">
            <a:avLst/>
          </a:prstGeom>
        </p:spPr>
      </p:pic>
      <p:sp>
        <p:nvSpPr>
          <p:cNvPr id="23" name="TextBox 22"/>
          <p:cNvSpPr txBox="1"/>
          <p:nvPr/>
        </p:nvSpPr>
        <p:spPr>
          <a:xfrm>
            <a:off x="3306121" y="50482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335854" y="5038026"/>
            <a:ext cx="134549" cy="195707"/>
          </a:xfrm>
          <a:prstGeom prst="rect">
            <a:avLst/>
          </a:prstGeom>
        </p:spPr>
      </p:pic>
      <p:sp>
        <p:nvSpPr>
          <p:cNvPr id="25" name="TextBox 24"/>
          <p:cNvSpPr txBox="1"/>
          <p:nvPr/>
        </p:nvSpPr>
        <p:spPr>
          <a:xfrm>
            <a:off x="4510963" y="50482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5276088"/>
            <a:ext cx="1794854" cy="194310"/>
          </a:xfrm>
          <a:prstGeom prst="rect">
            <a:avLst/>
          </a:prstGeom>
          <a:noFill/>
        </p:spPr>
        <p:txBody>
          <a:bodyPr wrap="none" lIns="0" rIns="0" tIns="0" bIns="0">
            <a:spAutoFit/>
          </a:bodyPr>
          <a:lstStyle/>
          <a:p>
            <a:r>
              <a:rPr sz="1150" b="0">
                <a:solidFill>
                  <a:srgbClr val="2E2E2E"/>
                </a:solidFill>
                <a:latin typeface="Calibri"/>
              </a:rPr>
              <a:t>▪ 'Millet-based' grows fastest</a:t>
            </a:r>
          </a:p>
        </p:txBody>
      </p:sp>
      <p:pic>
        <p:nvPicPr>
          <p:cNvPr id="27" name="Picture 26" descr="lock.png"/>
          <p:cNvPicPr>
            <a:picLocks noChangeAspect="1"/>
          </p:cNvPicPr>
          <p:nvPr/>
        </p:nvPicPr>
        <p:blipFill>
          <a:blip r:embed="rId4"/>
          <a:stretch>
            <a:fillRect/>
          </a:stretch>
        </p:blipFill>
        <p:spPr>
          <a:xfrm>
            <a:off x="2020233" y="5265864"/>
            <a:ext cx="134549" cy="195707"/>
          </a:xfrm>
          <a:prstGeom prst="rect">
            <a:avLst/>
          </a:prstGeom>
        </p:spPr>
      </p:pic>
      <p:sp>
        <p:nvSpPr>
          <p:cNvPr id="28" name="TextBox 27"/>
          <p:cNvSpPr txBox="1"/>
          <p:nvPr/>
        </p:nvSpPr>
        <p:spPr>
          <a:xfrm>
            <a:off x="2195342" y="527608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503925"/>
            <a:ext cx="2171960" cy="194310"/>
          </a:xfrm>
          <a:prstGeom prst="rect">
            <a:avLst/>
          </a:prstGeom>
          <a:noFill/>
        </p:spPr>
        <p:txBody>
          <a:bodyPr wrap="none" lIns="0" rIns="0" tIns="0" bIns="0">
            <a:spAutoFit/>
          </a:bodyPr>
          <a:lstStyle/>
          <a:p>
            <a:r>
              <a:rPr sz="1150" b="0">
                <a:solidFill>
                  <a:srgbClr val="2E2E2E"/>
                </a:solidFill>
                <a:latin typeface="Calibri"/>
              </a:rPr>
              <a:t>▪ Share shifts toward 'Oat-based' (+</a:t>
            </a:r>
          </a:p>
        </p:txBody>
      </p:sp>
      <p:pic>
        <p:nvPicPr>
          <p:cNvPr id="30" name="Picture 29" descr="lock.png"/>
          <p:cNvPicPr>
            <a:picLocks noChangeAspect="1"/>
          </p:cNvPicPr>
          <p:nvPr/>
        </p:nvPicPr>
        <p:blipFill>
          <a:blip r:embed="rId4"/>
          <a:stretch>
            <a:fillRect/>
          </a:stretch>
        </p:blipFill>
        <p:spPr>
          <a:xfrm>
            <a:off x="2397339" y="5493702"/>
            <a:ext cx="134549" cy="195707"/>
          </a:xfrm>
          <a:prstGeom prst="rect">
            <a:avLst/>
          </a:prstGeom>
        </p:spPr>
      </p:pic>
      <p:sp>
        <p:nvSpPr>
          <p:cNvPr id="31" name="TextBox 30"/>
          <p:cNvSpPr txBox="1"/>
          <p:nvPr/>
        </p:nvSpPr>
        <p:spPr>
          <a:xfrm>
            <a:off x="2572448" y="5503925"/>
            <a:ext cx="3560861" cy="194310"/>
          </a:xfrm>
          <a:prstGeom prst="rect">
            <a:avLst/>
          </a:prstGeom>
          <a:noFill/>
        </p:spPr>
        <p:txBody>
          <a:bodyPr wrap="none" lIns="0" rIns="0" tIns="0" bIns="0">
            <a:spAutoFit/>
          </a:bodyPr>
          <a:lstStyle/>
          <a:p>
            <a:r>
              <a:rPr sz="1150" b="0">
                <a:solidFill>
                  <a:srgbClr val="2E2E2E"/>
                </a:solidFill>
                <a:latin typeface="Calibri"/>
              </a:rPr>
              <a:t>BPS) and away from 'Multigrain and blended flour bases' (-</a:t>
            </a:r>
          </a:p>
        </p:txBody>
      </p:sp>
      <p:pic>
        <p:nvPicPr>
          <p:cNvPr id="32" name="Picture 31" descr="lock.png"/>
          <p:cNvPicPr>
            <a:picLocks noChangeAspect="1"/>
          </p:cNvPicPr>
          <p:nvPr/>
        </p:nvPicPr>
        <p:blipFill>
          <a:blip r:embed="rId4"/>
          <a:stretch>
            <a:fillRect/>
          </a:stretch>
        </p:blipFill>
        <p:spPr>
          <a:xfrm>
            <a:off x="6082464" y="5493702"/>
            <a:ext cx="134549" cy="195707"/>
          </a:xfrm>
          <a:prstGeom prst="rect">
            <a:avLst/>
          </a:prstGeom>
        </p:spPr>
      </p:pic>
      <p:sp>
        <p:nvSpPr>
          <p:cNvPr id="33" name="TextBox 32"/>
          <p:cNvSpPr txBox="1"/>
          <p:nvPr/>
        </p:nvSpPr>
        <p:spPr>
          <a:xfrm>
            <a:off x="6257573" y="55039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7317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721540"/>
            <a:ext cx="134549" cy="195707"/>
          </a:xfrm>
          <a:prstGeom prst="rect">
            <a:avLst/>
          </a:prstGeom>
        </p:spPr>
      </p:pic>
      <p:sp>
        <p:nvSpPr>
          <p:cNvPr id="36" name="TextBox 35"/>
          <p:cNvSpPr txBox="1"/>
          <p:nvPr/>
        </p:nvSpPr>
        <p:spPr>
          <a:xfrm>
            <a:off x="1965143" y="57317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721540"/>
            <a:ext cx="134549" cy="195707"/>
          </a:xfrm>
          <a:prstGeom prst="rect">
            <a:avLst/>
          </a:prstGeom>
        </p:spPr>
      </p:pic>
      <p:sp>
        <p:nvSpPr>
          <p:cNvPr id="38" name="TextBox 37"/>
          <p:cNvSpPr txBox="1"/>
          <p:nvPr/>
        </p:nvSpPr>
        <p:spPr>
          <a:xfrm>
            <a:off x="2291688" y="5731763"/>
            <a:ext cx="1470521" cy="194310"/>
          </a:xfrm>
          <a:prstGeom prst="rect">
            <a:avLst/>
          </a:prstGeom>
          <a:noFill/>
        </p:spPr>
        <p:txBody>
          <a:bodyPr wrap="none" lIns="0" rIns="0" tIns="0" bIns="0">
            <a:spAutoFit/>
          </a:bodyPr>
          <a:lstStyle/>
          <a:p>
            <a:r>
              <a:rPr sz="1150" b="0">
                <a:solidFill>
                  <a:srgbClr val="2E2E2E"/>
                </a:solidFill>
                <a:latin typeface="Calibri"/>
              </a:rPr>
              <a:t>MT across 8 categories.</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Primary Flour Base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Flour Base,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Primary Flour Base (US$ Mn)</a:t>
            </a:r>
          </a:p>
        </p:txBody>
      </p:sp>
      <p:graphicFrame>
        <p:nvGraphicFramePr>
          <p:cNvPr id="13" name="Table 12"/>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264040"/>
                <a:gridCol w="566068"/>
                <a:gridCol w="566068"/>
                <a:gridCol w="566068"/>
                <a:gridCol w="566068"/>
                <a:gridCol w="566068"/>
                <a:gridCol w="566068"/>
                <a:gridCol w="566068"/>
                <a:gridCol w="566068"/>
                <a:gridCol w="566068"/>
                <a:gridCol w="566068"/>
                <a:gridCol w="566068"/>
                <a:gridCol w="566068"/>
                <a:gridCol w="566068"/>
                <a:gridCol w="566068"/>
                <a:gridCol w="566068"/>
                <a:gridCol w="566068"/>
                <a:gridCol w="566068"/>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Primary Flour Base</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41327" y="2328100"/>
            <a:ext cx="366712" cy="533400"/>
          </a:xfrm>
          <a:prstGeom prst="rect">
            <a:avLst/>
          </a:prstGeom>
        </p:spPr>
      </p:pic>
      <p:sp>
        <p:nvSpPr>
          <p:cNvPr id="21" name="TextBox 20"/>
          <p:cNvSpPr txBox="1"/>
          <p:nvPr/>
        </p:nvSpPr>
        <p:spPr>
          <a:xfrm>
            <a:off x="276225" y="4467225"/>
            <a:ext cx="2905633" cy="194310"/>
          </a:xfrm>
          <a:prstGeom prst="rect">
            <a:avLst/>
          </a:prstGeom>
          <a:noFill/>
        </p:spPr>
        <p:txBody>
          <a:bodyPr wrap="none" lIns="0" rIns="0" tIns="0" bIns="0">
            <a:spAutoFit/>
          </a:bodyPr>
          <a:lstStyle/>
          <a:p>
            <a:r>
              <a:rPr sz="1150" b="0">
                <a:solidFill>
                  <a:srgbClr val="2E2E2E"/>
                </a:solidFill>
                <a:latin typeface="Calibri"/>
              </a:rPr>
              <a:t>▪ 'Oat-based' is the largest primary flour base at</a:t>
            </a:r>
          </a:p>
        </p:txBody>
      </p:sp>
      <p:pic>
        <p:nvPicPr>
          <p:cNvPr id="22" name="Picture 21" descr="lock.png"/>
          <p:cNvPicPr>
            <a:picLocks noChangeAspect="1"/>
          </p:cNvPicPr>
          <p:nvPr/>
        </p:nvPicPr>
        <p:blipFill>
          <a:blip r:embed="rId4"/>
          <a:stretch>
            <a:fillRect/>
          </a:stretch>
        </p:blipFill>
        <p:spPr>
          <a:xfrm>
            <a:off x="3131012" y="4457001"/>
            <a:ext cx="134549" cy="195707"/>
          </a:xfrm>
          <a:prstGeom prst="rect">
            <a:avLst/>
          </a:prstGeom>
        </p:spPr>
      </p:pic>
      <p:sp>
        <p:nvSpPr>
          <p:cNvPr id="23" name="TextBox 22"/>
          <p:cNvSpPr txBox="1"/>
          <p:nvPr/>
        </p:nvSpPr>
        <p:spPr>
          <a:xfrm>
            <a:off x="3306121" y="44672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212054" y="4457001"/>
            <a:ext cx="134549" cy="195707"/>
          </a:xfrm>
          <a:prstGeom prst="rect">
            <a:avLst/>
          </a:prstGeom>
        </p:spPr>
      </p:pic>
      <p:sp>
        <p:nvSpPr>
          <p:cNvPr id="25" name="TextBox 24"/>
          <p:cNvSpPr txBox="1"/>
          <p:nvPr/>
        </p:nvSpPr>
        <p:spPr>
          <a:xfrm>
            <a:off x="4387163" y="44672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695063"/>
            <a:ext cx="1794854" cy="194310"/>
          </a:xfrm>
          <a:prstGeom prst="rect">
            <a:avLst/>
          </a:prstGeom>
          <a:noFill/>
        </p:spPr>
        <p:txBody>
          <a:bodyPr wrap="none" lIns="0" rIns="0" tIns="0" bIns="0">
            <a:spAutoFit/>
          </a:bodyPr>
          <a:lstStyle/>
          <a:p>
            <a:r>
              <a:rPr sz="1150" b="0">
                <a:solidFill>
                  <a:srgbClr val="2E2E2E"/>
                </a:solidFill>
                <a:latin typeface="Calibri"/>
              </a:rPr>
              <a:t>▪ 'Millet-based' grows fastest</a:t>
            </a:r>
          </a:p>
        </p:txBody>
      </p:sp>
      <p:pic>
        <p:nvPicPr>
          <p:cNvPr id="27" name="Picture 26" descr="lock.png"/>
          <p:cNvPicPr>
            <a:picLocks noChangeAspect="1"/>
          </p:cNvPicPr>
          <p:nvPr/>
        </p:nvPicPr>
        <p:blipFill>
          <a:blip r:embed="rId4"/>
          <a:stretch>
            <a:fillRect/>
          </a:stretch>
        </p:blipFill>
        <p:spPr>
          <a:xfrm>
            <a:off x="2020233" y="4684839"/>
            <a:ext cx="134549" cy="195707"/>
          </a:xfrm>
          <a:prstGeom prst="rect">
            <a:avLst/>
          </a:prstGeom>
        </p:spPr>
      </p:pic>
      <p:sp>
        <p:nvSpPr>
          <p:cNvPr id="28" name="TextBox 27"/>
          <p:cNvSpPr txBox="1"/>
          <p:nvPr/>
        </p:nvSpPr>
        <p:spPr>
          <a:xfrm>
            <a:off x="2195342" y="46950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922900"/>
            <a:ext cx="2171960" cy="194310"/>
          </a:xfrm>
          <a:prstGeom prst="rect">
            <a:avLst/>
          </a:prstGeom>
          <a:noFill/>
        </p:spPr>
        <p:txBody>
          <a:bodyPr wrap="none" lIns="0" rIns="0" tIns="0" bIns="0">
            <a:spAutoFit/>
          </a:bodyPr>
          <a:lstStyle/>
          <a:p>
            <a:r>
              <a:rPr sz="1150" b="0">
                <a:solidFill>
                  <a:srgbClr val="2E2E2E"/>
                </a:solidFill>
                <a:latin typeface="Calibri"/>
              </a:rPr>
              <a:t>▪ Share shifts toward 'Oat-based' (+</a:t>
            </a:r>
          </a:p>
        </p:txBody>
      </p:sp>
      <p:pic>
        <p:nvPicPr>
          <p:cNvPr id="30" name="Picture 29" descr="lock.png"/>
          <p:cNvPicPr>
            <a:picLocks noChangeAspect="1"/>
          </p:cNvPicPr>
          <p:nvPr/>
        </p:nvPicPr>
        <p:blipFill>
          <a:blip r:embed="rId4"/>
          <a:stretch>
            <a:fillRect/>
          </a:stretch>
        </p:blipFill>
        <p:spPr>
          <a:xfrm>
            <a:off x="2397339" y="4912677"/>
            <a:ext cx="134549" cy="195707"/>
          </a:xfrm>
          <a:prstGeom prst="rect">
            <a:avLst/>
          </a:prstGeom>
        </p:spPr>
      </p:pic>
      <p:sp>
        <p:nvSpPr>
          <p:cNvPr id="31" name="TextBox 30"/>
          <p:cNvSpPr txBox="1"/>
          <p:nvPr/>
        </p:nvSpPr>
        <p:spPr>
          <a:xfrm>
            <a:off x="2572448" y="4922900"/>
            <a:ext cx="2130028" cy="194310"/>
          </a:xfrm>
          <a:prstGeom prst="rect">
            <a:avLst/>
          </a:prstGeom>
          <a:noFill/>
        </p:spPr>
        <p:txBody>
          <a:bodyPr wrap="none" lIns="0" rIns="0" tIns="0" bIns="0">
            <a:spAutoFit/>
          </a:bodyPr>
          <a:lstStyle/>
          <a:p>
            <a:r>
              <a:rPr sz="1150" b="0">
                <a:solidFill>
                  <a:srgbClr val="2E2E2E"/>
                </a:solidFill>
                <a:latin typeface="Calibri"/>
              </a:rPr>
              <a:t>BPS) and away from 'Rice-based' (-</a:t>
            </a:r>
          </a:p>
        </p:txBody>
      </p:sp>
      <p:pic>
        <p:nvPicPr>
          <p:cNvPr id="32" name="Picture 31" descr="lock.png"/>
          <p:cNvPicPr>
            <a:picLocks noChangeAspect="1"/>
          </p:cNvPicPr>
          <p:nvPr/>
        </p:nvPicPr>
        <p:blipFill>
          <a:blip r:embed="rId4"/>
          <a:stretch>
            <a:fillRect/>
          </a:stretch>
        </p:blipFill>
        <p:spPr>
          <a:xfrm>
            <a:off x="4651630" y="4912677"/>
            <a:ext cx="134549" cy="195707"/>
          </a:xfrm>
          <a:prstGeom prst="rect">
            <a:avLst/>
          </a:prstGeom>
        </p:spPr>
      </p:pic>
      <p:sp>
        <p:nvSpPr>
          <p:cNvPr id="33" name="TextBox 32"/>
          <p:cNvSpPr txBox="1"/>
          <p:nvPr/>
        </p:nvSpPr>
        <p:spPr>
          <a:xfrm>
            <a:off x="4826739" y="49229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1507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5140515"/>
            <a:ext cx="134549" cy="195707"/>
          </a:xfrm>
          <a:prstGeom prst="rect">
            <a:avLst/>
          </a:prstGeom>
        </p:spPr>
      </p:pic>
      <p:sp>
        <p:nvSpPr>
          <p:cNvPr id="36" name="TextBox 35"/>
          <p:cNvSpPr txBox="1"/>
          <p:nvPr/>
        </p:nvSpPr>
        <p:spPr>
          <a:xfrm>
            <a:off x="1841342" y="51507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5140515"/>
            <a:ext cx="134549" cy="195707"/>
          </a:xfrm>
          <a:prstGeom prst="rect">
            <a:avLst/>
          </a:prstGeom>
        </p:spPr>
      </p:pic>
      <p:sp>
        <p:nvSpPr>
          <p:cNvPr id="38" name="TextBox 37"/>
          <p:cNvSpPr txBox="1"/>
          <p:nvPr/>
        </p:nvSpPr>
        <p:spPr>
          <a:xfrm>
            <a:off x="2167888" y="5150738"/>
            <a:ext cx="1744079" cy="194310"/>
          </a:xfrm>
          <a:prstGeom prst="rect">
            <a:avLst/>
          </a:prstGeom>
          <a:noFill/>
        </p:spPr>
        <p:txBody>
          <a:bodyPr wrap="none" lIns="0" rIns="0" tIns="0" bIns="0">
            <a:spAutoFit/>
          </a:bodyPr>
          <a:lstStyle/>
          <a:p>
            <a:r>
              <a:rPr sz="1150" b="0">
                <a:solidFill>
                  <a:srgbClr val="2E2E2E"/>
                </a:solidFill>
                <a:latin typeface="Calibri"/>
              </a:rPr>
              <a:t>US$ Mn across 8 categories.</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Primary Flour Base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Flour Base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Primary Flour Base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41276"/>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3651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603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Almond and other nut flour-based</a:t>
            </a:r>
          </a:p>
        </p:txBody>
      </p:sp>
      <p:sp>
        <p:nvSpPr>
          <p:cNvPr id="19" name="BPS Value 1"/>
          <p:cNvSpPr txBox="1"/>
          <p:nvPr/>
        </p:nvSpPr>
        <p:spPr>
          <a:xfrm>
            <a:off x="6896100" y="172222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1929313"/>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19245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8483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Multigrain and blended flour bases</a:t>
            </a:r>
          </a:p>
        </p:txBody>
      </p:sp>
      <p:sp>
        <p:nvSpPr>
          <p:cNvPr id="23" name="BPS Value 2"/>
          <p:cNvSpPr txBox="1"/>
          <p:nvPr/>
        </p:nvSpPr>
        <p:spPr>
          <a:xfrm>
            <a:off x="6896100" y="191026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22900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2242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480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Millet-based</a:t>
            </a:r>
          </a:p>
        </p:txBody>
      </p:sp>
      <p:sp>
        <p:nvSpPr>
          <p:cNvPr id="27" name="BPS Value 3"/>
          <p:cNvSpPr txBox="1"/>
          <p:nvPr/>
        </p:nvSpPr>
        <p:spPr>
          <a:xfrm>
            <a:off x="6896100" y="220995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271517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7104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6342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single-flour bases</a:t>
            </a:r>
          </a:p>
        </p:txBody>
      </p:sp>
      <p:sp>
        <p:nvSpPr>
          <p:cNvPr id="31" name="BPS Value 4"/>
          <p:cNvSpPr txBox="1"/>
          <p:nvPr/>
        </p:nvSpPr>
        <p:spPr>
          <a:xfrm>
            <a:off x="6896100" y="269612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334128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3365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2603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Corn-based</a:t>
            </a:r>
          </a:p>
        </p:txBody>
      </p:sp>
      <p:sp>
        <p:nvSpPr>
          <p:cNvPr id="35" name="BPS Value 5"/>
          <p:cNvSpPr txBox="1"/>
          <p:nvPr/>
        </p:nvSpPr>
        <p:spPr>
          <a:xfrm>
            <a:off x="6896100" y="332223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01746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01270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39365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Rice-based</a:t>
            </a:r>
          </a:p>
        </p:txBody>
      </p:sp>
      <p:sp>
        <p:nvSpPr>
          <p:cNvPr id="39" name="BPS Value 6"/>
          <p:cNvSpPr txBox="1"/>
          <p:nvPr/>
        </p:nvSpPr>
        <p:spPr>
          <a:xfrm>
            <a:off x="6896100" y="399841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FMI Legend Chip"/>
          <p:cNvSpPr/>
          <p:nvPr/>
        </p:nvSpPr>
        <p:spPr>
          <a:xfrm>
            <a:off x="4928997" y="477691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47721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6959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Wheat-based</a:t>
            </a:r>
          </a:p>
        </p:txBody>
      </p:sp>
      <p:sp>
        <p:nvSpPr>
          <p:cNvPr id="43" name="BPS Value 7"/>
          <p:cNvSpPr txBox="1"/>
          <p:nvPr/>
        </p:nvSpPr>
        <p:spPr>
          <a:xfrm>
            <a:off x="6896100" y="475786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4" name="FMI Legend Chip"/>
          <p:cNvSpPr/>
          <p:nvPr/>
        </p:nvSpPr>
        <p:spPr>
          <a:xfrm>
            <a:off x="4928997" y="571271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0795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3175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Oat-based</a:t>
            </a:r>
          </a:p>
        </p:txBody>
      </p:sp>
      <p:sp>
        <p:nvSpPr>
          <p:cNvPr id="47" name="BPS Value 8"/>
          <p:cNvSpPr txBox="1"/>
          <p:nvPr/>
        </p:nvSpPr>
        <p:spPr>
          <a:xfrm>
            <a:off x="6896100" y="569366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Primary Flour Base</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lock.png"/>
          <p:cNvPicPr>
            <a:picLocks noChangeAspect="1"/>
          </p:cNvPicPr>
          <p:nvPr/>
        </p:nvPicPr>
        <p:blipFill>
          <a:blip r:embed="rId5"/>
          <a:stretch>
            <a:fillRect/>
          </a:stretch>
        </p:blipFill>
        <p:spPr>
          <a:xfrm>
            <a:off x="2557843" y="3833622"/>
            <a:ext cx="275034" cy="400050"/>
          </a:xfrm>
          <a:prstGeom prst="rect">
            <a:avLst/>
          </a:prstGeom>
        </p:spPr>
      </p:pic>
      <p:sp>
        <p:nvSpPr>
          <p:cNvPr id="54" name="TextBox 53"/>
          <p:cNvSpPr txBox="1"/>
          <p:nvPr/>
        </p:nvSpPr>
        <p:spPr>
          <a:xfrm>
            <a:off x="7829550" y="1400175"/>
            <a:ext cx="2209043" cy="194310"/>
          </a:xfrm>
          <a:prstGeom prst="rect">
            <a:avLst/>
          </a:prstGeom>
          <a:noFill/>
        </p:spPr>
        <p:txBody>
          <a:bodyPr wrap="none" lIns="0" rIns="0" tIns="0" bIns="0">
            <a:spAutoFit/>
          </a:bodyPr>
          <a:lstStyle/>
          <a:p>
            <a:r>
              <a:rPr sz="1150" b="0">
                <a:solidFill>
                  <a:srgbClr val="2E2E2E"/>
                </a:solidFill>
                <a:latin typeface="Calibri"/>
              </a:rPr>
              <a:t>▪ 'Oat-based' gains the most share +</a:t>
            </a:r>
          </a:p>
        </p:txBody>
      </p:sp>
      <p:pic>
        <p:nvPicPr>
          <p:cNvPr id="55" name="Picture 54" descr="lock.png"/>
          <p:cNvPicPr>
            <a:picLocks noChangeAspect="1"/>
          </p:cNvPicPr>
          <p:nvPr/>
        </p:nvPicPr>
        <p:blipFill>
          <a:blip r:embed="rId5"/>
          <a:stretch>
            <a:fillRect/>
          </a:stretch>
        </p:blipFill>
        <p:spPr>
          <a:xfrm>
            <a:off x="9987747" y="1389951"/>
            <a:ext cx="134549" cy="195707"/>
          </a:xfrm>
          <a:prstGeom prst="rect">
            <a:avLst/>
          </a:prstGeom>
        </p:spPr>
      </p:pic>
      <p:sp>
        <p:nvSpPr>
          <p:cNvPr id="56" name="TextBox 55"/>
          <p:cNvSpPr txBox="1"/>
          <p:nvPr/>
        </p:nvSpPr>
        <p:spPr>
          <a:xfrm>
            <a:off x="10162856"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57" name="TextBox 56"/>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58" name="TextBox 57"/>
          <p:cNvSpPr txBox="1"/>
          <p:nvPr/>
        </p:nvSpPr>
        <p:spPr>
          <a:xfrm>
            <a:off x="7829550" y="1803273"/>
            <a:ext cx="1887562" cy="194310"/>
          </a:xfrm>
          <a:prstGeom prst="rect">
            <a:avLst/>
          </a:prstGeom>
          <a:noFill/>
        </p:spPr>
        <p:txBody>
          <a:bodyPr wrap="none" lIns="0" rIns="0" tIns="0" bIns="0">
            <a:spAutoFit/>
          </a:bodyPr>
          <a:lstStyle/>
          <a:p>
            <a:r>
              <a:rPr sz="1150" b="0">
                <a:solidFill>
                  <a:srgbClr val="2E2E2E"/>
                </a:solidFill>
                <a:latin typeface="Calibri"/>
              </a:rPr>
              <a:t>▪ 'Rice-based' cedes the most -</a:t>
            </a:r>
          </a:p>
        </p:txBody>
      </p:sp>
      <p:pic>
        <p:nvPicPr>
          <p:cNvPr id="59" name="Picture 58" descr="lock.png"/>
          <p:cNvPicPr>
            <a:picLocks noChangeAspect="1"/>
          </p:cNvPicPr>
          <p:nvPr/>
        </p:nvPicPr>
        <p:blipFill>
          <a:blip r:embed="rId5"/>
          <a:stretch>
            <a:fillRect/>
          </a:stretch>
        </p:blipFill>
        <p:spPr>
          <a:xfrm>
            <a:off x="9666266" y="1793049"/>
            <a:ext cx="134549" cy="195707"/>
          </a:xfrm>
          <a:prstGeom prst="rect">
            <a:avLst/>
          </a:prstGeom>
        </p:spPr>
      </p:pic>
      <p:sp>
        <p:nvSpPr>
          <p:cNvPr id="60" name="TextBox 59"/>
          <p:cNvSpPr txBox="1"/>
          <p:nvPr/>
        </p:nvSpPr>
        <p:spPr>
          <a:xfrm>
            <a:off x="9841375"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61" name="TextBox 60"/>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62" name="TextBox 61"/>
          <p:cNvSpPr txBox="1"/>
          <p:nvPr/>
        </p:nvSpPr>
        <p:spPr>
          <a:xfrm>
            <a:off x="7829550" y="2206371"/>
            <a:ext cx="3560005" cy="194310"/>
          </a:xfrm>
          <a:prstGeom prst="rect">
            <a:avLst/>
          </a:prstGeom>
          <a:noFill/>
        </p:spPr>
        <p:txBody>
          <a:bodyPr wrap="none" lIns="0" rIns="0" tIns="0" bIns="0">
            <a:spAutoFit/>
          </a:bodyPr>
          <a:lstStyle/>
          <a:p>
            <a:r>
              <a:rPr sz="1150" b="0">
                <a:solidFill>
                  <a:srgbClr val="2E2E2E"/>
                </a:solidFill>
                <a:latin typeface="Calibri"/>
              </a:rPr>
              <a:t>▪ 'Millet-based' is the fastest-growing primary flour base at</a:t>
            </a:r>
          </a:p>
        </p:txBody>
      </p:sp>
      <p:pic>
        <p:nvPicPr>
          <p:cNvPr id="63" name="Picture 62" descr="lock.png"/>
          <p:cNvPicPr>
            <a:picLocks noChangeAspect="1"/>
          </p:cNvPicPr>
          <p:nvPr/>
        </p:nvPicPr>
        <p:blipFill>
          <a:blip r:embed="rId5"/>
          <a:stretch>
            <a:fillRect/>
          </a:stretch>
        </p:blipFill>
        <p:spPr>
          <a:xfrm>
            <a:off x="11338709" y="2196147"/>
            <a:ext cx="134549" cy="195707"/>
          </a:xfrm>
          <a:prstGeom prst="rect">
            <a:avLst/>
          </a:prstGeom>
        </p:spPr>
      </p:pic>
      <p:sp>
        <p:nvSpPr>
          <p:cNvPr id="64" name="TextBox 63"/>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5" name="TextBox 64"/>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66" name="Picture 65" descr="lock.png"/>
          <p:cNvPicPr>
            <a:picLocks noChangeAspect="1"/>
          </p:cNvPicPr>
          <p:nvPr/>
        </p:nvPicPr>
        <p:blipFill>
          <a:blip r:embed="rId5"/>
          <a:stretch>
            <a:fillRect/>
          </a:stretch>
        </p:blipFill>
        <p:spPr>
          <a:xfrm>
            <a:off x="9327669" y="2599245"/>
            <a:ext cx="134549" cy="195707"/>
          </a:xfrm>
          <a:prstGeom prst="rect">
            <a:avLst/>
          </a:prstGeom>
        </p:spPr>
      </p:pic>
      <p:sp>
        <p:nvSpPr>
          <p:cNvPr id="67" name="TextBox 66"/>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8" name="Picture 67" descr="lock.png"/>
          <p:cNvPicPr>
            <a:picLocks noChangeAspect="1"/>
          </p:cNvPicPr>
          <p:nvPr/>
        </p:nvPicPr>
        <p:blipFill>
          <a:blip r:embed="rId5"/>
          <a:stretch>
            <a:fillRect/>
          </a:stretch>
        </p:blipFill>
        <p:spPr>
          <a:xfrm>
            <a:off x="9654215" y="2599245"/>
            <a:ext cx="134549" cy="195707"/>
          </a:xfrm>
          <a:prstGeom prst="rect">
            <a:avLst/>
          </a:prstGeom>
        </p:spPr>
      </p:pic>
      <p:sp>
        <p:nvSpPr>
          <p:cNvPr id="69" name="TextBox 68"/>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70" name="TextBox 69"/>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71" name="TextBox 70"/>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7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Primary Flour Base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Primary Flour Base,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9" cy="2219326"/>
        </p:xfrm>
        <a:graphic>
          <a:graphicData uri="http://schemas.openxmlformats.org/drawingml/2006/table">
            <a:tbl>
              <a:tblPr>
                <a:tableStyleId>{5C22544A-7EE6-4342-B048-85BDC9FD1C3A}</a:tableStyleId>
              </a:tblPr>
              <a:tblGrid>
                <a:gridCol w="2317919"/>
                <a:gridCol w="637952"/>
                <a:gridCol w="637952"/>
                <a:gridCol w="637952"/>
                <a:gridCol w="637952"/>
                <a:gridCol w="637952"/>
                <a:gridCol w="637952"/>
                <a:gridCol w="637952"/>
                <a:gridCol w="637952"/>
                <a:gridCol w="637952"/>
                <a:gridCol w="637952"/>
                <a:gridCol w="637952"/>
                <a:gridCol w="637952"/>
                <a:gridCol w="637952"/>
                <a:gridCol w="637952"/>
                <a:gridCol w="63795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Primary Flour Base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Wheat-based</a:t>
            </a:r>
          </a:p>
        </p:txBody>
      </p:sp>
      <p:sp>
        <p:nvSpPr>
          <p:cNvPr id="33" name="Rectangle 32"/>
          <p:cNvSpPr/>
          <p:nvPr/>
        </p:nvSpPr>
        <p:spPr>
          <a:xfrm>
            <a:off x="185737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4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Oat-based</a:t>
            </a:r>
          </a:p>
        </p:txBody>
      </p:sp>
      <p:sp>
        <p:nvSpPr>
          <p:cNvPr id="49" name="Rectangle 48"/>
          <p:cNvSpPr/>
          <p:nvPr/>
        </p:nvSpPr>
        <p:spPr>
          <a:xfrm>
            <a:off x="1857375" y="4521994"/>
            <a:ext cx="643890" cy="292894"/>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Rice-based</a:t>
            </a:r>
          </a:p>
        </p:txBody>
      </p:sp>
      <p:sp>
        <p:nvSpPr>
          <p:cNvPr id="65" name="Rectangle 64"/>
          <p:cNvSpPr/>
          <p:nvPr/>
        </p:nvSpPr>
        <p:spPr>
          <a:xfrm>
            <a:off x="1857375" y="4814888"/>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Corn-based</a:t>
            </a:r>
          </a:p>
        </p:txBody>
      </p:sp>
      <p:sp>
        <p:nvSpPr>
          <p:cNvPr id="81" name="Rectangle 80"/>
          <p:cNvSpPr/>
          <p:nvPr/>
        </p:nvSpPr>
        <p:spPr>
          <a:xfrm>
            <a:off x="185737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Millet-based</a:t>
            </a:r>
          </a:p>
        </p:txBody>
      </p:sp>
      <p:sp>
        <p:nvSpPr>
          <p:cNvPr id="97" name="Rectangle 96"/>
          <p:cNvSpPr/>
          <p:nvPr/>
        </p:nvSpPr>
        <p:spPr>
          <a:xfrm>
            <a:off x="1857375" y="5400675"/>
            <a:ext cx="643890" cy="292894"/>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Almond and other nut flour-based</a:t>
            </a:r>
          </a:p>
        </p:txBody>
      </p:sp>
      <p:sp>
        <p:nvSpPr>
          <p:cNvPr id="113" name="Rectangle 112"/>
          <p:cNvSpPr/>
          <p:nvPr/>
        </p:nvSpPr>
        <p:spPr>
          <a:xfrm>
            <a:off x="185737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Other single-flour bases</a:t>
            </a:r>
          </a:p>
        </p:txBody>
      </p:sp>
      <p:sp>
        <p:nvSpPr>
          <p:cNvPr id="129" name="Rectangle 128"/>
          <p:cNvSpPr/>
          <p:nvPr/>
        </p:nvSpPr>
        <p:spPr>
          <a:xfrm>
            <a:off x="1857375" y="5986462"/>
            <a:ext cx="643890" cy="292894"/>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Multigrain and blended flour bases</a:t>
            </a:r>
          </a:p>
        </p:txBody>
      </p:sp>
      <p:sp>
        <p:nvSpPr>
          <p:cNvPr id="145" name="Rectangle 144"/>
          <p:cNvSpPr/>
          <p:nvPr/>
        </p:nvSpPr>
        <p:spPr>
          <a:xfrm>
            <a:off x="18573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068268" y="2204276"/>
            <a:ext cx="366712" cy="533400"/>
          </a:xfrm>
          <a:prstGeom prst="rect">
            <a:avLst/>
          </a:prstGeom>
        </p:spPr>
      </p:pic>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Primary Flour Base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Flour Base,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2461476"/>
                <a:gridCol w="628382"/>
                <a:gridCol w="628382"/>
                <a:gridCol w="628382"/>
                <a:gridCol w="628382"/>
                <a:gridCol w="628382"/>
                <a:gridCol w="628382"/>
                <a:gridCol w="628382"/>
                <a:gridCol w="628382"/>
                <a:gridCol w="628382"/>
                <a:gridCol w="628382"/>
                <a:gridCol w="628382"/>
                <a:gridCol w="628382"/>
                <a:gridCol w="628382"/>
                <a:gridCol w="628382"/>
                <a:gridCol w="62838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Primary Flour Base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Wheat-based</a:t>
            </a:r>
          </a:p>
        </p:txBody>
      </p:sp>
      <p:sp>
        <p:nvSpPr>
          <p:cNvPr id="33" name="Rectangle 32"/>
          <p:cNvSpPr/>
          <p:nvPr/>
        </p:nvSpPr>
        <p:spPr>
          <a:xfrm>
            <a:off x="1857375" y="4229100"/>
            <a:ext cx="643890" cy="29289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Oat-based</a:t>
            </a:r>
          </a:p>
        </p:txBody>
      </p:sp>
      <p:sp>
        <p:nvSpPr>
          <p:cNvPr id="49" name="Rectangle 48"/>
          <p:cNvSpPr/>
          <p:nvPr/>
        </p:nvSpPr>
        <p:spPr>
          <a:xfrm>
            <a:off x="1857375" y="4521994"/>
            <a:ext cx="643890" cy="292894"/>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Rice-based</a:t>
            </a:r>
          </a:p>
        </p:txBody>
      </p:sp>
      <p:sp>
        <p:nvSpPr>
          <p:cNvPr id="65" name="Rectangle 64"/>
          <p:cNvSpPr/>
          <p:nvPr/>
        </p:nvSpPr>
        <p:spPr>
          <a:xfrm>
            <a:off x="1857375" y="4814888"/>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Corn-based</a:t>
            </a:r>
          </a:p>
        </p:txBody>
      </p:sp>
      <p:sp>
        <p:nvSpPr>
          <p:cNvPr id="81" name="Rectangle 80"/>
          <p:cNvSpPr/>
          <p:nvPr/>
        </p:nvSpPr>
        <p:spPr>
          <a:xfrm>
            <a:off x="185737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Millet-based</a:t>
            </a:r>
          </a:p>
        </p:txBody>
      </p:sp>
      <p:sp>
        <p:nvSpPr>
          <p:cNvPr id="97" name="Rectangle 96"/>
          <p:cNvSpPr/>
          <p:nvPr/>
        </p:nvSpPr>
        <p:spPr>
          <a:xfrm>
            <a:off x="1857375" y="5400675"/>
            <a:ext cx="643890" cy="292894"/>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Almond and other nut flour-based</a:t>
            </a:r>
          </a:p>
        </p:txBody>
      </p:sp>
      <p:sp>
        <p:nvSpPr>
          <p:cNvPr id="113" name="Rectangle 112"/>
          <p:cNvSpPr/>
          <p:nvPr/>
        </p:nvSpPr>
        <p:spPr>
          <a:xfrm>
            <a:off x="185737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Other single-flour bases</a:t>
            </a:r>
          </a:p>
        </p:txBody>
      </p:sp>
      <p:sp>
        <p:nvSpPr>
          <p:cNvPr id="129" name="Rectangle 128"/>
          <p:cNvSpPr/>
          <p:nvPr/>
        </p:nvSpPr>
        <p:spPr>
          <a:xfrm>
            <a:off x="1857375" y="5986462"/>
            <a:ext cx="643890" cy="292894"/>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Multigrain and blended flour bases</a:t>
            </a:r>
          </a:p>
        </p:txBody>
      </p:sp>
      <p:sp>
        <p:nvSpPr>
          <p:cNvPr id="145" name="Rectangle 144"/>
          <p:cNvSpPr/>
          <p:nvPr/>
        </p:nvSpPr>
        <p:spPr>
          <a:xfrm>
            <a:off x="18573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40051" y="2204276"/>
            <a:ext cx="366712" cy="533400"/>
          </a:xfrm>
          <a:prstGeom prst="rect">
            <a:avLst/>
          </a:prstGeom>
        </p:spPr>
      </p:pic>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Dietary Formulation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Dietary Formulation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Dietary Formulation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Dietary Formulation,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Dietary Formulation segment categorizes the market by dietary formulation.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(base)</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and vegan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Vegan</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Dietary Formulation split shows how demand is distributed across dietary formulation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633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_544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5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_139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565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587_2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974_0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2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238_5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69_8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1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650281" cy="186689"/>
          </a:xfrm>
          <a:prstGeom prst="rect">
            <a:avLst/>
          </a:prstGeom>
          <a:noFill/>
        </p:spPr>
        <p:txBody>
          <a:bodyPr wrap="none" lIns="0" rIns="0" tIns="0" bIns="0">
            <a:spAutoFit/>
          </a:bodyPr>
          <a:lstStyle/>
          <a:p>
            <a:r>
              <a:rPr sz="1100" b="0">
                <a:solidFill>
                  <a:srgbClr val="2E2E2E"/>
                </a:solidFill>
                <a:latin typeface="Calibri"/>
              </a:rPr>
              <a:t>▪ 'Gluten-free' holds the largest share in 2026</a:t>
            </a:r>
          </a:p>
        </p:txBody>
      </p:sp>
      <p:pic>
        <p:nvPicPr>
          <p:cNvPr id="81" name="Picture 80" descr="lock.png"/>
          <p:cNvPicPr>
            <a:picLocks noChangeAspect="1"/>
          </p:cNvPicPr>
          <p:nvPr/>
        </p:nvPicPr>
        <p:blipFill>
          <a:blip r:embed="rId16"/>
          <a:stretch>
            <a:fillRect/>
          </a:stretch>
        </p:blipFill>
        <p:spPr>
          <a:xfrm>
            <a:off x="3084108"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227634" cy="186689"/>
          </a:xfrm>
          <a:prstGeom prst="rect">
            <a:avLst/>
          </a:prstGeom>
          <a:noFill/>
        </p:spPr>
        <p:txBody>
          <a:bodyPr wrap="none" lIns="0" rIns="0" tIns="0" bIns="0">
            <a:spAutoFit/>
          </a:bodyPr>
          <a:lstStyle/>
          <a:p>
            <a:r>
              <a:rPr sz="1100" b="0">
                <a:solidFill>
                  <a:srgbClr val="2E2E2E"/>
                </a:solidFill>
                <a:latin typeface="Calibri"/>
              </a:rPr>
              <a:t>▪ 'Conventional' is the fastest-growing</a:t>
            </a:r>
          </a:p>
        </p:txBody>
      </p:sp>
      <p:sp>
        <p:nvSpPr>
          <p:cNvPr id="84" name="TextBox 8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5" name="Picture 84" descr="lock.png"/>
          <p:cNvPicPr>
            <a:picLocks noChangeAspect="1"/>
          </p:cNvPicPr>
          <p:nvPr/>
        </p:nvPicPr>
        <p:blipFill>
          <a:blip r:embed="rId16"/>
          <a:stretch>
            <a:fillRect/>
          </a:stretch>
        </p:blipFill>
        <p:spPr>
          <a:xfrm>
            <a:off x="1391064" y="4772870"/>
            <a:ext cx="128699" cy="187198"/>
          </a:xfrm>
          <a:prstGeom prst="rect">
            <a:avLst/>
          </a:prstGeom>
        </p:spPr>
      </p:pic>
      <p:sp>
        <p:nvSpPr>
          <p:cNvPr id="86" name="TextBox 8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914650" cy="186689"/>
          </a:xfrm>
          <a:prstGeom prst="rect">
            <a:avLst/>
          </a:prstGeom>
          <a:noFill/>
        </p:spPr>
        <p:txBody>
          <a:bodyPr wrap="none" lIns="0" rIns="0" tIns="0" bIns="0">
            <a:spAutoFit/>
          </a:bodyPr>
          <a:lstStyle/>
          <a:p>
            <a:r>
              <a:rPr sz="1100" b="0">
                <a:solidFill>
                  <a:srgbClr val="2E2E2E"/>
                </a:solidFill>
                <a:latin typeface="Calibri"/>
              </a:rPr>
              <a:t>▪ 4 sub-segments make up the dietary formulation</a:t>
            </a:r>
          </a:p>
        </p:txBody>
      </p:sp>
      <p:sp>
        <p:nvSpPr>
          <p:cNvPr id="94" name="TextBox 9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5" name="TextBox 94"/>
          <p:cNvSpPr txBox="1"/>
          <p:nvPr/>
        </p:nvSpPr>
        <p:spPr>
          <a:xfrm>
            <a:off x="3838575" y="4229437"/>
            <a:ext cx="886569" cy="186689"/>
          </a:xfrm>
          <a:prstGeom prst="rect">
            <a:avLst/>
          </a:prstGeom>
          <a:noFill/>
        </p:spPr>
        <p:txBody>
          <a:bodyPr wrap="none" lIns="0" rIns="0" tIns="0" bIns="0">
            <a:spAutoFit/>
          </a:bodyPr>
          <a:lstStyle/>
          <a:p>
            <a:r>
              <a:rPr sz="1100" b="0">
                <a:solidFill>
                  <a:srgbClr val="2E2E2E"/>
                </a:solidFill>
                <a:latin typeface="Calibri"/>
              </a:rPr>
              <a:t>● Gluten-free:</a:t>
            </a:r>
          </a:p>
        </p:txBody>
      </p:sp>
      <p:pic>
        <p:nvPicPr>
          <p:cNvPr id="96" name="Picture 95" descr="lock.png"/>
          <p:cNvPicPr>
            <a:picLocks noChangeAspect="1"/>
          </p:cNvPicPr>
          <p:nvPr/>
        </p:nvPicPr>
        <p:blipFill>
          <a:blip r:embed="rId16"/>
          <a:stretch>
            <a:fillRect/>
          </a:stretch>
        </p:blipFill>
        <p:spPr>
          <a:xfrm>
            <a:off x="4673195" y="4219658"/>
            <a:ext cx="128699" cy="187198"/>
          </a:xfrm>
          <a:prstGeom prst="rect">
            <a:avLst/>
          </a:prstGeom>
        </p:spPr>
      </p:pic>
      <p:sp>
        <p:nvSpPr>
          <p:cNvPr id="97" name="TextBox 96"/>
          <p:cNvSpPr txBox="1"/>
          <p:nvPr/>
        </p:nvSpPr>
        <p:spPr>
          <a:xfrm>
            <a:off x="484069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5700141" y="4219658"/>
            <a:ext cx="128699" cy="187198"/>
          </a:xfrm>
          <a:prstGeom prst="rect">
            <a:avLst/>
          </a:prstGeom>
        </p:spPr>
      </p:pic>
      <p:sp>
        <p:nvSpPr>
          <p:cNvPr id="99" name="TextBox 98"/>
          <p:cNvSpPr txBox="1"/>
          <p:nvPr/>
        </p:nvSpPr>
        <p:spPr>
          <a:xfrm>
            <a:off x="586763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1502122" cy="186689"/>
          </a:xfrm>
          <a:prstGeom prst="rect">
            <a:avLst/>
          </a:prstGeom>
          <a:noFill/>
        </p:spPr>
        <p:txBody>
          <a:bodyPr wrap="none" lIns="0" rIns="0" tIns="0" bIns="0">
            <a:spAutoFit/>
          </a:bodyPr>
          <a:lstStyle/>
          <a:p>
            <a:r>
              <a:rPr sz="1100" b="0">
                <a:solidFill>
                  <a:srgbClr val="2E2E2E"/>
                </a:solidFill>
                <a:latin typeface="Calibri"/>
              </a:rPr>
              <a:t>● Gluten-free and vegan:</a:t>
            </a:r>
          </a:p>
        </p:txBody>
      </p:sp>
      <p:pic>
        <p:nvPicPr>
          <p:cNvPr id="101" name="Picture 100" descr="lock.png"/>
          <p:cNvPicPr>
            <a:picLocks noChangeAspect="1"/>
          </p:cNvPicPr>
          <p:nvPr/>
        </p:nvPicPr>
        <p:blipFill>
          <a:blip r:embed="rId16"/>
          <a:stretch>
            <a:fillRect/>
          </a:stretch>
        </p:blipFill>
        <p:spPr>
          <a:xfrm>
            <a:off x="5288748" y="4437590"/>
            <a:ext cx="128699" cy="187198"/>
          </a:xfrm>
          <a:prstGeom prst="rect">
            <a:avLst/>
          </a:prstGeom>
        </p:spPr>
      </p:pic>
      <p:sp>
        <p:nvSpPr>
          <p:cNvPr id="102" name="TextBox 101"/>
          <p:cNvSpPr txBox="1"/>
          <p:nvPr/>
        </p:nvSpPr>
        <p:spPr>
          <a:xfrm>
            <a:off x="545624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6315694" y="4437590"/>
            <a:ext cx="128699" cy="187198"/>
          </a:xfrm>
          <a:prstGeom prst="rect">
            <a:avLst/>
          </a:prstGeom>
        </p:spPr>
      </p:pic>
      <p:sp>
        <p:nvSpPr>
          <p:cNvPr id="104" name="TextBox 103"/>
          <p:cNvSpPr txBox="1"/>
          <p:nvPr/>
        </p:nvSpPr>
        <p:spPr>
          <a:xfrm>
            <a:off x="648319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982340" cy="186689"/>
          </a:xfrm>
          <a:prstGeom prst="rect">
            <a:avLst/>
          </a:prstGeom>
          <a:noFill/>
        </p:spPr>
        <p:txBody>
          <a:bodyPr wrap="none" lIns="0" rIns="0" tIns="0" bIns="0">
            <a:spAutoFit/>
          </a:bodyPr>
          <a:lstStyle/>
          <a:p>
            <a:r>
              <a:rPr sz="1100" b="0">
                <a:solidFill>
                  <a:srgbClr val="2E2E2E"/>
                </a:solidFill>
                <a:latin typeface="Calibri"/>
              </a:rPr>
              <a:t>● Conventional:</a:t>
            </a:r>
          </a:p>
        </p:txBody>
      </p:sp>
      <p:pic>
        <p:nvPicPr>
          <p:cNvPr id="106" name="Picture 105" descr="lock.png"/>
          <p:cNvPicPr>
            <a:picLocks noChangeAspect="1"/>
          </p:cNvPicPr>
          <p:nvPr/>
        </p:nvPicPr>
        <p:blipFill>
          <a:blip r:embed="rId16"/>
          <a:stretch>
            <a:fillRect/>
          </a:stretch>
        </p:blipFill>
        <p:spPr>
          <a:xfrm>
            <a:off x="4768966" y="4655522"/>
            <a:ext cx="128699" cy="187198"/>
          </a:xfrm>
          <a:prstGeom prst="rect">
            <a:avLst/>
          </a:prstGeom>
        </p:spPr>
      </p:pic>
      <p:sp>
        <p:nvSpPr>
          <p:cNvPr id="107" name="TextBox 106"/>
          <p:cNvSpPr txBox="1"/>
          <p:nvPr/>
        </p:nvSpPr>
        <p:spPr>
          <a:xfrm>
            <a:off x="49364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795912" y="4655522"/>
            <a:ext cx="128699" cy="187198"/>
          </a:xfrm>
          <a:prstGeom prst="rect">
            <a:avLst/>
          </a:prstGeom>
        </p:spPr>
      </p:pic>
      <p:sp>
        <p:nvSpPr>
          <p:cNvPr id="109" name="TextBox 108"/>
          <p:cNvSpPr txBox="1"/>
          <p:nvPr/>
        </p:nvSpPr>
        <p:spPr>
          <a:xfrm>
            <a:off x="5963408"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0" name="TextBox 109"/>
          <p:cNvSpPr txBox="1"/>
          <p:nvPr/>
        </p:nvSpPr>
        <p:spPr>
          <a:xfrm>
            <a:off x="3838575" y="4883233"/>
            <a:ext cx="584522" cy="186689"/>
          </a:xfrm>
          <a:prstGeom prst="rect">
            <a:avLst/>
          </a:prstGeom>
          <a:noFill/>
        </p:spPr>
        <p:txBody>
          <a:bodyPr wrap="none" lIns="0" rIns="0" tIns="0" bIns="0">
            <a:spAutoFit/>
          </a:bodyPr>
          <a:lstStyle/>
          <a:p>
            <a:r>
              <a:rPr sz="1100" b="0">
                <a:solidFill>
                  <a:srgbClr val="2E2E2E"/>
                </a:solidFill>
                <a:latin typeface="Calibri"/>
              </a:rPr>
              <a:t>● Vegan:</a:t>
            </a:r>
          </a:p>
        </p:txBody>
      </p:sp>
      <p:pic>
        <p:nvPicPr>
          <p:cNvPr id="111" name="Picture 110" descr="lock.png"/>
          <p:cNvPicPr>
            <a:picLocks noChangeAspect="1"/>
          </p:cNvPicPr>
          <p:nvPr/>
        </p:nvPicPr>
        <p:blipFill>
          <a:blip r:embed="rId16"/>
          <a:stretch>
            <a:fillRect/>
          </a:stretch>
        </p:blipFill>
        <p:spPr>
          <a:xfrm>
            <a:off x="4371149" y="4873454"/>
            <a:ext cx="128699" cy="187198"/>
          </a:xfrm>
          <a:prstGeom prst="rect">
            <a:avLst/>
          </a:prstGeom>
        </p:spPr>
      </p:pic>
      <p:sp>
        <p:nvSpPr>
          <p:cNvPr id="112" name="TextBox 111"/>
          <p:cNvSpPr txBox="1"/>
          <p:nvPr/>
        </p:nvSpPr>
        <p:spPr>
          <a:xfrm>
            <a:off x="453864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5398095" y="4873454"/>
            <a:ext cx="128699" cy="187198"/>
          </a:xfrm>
          <a:prstGeom prst="rect">
            <a:avLst/>
          </a:prstGeom>
        </p:spPr>
      </p:pic>
      <p:sp>
        <p:nvSpPr>
          <p:cNvPr id="114" name="TextBox 113"/>
          <p:cNvSpPr txBox="1"/>
          <p:nvPr/>
        </p:nvSpPr>
        <p:spPr>
          <a:xfrm>
            <a:off x="5565590"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5" name="TextBox 114"/>
          <p:cNvSpPr txBox="1"/>
          <p:nvPr/>
        </p:nvSpPr>
        <p:spPr>
          <a:xfrm>
            <a:off x="8524875" y="5842641"/>
            <a:ext cx="3021419" cy="194310"/>
          </a:xfrm>
          <a:prstGeom prst="rect">
            <a:avLst/>
          </a:prstGeom>
          <a:noFill/>
        </p:spPr>
        <p:txBody>
          <a:bodyPr wrap="none" lIns="0" rIns="0" tIns="0" bIns="0">
            <a:spAutoFit/>
          </a:bodyPr>
          <a:lstStyle/>
          <a:p>
            <a:r>
              <a:rPr sz="1150" b="1">
                <a:solidFill>
                  <a:srgbClr val="0B2E4A"/>
                </a:solidFill>
                <a:latin typeface="Calibri"/>
              </a:rPr>
              <a:t>The Dietary Formulation segment is projected to</a:t>
            </a:r>
          </a:p>
        </p:txBody>
      </p:sp>
      <p:sp>
        <p:nvSpPr>
          <p:cNvPr id="116" name="TextBox 11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7" name="Picture 116" descr="lock.png"/>
          <p:cNvPicPr>
            <a:picLocks noChangeAspect="1"/>
          </p:cNvPicPr>
          <p:nvPr/>
        </p:nvPicPr>
        <p:blipFill>
          <a:blip r:embed="rId16"/>
          <a:stretch>
            <a:fillRect/>
          </a:stretch>
        </p:blipFill>
        <p:spPr>
          <a:xfrm>
            <a:off x="9651852" y="6007677"/>
            <a:ext cx="134549" cy="195707"/>
          </a:xfrm>
          <a:prstGeom prst="rect">
            <a:avLst/>
          </a:prstGeom>
        </p:spPr>
      </p:pic>
      <p:sp>
        <p:nvSpPr>
          <p:cNvPr id="118" name="TextBox 11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Dietary Formulation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Dietary Formulation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Dietary Formulation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Dietary Formulation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258742" cy="186689"/>
          </a:xfrm>
          <a:prstGeom prst="rect">
            <a:avLst/>
          </a:prstGeom>
          <a:noFill/>
        </p:spPr>
        <p:txBody>
          <a:bodyPr wrap="none" lIns="0" rIns="0" tIns="0" bIns="0">
            <a:spAutoFit/>
          </a:bodyPr>
          <a:lstStyle/>
          <a:p>
            <a:r>
              <a:rPr sz="1100" b="0">
                <a:solidFill>
                  <a:srgbClr val="2E2E2E"/>
                </a:solidFill>
                <a:latin typeface="Calibri"/>
              </a:rPr>
              <a:t>Between 2026 and 2036, 'Gluten-free' gains the most share in the North America market (+</a:t>
            </a:r>
          </a:p>
        </p:txBody>
      </p:sp>
      <p:pic>
        <p:nvPicPr>
          <p:cNvPr id="21" name="Picture 20" descr="lock.png"/>
          <p:cNvPicPr>
            <a:picLocks noChangeAspect="1"/>
          </p:cNvPicPr>
          <p:nvPr/>
        </p:nvPicPr>
        <p:blipFill>
          <a:blip r:embed="rId6"/>
          <a:stretch>
            <a:fillRect/>
          </a:stretch>
        </p:blipFill>
        <p:spPr>
          <a:xfrm>
            <a:off x="5463969" y="5851905"/>
            <a:ext cx="128699" cy="187198"/>
          </a:xfrm>
          <a:prstGeom prst="rect">
            <a:avLst/>
          </a:prstGeom>
        </p:spPr>
      </p:pic>
      <p:sp>
        <p:nvSpPr>
          <p:cNvPr id="22" name="TextBox 21"/>
          <p:cNvSpPr txBox="1"/>
          <p:nvPr/>
        </p:nvSpPr>
        <p:spPr>
          <a:xfrm>
            <a:off x="5631464" y="5861685"/>
            <a:ext cx="2393801" cy="186689"/>
          </a:xfrm>
          <a:prstGeom prst="rect">
            <a:avLst/>
          </a:prstGeom>
          <a:noFill/>
        </p:spPr>
        <p:txBody>
          <a:bodyPr wrap="none" lIns="0" rIns="0" tIns="0" bIns="0">
            <a:spAutoFit/>
          </a:bodyPr>
          <a:lstStyle/>
          <a:p>
            <a:r>
              <a:rPr sz="1100" b="0">
                <a:solidFill>
                  <a:srgbClr val="2E2E2E"/>
                </a:solidFill>
                <a:latin typeface="Calibri"/>
              </a:rPr>
              <a:t>BPS) while 'Gluten-free and vegan' cedes</a:t>
            </a:r>
          </a:p>
        </p:txBody>
      </p:sp>
      <p:pic>
        <p:nvPicPr>
          <p:cNvPr id="23" name="Picture 22" descr="lock.png"/>
          <p:cNvPicPr>
            <a:picLocks noChangeAspect="1"/>
          </p:cNvPicPr>
          <p:nvPr/>
        </p:nvPicPr>
        <p:blipFill>
          <a:blip r:embed="rId6"/>
          <a:stretch>
            <a:fillRect/>
          </a:stretch>
        </p:blipFill>
        <p:spPr>
          <a:xfrm>
            <a:off x="7973317" y="5851905"/>
            <a:ext cx="128699" cy="187198"/>
          </a:xfrm>
          <a:prstGeom prst="rect">
            <a:avLst/>
          </a:prstGeom>
        </p:spPr>
      </p:pic>
      <p:sp>
        <p:nvSpPr>
          <p:cNvPr id="24" name="TextBox 23"/>
          <p:cNvSpPr txBox="1"/>
          <p:nvPr/>
        </p:nvSpPr>
        <p:spPr>
          <a:xfrm>
            <a:off x="8140813"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Dietary Formulation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Gluten-free</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Vegan</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Gluten-free and vegan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Dietary Formulation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Dietary Formulation,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Dietary Formulation (MT)</a:t>
            </a:r>
          </a:p>
        </p:txBody>
      </p:sp>
      <p:graphicFrame>
        <p:nvGraphicFramePr>
          <p:cNvPr id="13" name="Table 12"/>
          <p:cNvGraphicFramePr>
            <a:graphicFrameLocks noGrp="1"/>
          </p:cNvGraphicFramePr>
          <p:nvPr/>
        </p:nvGraphicFramePr>
        <p:xfrm>
          <a:off x="152400" y="1238250"/>
          <a:ext cx="11887199" cy="1676402"/>
        </p:xfrm>
        <a:graphic>
          <a:graphicData uri="http://schemas.openxmlformats.org/drawingml/2006/table">
            <a:tbl>
              <a:tblPr>
                <a:tableStyleId>{5C22544A-7EE6-4342-B048-85BDC9FD1C3A}</a:tableStyleId>
              </a:tblPr>
              <a:tblGrid>
                <a:gridCol w="1434703"/>
                <a:gridCol w="563999"/>
                <a:gridCol w="563999"/>
                <a:gridCol w="563999"/>
                <a:gridCol w="563999"/>
                <a:gridCol w="563999"/>
                <a:gridCol w="563999"/>
                <a:gridCol w="563999"/>
                <a:gridCol w="674370"/>
                <a:gridCol w="674370"/>
                <a:gridCol w="674370"/>
                <a:gridCol w="674370"/>
                <a:gridCol w="674370"/>
                <a:gridCol w="674370"/>
                <a:gridCol w="674370"/>
                <a:gridCol w="674370"/>
                <a:gridCol w="674370"/>
                <a:gridCol w="435173"/>
              </a:tblGrid>
              <a:tr h="438912">
                <a:tc>
                  <a:txBody>
                    <a:bodyPr wrap="none"/>
                    <a:lstStyle/>
                    <a:p>
                      <a:pPr algn="l"/>
                      <a:r>
                        <a:rPr sz="1100" b="1">
                          <a:solidFill>
                            <a:srgbClr val="0B2E4A"/>
                          </a:solidFill>
                          <a:latin typeface="Calibri"/>
                        </a:rPr>
                        <a:t>Dietary Formulation</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7498">
                <a:tc>
                  <a:txBody>
                    <a:bodyPr wrap="none"/>
                    <a:lstStyle/>
                    <a:p>
                      <a:pPr algn="l"/>
                      <a:r>
                        <a:rPr sz="1100" b="1">
                          <a:solidFill>
                            <a:srgbClr val="2E2E2E"/>
                          </a:solidFill>
                          <a:latin typeface="Calibri"/>
                        </a:rPr>
                        <a:t>Conventional</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498">
                <a:tc>
                  <a:txBody>
                    <a:bodyPr wrap="none"/>
                    <a:lstStyle/>
                    <a:p>
                      <a:pPr algn="l"/>
                      <a:r>
                        <a:rPr sz="1100" b="1">
                          <a:solidFill>
                            <a:srgbClr val="2E2E2E"/>
                          </a:solidFill>
                          <a:latin typeface="Calibri"/>
                        </a:rPr>
                        <a:t>Gluten-free</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498">
                <a:tc>
                  <a:txBody>
                    <a:bodyPr wrap="none"/>
                    <a:lstStyle/>
                    <a:p>
                      <a:pPr algn="l"/>
                      <a:r>
                        <a:rPr sz="1100" b="1">
                          <a:solidFill>
                            <a:srgbClr val="2E2E2E"/>
                          </a:solidFill>
                          <a:latin typeface="Calibri"/>
                        </a:rPr>
                        <a:t>Vegan</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498">
                <a:tc>
                  <a:txBody>
                    <a:bodyPr wrap="none"/>
                    <a:lstStyle/>
                    <a:p>
                      <a:pPr algn="l"/>
                      <a:r>
                        <a:rPr sz="1100" b="1">
                          <a:solidFill>
                            <a:srgbClr val="2E2E2E"/>
                          </a:solidFill>
                          <a:latin typeface="Calibri"/>
                        </a:rPr>
                        <a:t>Gluten-free and vegan</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Dietary Formulation</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26661" y="2029206"/>
            <a:ext cx="366712" cy="533400"/>
          </a:xfrm>
          <a:prstGeom prst="rect">
            <a:avLst/>
          </a:prstGeom>
        </p:spPr>
      </p:pic>
      <p:sp>
        <p:nvSpPr>
          <p:cNvPr id="21" name="TextBox 20"/>
          <p:cNvSpPr txBox="1"/>
          <p:nvPr/>
        </p:nvSpPr>
        <p:spPr>
          <a:xfrm>
            <a:off x="276225" y="3676650"/>
            <a:ext cx="3046548" cy="194310"/>
          </a:xfrm>
          <a:prstGeom prst="rect">
            <a:avLst/>
          </a:prstGeom>
          <a:noFill/>
        </p:spPr>
        <p:txBody>
          <a:bodyPr wrap="none" lIns="0" rIns="0" tIns="0" bIns="0">
            <a:spAutoFit/>
          </a:bodyPr>
          <a:lstStyle/>
          <a:p>
            <a:r>
              <a:rPr sz="1150" b="0">
                <a:solidFill>
                  <a:srgbClr val="2E2E2E"/>
                </a:solidFill>
                <a:latin typeface="Calibri"/>
              </a:rPr>
              <a:t>▪ 'Gluten-free' is the largest dietary formulation at</a:t>
            </a:r>
          </a:p>
        </p:txBody>
      </p:sp>
      <p:pic>
        <p:nvPicPr>
          <p:cNvPr id="22" name="Picture 21" descr="lock.png"/>
          <p:cNvPicPr>
            <a:picLocks noChangeAspect="1"/>
          </p:cNvPicPr>
          <p:nvPr/>
        </p:nvPicPr>
        <p:blipFill>
          <a:blip r:embed="rId4"/>
          <a:stretch>
            <a:fillRect/>
          </a:stretch>
        </p:blipFill>
        <p:spPr>
          <a:xfrm>
            <a:off x="3271927" y="3666426"/>
            <a:ext cx="134549" cy="195707"/>
          </a:xfrm>
          <a:prstGeom prst="rect">
            <a:avLst/>
          </a:prstGeom>
        </p:spPr>
      </p:pic>
      <p:sp>
        <p:nvSpPr>
          <p:cNvPr id="23" name="TextBox 22"/>
          <p:cNvSpPr txBox="1"/>
          <p:nvPr/>
        </p:nvSpPr>
        <p:spPr>
          <a:xfrm>
            <a:off x="3447037" y="36766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76770" y="3666426"/>
            <a:ext cx="134549" cy="195707"/>
          </a:xfrm>
          <a:prstGeom prst="rect">
            <a:avLst/>
          </a:prstGeom>
        </p:spPr>
      </p:pic>
      <p:sp>
        <p:nvSpPr>
          <p:cNvPr id="25" name="TextBox 24"/>
          <p:cNvSpPr txBox="1"/>
          <p:nvPr/>
        </p:nvSpPr>
        <p:spPr>
          <a:xfrm>
            <a:off x="4651879" y="36766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904487"/>
            <a:ext cx="1836216" cy="194310"/>
          </a:xfrm>
          <a:prstGeom prst="rect">
            <a:avLst/>
          </a:prstGeom>
          <a:noFill/>
        </p:spPr>
        <p:txBody>
          <a:bodyPr wrap="none" lIns="0" rIns="0" tIns="0" bIns="0">
            <a:spAutoFit/>
          </a:bodyPr>
          <a:lstStyle/>
          <a:p>
            <a:r>
              <a:rPr sz="1150" b="0">
                <a:solidFill>
                  <a:srgbClr val="2E2E2E"/>
                </a:solidFill>
                <a:latin typeface="Calibri"/>
              </a:rPr>
              <a:t>▪ 'Conventional' grows fastest</a:t>
            </a:r>
          </a:p>
        </p:txBody>
      </p:sp>
      <p:pic>
        <p:nvPicPr>
          <p:cNvPr id="27" name="Picture 26" descr="lock.png"/>
          <p:cNvPicPr>
            <a:picLocks noChangeAspect="1"/>
          </p:cNvPicPr>
          <p:nvPr/>
        </p:nvPicPr>
        <p:blipFill>
          <a:blip r:embed="rId4"/>
          <a:stretch>
            <a:fillRect/>
          </a:stretch>
        </p:blipFill>
        <p:spPr>
          <a:xfrm>
            <a:off x="2061595" y="3894264"/>
            <a:ext cx="134549" cy="195707"/>
          </a:xfrm>
          <a:prstGeom prst="rect">
            <a:avLst/>
          </a:prstGeom>
        </p:spPr>
      </p:pic>
      <p:sp>
        <p:nvSpPr>
          <p:cNvPr id="28" name="TextBox 27"/>
          <p:cNvSpPr txBox="1"/>
          <p:nvPr/>
        </p:nvSpPr>
        <p:spPr>
          <a:xfrm>
            <a:off x="2236704" y="39044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132325"/>
            <a:ext cx="2345394" cy="194310"/>
          </a:xfrm>
          <a:prstGeom prst="rect">
            <a:avLst/>
          </a:prstGeom>
          <a:noFill/>
        </p:spPr>
        <p:txBody>
          <a:bodyPr wrap="none" lIns="0" rIns="0" tIns="0" bIns="0">
            <a:spAutoFit/>
          </a:bodyPr>
          <a:lstStyle/>
          <a:p>
            <a:r>
              <a:rPr sz="1150" b="0">
                <a:solidFill>
                  <a:srgbClr val="2E2E2E"/>
                </a:solidFill>
                <a:latin typeface="Calibri"/>
              </a:rPr>
              <a:t>▪ Share shifts toward 'Conventional' (+</a:t>
            </a:r>
          </a:p>
        </p:txBody>
      </p:sp>
      <p:pic>
        <p:nvPicPr>
          <p:cNvPr id="30" name="Picture 29" descr="lock.png"/>
          <p:cNvPicPr>
            <a:picLocks noChangeAspect="1"/>
          </p:cNvPicPr>
          <p:nvPr/>
        </p:nvPicPr>
        <p:blipFill>
          <a:blip r:embed="rId4"/>
          <a:stretch>
            <a:fillRect/>
          </a:stretch>
        </p:blipFill>
        <p:spPr>
          <a:xfrm>
            <a:off x="2570773" y="4122102"/>
            <a:ext cx="134549" cy="195707"/>
          </a:xfrm>
          <a:prstGeom prst="rect">
            <a:avLst/>
          </a:prstGeom>
        </p:spPr>
      </p:pic>
      <p:sp>
        <p:nvSpPr>
          <p:cNvPr id="31" name="TextBox 30"/>
          <p:cNvSpPr txBox="1"/>
          <p:nvPr/>
        </p:nvSpPr>
        <p:spPr>
          <a:xfrm>
            <a:off x="2745883" y="4132325"/>
            <a:ext cx="2814922" cy="194310"/>
          </a:xfrm>
          <a:prstGeom prst="rect">
            <a:avLst/>
          </a:prstGeom>
          <a:noFill/>
        </p:spPr>
        <p:txBody>
          <a:bodyPr wrap="none" lIns="0" rIns="0" tIns="0" bIns="0">
            <a:spAutoFit/>
          </a:bodyPr>
          <a:lstStyle/>
          <a:p>
            <a:r>
              <a:rPr sz="1150" b="0">
                <a:solidFill>
                  <a:srgbClr val="2E2E2E"/>
                </a:solidFill>
                <a:latin typeface="Calibri"/>
              </a:rPr>
              <a:t>BPS) and away from 'Gluten-free and vegan' (-</a:t>
            </a:r>
          </a:p>
        </p:txBody>
      </p:sp>
      <p:pic>
        <p:nvPicPr>
          <p:cNvPr id="32" name="Picture 31" descr="lock.png"/>
          <p:cNvPicPr>
            <a:picLocks noChangeAspect="1"/>
          </p:cNvPicPr>
          <p:nvPr/>
        </p:nvPicPr>
        <p:blipFill>
          <a:blip r:embed="rId4"/>
          <a:stretch>
            <a:fillRect/>
          </a:stretch>
        </p:blipFill>
        <p:spPr>
          <a:xfrm>
            <a:off x="5509959" y="4122102"/>
            <a:ext cx="134549" cy="195707"/>
          </a:xfrm>
          <a:prstGeom prst="rect">
            <a:avLst/>
          </a:prstGeom>
        </p:spPr>
      </p:pic>
      <p:sp>
        <p:nvSpPr>
          <p:cNvPr id="33" name="TextBox 32"/>
          <p:cNvSpPr txBox="1"/>
          <p:nvPr/>
        </p:nvSpPr>
        <p:spPr>
          <a:xfrm>
            <a:off x="5685068" y="41323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601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349940"/>
            <a:ext cx="134549" cy="195707"/>
          </a:xfrm>
          <a:prstGeom prst="rect">
            <a:avLst/>
          </a:prstGeom>
        </p:spPr>
      </p:pic>
      <p:sp>
        <p:nvSpPr>
          <p:cNvPr id="36" name="TextBox 35"/>
          <p:cNvSpPr txBox="1"/>
          <p:nvPr/>
        </p:nvSpPr>
        <p:spPr>
          <a:xfrm>
            <a:off x="1965143" y="43601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349940"/>
            <a:ext cx="134549" cy="195707"/>
          </a:xfrm>
          <a:prstGeom prst="rect">
            <a:avLst/>
          </a:prstGeom>
        </p:spPr>
      </p:pic>
      <p:sp>
        <p:nvSpPr>
          <p:cNvPr id="38" name="TextBox 37"/>
          <p:cNvSpPr txBox="1"/>
          <p:nvPr/>
        </p:nvSpPr>
        <p:spPr>
          <a:xfrm>
            <a:off x="2291688" y="43601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Dietary Formulation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Dietary Formulation,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Dietary Formulation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1590585"/>
                <a:gridCol w="605683"/>
                <a:gridCol w="605683"/>
                <a:gridCol w="605683"/>
                <a:gridCol w="605683"/>
                <a:gridCol w="605683"/>
                <a:gridCol w="605683"/>
                <a:gridCol w="605683"/>
                <a:gridCol w="605683"/>
                <a:gridCol w="605683"/>
                <a:gridCol w="605683"/>
                <a:gridCol w="605683"/>
                <a:gridCol w="605683"/>
                <a:gridCol w="605683"/>
                <a:gridCol w="605683"/>
                <a:gridCol w="605683"/>
                <a:gridCol w="605683"/>
                <a:gridCol w="605683"/>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Dietary Formulation</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04600" y="1837563"/>
            <a:ext cx="366712" cy="533400"/>
          </a:xfrm>
          <a:prstGeom prst="rect">
            <a:avLst/>
          </a:prstGeom>
        </p:spPr>
      </p:pic>
      <p:sp>
        <p:nvSpPr>
          <p:cNvPr id="21" name="TextBox 20"/>
          <p:cNvSpPr txBox="1"/>
          <p:nvPr/>
        </p:nvSpPr>
        <p:spPr>
          <a:xfrm>
            <a:off x="276225" y="3486150"/>
            <a:ext cx="3046548" cy="194310"/>
          </a:xfrm>
          <a:prstGeom prst="rect">
            <a:avLst/>
          </a:prstGeom>
          <a:noFill/>
        </p:spPr>
        <p:txBody>
          <a:bodyPr wrap="none" lIns="0" rIns="0" tIns="0" bIns="0">
            <a:spAutoFit/>
          </a:bodyPr>
          <a:lstStyle/>
          <a:p>
            <a:r>
              <a:rPr sz="1150" b="0">
                <a:solidFill>
                  <a:srgbClr val="2E2E2E"/>
                </a:solidFill>
                <a:latin typeface="Calibri"/>
              </a:rPr>
              <a:t>▪ 'Gluten-free' is the largest dietary formulation at</a:t>
            </a:r>
          </a:p>
        </p:txBody>
      </p:sp>
      <p:pic>
        <p:nvPicPr>
          <p:cNvPr id="22" name="Picture 21" descr="lock.png"/>
          <p:cNvPicPr>
            <a:picLocks noChangeAspect="1"/>
          </p:cNvPicPr>
          <p:nvPr/>
        </p:nvPicPr>
        <p:blipFill>
          <a:blip r:embed="rId4"/>
          <a:stretch>
            <a:fillRect/>
          </a:stretch>
        </p:blipFill>
        <p:spPr>
          <a:xfrm>
            <a:off x="3271927" y="3475926"/>
            <a:ext cx="134549" cy="195707"/>
          </a:xfrm>
          <a:prstGeom prst="rect">
            <a:avLst/>
          </a:prstGeom>
        </p:spPr>
      </p:pic>
      <p:sp>
        <p:nvSpPr>
          <p:cNvPr id="23" name="TextBox 22"/>
          <p:cNvSpPr txBox="1"/>
          <p:nvPr/>
        </p:nvSpPr>
        <p:spPr>
          <a:xfrm>
            <a:off x="3447037"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52969" y="3475926"/>
            <a:ext cx="134549" cy="195707"/>
          </a:xfrm>
          <a:prstGeom prst="rect">
            <a:avLst/>
          </a:prstGeom>
        </p:spPr>
      </p:pic>
      <p:sp>
        <p:nvSpPr>
          <p:cNvPr id="25" name="TextBox 24"/>
          <p:cNvSpPr txBox="1"/>
          <p:nvPr/>
        </p:nvSpPr>
        <p:spPr>
          <a:xfrm>
            <a:off x="4528079"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1836216" cy="194310"/>
          </a:xfrm>
          <a:prstGeom prst="rect">
            <a:avLst/>
          </a:prstGeom>
          <a:noFill/>
        </p:spPr>
        <p:txBody>
          <a:bodyPr wrap="none" lIns="0" rIns="0" tIns="0" bIns="0">
            <a:spAutoFit/>
          </a:bodyPr>
          <a:lstStyle/>
          <a:p>
            <a:r>
              <a:rPr sz="1150" b="0">
                <a:solidFill>
                  <a:srgbClr val="2E2E2E"/>
                </a:solidFill>
                <a:latin typeface="Calibri"/>
              </a:rPr>
              <a:t>▪ 'Conventional' grows fastest</a:t>
            </a:r>
          </a:p>
        </p:txBody>
      </p:sp>
      <p:pic>
        <p:nvPicPr>
          <p:cNvPr id="27" name="Picture 26" descr="lock.png"/>
          <p:cNvPicPr>
            <a:picLocks noChangeAspect="1"/>
          </p:cNvPicPr>
          <p:nvPr/>
        </p:nvPicPr>
        <p:blipFill>
          <a:blip r:embed="rId4"/>
          <a:stretch>
            <a:fillRect/>
          </a:stretch>
        </p:blipFill>
        <p:spPr>
          <a:xfrm>
            <a:off x="2061595" y="3703764"/>
            <a:ext cx="134549" cy="195707"/>
          </a:xfrm>
          <a:prstGeom prst="rect">
            <a:avLst/>
          </a:prstGeom>
        </p:spPr>
      </p:pic>
      <p:sp>
        <p:nvSpPr>
          <p:cNvPr id="28" name="TextBox 27"/>
          <p:cNvSpPr txBox="1"/>
          <p:nvPr/>
        </p:nvSpPr>
        <p:spPr>
          <a:xfrm>
            <a:off x="2236704"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45270" cy="194310"/>
          </a:xfrm>
          <a:prstGeom prst="rect">
            <a:avLst/>
          </a:prstGeom>
          <a:noFill/>
        </p:spPr>
        <p:txBody>
          <a:bodyPr wrap="none" lIns="0" rIns="0" tIns="0" bIns="0">
            <a:spAutoFit/>
          </a:bodyPr>
          <a:lstStyle/>
          <a:p>
            <a:r>
              <a:rPr sz="1150" b="0">
                <a:solidFill>
                  <a:srgbClr val="2E2E2E"/>
                </a:solidFill>
                <a:latin typeface="Calibri"/>
              </a:rPr>
              <a:t>▪ Share shifts toward 'Gluten-free' (+</a:t>
            </a:r>
          </a:p>
        </p:txBody>
      </p:sp>
      <p:pic>
        <p:nvPicPr>
          <p:cNvPr id="30" name="Picture 29" descr="lock.png"/>
          <p:cNvPicPr>
            <a:picLocks noChangeAspect="1"/>
          </p:cNvPicPr>
          <p:nvPr/>
        </p:nvPicPr>
        <p:blipFill>
          <a:blip r:embed="rId4"/>
          <a:stretch>
            <a:fillRect/>
          </a:stretch>
        </p:blipFill>
        <p:spPr>
          <a:xfrm>
            <a:off x="2470649" y="3931602"/>
            <a:ext cx="134549" cy="195707"/>
          </a:xfrm>
          <a:prstGeom prst="rect">
            <a:avLst/>
          </a:prstGeom>
        </p:spPr>
      </p:pic>
      <p:sp>
        <p:nvSpPr>
          <p:cNvPr id="31" name="TextBox 30"/>
          <p:cNvSpPr txBox="1"/>
          <p:nvPr/>
        </p:nvSpPr>
        <p:spPr>
          <a:xfrm>
            <a:off x="2645758" y="3941825"/>
            <a:ext cx="2814922" cy="194310"/>
          </a:xfrm>
          <a:prstGeom prst="rect">
            <a:avLst/>
          </a:prstGeom>
          <a:noFill/>
        </p:spPr>
        <p:txBody>
          <a:bodyPr wrap="none" lIns="0" rIns="0" tIns="0" bIns="0">
            <a:spAutoFit/>
          </a:bodyPr>
          <a:lstStyle/>
          <a:p>
            <a:r>
              <a:rPr sz="1150" b="0">
                <a:solidFill>
                  <a:srgbClr val="2E2E2E"/>
                </a:solidFill>
                <a:latin typeface="Calibri"/>
              </a:rPr>
              <a:t>BPS) and away from 'Gluten-free and vegan' (-</a:t>
            </a:r>
          </a:p>
        </p:txBody>
      </p:sp>
      <p:pic>
        <p:nvPicPr>
          <p:cNvPr id="32" name="Picture 31" descr="lock.png"/>
          <p:cNvPicPr>
            <a:picLocks noChangeAspect="1"/>
          </p:cNvPicPr>
          <p:nvPr/>
        </p:nvPicPr>
        <p:blipFill>
          <a:blip r:embed="rId4"/>
          <a:stretch>
            <a:fillRect/>
          </a:stretch>
        </p:blipFill>
        <p:spPr>
          <a:xfrm>
            <a:off x="5409835" y="3931602"/>
            <a:ext cx="134549" cy="195707"/>
          </a:xfrm>
          <a:prstGeom prst="rect">
            <a:avLst/>
          </a:prstGeom>
        </p:spPr>
      </p:pic>
      <p:sp>
        <p:nvSpPr>
          <p:cNvPr id="33" name="TextBox 32"/>
          <p:cNvSpPr txBox="1"/>
          <p:nvPr/>
        </p:nvSpPr>
        <p:spPr>
          <a:xfrm>
            <a:off x="5584944"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Dietary Formulation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Dietary Formulation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8646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817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055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Vegan</a:t>
            </a:r>
          </a:p>
        </p:txBody>
      </p:sp>
      <p:sp>
        <p:nvSpPr>
          <p:cNvPr id="19" name="BPS Value 1"/>
          <p:cNvSpPr txBox="1"/>
          <p:nvPr/>
        </p:nvSpPr>
        <p:spPr>
          <a:xfrm>
            <a:off x="6896100" y="176741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31762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31285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23665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a:t>
            </a:r>
          </a:p>
        </p:txBody>
      </p:sp>
      <p:sp>
        <p:nvSpPr>
          <p:cNvPr id="23" name="BPS Value 2"/>
          <p:cNvSpPr txBox="1"/>
          <p:nvPr/>
        </p:nvSpPr>
        <p:spPr>
          <a:xfrm>
            <a:off x="6896100" y="229857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40204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9727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3210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and vegan</a:t>
            </a:r>
          </a:p>
        </p:txBody>
      </p:sp>
      <p:sp>
        <p:nvSpPr>
          <p:cNvPr id="27" name="BPS Value 3"/>
          <p:cNvSpPr txBox="1"/>
          <p:nvPr/>
        </p:nvSpPr>
        <p:spPr>
          <a:xfrm>
            <a:off x="6896100" y="338299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15707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1523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0761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(base)</a:t>
            </a:r>
          </a:p>
        </p:txBody>
      </p:sp>
      <p:sp>
        <p:nvSpPr>
          <p:cNvPr id="31" name="BPS Value 4"/>
          <p:cNvSpPr txBox="1"/>
          <p:nvPr/>
        </p:nvSpPr>
        <p:spPr>
          <a:xfrm>
            <a:off x="6896100" y="51380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Dietary Formulation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282353" cy="194310"/>
          </a:xfrm>
          <a:prstGeom prst="rect">
            <a:avLst/>
          </a:prstGeom>
          <a:noFill/>
        </p:spPr>
        <p:txBody>
          <a:bodyPr wrap="none" lIns="0" rIns="0" tIns="0" bIns="0">
            <a:spAutoFit/>
          </a:bodyPr>
          <a:lstStyle/>
          <a:p>
            <a:r>
              <a:rPr sz="1150" b="0">
                <a:solidFill>
                  <a:srgbClr val="2E2E2E"/>
                </a:solidFill>
                <a:latin typeface="Calibri"/>
              </a:rPr>
              <a:t>▪ 'Gluten-free' gains the most share +</a:t>
            </a:r>
          </a:p>
        </p:txBody>
      </p:sp>
      <p:pic>
        <p:nvPicPr>
          <p:cNvPr id="39" name="Picture 38" descr="lock.png"/>
          <p:cNvPicPr>
            <a:picLocks noChangeAspect="1"/>
          </p:cNvPicPr>
          <p:nvPr/>
        </p:nvPicPr>
        <p:blipFill>
          <a:blip r:embed="rId5"/>
          <a:stretch>
            <a:fillRect/>
          </a:stretch>
        </p:blipFill>
        <p:spPr>
          <a:xfrm>
            <a:off x="10061057" y="1389951"/>
            <a:ext cx="134549" cy="195707"/>
          </a:xfrm>
          <a:prstGeom prst="rect">
            <a:avLst/>
          </a:prstGeom>
        </p:spPr>
      </p:pic>
      <p:sp>
        <p:nvSpPr>
          <p:cNvPr id="40" name="TextBox 39"/>
          <p:cNvSpPr txBox="1"/>
          <p:nvPr/>
        </p:nvSpPr>
        <p:spPr>
          <a:xfrm>
            <a:off x="10236166"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572456" cy="194310"/>
          </a:xfrm>
          <a:prstGeom prst="rect">
            <a:avLst/>
          </a:prstGeom>
          <a:noFill/>
        </p:spPr>
        <p:txBody>
          <a:bodyPr wrap="none" lIns="0" rIns="0" tIns="0" bIns="0">
            <a:spAutoFit/>
          </a:bodyPr>
          <a:lstStyle/>
          <a:p>
            <a:r>
              <a:rPr sz="1150" b="0">
                <a:solidFill>
                  <a:srgbClr val="2E2E2E"/>
                </a:solidFill>
                <a:latin typeface="Calibri"/>
              </a:rPr>
              <a:t>▪ 'Gluten-free and vegan' cedes the most -</a:t>
            </a:r>
          </a:p>
        </p:txBody>
      </p:sp>
      <p:pic>
        <p:nvPicPr>
          <p:cNvPr id="43" name="Picture 42" descr="lock.png"/>
          <p:cNvPicPr>
            <a:picLocks noChangeAspect="1"/>
          </p:cNvPicPr>
          <p:nvPr/>
        </p:nvPicPr>
        <p:blipFill>
          <a:blip r:embed="rId5"/>
          <a:stretch>
            <a:fillRect/>
          </a:stretch>
        </p:blipFill>
        <p:spPr>
          <a:xfrm>
            <a:off x="10351160" y="1793049"/>
            <a:ext cx="134549" cy="195707"/>
          </a:xfrm>
          <a:prstGeom prst="rect">
            <a:avLst/>
          </a:prstGeom>
        </p:spPr>
      </p:pic>
      <p:sp>
        <p:nvSpPr>
          <p:cNvPr id="44" name="TextBox 43"/>
          <p:cNvSpPr txBox="1"/>
          <p:nvPr/>
        </p:nvSpPr>
        <p:spPr>
          <a:xfrm>
            <a:off x="10526270"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5" name="TextBox 44"/>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3668972" cy="194310"/>
          </a:xfrm>
          <a:prstGeom prst="rect">
            <a:avLst/>
          </a:prstGeom>
          <a:noFill/>
        </p:spPr>
        <p:txBody>
          <a:bodyPr wrap="none" lIns="0" rIns="0" tIns="0" bIns="0">
            <a:spAutoFit/>
          </a:bodyPr>
          <a:lstStyle/>
          <a:p>
            <a:r>
              <a:rPr sz="1150" b="0">
                <a:solidFill>
                  <a:srgbClr val="2E2E2E"/>
                </a:solidFill>
                <a:latin typeface="Calibri"/>
              </a:rPr>
              <a:t>▪ 'Conventional' is the fastest-growing dietary formulation at</a:t>
            </a:r>
          </a:p>
        </p:txBody>
      </p:sp>
      <p:pic>
        <p:nvPicPr>
          <p:cNvPr id="47" name="Picture 46" descr="lock.png"/>
          <p:cNvPicPr>
            <a:picLocks noChangeAspect="1"/>
          </p:cNvPicPr>
          <p:nvPr/>
        </p:nvPicPr>
        <p:blipFill>
          <a:blip r:embed="rId5"/>
          <a:stretch>
            <a:fillRect/>
          </a:stretch>
        </p:blipFill>
        <p:spPr>
          <a:xfrm>
            <a:off x="11447676" y="2196147"/>
            <a:ext cx="134549" cy="195707"/>
          </a:xfrm>
          <a:prstGeom prst="rect">
            <a:avLst/>
          </a:prstGeom>
        </p:spPr>
      </p:pic>
      <p:sp>
        <p:nvSpPr>
          <p:cNvPr id="48" name="TextBox 47"/>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9" name="TextBox 48"/>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0" name="Picture 49" descr="lock.png"/>
          <p:cNvPicPr>
            <a:picLocks noChangeAspect="1"/>
          </p:cNvPicPr>
          <p:nvPr/>
        </p:nvPicPr>
        <p:blipFill>
          <a:blip r:embed="rId5"/>
          <a:stretch>
            <a:fillRect/>
          </a:stretch>
        </p:blipFill>
        <p:spPr>
          <a:xfrm>
            <a:off x="9327669" y="2599245"/>
            <a:ext cx="134549" cy="195707"/>
          </a:xfrm>
          <a:prstGeom prst="rect">
            <a:avLst/>
          </a:prstGeom>
        </p:spPr>
      </p:pic>
      <p:sp>
        <p:nvSpPr>
          <p:cNvPr id="51" name="TextBox 50"/>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2" name="Picture 51" descr="lock.png"/>
          <p:cNvPicPr>
            <a:picLocks noChangeAspect="1"/>
          </p:cNvPicPr>
          <p:nvPr/>
        </p:nvPicPr>
        <p:blipFill>
          <a:blip r:embed="rId5"/>
          <a:stretch>
            <a:fillRect/>
          </a:stretch>
        </p:blipFill>
        <p:spPr>
          <a:xfrm>
            <a:off x="9654215" y="2599245"/>
            <a:ext cx="134549" cy="195707"/>
          </a:xfrm>
          <a:prstGeom prst="rect">
            <a:avLst/>
          </a:prstGeom>
        </p:spPr>
      </p:pic>
      <p:sp>
        <p:nvSpPr>
          <p:cNvPr id="53" name="TextBox 52"/>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4" name="TextBox 53"/>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5" name="TextBox 54"/>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Dietary Formulation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Dietary Formulation,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1631154"/>
                <a:gridCol w="683736"/>
                <a:gridCol w="683736"/>
                <a:gridCol w="683736"/>
                <a:gridCol w="683736"/>
                <a:gridCol w="683736"/>
                <a:gridCol w="683736"/>
                <a:gridCol w="683736"/>
                <a:gridCol w="683736"/>
                <a:gridCol w="683736"/>
                <a:gridCol w="683736"/>
                <a:gridCol w="683736"/>
                <a:gridCol w="683736"/>
                <a:gridCol w="683736"/>
                <a:gridCol w="683736"/>
                <a:gridCol w="68373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Dietary Formulation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33" name="Rectangle 32"/>
          <p:cNvSpPr/>
          <p:nvPr/>
        </p:nvSpPr>
        <p:spPr>
          <a:xfrm>
            <a:off x="1857375" y="3248025"/>
            <a:ext cx="643890" cy="831056"/>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D63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sp>
        <p:nvSpPr>
          <p:cNvPr id="49" name="Rectangle 48"/>
          <p:cNvSpPr/>
          <p:nvPr/>
        </p:nvSpPr>
        <p:spPr>
          <a:xfrm>
            <a:off x="1857375" y="4079081"/>
            <a:ext cx="643890" cy="831056"/>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81" name="Rectangle 80"/>
          <p:cNvSpPr/>
          <p:nvPr/>
        </p:nvSpPr>
        <p:spPr>
          <a:xfrm>
            <a:off x="1857375" y="5741194"/>
            <a:ext cx="643890" cy="831056"/>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724884"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Dietary Formulation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Dietary Formulation,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1238250"/>
        </p:xfrm>
        <a:graphic>
          <a:graphicData uri="http://schemas.openxmlformats.org/drawingml/2006/table">
            <a:tbl>
              <a:tblPr>
                <a:tableStyleId>{5C22544A-7EE6-4342-B048-85BDC9FD1C3A}</a:tableStyleId>
              </a:tblPr>
              <a:tblGrid>
                <a:gridCol w="1739911"/>
                <a:gridCol w="676486"/>
                <a:gridCol w="676486"/>
                <a:gridCol w="676486"/>
                <a:gridCol w="676486"/>
                <a:gridCol w="676486"/>
                <a:gridCol w="676486"/>
                <a:gridCol w="676486"/>
                <a:gridCol w="676486"/>
                <a:gridCol w="676486"/>
                <a:gridCol w="676486"/>
                <a:gridCol w="676486"/>
                <a:gridCol w="676486"/>
                <a:gridCol w="676486"/>
                <a:gridCol w="676486"/>
                <a:gridCol w="67648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Dietary Formulation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33" name="Rectangle 32"/>
          <p:cNvSpPr/>
          <p:nvPr/>
        </p:nvSpPr>
        <p:spPr>
          <a:xfrm>
            <a:off x="1857375" y="3248025"/>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C3D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sp>
        <p:nvSpPr>
          <p:cNvPr id="49" name="Rectangle 48"/>
          <p:cNvSpPr/>
          <p:nvPr/>
        </p:nvSpPr>
        <p:spPr>
          <a:xfrm>
            <a:off x="1857375" y="4079081"/>
            <a:ext cx="643890" cy="831056"/>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81" name="Rectangle 80"/>
          <p:cNvSpPr/>
          <p:nvPr/>
        </p:nvSpPr>
        <p:spPr>
          <a:xfrm>
            <a:off x="1857375" y="5741194"/>
            <a:ext cx="643890" cy="831056"/>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779266"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Nutritional Positioning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Nutritional Positioning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Nutritional Positioning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Nutritional Positioning,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Nutritional Positioning segment categorizes the market by nutritional positioning.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Protein-enriched</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indulgent</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Reduced-sugar</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nutrition-focused formulati…</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Nutritional Positioning split shows how demand is distributed across nutritional positioning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789_1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_310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692_1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990_2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6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665_1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1_080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0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526_0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608_8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1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'Protein-enriched' holds the largest share in 2026</a:t>
            </a:r>
          </a:p>
        </p:txBody>
      </p:sp>
      <p:pic>
        <p:nvPicPr>
          <p:cNvPr id="81" name="Picture 80" descr="lock.png"/>
          <p:cNvPicPr>
            <a:picLocks noChangeAspect="1"/>
          </p:cNvPicPr>
          <p:nvPr/>
        </p:nvPicPr>
        <p:blipFill>
          <a:blip r:embed="rId16"/>
          <a:stretch>
            <a:fillRect/>
          </a:stretch>
        </p:blipFill>
        <p:spPr>
          <a:xfrm>
            <a:off x="472307" y="4387298"/>
            <a:ext cx="128699" cy="187198"/>
          </a:xfrm>
          <a:prstGeom prst="rect">
            <a:avLst/>
          </a:prstGeom>
        </p:spPr>
      </p:pic>
      <p:sp>
        <p:nvSpPr>
          <p:cNvPr id="82" name="TextBox 81"/>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305397" cy="186689"/>
          </a:xfrm>
          <a:prstGeom prst="rect">
            <a:avLst/>
          </a:prstGeom>
          <a:noFill/>
        </p:spPr>
        <p:txBody>
          <a:bodyPr wrap="none" lIns="0" rIns="0" tIns="0" bIns="0">
            <a:spAutoFit/>
          </a:bodyPr>
          <a:lstStyle/>
          <a:p>
            <a:r>
              <a:rPr sz="1100" b="0">
                <a:solidFill>
                  <a:srgbClr val="2E2E2E"/>
                </a:solidFill>
                <a:latin typeface="Calibri"/>
              </a:rPr>
              <a:t>▪ 'Fibre-enriched' is the fastest-growing</a:t>
            </a:r>
          </a:p>
        </p:txBody>
      </p:sp>
      <p:sp>
        <p:nvSpPr>
          <p:cNvPr id="84" name="TextBox 8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5" name="Picture 84" descr="lock.png"/>
          <p:cNvPicPr>
            <a:picLocks noChangeAspect="1"/>
          </p:cNvPicPr>
          <p:nvPr/>
        </p:nvPicPr>
        <p:blipFill>
          <a:blip r:embed="rId16"/>
          <a:stretch>
            <a:fillRect/>
          </a:stretch>
        </p:blipFill>
        <p:spPr>
          <a:xfrm>
            <a:off x="1391064" y="4772870"/>
            <a:ext cx="128699" cy="187198"/>
          </a:xfrm>
          <a:prstGeom prst="rect">
            <a:avLst/>
          </a:prstGeom>
        </p:spPr>
      </p:pic>
      <p:sp>
        <p:nvSpPr>
          <p:cNvPr id="86" name="TextBox 8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424906" cy="186689"/>
          </a:xfrm>
          <a:prstGeom prst="rect">
            <a:avLst/>
          </a:prstGeom>
          <a:noFill/>
        </p:spPr>
        <p:txBody>
          <a:bodyPr wrap="none" lIns="0" rIns="0" tIns="0" bIns="0">
            <a:spAutoFit/>
          </a:bodyPr>
          <a:lstStyle/>
          <a:p>
            <a:r>
              <a:rPr sz="1100" b="0">
                <a:solidFill>
                  <a:srgbClr val="2E2E2E"/>
                </a:solidFill>
                <a:latin typeface="Calibri"/>
              </a:rPr>
              <a:t>▪ 7 sub-segments make up the nutritional</a:t>
            </a:r>
          </a:p>
        </p:txBody>
      </p:sp>
      <p:sp>
        <p:nvSpPr>
          <p:cNvPr id="94" name="TextBox 93"/>
          <p:cNvSpPr txBox="1"/>
          <p:nvPr/>
        </p:nvSpPr>
        <p:spPr>
          <a:xfrm>
            <a:off x="485775" y="5553793"/>
            <a:ext cx="1343868" cy="186689"/>
          </a:xfrm>
          <a:prstGeom prst="rect">
            <a:avLst/>
          </a:prstGeom>
          <a:noFill/>
        </p:spPr>
        <p:txBody>
          <a:bodyPr wrap="none" lIns="0" rIns="0" tIns="0" bIns="0">
            <a:spAutoFit/>
          </a:bodyPr>
          <a:lstStyle/>
          <a:p>
            <a:r>
              <a:rPr sz="1100" b="0">
                <a:solidFill>
                  <a:srgbClr val="2E2E2E"/>
                </a:solidFill>
                <a:latin typeface="Calibri"/>
              </a:rPr>
              <a:t>positioning landscape.</a:t>
            </a:r>
          </a:p>
        </p:txBody>
      </p:sp>
      <p:sp>
        <p:nvSpPr>
          <p:cNvPr id="95" name="TextBox 94"/>
          <p:cNvSpPr txBox="1"/>
          <p:nvPr/>
        </p:nvSpPr>
        <p:spPr>
          <a:xfrm>
            <a:off x="3838575" y="4229437"/>
            <a:ext cx="1188888" cy="186689"/>
          </a:xfrm>
          <a:prstGeom prst="rect">
            <a:avLst/>
          </a:prstGeom>
          <a:noFill/>
        </p:spPr>
        <p:txBody>
          <a:bodyPr wrap="none" lIns="0" rIns="0" tIns="0" bIns="0">
            <a:spAutoFit/>
          </a:bodyPr>
          <a:lstStyle/>
          <a:p>
            <a:r>
              <a:rPr sz="1100" b="0">
                <a:solidFill>
                  <a:srgbClr val="2E2E2E"/>
                </a:solidFill>
                <a:latin typeface="Calibri"/>
              </a:rPr>
              <a:t>● Protein-enriched:</a:t>
            </a:r>
          </a:p>
        </p:txBody>
      </p:sp>
      <p:pic>
        <p:nvPicPr>
          <p:cNvPr id="96" name="Picture 95" descr="lock.png"/>
          <p:cNvPicPr>
            <a:picLocks noChangeAspect="1"/>
          </p:cNvPicPr>
          <p:nvPr/>
        </p:nvPicPr>
        <p:blipFill>
          <a:blip r:embed="rId16"/>
          <a:stretch>
            <a:fillRect/>
          </a:stretch>
        </p:blipFill>
        <p:spPr>
          <a:xfrm>
            <a:off x="4975515" y="4219658"/>
            <a:ext cx="128699" cy="187198"/>
          </a:xfrm>
          <a:prstGeom prst="rect">
            <a:avLst/>
          </a:prstGeom>
        </p:spPr>
      </p:pic>
      <p:sp>
        <p:nvSpPr>
          <p:cNvPr id="97" name="TextBox 96"/>
          <p:cNvSpPr txBox="1"/>
          <p:nvPr/>
        </p:nvSpPr>
        <p:spPr>
          <a:xfrm>
            <a:off x="514301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6002461" y="4219658"/>
            <a:ext cx="128699" cy="187198"/>
          </a:xfrm>
          <a:prstGeom prst="rect">
            <a:avLst/>
          </a:prstGeom>
        </p:spPr>
      </p:pic>
      <p:sp>
        <p:nvSpPr>
          <p:cNvPr id="99" name="TextBox 98"/>
          <p:cNvSpPr txBox="1"/>
          <p:nvPr/>
        </p:nvSpPr>
        <p:spPr>
          <a:xfrm>
            <a:off x="616995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1400894" cy="186689"/>
          </a:xfrm>
          <a:prstGeom prst="rect">
            <a:avLst/>
          </a:prstGeom>
          <a:noFill/>
        </p:spPr>
        <p:txBody>
          <a:bodyPr wrap="none" lIns="0" rIns="0" tIns="0" bIns="0">
            <a:spAutoFit/>
          </a:bodyPr>
          <a:lstStyle/>
          <a:p>
            <a:r>
              <a:rPr sz="1100" b="0">
                <a:solidFill>
                  <a:srgbClr val="2E2E2E"/>
                </a:solidFill>
                <a:latin typeface="Calibri"/>
              </a:rPr>
              <a:t>● Standard / indulgent:</a:t>
            </a:r>
          </a:p>
        </p:txBody>
      </p:sp>
      <p:pic>
        <p:nvPicPr>
          <p:cNvPr id="101" name="Picture 100" descr="lock.png"/>
          <p:cNvPicPr>
            <a:picLocks noChangeAspect="1"/>
          </p:cNvPicPr>
          <p:nvPr/>
        </p:nvPicPr>
        <p:blipFill>
          <a:blip r:embed="rId16"/>
          <a:stretch>
            <a:fillRect/>
          </a:stretch>
        </p:blipFill>
        <p:spPr>
          <a:xfrm>
            <a:off x="5187520" y="4437590"/>
            <a:ext cx="128699" cy="187198"/>
          </a:xfrm>
          <a:prstGeom prst="rect">
            <a:avLst/>
          </a:prstGeom>
        </p:spPr>
      </p:pic>
      <p:sp>
        <p:nvSpPr>
          <p:cNvPr id="102" name="TextBox 101"/>
          <p:cNvSpPr txBox="1"/>
          <p:nvPr/>
        </p:nvSpPr>
        <p:spPr>
          <a:xfrm>
            <a:off x="535501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6214466" y="4437590"/>
            <a:ext cx="128699" cy="187198"/>
          </a:xfrm>
          <a:prstGeom prst="rect">
            <a:avLst/>
          </a:prstGeom>
        </p:spPr>
      </p:pic>
      <p:sp>
        <p:nvSpPr>
          <p:cNvPr id="104" name="TextBox 103"/>
          <p:cNvSpPr txBox="1"/>
          <p:nvPr/>
        </p:nvSpPr>
        <p:spPr>
          <a:xfrm>
            <a:off x="638196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1076200" cy="186689"/>
          </a:xfrm>
          <a:prstGeom prst="rect">
            <a:avLst/>
          </a:prstGeom>
          <a:noFill/>
        </p:spPr>
        <p:txBody>
          <a:bodyPr wrap="none" lIns="0" rIns="0" tIns="0" bIns="0">
            <a:spAutoFit/>
          </a:bodyPr>
          <a:lstStyle/>
          <a:p>
            <a:r>
              <a:rPr sz="1100" b="0">
                <a:solidFill>
                  <a:srgbClr val="2E2E2E"/>
                </a:solidFill>
                <a:latin typeface="Calibri"/>
              </a:rPr>
              <a:t>● Reduced-sugar:</a:t>
            </a:r>
          </a:p>
        </p:txBody>
      </p:sp>
      <p:pic>
        <p:nvPicPr>
          <p:cNvPr id="106" name="Picture 105" descr="lock.png"/>
          <p:cNvPicPr>
            <a:picLocks noChangeAspect="1"/>
          </p:cNvPicPr>
          <p:nvPr/>
        </p:nvPicPr>
        <p:blipFill>
          <a:blip r:embed="rId16"/>
          <a:stretch>
            <a:fillRect/>
          </a:stretch>
        </p:blipFill>
        <p:spPr>
          <a:xfrm>
            <a:off x="4862827" y="4655522"/>
            <a:ext cx="128699" cy="187198"/>
          </a:xfrm>
          <a:prstGeom prst="rect">
            <a:avLst/>
          </a:prstGeom>
        </p:spPr>
      </p:pic>
      <p:sp>
        <p:nvSpPr>
          <p:cNvPr id="107" name="TextBox 106"/>
          <p:cNvSpPr txBox="1"/>
          <p:nvPr/>
        </p:nvSpPr>
        <p:spPr>
          <a:xfrm>
            <a:off x="50303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889773" y="4655522"/>
            <a:ext cx="128699" cy="187198"/>
          </a:xfrm>
          <a:prstGeom prst="rect">
            <a:avLst/>
          </a:prstGeom>
        </p:spPr>
      </p:pic>
      <p:sp>
        <p:nvSpPr>
          <p:cNvPr id="109" name="TextBox 108"/>
          <p:cNvSpPr txBox="1"/>
          <p:nvPr/>
        </p:nvSpPr>
        <p:spPr>
          <a:xfrm>
            <a:off x="6057269"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0" name="TextBox 109"/>
          <p:cNvSpPr txBox="1"/>
          <p:nvPr/>
        </p:nvSpPr>
        <p:spPr>
          <a:xfrm>
            <a:off x="3838575" y="4883233"/>
            <a:ext cx="2344142" cy="186689"/>
          </a:xfrm>
          <a:prstGeom prst="rect">
            <a:avLst/>
          </a:prstGeom>
          <a:noFill/>
        </p:spPr>
        <p:txBody>
          <a:bodyPr wrap="none" lIns="0" rIns="0" tIns="0" bIns="0">
            <a:spAutoFit/>
          </a:bodyPr>
          <a:lstStyle/>
          <a:p>
            <a:r>
              <a:rPr sz="1100" b="0">
                <a:solidFill>
                  <a:srgbClr val="2E2E2E"/>
                </a:solidFill>
                <a:latin typeface="Calibri"/>
              </a:rPr>
              <a:t>● Other nutrition-focused formulations:</a:t>
            </a:r>
          </a:p>
        </p:txBody>
      </p:sp>
      <p:pic>
        <p:nvPicPr>
          <p:cNvPr id="111" name="Picture 110" descr="lock.png"/>
          <p:cNvPicPr>
            <a:picLocks noChangeAspect="1"/>
          </p:cNvPicPr>
          <p:nvPr/>
        </p:nvPicPr>
        <p:blipFill>
          <a:blip r:embed="rId16"/>
          <a:stretch>
            <a:fillRect/>
          </a:stretch>
        </p:blipFill>
        <p:spPr>
          <a:xfrm>
            <a:off x="6130768" y="4873454"/>
            <a:ext cx="128699" cy="187198"/>
          </a:xfrm>
          <a:prstGeom prst="rect">
            <a:avLst/>
          </a:prstGeom>
        </p:spPr>
      </p:pic>
      <p:sp>
        <p:nvSpPr>
          <p:cNvPr id="112" name="TextBox 111"/>
          <p:cNvSpPr txBox="1"/>
          <p:nvPr/>
        </p:nvSpPr>
        <p:spPr>
          <a:xfrm>
            <a:off x="629826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7157714" y="4873454"/>
            <a:ext cx="128699" cy="187198"/>
          </a:xfrm>
          <a:prstGeom prst="rect">
            <a:avLst/>
          </a:prstGeom>
        </p:spPr>
      </p:pic>
      <p:sp>
        <p:nvSpPr>
          <p:cNvPr id="114" name="TextBox 113"/>
          <p:cNvSpPr txBox="1"/>
          <p:nvPr/>
        </p:nvSpPr>
        <p:spPr>
          <a:xfrm>
            <a:off x="7325210" y="4883233"/>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15" name="TextBox 114"/>
          <p:cNvSpPr txBox="1"/>
          <p:nvPr/>
        </p:nvSpPr>
        <p:spPr>
          <a:xfrm>
            <a:off x="3838575" y="5050873"/>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16" name="TextBox 11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Nutritional Positioning segment is projected to</a:t>
            </a:r>
          </a:p>
        </p:txBody>
      </p:sp>
      <p:sp>
        <p:nvSpPr>
          <p:cNvPr id="117" name="TextBox 11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8" name="Picture 117" descr="lock.png"/>
          <p:cNvPicPr>
            <a:picLocks noChangeAspect="1"/>
          </p:cNvPicPr>
          <p:nvPr/>
        </p:nvPicPr>
        <p:blipFill>
          <a:blip r:embed="rId16"/>
          <a:stretch>
            <a:fillRect/>
          </a:stretch>
        </p:blipFill>
        <p:spPr>
          <a:xfrm>
            <a:off x="9651852" y="6007677"/>
            <a:ext cx="134549" cy="195707"/>
          </a:xfrm>
          <a:prstGeom prst="rect">
            <a:avLst/>
          </a:prstGeom>
        </p:spPr>
      </p:pic>
      <p:sp>
        <p:nvSpPr>
          <p:cNvPr id="119" name="TextBox 11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Nutritional Positioning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Nutritional Positioning,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Nutritional Positioning segment categorizes the market by nutritional positioning.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Reduced-fat</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No-added-sugar</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Fibre-enriched</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6" name="Picture 45" descr="520_6_605E5C.png"/>
          <p:cNvPicPr>
            <a:picLocks noChangeAspect="1"/>
          </p:cNvPicPr>
          <p:nvPr/>
        </p:nvPicPr>
        <p:blipFill>
          <a:blip r:embed="rId4"/>
          <a:stretch>
            <a:fillRect/>
          </a:stretch>
        </p:blipFill>
        <p:spPr>
          <a:xfrm>
            <a:off x="2897811" y="2286582"/>
            <a:ext cx="1195728" cy="361950"/>
          </a:xfrm>
          <a:prstGeom prst="rect">
            <a:avLst/>
          </a:prstGeom>
        </p:spPr>
      </p:pic>
      <p:pic>
        <p:nvPicPr>
          <p:cNvPr id="47" name="Picture 46" descr="749_6_605E5C.png"/>
          <p:cNvPicPr>
            <a:picLocks noChangeAspect="1"/>
          </p:cNvPicPr>
          <p:nvPr/>
        </p:nvPicPr>
        <p:blipFill>
          <a:blip r:embed="rId5"/>
          <a:stretch>
            <a:fillRect/>
          </a:stretch>
        </p:blipFill>
        <p:spPr>
          <a:xfrm>
            <a:off x="2897811" y="2779432"/>
            <a:ext cx="1195728" cy="361950"/>
          </a:xfrm>
          <a:prstGeom prst="rect">
            <a:avLst/>
          </a:prstGeom>
        </p:spPr>
      </p:pic>
      <p:pic>
        <p:nvPicPr>
          <p:cNvPr id="48" name="Picture 47" descr="3_7__605E5C.png"/>
          <p:cNvPicPr>
            <a:picLocks noChangeAspect="1"/>
          </p:cNvPicPr>
          <p:nvPr/>
        </p:nvPicPr>
        <p:blipFill>
          <a:blip r:embed="rId6"/>
          <a:stretch>
            <a:fillRect/>
          </a:stretch>
        </p:blipFill>
        <p:spPr>
          <a:xfrm>
            <a:off x="3004457" y="3272281"/>
            <a:ext cx="982436" cy="361950"/>
          </a:xfrm>
          <a:prstGeom prst="rect">
            <a:avLst/>
          </a:prstGeom>
        </p:spPr>
      </p:pic>
      <p:pic>
        <p:nvPicPr>
          <p:cNvPr id="49" name="Picture 48" descr="292_4_605E5C.png"/>
          <p:cNvPicPr>
            <a:picLocks noChangeAspect="1"/>
          </p:cNvPicPr>
          <p:nvPr/>
        </p:nvPicPr>
        <p:blipFill>
          <a:blip r:embed="rId7"/>
          <a:stretch>
            <a:fillRect/>
          </a:stretch>
        </p:blipFill>
        <p:spPr>
          <a:xfrm>
            <a:off x="6269661" y="2286582"/>
            <a:ext cx="1195728" cy="361950"/>
          </a:xfrm>
          <a:prstGeom prst="rect">
            <a:avLst/>
          </a:prstGeom>
        </p:spPr>
      </p:pic>
      <p:pic>
        <p:nvPicPr>
          <p:cNvPr id="50" name="Picture 49" descr="406_5_605E5C.png"/>
          <p:cNvPicPr>
            <a:picLocks noChangeAspect="1"/>
          </p:cNvPicPr>
          <p:nvPr/>
        </p:nvPicPr>
        <p:blipFill>
          <a:blip r:embed="rId8"/>
          <a:stretch>
            <a:fillRect/>
          </a:stretch>
        </p:blipFill>
        <p:spPr>
          <a:xfrm>
            <a:off x="6269661" y="2779432"/>
            <a:ext cx="1195728" cy="361950"/>
          </a:xfrm>
          <a:prstGeom prst="rect">
            <a:avLst/>
          </a:prstGeom>
        </p:spPr>
      </p:pic>
      <p:pic>
        <p:nvPicPr>
          <p:cNvPr id="51" name="Picture 50" descr="3_3__605E5C.png"/>
          <p:cNvPicPr>
            <a:picLocks noChangeAspect="1"/>
          </p:cNvPicPr>
          <p:nvPr/>
        </p:nvPicPr>
        <p:blipFill>
          <a:blip r:embed="rId9"/>
          <a:stretch>
            <a:fillRect/>
          </a:stretch>
        </p:blipFill>
        <p:spPr>
          <a:xfrm>
            <a:off x="6376307" y="3272281"/>
            <a:ext cx="982436" cy="361950"/>
          </a:xfrm>
          <a:prstGeom prst="rect">
            <a:avLst/>
          </a:prstGeom>
        </p:spPr>
      </p:pic>
      <p:pic>
        <p:nvPicPr>
          <p:cNvPr id="52" name="Picture 51" descr="111_7_605E5C.png"/>
          <p:cNvPicPr>
            <a:picLocks noChangeAspect="1"/>
          </p:cNvPicPr>
          <p:nvPr/>
        </p:nvPicPr>
        <p:blipFill>
          <a:blip r:embed="rId10"/>
          <a:stretch>
            <a:fillRect/>
          </a:stretch>
        </p:blipFill>
        <p:spPr>
          <a:xfrm>
            <a:off x="9641511" y="2286582"/>
            <a:ext cx="1195728" cy="361950"/>
          </a:xfrm>
          <a:prstGeom prst="rect">
            <a:avLst/>
          </a:prstGeom>
        </p:spPr>
      </p:pic>
      <p:pic>
        <p:nvPicPr>
          <p:cNvPr id="53" name="Picture 52" descr="208_3_605E5C.png"/>
          <p:cNvPicPr>
            <a:picLocks noChangeAspect="1"/>
          </p:cNvPicPr>
          <p:nvPr/>
        </p:nvPicPr>
        <p:blipFill>
          <a:blip r:embed="rId11"/>
          <a:stretch>
            <a:fillRect/>
          </a:stretch>
        </p:blipFill>
        <p:spPr>
          <a:xfrm>
            <a:off x="9641511" y="2779432"/>
            <a:ext cx="1195728" cy="361950"/>
          </a:xfrm>
          <a:prstGeom prst="rect">
            <a:avLst/>
          </a:prstGeom>
        </p:spPr>
      </p:pic>
      <p:pic>
        <p:nvPicPr>
          <p:cNvPr id="54" name="Picture 53" descr="6_4__605E5C.png"/>
          <p:cNvPicPr>
            <a:picLocks noChangeAspect="1"/>
          </p:cNvPicPr>
          <p:nvPr/>
        </p:nvPicPr>
        <p:blipFill>
          <a:blip r:embed="rId12"/>
          <a:stretch>
            <a:fillRect/>
          </a:stretch>
        </p:blipFill>
        <p:spPr>
          <a:xfrm>
            <a:off x="9748157" y="3272281"/>
            <a:ext cx="982436" cy="361950"/>
          </a:xfrm>
          <a:prstGeom prst="rect">
            <a:avLst/>
          </a:prstGeom>
        </p:spPr>
      </p:pic>
      <p:pic>
        <p:nvPicPr>
          <p:cNvPr id="55" name="Picture 54" descr="lock.png"/>
          <p:cNvPicPr>
            <a:picLocks noChangeAspect="1"/>
          </p:cNvPicPr>
          <p:nvPr/>
        </p:nvPicPr>
        <p:blipFill>
          <a:blip r:embed="rId13"/>
          <a:stretch>
            <a:fillRect/>
          </a:stretch>
        </p:blipFill>
        <p:spPr>
          <a:xfrm>
            <a:off x="3402330" y="2827057"/>
            <a:ext cx="183356" cy="266700"/>
          </a:xfrm>
          <a:prstGeom prst="rect">
            <a:avLst/>
          </a:prstGeom>
        </p:spPr>
      </p:pic>
      <p:pic>
        <p:nvPicPr>
          <p:cNvPr id="56" name="Picture 55" descr="lock.png"/>
          <p:cNvPicPr>
            <a:picLocks noChangeAspect="1"/>
          </p:cNvPicPr>
          <p:nvPr/>
        </p:nvPicPr>
        <p:blipFill>
          <a:blip r:embed="rId13"/>
          <a:stretch>
            <a:fillRect/>
          </a:stretch>
        </p:blipFill>
        <p:spPr>
          <a:xfrm>
            <a:off x="6774180" y="2827057"/>
            <a:ext cx="183356" cy="266700"/>
          </a:xfrm>
          <a:prstGeom prst="rect">
            <a:avLst/>
          </a:prstGeom>
        </p:spPr>
      </p:pic>
      <p:pic>
        <p:nvPicPr>
          <p:cNvPr id="57" name="Picture 56" descr="lock.png"/>
          <p:cNvPicPr>
            <a:picLocks noChangeAspect="1"/>
          </p:cNvPicPr>
          <p:nvPr/>
        </p:nvPicPr>
        <p:blipFill>
          <a:blip r:embed="rId13"/>
          <a:stretch>
            <a:fillRect/>
          </a:stretch>
        </p:blipFill>
        <p:spPr>
          <a:xfrm>
            <a:off x="10146030" y="2827057"/>
            <a:ext cx="183356" cy="266700"/>
          </a:xfrm>
          <a:prstGeom prst="rect">
            <a:avLst/>
          </a:prstGeom>
        </p:spPr>
      </p:pic>
      <p:sp>
        <p:nvSpPr>
          <p:cNvPr id="58" name="TextBox 57"/>
          <p:cNvSpPr txBox="1"/>
          <p:nvPr/>
        </p:nvSpPr>
        <p:spPr>
          <a:xfrm>
            <a:off x="485775" y="4229437"/>
            <a:ext cx="923131" cy="186689"/>
          </a:xfrm>
          <a:prstGeom prst="rect">
            <a:avLst/>
          </a:prstGeom>
          <a:noFill/>
        </p:spPr>
        <p:txBody>
          <a:bodyPr wrap="none" lIns="0" rIns="0" tIns="0" bIns="0">
            <a:spAutoFit/>
          </a:bodyPr>
          <a:lstStyle/>
          <a:p>
            <a:r>
              <a:rPr sz="1100" b="0">
                <a:solidFill>
                  <a:srgbClr val="2E2E2E"/>
                </a:solidFill>
                <a:latin typeface="Calibri"/>
              </a:rPr>
              <a:t>● Reduced-fat:</a:t>
            </a:r>
          </a:p>
        </p:txBody>
      </p:sp>
      <p:pic>
        <p:nvPicPr>
          <p:cNvPr id="59" name="Picture 58" descr="lock.png"/>
          <p:cNvPicPr>
            <a:picLocks noChangeAspect="1"/>
          </p:cNvPicPr>
          <p:nvPr/>
        </p:nvPicPr>
        <p:blipFill>
          <a:blip r:embed="rId13"/>
          <a:stretch>
            <a:fillRect/>
          </a:stretch>
        </p:blipFill>
        <p:spPr>
          <a:xfrm>
            <a:off x="1356957" y="4219658"/>
            <a:ext cx="128699" cy="187198"/>
          </a:xfrm>
          <a:prstGeom prst="rect">
            <a:avLst/>
          </a:prstGeom>
        </p:spPr>
      </p:pic>
      <p:sp>
        <p:nvSpPr>
          <p:cNvPr id="60" name="TextBox 59"/>
          <p:cNvSpPr txBox="1"/>
          <p:nvPr/>
        </p:nvSpPr>
        <p:spPr>
          <a:xfrm>
            <a:off x="152445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1" name="Picture 60" descr="lock.png"/>
          <p:cNvPicPr>
            <a:picLocks noChangeAspect="1"/>
          </p:cNvPicPr>
          <p:nvPr/>
        </p:nvPicPr>
        <p:blipFill>
          <a:blip r:embed="rId13"/>
          <a:stretch>
            <a:fillRect/>
          </a:stretch>
        </p:blipFill>
        <p:spPr>
          <a:xfrm>
            <a:off x="2383903" y="4219658"/>
            <a:ext cx="128699" cy="187198"/>
          </a:xfrm>
          <a:prstGeom prst="rect">
            <a:avLst/>
          </a:prstGeom>
        </p:spPr>
      </p:pic>
      <p:sp>
        <p:nvSpPr>
          <p:cNvPr id="62" name="TextBox 61"/>
          <p:cNvSpPr txBox="1"/>
          <p:nvPr/>
        </p:nvSpPr>
        <p:spPr>
          <a:xfrm>
            <a:off x="2551399"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3" name="TextBox 62"/>
          <p:cNvSpPr txBox="1"/>
          <p:nvPr/>
        </p:nvSpPr>
        <p:spPr>
          <a:xfrm>
            <a:off x="485775" y="4447369"/>
            <a:ext cx="1145232" cy="186689"/>
          </a:xfrm>
          <a:prstGeom prst="rect">
            <a:avLst/>
          </a:prstGeom>
          <a:noFill/>
        </p:spPr>
        <p:txBody>
          <a:bodyPr wrap="none" lIns="0" rIns="0" tIns="0" bIns="0">
            <a:spAutoFit/>
          </a:bodyPr>
          <a:lstStyle/>
          <a:p>
            <a:r>
              <a:rPr sz="1100" b="0">
                <a:solidFill>
                  <a:srgbClr val="2E2E2E"/>
                </a:solidFill>
                <a:latin typeface="Calibri"/>
              </a:rPr>
              <a:t>● No-added-sugar:</a:t>
            </a:r>
          </a:p>
        </p:txBody>
      </p:sp>
      <p:pic>
        <p:nvPicPr>
          <p:cNvPr id="64" name="Picture 63" descr="lock.png"/>
          <p:cNvPicPr>
            <a:picLocks noChangeAspect="1"/>
          </p:cNvPicPr>
          <p:nvPr/>
        </p:nvPicPr>
        <p:blipFill>
          <a:blip r:embed="rId13"/>
          <a:stretch>
            <a:fillRect/>
          </a:stretch>
        </p:blipFill>
        <p:spPr>
          <a:xfrm>
            <a:off x="1579059" y="4437590"/>
            <a:ext cx="128699" cy="187198"/>
          </a:xfrm>
          <a:prstGeom prst="rect">
            <a:avLst/>
          </a:prstGeom>
        </p:spPr>
      </p:pic>
      <p:sp>
        <p:nvSpPr>
          <p:cNvPr id="65" name="TextBox 64"/>
          <p:cNvSpPr txBox="1"/>
          <p:nvPr/>
        </p:nvSpPr>
        <p:spPr>
          <a:xfrm>
            <a:off x="174655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6" name="Picture 65" descr="lock.png"/>
          <p:cNvPicPr>
            <a:picLocks noChangeAspect="1"/>
          </p:cNvPicPr>
          <p:nvPr/>
        </p:nvPicPr>
        <p:blipFill>
          <a:blip r:embed="rId13"/>
          <a:stretch>
            <a:fillRect/>
          </a:stretch>
        </p:blipFill>
        <p:spPr>
          <a:xfrm>
            <a:off x="2606005" y="4437590"/>
            <a:ext cx="128699" cy="187198"/>
          </a:xfrm>
          <a:prstGeom prst="rect">
            <a:avLst/>
          </a:prstGeom>
        </p:spPr>
      </p:pic>
      <p:sp>
        <p:nvSpPr>
          <p:cNvPr id="67" name="TextBox 66"/>
          <p:cNvSpPr txBox="1"/>
          <p:nvPr/>
        </p:nvSpPr>
        <p:spPr>
          <a:xfrm>
            <a:off x="277350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8" name="TextBox 67"/>
          <p:cNvSpPr txBox="1"/>
          <p:nvPr/>
        </p:nvSpPr>
        <p:spPr>
          <a:xfrm>
            <a:off x="485775" y="4665301"/>
            <a:ext cx="1060102" cy="186689"/>
          </a:xfrm>
          <a:prstGeom prst="rect">
            <a:avLst/>
          </a:prstGeom>
          <a:noFill/>
        </p:spPr>
        <p:txBody>
          <a:bodyPr wrap="none" lIns="0" rIns="0" tIns="0" bIns="0">
            <a:spAutoFit/>
          </a:bodyPr>
          <a:lstStyle/>
          <a:p>
            <a:r>
              <a:rPr sz="1100" b="0">
                <a:solidFill>
                  <a:srgbClr val="2E2E2E"/>
                </a:solidFill>
                <a:latin typeface="Calibri"/>
              </a:rPr>
              <a:t>● Fibre-enriched:</a:t>
            </a:r>
          </a:p>
        </p:txBody>
      </p:sp>
      <p:pic>
        <p:nvPicPr>
          <p:cNvPr id="69" name="Picture 68" descr="lock.png"/>
          <p:cNvPicPr>
            <a:picLocks noChangeAspect="1"/>
          </p:cNvPicPr>
          <p:nvPr/>
        </p:nvPicPr>
        <p:blipFill>
          <a:blip r:embed="rId13"/>
          <a:stretch>
            <a:fillRect/>
          </a:stretch>
        </p:blipFill>
        <p:spPr>
          <a:xfrm>
            <a:off x="1493929" y="4655522"/>
            <a:ext cx="128699" cy="187198"/>
          </a:xfrm>
          <a:prstGeom prst="rect">
            <a:avLst/>
          </a:prstGeom>
        </p:spPr>
      </p:pic>
      <p:sp>
        <p:nvSpPr>
          <p:cNvPr id="70" name="TextBox 69"/>
          <p:cNvSpPr txBox="1"/>
          <p:nvPr/>
        </p:nvSpPr>
        <p:spPr>
          <a:xfrm>
            <a:off x="1661425"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1" name="Picture 70" descr="lock.png"/>
          <p:cNvPicPr>
            <a:picLocks noChangeAspect="1"/>
          </p:cNvPicPr>
          <p:nvPr/>
        </p:nvPicPr>
        <p:blipFill>
          <a:blip r:embed="rId13"/>
          <a:stretch>
            <a:fillRect/>
          </a:stretch>
        </p:blipFill>
        <p:spPr>
          <a:xfrm>
            <a:off x="2520875" y="4655522"/>
            <a:ext cx="128699" cy="187198"/>
          </a:xfrm>
          <a:prstGeom prst="rect">
            <a:avLst/>
          </a:prstGeom>
        </p:spPr>
      </p:pic>
      <p:sp>
        <p:nvSpPr>
          <p:cNvPr id="72" name="TextBox 71"/>
          <p:cNvSpPr txBox="1"/>
          <p:nvPr/>
        </p:nvSpPr>
        <p:spPr>
          <a:xfrm>
            <a:off x="2688371"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Nutritional Positioning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Nutritional Positioning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Nutritional Positioning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Nutritional Positioning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561062" cy="186689"/>
          </a:xfrm>
          <a:prstGeom prst="rect">
            <a:avLst/>
          </a:prstGeom>
          <a:noFill/>
        </p:spPr>
        <p:txBody>
          <a:bodyPr wrap="none" lIns="0" rIns="0" tIns="0" bIns="0">
            <a:spAutoFit/>
          </a:bodyPr>
          <a:lstStyle/>
          <a:p>
            <a:r>
              <a:rPr sz="1100" b="0">
                <a:solidFill>
                  <a:srgbClr val="2E2E2E"/>
                </a:solidFill>
                <a:latin typeface="Calibri"/>
              </a:rPr>
              <a:t>Between 2026 and 2036, 'Protein-enriched' gains the most share in the North America market (+</a:t>
            </a:r>
          </a:p>
        </p:txBody>
      </p:sp>
      <p:pic>
        <p:nvPicPr>
          <p:cNvPr id="21" name="Picture 20" descr="lock.png"/>
          <p:cNvPicPr>
            <a:picLocks noChangeAspect="1"/>
          </p:cNvPicPr>
          <p:nvPr/>
        </p:nvPicPr>
        <p:blipFill>
          <a:blip r:embed="rId6"/>
          <a:stretch>
            <a:fillRect/>
          </a:stretch>
        </p:blipFill>
        <p:spPr>
          <a:xfrm>
            <a:off x="5766288" y="5851905"/>
            <a:ext cx="128699" cy="187198"/>
          </a:xfrm>
          <a:prstGeom prst="rect">
            <a:avLst/>
          </a:prstGeom>
        </p:spPr>
      </p:pic>
      <p:sp>
        <p:nvSpPr>
          <p:cNvPr id="22" name="TextBox 21"/>
          <p:cNvSpPr txBox="1"/>
          <p:nvPr/>
        </p:nvSpPr>
        <p:spPr>
          <a:xfrm>
            <a:off x="5933784" y="5861685"/>
            <a:ext cx="3235821" cy="186689"/>
          </a:xfrm>
          <a:prstGeom prst="rect">
            <a:avLst/>
          </a:prstGeom>
          <a:noFill/>
        </p:spPr>
        <p:txBody>
          <a:bodyPr wrap="none" lIns="0" rIns="0" tIns="0" bIns="0">
            <a:spAutoFit/>
          </a:bodyPr>
          <a:lstStyle/>
          <a:p>
            <a:r>
              <a:rPr sz="1100" b="0">
                <a:solidFill>
                  <a:srgbClr val="2E2E2E"/>
                </a:solidFill>
                <a:latin typeface="Calibri"/>
              </a:rPr>
              <a:t>BPS) while 'Other nutrition-focused formulations' cedes</a:t>
            </a:r>
          </a:p>
        </p:txBody>
      </p:sp>
      <p:pic>
        <p:nvPicPr>
          <p:cNvPr id="23" name="Picture 22" descr="lock.png"/>
          <p:cNvPicPr>
            <a:picLocks noChangeAspect="1"/>
          </p:cNvPicPr>
          <p:nvPr/>
        </p:nvPicPr>
        <p:blipFill>
          <a:blip r:embed="rId6"/>
          <a:stretch>
            <a:fillRect/>
          </a:stretch>
        </p:blipFill>
        <p:spPr>
          <a:xfrm>
            <a:off x="9117657" y="5851905"/>
            <a:ext cx="128699" cy="187198"/>
          </a:xfrm>
          <a:prstGeom prst="rect">
            <a:avLst/>
          </a:prstGeom>
        </p:spPr>
      </p:pic>
      <p:sp>
        <p:nvSpPr>
          <p:cNvPr id="24" name="TextBox 23"/>
          <p:cNvSpPr txBox="1"/>
          <p:nvPr/>
        </p:nvSpPr>
        <p:spPr>
          <a:xfrm>
            <a:off x="9285153" y="5861685"/>
            <a:ext cx="2421342" cy="186689"/>
          </a:xfrm>
          <a:prstGeom prst="rect">
            <a:avLst/>
          </a:prstGeom>
          <a:noFill/>
        </p:spPr>
        <p:txBody>
          <a:bodyPr wrap="none" lIns="0" rIns="0" tIns="0" bIns="0">
            <a:spAutoFit/>
          </a:bodyPr>
          <a:lstStyle/>
          <a:p>
            <a:r>
              <a:rPr sz="1100" b="0">
                <a:solidFill>
                  <a:srgbClr val="2E2E2E"/>
                </a:solidFill>
                <a:latin typeface="Calibri"/>
              </a:rPr>
              <a:t>BPS. Bubbles right of the CAGR-Index line</a:t>
            </a:r>
          </a:p>
        </p:txBody>
      </p:sp>
      <p:sp>
        <p:nvSpPr>
          <p:cNvPr id="25" name="TextBox 24"/>
          <p:cNvSpPr txBox="1"/>
          <p:nvPr/>
        </p:nvSpPr>
        <p:spPr>
          <a:xfrm>
            <a:off x="257175" y="6029325"/>
            <a:ext cx="2279476" cy="186689"/>
          </a:xfrm>
          <a:prstGeom prst="rect">
            <a:avLst/>
          </a:prstGeom>
          <a:noFill/>
        </p:spPr>
        <p:txBody>
          <a:bodyPr wrap="none" lIns="0" rIns="0" tIns="0" bIns="0">
            <a:spAutoFit/>
          </a:bodyPr>
          <a:lstStyle/>
          <a:p>
            <a:r>
              <a:rPr sz="1100" b="0">
                <a:solidFill>
                  <a:srgbClr val="2E2E2E"/>
                </a:solidFill>
                <a:latin typeface="Calibri"/>
              </a:rPr>
              <a:t>grow 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Nutritional Positioning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Nutritional Positioning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Standard / indulgent</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Protein-enriched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Fibre-enriched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Reduced-sugar</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Nutritional Positioning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Nutritional Positioning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No-added-sugar</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Reduced-fat</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nutrition-focused formulations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Nutritional Positioning</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7"/>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3100230" y="5216754"/>
            <a:ext cx="252890" cy="367840"/>
          </a:xfrm>
          <a:prstGeom prst="rect">
            <a:avLst/>
          </a:prstGeom>
        </p:spPr>
      </p:pic>
      <p:sp>
        <p:nvSpPr>
          <p:cNvPr id="27" name="TextBox 26"/>
          <p:cNvSpPr txBox="1"/>
          <p:nvPr/>
        </p:nvSpPr>
        <p:spPr>
          <a:xfrm>
            <a:off x="6305550" y="4286250"/>
            <a:ext cx="3568278" cy="194310"/>
          </a:xfrm>
          <a:prstGeom prst="rect">
            <a:avLst/>
          </a:prstGeom>
          <a:noFill/>
        </p:spPr>
        <p:txBody>
          <a:bodyPr wrap="none" lIns="0" rIns="0" tIns="0" bIns="0">
            <a:spAutoFit/>
          </a:bodyPr>
          <a:lstStyle/>
          <a:p>
            <a:r>
              <a:rPr sz="1150" b="0">
                <a:solidFill>
                  <a:srgbClr val="2E2E2E"/>
                </a:solidFill>
                <a:latin typeface="Calibri"/>
              </a:rPr>
              <a:t>▪ Across its 7 sub-segments, by nutritional positioning adds</a:t>
            </a:r>
          </a:p>
        </p:txBody>
      </p:sp>
      <p:pic>
        <p:nvPicPr>
          <p:cNvPr id="28" name="Picture 27" descr="lock.png"/>
          <p:cNvPicPr>
            <a:picLocks noChangeAspect="1"/>
          </p:cNvPicPr>
          <p:nvPr/>
        </p:nvPicPr>
        <p:blipFill>
          <a:blip r:embed="rId7"/>
          <a:stretch>
            <a:fillRect/>
          </a:stretch>
        </p:blipFill>
        <p:spPr>
          <a:xfrm>
            <a:off x="9822982" y="4276026"/>
            <a:ext cx="134549" cy="195707"/>
          </a:xfrm>
          <a:prstGeom prst="rect">
            <a:avLst/>
          </a:prstGeom>
        </p:spPr>
      </p:pic>
      <p:sp>
        <p:nvSpPr>
          <p:cNvPr id="29" name="TextBox 28"/>
          <p:cNvSpPr txBox="1"/>
          <p:nvPr/>
        </p:nvSpPr>
        <p:spPr>
          <a:xfrm>
            <a:off x="9998091" y="4286250"/>
            <a:ext cx="1841636" cy="194310"/>
          </a:xfrm>
          <a:prstGeom prst="rect">
            <a:avLst/>
          </a:prstGeom>
          <a:noFill/>
        </p:spPr>
        <p:txBody>
          <a:bodyPr wrap="none" lIns="0" rIns="0" tIns="0" bIns="0">
            <a:spAutoFit/>
          </a:bodyPr>
          <a:lstStyle/>
          <a:p>
            <a:r>
              <a:rPr sz="1150" b="0">
                <a:solidFill>
                  <a:srgbClr val="2E2E2E"/>
                </a:solidFill>
                <a:latin typeface="Calibri"/>
              </a:rPr>
              <a:t>US$ Mn to the North America</a:t>
            </a:r>
          </a:p>
        </p:txBody>
      </p:sp>
      <p:sp>
        <p:nvSpPr>
          <p:cNvPr id="30" name="TextBox 29"/>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1" name="TextBox 30"/>
          <p:cNvSpPr txBox="1"/>
          <p:nvPr/>
        </p:nvSpPr>
        <p:spPr>
          <a:xfrm>
            <a:off x="6305550" y="4689347"/>
            <a:ext cx="1541834" cy="194310"/>
          </a:xfrm>
          <a:prstGeom prst="rect">
            <a:avLst/>
          </a:prstGeom>
          <a:noFill/>
        </p:spPr>
        <p:txBody>
          <a:bodyPr wrap="none" lIns="0" rIns="0" tIns="0" bIns="0">
            <a:spAutoFit/>
          </a:bodyPr>
          <a:lstStyle/>
          <a:p>
            <a:r>
              <a:rPr sz="1150" b="0">
                <a:solidFill>
                  <a:srgbClr val="2E2E2E"/>
                </a:solidFill>
                <a:latin typeface="Calibri"/>
              </a:rPr>
              <a:t>▪ 'Protein-enriched' adds</a:t>
            </a:r>
          </a:p>
        </p:txBody>
      </p:sp>
      <p:pic>
        <p:nvPicPr>
          <p:cNvPr id="32" name="Picture 31" descr="lock.png"/>
          <p:cNvPicPr>
            <a:picLocks noChangeAspect="1"/>
          </p:cNvPicPr>
          <p:nvPr/>
        </p:nvPicPr>
        <p:blipFill>
          <a:blip r:embed="rId7"/>
          <a:stretch>
            <a:fillRect/>
          </a:stretch>
        </p:blipFill>
        <p:spPr>
          <a:xfrm>
            <a:off x="7796538" y="4679124"/>
            <a:ext cx="134549" cy="195707"/>
          </a:xfrm>
          <a:prstGeom prst="rect">
            <a:avLst/>
          </a:prstGeom>
        </p:spPr>
      </p:pic>
      <p:sp>
        <p:nvSpPr>
          <p:cNvPr id="33" name="TextBox 32"/>
          <p:cNvSpPr txBox="1"/>
          <p:nvPr/>
        </p:nvSpPr>
        <p:spPr>
          <a:xfrm>
            <a:off x="7971647"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4" name="Picture 33" descr="lock.png"/>
          <p:cNvPicPr>
            <a:picLocks noChangeAspect="1"/>
          </p:cNvPicPr>
          <p:nvPr/>
        </p:nvPicPr>
        <p:blipFill>
          <a:blip r:embed="rId7"/>
          <a:stretch>
            <a:fillRect/>
          </a:stretch>
        </p:blipFill>
        <p:spPr>
          <a:xfrm>
            <a:off x="8544118" y="4679124"/>
            <a:ext cx="134549" cy="195707"/>
          </a:xfrm>
          <a:prstGeom prst="rect">
            <a:avLst/>
          </a:prstGeom>
        </p:spPr>
      </p:pic>
      <p:sp>
        <p:nvSpPr>
          <p:cNvPr id="35" name="TextBox 34"/>
          <p:cNvSpPr txBox="1"/>
          <p:nvPr/>
        </p:nvSpPr>
        <p:spPr>
          <a:xfrm>
            <a:off x="8719227"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6" name="TextBox 35"/>
          <p:cNvSpPr txBox="1"/>
          <p:nvPr/>
        </p:nvSpPr>
        <p:spPr>
          <a:xfrm>
            <a:off x="6305550" y="4917185"/>
            <a:ext cx="1424024" cy="194310"/>
          </a:xfrm>
          <a:prstGeom prst="rect">
            <a:avLst/>
          </a:prstGeom>
          <a:noFill/>
        </p:spPr>
        <p:txBody>
          <a:bodyPr wrap="none" lIns="0" rIns="0" tIns="0" bIns="0">
            <a:spAutoFit/>
          </a:bodyPr>
          <a:lstStyle/>
          <a:p>
            <a:r>
              <a:rPr sz="1150" b="0">
                <a:solidFill>
                  <a:srgbClr val="2E2E2E"/>
                </a:solidFill>
                <a:latin typeface="Calibri"/>
              </a:rPr>
              <a:t>▪ 'Reduced-sugar' adds</a:t>
            </a:r>
          </a:p>
        </p:txBody>
      </p:sp>
      <p:pic>
        <p:nvPicPr>
          <p:cNvPr id="37" name="Picture 36" descr="lock.png"/>
          <p:cNvPicPr>
            <a:picLocks noChangeAspect="1"/>
          </p:cNvPicPr>
          <p:nvPr/>
        </p:nvPicPr>
        <p:blipFill>
          <a:blip r:embed="rId7"/>
          <a:stretch>
            <a:fillRect/>
          </a:stretch>
        </p:blipFill>
        <p:spPr>
          <a:xfrm>
            <a:off x="7678728" y="4906962"/>
            <a:ext cx="134549" cy="195707"/>
          </a:xfrm>
          <a:prstGeom prst="rect">
            <a:avLst/>
          </a:prstGeom>
        </p:spPr>
      </p:pic>
      <p:sp>
        <p:nvSpPr>
          <p:cNvPr id="38" name="TextBox 37"/>
          <p:cNvSpPr txBox="1"/>
          <p:nvPr/>
        </p:nvSpPr>
        <p:spPr>
          <a:xfrm>
            <a:off x="7853837"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9" name="Picture 38" descr="lock.png"/>
          <p:cNvPicPr>
            <a:picLocks noChangeAspect="1"/>
          </p:cNvPicPr>
          <p:nvPr/>
        </p:nvPicPr>
        <p:blipFill>
          <a:blip r:embed="rId7"/>
          <a:stretch>
            <a:fillRect/>
          </a:stretch>
        </p:blipFill>
        <p:spPr>
          <a:xfrm>
            <a:off x="8426308" y="4906962"/>
            <a:ext cx="134549" cy="195707"/>
          </a:xfrm>
          <a:prstGeom prst="rect">
            <a:avLst/>
          </a:prstGeom>
        </p:spPr>
      </p:pic>
      <p:sp>
        <p:nvSpPr>
          <p:cNvPr id="40" name="TextBox 39"/>
          <p:cNvSpPr txBox="1"/>
          <p:nvPr/>
        </p:nvSpPr>
        <p:spPr>
          <a:xfrm>
            <a:off x="8601418"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1" name="TextBox 40"/>
          <p:cNvSpPr txBox="1"/>
          <p:nvPr/>
        </p:nvSpPr>
        <p:spPr>
          <a:xfrm>
            <a:off x="6305550" y="5145023"/>
            <a:ext cx="1763476" cy="194310"/>
          </a:xfrm>
          <a:prstGeom prst="rect">
            <a:avLst/>
          </a:prstGeom>
          <a:noFill/>
        </p:spPr>
        <p:txBody>
          <a:bodyPr wrap="none" lIns="0" rIns="0" tIns="0" bIns="0">
            <a:spAutoFit/>
          </a:bodyPr>
          <a:lstStyle/>
          <a:p>
            <a:r>
              <a:rPr sz="1150" b="0">
                <a:solidFill>
                  <a:srgbClr val="2E2E2E"/>
                </a:solidFill>
                <a:latin typeface="Calibri"/>
              </a:rPr>
              <a:t>▪ 'Standard / indulgent' adds</a:t>
            </a:r>
          </a:p>
        </p:txBody>
      </p:sp>
      <p:pic>
        <p:nvPicPr>
          <p:cNvPr id="42" name="Picture 41" descr="lock.png"/>
          <p:cNvPicPr>
            <a:picLocks noChangeAspect="1"/>
          </p:cNvPicPr>
          <p:nvPr/>
        </p:nvPicPr>
        <p:blipFill>
          <a:blip r:embed="rId7"/>
          <a:stretch>
            <a:fillRect/>
          </a:stretch>
        </p:blipFill>
        <p:spPr>
          <a:xfrm>
            <a:off x="8018180" y="5134800"/>
            <a:ext cx="134549" cy="195707"/>
          </a:xfrm>
          <a:prstGeom prst="rect">
            <a:avLst/>
          </a:prstGeom>
        </p:spPr>
      </p:pic>
      <p:sp>
        <p:nvSpPr>
          <p:cNvPr id="43" name="TextBox 42"/>
          <p:cNvSpPr txBox="1"/>
          <p:nvPr/>
        </p:nvSpPr>
        <p:spPr>
          <a:xfrm>
            <a:off x="8193290"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4" name="Picture 43" descr="lock.png"/>
          <p:cNvPicPr>
            <a:picLocks noChangeAspect="1"/>
          </p:cNvPicPr>
          <p:nvPr/>
        </p:nvPicPr>
        <p:blipFill>
          <a:blip r:embed="rId7"/>
          <a:stretch>
            <a:fillRect/>
          </a:stretch>
        </p:blipFill>
        <p:spPr>
          <a:xfrm>
            <a:off x="8765760" y="5134800"/>
            <a:ext cx="134549" cy="195707"/>
          </a:xfrm>
          <a:prstGeom prst="rect">
            <a:avLst/>
          </a:prstGeom>
        </p:spPr>
      </p:pic>
      <p:sp>
        <p:nvSpPr>
          <p:cNvPr id="45" name="TextBox 44"/>
          <p:cNvSpPr txBox="1"/>
          <p:nvPr/>
        </p:nvSpPr>
        <p:spPr>
          <a:xfrm>
            <a:off x="8940870"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6" name="TextBox 45"/>
          <p:cNvSpPr txBox="1"/>
          <p:nvPr/>
        </p:nvSpPr>
        <p:spPr>
          <a:xfrm>
            <a:off x="6305550" y="5372861"/>
            <a:ext cx="3335796" cy="194310"/>
          </a:xfrm>
          <a:prstGeom prst="rect">
            <a:avLst/>
          </a:prstGeom>
          <a:noFill/>
        </p:spPr>
        <p:txBody>
          <a:bodyPr wrap="none" lIns="0" rIns="0" tIns="0" bIns="0">
            <a:spAutoFit/>
          </a:bodyPr>
          <a:lstStyle/>
          <a:p>
            <a:r>
              <a:rPr sz="1150" b="0">
                <a:solidFill>
                  <a:srgbClr val="2E2E2E"/>
                </a:solidFill>
                <a:latin typeface="Calibri"/>
              </a:rPr>
              <a:t>▪ 'Other nutrition-focused formulations' adds the least:</a:t>
            </a:r>
          </a:p>
        </p:txBody>
      </p:sp>
      <p:pic>
        <p:nvPicPr>
          <p:cNvPr id="47" name="Picture 46" descr="lock.png"/>
          <p:cNvPicPr>
            <a:picLocks noChangeAspect="1"/>
          </p:cNvPicPr>
          <p:nvPr/>
        </p:nvPicPr>
        <p:blipFill>
          <a:blip r:embed="rId7"/>
          <a:stretch>
            <a:fillRect/>
          </a:stretch>
        </p:blipFill>
        <p:spPr>
          <a:xfrm>
            <a:off x="9590500" y="5362638"/>
            <a:ext cx="134549" cy="195707"/>
          </a:xfrm>
          <a:prstGeom prst="rect">
            <a:avLst/>
          </a:prstGeom>
        </p:spPr>
      </p:pic>
      <p:sp>
        <p:nvSpPr>
          <p:cNvPr id="48" name="TextBox 47"/>
          <p:cNvSpPr txBox="1"/>
          <p:nvPr/>
        </p:nvSpPr>
        <p:spPr>
          <a:xfrm>
            <a:off x="9765609" y="5372861"/>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9" name="Picture 48" descr="lock.png"/>
          <p:cNvPicPr>
            <a:picLocks noChangeAspect="1"/>
          </p:cNvPicPr>
          <p:nvPr/>
        </p:nvPicPr>
        <p:blipFill>
          <a:blip r:embed="rId7"/>
          <a:stretch>
            <a:fillRect/>
          </a:stretch>
        </p:blipFill>
        <p:spPr>
          <a:xfrm>
            <a:off x="10338080" y="5362638"/>
            <a:ext cx="134549" cy="195707"/>
          </a:xfrm>
          <a:prstGeom prst="rect">
            <a:avLst/>
          </a:prstGeom>
        </p:spPr>
      </p:pic>
      <p:sp>
        <p:nvSpPr>
          <p:cNvPr id="50" name="TextBox 49"/>
          <p:cNvSpPr txBox="1"/>
          <p:nvPr/>
        </p:nvSpPr>
        <p:spPr>
          <a:xfrm>
            <a:off x="10513189" y="5372861"/>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1"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Nutritional Positioning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Nutritional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Nutritional Positioning (MT)</a:t>
            </a:r>
          </a:p>
        </p:txBody>
      </p:sp>
      <p:graphicFrame>
        <p:nvGraphicFramePr>
          <p:cNvPr id="13" name="Table 12"/>
          <p:cNvGraphicFramePr>
            <a:graphicFrameLocks noGrp="1"/>
          </p:cNvGraphicFramePr>
          <p:nvPr/>
        </p:nvGraphicFramePr>
        <p:xfrm>
          <a:off x="152400" y="1238250"/>
          <a:ext cx="11887208" cy="2609850"/>
        </p:xfrm>
        <a:graphic>
          <a:graphicData uri="http://schemas.openxmlformats.org/drawingml/2006/table">
            <a:tbl>
              <a:tblPr>
                <a:tableStyleId>{5C22544A-7EE6-4342-B048-85BDC9FD1C3A}</a:tableStyleId>
              </a:tblPr>
              <a:tblGrid>
                <a:gridCol w="2012457"/>
                <a:gridCol w="530662"/>
                <a:gridCol w="530662"/>
                <a:gridCol w="530662"/>
                <a:gridCol w="530662"/>
                <a:gridCol w="530662"/>
                <a:gridCol w="530662"/>
                <a:gridCol w="530662"/>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Nutritional Positioning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269">
                <a:tc>
                  <a:txBody>
                    <a:bodyPr wrap="none"/>
                    <a:lstStyle/>
                    <a:p>
                      <a:pPr algn="l"/>
                      <a:r>
                        <a:rPr sz="1100" b="1">
                          <a:solidFill>
                            <a:srgbClr val="2E2E2E"/>
                          </a:solidFill>
                          <a:latin typeface="Calibri"/>
                        </a:rPr>
                        <a:t>Standard / indulgent</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269">
                <a:tc>
                  <a:txBody>
                    <a:bodyPr wrap="none"/>
                    <a:lstStyle/>
                    <a:p>
                      <a:pPr algn="l"/>
                      <a:r>
                        <a:rPr sz="1100" b="1">
                          <a:solidFill>
                            <a:srgbClr val="2E2E2E"/>
                          </a:solidFill>
                          <a:latin typeface="Calibri"/>
                        </a:rPr>
                        <a:t>Protein-enriched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269">
                <a:tc>
                  <a:txBody>
                    <a:bodyPr wrap="none"/>
                    <a:lstStyle/>
                    <a:p>
                      <a:pPr algn="l"/>
                      <a:r>
                        <a:rPr sz="1100" b="1">
                          <a:solidFill>
                            <a:srgbClr val="2E2E2E"/>
                          </a:solidFill>
                          <a:latin typeface="Calibri"/>
                        </a:rPr>
                        <a:t>Fibre-enriched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269">
                <a:tc>
                  <a:txBody>
                    <a:bodyPr wrap="none"/>
                    <a:lstStyle/>
                    <a:p>
                      <a:pPr algn="l"/>
                      <a:r>
                        <a:rPr sz="1100" b="1">
                          <a:solidFill>
                            <a:srgbClr val="2E2E2E"/>
                          </a:solidFill>
                          <a:latin typeface="Calibri"/>
                        </a:rPr>
                        <a:t>Reduced-sugar</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269">
                <a:tc>
                  <a:txBody>
                    <a:bodyPr wrap="none"/>
                    <a:lstStyle/>
                    <a:p>
                      <a:pPr algn="l"/>
                      <a:r>
                        <a:rPr sz="1100" b="1">
                          <a:solidFill>
                            <a:srgbClr val="2E2E2E"/>
                          </a:solidFill>
                          <a:latin typeface="Calibri"/>
                        </a:rPr>
                        <a:t>No-added-sugar</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269">
                <a:tc>
                  <a:txBody>
                    <a:bodyPr wrap="none"/>
                    <a:lstStyle/>
                    <a:p>
                      <a:pPr algn="l"/>
                      <a:r>
                        <a:rPr sz="1100" b="1">
                          <a:solidFill>
                            <a:srgbClr val="2E2E2E"/>
                          </a:solidFill>
                          <a:latin typeface="Calibri"/>
                        </a:rPr>
                        <a:t>Reduced-fat</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40055">
                <a:tc>
                  <a:txBody>
                    <a:bodyPr wrap="none"/>
                    <a:lstStyle/>
                    <a:p>
                      <a:pPr algn="l"/>
                      <a:r>
                        <a:rPr sz="1100" b="1">
                          <a:solidFill>
                            <a:srgbClr val="2E2E2E"/>
                          </a:solidFill>
                          <a:latin typeface="Calibri"/>
                        </a:rPr>
                        <a:t>Other nutrition-focused</a:t>
                      </a:r>
                      <a:endParaRPr sz="1100"/>
                    </a:p>
                    <a:p>
                      <a:pPr algn="l"/>
                      <a:r>
                        <a:rPr sz="1100" b="1">
                          <a:solidFill>
                            <a:srgbClr val="2E2E2E"/>
                          </a:solidFill>
                          <a:latin typeface="Calibri"/>
                        </a:rPr>
                        <a:t>formulations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269">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576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91000"/>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767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Nutritional Positioning</a:t>
            </a:r>
          </a:p>
        </p:txBody>
      </p:sp>
      <p:sp>
        <p:nvSpPr>
          <p:cNvPr id="17" name="Rectangle 16"/>
          <p:cNvSpPr/>
          <p:nvPr/>
        </p:nvSpPr>
        <p:spPr>
          <a:xfrm>
            <a:off x="276225" y="4514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00575"/>
            <a:ext cx="11639550" cy="1952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15542" y="2495931"/>
            <a:ext cx="366712" cy="533400"/>
          </a:xfrm>
          <a:prstGeom prst="rect">
            <a:avLst/>
          </a:prstGeom>
        </p:spPr>
      </p:pic>
      <p:sp>
        <p:nvSpPr>
          <p:cNvPr id="21" name="TextBox 20"/>
          <p:cNvSpPr txBox="1"/>
          <p:nvPr/>
        </p:nvSpPr>
        <p:spPr>
          <a:xfrm>
            <a:off x="276225" y="4610100"/>
            <a:ext cx="3524634" cy="194310"/>
          </a:xfrm>
          <a:prstGeom prst="rect">
            <a:avLst/>
          </a:prstGeom>
          <a:noFill/>
        </p:spPr>
        <p:txBody>
          <a:bodyPr wrap="none" lIns="0" rIns="0" tIns="0" bIns="0">
            <a:spAutoFit/>
          </a:bodyPr>
          <a:lstStyle/>
          <a:p>
            <a:r>
              <a:rPr sz="1150" b="0">
                <a:solidFill>
                  <a:srgbClr val="2E2E2E"/>
                </a:solidFill>
                <a:latin typeface="Calibri"/>
              </a:rPr>
              <a:t>▪ 'Protein-enriched' is the largest nutritional positioning at</a:t>
            </a:r>
          </a:p>
        </p:txBody>
      </p:sp>
      <p:pic>
        <p:nvPicPr>
          <p:cNvPr id="22" name="Picture 21" descr="lock.png"/>
          <p:cNvPicPr>
            <a:picLocks noChangeAspect="1"/>
          </p:cNvPicPr>
          <p:nvPr/>
        </p:nvPicPr>
        <p:blipFill>
          <a:blip r:embed="rId4"/>
          <a:stretch>
            <a:fillRect/>
          </a:stretch>
        </p:blipFill>
        <p:spPr>
          <a:xfrm>
            <a:off x="3750013" y="4599876"/>
            <a:ext cx="134549" cy="195707"/>
          </a:xfrm>
          <a:prstGeom prst="rect">
            <a:avLst/>
          </a:prstGeom>
        </p:spPr>
      </p:pic>
      <p:sp>
        <p:nvSpPr>
          <p:cNvPr id="23" name="TextBox 22"/>
          <p:cNvSpPr txBox="1"/>
          <p:nvPr/>
        </p:nvSpPr>
        <p:spPr>
          <a:xfrm>
            <a:off x="3925122" y="46101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954855" y="4599876"/>
            <a:ext cx="134549" cy="195707"/>
          </a:xfrm>
          <a:prstGeom prst="rect">
            <a:avLst/>
          </a:prstGeom>
        </p:spPr>
      </p:pic>
      <p:sp>
        <p:nvSpPr>
          <p:cNvPr id="25" name="TextBox 24"/>
          <p:cNvSpPr txBox="1"/>
          <p:nvPr/>
        </p:nvSpPr>
        <p:spPr>
          <a:xfrm>
            <a:off x="5129964" y="46101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837938"/>
            <a:ext cx="1917513" cy="194310"/>
          </a:xfrm>
          <a:prstGeom prst="rect">
            <a:avLst/>
          </a:prstGeom>
          <a:noFill/>
        </p:spPr>
        <p:txBody>
          <a:bodyPr wrap="none" lIns="0" rIns="0" tIns="0" bIns="0">
            <a:spAutoFit/>
          </a:bodyPr>
          <a:lstStyle/>
          <a:p>
            <a:r>
              <a:rPr sz="1150" b="0">
                <a:solidFill>
                  <a:srgbClr val="2E2E2E"/>
                </a:solidFill>
                <a:latin typeface="Calibri"/>
              </a:rPr>
              <a:t>▪ 'Fibre-enriched' grows fastest</a:t>
            </a:r>
          </a:p>
        </p:txBody>
      </p:sp>
      <p:pic>
        <p:nvPicPr>
          <p:cNvPr id="27" name="Picture 26" descr="lock.png"/>
          <p:cNvPicPr>
            <a:picLocks noChangeAspect="1"/>
          </p:cNvPicPr>
          <p:nvPr/>
        </p:nvPicPr>
        <p:blipFill>
          <a:blip r:embed="rId4"/>
          <a:stretch>
            <a:fillRect/>
          </a:stretch>
        </p:blipFill>
        <p:spPr>
          <a:xfrm>
            <a:off x="2142892" y="4827714"/>
            <a:ext cx="134549" cy="195707"/>
          </a:xfrm>
          <a:prstGeom prst="rect">
            <a:avLst/>
          </a:prstGeom>
        </p:spPr>
      </p:pic>
      <p:sp>
        <p:nvSpPr>
          <p:cNvPr id="28" name="TextBox 27"/>
          <p:cNvSpPr txBox="1"/>
          <p:nvPr/>
        </p:nvSpPr>
        <p:spPr>
          <a:xfrm>
            <a:off x="2318002" y="483793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065775"/>
            <a:ext cx="2561332" cy="194310"/>
          </a:xfrm>
          <a:prstGeom prst="rect">
            <a:avLst/>
          </a:prstGeom>
          <a:noFill/>
        </p:spPr>
        <p:txBody>
          <a:bodyPr wrap="none" lIns="0" rIns="0" tIns="0" bIns="0">
            <a:spAutoFit/>
          </a:bodyPr>
          <a:lstStyle/>
          <a:p>
            <a:r>
              <a:rPr sz="1150" b="0">
                <a:solidFill>
                  <a:srgbClr val="2E2E2E"/>
                </a:solidFill>
                <a:latin typeface="Calibri"/>
              </a:rPr>
              <a:t>▪ Share shifts toward 'Protein-enriched' (+</a:t>
            </a:r>
          </a:p>
        </p:txBody>
      </p:sp>
      <p:pic>
        <p:nvPicPr>
          <p:cNvPr id="30" name="Picture 29" descr="lock.png"/>
          <p:cNvPicPr>
            <a:picLocks noChangeAspect="1"/>
          </p:cNvPicPr>
          <p:nvPr/>
        </p:nvPicPr>
        <p:blipFill>
          <a:blip r:embed="rId4"/>
          <a:stretch>
            <a:fillRect/>
          </a:stretch>
        </p:blipFill>
        <p:spPr>
          <a:xfrm>
            <a:off x="2786710" y="5055552"/>
            <a:ext cx="134549" cy="195707"/>
          </a:xfrm>
          <a:prstGeom prst="rect">
            <a:avLst/>
          </a:prstGeom>
        </p:spPr>
      </p:pic>
      <p:sp>
        <p:nvSpPr>
          <p:cNvPr id="31" name="TextBox 30"/>
          <p:cNvSpPr txBox="1"/>
          <p:nvPr/>
        </p:nvSpPr>
        <p:spPr>
          <a:xfrm>
            <a:off x="2961820" y="5065775"/>
            <a:ext cx="3695216" cy="194310"/>
          </a:xfrm>
          <a:prstGeom prst="rect">
            <a:avLst/>
          </a:prstGeom>
          <a:noFill/>
        </p:spPr>
        <p:txBody>
          <a:bodyPr wrap="none" lIns="0" rIns="0" tIns="0" bIns="0">
            <a:spAutoFit/>
          </a:bodyPr>
          <a:lstStyle/>
          <a:p>
            <a:r>
              <a:rPr sz="1150" b="0">
                <a:solidFill>
                  <a:srgbClr val="2E2E2E"/>
                </a:solidFill>
                <a:latin typeface="Calibri"/>
              </a:rPr>
              <a:t>BPS) and away from 'Other nutrition-focused formulations' (-</a:t>
            </a:r>
          </a:p>
        </p:txBody>
      </p:sp>
      <p:pic>
        <p:nvPicPr>
          <p:cNvPr id="32" name="Picture 31" descr="lock.png"/>
          <p:cNvPicPr>
            <a:picLocks noChangeAspect="1"/>
          </p:cNvPicPr>
          <p:nvPr/>
        </p:nvPicPr>
        <p:blipFill>
          <a:blip r:embed="rId4"/>
          <a:stretch>
            <a:fillRect/>
          </a:stretch>
        </p:blipFill>
        <p:spPr>
          <a:xfrm>
            <a:off x="6606190" y="5055552"/>
            <a:ext cx="134549" cy="195707"/>
          </a:xfrm>
          <a:prstGeom prst="rect">
            <a:avLst/>
          </a:prstGeom>
        </p:spPr>
      </p:pic>
      <p:sp>
        <p:nvSpPr>
          <p:cNvPr id="33" name="TextBox 32"/>
          <p:cNvSpPr txBox="1"/>
          <p:nvPr/>
        </p:nvSpPr>
        <p:spPr>
          <a:xfrm>
            <a:off x="6781299" y="50657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2936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283390"/>
            <a:ext cx="134549" cy="195707"/>
          </a:xfrm>
          <a:prstGeom prst="rect">
            <a:avLst/>
          </a:prstGeom>
        </p:spPr>
      </p:pic>
      <p:sp>
        <p:nvSpPr>
          <p:cNvPr id="36" name="TextBox 35"/>
          <p:cNvSpPr txBox="1"/>
          <p:nvPr/>
        </p:nvSpPr>
        <p:spPr>
          <a:xfrm>
            <a:off x="1965143" y="52936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283390"/>
            <a:ext cx="134549" cy="195707"/>
          </a:xfrm>
          <a:prstGeom prst="rect">
            <a:avLst/>
          </a:prstGeom>
        </p:spPr>
      </p:pic>
      <p:sp>
        <p:nvSpPr>
          <p:cNvPr id="38" name="TextBox 37"/>
          <p:cNvSpPr txBox="1"/>
          <p:nvPr/>
        </p:nvSpPr>
        <p:spPr>
          <a:xfrm>
            <a:off x="2291688" y="5293613"/>
            <a:ext cx="1470521" cy="194310"/>
          </a:xfrm>
          <a:prstGeom prst="rect">
            <a:avLst/>
          </a:prstGeom>
          <a:noFill/>
        </p:spPr>
        <p:txBody>
          <a:bodyPr wrap="none" lIns="0" rIns="0" tIns="0" bIns="0">
            <a:spAutoFit/>
          </a:bodyPr>
          <a:lstStyle/>
          <a:p>
            <a:r>
              <a:rPr sz="1150" b="0">
                <a:solidFill>
                  <a:srgbClr val="2E2E2E"/>
                </a:solidFill>
                <a:latin typeface="Calibri"/>
              </a:rPr>
              <a:t>MT across 7 categories.</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Nutritional Positioning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Nutritional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Nutritional Positioning (US$ Mn)</a:t>
            </a:r>
          </a:p>
        </p:txBody>
      </p:sp>
      <p:graphicFrame>
        <p:nvGraphicFramePr>
          <p:cNvPr id="13" name="Table 12"/>
          <p:cNvGraphicFramePr>
            <a:graphicFrameLocks noGrp="1"/>
          </p:cNvGraphicFramePr>
          <p:nvPr/>
        </p:nvGraphicFramePr>
        <p:xfrm>
          <a:off x="152400" y="1238250"/>
          <a:ext cx="11887203" cy="2219326"/>
        </p:xfrm>
        <a:graphic>
          <a:graphicData uri="http://schemas.openxmlformats.org/drawingml/2006/table">
            <a:tbl>
              <a:tblPr>
                <a:tableStyleId>{5C22544A-7EE6-4342-B048-85BDC9FD1C3A}</a:tableStyleId>
              </a:tblPr>
              <a:tblGrid>
                <a:gridCol w="2374428"/>
                <a:gridCol w="559575"/>
                <a:gridCol w="559575"/>
                <a:gridCol w="559575"/>
                <a:gridCol w="559575"/>
                <a:gridCol w="559575"/>
                <a:gridCol w="559575"/>
                <a:gridCol w="559575"/>
                <a:gridCol w="559575"/>
                <a:gridCol w="559575"/>
                <a:gridCol w="559575"/>
                <a:gridCol w="559575"/>
                <a:gridCol w="559575"/>
                <a:gridCol w="559575"/>
                <a:gridCol w="559575"/>
                <a:gridCol w="559575"/>
                <a:gridCol w="559575"/>
                <a:gridCol w="559575"/>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Nutritional Positioning</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96525" y="2204276"/>
            <a:ext cx="366712" cy="533400"/>
          </a:xfrm>
          <a:prstGeom prst="rect">
            <a:avLst/>
          </a:prstGeom>
        </p:spPr>
      </p:pic>
      <p:sp>
        <p:nvSpPr>
          <p:cNvPr id="21" name="TextBox 20"/>
          <p:cNvSpPr txBox="1"/>
          <p:nvPr/>
        </p:nvSpPr>
        <p:spPr>
          <a:xfrm>
            <a:off x="276225" y="4219575"/>
            <a:ext cx="3524634" cy="194310"/>
          </a:xfrm>
          <a:prstGeom prst="rect">
            <a:avLst/>
          </a:prstGeom>
          <a:noFill/>
        </p:spPr>
        <p:txBody>
          <a:bodyPr wrap="none" lIns="0" rIns="0" tIns="0" bIns="0">
            <a:spAutoFit/>
          </a:bodyPr>
          <a:lstStyle/>
          <a:p>
            <a:r>
              <a:rPr sz="1150" b="0">
                <a:solidFill>
                  <a:srgbClr val="2E2E2E"/>
                </a:solidFill>
                <a:latin typeface="Calibri"/>
              </a:rPr>
              <a:t>▪ 'Protein-enriched' is the largest nutritional positioning at</a:t>
            </a:r>
          </a:p>
        </p:txBody>
      </p:sp>
      <p:pic>
        <p:nvPicPr>
          <p:cNvPr id="22" name="Picture 21" descr="lock.png"/>
          <p:cNvPicPr>
            <a:picLocks noChangeAspect="1"/>
          </p:cNvPicPr>
          <p:nvPr/>
        </p:nvPicPr>
        <p:blipFill>
          <a:blip r:embed="rId4"/>
          <a:stretch>
            <a:fillRect/>
          </a:stretch>
        </p:blipFill>
        <p:spPr>
          <a:xfrm>
            <a:off x="3750013" y="4209351"/>
            <a:ext cx="134549" cy="195707"/>
          </a:xfrm>
          <a:prstGeom prst="rect">
            <a:avLst/>
          </a:prstGeom>
        </p:spPr>
      </p:pic>
      <p:sp>
        <p:nvSpPr>
          <p:cNvPr id="23" name="TextBox 22"/>
          <p:cNvSpPr txBox="1"/>
          <p:nvPr/>
        </p:nvSpPr>
        <p:spPr>
          <a:xfrm>
            <a:off x="3925122" y="421957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831055" y="4209351"/>
            <a:ext cx="134549" cy="195707"/>
          </a:xfrm>
          <a:prstGeom prst="rect">
            <a:avLst/>
          </a:prstGeom>
        </p:spPr>
      </p:pic>
      <p:sp>
        <p:nvSpPr>
          <p:cNvPr id="25" name="TextBox 24"/>
          <p:cNvSpPr txBox="1"/>
          <p:nvPr/>
        </p:nvSpPr>
        <p:spPr>
          <a:xfrm>
            <a:off x="5006164" y="421957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447413"/>
            <a:ext cx="1917513" cy="194310"/>
          </a:xfrm>
          <a:prstGeom prst="rect">
            <a:avLst/>
          </a:prstGeom>
          <a:noFill/>
        </p:spPr>
        <p:txBody>
          <a:bodyPr wrap="none" lIns="0" rIns="0" tIns="0" bIns="0">
            <a:spAutoFit/>
          </a:bodyPr>
          <a:lstStyle/>
          <a:p>
            <a:r>
              <a:rPr sz="1150" b="0">
                <a:solidFill>
                  <a:srgbClr val="2E2E2E"/>
                </a:solidFill>
                <a:latin typeface="Calibri"/>
              </a:rPr>
              <a:t>▪ 'Fibre-enriched' grows fastest</a:t>
            </a:r>
          </a:p>
        </p:txBody>
      </p:sp>
      <p:pic>
        <p:nvPicPr>
          <p:cNvPr id="27" name="Picture 26" descr="lock.png"/>
          <p:cNvPicPr>
            <a:picLocks noChangeAspect="1"/>
          </p:cNvPicPr>
          <p:nvPr/>
        </p:nvPicPr>
        <p:blipFill>
          <a:blip r:embed="rId4"/>
          <a:stretch>
            <a:fillRect/>
          </a:stretch>
        </p:blipFill>
        <p:spPr>
          <a:xfrm>
            <a:off x="2142892" y="4437189"/>
            <a:ext cx="134549" cy="195707"/>
          </a:xfrm>
          <a:prstGeom prst="rect">
            <a:avLst/>
          </a:prstGeom>
        </p:spPr>
      </p:pic>
      <p:sp>
        <p:nvSpPr>
          <p:cNvPr id="28" name="TextBox 27"/>
          <p:cNvSpPr txBox="1"/>
          <p:nvPr/>
        </p:nvSpPr>
        <p:spPr>
          <a:xfrm>
            <a:off x="2318002" y="444741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675250"/>
            <a:ext cx="2561332" cy="194310"/>
          </a:xfrm>
          <a:prstGeom prst="rect">
            <a:avLst/>
          </a:prstGeom>
          <a:noFill/>
        </p:spPr>
        <p:txBody>
          <a:bodyPr wrap="none" lIns="0" rIns="0" tIns="0" bIns="0">
            <a:spAutoFit/>
          </a:bodyPr>
          <a:lstStyle/>
          <a:p>
            <a:r>
              <a:rPr sz="1150" b="0">
                <a:solidFill>
                  <a:srgbClr val="2E2E2E"/>
                </a:solidFill>
                <a:latin typeface="Calibri"/>
              </a:rPr>
              <a:t>▪ Share shifts toward 'Protein-enriched' (+</a:t>
            </a:r>
          </a:p>
        </p:txBody>
      </p:sp>
      <p:pic>
        <p:nvPicPr>
          <p:cNvPr id="30" name="Picture 29" descr="lock.png"/>
          <p:cNvPicPr>
            <a:picLocks noChangeAspect="1"/>
          </p:cNvPicPr>
          <p:nvPr/>
        </p:nvPicPr>
        <p:blipFill>
          <a:blip r:embed="rId4"/>
          <a:stretch>
            <a:fillRect/>
          </a:stretch>
        </p:blipFill>
        <p:spPr>
          <a:xfrm>
            <a:off x="2786710" y="4665027"/>
            <a:ext cx="134549" cy="195707"/>
          </a:xfrm>
          <a:prstGeom prst="rect">
            <a:avLst/>
          </a:prstGeom>
        </p:spPr>
      </p:pic>
      <p:sp>
        <p:nvSpPr>
          <p:cNvPr id="31" name="TextBox 30"/>
          <p:cNvSpPr txBox="1"/>
          <p:nvPr/>
        </p:nvSpPr>
        <p:spPr>
          <a:xfrm>
            <a:off x="2961820" y="4675250"/>
            <a:ext cx="3695216" cy="194310"/>
          </a:xfrm>
          <a:prstGeom prst="rect">
            <a:avLst/>
          </a:prstGeom>
          <a:noFill/>
        </p:spPr>
        <p:txBody>
          <a:bodyPr wrap="none" lIns="0" rIns="0" tIns="0" bIns="0">
            <a:spAutoFit/>
          </a:bodyPr>
          <a:lstStyle/>
          <a:p>
            <a:r>
              <a:rPr sz="1150" b="0">
                <a:solidFill>
                  <a:srgbClr val="2E2E2E"/>
                </a:solidFill>
                <a:latin typeface="Calibri"/>
              </a:rPr>
              <a:t>BPS) and away from 'Other nutrition-focused formulations' (-</a:t>
            </a:r>
          </a:p>
        </p:txBody>
      </p:sp>
      <p:pic>
        <p:nvPicPr>
          <p:cNvPr id="32" name="Picture 31" descr="lock.png"/>
          <p:cNvPicPr>
            <a:picLocks noChangeAspect="1"/>
          </p:cNvPicPr>
          <p:nvPr/>
        </p:nvPicPr>
        <p:blipFill>
          <a:blip r:embed="rId4"/>
          <a:stretch>
            <a:fillRect/>
          </a:stretch>
        </p:blipFill>
        <p:spPr>
          <a:xfrm>
            <a:off x="6606190" y="4665027"/>
            <a:ext cx="134549" cy="195707"/>
          </a:xfrm>
          <a:prstGeom prst="rect">
            <a:avLst/>
          </a:prstGeom>
        </p:spPr>
      </p:pic>
      <p:sp>
        <p:nvSpPr>
          <p:cNvPr id="33" name="TextBox 32"/>
          <p:cNvSpPr txBox="1"/>
          <p:nvPr/>
        </p:nvSpPr>
        <p:spPr>
          <a:xfrm>
            <a:off x="6781299" y="46752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90308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892865"/>
            <a:ext cx="134549" cy="195707"/>
          </a:xfrm>
          <a:prstGeom prst="rect">
            <a:avLst/>
          </a:prstGeom>
        </p:spPr>
      </p:pic>
      <p:sp>
        <p:nvSpPr>
          <p:cNvPr id="36" name="TextBox 35"/>
          <p:cNvSpPr txBox="1"/>
          <p:nvPr/>
        </p:nvSpPr>
        <p:spPr>
          <a:xfrm>
            <a:off x="1841342" y="49030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892865"/>
            <a:ext cx="134549" cy="195707"/>
          </a:xfrm>
          <a:prstGeom prst="rect">
            <a:avLst/>
          </a:prstGeom>
        </p:spPr>
      </p:pic>
      <p:sp>
        <p:nvSpPr>
          <p:cNvPr id="38" name="TextBox 37"/>
          <p:cNvSpPr txBox="1"/>
          <p:nvPr/>
        </p:nvSpPr>
        <p:spPr>
          <a:xfrm>
            <a:off x="2167888" y="4903088"/>
            <a:ext cx="1744079" cy="194310"/>
          </a:xfrm>
          <a:prstGeom prst="rect">
            <a:avLst/>
          </a:prstGeom>
          <a:noFill/>
        </p:spPr>
        <p:txBody>
          <a:bodyPr wrap="none" lIns="0" rIns="0" tIns="0" bIns="0">
            <a:spAutoFit/>
          </a:bodyPr>
          <a:lstStyle/>
          <a:p>
            <a:r>
              <a:rPr sz="1150" b="0">
                <a:solidFill>
                  <a:srgbClr val="2E2E2E"/>
                </a:solidFill>
                <a:latin typeface="Calibri"/>
              </a:rPr>
              <a:t>US$ Mn across 7 categories.</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Nutritional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Nutritional Positioning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Nutritional Positioning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60208"/>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5544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7924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Fibre-enriched</a:t>
            </a:r>
          </a:p>
        </p:txBody>
      </p:sp>
      <p:sp>
        <p:nvSpPr>
          <p:cNvPr id="19" name="BPS Value 1"/>
          <p:cNvSpPr txBox="1"/>
          <p:nvPr/>
        </p:nvSpPr>
        <p:spPr>
          <a:xfrm>
            <a:off x="6896100" y="174115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022767"/>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180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418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No-added-sugar</a:t>
            </a:r>
          </a:p>
        </p:txBody>
      </p:sp>
      <p:sp>
        <p:nvSpPr>
          <p:cNvPr id="23" name="BPS Value 2"/>
          <p:cNvSpPr txBox="1"/>
          <p:nvPr/>
        </p:nvSpPr>
        <p:spPr>
          <a:xfrm>
            <a:off x="6896100" y="200371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45638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45161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754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nutrition-focused formulations</a:t>
            </a:r>
          </a:p>
        </p:txBody>
      </p:sp>
      <p:sp>
        <p:nvSpPr>
          <p:cNvPr id="27" name="BPS Value 3"/>
          <p:cNvSpPr txBox="1"/>
          <p:nvPr/>
        </p:nvSpPr>
        <p:spPr>
          <a:xfrm>
            <a:off x="6896100" y="243733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303650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03174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95554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Reduced-fat</a:t>
            </a:r>
          </a:p>
        </p:txBody>
      </p:sp>
      <p:sp>
        <p:nvSpPr>
          <p:cNvPr id="31" name="BPS Value 4"/>
          <p:cNvSpPr txBox="1"/>
          <p:nvPr/>
        </p:nvSpPr>
        <p:spPr>
          <a:xfrm>
            <a:off x="6896100" y="301745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928997" y="377949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7747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6985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indulgent</a:t>
            </a:r>
          </a:p>
        </p:txBody>
      </p:sp>
      <p:sp>
        <p:nvSpPr>
          <p:cNvPr id="35" name="BPS Value 5"/>
          <p:cNvSpPr txBox="1"/>
          <p:nvPr/>
        </p:nvSpPr>
        <p:spPr>
          <a:xfrm>
            <a:off x="6896100" y="37604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66366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6589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5827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Reduced-sugar</a:t>
            </a:r>
          </a:p>
        </p:txBody>
      </p:sp>
      <p:sp>
        <p:nvSpPr>
          <p:cNvPr id="39" name="BPS Value 6"/>
          <p:cNvSpPr txBox="1"/>
          <p:nvPr/>
        </p:nvSpPr>
        <p:spPr>
          <a:xfrm>
            <a:off x="6896100" y="464461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FMI Legend Chip"/>
          <p:cNvSpPr/>
          <p:nvPr/>
        </p:nvSpPr>
        <p:spPr>
          <a:xfrm>
            <a:off x="4928997" y="568430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6795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6033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Protein-enriched</a:t>
            </a:r>
          </a:p>
        </p:txBody>
      </p:sp>
      <p:sp>
        <p:nvSpPr>
          <p:cNvPr id="43" name="BPS Value 7"/>
          <p:cNvSpPr txBox="1"/>
          <p:nvPr/>
        </p:nvSpPr>
        <p:spPr>
          <a:xfrm>
            <a:off x="6896100" y="566525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Nutritional Positioning</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5"/>
          <a:stretch>
            <a:fillRect/>
          </a:stretch>
        </p:blipFill>
        <p:spPr>
          <a:xfrm>
            <a:off x="2557843" y="3833622"/>
            <a:ext cx="275034" cy="400050"/>
          </a:xfrm>
          <a:prstGeom prst="rect">
            <a:avLst/>
          </a:prstGeom>
        </p:spPr>
      </p:pic>
      <p:sp>
        <p:nvSpPr>
          <p:cNvPr id="50" name="TextBox 49"/>
          <p:cNvSpPr txBox="1"/>
          <p:nvPr/>
        </p:nvSpPr>
        <p:spPr>
          <a:xfrm>
            <a:off x="7829550" y="1400175"/>
            <a:ext cx="2598415" cy="194310"/>
          </a:xfrm>
          <a:prstGeom prst="rect">
            <a:avLst/>
          </a:prstGeom>
          <a:noFill/>
        </p:spPr>
        <p:txBody>
          <a:bodyPr wrap="none" lIns="0" rIns="0" tIns="0" bIns="0">
            <a:spAutoFit/>
          </a:bodyPr>
          <a:lstStyle/>
          <a:p>
            <a:r>
              <a:rPr sz="1150" b="0">
                <a:solidFill>
                  <a:srgbClr val="2E2E2E"/>
                </a:solidFill>
                <a:latin typeface="Calibri"/>
              </a:rPr>
              <a:t>▪ 'Protein-enriched' gains the most share +</a:t>
            </a:r>
          </a:p>
        </p:txBody>
      </p:sp>
      <p:pic>
        <p:nvPicPr>
          <p:cNvPr id="51" name="Picture 50" descr="lock.png"/>
          <p:cNvPicPr>
            <a:picLocks noChangeAspect="1"/>
          </p:cNvPicPr>
          <p:nvPr/>
        </p:nvPicPr>
        <p:blipFill>
          <a:blip r:embed="rId5"/>
          <a:stretch>
            <a:fillRect/>
          </a:stretch>
        </p:blipFill>
        <p:spPr>
          <a:xfrm>
            <a:off x="10377118" y="1389951"/>
            <a:ext cx="134549" cy="195707"/>
          </a:xfrm>
          <a:prstGeom prst="rect">
            <a:avLst/>
          </a:prstGeom>
        </p:spPr>
      </p:pic>
      <p:sp>
        <p:nvSpPr>
          <p:cNvPr id="52" name="TextBox 51"/>
          <p:cNvSpPr txBox="1"/>
          <p:nvPr/>
        </p:nvSpPr>
        <p:spPr>
          <a:xfrm>
            <a:off x="10552228" y="1400175"/>
            <a:ext cx="1186408" cy="194310"/>
          </a:xfrm>
          <a:prstGeom prst="rect">
            <a:avLst/>
          </a:prstGeom>
          <a:noFill/>
        </p:spPr>
        <p:txBody>
          <a:bodyPr wrap="none" lIns="0" rIns="0" tIns="0" bIns="0">
            <a:spAutoFit/>
          </a:bodyPr>
          <a:lstStyle/>
          <a:p>
            <a:r>
              <a:rPr sz="1150" b="0">
                <a:solidFill>
                  <a:srgbClr val="2E2E2E"/>
                </a:solidFill>
                <a:latin typeface="Calibri"/>
              </a:rPr>
              <a:t>BPS between 2026</a:t>
            </a:r>
          </a:p>
        </p:txBody>
      </p:sp>
      <p:sp>
        <p:nvSpPr>
          <p:cNvPr id="53" name="TextBox 52"/>
          <p:cNvSpPr txBox="1"/>
          <p:nvPr/>
        </p:nvSpPr>
        <p:spPr>
          <a:xfrm>
            <a:off x="7829550" y="1575435"/>
            <a:ext cx="1983692" cy="194310"/>
          </a:xfrm>
          <a:prstGeom prst="rect">
            <a:avLst/>
          </a:prstGeom>
          <a:noFill/>
        </p:spPr>
        <p:txBody>
          <a:bodyPr wrap="none" lIns="0" rIns="0" tIns="0" bIns="0">
            <a:spAutoFit/>
          </a:bodyPr>
          <a:lstStyle/>
          <a:p>
            <a:r>
              <a:rPr sz="1150" b="0">
                <a:solidFill>
                  <a:srgbClr val="2E2E2E"/>
                </a:solidFill>
                <a:latin typeface="Calibri"/>
              </a:rPr>
              <a:t>and 2036 (</a:t>
            </a:r>
            <a:r>
              <a:rPr sz="1150" b="0">
                <a:solidFill>
                  <a:srgbClr val="2E7D32"/>
                </a:solidFill>
                <a:latin typeface="Calibri"/>
              </a:rPr>
              <a:t>green ▲</a:t>
            </a:r>
            <a:r>
              <a:rPr sz="1150" b="0">
                <a:solidFill>
                  <a:srgbClr val="2E2E2E"/>
                </a:solidFill>
                <a:latin typeface="Calibri"/>
              </a:rPr>
              <a:t> on the scale).</a:t>
            </a:r>
          </a:p>
        </p:txBody>
      </p:sp>
      <p:sp>
        <p:nvSpPr>
          <p:cNvPr id="54" name="TextBox 53"/>
          <p:cNvSpPr txBox="1"/>
          <p:nvPr/>
        </p:nvSpPr>
        <p:spPr>
          <a:xfrm>
            <a:off x="7829550" y="1803273"/>
            <a:ext cx="3452750" cy="194310"/>
          </a:xfrm>
          <a:prstGeom prst="rect">
            <a:avLst/>
          </a:prstGeom>
          <a:noFill/>
        </p:spPr>
        <p:txBody>
          <a:bodyPr wrap="none" lIns="0" rIns="0" tIns="0" bIns="0">
            <a:spAutoFit/>
          </a:bodyPr>
          <a:lstStyle/>
          <a:p>
            <a:r>
              <a:rPr sz="1150" b="0">
                <a:solidFill>
                  <a:srgbClr val="2E2E2E"/>
                </a:solidFill>
                <a:latin typeface="Calibri"/>
              </a:rPr>
              <a:t>▪ 'Other nutrition-focused formulations' cedes the most -</a:t>
            </a:r>
          </a:p>
        </p:txBody>
      </p:sp>
      <p:pic>
        <p:nvPicPr>
          <p:cNvPr id="55" name="Picture 54" descr="lock.png"/>
          <p:cNvPicPr>
            <a:picLocks noChangeAspect="1"/>
          </p:cNvPicPr>
          <p:nvPr/>
        </p:nvPicPr>
        <p:blipFill>
          <a:blip r:embed="rId5"/>
          <a:stretch>
            <a:fillRect/>
          </a:stretch>
        </p:blipFill>
        <p:spPr>
          <a:xfrm>
            <a:off x="11231454" y="1793049"/>
            <a:ext cx="134549" cy="195707"/>
          </a:xfrm>
          <a:prstGeom prst="rect">
            <a:avLst/>
          </a:prstGeom>
        </p:spPr>
      </p:pic>
      <p:sp>
        <p:nvSpPr>
          <p:cNvPr id="56" name="TextBox 55"/>
          <p:cNvSpPr txBox="1"/>
          <p:nvPr/>
        </p:nvSpPr>
        <p:spPr>
          <a:xfrm>
            <a:off x="11406563" y="180327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7" name="TextBox 56"/>
          <p:cNvSpPr txBox="1"/>
          <p:nvPr/>
        </p:nvSpPr>
        <p:spPr>
          <a:xfrm>
            <a:off x="7829550" y="1978533"/>
            <a:ext cx="1896119" cy="194310"/>
          </a:xfrm>
          <a:prstGeom prst="rect">
            <a:avLst/>
          </a:prstGeom>
          <a:noFill/>
        </p:spPr>
        <p:txBody>
          <a:bodyPr wrap="none" lIns="0" rIns="0" tIns="0" bIns="0">
            <a:spAutoFit/>
          </a:bodyPr>
          <a:lstStyle/>
          <a:p>
            <a:r>
              <a:rPr sz="1150" b="0">
                <a:solidFill>
                  <a:srgbClr val="2E2E2E"/>
                </a:solidFill>
                <a:latin typeface="Calibri"/>
              </a:rPr>
              <a:t>over the same window (</a:t>
            </a:r>
            <a:r>
              <a:rPr sz="1150" b="0">
                <a:solidFill>
                  <a:srgbClr val="E44D3A"/>
                </a:solidFill>
                <a:latin typeface="Calibri"/>
              </a:rPr>
              <a:t>red ▼</a:t>
            </a:r>
            <a:r>
              <a:rPr sz="1150" b="0">
                <a:solidFill>
                  <a:srgbClr val="2E2E2E"/>
                </a:solidFill>
                <a:latin typeface="Calibri"/>
              </a:rPr>
              <a:t>).</a:t>
            </a:r>
          </a:p>
        </p:txBody>
      </p:sp>
      <p:sp>
        <p:nvSpPr>
          <p:cNvPr id="58" name="TextBox 57"/>
          <p:cNvSpPr txBox="1"/>
          <p:nvPr/>
        </p:nvSpPr>
        <p:spPr>
          <a:xfrm>
            <a:off x="7829550" y="2206371"/>
            <a:ext cx="3912294" cy="194310"/>
          </a:xfrm>
          <a:prstGeom prst="rect">
            <a:avLst/>
          </a:prstGeom>
          <a:noFill/>
        </p:spPr>
        <p:txBody>
          <a:bodyPr wrap="none" lIns="0" rIns="0" tIns="0" bIns="0">
            <a:spAutoFit/>
          </a:bodyPr>
          <a:lstStyle/>
          <a:p>
            <a:r>
              <a:rPr sz="1150" b="0">
                <a:solidFill>
                  <a:srgbClr val="2E2E2E"/>
                </a:solidFill>
                <a:latin typeface="Calibri"/>
              </a:rPr>
              <a:t>▪ 'Fibre-enriched' is the fastest-growing nutritional positioning at</a:t>
            </a:r>
          </a:p>
        </p:txBody>
      </p:sp>
      <p:pic>
        <p:nvPicPr>
          <p:cNvPr id="59" name="Picture 58" descr="lock.png"/>
          <p:cNvPicPr>
            <a:picLocks noChangeAspect="1"/>
          </p:cNvPicPr>
          <p:nvPr/>
        </p:nvPicPr>
        <p:blipFill>
          <a:blip r:embed="rId5"/>
          <a:stretch>
            <a:fillRect/>
          </a:stretch>
        </p:blipFill>
        <p:spPr>
          <a:xfrm>
            <a:off x="7815470" y="2371407"/>
            <a:ext cx="134549" cy="195707"/>
          </a:xfrm>
          <a:prstGeom prst="rect">
            <a:avLst/>
          </a:prstGeom>
        </p:spPr>
      </p:pic>
      <p:sp>
        <p:nvSpPr>
          <p:cNvPr id="60" name="TextBox 59"/>
          <p:cNvSpPr txBox="1"/>
          <p:nvPr/>
        </p:nvSpPr>
        <p:spPr>
          <a:xfrm>
            <a:off x="799057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1" name="TextBox 6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62" name="Picture 61" descr="lock.png"/>
          <p:cNvPicPr>
            <a:picLocks noChangeAspect="1"/>
          </p:cNvPicPr>
          <p:nvPr/>
        </p:nvPicPr>
        <p:blipFill>
          <a:blip r:embed="rId5"/>
          <a:stretch>
            <a:fillRect/>
          </a:stretch>
        </p:blipFill>
        <p:spPr>
          <a:xfrm>
            <a:off x="9327669" y="2599245"/>
            <a:ext cx="134549" cy="195707"/>
          </a:xfrm>
          <a:prstGeom prst="rect">
            <a:avLst/>
          </a:prstGeom>
        </p:spPr>
      </p:pic>
      <p:sp>
        <p:nvSpPr>
          <p:cNvPr id="63" name="TextBox 6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4" name="Picture 63" descr="lock.png"/>
          <p:cNvPicPr>
            <a:picLocks noChangeAspect="1"/>
          </p:cNvPicPr>
          <p:nvPr/>
        </p:nvPicPr>
        <p:blipFill>
          <a:blip r:embed="rId5"/>
          <a:stretch>
            <a:fillRect/>
          </a:stretch>
        </p:blipFill>
        <p:spPr>
          <a:xfrm>
            <a:off x="9654215" y="2599245"/>
            <a:ext cx="134549" cy="195707"/>
          </a:xfrm>
          <a:prstGeom prst="rect">
            <a:avLst/>
          </a:prstGeom>
        </p:spPr>
      </p:pic>
      <p:sp>
        <p:nvSpPr>
          <p:cNvPr id="65" name="TextBox 6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66" name="TextBox 6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67" name="TextBox 6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6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Nutritional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Nutritional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Nutritional Positioning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sp>
        <p:nvSpPr>
          <p:cNvPr id="33" name="Rectangle 32"/>
          <p:cNvSpPr/>
          <p:nvPr/>
        </p:nvSpPr>
        <p:spPr>
          <a:xfrm>
            <a:off x="1857375" y="3981450"/>
            <a:ext cx="643890"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sp>
        <p:nvSpPr>
          <p:cNvPr id="49" name="Rectangle 48"/>
          <p:cNvSpPr/>
          <p:nvPr/>
        </p:nvSpPr>
        <p:spPr>
          <a:xfrm>
            <a:off x="185737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sp>
        <p:nvSpPr>
          <p:cNvPr id="65" name="Rectangle 64"/>
          <p:cNvSpPr/>
          <p:nvPr/>
        </p:nvSpPr>
        <p:spPr>
          <a:xfrm>
            <a:off x="1857375" y="4721679"/>
            <a:ext cx="643890" cy="37011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sp>
        <p:nvSpPr>
          <p:cNvPr id="81" name="Rectangle 80"/>
          <p:cNvSpPr/>
          <p:nvPr/>
        </p:nvSpPr>
        <p:spPr>
          <a:xfrm>
            <a:off x="1857375" y="5091793"/>
            <a:ext cx="643890" cy="37011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sp>
        <p:nvSpPr>
          <p:cNvPr id="97" name="Rectangle 96"/>
          <p:cNvSpPr/>
          <p:nvPr/>
        </p:nvSpPr>
        <p:spPr>
          <a:xfrm>
            <a:off x="1857375" y="5461907"/>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sp>
        <p:nvSpPr>
          <p:cNvPr id="113" name="Rectangle 112"/>
          <p:cNvSpPr/>
          <p:nvPr/>
        </p:nvSpPr>
        <p:spPr>
          <a:xfrm>
            <a:off x="185737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129" name="Rectangle 128"/>
          <p:cNvSpPr/>
          <p:nvPr/>
        </p:nvSpPr>
        <p:spPr>
          <a:xfrm>
            <a:off x="1857375" y="6202136"/>
            <a:ext cx="643890"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198768" y="2080450"/>
            <a:ext cx="366712" cy="533400"/>
          </a:xfrm>
          <a:prstGeom prst="rect">
            <a:avLst/>
          </a:prstGeom>
        </p:spPr>
      </p:pic>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Nutritional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Nutritional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Nutritional Positioning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sp>
        <p:nvSpPr>
          <p:cNvPr id="33" name="Rectangle 32"/>
          <p:cNvSpPr/>
          <p:nvPr/>
        </p:nvSpPr>
        <p:spPr>
          <a:xfrm>
            <a:off x="1857375" y="3981450"/>
            <a:ext cx="643890"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sp>
        <p:nvSpPr>
          <p:cNvPr id="49" name="Rectangle 48"/>
          <p:cNvSpPr/>
          <p:nvPr/>
        </p:nvSpPr>
        <p:spPr>
          <a:xfrm>
            <a:off x="185737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sp>
        <p:nvSpPr>
          <p:cNvPr id="65" name="Rectangle 64"/>
          <p:cNvSpPr/>
          <p:nvPr/>
        </p:nvSpPr>
        <p:spPr>
          <a:xfrm>
            <a:off x="1857375" y="4721679"/>
            <a:ext cx="643890" cy="37011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sp>
        <p:nvSpPr>
          <p:cNvPr id="81" name="Rectangle 80"/>
          <p:cNvSpPr/>
          <p:nvPr/>
        </p:nvSpPr>
        <p:spPr>
          <a:xfrm>
            <a:off x="1857375" y="5091793"/>
            <a:ext cx="643890" cy="370114"/>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sp>
        <p:nvSpPr>
          <p:cNvPr id="97" name="Rectangle 96"/>
          <p:cNvSpPr/>
          <p:nvPr/>
        </p:nvSpPr>
        <p:spPr>
          <a:xfrm>
            <a:off x="1857375" y="5461907"/>
            <a:ext cx="643890" cy="37011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sp>
        <p:nvSpPr>
          <p:cNvPr id="113" name="Rectangle 112"/>
          <p:cNvSpPr/>
          <p:nvPr/>
        </p:nvSpPr>
        <p:spPr>
          <a:xfrm>
            <a:off x="185737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129" name="Rectangle 128"/>
          <p:cNvSpPr/>
          <p:nvPr/>
        </p:nvSpPr>
        <p:spPr>
          <a:xfrm>
            <a:off x="1857375" y="6202136"/>
            <a:ext cx="643890" cy="37011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198768" y="2080450"/>
            <a:ext cx="366712" cy="533400"/>
          </a:xfrm>
          <a:prstGeom prst="rect">
            <a:avLst/>
          </a:prstGeom>
        </p:spPr>
      </p:pic>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Recipe and Ingredient Claims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Recipe and Ingredient Claims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Recipe and Ingredient Claims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Recipe and Ingredient Claims,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Recipe and Ingredient Claims segment categorizes the market by recipe and ingredient claims.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Additional claim mapping</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Organic-certified</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 non-organic</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Recipe and Ingredient Claims split shows how demand is distributed across recipe and ingredient claims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_955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4_540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4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576_5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732_3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2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66_0_605E5C.png"/>
          <p:cNvPicPr>
            <a:picLocks noChangeAspect="1"/>
          </p:cNvPicPr>
          <p:nvPr/>
        </p:nvPicPr>
        <p:blipFill>
          <a:blip r:embed="rId10"/>
          <a:stretch>
            <a:fillRect/>
          </a:stretch>
        </p:blipFill>
        <p:spPr>
          <a:xfrm>
            <a:off x="9748157" y="2286582"/>
            <a:ext cx="982436" cy="361950"/>
          </a:xfrm>
          <a:prstGeom prst="rect">
            <a:avLst/>
          </a:prstGeom>
        </p:spPr>
      </p:pic>
      <p:pic>
        <p:nvPicPr>
          <p:cNvPr id="64" name="Picture 63" descr="80_9_605E5C.png"/>
          <p:cNvPicPr>
            <a:picLocks noChangeAspect="1"/>
          </p:cNvPicPr>
          <p:nvPr/>
        </p:nvPicPr>
        <p:blipFill>
          <a:blip r:embed="rId11"/>
          <a:stretch>
            <a:fillRect/>
          </a:stretch>
        </p:blipFill>
        <p:spPr>
          <a:xfrm>
            <a:off x="9748157" y="2779432"/>
            <a:ext cx="982436" cy="361950"/>
          </a:xfrm>
          <a:prstGeom prst="rect">
            <a:avLst/>
          </a:prstGeom>
        </p:spPr>
      </p:pic>
      <p:pic>
        <p:nvPicPr>
          <p:cNvPr id="65" name="Picture 64" descr="2_1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'Additional claim mapping' holds the largest share</a:t>
            </a:r>
          </a:p>
        </p:txBody>
      </p:sp>
      <p:sp>
        <p:nvSpPr>
          <p:cNvPr id="70" name="TextBox 69"/>
          <p:cNvSpPr txBox="1"/>
          <p:nvPr/>
        </p:nvSpPr>
        <p:spPr>
          <a:xfrm>
            <a:off x="485775" y="4397077"/>
            <a:ext cx="497209" cy="186689"/>
          </a:xfrm>
          <a:prstGeom prst="rect">
            <a:avLst/>
          </a:prstGeom>
          <a:noFill/>
        </p:spPr>
        <p:txBody>
          <a:bodyPr wrap="none" lIns="0" rIns="0" tIns="0" bIns="0">
            <a:spAutoFit/>
          </a:bodyPr>
          <a:lstStyle/>
          <a:p>
            <a:r>
              <a:rPr sz="1100" b="0">
                <a:solidFill>
                  <a:srgbClr val="2E2E2E"/>
                </a:solidFill>
                <a:latin typeface="Calibri"/>
              </a:rPr>
              <a:t>in 2026</a:t>
            </a:r>
          </a:p>
        </p:txBody>
      </p:sp>
      <p:pic>
        <p:nvPicPr>
          <p:cNvPr id="71" name="Picture 70" descr="lock.png"/>
          <p:cNvPicPr>
            <a:picLocks noChangeAspect="1"/>
          </p:cNvPicPr>
          <p:nvPr/>
        </p:nvPicPr>
        <p:blipFill>
          <a:blip r:embed="rId13"/>
          <a:stretch>
            <a:fillRect/>
          </a:stretch>
        </p:blipFill>
        <p:spPr>
          <a:xfrm>
            <a:off x="931036" y="4387298"/>
            <a:ext cx="128699" cy="187198"/>
          </a:xfrm>
          <a:prstGeom prst="rect">
            <a:avLst/>
          </a:prstGeom>
        </p:spPr>
      </p:pic>
      <p:sp>
        <p:nvSpPr>
          <p:cNvPr id="72" name="TextBox 71"/>
          <p:cNvSpPr txBox="1"/>
          <p:nvPr/>
        </p:nvSpPr>
        <p:spPr>
          <a:xfrm>
            <a:off x="1098532"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3" name="TextBox 72"/>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'Additional claim mapping' is the fastest-growing</a:t>
            </a:r>
          </a:p>
        </p:txBody>
      </p:sp>
      <p:sp>
        <p:nvSpPr>
          <p:cNvPr id="74" name="TextBox 7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75" name="Picture 74" descr="lock.png"/>
          <p:cNvPicPr>
            <a:picLocks noChangeAspect="1"/>
          </p:cNvPicPr>
          <p:nvPr/>
        </p:nvPicPr>
        <p:blipFill>
          <a:blip r:embed="rId13"/>
          <a:stretch>
            <a:fillRect/>
          </a:stretch>
        </p:blipFill>
        <p:spPr>
          <a:xfrm>
            <a:off x="1391064" y="4772870"/>
            <a:ext cx="128699" cy="187198"/>
          </a:xfrm>
          <a:prstGeom prst="rect">
            <a:avLst/>
          </a:prstGeom>
        </p:spPr>
      </p:pic>
      <p:sp>
        <p:nvSpPr>
          <p:cNvPr id="76" name="TextBox 7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7" name="TextBox 7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8" name="Picture 77" descr="lock.png"/>
          <p:cNvPicPr>
            <a:picLocks noChangeAspect="1"/>
          </p:cNvPicPr>
          <p:nvPr/>
        </p:nvPicPr>
        <p:blipFill>
          <a:blip r:embed="rId13"/>
          <a:stretch>
            <a:fillRect/>
          </a:stretch>
        </p:blipFill>
        <p:spPr>
          <a:xfrm>
            <a:off x="2240451" y="4990801"/>
            <a:ext cx="128699" cy="187198"/>
          </a:xfrm>
          <a:prstGeom prst="rect">
            <a:avLst/>
          </a:prstGeom>
        </p:spPr>
      </p:pic>
      <p:sp>
        <p:nvSpPr>
          <p:cNvPr id="79" name="TextBox 7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0" name="Picture 79" descr="lock.png"/>
          <p:cNvPicPr>
            <a:picLocks noChangeAspect="1"/>
          </p:cNvPicPr>
          <p:nvPr/>
        </p:nvPicPr>
        <p:blipFill>
          <a:blip r:embed="rId13"/>
          <a:stretch>
            <a:fillRect/>
          </a:stretch>
        </p:blipFill>
        <p:spPr>
          <a:xfrm>
            <a:off x="2552799" y="4990801"/>
            <a:ext cx="128699" cy="187198"/>
          </a:xfrm>
          <a:prstGeom prst="rect">
            <a:avLst/>
          </a:prstGeom>
        </p:spPr>
      </p:pic>
      <p:sp>
        <p:nvSpPr>
          <p:cNvPr id="81" name="TextBox 8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2" name="TextBox 8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3" name="TextBox 82"/>
          <p:cNvSpPr txBox="1"/>
          <p:nvPr/>
        </p:nvSpPr>
        <p:spPr>
          <a:xfrm>
            <a:off x="485775" y="5386153"/>
            <a:ext cx="2422996" cy="186689"/>
          </a:xfrm>
          <a:prstGeom prst="rect">
            <a:avLst/>
          </a:prstGeom>
          <a:noFill/>
        </p:spPr>
        <p:txBody>
          <a:bodyPr wrap="none" lIns="0" rIns="0" tIns="0" bIns="0">
            <a:spAutoFit/>
          </a:bodyPr>
          <a:lstStyle/>
          <a:p>
            <a:r>
              <a:rPr sz="1100" b="0">
                <a:solidFill>
                  <a:srgbClr val="2E2E2E"/>
                </a:solidFill>
                <a:latin typeface="Calibri"/>
              </a:rPr>
              <a:t>▪ 3 sub-segments make up the recipe and</a:t>
            </a:r>
          </a:p>
        </p:txBody>
      </p:sp>
      <p:sp>
        <p:nvSpPr>
          <p:cNvPr id="84" name="TextBox 83"/>
          <p:cNvSpPr txBox="1"/>
          <p:nvPr/>
        </p:nvSpPr>
        <p:spPr>
          <a:xfrm>
            <a:off x="485775" y="5553793"/>
            <a:ext cx="1686024" cy="186689"/>
          </a:xfrm>
          <a:prstGeom prst="rect">
            <a:avLst/>
          </a:prstGeom>
          <a:noFill/>
        </p:spPr>
        <p:txBody>
          <a:bodyPr wrap="none" lIns="0" rIns="0" tIns="0" bIns="0">
            <a:spAutoFit/>
          </a:bodyPr>
          <a:lstStyle/>
          <a:p>
            <a:r>
              <a:rPr sz="1100" b="0">
                <a:solidFill>
                  <a:srgbClr val="2E2E2E"/>
                </a:solidFill>
                <a:latin typeface="Calibri"/>
              </a:rPr>
              <a:t>ingredient claims landscape.</a:t>
            </a:r>
          </a:p>
        </p:txBody>
      </p:sp>
      <p:sp>
        <p:nvSpPr>
          <p:cNvPr id="85" name="TextBox 84"/>
          <p:cNvSpPr txBox="1"/>
          <p:nvPr/>
        </p:nvSpPr>
        <p:spPr>
          <a:xfrm>
            <a:off x="3838575" y="4229437"/>
            <a:ext cx="1676474" cy="186689"/>
          </a:xfrm>
          <a:prstGeom prst="rect">
            <a:avLst/>
          </a:prstGeom>
          <a:noFill/>
        </p:spPr>
        <p:txBody>
          <a:bodyPr wrap="none" lIns="0" rIns="0" tIns="0" bIns="0">
            <a:spAutoFit/>
          </a:bodyPr>
          <a:lstStyle/>
          <a:p>
            <a:r>
              <a:rPr sz="1100" b="0">
                <a:solidFill>
                  <a:srgbClr val="2E2E2E"/>
                </a:solidFill>
                <a:latin typeface="Calibri"/>
              </a:rPr>
              <a:t>● Additional claim mapping:</a:t>
            </a:r>
          </a:p>
        </p:txBody>
      </p:sp>
      <p:pic>
        <p:nvPicPr>
          <p:cNvPr id="86" name="Picture 85" descr="lock.png"/>
          <p:cNvPicPr>
            <a:picLocks noChangeAspect="1"/>
          </p:cNvPicPr>
          <p:nvPr/>
        </p:nvPicPr>
        <p:blipFill>
          <a:blip r:embed="rId13"/>
          <a:stretch>
            <a:fillRect/>
          </a:stretch>
        </p:blipFill>
        <p:spPr>
          <a:xfrm>
            <a:off x="5463101" y="4219658"/>
            <a:ext cx="128699" cy="187198"/>
          </a:xfrm>
          <a:prstGeom prst="rect">
            <a:avLst/>
          </a:prstGeom>
        </p:spPr>
      </p:pic>
      <p:sp>
        <p:nvSpPr>
          <p:cNvPr id="87" name="TextBox 86"/>
          <p:cNvSpPr txBox="1"/>
          <p:nvPr/>
        </p:nvSpPr>
        <p:spPr>
          <a:xfrm>
            <a:off x="563059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8" name="Picture 87" descr="lock.png"/>
          <p:cNvPicPr>
            <a:picLocks noChangeAspect="1"/>
          </p:cNvPicPr>
          <p:nvPr/>
        </p:nvPicPr>
        <p:blipFill>
          <a:blip r:embed="rId13"/>
          <a:stretch>
            <a:fillRect/>
          </a:stretch>
        </p:blipFill>
        <p:spPr>
          <a:xfrm>
            <a:off x="6490047" y="4219658"/>
            <a:ext cx="128699" cy="187198"/>
          </a:xfrm>
          <a:prstGeom prst="rect">
            <a:avLst/>
          </a:prstGeom>
        </p:spPr>
      </p:pic>
      <p:sp>
        <p:nvSpPr>
          <p:cNvPr id="89" name="TextBox 88"/>
          <p:cNvSpPr txBox="1"/>
          <p:nvPr/>
        </p:nvSpPr>
        <p:spPr>
          <a:xfrm>
            <a:off x="665754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0" name="TextBox 89"/>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1" name="TextBox 90"/>
          <p:cNvSpPr txBox="1"/>
          <p:nvPr/>
        </p:nvSpPr>
        <p:spPr>
          <a:xfrm>
            <a:off x="3838575" y="4615009"/>
            <a:ext cx="1185614" cy="186689"/>
          </a:xfrm>
          <a:prstGeom prst="rect">
            <a:avLst/>
          </a:prstGeom>
          <a:noFill/>
        </p:spPr>
        <p:txBody>
          <a:bodyPr wrap="none" lIns="0" rIns="0" tIns="0" bIns="0">
            <a:spAutoFit/>
          </a:bodyPr>
          <a:lstStyle/>
          <a:p>
            <a:r>
              <a:rPr sz="1100" b="0">
                <a:solidFill>
                  <a:srgbClr val="2E2E2E"/>
                </a:solidFill>
                <a:latin typeface="Calibri"/>
              </a:rPr>
              <a:t>● Organic-certified:</a:t>
            </a:r>
          </a:p>
        </p:txBody>
      </p:sp>
      <p:pic>
        <p:nvPicPr>
          <p:cNvPr id="92" name="Picture 91" descr="lock.png"/>
          <p:cNvPicPr>
            <a:picLocks noChangeAspect="1"/>
          </p:cNvPicPr>
          <p:nvPr/>
        </p:nvPicPr>
        <p:blipFill>
          <a:blip r:embed="rId13"/>
          <a:stretch>
            <a:fillRect/>
          </a:stretch>
        </p:blipFill>
        <p:spPr>
          <a:xfrm>
            <a:off x="4972241" y="4605230"/>
            <a:ext cx="128699" cy="187198"/>
          </a:xfrm>
          <a:prstGeom prst="rect">
            <a:avLst/>
          </a:prstGeom>
        </p:spPr>
      </p:pic>
      <p:sp>
        <p:nvSpPr>
          <p:cNvPr id="93" name="TextBox 92"/>
          <p:cNvSpPr txBox="1"/>
          <p:nvPr/>
        </p:nvSpPr>
        <p:spPr>
          <a:xfrm>
            <a:off x="513973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999187" y="4605230"/>
            <a:ext cx="128699" cy="187198"/>
          </a:xfrm>
          <a:prstGeom prst="rect">
            <a:avLst/>
          </a:prstGeom>
        </p:spPr>
      </p:pic>
      <p:sp>
        <p:nvSpPr>
          <p:cNvPr id="95" name="TextBox 94"/>
          <p:cNvSpPr txBox="1"/>
          <p:nvPr/>
        </p:nvSpPr>
        <p:spPr>
          <a:xfrm>
            <a:off x="6166682"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6" name="TextBox 95"/>
          <p:cNvSpPr txBox="1"/>
          <p:nvPr/>
        </p:nvSpPr>
        <p:spPr>
          <a:xfrm>
            <a:off x="3838575" y="4832941"/>
            <a:ext cx="1782886" cy="186689"/>
          </a:xfrm>
          <a:prstGeom prst="rect">
            <a:avLst/>
          </a:prstGeom>
          <a:noFill/>
        </p:spPr>
        <p:txBody>
          <a:bodyPr wrap="none" lIns="0" rIns="0" tIns="0" bIns="0">
            <a:spAutoFit/>
          </a:bodyPr>
          <a:lstStyle/>
          <a:p>
            <a:r>
              <a:rPr sz="1100" b="0">
                <a:solidFill>
                  <a:srgbClr val="2E2E2E"/>
                </a:solidFill>
                <a:latin typeface="Calibri"/>
              </a:rPr>
              <a:t>● Conventional / non-organic:</a:t>
            </a:r>
          </a:p>
        </p:txBody>
      </p:sp>
      <p:pic>
        <p:nvPicPr>
          <p:cNvPr id="97" name="Picture 96" descr="lock.png"/>
          <p:cNvPicPr>
            <a:picLocks noChangeAspect="1"/>
          </p:cNvPicPr>
          <p:nvPr/>
        </p:nvPicPr>
        <p:blipFill>
          <a:blip r:embed="rId13"/>
          <a:stretch>
            <a:fillRect/>
          </a:stretch>
        </p:blipFill>
        <p:spPr>
          <a:xfrm>
            <a:off x="5569513" y="4823162"/>
            <a:ext cx="128699" cy="187198"/>
          </a:xfrm>
          <a:prstGeom prst="rect">
            <a:avLst/>
          </a:prstGeom>
        </p:spPr>
      </p:pic>
      <p:sp>
        <p:nvSpPr>
          <p:cNvPr id="98" name="TextBox 97"/>
          <p:cNvSpPr txBox="1"/>
          <p:nvPr/>
        </p:nvSpPr>
        <p:spPr>
          <a:xfrm>
            <a:off x="5737008"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596459" y="4823162"/>
            <a:ext cx="128699" cy="187198"/>
          </a:xfrm>
          <a:prstGeom prst="rect">
            <a:avLst/>
          </a:prstGeom>
        </p:spPr>
      </p:pic>
      <p:sp>
        <p:nvSpPr>
          <p:cNvPr id="100" name="TextBox 99"/>
          <p:cNvSpPr txBox="1"/>
          <p:nvPr/>
        </p:nvSpPr>
        <p:spPr>
          <a:xfrm>
            <a:off x="676395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1" name="TextBox 100"/>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2" name="TextBox 101"/>
          <p:cNvSpPr txBox="1"/>
          <p:nvPr/>
        </p:nvSpPr>
        <p:spPr>
          <a:xfrm>
            <a:off x="8524875" y="5856661"/>
            <a:ext cx="3129352" cy="180289"/>
          </a:xfrm>
          <a:prstGeom prst="rect">
            <a:avLst/>
          </a:prstGeom>
          <a:noFill/>
        </p:spPr>
        <p:txBody>
          <a:bodyPr wrap="none" lIns="0" rIns="0" tIns="0" bIns="0">
            <a:spAutoFit/>
          </a:bodyPr>
          <a:lstStyle/>
          <a:p>
            <a:r>
              <a:rPr sz="1057" b="1">
                <a:solidFill>
                  <a:srgbClr val="0B2E4A"/>
                </a:solidFill>
                <a:latin typeface="Calibri"/>
              </a:rPr>
              <a:t>The Recipe and Ingredient Claims segment is projected</a:t>
            </a:r>
          </a:p>
        </p:txBody>
      </p:sp>
      <p:sp>
        <p:nvSpPr>
          <p:cNvPr id="103" name="TextBox 102"/>
          <p:cNvSpPr txBox="1"/>
          <p:nvPr/>
        </p:nvSpPr>
        <p:spPr>
          <a:xfrm>
            <a:off x="8524875" y="6017901"/>
            <a:ext cx="1239018" cy="180289"/>
          </a:xfrm>
          <a:prstGeom prst="rect">
            <a:avLst/>
          </a:prstGeom>
          <a:noFill/>
        </p:spPr>
        <p:txBody>
          <a:bodyPr wrap="none" lIns="0" rIns="0" tIns="0" bIns="0">
            <a:spAutoFit/>
          </a:bodyPr>
          <a:lstStyle/>
          <a:p>
            <a:r>
              <a:rPr sz="1057" b="1">
                <a:solidFill>
                  <a:srgbClr val="0B2E4A"/>
                </a:solidFill>
                <a:latin typeface="Calibri"/>
              </a:rPr>
              <a:t>to grow at a CAGR of</a:t>
            </a:r>
          </a:p>
        </p:txBody>
      </p:sp>
      <p:pic>
        <p:nvPicPr>
          <p:cNvPr id="104" name="Picture 103" descr="lock.png"/>
          <p:cNvPicPr>
            <a:picLocks noChangeAspect="1"/>
          </p:cNvPicPr>
          <p:nvPr/>
        </p:nvPicPr>
        <p:blipFill>
          <a:blip r:embed="rId13"/>
          <a:stretch>
            <a:fillRect/>
          </a:stretch>
        </p:blipFill>
        <p:spPr>
          <a:xfrm>
            <a:off x="9711019" y="6008495"/>
            <a:ext cx="123784" cy="180050"/>
          </a:xfrm>
          <a:prstGeom prst="rect">
            <a:avLst/>
          </a:prstGeom>
        </p:spPr>
      </p:pic>
      <p:sp>
        <p:nvSpPr>
          <p:cNvPr id="105" name="TextBox 104"/>
          <p:cNvSpPr txBox="1"/>
          <p:nvPr/>
        </p:nvSpPr>
        <p:spPr>
          <a:xfrm>
            <a:off x="9872119" y="6017901"/>
            <a:ext cx="1140105" cy="180289"/>
          </a:xfrm>
          <a:prstGeom prst="rect">
            <a:avLst/>
          </a:prstGeom>
          <a:noFill/>
        </p:spPr>
        <p:txBody>
          <a:bodyPr wrap="none" lIns="0" rIns="0" tIns="0" bIns="0">
            <a:spAutoFit/>
          </a:bodyPr>
          <a:lstStyle/>
          <a:p>
            <a:r>
              <a:rPr sz="1057" b="1">
                <a:solidFill>
                  <a:srgbClr val="0B2E4A"/>
                </a:solidFill>
                <a:latin typeface="Calibri"/>
              </a:rPr>
              <a:t>from 2026 to 2036.</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Recipe and Ingredient Claims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Recipe and Ingredient Claims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Recipe and Ingredient Claims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Recipe and Ingredient Claims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048647" cy="186689"/>
          </a:xfrm>
          <a:prstGeom prst="rect">
            <a:avLst/>
          </a:prstGeom>
          <a:noFill/>
        </p:spPr>
        <p:txBody>
          <a:bodyPr wrap="none" lIns="0" rIns="0" tIns="0" bIns="0">
            <a:spAutoFit/>
          </a:bodyPr>
          <a:lstStyle/>
          <a:p>
            <a:r>
              <a:rPr sz="1100" b="0">
                <a:solidFill>
                  <a:srgbClr val="2E2E2E"/>
                </a:solidFill>
                <a:latin typeface="Calibri"/>
              </a:rPr>
              <a:t>Between 2026 and 2036, 'Additional claim mapping' gains the most share in the North America market (+</a:t>
            </a:r>
          </a:p>
        </p:txBody>
      </p:sp>
      <p:pic>
        <p:nvPicPr>
          <p:cNvPr id="21" name="Picture 20" descr="lock.png"/>
          <p:cNvPicPr>
            <a:picLocks noChangeAspect="1"/>
          </p:cNvPicPr>
          <p:nvPr/>
        </p:nvPicPr>
        <p:blipFill>
          <a:blip r:embed="rId6"/>
          <a:stretch>
            <a:fillRect/>
          </a:stretch>
        </p:blipFill>
        <p:spPr>
          <a:xfrm>
            <a:off x="6253874" y="5851905"/>
            <a:ext cx="128699" cy="187198"/>
          </a:xfrm>
          <a:prstGeom prst="rect">
            <a:avLst/>
          </a:prstGeom>
        </p:spPr>
      </p:pic>
      <p:sp>
        <p:nvSpPr>
          <p:cNvPr id="22" name="TextBox 21"/>
          <p:cNvSpPr txBox="1"/>
          <p:nvPr/>
        </p:nvSpPr>
        <p:spPr>
          <a:xfrm>
            <a:off x="6421370" y="5861685"/>
            <a:ext cx="2077293" cy="186689"/>
          </a:xfrm>
          <a:prstGeom prst="rect">
            <a:avLst/>
          </a:prstGeom>
          <a:noFill/>
        </p:spPr>
        <p:txBody>
          <a:bodyPr wrap="none" lIns="0" rIns="0" tIns="0" bIns="0">
            <a:spAutoFit/>
          </a:bodyPr>
          <a:lstStyle/>
          <a:p>
            <a:r>
              <a:rPr sz="1100" b="0">
                <a:solidFill>
                  <a:srgbClr val="2E2E2E"/>
                </a:solidFill>
                <a:latin typeface="Calibri"/>
              </a:rPr>
              <a:t>BPS) while 'Organic-certified' cedes</a:t>
            </a:r>
          </a:p>
        </p:txBody>
      </p:sp>
      <p:pic>
        <p:nvPicPr>
          <p:cNvPr id="23" name="Picture 22" descr="lock.png"/>
          <p:cNvPicPr>
            <a:picLocks noChangeAspect="1"/>
          </p:cNvPicPr>
          <p:nvPr/>
        </p:nvPicPr>
        <p:blipFill>
          <a:blip r:embed="rId6"/>
          <a:stretch>
            <a:fillRect/>
          </a:stretch>
        </p:blipFill>
        <p:spPr>
          <a:xfrm>
            <a:off x="8446715" y="5851905"/>
            <a:ext cx="128699" cy="187198"/>
          </a:xfrm>
          <a:prstGeom prst="rect">
            <a:avLst/>
          </a:prstGeom>
        </p:spPr>
      </p:pic>
      <p:sp>
        <p:nvSpPr>
          <p:cNvPr id="24" name="TextBox 23"/>
          <p:cNvSpPr txBox="1"/>
          <p:nvPr/>
        </p:nvSpPr>
        <p:spPr>
          <a:xfrm>
            <a:off x="8614211" y="5861685"/>
            <a:ext cx="310210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a:t>
            </a:r>
          </a:p>
        </p:txBody>
      </p:sp>
      <p:sp>
        <p:nvSpPr>
          <p:cNvPr id="25" name="TextBox 24"/>
          <p:cNvSpPr txBox="1"/>
          <p:nvPr/>
        </p:nvSpPr>
        <p:spPr>
          <a:xfrm>
            <a:off x="257175" y="602932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Recipe and Ingredient Claims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Organic-certified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 / non-organic</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Additional claim mapping</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Recipe and Ingredient Claims</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923989" cy="194310"/>
          </a:xfrm>
          <a:prstGeom prst="rect">
            <a:avLst/>
          </a:prstGeom>
          <a:noFill/>
        </p:spPr>
        <p:txBody>
          <a:bodyPr wrap="none" lIns="0" rIns="0" tIns="0" bIns="0">
            <a:spAutoFit/>
          </a:bodyPr>
          <a:lstStyle/>
          <a:p>
            <a:r>
              <a:rPr sz="1150" b="0">
                <a:solidFill>
                  <a:srgbClr val="2E2E2E"/>
                </a:solidFill>
                <a:latin typeface="Calibri"/>
              </a:rPr>
              <a:t>▪ Across its 3 sub-segments, by recipe and ingredient claims adds</a:t>
            </a:r>
          </a:p>
        </p:txBody>
      </p:sp>
      <p:pic>
        <p:nvPicPr>
          <p:cNvPr id="29" name="Picture 28" descr="lock.png"/>
          <p:cNvPicPr>
            <a:picLocks noChangeAspect="1"/>
          </p:cNvPicPr>
          <p:nvPr/>
        </p:nvPicPr>
        <p:blipFill>
          <a:blip r:embed="rId7"/>
          <a:stretch>
            <a:fillRect/>
          </a:stretch>
        </p:blipFill>
        <p:spPr>
          <a:xfrm>
            <a:off x="10178693" y="4276026"/>
            <a:ext cx="134549" cy="195707"/>
          </a:xfrm>
          <a:prstGeom prst="rect">
            <a:avLst/>
          </a:prstGeom>
        </p:spPr>
      </p:pic>
      <p:sp>
        <p:nvSpPr>
          <p:cNvPr id="30" name="TextBox 29"/>
          <p:cNvSpPr txBox="1"/>
          <p:nvPr/>
        </p:nvSpPr>
        <p:spPr>
          <a:xfrm>
            <a:off x="10353803" y="4286250"/>
            <a:ext cx="1318195" cy="194310"/>
          </a:xfrm>
          <a:prstGeom prst="rect">
            <a:avLst/>
          </a:prstGeom>
          <a:noFill/>
        </p:spPr>
        <p:txBody>
          <a:bodyPr wrap="none" lIns="0" rIns="0" tIns="0" bIns="0">
            <a:spAutoFit/>
          </a:bodyPr>
          <a:lstStyle/>
          <a:p>
            <a:r>
              <a:rPr sz="1150" b="0">
                <a:solidFill>
                  <a:srgbClr val="2E2E2E"/>
                </a:solidFill>
                <a:latin typeface="Calibri"/>
              </a:rPr>
              <a:t>US$ Mn to the North</a:t>
            </a:r>
          </a:p>
        </p:txBody>
      </p:sp>
      <p:sp>
        <p:nvSpPr>
          <p:cNvPr id="31" name="TextBox 30"/>
          <p:cNvSpPr txBox="1"/>
          <p:nvPr/>
        </p:nvSpPr>
        <p:spPr>
          <a:xfrm>
            <a:off x="6305550" y="4461510"/>
            <a:ext cx="2536514" cy="194310"/>
          </a:xfrm>
          <a:prstGeom prst="rect">
            <a:avLst/>
          </a:prstGeom>
          <a:noFill/>
        </p:spPr>
        <p:txBody>
          <a:bodyPr wrap="none" lIns="0" rIns="0" tIns="0" bIns="0">
            <a:spAutoFit/>
          </a:bodyPr>
          <a:lstStyle/>
          <a:p>
            <a:r>
              <a:rPr sz="1150" b="0">
                <a:solidFill>
                  <a:srgbClr val="2E2E2E"/>
                </a:solidFill>
                <a:latin typeface="Calibri"/>
              </a:rPr>
              <a:t>America market between 2026 and 2036.</a:t>
            </a:r>
          </a:p>
        </p:txBody>
      </p:sp>
      <p:sp>
        <p:nvSpPr>
          <p:cNvPr id="32" name="TextBox 31"/>
          <p:cNvSpPr txBox="1"/>
          <p:nvPr/>
        </p:nvSpPr>
        <p:spPr>
          <a:xfrm>
            <a:off x="6305550" y="4689347"/>
            <a:ext cx="2051583" cy="194310"/>
          </a:xfrm>
          <a:prstGeom prst="rect">
            <a:avLst/>
          </a:prstGeom>
          <a:noFill/>
        </p:spPr>
        <p:txBody>
          <a:bodyPr wrap="none" lIns="0" rIns="0" tIns="0" bIns="0">
            <a:spAutoFit/>
          </a:bodyPr>
          <a:lstStyle/>
          <a:p>
            <a:r>
              <a:rPr sz="1150" b="0">
                <a:solidFill>
                  <a:srgbClr val="2E2E2E"/>
                </a:solidFill>
                <a:latin typeface="Calibri"/>
              </a:rPr>
              <a:t>▪ 'Additional claim mapping' adds</a:t>
            </a:r>
          </a:p>
        </p:txBody>
      </p:sp>
      <p:pic>
        <p:nvPicPr>
          <p:cNvPr id="33" name="Picture 32" descr="lock.png"/>
          <p:cNvPicPr>
            <a:picLocks noChangeAspect="1"/>
          </p:cNvPicPr>
          <p:nvPr/>
        </p:nvPicPr>
        <p:blipFill>
          <a:blip r:embed="rId7"/>
          <a:stretch>
            <a:fillRect/>
          </a:stretch>
        </p:blipFill>
        <p:spPr>
          <a:xfrm>
            <a:off x="8306287" y="4679124"/>
            <a:ext cx="134549" cy="195707"/>
          </a:xfrm>
          <a:prstGeom prst="rect">
            <a:avLst/>
          </a:prstGeom>
        </p:spPr>
      </p:pic>
      <p:sp>
        <p:nvSpPr>
          <p:cNvPr id="34" name="TextBox 33"/>
          <p:cNvSpPr txBox="1"/>
          <p:nvPr/>
        </p:nvSpPr>
        <p:spPr>
          <a:xfrm>
            <a:off x="8481396"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9053867" y="4679124"/>
            <a:ext cx="134549" cy="195707"/>
          </a:xfrm>
          <a:prstGeom prst="rect">
            <a:avLst/>
          </a:prstGeom>
        </p:spPr>
      </p:pic>
      <p:sp>
        <p:nvSpPr>
          <p:cNvPr id="36" name="TextBox 35"/>
          <p:cNvSpPr txBox="1"/>
          <p:nvPr/>
        </p:nvSpPr>
        <p:spPr>
          <a:xfrm>
            <a:off x="9228976"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538411" cy="194310"/>
          </a:xfrm>
          <a:prstGeom prst="rect">
            <a:avLst/>
          </a:prstGeom>
          <a:noFill/>
        </p:spPr>
        <p:txBody>
          <a:bodyPr wrap="none" lIns="0" rIns="0" tIns="0" bIns="0">
            <a:spAutoFit/>
          </a:bodyPr>
          <a:lstStyle/>
          <a:p>
            <a:r>
              <a:rPr sz="1150" b="0">
                <a:solidFill>
                  <a:srgbClr val="2E2E2E"/>
                </a:solidFill>
                <a:latin typeface="Calibri"/>
              </a:rPr>
              <a:t>▪ 'Organic-certified' adds</a:t>
            </a:r>
          </a:p>
        </p:txBody>
      </p:sp>
      <p:pic>
        <p:nvPicPr>
          <p:cNvPr id="38" name="Picture 37" descr="lock.png"/>
          <p:cNvPicPr>
            <a:picLocks noChangeAspect="1"/>
          </p:cNvPicPr>
          <p:nvPr/>
        </p:nvPicPr>
        <p:blipFill>
          <a:blip r:embed="rId7"/>
          <a:stretch>
            <a:fillRect/>
          </a:stretch>
        </p:blipFill>
        <p:spPr>
          <a:xfrm>
            <a:off x="7793115" y="4906962"/>
            <a:ext cx="134549" cy="195707"/>
          </a:xfrm>
          <a:prstGeom prst="rect">
            <a:avLst/>
          </a:prstGeom>
        </p:spPr>
      </p:pic>
      <p:sp>
        <p:nvSpPr>
          <p:cNvPr id="39" name="TextBox 38"/>
          <p:cNvSpPr txBox="1"/>
          <p:nvPr/>
        </p:nvSpPr>
        <p:spPr>
          <a:xfrm>
            <a:off x="7968224"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540695" y="4906962"/>
            <a:ext cx="134549" cy="195707"/>
          </a:xfrm>
          <a:prstGeom prst="rect">
            <a:avLst/>
          </a:prstGeom>
        </p:spPr>
      </p:pic>
      <p:sp>
        <p:nvSpPr>
          <p:cNvPr id="41" name="TextBox 40"/>
          <p:cNvSpPr txBox="1"/>
          <p:nvPr/>
        </p:nvSpPr>
        <p:spPr>
          <a:xfrm>
            <a:off x="8715804"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2162832" cy="194310"/>
          </a:xfrm>
          <a:prstGeom prst="rect">
            <a:avLst/>
          </a:prstGeom>
          <a:noFill/>
        </p:spPr>
        <p:txBody>
          <a:bodyPr wrap="none" lIns="0" rIns="0" tIns="0" bIns="0">
            <a:spAutoFit/>
          </a:bodyPr>
          <a:lstStyle/>
          <a:p>
            <a:r>
              <a:rPr sz="1150" b="0">
                <a:solidFill>
                  <a:srgbClr val="2E2E2E"/>
                </a:solidFill>
                <a:latin typeface="Calibri"/>
              </a:rPr>
              <a:t>▪ 'Conventional / non-organic' adds</a:t>
            </a:r>
          </a:p>
        </p:txBody>
      </p:sp>
      <p:pic>
        <p:nvPicPr>
          <p:cNvPr id="43" name="Picture 42" descr="lock.png"/>
          <p:cNvPicPr>
            <a:picLocks noChangeAspect="1"/>
          </p:cNvPicPr>
          <p:nvPr/>
        </p:nvPicPr>
        <p:blipFill>
          <a:blip r:embed="rId7"/>
          <a:stretch>
            <a:fillRect/>
          </a:stretch>
        </p:blipFill>
        <p:spPr>
          <a:xfrm>
            <a:off x="8417536" y="5134800"/>
            <a:ext cx="134549" cy="195707"/>
          </a:xfrm>
          <a:prstGeom prst="rect">
            <a:avLst/>
          </a:prstGeom>
        </p:spPr>
      </p:pic>
      <p:sp>
        <p:nvSpPr>
          <p:cNvPr id="44" name="TextBox 43"/>
          <p:cNvSpPr txBox="1"/>
          <p:nvPr/>
        </p:nvSpPr>
        <p:spPr>
          <a:xfrm>
            <a:off x="8592645"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9165116" y="5134800"/>
            <a:ext cx="134549" cy="195707"/>
          </a:xfrm>
          <a:prstGeom prst="rect">
            <a:avLst/>
          </a:prstGeom>
        </p:spPr>
      </p:pic>
      <p:sp>
        <p:nvSpPr>
          <p:cNvPr id="46" name="TextBox 45"/>
          <p:cNvSpPr txBox="1"/>
          <p:nvPr/>
        </p:nvSpPr>
        <p:spPr>
          <a:xfrm>
            <a:off x="9340225"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Recipe and Ingredient Claims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Recipe and Ingredient Claims,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Recipe and Ingredient Claims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1740272"/>
                <a:gridCol w="544949"/>
                <a:gridCol w="544949"/>
                <a:gridCol w="544949"/>
                <a:gridCol w="544949"/>
                <a:gridCol w="544949"/>
                <a:gridCol w="544949"/>
                <a:gridCol w="544949"/>
                <a:gridCol w="655320"/>
                <a:gridCol w="655320"/>
                <a:gridCol w="655320"/>
                <a:gridCol w="655320"/>
                <a:gridCol w="655320"/>
                <a:gridCol w="655320"/>
                <a:gridCol w="655320"/>
                <a:gridCol w="655320"/>
                <a:gridCol w="655320"/>
                <a:gridCol w="434405"/>
              </a:tblGrid>
              <a:tr h="438912">
                <a:tc>
                  <a:txBody>
                    <a:bodyPr wrap="none"/>
                    <a:lstStyle/>
                    <a:p>
                      <a:pPr algn="l"/>
                      <a:r>
                        <a:rPr sz="1100" b="1">
                          <a:solidFill>
                            <a:srgbClr val="0B2E4A"/>
                          </a:solidFill>
                          <a:latin typeface="Calibri"/>
                        </a:rPr>
                        <a:t>Recipe and Ingredient</a:t>
                      </a:r>
                      <a:endParaRPr sz="1100"/>
                    </a:p>
                    <a:p>
                      <a:pPr algn="l"/>
                      <a:r>
                        <a:rPr sz="1100" b="1">
                          <a:solidFill>
                            <a:srgbClr val="0B2E4A"/>
                          </a:solidFill>
                          <a:latin typeface="Calibri"/>
                        </a:rPr>
                        <a:t>Claims</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7460">
                <a:tc>
                  <a:txBody>
                    <a:bodyPr wrap="none"/>
                    <a:lstStyle/>
                    <a:p>
                      <a:pPr algn="l"/>
                      <a:r>
                        <a:rPr sz="1100" b="1">
                          <a:solidFill>
                            <a:srgbClr val="2E2E2E"/>
                          </a:solidFill>
                          <a:latin typeface="Calibri"/>
                        </a:rPr>
                        <a:t>Organic-certified</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60">
                <a:tc>
                  <a:txBody>
                    <a:bodyPr wrap="none"/>
                    <a:lstStyle/>
                    <a:p>
                      <a:pPr algn="l"/>
                      <a:r>
                        <a:rPr sz="1100" b="1">
                          <a:solidFill>
                            <a:srgbClr val="2E2E2E"/>
                          </a:solidFill>
                          <a:latin typeface="Calibri"/>
                        </a:rPr>
                        <a:t>Conventional / non-organic</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60">
                <a:tc>
                  <a:txBody>
                    <a:bodyPr wrap="none"/>
                    <a:lstStyle/>
                    <a:p>
                      <a:pPr algn="l"/>
                      <a:r>
                        <a:rPr sz="1100" b="1">
                          <a:solidFill>
                            <a:srgbClr val="2E2E2E"/>
                          </a:solidFill>
                          <a:latin typeface="Calibri"/>
                        </a:rPr>
                        <a:t>Additional claim mapping</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Recipe and Ingredient Claims</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79446" y="1905381"/>
            <a:ext cx="366712" cy="533400"/>
          </a:xfrm>
          <a:prstGeom prst="rect">
            <a:avLst/>
          </a:prstGeom>
        </p:spPr>
      </p:pic>
      <p:sp>
        <p:nvSpPr>
          <p:cNvPr id="21" name="TextBox 20"/>
          <p:cNvSpPr txBox="1"/>
          <p:nvPr/>
        </p:nvSpPr>
        <p:spPr>
          <a:xfrm>
            <a:off x="276225" y="3429000"/>
            <a:ext cx="4390094" cy="194310"/>
          </a:xfrm>
          <a:prstGeom prst="rect">
            <a:avLst/>
          </a:prstGeom>
          <a:noFill/>
        </p:spPr>
        <p:txBody>
          <a:bodyPr wrap="none" lIns="0" rIns="0" tIns="0" bIns="0">
            <a:spAutoFit/>
          </a:bodyPr>
          <a:lstStyle/>
          <a:p>
            <a:r>
              <a:rPr sz="1150" b="0">
                <a:solidFill>
                  <a:srgbClr val="2E2E2E"/>
                </a:solidFill>
                <a:latin typeface="Calibri"/>
              </a:rPr>
              <a:t>▪ 'Additional claim mapping' is the largest recipe and ingredient claims at</a:t>
            </a:r>
          </a:p>
        </p:txBody>
      </p:sp>
      <p:pic>
        <p:nvPicPr>
          <p:cNvPr id="22" name="Picture 21" descr="lock.png"/>
          <p:cNvPicPr>
            <a:picLocks noChangeAspect="1"/>
          </p:cNvPicPr>
          <p:nvPr/>
        </p:nvPicPr>
        <p:blipFill>
          <a:blip r:embed="rId4"/>
          <a:stretch>
            <a:fillRect/>
          </a:stretch>
        </p:blipFill>
        <p:spPr>
          <a:xfrm>
            <a:off x="4615473" y="3418776"/>
            <a:ext cx="134549" cy="195707"/>
          </a:xfrm>
          <a:prstGeom prst="rect">
            <a:avLst/>
          </a:prstGeom>
        </p:spPr>
      </p:pic>
      <p:sp>
        <p:nvSpPr>
          <p:cNvPr id="23" name="TextBox 22"/>
          <p:cNvSpPr txBox="1"/>
          <p:nvPr/>
        </p:nvSpPr>
        <p:spPr>
          <a:xfrm>
            <a:off x="4790583" y="3429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5820315" y="3418776"/>
            <a:ext cx="134549" cy="195707"/>
          </a:xfrm>
          <a:prstGeom prst="rect">
            <a:avLst/>
          </a:prstGeom>
        </p:spPr>
      </p:pic>
      <p:sp>
        <p:nvSpPr>
          <p:cNvPr id="25" name="TextBox 24"/>
          <p:cNvSpPr txBox="1"/>
          <p:nvPr/>
        </p:nvSpPr>
        <p:spPr>
          <a:xfrm>
            <a:off x="5995425" y="3429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656837"/>
            <a:ext cx="2561902" cy="194310"/>
          </a:xfrm>
          <a:prstGeom prst="rect">
            <a:avLst/>
          </a:prstGeom>
          <a:noFill/>
        </p:spPr>
        <p:txBody>
          <a:bodyPr wrap="none" lIns="0" rIns="0" tIns="0" bIns="0">
            <a:spAutoFit/>
          </a:bodyPr>
          <a:lstStyle/>
          <a:p>
            <a:r>
              <a:rPr sz="1150" b="0">
                <a:solidFill>
                  <a:srgbClr val="2E2E2E"/>
                </a:solidFill>
                <a:latin typeface="Calibri"/>
              </a:rPr>
              <a:t>▪ 'Additional claim mapping' grows fastest</a:t>
            </a:r>
          </a:p>
        </p:txBody>
      </p:sp>
      <p:pic>
        <p:nvPicPr>
          <p:cNvPr id="27" name="Picture 26" descr="lock.png"/>
          <p:cNvPicPr>
            <a:picLocks noChangeAspect="1"/>
          </p:cNvPicPr>
          <p:nvPr/>
        </p:nvPicPr>
        <p:blipFill>
          <a:blip r:embed="rId4"/>
          <a:stretch>
            <a:fillRect/>
          </a:stretch>
        </p:blipFill>
        <p:spPr>
          <a:xfrm>
            <a:off x="2787281" y="3646614"/>
            <a:ext cx="134549" cy="195707"/>
          </a:xfrm>
          <a:prstGeom prst="rect">
            <a:avLst/>
          </a:prstGeom>
        </p:spPr>
      </p:pic>
      <p:sp>
        <p:nvSpPr>
          <p:cNvPr id="28" name="TextBox 27"/>
          <p:cNvSpPr txBox="1"/>
          <p:nvPr/>
        </p:nvSpPr>
        <p:spPr>
          <a:xfrm>
            <a:off x="2962390" y="3656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884675"/>
            <a:ext cx="3071080" cy="194310"/>
          </a:xfrm>
          <a:prstGeom prst="rect">
            <a:avLst/>
          </a:prstGeom>
          <a:noFill/>
        </p:spPr>
        <p:txBody>
          <a:bodyPr wrap="none" lIns="0" rIns="0" tIns="0" bIns="0">
            <a:spAutoFit/>
          </a:bodyPr>
          <a:lstStyle/>
          <a:p>
            <a:r>
              <a:rPr sz="1150" b="0">
                <a:solidFill>
                  <a:srgbClr val="2E2E2E"/>
                </a:solidFill>
                <a:latin typeface="Calibri"/>
              </a:rPr>
              <a:t>▪ Share shifts toward 'Additional claim mapping' (+</a:t>
            </a:r>
          </a:p>
        </p:txBody>
      </p:sp>
      <p:pic>
        <p:nvPicPr>
          <p:cNvPr id="30" name="Picture 29" descr="lock.png"/>
          <p:cNvPicPr>
            <a:picLocks noChangeAspect="1"/>
          </p:cNvPicPr>
          <p:nvPr/>
        </p:nvPicPr>
        <p:blipFill>
          <a:blip r:embed="rId4"/>
          <a:stretch>
            <a:fillRect/>
          </a:stretch>
        </p:blipFill>
        <p:spPr>
          <a:xfrm>
            <a:off x="3296459" y="3874452"/>
            <a:ext cx="134549" cy="195707"/>
          </a:xfrm>
          <a:prstGeom prst="rect">
            <a:avLst/>
          </a:prstGeom>
        </p:spPr>
      </p:pic>
      <p:sp>
        <p:nvSpPr>
          <p:cNvPr id="31" name="TextBox 30"/>
          <p:cNvSpPr txBox="1"/>
          <p:nvPr/>
        </p:nvSpPr>
        <p:spPr>
          <a:xfrm>
            <a:off x="3471568" y="3884675"/>
            <a:ext cx="2484028" cy="194310"/>
          </a:xfrm>
          <a:prstGeom prst="rect">
            <a:avLst/>
          </a:prstGeom>
          <a:noFill/>
        </p:spPr>
        <p:txBody>
          <a:bodyPr wrap="none" lIns="0" rIns="0" tIns="0" bIns="0">
            <a:spAutoFit/>
          </a:bodyPr>
          <a:lstStyle/>
          <a:p>
            <a:r>
              <a:rPr sz="1150" b="0">
                <a:solidFill>
                  <a:srgbClr val="2E2E2E"/>
                </a:solidFill>
                <a:latin typeface="Calibri"/>
              </a:rPr>
              <a:t>BPS) and away from 'Organic-certified' (-</a:t>
            </a:r>
          </a:p>
        </p:txBody>
      </p:sp>
      <p:pic>
        <p:nvPicPr>
          <p:cNvPr id="32" name="Picture 31" descr="lock.png"/>
          <p:cNvPicPr>
            <a:picLocks noChangeAspect="1"/>
          </p:cNvPicPr>
          <p:nvPr/>
        </p:nvPicPr>
        <p:blipFill>
          <a:blip r:embed="rId4"/>
          <a:stretch>
            <a:fillRect/>
          </a:stretch>
        </p:blipFill>
        <p:spPr>
          <a:xfrm>
            <a:off x="5904751" y="3874452"/>
            <a:ext cx="134549" cy="195707"/>
          </a:xfrm>
          <a:prstGeom prst="rect">
            <a:avLst/>
          </a:prstGeom>
        </p:spPr>
      </p:pic>
      <p:sp>
        <p:nvSpPr>
          <p:cNvPr id="33" name="TextBox 32"/>
          <p:cNvSpPr txBox="1"/>
          <p:nvPr/>
        </p:nvSpPr>
        <p:spPr>
          <a:xfrm>
            <a:off x="6079860" y="3884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12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02290"/>
            <a:ext cx="134549" cy="195707"/>
          </a:xfrm>
          <a:prstGeom prst="rect">
            <a:avLst/>
          </a:prstGeom>
        </p:spPr>
      </p:pic>
      <p:sp>
        <p:nvSpPr>
          <p:cNvPr id="36" name="TextBox 35"/>
          <p:cNvSpPr txBox="1"/>
          <p:nvPr/>
        </p:nvSpPr>
        <p:spPr>
          <a:xfrm>
            <a:off x="1965143" y="4112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02290"/>
            <a:ext cx="134549" cy="195707"/>
          </a:xfrm>
          <a:prstGeom prst="rect">
            <a:avLst/>
          </a:prstGeom>
        </p:spPr>
      </p:pic>
      <p:sp>
        <p:nvSpPr>
          <p:cNvPr id="38" name="TextBox 37"/>
          <p:cNvSpPr txBox="1"/>
          <p:nvPr/>
        </p:nvSpPr>
        <p:spPr>
          <a:xfrm>
            <a:off x="2291688" y="4112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Recipe and Ingredient Claims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Recipe and Ingredient Claims,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Recipe and Ingredient Claims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51700"/>
                <a:gridCol w="584441"/>
                <a:gridCol w="584441"/>
                <a:gridCol w="584441"/>
                <a:gridCol w="584441"/>
                <a:gridCol w="584441"/>
                <a:gridCol w="584441"/>
                <a:gridCol w="584441"/>
                <a:gridCol w="584441"/>
                <a:gridCol w="584441"/>
                <a:gridCol w="584441"/>
                <a:gridCol w="584441"/>
                <a:gridCol w="584441"/>
                <a:gridCol w="584441"/>
                <a:gridCol w="584441"/>
                <a:gridCol w="584441"/>
                <a:gridCol w="584441"/>
                <a:gridCol w="584441"/>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Recipe and Ingredient Claims</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5158" y="1713738"/>
            <a:ext cx="366712" cy="533400"/>
          </a:xfrm>
          <a:prstGeom prst="rect">
            <a:avLst/>
          </a:prstGeom>
        </p:spPr>
      </p:pic>
      <p:sp>
        <p:nvSpPr>
          <p:cNvPr id="21" name="TextBox 20"/>
          <p:cNvSpPr txBox="1"/>
          <p:nvPr/>
        </p:nvSpPr>
        <p:spPr>
          <a:xfrm>
            <a:off x="276225" y="3238500"/>
            <a:ext cx="4390094" cy="194310"/>
          </a:xfrm>
          <a:prstGeom prst="rect">
            <a:avLst/>
          </a:prstGeom>
          <a:noFill/>
        </p:spPr>
        <p:txBody>
          <a:bodyPr wrap="none" lIns="0" rIns="0" tIns="0" bIns="0">
            <a:spAutoFit/>
          </a:bodyPr>
          <a:lstStyle/>
          <a:p>
            <a:r>
              <a:rPr sz="1150" b="0">
                <a:solidFill>
                  <a:srgbClr val="2E2E2E"/>
                </a:solidFill>
                <a:latin typeface="Calibri"/>
              </a:rPr>
              <a:t>▪ 'Additional claim mapping' is the largest recipe and ingredient claims at</a:t>
            </a:r>
          </a:p>
        </p:txBody>
      </p:sp>
      <p:pic>
        <p:nvPicPr>
          <p:cNvPr id="22" name="Picture 21" descr="lock.png"/>
          <p:cNvPicPr>
            <a:picLocks noChangeAspect="1"/>
          </p:cNvPicPr>
          <p:nvPr/>
        </p:nvPicPr>
        <p:blipFill>
          <a:blip r:embed="rId4"/>
          <a:stretch>
            <a:fillRect/>
          </a:stretch>
        </p:blipFill>
        <p:spPr>
          <a:xfrm>
            <a:off x="4615473" y="3228276"/>
            <a:ext cx="134549" cy="195707"/>
          </a:xfrm>
          <a:prstGeom prst="rect">
            <a:avLst/>
          </a:prstGeom>
        </p:spPr>
      </p:pic>
      <p:sp>
        <p:nvSpPr>
          <p:cNvPr id="23" name="TextBox 22"/>
          <p:cNvSpPr txBox="1"/>
          <p:nvPr/>
        </p:nvSpPr>
        <p:spPr>
          <a:xfrm>
            <a:off x="4790583"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5696515" y="3228276"/>
            <a:ext cx="134549" cy="195707"/>
          </a:xfrm>
          <a:prstGeom prst="rect">
            <a:avLst/>
          </a:prstGeom>
        </p:spPr>
      </p:pic>
      <p:sp>
        <p:nvSpPr>
          <p:cNvPr id="25" name="TextBox 24"/>
          <p:cNvSpPr txBox="1"/>
          <p:nvPr/>
        </p:nvSpPr>
        <p:spPr>
          <a:xfrm>
            <a:off x="5871625"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561902" cy="194310"/>
          </a:xfrm>
          <a:prstGeom prst="rect">
            <a:avLst/>
          </a:prstGeom>
          <a:noFill/>
        </p:spPr>
        <p:txBody>
          <a:bodyPr wrap="none" lIns="0" rIns="0" tIns="0" bIns="0">
            <a:spAutoFit/>
          </a:bodyPr>
          <a:lstStyle/>
          <a:p>
            <a:r>
              <a:rPr sz="1150" b="0">
                <a:solidFill>
                  <a:srgbClr val="2E2E2E"/>
                </a:solidFill>
                <a:latin typeface="Calibri"/>
              </a:rPr>
              <a:t>▪ 'Additional claim mapping' grows fastest</a:t>
            </a:r>
          </a:p>
        </p:txBody>
      </p:sp>
      <p:pic>
        <p:nvPicPr>
          <p:cNvPr id="27" name="Picture 26" descr="lock.png"/>
          <p:cNvPicPr>
            <a:picLocks noChangeAspect="1"/>
          </p:cNvPicPr>
          <p:nvPr/>
        </p:nvPicPr>
        <p:blipFill>
          <a:blip r:embed="rId4"/>
          <a:stretch>
            <a:fillRect/>
          </a:stretch>
        </p:blipFill>
        <p:spPr>
          <a:xfrm>
            <a:off x="2787281" y="3456114"/>
            <a:ext cx="134549" cy="195707"/>
          </a:xfrm>
          <a:prstGeom prst="rect">
            <a:avLst/>
          </a:prstGeom>
        </p:spPr>
      </p:pic>
      <p:sp>
        <p:nvSpPr>
          <p:cNvPr id="28" name="TextBox 27"/>
          <p:cNvSpPr txBox="1"/>
          <p:nvPr/>
        </p:nvSpPr>
        <p:spPr>
          <a:xfrm>
            <a:off x="2962390"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071080" cy="194310"/>
          </a:xfrm>
          <a:prstGeom prst="rect">
            <a:avLst/>
          </a:prstGeom>
          <a:noFill/>
        </p:spPr>
        <p:txBody>
          <a:bodyPr wrap="none" lIns="0" rIns="0" tIns="0" bIns="0">
            <a:spAutoFit/>
          </a:bodyPr>
          <a:lstStyle/>
          <a:p>
            <a:r>
              <a:rPr sz="1150" b="0">
                <a:solidFill>
                  <a:srgbClr val="2E2E2E"/>
                </a:solidFill>
                <a:latin typeface="Calibri"/>
              </a:rPr>
              <a:t>▪ Share shifts toward 'Additional claim mapping' (+</a:t>
            </a:r>
          </a:p>
        </p:txBody>
      </p:sp>
      <p:pic>
        <p:nvPicPr>
          <p:cNvPr id="30" name="Picture 29" descr="lock.png"/>
          <p:cNvPicPr>
            <a:picLocks noChangeAspect="1"/>
          </p:cNvPicPr>
          <p:nvPr/>
        </p:nvPicPr>
        <p:blipFill>
          <a:blip r:embed="rId4"/>
          <a:stretch>
            <a:fillRect/>
          </a:stretch>
        </p:blipFill>
        <p:spPr>
          <a:xfrm>
            <a:off x="3296459" y="3683952"/>
            <a:ext cx="134549" cy="195707"/>
          </a:xfrm>
          <a:prstGeom prst="rect">
            <a:avLst/>
          </a:prstGeom>
        </p:spPr>
      </p:pic>
      <p:sp>
        <p:nvSpPr>
          <p:cNvPr id="31" name="TextBox 30"/>
          <p:cNvSpPr txBox="1"/>
          <p:nvPr/>
        </p:nvSpPr>
        <p:spPr>
          <a:xfrm>
            <a:off x="3471568" y="3694175"/>
            <a:ext cx="2484028" cy="194310"/>
          </a:xfrm>
          <a:prstGeom prst="rect">
            <a:avLst/>
          </a:prstGeom>
          <a:noFill/>
        </p:spPr>
        <p:txBody>
          <a:bodyPr wrap="none" lIns="0" rIns="0" tIns="0" bIns="0">
            <a:spAutoFit/>
          </a:bodyPr>
          <a:lstStyle/>
          <a:p>
            <a:r>
              <a:rPr sz="1150" b="0">
                <a:solidFill>
                  <a:srgbClr val="2E2E2E"/>
                </a:solidFill>
                <a:latin typeface="Calibri"/>
              </a:rPr>
              <a:t>BPS) and away from 'Organic-certified' (-</a:t>
            </a:r>
          </a:p>
        </p:txBody>
      </p:sp>
      <p:pic>
        <p:nvPicPr>
          <p:cNvPr id="32" name="Picture 31" descr="lock.png"/>
          <p:cNvPicPr>
            <a:picLocks noChangeAspect="1"/>
          </p:cNvPicPr>
          <p:nvPr/>
        </p:nvPicPr>
        <p:blipFill>
          <a:blip r:embed="rId4"/>
          <a:stretch>
            <a:fillRect/>
          </a:stretch>
        </p:blipFill>
        <p:spPr>
          <a:xfrm>
            <a:off x="5904751" y="3683952"/>
            <a:ext cx="134549" cy="195707"/>
          </a:xfrm>
          <a:prstGeom prst="rect">
            <a:avLst/>
          </a:prstGeom>
        </p:spPr>
      </p:pic>
      <p:sp>
        <p:nvSpPr>
          <p:cNvPr id="33" name="TextBox 32"/>
          <p:cNvSpPr txBox="1"/>
          <p:nvPr/>
        </p:nvSpPr>
        <p:spPr>
          <a:xfrm>
            <a:off x="6079860"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Recipe and Ingredient Claims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Recipe and Ingredient Claims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0578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0102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248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 non-organic</a:t>
            </a:r>
          </a:p>
        </p:txBody>
      </p:sp>
      <p:sp>
        <p:nvSpPr>
          <p:cNvPr id="19" name="BPS Value 1"/>
          <p:cNvSpPr txBox="1"/>
          <p:nvPr/>
        </p:nvSpPr>
        <p:spPr>
          <a:xfrm>
            <a:off x="6896100" y="16867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05306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482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720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Organic-certified</a:t>
            </a:r>
          </a:p>
        </p:txBody>
      </p:sp>
      <p:sp>
        <p:nvSpPr>
          <p:cNvPr id="23" name="BPS Value 2"/>
          <p:cNvSpPr txBox="1"/>
          <p:nvPr/>
        </p:nvSpPr>
        <p:spPr>
          <a:xfrm>
            <a:off x="6896100" y="203401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30472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29995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2237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Additional claim mapping</a:t>
            </a:r>
          </a:p>
        </p:txBody>
      </p:sp>
      <p:sp>
        <p:nvSpPr>
          <p:cNvPr id="27" name="BPS Value 3"/>
          <p:cNvSpPr txBox="1"/>
          <p:nvPr/>
        </p:nvSpPr>
        <p:spPr>
          <a:xfrm>
            <a:off x="6896100" y="428567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Recipe and Ingredient Claims</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108163" cy="194310"/>
          </a:xfrm>
          <a:prstGeom prst="rect">
            <a:avLst/>
          </a:prstGeom>
          <a:noFill/>
        </p:spPr>
        <p:txBody>
          <a:bodyPr wrap="none" lIns="0" rIns="0" tIns="0" bIns="0">
            <a:spAutoFit/>
          </a:bodyPr>
          <a:lstStyle/>
          <a:p>
            <a:r>
              <a:rPr sz="1150" b="0">
                <a:solidFill>
                  <a:srgbClr val="2E2E2E"/>
                </a:solidFill>
                <a:latin typeface="Calibri"/>
              </a:rPr>
              <a:t>▪ 'Additional claim mapping' gains the most share +</a:t>
            </a:r>
          </a:p>
        </p:txBody>
      </p:sp>
      <p:pic>
        <p:nvPicPr>
          <p:cNvPr id="35" name="Picture 34" descr="lock.png"/>
          <p:cNvPicPr>
            <a:picLocks noChangeAspect="1"/>
          </p:cNvPicPr>
          <p:nvPr/>
        </p:nvPicPr>
        <p:blipFill>
          <a:blip r:embed="rId5"/>
          <a:stretch>
            <a:fillRect/>
          </a:stretch>
        </p:blipFill>
        <p:spPr>
          <a:xfrm>
            <a:off x="10886867" y="1389951"/>
            <a:ext cx="134549" cy="195707"/>
          </a:xfrm>
          <a:prstGeom prst="rect">
            <a:avLst/>
          </a:prstGeom>
        </p:spPr>
      </p:pic>
      <p:sp>
        <p:nvSpPr>
          <p:cNvPr id="36" name="TextBox 35"/>
          <p:cNvSpPr txBox="1"/>
          <p:nvPr/>
        </p:nvSpPr>
        <p:spPr>
          <a:xfrm>
            <a:off x="11061976"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7" name="TextBox 36"/>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241562" cy="194310"/>
          </a:xfrm>
          <a:prstGeom prst="rect">
            <a:avLst/>
          </a:prstGeom>
          <a:noFill/>
        </p:spPr>
        <p:txBody>
          <a:bodyPr wrap="none" lIns="0" rIns="0" tIns="0" bIns="0">
            <a:spAutoFit/>
          </a:bodyPr>
          <a:lstStyle/>
          <a:p>
            <a:r>
              <a:rPr sz="1150" b="0">
                <a:solidFill>
                  <a:srgbClr val="2E2E2E"/>
                </a:solidFill>
                <a:latin typeface="Calibri"/>
              </a:rPr>
              <a:t>▪ 'Organic-certified' cedes the most -</a:t>
            </a:r>
          </a:p>
        </p:txBody>
      </p:sp>
      <p:pic>
        <p:nvPicPr>
          <p:cNvPr id="39" name="Picture 38" descr="lock.png"/>
          <p:cNvPicPr>
            <a:picLocks noChangeAspect="1"/>
          </p:cNvPicPr>
          <p:nvPr/>
        </p:nvPicPr>
        <p:blipFill>
          <a:blip r:embed="rId5"/>
          <a:stretch>
            <a:fillRect/>
          </a:stretch>
        </p:blipFill>
        <p:spPr>
          <a:xfrm>
            <a:off x="10020266" y="1793049"/>
            <a:ext cx="134549" cy="195707"/>
          </a:xfrm>
          <a:prstGeom prst="rect">
            <a:avLst/>
          </a:prstGeom>
        </p:spPr>
      </p:pic>
      <p:sp>
        <p:nvSpPr>
          <p:cNvPr id="40" name="TextBox 39"/>
          <p:cNvSpPr txBox="1"/>
          <p:nvPr/>
        </p:nvSpPr>
        <p:spPr>
          <a:xfrm>
            <a:off x="10195375"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41" name="TextBox 40"/>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3709479" cy="194310"/>
          </a:xfrm>
          <a:prstGeom prst="rect">
            <a:avLst/>
          </a:prstGeom>
          <a:noFill/>
        </p:spPr>
        <p:txBody>
          <a:bodyPr wrap="none" lIns="0" rIns="0" tIns="0" bIns="0">
            <a:spAutoFit/>
          </a:bodyPr>
          <a:lstStyle/>
          <a:p>
            <a:r>
              <a:rPr sz="1150" b="0">
                <a:solidFill>
                  <a:srgbClr val="2E2E2E"/>
                </a:solidFill>
                <a:latin typeface="Calibri"/>
              </a:rPr>
              <a:t>▪ 'Additional claim mapping' is the fastest-growing recipe and</a:t>
            </a:r>
          </a:p>
        </p:txBody>
      </p:sp>
      <p:sp>
        <p:nvSpPr>
          <p:cNvPr id="43" name="TextBox 42"/>
          <p:cNvSpPr txBox="1"/>
          <p:nvPr/>
        </p:nvSpPr>
        <p:spPr>
          <a:xfrm>
            <a:off x="7829550" y="2381631"/>
            <a:ext cx="1246026" cy="194310"/>
          </a:xfrm>
          <a:prstGeom prst="rect">
            <a:avLst/>
          </a:prstGeom>
          <a:noFill/>
        </p:spPr>
        <p:txBody>
          <a:bodyPr wrap="none" lIns="0" rIns="0" tIns="0" bIns="0">
            <a:spAutoFit/>
          </a:bodyPr>
          <a:lstStyle/>
          <a:p>
            <a:r>
              <a:rPr sz="1150" b="0">
                <a:solidFill>
                  <a:srgbClr val="2E2E2E"/>
                </a:solidFill>
                <a:latin typeface="Calibri"/>
              </a:rPr>
              <a:t>ingredient claims at</a:t>
            </a:r>
          </a:p>
        </p:txBody>
      </p:sp>
      <p:pic>
        <p:nvPicPr>
          <p:cNvPr id="44" name="Picture 43" descr="lock.png"/>
          <p:cNvPicPr>
            <a:picLocks noChangeAspect="1"/>
          </p:cNvPicPr>
          <p:nvPr/>
        </p:nvPicPr>
        <p:blipFill>
          <a:blip r:embed="rId5"/>
          <a:stretch>
            <a:fillRect/>
          </a:stretch>
        </p:blipFill>
        <p:spPr>
          <a:xfrm>
            <a:off x="9024730" y="2371407"/>
            <a:ext cx="134549" cy="195707"/>
          </a:xfrm>
          <a:prstGeom prst="rect">
            <a:avLst/>
          </a:prstGeom>
        </p:spPr>
      </p:pic>
      <p:sp>
        <p:nvSpPr>
          <p:cNvPr id="45" name="TextBox 44"/>
          <p:cNvSpPr txBox="1"/>
          <p:nvPr/>
        </p:nvSpPr>
        <p:spPr>
          <a:xfrm>
            <a:off x="919983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6" name="TextBox 45"/>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7" name="Picture 46" descr="lock.png"/>
          <p:cNvPicPr>
            <a:picLocks noChangeAspect="1"/>
          </p:cNvPicPr>
          <p:nvPr/>
        </p:nvPicPr>
        <p:blipFill>
          <a:blip r:embed="rId5"/>
          <a:stretch>
            <a:fillRect/>
          </a:stretch>
        </p:blipFill>
        <p:spPr>
          <a:xfrm>
            <a:off x="9327669" y="2599245"/>
            <a:ext cx="134549" cy="195707"/>
          </a:xfrm>
          <a:prstGeom prst="rect">
            <a:avLst/>
          </a:prstGeom>
        </p:spPr>
      </p:pic>
      <p:sp>
        <p:nvSpPr>
          <p:cNvPr id="48" name="TextBox 47"/>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9" name="Picture 48" descr="lock.png"/>
          <p:cNvPicPr>
            <a:picLocks noChangeAspect="1"/>
          </p:cNvPicPr>
          <p:nvPr/>
        </p:nvPicPr>
        <p:blipFill>
          <a:blip r:embed="rId5"/>
          <a:stretch>
            <a:fillRect/>
          </a:stretch>
        </p:blipFill>
        <p:spPr>
          <a:xfrm>
            <a:off x="9654215" y="2599245"/>
            <a:ext cx="134549" cy="195707"/>
          </a:xfrm>
          <a:prstGeom prst="rect">
            <a:avLst/>
          </a:prstGeom>
        </p:spPr>
      </p:pic>
      <p:sp>
        <p:nvSpPr>
          <p:cNvPr id="50" name="TextBox 49"/>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1" name="TextBox 50"/>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2" name="TextBox 51"/>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3"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Recipe and Ingredient Claims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Recipe and Ingredient Claims,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Recipe and Ingredient Claims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Organic-certified</a:t>
            </a:r>
          </a:p>
        </p:txBody>
      </p:sp>
      <p:sp>
        <p:nvSpPr>
          <p:cNvPr id="33" name="Rectangle 32"/>
          <p:cNvSpPr/>
          <p:nvPr/>
        </p:nvSpPr>
        <p:spPr>
          <a:xfrm>
            <a:off x="1857375" y="300037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Conventional / non-organic</a:t>
            </a:r>
          </a:p>
        </p:txBody>
      </p:sp>
      <p:sp>
        <p:nvSpPr>
          <p:cNvPr id="49" name="Rectangle 48"/>
          <p:cNvSpPr/>
          <p:nvPr/>
        </p:nvSpPr>
        <p:spPr>
          <a:xfrm>
            <a:off x="185737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Additional claim mapping</a:t>
            </a:r>
          </a:p>
        </p:txBody>
      </p:sp>
      <p:sp>
        <p:nvSpPr>
          <p:cNvPr id="65" name="Rectangle 64"/>
          <p:cNvSpPr/>
          <p:nvPr/>
        </p:nvSpPr>
        <p:spPr>
          <a:xfrm>
            <a:off x="185737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7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Recipe and Ingredient Claims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Recipe and Ingredient Claims,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Recipe and Ingredient Claims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Organic-certified</a:t>
            </a:r>
          </a:p>
        </p:txBody>
      </p:sp>
      <p:sp>
        <p:nvSpPr>
          <p:cNvPr id="33" name="Rectangle 32"/>
          <p:cNvSpPr/>
          <p:nvPr/>
        </p:nvSpPr>
        <p:spPr>
          <a:xfrm>
            <a:off x="1857375" y="3000375"/>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Conventional / non-organic</a:t>
            </a:r>
          </a:p>
        </p:txBody>
      </p:sp>
      <p:sp>
        <p:nvSpPr>
          <p:cNvPr id="49" name="Rectangle 48"/>
          <p:cNvSpPr/>
          <p:nvPr/>
        </p:nvSpPr>
        <p:spPr>
          <a:xfrm>
            <a:off x="185737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Additional claim mapping</a:t>
            </a:r>
          </a:p>
        </p:txBody>
      </p:sp>
      <p:sp>
        <p:nvSpPr>
          <p:cNvPr id="65" name="Rectangle 64"/>
          <p:cNvSpPr/>
          <p:nvPr/>
        </p:nvSpPr>
        <p:spPr>
          <a:xfrm>
            <a:off x="185737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39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7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Structure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Structure segment categorizes the market by product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Filled muffins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Unfilled muffins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Structure split shows how demand is distributed across product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_299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_445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1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29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_909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9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58876" cy="186689"/>
          </a:xfrm>
          <a:prstGeom prst="rect">
            <a:avLst/>
          </a:prstGeom>
          <a:noFill/>
        </p:spPr>
        <p:txBody>
          <a:bodyPr wrap="none" lIns="0" rIns="0" tIns="0" bIns="0">
            <a:spAutoFit/>
          </a:bodyPr>
          <a:lstStyle/>
          <a:p>
            <a:r>
              <a:rPr sz="1100" b="0">
                <a:solidFill>
                  <a:srgbClr val="2E2E2E"/>
                </a:solidFill>
                <a:latin typeface="Calibri"/>
              </a:rPr>
              <a:t>▪ 'Filled muffins' holds the largest share in 2026</a:t>
            </a:r>
          </a:p>
        </p:txBody>
      </p:sp>
      <p:pic>
        <p:nvPicPr>
          <p:cNvPr id="59" name="Picture 58" descr="lock.png"/>
          <p:cNvPicPr>
            <a:picLocks noChangeAspect="1"/>
          </p:cNvPicPr>
          <p:nvPr/>
        </p:nvPicPr>
        <p:blipFill>
          <a:blip r:embed="rId10"/>
          <a:stretch>
            <a:fillRect/>
          </a:stretch>
        </p:blipFill>
        <p:spPr>
          <a:xfrm>
            <a:off x="472307" y="4387298"/>
            <a:ext cx="128699" cy="187198"/>
          </a:xfrm>
          <a:prstGeom prst="rect">
            <a:avLst/>
          </a:prstGeom>
        </p:spPr>
      </p:pic>
      <p:sp>
        <p:nvSpPr>
          <p:cNvPr id="60" name="TextBox 59"/>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1" name="TextBox 60"/>
          <p:cNvSpPr txBox="1"/>
          <p:nvPr/>
        </p:nvSpPr>
        <p:spPr>
          <a:xfrm>
            <a:off x="485775" y="4615009"/>
            <a:ext cx="2240458" cy="186689"/>
          </a:xfrm>
          <a:prstGeom prst="rect">
            <a:avLst/>
          </a:prstGeom>
          <a:noFill/>
        </p:spPr>
        <p:txBody>
          <a:bodyPr wrap="none" lIns="0" rIns="0" tIns="0" bIns="0">
            <a:spAutoFit/>
          </a:bodyPr>
          <a:lstStyle/>
          <a:p>
            <a:r>
              <a:rPr sz="1100" b="0">
                <a:solidFill>
                  <a:srgbClr val="2E2E2E"/>
                </a:solidFill>
                <a:latin typeface="Calibri"/>
              </a:rPr>
              <a:t>▪ 'Filled muffins' is the fastest-growing</a:t>
            </a:r>
          </a:p>
        </p:txBody>
      </p:sp>
      <p:sp>
        <p:nvSpPr>
          <p:cNvPr id="62" name="TextBox 61"/>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3" name="Picture 62" descr="lock.png"/>
          <p:cNvPicPr>
            <a:picLocks noChangeAspect="1"/>
          </p:cNvPicPr>
          <p:nvPr/>
        </p:nvPicPr>
        <p:blipFill>
          <a:blip r:embed="rId10"/>
          <a:stretch>
            <a:fillRect/>
          </a:stretch>
        </p:blipFill>
        <p:spPr>
          <a:xfrm>
            <a:off x="1391064" y="4772870"/>
            <a:ext cx="128699" cy="187198"/>
          </a:xfrm>
          <a:prstGeom prst="rect">
            <a:avLst/>
          </a:prstGeom>
        </p:spPr>
      </p:pic>
      <p:sp>
        <p:nvSpPr>
          <p:cNvPr id="64" name="TextBox 63"/>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6" name="Picture 65" descr="lock.png"/>
          <p:cNvPicPr>
            <a:picLocks noChangeAspect="1"/>
          </p:cNvPicPr>
          <p:nvPr/>
        </p:nvPicPr>
        <p:blipFill>
          <a:blip r:embed="rId10"/>
          <a:stretch>
            <a:fillRect/>
          </a:stretch>
        </p:blipFill>
        <p:spPr>
          <a:xfrm>
            <a:off x="2240451" y="4990801"/>
            <a:ext cx="128699" cy="187198"/>
          </a:xfrm>
          <a:prstGeom prst="rect">
            <a:avLst/>
          </a:prstGeom>
        </p:spPr>
      </p:pic>
      <p:sp>
        <p:nvSpPr>
          <p:cNvPr id="67" name="TextBox 66"/>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552799" y="4990801"/>
            <a:ext cx="128699" cy="187198"/>
          </a:xfrm>
          <a:prstGeom prst="rect">
            <a:avLst/>
          </a:prstGeom>
        </p:spPr>
      </p:pic>
      <p:sp>
        <p:nvSpPr>
          <p:cNvPr id="69" name="TextBox 68"/>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827089" cy="186689"/>
          </a:xfrm>
          <a:prstGeom prst="rect">
            <a:avLst/>
          </a:prstGeom>
          <a:noFill/>
        </p:spPr>
        <p:txBody>
          <a:bodyPr wrap="none" lIns="0" rIns="0" tIns="0" bIns="0">
            <a:spAutoFit/>
          </a:bodyPr>
          <a:lstStyle/>
          <a:p>
            <a:r>
              <a:rPr sz="1100" b="0">
                <a:solidFill>
                  <a:srgbClr val="2E2E2E"/>
                </a:solidFill>
                <a:latin typeface="Calibri"/>
              </a:rPr>
              <a:t>▪ 2 sub-segments make up the product structure</a:t>
            </a:r>
          </a:p>
        </p:txBody>
      </p:sp>
      <p:sp>
        <p:nvSpPr>
          <p:cNvPr id="72" name="TextBox 71"/>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3" name="TextBox 72"/>
          <p:cNvSpPr txBox="1"/>
          <p:nvPr/>
        </p:nvSpPr>
        <p:spPr>
          <a:xfrm>
            <a:off x="3838575" y="4229437"/>
            <a:ext cx="995164" cy="186689"/>
          </a:xfrm>
          <a:prstGeom prst="rect">
            <a:avLst/>
          </a:prstGeom>
          <a:noFill/>
        </p:spPr>
        <p:txBody>
          <a:bodyPr wrap="none" lIns="0" rIns="0" tIns="0" bIns="0">
            <a:spAutoFit/>
          </a:bodyPr>
          <a:lstStyle/>
          <a:p>
            <a:r>
              <a:rPr sz="1100" b="0">
                <a:solidFill>
                  <a:srgbClr val="2E2E2E"/>
                </a:solidFill>
                <a:latin typeface="Calibri"/>
              </a:rPr>
              <a:t>● Filled muffins:</a:t>
            </a:r>
          </a:p>
        </p:txBody>
      </p:sp>
      <p:pic>
        <p:nvPicPr>
          <p:cNvPr id="74" name="Picture 73" descr="lock.png"/>
          <p:cNvPicPr>
            <a:picLocks noChangeAspect="1"/>
          </p:cNvPicPr>
          <p:nvPr/>
        </p:nvPicPr>
        <p:blipFill>
          <a:blip r:embed="rId10"/>
          <a:stretch>
            <a:fillRect/>
          </a:stretch>
        </p:blipFill>
        <p:spPr>
          <a:xfrm>
            <a:off x="4781790" y="4219658"/>
            <a:ext cx="128699" cy="187198"/>
          </a:xfrm>
          <a:prstGeom prst="rect">
            <a:avLst/>
          </a:prstGeom>
        </p:spPr>
      </p:pic>
      <p:sp>
        <p:nvSpPr>
          <p:cNvPr id="75" name="TextBox 74"/>
          <p:cNvSpPr txBox="1"/>
          <p:nvPr/>
        </p:nvSpPr>
        <p:spPr>
          <a:xfrm>
            <a:off x="49492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808736" y="4219658"/>
            <a:ext cx="128699" cy="187198"/>
          </a:xfrm>
          <a:prstGeom prst="rect">
            <a:avLst/>
          </a:prstGeom>
        </p:spPr>
      </p:pic>
      <p:sp>
        <p:nvSpPr>
          <p:cNvPr id="77" name="TextBox 76"/>
          <p:cNvSpPr txBox="1"/>
          <p:nvPr/>
        </p:nvSpPr>
        <p:spPr>
          <a:xfrm>
            <a:off x="597623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1136774" cy="186689"/>
          </a:xfrm>
          <a:prstGeom prst="rect">
            <a:avLst/>
          </a:prstGeom>
          <a:noFill/>
        </p:spPr>
        <p:txBody>
          <a:bodyPr wrap="none" lIns="0" rIns="0" tIns="0" bIns="0">
            <a:spAutoFit/>
          </a:bodyPr>
          <a:lstStyle/>
          <a:p>
            <a:r>
              <a:rPr sz="1100" b="0">
                <a:solidFill>
                  <a:srgbClr val="2E2E2E"/>
                </a:solidFill>
                <a:latin typeface="Calibri"/>
              </a:rPr>
              <a:t>● Unfilled muffins:</a:t>
            </a:r>
          </a:p>
        </p:txBody>
      </p:sp>
      <p:pic>
        <p:nvPicPr>
          <p:cNvPr id="79" name="Picture 78" descr="lock.png"/>
          <p:cNvPicPr>
            <a:picLocks noChangeAspect="1"/>
          </p:cNvPicPr>
          <p:nvPr/>
        </p:nvPicPr>
        <p:blipFill>
          <a:blip r:embed="rId10"/>
          <a:stretch>
            <a:fillRect/>
          </a:stretch>
        </p:blipFill>
        <p:spPr>
          <a:xfrm>
            <a:off x="4923400" y="4437590"/>
            <a:ext cx="128699" cy="187198"/>
          </a:xfrm>
          <a:prstGeom prst="rect">
            <a:avLst/>
          </a:prstGeom>
        </p:spPr>
      </p:pic>
      <p:sp>
        <p:nvSpPr>
          <p:cNvPr id="80" name="TextBox 79"/>
          <p:cNvSpPr txBox="1"/>
          <p:nvPr/>
        </p:nvSpPr>
        <p:spPr>
          <a:xfrm>
            <a:off x="509089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950346" y="4437590"/>
            <a:ext cx="128699" cy="187198"/>
          </a:xfrm>
          <a:prstGeom prst="rect">
            <a:avLst/>
          </a:prstGeom>
        </p:spPr>
      </p:pic>
      <p:sp>
        <p:nvSpPr>
          <p:cNvPr id="82" name="TextBox 81"/>
          <p:cNvSpPr txBox="1"/>
          <p:nvPr/>
        </p:nvSpPr>
        <p:spPr>
          <a:xfrm>
            <a:off x="611784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Structure segment is projected to grow</a:t>
            </a:r>
          </a:p>
        </p:txBody>
      </p:sp>
      <p:sp>
        <p:nvSpPr>
          <p:cNvPr id="84" name="TextBox 83"/>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85" name="Picture 84" descr="lock.png"/>
          <p:cNvPicPr>
            <a:picLocks noChangeAspect="1"/>
          </p:cNvPicPr>
          <p:nvPr/>
        </p:nvPicPr>
        <p:blipFill>
          <a:blip r:embed="rId10"/>
          <a:stretch>
            <a:fillRect/>
          </a:stretch>
        </p:blipFill>
        <p:spPr>
          <a:xfrm>
            <a:off x="9310118" y="6007677"/>
            <a:ext cx="134549" cy="195707"/>
          </a:xfrm>
          <a:prstGeom prst="rect">
            <a:avLst/>
          </a:prstGeom>
        </p:spPr>
      </p:pic>
      <p:sp>
        <p:nvSpPr>
          <p:cNvPr id="86" name="TextBox 85"/>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Structure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Structure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Structure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67337" cy="186689"/>
          </a:xfrm>
          <a:prstGeom prst="rect">
            <a:avLst/>
          </a:prstGeom>
          <a:noFill/>
        </p:spPr>
        <p:txBody>
          <a:bodyPr wrap="none" lIns="0" rIns="0" tIns="0" bIns="0">
            <a:spAutoFit/>
          </a:bodyPr>
          <a:lstStyle/>
          <a:p>
            <a:r>
              <a:rPr sz="1100" b="0">
                <a:solidFill>
                  <a:srgbClr val="2E2E2E"/>
                </a:solidFill>
                <a:latin typeface="Calibri"/>
              </a:rPr>
              <a:t>Between 2026 and 2036, 'Filled muffins' gains the most share in the North America market (+</a:t>
            </a:r>
          </a:p>
        </p:txBody>
      </p:sp>
      <p:pic>
        <p:nvPicPr>
          <p:cNvPr id="21" name="Picture 20" descr="lock.png"/>
          <p:cNvPicPr>
            <a:picLocks noChangeAspect="1"/>
          </p:cNvPicPr>
          <p:nvPr/>
        </p:nvPicPr>
        <p:blipFill>
          <a:blip r:embed="rId6"/>
          <a:stretch>
            <a:fillRect/>
          </a:stretch>
        </p:blipFill>
        <p:spPr>
          <a:xfrm>
            <a:off x="5572564" y="5851905"/>
            <a:ext cx="128699" cy="187198"/>
          </a:xfrm>
          <a:prstGeom prst="rect">
            <a:avLst/>
          </a:prstGeom>
        </p:spPr>
      </p:pic>
      <p:sp>
        <p:nvSpPr>
          <p:cNvPr id="22" name="TextBox 21"/>
          <p:cNvSpPr txBox="1"/>
          <p:nvPr/>
        </p:nvSpPr>
        <p:spPr>
          <a:xfrm>
            <a:off x="5740059" y="5861685"/>
            <a:ext cx="2028452" cy="186689"/>
          </a:xfrm>
          <a:prstGeom prst="rect">
            <a:avLst/>
          </a:prstGeom>
          <a:noFill/>
        </p:spPr>
        <p:txBody>
          <a:bodyPr wrap="none" lIns="0" rIns="0" tIns="0" bIns="0">
            <a:spAutoFit/>
          </a:bodyPr>
          <a:lstStyle/>
          <a:p>
            <a:r>
              <a:rPr sz="1100" b="0">
                <a:solidFill>
                  <a:srgbClr val="2E2E2E"/>
                </a:solidFill>
                <a:latin typeface="Calibri"/>
              </a:rPr>
              <a:t>BPS) while 'Unfilled muffins' cedes</a:t>
            </a:r>
          </a:p>
        </p:txBody>
      </p:sp>
      <p:pic>
        <p:nvPicPr>
          <p:cNvPr id="23" name="Picture 22" descr="lock.png"/>
          <p:cNvPicPr>
            <a:picLocks noChangeAspect="1"/>
          </p:cNvPicPr>
          <p:nvPr/>
        </p:nvPicPr>
        <p:blipFill>
          <a:blip r:embed="rId6"/>
          <a:stretch>
            <a:fillRect/>
          </a:stretch>
        </p:blipFill>
        <p:spPr>
          <a:xfrm>
            <a:off x="7716564" y="5851905"/>
            <a:ext cx="128699" cy="187198"/>
          </a:xfrm>
          <a:prstGeom prst="rect">
            <a:avLst/>
          </a:prstGeom>
        </p:spPr>
      </p:pic>
      <p:sp>
        <p:nvSpPr>
          <p:cNvPr id="24" name="TextBox 23"/>
          <p:cNvSpPr txBox="1"/>
          <p:nvPr/>
        </p:nvSpPr>
        <p:spPr>
          <a:xfrm>
            <a:off x="7884060"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Unfilled muffins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Filled muffins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Structure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Structure (MT)</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096308"/>
                <a:gridCol w="583049"/>
                <a:gridCol w="583049"/>
                <a:gridCol w="583049"/>
                <a:gridCol w="583049"/>
                <a:gridCol w="583049"/>
                <a:gridCol w="583049"/>
                <a:gridCol w="583049"/>
                <a:gridCol w="693420"/>
                <a:gridCol w="693420"/>
                <a:gridCol w="693420"/>
                <a:gridCol w="693420"/>
                <a:gridCol w="693420"/>
                <a:gridCol w="693420"/>
                <a:gridCol w="693420"/>
                <a:gridCol w="693420"/>
                <a:gridCol w="693420"/>
                <a:gridCol w="468769"/>
              </a:tblGrid>
              <a:tr h="438912">
                <a:tc>
                  <a:txBody>
                    <a:bodyPr wrap="none"/>
                    <a:lstStyle/>
                    <a:p>
                      <a:pPr algn="l"/>
                      <a:r>
                        <a:rPr sz="1100" b="1">
                          <a:solidFill>
                            <a:srgbClr val="0B2E4A"/>
                          </a:solidFill>
                          <a:latin typeface="Calibri"/>
                        </a:rPr>
                        <a:t>Product</a:t>
                      </a:r>
                      <a:endParaRPr sz="1100"/>
                    </a:p>
                    <a:p>
                      <a:pPr algn="l"/>
                      <a:r>
                        <a:rPr sz="1100" b="1">
                          <a:solidFill>
                            <a:srgbClr val="0B2E4A"/>
                          </a:solidFill>
                          <a:latin typeface="Calibri"/>
                        </a:rPr>
                        <a:t>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7396">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396">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Structure</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57464" y="1781556"/>
            <a:ext cx="366712" cy="533400"/>
          </a:xfrm>
          <a:prstGeom prst="rect">
            <a:avLst/>
          </a:prstGeom>
        </p:spPr>
      </p:pic>
      <p:sp>
        <p:nvSpPr>
          <p:cNvPr id="21" name="TextBox 20"/>
          <p:cNvSpPr txBox="1"/>
          <p:nvPr/>
        </p:nvSpPr>
        <p:spPr>
          <a:xfrm>
            <a:off x="276225" y="3181350"/>
            <a:ext cx="3049401" cy="194310"/>
          </a:xfrm>
          <a:prstGeom prst="rect">
            <a:avLst/>
          </a:prstGeom>
          <a:noFill/>
        </p:spPr>
        <p:txBody>
          <a:bodyPr wrap="none" lIns="0" rIns="0" tIns="0" bIns="0">
            <a:spAutoFit/>
          </a:bodyPr>
          <a:lstStyle/>
          <a:p>
            <a:r>
              <a:rPr sz="1150" b="0">
                <a:solidFill>
                  <a:srgbClr val="2E2E2E"/>
                </a:solidFill>
                <a:latin typeface="Calibri"/>
              </a:rPr>
              <a:t>▪ 'Filled muffins' is the largest product structure at</a:t>
            </a:r>
          </a:p>
        </p:txBody>
      </p:sp>
      <p:pic>
        <p:nvPicPr>
          <p:cNvPr id="22" name="Picture 21" descr="lock.png"/>
          <p:cNvPicPr>
            <a:picLocks noChangeAspect="1"/>
          </p:cNvPicPr>
          <p:nvPr/>
        </p:nvPicPr>
        <p:blipFill>
          <a:blip r:embed="rId4"/>
          <a:stretch>
            <a:fillRect/>
          </a:stretch>
        </p:blipFill>
        <p:spPr>
          <a:xfrm>
            <a:off x="3274780" y="3171126"/>
            <a:ext cx="134549" cy="195707"/>
          </a:xfrm>
          <a:prstGeom prst="rect">
            <a:avLst/>
          </a:prstGeom>
        </p:spPr>
      </p:pic>
      <p:sp>
        <p:nvSpPr>
          <p:cNvPr id="23" name="TextBox 22"/>
          <p:cNvSpPr txBox="1"/>
          <p:nvPr/>
        </p:nvSpPr>
        <p:spPr>
          <a:xfrm>
            <a:off x="3449889" y="31813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79622" y="3171126"/>
            <a:ext cx="134549" cy="195707"/>
          </a:xfrm>
          <a:prstGeom prst="rect">
            <a:avLst/>
          </a:prstGeom>
        </p:spPr>
      </p:pic>
      <p:sp>
        <p:nvSpPr>
          <p:cNvPr id="25" name="TextBox 24"/>
          <p:cNvSpPr txBox="1"/>
          <p:nvPr/>
        </p:nvSpPr>
        <p:spPr>
          <a:xfrm>
            <a:off x="4654731" y="31813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09187"/>
            <a:ext cx="1849623" cy="194310"/>
          </a:xfrm>
          <a:prstGeom prst="rect">
            <a:avLst/>
          </a:prstGeom>
          <a:noFill/>
        </p:spPr>
        <p:txBody>
          <a:bodyPr wrap="none" lIns="0" rIns="0" tIns="0" bIns="0">
            <a:spAutoFit/>
          </a:bodyPr>
          <a:lstStyle/>
          <a:p>
            <a:r>
              <a:rPr sz="1150" b="0">
                <a:solidFill>
                  <a:srgbClr val="2E2E2E"/>
                </a:solidFill>
                <a:latin typeface="Calibri"/>
              </a:rPr>
              <a:t>▪ 'Filled muffins' grows fastest</a:t>
            </a:r>
          </a:p>
        </p:txBody>
      </p:sp>
      <p:pic>
        <p:nvPicPr>
          <p:cNvPr id="27" name="Picture 26" descr="lock.png"/>
          <p:cNvPicPr>
            <a:picLocks noChangeAspect="1"/>
          </p:cNvPicPr>
          <p:nvPr/>
        </p:nvPicPr>
        <p:blipFill>
          <a:blip r:embed="rId4"/>
          <a:stretch>
            <a:fillRect/>
          </a:stretch>
        </p:blipFill>
        <p:spPr>
          <a:xfrm>
            <a:off x="2075002" y="3398964"/>
            <a:ext cx="134549" cy="195707"/>
          </a:xfrm>
          <a:prstGeom prst="rect">
            <a:avLst/>
          </a:prstGeom>
        </p:spPr>
      </p:pic>
      <p:sp>
        <p:nvSpPr>
          <p:cNvPr id="28" name="TextBox 27"/>
          <p:cNvSpPr txBox="1"/>
          <p:nvPr/>
        </p:nvSpPr>
        <p:spPr>
          <a:xfrm>
            <a:off x="2250111" y="34091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37025"/>
            <a:ext cx="2358801" cy="194310"/>
          </a:xfrm>
          <a:prstGeom prst="rect">
            <a:avLst/>
          </a:prstGeom>
          <a:noFill/>
        </p:spPr>
        <p:txBody>
          <a:bodyPr wrap="none" lIns="0" rIns="0" tIns="0" bIns="0">
            <a:spAutoFit/>
          </a:bodyPr>
          <a:lstStyle/>
          <a:p>
            <a:r>
              <a:rPr sz="1150" b="0">
                <a:solidFill>
                  <a:srgbClr val="2E2E2E"/>
                </a:solidFill>
                <a:latin typeface="Calibri"/>
              </a:rPr>
              <a:t>▪ Share shifts toward 'Filled muffins' (+</a:t>
            </a:r>
          </a:p>
        </p:txBody>
      </p:sp>
      <p:pic>
        <p:nvPicPr>
          <p:cNvPr id="30" name="Picture 29" descr="lock.png"/>
          <p:cNvPicPr>
            <a:picLocks noChangeAspect="1"/>
          </p:cNvPicPr>
          <p:nvPr/>
        </p:nvPicPr>
        <p:blipFill>
          <a:blip r:embed="rId4"/>
          <a:stretch>
            <a:fillRect/>
          </a:stretch>
        </p:blipFill>
        <p:spPr>
          <a:xfrm>
            <a:off x="2584180" y="3626802"/>
            <a:ext cx="134549" cy="195707"/>
          </a:xfrm>
          <a:prstGeom prst="rect">
            <a:avLst/>
          </a:prstGeom>
        </p:spPr>
      </p:pic>
      <p:sp>
        <p:nvSpPr>
          <p:cNvPr id="31" name="TextBox 30"/>
          <p:cNvSpPr txBox="1"/>
          <p:nvPr/>
        </p:nvSpPr>
        <p:spPr>
          <a:xfrm>
            <a:off x="2759289" y="3637025"/>
            <a:ext cx="2432967" cy="194310"/>
          </a:xfrm>
          <a:prstGeom prst="rect">
            <a:avLst/>
          </a:prstGeom>
          <a:noFill/>
        </p:spPr>
        <p:txBody>
          <a:bodyPr wrap="none" lIns="0" rIns="0" tIns="0" bIns="0">
            <a:spAutoFit/>
          </a:bodyPr>
          <a:lstStyle/>
          <a:p>
            <a:r>
              <a:rPr sz="1150" b="0">
                <a:solidFill>
                  <a:srgbClr val="2E2E2E"/>
                </a:solidFill>
                <a:latin typeface="Calibri"/>
              </a:rPr>
              <a:t>BPS) and away from 'Unfilled muffins' (-</a:t>
            </a:r>
          </a:p>
        </p:txBody>
      </p:sp>
      <p:pic>
        <p:nvPicPr>
          <p:cNvPr id="32" name="Picture 31" descr="lock.png"/>
          <p:cNvPicPr>
            <a:picLocks noChangeAspect="1"/>
          </p:cNvPicPr>
          <p:nvPr/>
        </p:nvPicPr>
        <p:blipFill>
          <a:blip r:embed="rId4"/>
          <a:stretch>
            <a:fillRect/>
          </a:stretch>
        </p:blipFill>
        <p:spPr>
          <a:xfrm>
            <a:off x="5141411" y="3626802"/>
            <a:ext cx="134549" cy="195707"/>
          </a:xfrm>
          <a:prstGeom prst="rect">
            <a:avLst/>
          </a:prstGeom>
        </p:spPr>
      </p:pic>
      <p:sp>
        <p:nvSpPr>
          <p:cNvPr id="33" name="TextBox 32"/>
          <p:cNvSpPr txBox="1"/>
          <p:nvPr/>
        </p:nvSpPr>
        <p:spPr>
          <a:xfrm>
            <a:off x="5316520" y="36370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8648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854640"/>
            <a:ext cx="134549" cy="195707"/>
          </a:xfrm>
          <a:prstGeom prst="rect">
            <a:avLst/>
          </a:prstGeom>
        </p:spPr>
      </p:pic>
      <p:sp>
        <p:nvSpPr>
          <p:cNvPr id="36" name="TextBox 35"/>
          <p:cNvSpPr txBox="1"/>
          <p:nvPr/>
        </p:nvSpPr>
        <p:spPr>
          <a:xfrm>
            <a:off x="1965143" y="38648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854640"/>
            <a:ext cx="134549" cy="195707"/>
          </a:xfrm>
          <a:prstGeom prst="rect">
            <a:avLst/>
          </a:prstGeom>
        </p:spPr>
      </p:pic>
      <p:sp>
        <p:nvSpPr>
          <p:cNvPr id="38" name="TextBox 37"/>
          <p:cNvSpPr txBox="1"/>
          <p:nvPr/>
        </p:nvSpPr>
        <p:spPr>
          <a:xfrm>
            <a:off x="2291688" y="38648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Structure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Structure (US$ Mn)</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1316147"/>
                <a:gridCol w="621827"/>
                <a:gridCol w="621827"/>
                <a:gridCol w="621827"/>
                <a:gridCol w="621827"/>
                <a:gridCol w="621827"/>
                <a:gridCol w="621827"/>
                <a:gridCol w="621827"/>
                <a:gridCol w="621827"/>
                <a:gridCol w="621827"/>
                <a:gridCol w="621827"/>
                <a:gridCol w="621827"/>
                <a:gridCol w="621827"/>
                <a:gridCol w="621827"/>
                <a:gridCol w="621827"/>
                <a:gridCol w="621827"/>
                <a:gridCol w="621827"/>
                <a:gridCol w="621827"/>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Structure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67386" y="1589913"/>
            <a:ext cx="366712" cy="533400"/>
          </a:xfrm>
          <a:prstGeom prst="rect">
            <a:avLst/>
          </a:prstGeom>
        </p:spPr>
      </p:pic>
      <p:sp>
        <p:nvSpPr>
          <p:cNvPr id="21" name="TextBox 20"/>
          <p:cNvSpPr txBox="1"/>
          <p:nvPr/>
        </p:nvSpPr>
        <p:spPr>
          <a:xfrm>
            <a:off x="276225" y="2990850"/>
            <a:ext cx="3049401" cy="194310"/>
          </a:xfrm>
          <a:prstGeom prst="rect">
            <a:avLst/>
          </a:prstGeom>
          <a:noFill/>
        </p:spPr>
        <p:txBody>
          <a:bodyPr wrap="none" lIns="0" rIns="0" tIns="0" bIns="0">
            <a:spAutoFit/>
          </a:bodyPr>
          <a:lstStyle/>
          <a:p>
            <a:r>
              <a:rPr sz="1150" b="0">
                <a:solidFill>
                  <a:srgbClr val="2E2E2E"/>
                </a:solidFill>
                <a:latin typeface="Calibri"/>
              </a:rPr>
              <a:t>▪ 'Filled muffins' is the largest product structure at</a:t>
            </a:r>
          </a:p>
        </p:txBody>
      </p:sp>
      <p:pic>
        <p:nvPicPr>
          <p:cNvPr id="22" name="Picture 21" descr="lock.png"/>
          <p:cNvPicPr>
            <a:picLocks noChangeAspect="1"/>
          </p:cNvPicPr>
          <p:nvPr/>
        </p:nvPicPr>
        <p:blipFill>
          <a:blip r:embed="rId4"/>
          <a:stretch>
            <a:fillRect/>
          </a:stretch>
        </p:blipFill>
        <p:spPr>
          <a:xfrm>
            <a:off x="3274780" y="2980626"/>
            <a:ext cx="134549" cy="195707"/>
          </a:xfrm>
          <a:prstGeom prst="rect">
            <a:avLst/>
          </a:prstGeom>
        </p:spPr>
      </p:pic>
      <p:sp>
        <p:nvSpPr>
          <p:cNvPr id="23" name="TextBox 22"/>
          <p:cNvSpPr txBox="1"/>
          <p:nvPr/>
        </p:nvSpPr>
        <p:spPr>
          <a:xfrm>
            <a:off x="3449889"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55822" y="2980626"/>
            <a:ext cx="134549" cy="195707"/>
          </a:xfrm>
          <a:prstGeom prst="rect">
            <a:avLst/>
          </a:prstGeom>
        </p:spPr>
      </p:pic>
      <p:sp>
        <p:nvSpPr>
          <p:cNvPr id="25" name="TextBox 24"/>
          <p:cNvSpPr txBox="1"/>
          <p:nvPr/>
        </p:nvSpPr>
        <p:spPr>
          <a:xfrm>
            <a:off x="4530931"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849623" cy="194310"/>
          </a:xfrm>
          <a:prstGeom prst="rect">
            <a:avLst/>
          </a:prstGeom>
          <a:noFill/>
        </p:spPr>
        <p:txBody>
          <a:bodyPr wrap="none" lIns="0" rIns="0" tIns="0" bIns="0">
            <a:spAutoFit/>
          </a:bodyPr>
          <a:lstStyle/>
          <a:p>
            <a:r>
              <a:rPr sz="1150" b="0">
                <a:solidFill>
                  <a:srgbClr val="2E2E2E"/>
                </a:solidFill>
                <a:latin typeface="Calibri"/>
              </a:rPr>
              <a:t>▪ 'Filled muffins' grows fastest</a:t>
            </a:r>
          </a:p>
        </p:txBody>
      </p:sp>
      <p:pic>
        <p:nvPicPr>
          <p:cNvPr id="27" name="Picture 26" descr="lock.png"/>
          <p:cNvPicPr>
            <a:picLocks noChangeAspect="1"/>
          </p:cNvPicPr>
          <p:nvPr/>
        </p:nvPicPr>
        <p:blipFill>
          <a:blip r:embed="rId4"/>
          <a:stretch>
            <a:fillRect/>
          </a:stretch>
        </p:blipFill>
        <p:spPr>
          <a:xfrm>
            <a:off x="2075002" y="3208464"/>
            <a:ext cx="134549" cy="195707"/>
          </a:xfrm>
          <a:prstGeom prst="rect">
            <a:avLst/>
          </a:prstGeom>
        </p:spPr>
      </p:pic>
      <p:sp>
        <p:nvSpPr>
          <p:cNvPr id="28" name="TextBox 27"/>
          <p:cNvSpPr txBox="1"/>
          <p:nvPr/>
        </p:nvSpPr>
        <p:spPr>
          <a:xfrm>
            <a:off x="225011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358801" cy="194310"/>
          </a:xfrm>
          <a:prstGeom prst="rect">
            <a:avLst/>
          </a:prstGeom>
          <a:noFill/>
        </p:spPr>
        <p:txBody>
          <a:bodyPr wrap="none" lIns="0" rIns="0" tIns="0" bIns="0">
            <a:spAutoFit/>
          </a:bodyPr>
          <a:lstStyle/>
          <a:p>
            <a:r>
              <a:rPr sz="1150" b="0">
                <a:solidFill>
                  <a:srgbClr val="2E2E2E"/>
                </a:solidFill>
                <a:latin typeface="Calibri"/>
              </a:rPr>
              <a:t>▪ Share shifts toward 'Filled muffins' (+</a:t>
            </a:r>
          </a:p>
        </p:txBody>
      </p:sp>
      <p:pic>
        <p:nvPicPr>
          <p:cNvPr id="30" name="Picture 29" descr="lock.png"/>
          <p:cNvPicPr>
            <a:picLocks noChangeAspect="1"/>
          </p:cNvPicPr>
          <p:nvPr/>
        </p:nvPicPr>
        <p:blipFill>
          <a:blip r:embed="rId4"/>
          <a:stretch>
            <a:fillRect/>
          </a:stretch>
        </p:blipFill>
        <p:spPr>
          <a:xfrm>
            <a:off x="2584180" y="3436302"/>
            <a:ext cx="134549" cy="195707"/>
          </a:xfrm>
          <a:prstGeom prst="rect">
            <a:avLst/>
          </a:prstGeom>
        </p:spPr>
      </p:pic>
      <p:sp>
        <p:nvSpPr>
          <p:cNvPr id="31" name="TextBox 30"/>
          <p:cNvSpPr txBox="1"/>
          <p:nvPr/>
        </p:nvSpPr>
        <p:spPr>
          <a:xfrm>
            <a:off x="2759289" y="3446525"/>
            <a:ext cx="2432967" cy="194310"/>
          </a:xfrm>
          <a:prstGeom prst="rect">
            <a:avLst/>
          </a:prstGeom>
          <a:noFill/>
        </p:spPr>
        <p:txBody>
          <a:bodyPr wrap="none" lIns="0" rIns="0" tIns="0" bIns="0">
            <a:spAutoFit/>
          </a:bodyPr>
          <a:lstStyle/>
          <a:p>
            <a:r>
              <a:rPr sz="1150" b="0">
                <a:solidFill>
                  <a:srgbClr val="2E2E2E"/>
                </a:solidFill>
                <a:latin typeface="Calibri"/>
              </a:rPr>
              <a:t>BPS) and away from 'Unfilled muffins' (-</a:t>
            </a:r>
          </a:p>
        </p:txBody>
      </p:sp>
      <p:pic>
        <p:nvPicPr>
          <p:cNvPr id="32" name="Picture 31" descr="lock.png"/>
          <p:cNvPicPr>
            <a:picLocks noChangeAspect="1"/>
          </p:cNvPicPr>
          <p:nvPr/>
        </p:nvPicPr>
        <p:blipFill>
          <a:blip r:embed="rId4"/>
          <a:stretch>
            <a:fillRect/>
          </a:stretch>
        </p:blipFill>
        <p:spPr>
          <a:xfrm>
            <a:off x="5141411" y="3436302"/>
            <a:ext cx="134549" cy="195707"/>
          </a:xfrm>
          <a:prstGeom prst="rect">
            <a:avLst/>
          </a:prstGeom>
        </p:spPr>
      </p:pic>
      <p:sp>
        <p:nvSpPr>
          <p:cNvPr id="33" name="TextBox 32"/>
          <p:cNvSpPr txBox="1"/>
          <p:nvPr/>
        </p:nvSpPr>
        <p:spPr>
          <a:xfrm>
            <a:off x="5316520"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8640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816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4054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Unfilled muffins</a:t>
            </a:r>
          </a:p>
        </p:txBody>
      </p:sp>
      <p:sp>
        <p:nvSpPr>
          <p:cNvPr id="19" name="BPS Value 1"/>
          <p:cNvSpPr txBox="1"/>
          <p:nvPr/>
        </p:nvSpPr>
        <p:spPr>
          <a:xfrm>
            <a:off x="6896100" y="246735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77259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7678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6916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Filled muffins</a:t>
            </a:r>
          </a:p>
        </p:txBody>
      </p:sp>
      <p:sp>
        <p:nvSpPr>
          <p:cNvPr id="23" name="BPS Value 2"/>
          <p:cNvSpPr txBox="1"/>
          <p:nvPr/>
        </p:nvSpPr>
        <p:spPr>
          <a:xfrm>
            <a:off x="6896100" y="475354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Structure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2395884" cy="194310"/>
          </a:xfrm>
          <a:prstGeom prst="rect">
            <a:avLst/>
          </a:prstGeom>
          <a:noFill/>
        </p:spPr>
        <p:txBody>
          <a:bodyPr wrap="none" lIns="0" rIns="0" tIns="0" bIns="0">
            <a:spAutoFit/>
          </a:bodyPr>
          <a:lstStyle/>
          <a:p>
            <a:r>
              <a:rPr sz="1150" b="0">
                <a:solidFill>
                  <a:srgbClr val="2E2E2E"/>
                </a:solidFill>
                <a:latin typeface="Calibri"/>
              </a:rPr>
              <a:t>▪ 'Filled muffins' gains the most share +</a:t>
            </a:r>
          </a:p>
        </p:txBody>
      </p:sp>
      <p:pic>
        <p:nvPicPr>
          <p:cNvPr id="31" name="Picture 30" descr="lock.png"/>
          <p:cNvPicPr>
            <a:picLocks noChangeAspect="1"/>
          </p:cNvPicPr>
          <p:nvPr/>
        </p:nvPicPr>
        <p:blipFill>
          <a:blip r:embed="rId5"/>
          <a:stretch>
            <a:fillRect/>
          </a:stretch>
        </p:blipFill>
        <p:spPr>
          <a:xfrm>
            <a:off x="10174588" y="1389951"/>
            <a:ext cx="134549" cy="195707"/>
          </a:xfrm>
          <a:prstGeom prst="rect">
            <a:avLst/>
          </a:prstGeom>
        </p:spPr>
      </p:pic>
      <p:sp>
        <p:nvSpPr>
          <p:cNvPr id="32" name="TextBox 31"/>
          <p:cNvSpPr txBox="1"/>
          <p:nvPr/>
        </p:nvSpPr>
        <p:spPr>
          <a:xfrm>
            <a:off x="10349697"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3" name="TextBox 32"/>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190501" cy="194310"/>
          </a:xfrm>
          <a:prstGeom prst="rect">
            <a:avLst/>
          </a:prstGeom>
          <a:noFill/>
        </p:spPr>
        <p:txBody>
          <a:bodyPr wrap="none" lIns="0" rIns="0" tIns="0" bIns="0">
            <a:spAutoFit/>
          </a:bodyPr>
          <a:lstStyle/>
          <a:p>
            <a:r>
              <a:rPr sz="1150" b="0">
                <a:solidFill>
                  <a:srgbClr val="2E2E2E"/>
                </a:solidFill>
                <a:latin typeface="Calibri"/>
              </a:rPr>
              <a:t>▪ 'Unfilled muffins' cedes the most -</a:t>
            </a:r>
          </a:p>
        </p:txBody>
      </p:sp>
      <p:pic>
        <p:nvPicPr>
          <p:cNvPr id="35" name="Picture 34" descr="lock.png"/>
          <p:cNvPicPr>
            <a:picLocks noChangeAspect="1"/>
          </p:cNvPicPr>
          <p:nvPr/>
        </p:nvPicPr>
        <p:blipFill>
          <a:blip r:embed="rId5"/>
          <a:stretch>
            <a:fillRect/>
          </a:stretch>
        </p:blipFill>
        <p:spPr>
          <a:xfrm>
            <a:off x="9969205" y="1793049"/>
            <a:ext cx="134549" cy="195707"/>
          </a:xfrm>
          <a:prstGeom prst="rect">
            <a:avLst/>
          </a:prstGeom>
        </p:spPr>
      </p:pic>
      <p:sp>
        <p:nvSpPr>
          <p:cNvPr id="36" name="TextBox 35"/>
          <p:cNvSpPr txBox="1"/>
          <p:nvPr/>
        </p:nvSpPr>
        <p:spPr>
          <a:xfrm>
            <a:off x="10144315"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37" name="TextBox 36"/>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571701" cy="194310"/>
          </a:xfrm>
          <a:prstGeom prst="rect">
            <a:avLst/>
          </a:prstGeom>
          <a:noFill/>
        </p:spPr>
        <p:txBody>
          <a:bodyPr wrap="none" lIns="0" rIns="0" tIns="0" bIns="0">
            <a:spAutoFit/>
          </a:bodyPr>
          <a:lstStyle/>
          <a:p>
            <a:r>
              <a:rPr sz="1150" b="0">
                <a:solidFill>
                  <a:srgbClr val="2E2E2E"/>
                </a:solidFill>
                <a:latin typeface="Calibri"/>
              </a:rPr>
              <a:t>▪ 'Filled muffins' is the fastest-growing product structure at</a:t>
            </a:r>
          </a:p>
        </p:txBody>
      </p:sp>
      <p:pic>
        <p:nvPicPr>
          <p:cNvPr id="39" name="Picture 38" descr="lock.png"/>
          <p:cNvPicPr>
            <a:picLocks noChangeAspect="1"/>
          </p:cNvPicPr>
          <p:nvPr/>
        </p:nvPicPr>
        <p:blipFill>
          <a:blip r:embed="rId5"/>
          <a:stretch>
            <a:fillRect/>
          </a:stretch>
        </p:blipFill>
        <p:spPr>
          <a:xfrm>
            <a:off x="11350405" y="2196147"/>
            <a:ext cx="134549" cy="195707"/>
          </a:xfrm>
          <a:prstGeom prst="rect">
            <a:avLst/>
          </a:prstGeom>
        </p:spPr>
      </p:pic>
      <p:sp>
        <p:nvSpPr>
          <p:cNvPr id="40" name="TextBox 39"/>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Structure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Structure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Unfilled muffins</a:t>
            </a:r>
          </a:p>
        </p:txBody>
      </p:sp>
      <p:sp>
        <p:nvSpPr>
          <p:cNvPr id="33" name="Rectangle 32"/>
          <p:cNvSpPr/>
          <p:nvPr/>
        </p:nvSpPr>
        <p:spPr>
          <a:xfrm>
            <a:off x="185737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5A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Filled muffins</a:t>
            </a:r>
          </a:p>
        </p:txBody>
      </p:sp>
      <p:sp>
        <p:nvSpPr>
          <p:cNvPr id="49" name="Rectangle 48"/>
          <p:cNvSpPr/>
          <p:nvPr/>
        </p:nvSpPr>
        <p:spPr>
          <a:xfrm>
            <a:off x="1857375" y="4662488"/>
            <a:ext cx="643890" cy="1909762"/>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49641" y="1482090"/>
            <a:ext cx="330041" cy="480060"/>
          </a:xfrm>
          <a:prstGeom prst="rect">
            <a:avLst/>
          </a:prstGeom>
        </p:spPr>
      </p:pic>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Structure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Structure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Unfilled muffins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Filled muffins</a:t>
            </a:r>
          </a:p>
        </p:txBody>
      </p:sp>
      <p:sp>
        <p:nvSpPr>
          <p:cNvPr id="49" name="Rectangle 48"/>
          <p:cNvSpPr/>
          <p:nvPr/>
        </p:nvSpPr>
        <p:spPr>
          <a:xfrm>
            <a:off x="1857375" y="4662488"/>
            <a:ext cx="643890" cy="1909762"/>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49641" y="1482090"/>
            <a:ext cx="330041" cy="480060"/>
          </a:xfrm>
          <a:prstGeom prst="rect">
            <a:avLst/>
          </a:prstGeom>
        </p:spPr>
      </p:pic>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Surface 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Surface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Surface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Surface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Surface Finish segment categorizes the market by surface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Nut and seed-topped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Glazed / drizzled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Sugar-topped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Untopped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toppings</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Crumb / streusel-topped</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Surface Finish split shows how demand is distributed across surface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1_166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1_972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5_4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1_129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1_720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4_3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406_9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476_0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1_6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334_4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374_3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1_1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305_2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514_5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5_4__605E5C.png"/>
          <p:cNvPicPr>
            <a:picLocks noChangeAspect="1"/>
          </p:cNvPicPr>
          <p:nvPr/>
        </p:nvPicPr>
        <p:blipFill>
          <a:blip r:embed="rId6"/>
          <a:stretch>
            <a:fillRect/>
          </a:stretch>
        </p:blipFill>
        <p:spPr>
          <a:xfrm>
            <a:off x="8905194" y="3272281"/>
            <a:ext cx="982436" cy="361950"/>
          </a:xfrm>
          <a:prstGeom prst="rect">
            <a:avLst/>
          </a:prstGeom>
        </p:spPr>
      </p:pic>
      <p:pic>
        <p:nvPicPr>
          <p:cNvPr id="93" name="Picture 92" descr="256_2_605E5C.png"/>
          <p:cNvPicPr>
            <a:picLocks noChangeAspect="1"/>
          </p:cNvPicPr>
          <p:nvPr/>
        </p:nvPicPr>
        <p:blipFill>
          <a:blip r:embed="rId18"/>
          <a:stretch>
            <a:fillRect/>
          </a:stretch>
        </p:blipFill>
        <p:spPr>
          <a:xfrm>
            <a:off x="10484473" y="2286582"/>
            <a:ext cx="1195728" cy="361950"/>
          </a:xfrm>
          <a:prstGeom prst="rect">
            <a:avLst/>
          </a:prstGeom>
        </p:spPr>
      </p:pic>
      <p:pic>
        <p:nvPicPr>
          <p:cNvPr id="94" name="Picture 93" descr="296_6_605E5C.png"/>
          <p:cNvPicPr>
            <a:picLocks noChangeAspect="1"/>
          </p:cNvPicPr>
          <p:nvPr/>
        </p:nvPicPr>
        <p:blipFill>
          <a:blip r:embed="rId19"/>
          <a:stretch>
            <a:fillRect/>
          </a:stretch>
        </p:blipFill>
        <p:spPr>
          <a:xfrm>
            <a:off x="10484473" y="2779432"/>
            <a:ext cx="1195728" cy="361950"/>
          </a:xfrm>
          <a:prstGeom prst="rect">
            <a:avLst/>
          </a:prstGeom>
        </p:spPr>
      </p:pic>
      <p:pic>
        <p:nvPicPr>
          <p:cNvPr id="95" name="Picture 94" descr="1_5__605E5C.png"/>
          <p:cNvPicPr>
            <a:picLocks noChangeAspect="1"/>
          </p:cNvPicPr>
          <p:nvPr/>
        </p:nvPicPr>
        <p:blipFill>
          <a:blip r:embed="rId20"/>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1"/>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1"/>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1"/>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1"/>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1"/>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1"/>
          <a:stretch>
            <a:fillRect/>
          </a:stretch>
        </p:blipFill>
        <p:spPr>
          <a:xfrm>
            <a:off x="10988992" y="2827057"/>
            <a:ext cx="183356" cy="266700"/>
          </a:xfrm>
          <a:prstGeom prst="rect">
            <a:avLst/>
          </a:prstGeom>
        </p:spPr>
      </p:pic>
      <p:sp>
        <p:nvSpPr>
          <p:cNvPr id="102" name="TextBox 101"/>
          <p:cNvSpPr txBox="1"/>
          <p:nvPr/>
        </p:nvSpPr>
        <p:spPr>
          <a:xfrm>
            <a:off x="485775" y="4229437"/>
            <a:ext cx="2885752" cy="186689"/>
          </a:xfrm>
          <a:prstGeom prst="rect">
            <a:avLst/>
          </a:prstGeom>
          <a:noFill/>
        </p:spPr>
        <p:txBody>
          <a:bodyPr wrap="none" lIns="0" rIns="0" tIns="0" bIns="0">
            <a:spAutoFit/>
          </a:bodyPr>
          <a:lstStyle/>
          <a:p>
            <a:r>
              <a:rPr sz="1100" b="0">
                <a:solidFill>
                  <a:srgbClr val="2E2E2E"/>
                </a:solidFill>
                <a:latin typeface="Calibri"/>
              </a:rPr>
              <a:t>▪ 'Nut and seed-topped' holds the largest share in</a:t>
            </a:r>
          </a:p>
        </p:txBody>
      </p:sp>
      <p:sp>
        <p:nvSpPr>
          <p:cNvPr id="103" name="TextBox 102"/>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104" name="Picture 103" descr="lock.png"/>
          <p:cNvPicPr>
            <a:picLocks noChangeAspect="1"/>
          </p:cNvPicPr>
          <p:nvPr/>
        </p:nvPicPr>
        <p:blipFill>
          <a:blip r:embed="rId21"/>
          <a:stretch>
            <a:fillRect/>
          </a:stretch>
        </p:blipFill>
        <p:spPr>
          <a:xfrm>
            <a:off x="793792" y="4387298"/>
            <a:ext cx="128699" cy="187198"/>
          </a:xfrm>
          <a:prstGeom prst="rect">
            <a:avLst/>
          </a:prstGeom>
        </p:spPr>
      </p:pic>
      <p:sp>
        <p:nvSpPr>
          <p:cNvPr id="105" name="TextBox 104"/>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106" name="TextBox 105"/>
          <p:cNvSpPr txBox="1"/>
          <p:nvPr/>
        </p:nvSpPr>
        <p:spPr>
          <a:xfrm>
            <a:off x="485775" y="4615009"/>
            <a:ext cx="2682750" cy="186689"/>
          </a:xfrm>
          <a:prstGeom prst="rect">
            <a:avLst/>
          </a:prstGeom>
          <a:noFill/>
        </p:spPr>
        <p:txBody>
          <a:bodyPr wrap="none" lIns="0" rIns="0" tIns="0" bIns="0">
            <a:spAutoFit/>
          </a:bodyPr>
          <a:lstStyle/>
          <a:p>
            <a:r>
              <a:rPr sz="1100" b="0">
                <a:solidFill>
                  <a:srgbClr val="2E2E2E"/>
                </a:solidFill>
                <a:latin typeface="Calibri"/>
              </a:rPr>
              <a:t>▪ 'Nut and seed-topped' is the fastest-growing</a:t>
            </a:r>
          </a:p>
        </p:txBody>
      </p:sp>
      <p:sp>
        <p:nvSpPr>
          <p:cNvPr id="107" name="TextBox 106"/>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108" name="Picture 107" descr="lock.png"/>
          <p:cNvPicPr>
            <a:picLocks noChangeAspect="1"/>
          </p:cNvPicPr>
          <p:nvPr/>
        </p:nvPicPr>
        <p:blipFill>
          <a:blip r:embed="rId21"/>
          <a:stretch>
            <a:fillRect/>
          </a:stretch>
        </p:blipFill>
        <p:spPr>
          <a:xfrm>
            <a:off x="1391064" y="4772870"/>
            <a:ext cx="128699" cy="187198"/>
          </a:xfrm>
          <a:prstGeom prst="rect">
            <a:avLst/>
          </a:prstGeom>
        </p:spPr>
      </p:pic>
      <p:sp>
        <p:nvSpPr>
          <p:cNvPr id="109" name="TextBox 108"/>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110" name="TextBox 109"/>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111" name="Picture 110" descr="lock.png"/>
          <p:cNvPicPr>
            <a:picLocks noChangeAspect="1"/>
          </p:cNvPicPr>
          <p:nvPr/>
        </p:nvPicPr>
        <p:blipFill>
          <a:blip r:embed="rId21"/>
          <a:stretch>
            <a:fillRect/>
          </a:stretch>
        </p:blipFill>
        <p:spPr>
          <a:xfrm>
            <a:off x="2240451" y="4990801"/>
            <a:ext cx="128699" cy="187198"/>
          </a:xfrm>
          <a:prstGeom prst="rect">
            <a:avLst/>
          </a:prstGeom>
        </p:spPr>
      </p:pic>
      <p:sp>
        <p:nvSpPr>
          <p:cNvPr id="112" name="TextBox 111"/>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113" name="Picture 112" descr="lock.png"/>
          <p:cNvPicPr>
            <a:picLocks noChangeAspect="1"/>
          </p:cNvPicPr>
          <p:nvPr/>
        </p:nvPicPr>
        <p:blipFill>
          <a:blip r:embed="rId21"/>
          <a:stretch>
            <a:fillRect/>
          </a:stretch>
        </p:blipFill>
        <p:spPr>
          <a:xfrm>
            <a:off x="2552799" y="4990801"/>
            <a:ext cx="128699" cy="187198"/>
          </a:xfrm>
          <a:prstGeom prst="rect">
            <a:avLst/>
          </a:prstGeom>
        </p:spPr>
      </p:pic>
      <p:sp>
        <p:nvSpPr>
          <p:cNvPr id="114" name="TextBox 113"/>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5" name="TextBox 114"/>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116" name="TextBox 115"/>
          <p:cNvSpPr txBox="1"/>
          <p:nvPr/>
        </p:nvSpPr>
        <p:spPr>
          <a:xfrm>
            <a:off x="485775" y="5386153"/>
            <a:ext cx="2579885" cy="186689"/>
          </a:xfrm>
          <a:prstGeom prst="rect">
            <a:avLst/>
          </a:prstGeom>
          <a:noFill/>
        </p:spPr>
        <p:txBody>
          <a:bodyPr wrap="none" lIns="0" rIns="0" tIns="0" bIns="0">
            <a:spAutoFit/>
          </a:bodyPr>
          <a:lstStyle/>
          <a:p>
            <a:r>
              <a:rPr sz="1100" b="0">
                <a:solidFill>
                  <a:srgbClr val="2E2E2E"/>
                </a:solidFill>
                <a:latin typeface="Calibri"/>
              </a:rPr>
              <a:t>▪ 6 sub-segments make up the surface finish</a:t>
            </a:r>
          </a:p>
        </p:txBody>
      </p:sp>
      <p:sp>
        <p:nvSpPr>
          <p:cNvPr id="117" name="TextBox 116"/>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118" name="TextBox 117"/>
          <p:cNvSpPr txBox="1"/>
          <p:nvPr/>
        </p:nvSpPr>
        <p:spPr>
          <a:xfrm>
            <a:off x="3838575" y="4229437"/>
            <a:ext cx="1437456" cy="186689"/>
          </a:xfrm>
          <a:prstGeom prst="rect">
            <a:avLst/>
          </a:prstGeom>
          <a:noFill/>
        </p:spPr>
        <p:txBody>
          <a:bodyPr wrap="none" lIns="0" rIns="0" tIns="0" bIns="0">
            <a:spAutoFit/>
          </a:bodyPr>
          <a:lstStyle/>
          <a:p>
            <a:r>
              <a:rPr sz="1100" b="0">
                <a:solidFill>
                  <a:srgbClr val="2E2E2E"/>
                </a:solidFill>
                <a:latin typeface="Calibri"/>
              </a:rPr>
              <a:t>● Nut and seed-topped:</a:t>
            </a:r>
          </a:p>
        </p:txBody>
      </p:sp>
      <p:pic>
        <p:nvPicPr>
          <p:cNvPr id="119" name="Picture 118" descr="lock.png"/>
          <p:cNvPicPr>
            <a:picLocks noChangeAspect="1"/>
          </p:cNvPicPr>
          <p:nvPr/>
        </p:nvPicPr>
        <p:blipFill>
          <a:blip r:embed="rId21"/>
          <a:stretch>
            <a:fillRect/>
          </a:stretch>
        </p:blipFill>
        <p:spPr>
          <a:xfrm>
            <a:off x="5224083" y="4219658"/>
            <a:ext cx="128699" cy="187198"/>
          </a:xfrm>
          <a:prstGeom prst="rect">
            <a:avLst/>
          </a:prstGeom>
        </p:spPr>
      </p:pic>
      <p:sp>
        <p:nvSpPr>
          <p:cNvPr id="120" name="TextBox 119"/>
          <p:cNvSpPr txBox="1"/>
          <p:nvPr/>
        </p:nvSpPr>
        <p:spPr>
          <a:xfrm>
            <a:off x="539157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1" name="Picture 120" descr="lock.png"/>
          <p:cNvPicPr>
            <a:picLocks noChangeAspect="1"/>
          </p:cNvPicPr>
          <p:nvPr/>
        </p:nvPicPr>
        <p:blipFill>
          <a:blip r:embed="rId21"/>
          <a:stretch>
            <a:fillRect/>
          </a:stretch>
        </p:blipFill>
        <p:spPr>
          <a:xfrm>
            <a:off x="6251029" y="4219658"/>
            <a:ext cx="128699" cy="187198"/>
          </a:xfrm>
          <a:prstGeom prst="rect">
            <a:avLst/>
          </a:prstGeom>
        </p:spPr>
      </p:pic>
      <p:sp>
        <p:nvSpPr>
          <p:cNvPr id="122" name="TextBox 121"/>
          <p:cNvSpPr txBox="1"/>
          <p:nvPr/>
        </p:nvSpPr>
        <p:spPr>
          <a:xfrm>
            <a:off x="6418524"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23" name="TextBox 122"/>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24" name="TextBox 123"/>
          <p:cNvSpPr txBox="1"/>
          <p:nvPr/>
        </p:nvSpPr>
        <p:spPr>
          <a:xfrm>
            <a:off x="3838575" y="4615009"/>
            <a:ext cx="1171971" cy="186689"/>
          </a:xfrm>
          <a:prstGeom prst="rect">
            <a:avLst/>
          </a:prstGeom>
          <a:noFill/>
        </p:spPr>
        <p:txBody>
          <a:bodyPr wrap="none" lIns="0" rIns="0" tIns="0" bIns="0">
            <a:spAutoFit/>
          </a:bodyPr>
          <a:lstStyle/>
          <a:p>
            <a:r>
              <a:rPr sz="1100" b="0">
                <a:solidFill>
                  <a:srgbClr val="2E2E2E"/>
                </a:solidFill>
                <a:latin typeface="Calibri"/>
              </a:rPr>
              <a:t>● Glazed / drizzled:</a:t>
            </a:r>
          </a:p>
        </p:txBody>
      </p:sp>
      <p:pic>
        <p:nvPicPr>
          <p:cNvPr id="125" name="Picture 124" descr="lock.png"/>
          <p:cNvPicPr>
            <a:picLocks noChangeAspect="1"/>
          </p:cNvPicPr>
          <p:nvPr/>
        </p:nvPicPr>
        <p:blipFill>
          <a:blip r:embed="rId21"/>
          <a:stretch>
            <a:fillRect/>
          </a:stretch>
        </p:blipFill>
        <p:spPr>
          <a:xfrm>
            <a:off x="4958598" y="4605230"/>
            <a:ext cx="128699" cy="187198"/>
          </a:xfrm>
          <a:prstGeom prst="rect">
            <a:avLst/>
          </a:prstGeom>
        </p:spPr>
      </p:pic>
      <p:sp>
        <p:nvSpPr>
          <p:cNvPr id="126" name="TextBox 125"/>
          <p:cNvSpPr txBox="1"/>
          <p:nvPr/>
        </p:nvSpPr>
        <p:spPr>
          <a:xfrm>
            <a:off x="5126094"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7" name="Picture 126" descr="lock.png"/>
          <p:cNvPicPr>
            <a:picLocks noChangeAspect="1"/>
          </p:cNvPicPr>
          <p:nvPr/>
        </p:nvPicPr>
        <p:blipFill>
          <a:blip r:embed="rId21"/>
          <a:stretch>
            <a:fillRect/>
          </a:stretch>
        </p:blipFill>
        <p:spPr>
          <a:xfrm>
            <a:off x="5985544" y="4605230"/>
            <a:ext cx="128699" cy="187198"/>
          </a:xfrm>
          <a:prstGeom prst="rect">
            <a:avLst/>
          </a:prstGeom>
        </p:spPr>
      </p:pic>
      <p:sp>
        <p:nvSpPr>
          <p:cNvPr id="128" name="TextBox 127"/>
          <p:cNvSpPr txBox="1"/>
          <p:nvPr/>
        </p:nvSpPr>
        <p:spPr>
          <a:xfrm>
            <a:off x="6153040"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9" name="TextBox 128"/>
          <p:cNvSpPr txBox="1"/>
          <p:nvPr/>
        </p:nvSpPr>
        <p:spPr>
          <a:xfrm>
            <a:off x="3838575" y="4832941"/>
            <a:ext cx="1001712" cy="186689"/>
          </a:xfrm>
          <a:prstGeom prst="rect">
            <a:avLst/>
          </a:prstGeom>
          <a:noFill/>
        </p:spPr>
        <p:txBody>
          <a:bodyPr wrap="none" lIns="0" rIns="0" tIns="0" bIns="0">
            <a:spAutoFit/>
          </a:bodyPr>
          <a:lstStyle/>
          <a:p>
            <a:r>
              <a:rPr sz="1100" b="0">
                <a:solidFill>
                  <a:srgbClr val="2E2E2E"/>
                </a:solidFill>
                <a:latin typeface="Calibri"/>
              </a:rPr>
              <a:t>● Sugar-topped:</a:t>
            </a:r>
          </a:p>
        </p:txBody>
      </p:sp>
      <p:pic>
        <p:nvPicPr>
          <p:cNvPr id="130" name="Picture 129" descr="lock.png"/>
          <p:cNvPicPr>
            <a:picLocks noChangeAspect="1"/>
          </p:cNvPicPr>
          <p:nvPr/>
        </p:nvPicPr>
        <p:blipFill>
          <a:blip r:embed="rId21"/>
          <a:stretch>
            <a:fillRect/>
          </a:stretch>
        </p:blipFill>
        <p:spPr>
          <a:xfrm>
            <a:off x="4788339" y="4823162"/>
            <a:ext cx="128699" cy="187198"/>
          </a:xfrm>
          <a:prstGeom prst="rect">
            <a:avLst/>
          </a:prstGeom>
        </p:spPr>
      </p:pic>
      <p:sp>
        <p:nvSpPr>
          <p:cNvPr id="131" name="TextBox 130"/>
          <p:cNvSpPr txBox="1"/>
          <p:nvPr/>
        </p:nvSpPr>
        <p:spPr>
          <a:xfrm>
            <a:off x="4955834"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2" name="Picture 131" descr="lock.png"/>
          <p:cNvPicPr>
            <a:picLocks noChangeAspect="1"/>
          </p:cNvPicPr>
          <p:nvPr/>
        </p:nvPicPr>
        <p:blipFill>
          <a:blip r:embed="rId21"/>
          <a:stretch>
            <a:fillRect/>
          </a:stretch>
        </p:blipFill>
        <p:spPr>
          <a:xfrm>
            <a:off x="5815285" y="4823162"/>
            <a:ext cx="128699" cy="187198"/>
          </a:xfrm>
          <a:prstGeom prst="rect">
            <a:avLst/>
          </a:prstGeom>
        </p:spPr>
      </p:pic>
      <p:sp>
        <p:nvSpPr>
          <p:cNvPr id="133" name="TextBox 132"/>
          <p:cNvSpPr txBox="1"/>
          <p:nvPr/>
        </p:nvSpPr>
        <p:spPr>
          <a:xfrm>
            <a:off x="5982780"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4" name="TextBox 133"/>
          <p:cNvSpPr txBox="1"/>
          <p:nvPr/>
        </p:nvSpPr>
        <p:spPr>
          <a:xfrm>
            <a:off x="3838575" y="5050872"/>
            <a:ext cx="803076" cy="186689"/>
          </a:xfrm>
          <a:prstGeom prst="rect">
            <a:avLst/>
          </a:prstGeom>
          <a:noFill/>
        </p:spPr>
        <p:txBody>
          <a:bodyPr wrap="none" lIns="0" rIns="0" tIns="0" bIns="0">
            <a:spAutoFit/>
          </a:bodyPr>
          <a:lstStyle/>
          <a:p>
            <a:r>
              <a:rPr sz="1100" b="0">
                <a:solidFill>
                  <a:srgbClr val="2E2E2E"/>
                </a:solidFill>
                <a:latin typeface="Calibri"/>
              </a:rPr>
              <a:t>● Untopped:</a:t>
            </a:r>
          </a:p>
        </p:txBody>
      </p:sp>
      <p:pic>
        <p:nvPicPr>
          <p:cNvPr id="135" name="Picture 134" descr="lock.png"/>
          <p:cNvPicPr>
            <a:picLocks noChangeAspect="1"/>
          </p:cNvPicPr>
          <p:nvPr/>
        </p:nvPicPr>
        <p:blipFill>
          <a:blip r:embed="rId21"/>
          <a:stretch>
            <a:fillRect/>
          </a:stretch>
        </p:blipFill>
        <p:spPr>
          <a:xfrm>
            <a:off x="4589703" y="5041093"/>
            <a:ext cx="128699" cy="187198"/>
          </a:xfrm>
          <a:prstGeom prst="rect">
            <a:avLst/>
          </a:prstGeom>
        </p:spPr>
      </p:pic>
      <p:sp>
        <p:nvSpPr>
          <p:cNvPr id="136" name="TextBox 135"/>
          <p:cNvSpPr txBox="1"/>
          <p:nvPr/>
        </p:nvSpPr>
        <p:spPr>
          <a:xfrm>
            <a:off x="4757198"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7" name="Picture 136" descr="lock.png"/>
          <p:cNvPicPr>
            <a:picLocks noChangeAspect="1"/>
          </p:cNvPicPr>
          <p:nvPr/>
        </p:nvPicPr>
        <p:blipFill>
          <a:blip r:embed="rId21"/>
          <a:stretch>
            <a:fillRect/>
          </a:stretch>
        </p:blipFill>
        <p:spPr>
          <a:xfrm>
            <a:off x="5616649" y="5041093"/>
            <a:ext cx="128699" cy="187198"/>
          </a:xfrm>
          <a:prstGeom prst="rect">
            <a:avLst/>
          </a:prstGeom>
        </p:spPr>
      </p:pic>
      <p:sp>
        <p:nvSpPr>
          <p:cNvPr id="138" name="TextBox 137"/>
          <p:cNvSpPr txBox="1"/>
          <p:nvPr/>
        </p:nvSpPr>
        <p:spPr>
          <a:xfrm>
            <a:off x="5784145" y="5050872"/>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9" name="TextBox 138"/>
          <p:cNvSpPr txBox="1"/>
          <p:nvPr/>
        </p:nvSpPr>
        <p:spPr>
          <a:xfrm>
            <a:off x="3838575" y="5268804"/>
            <a:ext cx="1085750" cy="186689"/>
          </a:xfrm>
          <a:prstGeom prst="rect">
            <a:avLst/>
          </a:prstGeom>
          <a:noFill/>
        </p:spPr>
        <p:txBody>
          <a:bodyPr wrap="none" lIns="0" rIns="0" tIns="0" bIns="0">
            <a:spAutoFit/>
          </a:bodyPr>
          <a:lstStyle/>
          <a:p>
            <a:r>
              <a:rPr sz="1100" b="0">
                <a:solidFill>
                  <a:srgbClr val="2E2E2E"/>
                </a:solidFill>
                <a:latin typeface="Calibri"/>
              </a:rPr>
              <a:t>● Other toppings:</a:t>
            </a:r>
          </a:p>
        </p:txBody>
      </p:sp>
      <p:pic>
        <p:nvPicPr>
          <p:cNvPr id="140" name="Picture 139" descr="lock.png"/>
          <p:cNvPicPr>
            <a:picLocks noChangeAspect="1"/>
          </p:cNvPicPr>
          <p:nvPr/>
        </p:nvPicPr>
        <p:blipFill>
          <a:blip r:embed="rId21"/>
          <a:stretch>
            <a:fillRect/>
          </a:stretch>
        </p:blipFill>
        <p:spPr>
          <a:xfrm>
            <a:off x="4872377" y="5259025"/>
            <a:ext cx="128699" cy="187198"/>
          </a:xfrm>
          <a:prstGeom prst="rect">
            <a:avLst/>
          </a:prstGeom>
        </p:spPr>
      </p:pic>
      <p:sp>
        <p:nvSpPr>
          <p:cNvPr id="141" name="TextBox 140"/>
          <p:cNvSpPr txBox="1"/>
          <p:nvPr/>
        </p:nvSpPr>
        <p:spPr>
          <a:xfrm>
            <a:off x="5039873" y="5268804"/>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2" name="Picture 141" descr="lock.png"/>
          <p:cNvPicPr>
            <a:picLocks noChangeAspect="1"/>
          </p:cNvPicPr>
          <p:nvPr/>
        </p:nvPicPr>
        <p:blipFill>
          <a:blip r:embed="rId21"/>
          <a:stretch>
            <a:fillRect/>
          </a:stretch>
        </p:blipFill>
        <p:spPr>
          <a:xfrm>
            <a:off x="5899323" y="5259025"/>
            <a:ext cx="128699" cy="187198"/>
          </a:xfrm>
          <a:prstGeom prst="rect">
            <a:avLst/>
          </a:prstGeom>
        </p:spPr>
      </p:pic>
      <p:sp>
        <p:nvSpPr>
          <p:cNvPr id="143" name="TextBox 142"/>
          <p:cNvSpPr txBox="1"/>
          <p:nvPr/>
        </p:nvSpPr>
        <p:spPr>
          <a:xfrm>
            <a:off x="6066819" y="5268804"/>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44" name="TextBox 143"/>
          <p:cNvSpPr txBox="1"/>
          <p:nvPr/>
        </p:nvSpPr>
        <p:spPr>
          <a:xfrm>
            <a:off x="3838575" y="5486736"/>
            <a:ext cx="1631453" cy="186689"/>
          </a:xfrm>
          <a:prstGeom prst="rect">
            <a:avLst/>
          </a:prstGeom>
          <a:noFill/>
        </p:spPr>
        <p:txBody>
          <a:bodyPr wrap="none" lIns="0" rIns="0" tIns="0" bIns="0">
            <a:spAutoFit/>
          </a:bodyPr>
          <a:lstStyle/>
          <a:p>
            <a:r>
              <a:rPr sz="1100" b="0">
                <a:solidFill>
                  <a:srgbClr val="2E2E2E"/>
                </a:solidFill>
                <a:latin typeface="Calibri"/>
              </a:rPr>
              <a:t>● Crumb / streusel-topped:</a:t>
            </a:r>
          </a:p>
        </p:txBody>
      </p:sp>
      <p:pic>
        <p:nvPicPr>
          <p:cNvPr id="145" name="Picture 144" descr="lock.png"/>
          <p:cNvPicPr>
            <a:picLocks noChangeAspect="1"/>
          </p:cNvPicPr>
          <p:nvPr/>
        </p:nvPicPr>
        <p:blipFill>
          <a:blip r:embed="rId21"/>
          <a:stretch>
            <a:fillRect/>
          </a:stretch>
        </p:blipFill>
        <p:spPr>
          <a:xfrm>
            <a:off x="5418080" y="5476957"/>
            <a:ext cx="128699" cy="187198"/>
          </a:xfrm>
          <a:prstGeom prst="rect">
            <a:avLst/>
          </a:prstGeom>
        </p:spPr>
      </p:pic>
      <p:sp>
        <p:nvSpPr>
          <p:cNvPr id="146" name="TextBox 145"/>
          <p:cNvSpPr txBox="1"/>
          <p:nvPr/>
        </p:nvSpPr>
        <p:spPr>
          <a:xfrm>
            <a:off x="5585576" y="5486736"/>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7" name="Picture 146" descr="lock.png"/>
          <p:cNvPicPr>
            <a:picLocks noChangeAspect="1"/>
          </p:cNvPicPr>
          <p:nvPr/>
        </p:nvPicPr>
        <p:blipFill>
          <a:blip r:embed="rId21"/>
          <a:stretch>
            <a:fillRect/>
          </a:stretch>
        </p:blipFill>
        <p:spPr>
          <a:xfrm>
            <a:off x="6445026" y="5476957"/>
            <a:ext cx="128699" cy="187198"/>
          </a:xfrm>
          <a:prstGeom prst="rect">
            <a:avLst/>
          </a:prstGeom>
        </p:spPr>
      </p:pic>
      <p:sp>
        <p:nvSpPr>
          <p:cNvPr id="148" name="TextBox 147"/>
          <p:cNvSpPr txBox="1"/>
          <p:nvPr/>
        </p:nvSpPr>
        <p:spPr>
          <a:xfrm>
            <a:off x="6612522" y="5486736"/>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49" name="TextBox 148"/>
          <p:cNvSpPr txBox="1"/>
          <p:nvPr/>
        </p:nvSpPr>
        <p:spPr>
          <a:xfrm>
            <a:off x="3838575" y="5654377"/>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50" name="TextBox 149"/>
          <p:cNvSpPr txBox="1"/>
          <p:nvPr/>
        </p:nvSpPr>
        <p:spPr>
          <a:xfrm>
            <a:off x="8524875" y="5842641"/>
            <a:ext cx="3133266" cy="194310"/>
          </a:xfrm>
          <a:prstGeom prst="rect">
            <a:avLst/>
          </a:prstGeom>
          <a:noFill/>
        </p:spPr>
        <p:txBody>
          <a:bodyPr wrap="none" lIns="0" rIns="0" tIns="0" bIns="0">
            <a:spAutoFit/>
          </a:bodyPr>
          <a:lstStyle/>
          <a:p>
            <a:r>
              <a:rPr sz="1150" b="1">
                <a:solidFill>
                  <a:srgbClr val="0B2E4A"/>
                </a:solidFill>
                <a:latin typeface="Calibri"/>
              </a:rPr>
              <a:t>The Surface Finish segment is projected to grow at</a:t>
            </a:r>
          </a:p>
        </p:txBody>
      </p:sp>
      <p:sp>
        <p:nvSpPr>
          <p:cNvPr id="151" name="TextBox 150"/>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52" name="Picture 151" descr="lock.png"/>
          <p:cNvPicPr>
            <a:picLocks noChangeAspect="1"/>
          </p:cNvPicPr>
          <p:nvPr/>
        </p:nvPicPr>
        <p:blipFill>
          <a:blip r:embed="rId21"/>
          <a:stretch>
            <a:fillRect/>
          </a:stretch>
        </p:blipFill>
        <p:spPr>
          <a:xfrm>
            <a:off x="9154084" y="6007677"/>
            <a:ext cx="134549" cy="195707"/>
          </a:xfrm>
          <a:prstGeom prst="rect">
            <a:avLst/>
          </a:prstGeom>
        </p:spPr>
      </p:pic>
      <p:sp>
        <p:nvSpPr>
          <p:cNvPr id="153" name="TextBox 152"/>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Surface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Surface Finish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Surface Finish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Surface Finish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809629" cy="186689"/>
          </a:xfrm>
          <a:prstGeom prst="rect">
            <a:avLst/>
          </a:prstGeom>
          <a:noFill/>
        </p:spPr>
        <p:txBody>
          <a:bodyPr wrap="none" lIns="0" rIns="0" tIns="0" bIns="0">
            <a:spAutoFit/>
          </a:bodyPr>
          <a:lstStyle/>
          <a:p>
            <a:r>
              <a:rPr sz="1100" b="0">
                <a:solidFill>
                  <a:srgbClr val="2E2E2E"/>
                </a:solidFill>
                <a:latin typeface="Calibri"/>
              </a:rPr>
              <a:t>Between 2026 and 2036, 'Nut and seed-topped' gains the most share in the North America market (+</a:t>
            </a:r>
          </a:p>
        </p:txBody>
      </p:sp>
      <p:pic>
        <p:nvPicPr>
          <p:cNvPr id="21" name="Picture 20" descr="lock.png"/>
          <p:cNvPicPr>
            <a:picLocks noChangeAspect="1"/>
          </p:cNvPicPr>
          <p:nvPr/>
        </p:nvPicPr>
        <p:blipFill>
          <a:blip r:embed="rId6"/>
          <a:stretch>
            <a:fillRect/>
          </a:stretch>
        </p:blipFill>
        <p:spPr>
          <a:xfrm>
            <a:off x="6014856" y="5851905"/>
            <a:ext cx="128699" cy="187198"/>
          </a:xfrm>
          <a:prstGeom prst="rect">
            <a:avLst/>
          </a:prstGeom>
        </p:spPr>
      </p:pic>
      <p:sp>
        <p:nvSpPr>
          <p:cNvPr id="22" name="TextBox 21"/>
          <p:cNvSpPr txBox="1"/>
          <p:nvPr/>
        </p:nvSpPr>
        <p:spPr>
          <a:xfrm>
            <a:off x="6182352" y="5861685"/>
            <a:ext cx="1893391" cy="186689"/>
          </a:xfrm>
          <a:prstGeom prst="rect">
            <a:avLst/>
          </a:prstGeom>
          <a:noFill/>
        </p:spPr>
        <p:txBody>
          <a:bodyPr wrap="none" lIns="0" rIns="0" tIns="0" bIns="0">
            <a:spAutoFit/>
          </a:bodyPr>
          <a:lstStyle/>
          <a:p>
            <a:r>
              <a:rPr sz="1100" b="0">
                <a:solidFill>
                  <a:srgbClr val="2E2E2E"/>
                </a:solidFill>
                <a:latin typeface="Calibri"/>
              </a:rPr>
              <a:t>BPS) while 'Sugar-topped' cedes</a:t>
            </a:r>
          </a:p>
        </p:txBody>
      </p:sp>
      <p:pic>
        <p:nvPicPr>
          <p:cNvPr id="23" name="Picture 22" descr="lock.png"/>
          <p:cNvPicPr>
            <a:picLocks noChangeAspect="1"/>
          </p:cNvPicPr>
          <p:nvPr/>
        </p:nvPicPr>
        <p:blipFill>
          <a:blip r:embed="rId6"/>
          <a:stretch>
            <a:fillRect/>
          </a:stretch>
        </p:blipFill>
        <p:spPr>
          <a:xfrm>
            <a:off x="8023795" y="5851905"/>
            <a:ext cx="128699" cy="187198"/>
          </a:xfrm>
          <a:prstGeom prst="rect">
            <a:avLst/>
          </a:prstGeom>
        </p:spPr>
      </p:pic>
      <p:sp>
        <p:nvSpPr>
          <p:cNvPr id="24" name="TextBox 23"/>
          <p:cNvSpPr txBox="1"/>
          <p:nvPr/>
        </p:nvSpPr>
        <p:spPr>
          <a:xfrm>
            <a:off x="8191291"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Surface Finish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Surface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Untopped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Crumb / streusel-topped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Sugar-topped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Nut and seed-topped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Surface Finish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Surface Finish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Glazed / drizzled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toppings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Surface Finish</a:t>
            </a:r>
          </a:p>
        </p:txBody>
      </p:sp>
      <p:sp>
        <p:nvSpPr>
          <p:cNvPr id="18" name="Rectangle 17"/>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6"/>
          <a:stretch>
            <a:fillRect/>
          </a:stretch>
        </p:blipFill>
        <p:spPr>
          <a:xfrm>
            <a:off x="3100230" y="2330679"/>
            <a:ext cx="252890" cy="367840"/>
          </a:xfrm>
          <a:prstGeom prst="rect">
            <a:avLst/>
          </a:prstGeom>
        </p:spPr>
      </p:pic>
      <p:pic>
        <p:nvPicPr>
          <p:cNvPr id="22" name="Picture 21" descr="lock.png"/>
          <p:cNvPicPr>
            <a:picLocks noChangeAspect="1"/>
          </p:cNvPicPr>
          <p:nvPr/>
        </p:nvPicPr>
        <p:blipFill>
          <a:blip r:embed="rId6"/>
          <a:stretch>
            <a:fillRect/>
          </a:stretch>
        </p:blipFill>
        <p:spPr>
          <a:xfrm>
            <a:off x="3100230" y="5216754"/>
            <a:ext cx="252890" cy="367840"/>
          </a:xfrm>
          <a:prstGeom prst="rect">
            <a:avLst/>
          </a:prstGeom>
        </p:spPr>
      </p:pic>
      <p:sp>
        <p:nvSpPr>
          <p:cNvPr id="23" name="TextBox 22"/>
          <p:cNvSpPr txBox="1"/>
          <p:nvPr/>
        </p:nvSpPr>
        <p:spPr>
          <a:xfrm>
            <a:off x="6305550" y="1400175"/>
            <a:ext cx="3037135" cy="194310"/>
          </a:xfrm>
          <a:prstGeom prst="rect">
            <a:avLst/>
          </a:prstGeom>
          <a:noFill/>
        </p:spPr>
        <p:txBody>
          <a:bodyPr wrap="none" lIns="0" rIns="0" tIns="0" bIns="0">
            <a:spAutoFit/>
          </a:bodyPr>
          <a:lstStyle/>
          <a:p>
            <a:r>
              <a:rPr sz="1150" b="0">
                <a:solidFill>
                  <a:srgbClr val="2E2E2E"/>
                </a:solidFill>
                <a:latin typeface="Calibri"/>
              </a:rPr>
              <a:t>▪ Across its 6 sub-segments, by surface finish adds</a:t>
            </a:r>
          </a:p>
        </p:txBody>
      </p:sp>
      <p:pic>
        <p:nvPicPr>
          <p:cNvPr id="24" name="Picture 23" descr="lock.png"/>
          <p:cNvPicPr>
            <a:picLocks noChangeAspect="1"/>
          </p:cNvPicPr>
          <p:nvPr/>
        </p:nvPicPr>
        <p:blipFill>
          <a:blip r:embed="rId6"/>
          <a:stretch>
            <a:fillRect/>
          </a:stretch>
        </p:blipFill>
        <p:spPr>
          <a:xfrm>
            <a:off x="9291839" y="1389951"/>
            <a:ext cx="134549" cy="195707"/>
          </a:xfrm>
          <a:prstGeom prst="rect">
            <a:avLst/>
          </a:prstGeom>
        </p:spPr>
      </p:pic>
      <p:sp>
        <p:nvSpPr>
          <p:cNvPr id="25" name="TextBox 24"/>
          <p:cNvSpPr txBox="1"/>
          <p:nvPr/>
        </p:nvSpPr>
        <p:spPr>
          <a:xfrm>
            <a:off x="9466948" y="1400175"/>
            <a:ext cx="2300609" cy="194310"/>
          </a:xfrm>
          <a:prstGeom prst="rect">
            <a:avLst/>
          </a:prstGeom>
          <a:noFill/>
        </p:spPr>
        <p:txBody>
          <a:bodyPr wrap="none" lIns="0" rIns="0" tIns="0" bIns="0">
            <a:spAutoFit/>
          </a:bodyPr>
          <a:lstStyle/>
          <a:p>
            <a:r>
              <a:rPr sz="1150" b="0">
                <a:solidFill>
                  <a:srgbClr val="2E2E2E"/>
                </a:solidFill>
                <a:latin typeface="Calibri"/>
              </a:rPr>
              <a:t>US$ Mn to the North America market</a:t>
            </a:r>
          </a:p>
        </p:txBody>
      </p:sp>
      <p:sp>
        <p:nvSpPr>
          <p:cNvPr id="26" name="TextBox 25"/>
          <p:cNvSpPr txBox="1"/>
          <p:nvPr/>
        </p:nvSpPr>
        <p:spPr>
          <a:xfrm>
            <a:off x="6305550" y="1575435"/>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27" name="TextBox 26"/>
          <p:cNvSpPr txBox="1"/>
          <p:nvPr/>
        </p:nvSpPr>
        <p:spPr>
          <a:xfrm>
            <a:off x="6305550" y="1803273"/>
            <a:ext cx="1801700" cy="194310"/>
          </a:xfrm>
          <a:prstGeom prst="rect">
            <a:avLst/>
          </a:prstGeom>
          <a:noFill/>
        </p:spPr>
        <p:txBody>
          <a:bodyPr wrap="none" lIns="0" rIns="0" tIns="0" bIns="0">
            <a:spAutoFit/>
          </a:bodyPr>
          <a:lstStyle/>
          <a:p>
            <a:r>
              <a:rPr sz="1150" b="0">
                <a:solidFill>
                  <a:srgbClr val="2E2E2E"/>
                </a:solidFill>
                <a:latin typeface="Calibri"/>
              </a:rPr>
              <a:t>▪ 'Nut and seed-topped' adds</a:t>
            </a:r>
          </a:p>
        </p:txBody>
      </p:sp>
      <p:pic>
        <p:nvPicPr>
          <p:cNvPr id="28" name="Picture 27" descr="lock.png"/>
          <p:cNvPicPr>
            <a:picLocks noChangeAspect="1"/>
          </p:cNvPicPr>
          <p:nvPr/>
        </p:nvPicPr>
        <p:blipFill>
          <a:blip r:embed="rId6"/>
          <a:stretch>
            <a:fillRect/>
          </a:stretch>
        </p:blipFill>
        <p:spPr>
          <a:xfrm>
            <a:off x="8056404" y="1793049"/>
            <a:ext cx="134549" cy="195707"/>
          </a:xfrm>
          <a:prstGeom prst="rect">
            <a:avLst/>
          </a:prstGeom>
        </p:spPr>
      </p:pic>
      <p:sp>
        <p:nvSpPr>
          <p:cNvPr id="29" name="TextBox 28"/>
          <p:cNvSpPr txBox="1"/>
          <p:nvPr/>
        </p:nvSpPr>
        <p:spPr>
          <a:xfrm>
            <a:off x="8231514" y="180327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0" name="Picture 29" descr="lock.png"/>
          <p:cNvPicPr>
            <a:picLocks noChangeAspect="1"/>
          </p:cNvPicPr>
          <p:nvPr/>
        </p:nvPicPr>
        <p:blipFill>
          <a:blip r:embed="rId6"/>
          <a:stretch>
            <a:fillRect/>
          </a:stretch>
        </p:blipFill>
        <p:spPr>
          <a:xfrm>
            <a:off x="8803985" y="1793049"/>
            <a:ext cx="134549" cy="195707"/>
          </a:xfrm>
          <a:prstGeom prst="rect">
            <a:avLst/>
          </a:prstGeom>
        </p:spPr>
      </p:pic>
      <p:sp>
        <p:nvSpPr>
          <p:cNvPr id="31" name="TextBox 30"/>
          <p:cNvSpPr txBox="1"/>
          <p:nvPr/>
        </p:nvSpPr>
        <p:spPr>
          <a:xfrm>
            <a:off x="8979094" y="180327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2" name="TextBox 31"/>
          <p:cNvSpPr txBox="1"/>
          <p:nvPr/>
        </p:nvSpPr>
        <p:spPr>
          <a:xfrm>
            <a:off x="6305550" y="2031111"/>
            <a:ext cx="1524148" cy="194310"/>
          </a:xfrm>
          <a:prstGeom prst="rect">
            <a:avLst/>
          </a:prstGeom>
          <a:noFill/>
        </p:spPr>
        <p:txBody>
          <a:bodyPr wrap="none" lIns="0" rIns="0" tIns="0" bIns="0">
            <a:spAutoFit/>
          </a:bodyPr>
          <a:lstStyle/>
          <a:p>
            <a:r>
              <a:rPr sz="1150" b="0">
                <a:solidFill>
                  <a:srgbClr val="2E2E2E"/>
                </a:solidFill>
                <a:latin typeface="Calibri"/>
              </a:rPr>
              <a:t>▪ 'Glazed / drizzled' adds</a:t>
            </a:r>
          </a:p>
        </p:txBody>
      </p:sp>
      <p:pic>
        <p:nvPicPr>
          <p:cNvPr id="33" name="Picture 32" descr="lock.png"/>
          <p:cNvPicPr>
            <a:picLocks noChangeAspect="1"/>
          </p:cNvPicPr>
          <p:nvPr/>
        </p:nvPicPr>
        <p:blipFill>
          <a:blip r:embed="rId6"/>
          <a:stretch>
            <a:fillRect/>
          </a:stretch>
        </p:blipFill>
        <p:spPr>
          <a:xfrm>
            <a:off x="7778852" y="2020887"/>
            <a:ext cx="134549" cy="195707"/>
          </a:xfrm>
          <a:prstGeom prst="rect">
            <a:avLst/>
          </a:prstGeom>
        </p:spPr>
      </p:pic>
      <p:sp>
        <p:nvSpPr>
          <p:cNvPr id="34" name="TextBox 33"/>
          <p:cNvSpPr txBox="1"/>
          <p:nvPr/>
        </p:nvSpPr>
        <p:spPr>
          <a:xfrm>
            <a:off x="7953962" y="2031111"/>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6"/>
          <a:stretch>
            <a:fillRect/>
          </a:stretch>
        </p:blipFill>
        <p:spPr>
          <a:xfrm>
            <a:off x="8526432" y="2020887"/>
            <a:ext cx="134549" cy="195707"/>
          </a:xfrm>
          <a:prstGeom prst="rect">
            <a:avLst/>
          </a:prstGeom>
        </p:spPr>
      </p:pic>
      <p:sp>
        <p:nvSpPr>
          <p:cNvPr id="36" name="TextBox 35"/>
          <p:cNvSpPr txBox="1"/>
          <p:nvPr/>
        </p:nvSpPr>
        <p:spPr>
          <a:xfrm>
            <a:off x="8701542" y="2031111"/>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2258949"/>
            <a:ext cx="1434008" cy="194310"/>
          </a:xfrm>
          <a:prstGeom prst="rect">
            <a:avLst/>
          </a:prstGeom>
          <a:noFill/>
        </p:spPr>
        <p:txBody>
          <a:bodyPr wrap="none" lIns="0" rIns="0" tIns="0" bIns="0">
            <a:spAutoFit/>
          </a:bodyPr>
          <a:lstStyle/>
          <a:p>
            <a:r>
              <a:rPr sz="1150" b="0">
                <a:solidFill>
                  <a:srgbClr val="2E2E2E"/>
                </a:solidFill>
                <a:latin typeface="Calibri"/>
              </a:rPr>
              <a:t>▪ 'Other toppings' adds</a:t>
            </a:r>
          </a:p>
        </p:txBody>
      </p:sp>
      <p:pic>
        <p:nvPicPr>
          <p:cNvPr id="38" name="Picture 37" descr="lock.png"/>
          <p:cNvPicPr>
            <a:picLocks noChangeAspect="1"/>
          </p:cNvPicPr>
          <p:nvPr/>
        </p:nvPicPr>
        <p:blipFill>
          <a:blip r:embed="rId6"/>
          <a:stretch>
            <a:fillRect/>
          </a:stretch>
        </p:blipFill>
        <p:spPr>
          <a:xfrm>
            <a:off x="7688712" y="2248725"/>
            <a:ext cx="134549" cy="195707"/>
          </a:xfrm>
          <a:prstGeom prst="rect">
            <a:avLst/>
          </a:prstGeom>
        </p:spPr>
      </p:pic>
      <p:sp>
        <p:nvSpPr>
          <p:cNvPr id="39" name="TextBox 38"/>
          <p:cNvSpPr txBox="1"/>
          <p:nvPr/>
        </p:nvSpPr>
        <p:spPr>
          <a:xfrm>
            <a:off x="7863821" y="2258949"/>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6"/>
          <a:stretch>
            <a:fillRect/>
          </a:stretch>
        </p:blipFill>
        <p:spPr>
          <a:xfrm>
            <a:off x="8436292" y="2248725"/>
            <a:ext cx="134549" cy="195707"/>
          </a:xfrm>
          <a:prstGeom prst="rect">
            <a:avLst/>
          </a:prstGeom>
        </p:spPr>
      </p:pic>
      <p:sp>
        <p:nvSpPr>
          <p:cNvPr id="41" name="TextBox 40"/>
          <p:cNvSpPr txBox="1"/>
          <p:nvPr/>
        </p:nvSpPr>
        <p:spPr>
          <a:xfrm>
            <a:off x="8611402" y="2258949"/>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2486787"/>
            <a:ext cx="1724682" cy="194310"/>
          </a:xfrm>
          <a:prstGeom prst="rect">
            <a:avLst/>
          </a:prstGeom>
          <a:noFill/>
        </p:spPr>
        <p:txBody>
          <a:bodyPr wrap="none" lIns="0" rIns="0" tIns="0" bIns="0">
            <a:spAutoFit/>
          </a:bodyPr>
          <a:lstStyle/>
          <a:p>
            <a:r>
              <a:rPr sz="1150" b="0">
                <a:solidFill>
                  <a:srgbClr val="2E2E2E"/>
                </a:solidFill>
                <a:latin typeface="Calibri"/>
              </a:rPr>
              <a:t>▪ 'Untopped' adds the least:</a:t>
            </a:r>
          </a:p>
        </p:txBody>
      </p:sp>
      <p:pic>
        <p:nvPicPr>
          <p:cNvPr id="43" name="Picture 42" descr="lock.png"/>
          <p:cNvPicPr>
            <a:picLocks noChangeAspect="1"/>
          </p:cNvPicPr>
          <p:nvPr/>
        </p:nvPicPr>
        <p:blipFill>
          <a:blip r:embed="rId6"/>
          <a:stretch>
            <a:fillRect/>
          </a:stretch>
        </p:blipFill>
        <p:spPr>
          <a:xfrm>
            <a:off x="7979386" y="2476563"/>
            <a:ext cx="134549" cy="195707"/>
          </a:xfrm>
          <a:prstGeom prst="rect">
            <a:avLst/>
          </a:prstGeom>
        </p:spPr>
      </p:pic>
      <p:sp>
        <p:nvSpPr>
          <p:cNvPr id="44" name="TextBox 43"/>
          <p:cNvSpPr txBox="1"/>
          <p:nvPr/>
        </p:nvSpPr>
        <p:spPr>
          <a:xfrm>
            <a:off x="8154495" y="248678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6"/>
          <a:stretch>
            <a:fillRect/>
          </a:stretch>
        </p:blipFill>
        <p:spPr>
          <a:xfrm>
            <a:off x="8726966" y="2476563"/>
            <a:ext cx="134549" cy="195707"/>
          </a:xfrm>
          <a:prstGeom prst="rect">
            <a:avLst/>
          </a:prstGeom>
        </p:spPr>
      </p:pic>
      <p:sp>
        <p:nvSpPr>
          <p:cNvPr id="46" name="TextBox 45"/>
          <p:cNvSpPr txBox="1"/>
          <p:nvPr/>
        </p:nvSpPr>
        <p:spPr>
          <a:xfrm>
            <a:off x="8902075" y="2486787"/>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7"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5"/>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Surface Finish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Surface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Surface Finish (MT)</a:t>
            </a:r>
          </a:p>
        </p:txBody>
      </p:sp>
      <p:graphicFrame>
        <p:nvGraphicFramePr>
          <p:cNvPr id="13" name="Table 12"/>
          <p:cNvGraphicFramePr>
            <a:graphicFrameLocks noGrp="1"/>
          </p:cNvGraphicFramePr>
          <p:nvPr/>
        </p:nvGraphicFramePr>
        <p:xfrm>
          <a:off x="152400" y="1238250"/>
          <a:ext cx="11887197" cy="1971675"/>
        </p:xfrm>
        <a:graphic>
          <a:graphicData uri="http://schemas.openxmlformats.org/drawingml/2006/table">
            <a:tbl>
              <a:tblPr>
                <a:tableStyleId>{5C22544A-7EE6-4342-B048-85BDC9FD1C3A}</a:tableStyleId>
              </a:tblPr>
              <a:tblGrid>
                <a:gridCol w="1567002"/>
                <a:gridCol w="549861"/>
                <a:gridCol w="549861"/>
                <a:gridCol w="549861"/>
                <a:gridCol w="549861"/>
                <a:gridCol w="549861"/>
                <a:gridCol w="549861"/>
                <a:gridCol w="549861"/>
                <a:gridCol w="661227"/>
                <a:gridCol w="661227"/>
                <a:gridCol w="661227"/>
                <a:gridCol w="661227"/>
                <a:gridCol w="661227"/>
                <a:gridCol w="661227"/>
                <a:gridCol w="661227"/>
                <a:gridCol w="661227"/>
                <a:gridCol w="661227"/>
                <a:gridCol w="520125"/>
              </a:tblGrid>
              <a:tr h="246126">
                <a:tc>
                  <a:txBody>
                    <a:bodyPr wrap="none"/>
                    <a:lstStyle/>
                    <a:p>
                      <a:pPr algn="l"/>
                      <a:r>
                        <a:rPr sz="1100" b="1">
                          <a:solidFill>
                            <a:srgbClr val="0B2E4A"/>
                          </a:solidFill>
                          <a:latin typeface="Calibri"/>
                        </a:rPr>
                        <a:t>Surface Finish</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6507">
                <a:tc>
                  <a:txBody>
                    <a:bodyPr wrap="none"/>
                    <a:lstStyle/>
                    <a:p>
                      <a:pPr algn="l"/>
                      <a:r>
                        <a:rPr sz="1100" b="1">
                          <a:solidFill>
                            <a:srgbClr val="2E2E2E"/>
                          </a:solidFill>
                          <a:latin typeface="Calibri"/>
                        </a:rPr>
                        <a:t>Untopped</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Crumb / streusel-topped</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Sugar-topped</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Nut and seed-topped</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Glazed / drizzled</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507">
                <a:tc>
                  <a:txBody>
                    <a:bodyPr wrap="none"/>
                    <a:lstStyle/>
                    <a:p>
                      <a:pPr algn="l"/>
                      <a:r>
                        <a:rPr sz="1100" b="1">
                          <a:solidFill>
                            <a:srgbClr val="2E2E2E"/>
                          </a:solidFill>
                          <a:latin typeface="Calibri"/>
                        </a:rPr>
                        <a:t>Other toppings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Surface Finish</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2809" y="2080450"/>
            <a:ext cx="366712" cy="533400"/>
          </a:xfrm>
          <a:prstGeom prst="rect">
            <a:avLst/>
          </a:prstGeom>
        </p:spPr>
      </p:pic>
      <p:sp>
        <p:nvSpPr>
          <p:cNvPr id="21" name="TextBox 20"/>
          <p:cNvSpPr txBox="1"/>
          <p:nvPr/>
        </p:nvSpPr>
        <p:spPr>
          <a:xfrm>
            <a:off x="276225" y="3971925"/>
            <a:ext cx="2975805" cy="194310"/>
          </a:xfrm>
          <a:prstGeom prst="rect">
            <a:avLst/>
          </a:prstGeom>
          <a:noFill/>
        </p:spPr>
        <p:txBody>
          <a:bodyPr wrap="none" lIns="0" rIns="0" tIns="0" bIns="0">
            <a:spAutoFit/>
          </a:bodyPr>
          <a:lstStyle/>
          <a:p>
            <a:r>
              <a:rPr sz="1150" b="0">
                <a:solidFill>
                  <a:srgbClr val="2E2E2E"/>
                </a:solidFill>
                <a:latin typeface="Calibri"/>
              </a:rPr>
              <a:t>▪ 'Glazed / drizzled' is the largest surface finish at</a:t>
            </a:r>
          </a:p>
        </p:txBody>
      </p:sp>
      <p:pic>
        <p:nvPicPr>
          <p:cNvPr id="22" name="Picture 21" descr="lock.png"/>
          <p:cNvPicPr>
            <a:picLocks noChangeAspect="1"/>
          </p:cNvPicPr>
          <p:nvPr/>
        </p:nvPicPr>
        <p:blipFill>
          <a:blip r:embed="rId4"/>
          <a:stretch>
            <a:fillRect/>
          </a:stretch>
        </p:blipFill>
        <p:spPr>
          <a:xfrm>
            <a:off x="3201184" y="3961701"/>
            <a:ext cx="134549" cy="195707"/>
          </a:xfrm>
          <a:prstGeom prst="rect">
            <a:avLst/>
          </a:prstGeom>
        </p:spPr>
      </p:pic>
      <p:sp>
        <p:nvSpPr>
          <p:cNvPr id="23" name="TextBox 22"/>
          <p:cNvSpPr txBox="1"/>
          <p:nvPr/>
        </p:nvSpPr>
        <p:spPr>
          <a:xfrm>
            <a:off x="3376294" y="397192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06027" y="3961701"/>
            <a:ext cx="134549" cy="195707"/>
          </a:xfrm>
          <a:prstGeom prst="rect">
            <a:avLst/>
          </a:prstGeom>
        </p:spPr>
      </p:pic>
      <p:sp>
        <p:nvSpPr>
          <p:cNvPr id="25" name="TextBox 24"/>
          <p:cNvSpPr txBox="1"/>
          <p:nvPr/>
        </p:nvSpPr>
        <p:spPr>
          <a:xfrm>
            <a:off x="4581136" y="397192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199763"/>
            <a:ext cx="2312020" cy="194310"/>
          </a:xfrm>
          <a:prstGeom prst="rect">
            <a:avLst/>
          </a:prstGeom>
          <a:noFill/>
        </p:spPr>
        <p:txBody>
          <a:bodyPr wrap="none" lIns="0" rIns="0" tIns="0" bIns="0">
            <a:spAutoFit/>
          </a:bodyPr>
          <a:lstStyle/>
          <a:p>
            <a:r>
              <a:rPr sz="1150" b="0">
                <a:solidFill>
                  <a:srgbClr val="2E2E2E"/>
                </a:solidFill>
                <a:latin typeface="Calibri"/>
              </a:rPr>
              <a:t>▪ 'Nut and seed-topped' grows fastest</a:t>
            </a:r>
          </a:p>
        </p:txBody>
      </p:sp>
      <p:pic>
        <p:nvPicPr>
          <p:cNvPr id="27" name="Picture 26" descr="lock.png"/>
          <p:cNvPicPr>
            <a:picLocks noChangeAspect="1"/>
          </p:cNvPicPr>
          <p:nvPr/>
        </p:nvPicPr>
        <p:blipFill>
          <a:blip r:embed="rId4"/>
          <a:stretch>
            <a:fillRect/>
          </a:stretch>
        </p:blipFill>
        <p:spPr>
          <a:xfrm>
            <a:off x="2537399" y="4189539"/>
            <a:ext cx="134549" cy="195707"/>
          </a:xfrm>
          <a:prstGeom prst="rect">
            <a:avLst/>
          </a:prstGeom>
        </p:spPr>
      </p:pic>
      <p:sp>
        <p:nvSpPr>
          <p:cNvPr id="28" name="TextBox 27"/>
          <p:cNvSpPr txBox="1"/>
          <p:nvPr/>
        </p:nvSpPr>
        <p:spPr>
          <a:xfrm>
            <a:off x="2712508" y="41997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27600"/>
            <a:ext cx="2821198" cy="194310"/>
          </a:xfrm>
          <a:prstGeom prst="rect">
            <a:avLst/>
          </a:prstGeom>
          <a:noFill/>
        </p:spPr>
        <p:txBody>
          <a:bodyPr wrap="none" lIns="0" rIns="0" tIns="0" bIns="0">
            <a:spAutoFit/>
          </a:bodyPr>
          <a:lstStyle/>
          <a:p>
            <a:r>
              <a:rPr sz="1150" b="0">
                <a:solidFill>
                  <a:srgbClr val="2E2E2E"/>
                </a:solidFill>
                <a:latin typeface="Calibri"/>
              </a:rPr>
              <a:t>▪ Share shifts toward 'Nut and seed-topped' (+</a:t>
            </a:r>
          </a:p>
        </p:txBody>
      </p:sp>
      <p:pic>
        <p:nvPicPr>
          <p:cNvPr id="30" name="Picture 29" descr="lock.png"/>
          <p:cNvPicPr>
            <a:picLocks noChangeAspect="1"/>
          </p:cNvPicPr>
          <p:nvPr/>
        </p:nvPicPr>
        <p:blipFill>
          <a:blip r:embed="rId4"/>
          <a:stretch>
            <a:fillRect/>
          </a:stretch>
        </p:blipFill>
        <p:spPr>
          <a:xfrm>
            <a:off x="3046577" y="4417377"/>
            <a:ext cx="134549" cy="195707"/>
          </a:xfrm>
          <a:prstGeom prst="rect">
            <a:avLst/>
          </a:prstGeom>
        </p:spPr>
      </p:pic>
      <p:sp>
        <p:nvSpPr>
          <p:cNvPr id="31" name="TextBox 30"/>
          <p:cNvSpPr txBox="1"/>
          <p:nvPr/>
        </p:nvSpPr>
        <p:spPr>
          <a:xfrm>
            <a:off x="3221686" y="4427600"/>
            <a:ext cx="2291767" cy="194310"/>
          </a:xfrm>
          <a:prstGeom prst="rect">
            <a:avLst/>
          </a:prstGeom>
          <a:noFill/>
        </p:spPr>
        <p:txBody>
          <a:bodyPr wrap="none" lIns="0" rIns="0" tIns="0" bIns="0">
            <a:spAutoFit/>
          </a:bodyPr>
          <a:lstStyle/>
          <a:p>
            <a:r>
              <a:rPr sz="1150" b="0">
                <a:solidFill>
                  <a:srgbClr val="2E2E2E"/>
                </a:solidFill>
                <a:latin typeface="Calibri"/>
              </a:rPr>
              <a:t>BPS) and away from 'Sugar-topped' (-</a:t>
            </a:r>
          </a:p>
        </p:txBody>
      </p:sp>
      <p:pic>
        <p:nvPicPr>
          <p:cNvPr id="32" name="Picture 31" descr="lock.png"/>
          <p:cNvPicPr>
            <a:picLocks noChangeAspect="1"/>
          </p:cNvPicPr>
          <p:nvPr/>
        </p:nvPicPr>
        <p:blipFill>
          <a:blip r:embed="rId4"/>
          <a:stretch>
            <a:fillRect/>
          </a:stretch>
        </p:blipFill>
        <p:spPr>
          <a:xfrm>
            <a:off x="5462607" y="4417377"/>
            <a:ext cx="134549" cy="195707"/>
          </a:xfrm>
          <a:prstGeom prst="rect">
            <a:avLst/>
          </a:prstGeom>
        </p:spPr>
      </p:pic>
      <p:sp>
        <p:nvSpPr>
          <p:cNvPr id="33" name="TextBox 32"/>
          <p:cNvSpPr txBox="1"/>
          <p:nvPr/>
        </p:nvSpPr>
        <p:spPr>
          <a:xfrm>
            <a:off x="5637716" y="44276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5543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645215"/>
            <a:ext cx="134549" cy="195707"/>
          </a:xfrm>
          <a:prstGeom prst="rect">
            <a:avLst/>
          </a:prstGeom>
        </p:spPr>
      </p:pic>
      <p:sp>
        <p:nvSpPr>
          <p:cNvPr id="36" name="TextBox 35"/>
          <p:cNvSpPr txBox="1"/>
          <p:nvPr/>
        </p:nvSpPr>
        <p:spPr>
          <a:xfrm>
            <a:off x="1965143" y="46554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645215"/>
            <a:ext cx="134549" cy="195707"/>
          </a:xfrm>
          <a:prstGeom prst="rect">
            <a:avLst/>
          </a:prstGeom>
        </p:spPr>
      </p:pic>
      <p:sp>
        <p:nvSpPr>
          <p:cNvPr id="38" name="TextBox 37"/>
          <p:cNvSpPr txBox="1"/>
          <p:nvPr/>
        </p:nvSpPr>
        <p:spPr>
          <a:xfrm>
            <a:off x="2291688" y="4655438"/>
            <a:ext cx="1470521" cy="194310"/>
          </a:xfrm>
          <a:prstGeom prst="rect">
            <a:avLst/>
          </a:prstGeom>
          <a:noFill/>
        </p:spPr>
        <p:txBody>
          <a:bodyPr wrap="none" lIns="0" rIns="0" tIns="0" bIns="0">
            <a:spAutoFit/>
          </a:bodyPr>
          <a:lstStyle/>
          <a:p>
            <a:r>
              <a:rPr sz="1150" b="0">
                <a:solidFill>
                  <a:srgbClr val="2E2E2E"/>
                </a:solidFill>
                <a:latin typeface="Calibri"/>
              </a:rPr>
              <a:t>MT across 6 categories.</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Surface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Surface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Surface Finish (US$ Mn)</a:t>
            </a:r>
          </a:p>
        </p:txBody>
      </p:sp>
      <p:graphicFrame>
        <p:nvGraphicFramePr>
          <p:cNvPr id="13" name="Table 12"/>
          <p:cNvGraphicFramePr>
            <a:graphicFrameLocks noGrp="1"/>
          </p:cNvGraphicFramePr>
          <p:nvPr/>
        </p:nvGraphicFramePr>
        <p:xfrm>
          <a:off x="152400" y="1238250"/>
          <a:ext cx="11887204" cy="1971675"/>
        </p:xfrm>
        <a:graphic>
          <a:graphicData uri="http://schemas.openxmlformats.org/drawingml/2006/table">
            <a:tbl>
              <a:tblPr>
                <a:tableStyleId>{5C22544A-7EE6-4342-B048-85BDC9FD1C3A}</a:tableStyleId>
              </a:tblPr>
              <a:tblGrid>
                <a:gridCol w="1719130"/>
                <a:gridCol w="598122"/>
                <a:gridCol w="598122"/>
                <a:gridCol w="598122"/>
                <a:gridCol w="598122"/>
                <a:gridCol w="598122"/>
                <a:gridCol w="598122"/>
                <a:gridCol w="598122"/>
                <a:gridCol w="598122"/>
                <a:gridCol w="598122"/>
                <a:gridCol w="598122"/>
                <a:gridCol w="598122"/>
                <a:gridCol w="598122"/>
                <a:gridCol w="598122"/>
                <a:gridCol w="598122"/>
                <a:gridCol w="598122"/>
                <a:gridCol w="598122"/>
                <a:gridCol w="598122"/>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Surface Finish</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68877" y="2080450"/>
            <a:ext cx="366712" cy="533400"/>
          </a:xfrm>
          <a:prstGeom prst="rect">
            <a:avLst/>
          </a:prstGeom>
        </p:spPr>
      </p:pic>
      <p:sp>
        <p:nvSpPr>
          <p:cNvPr id="21" name="TextBox 20"/>
          <p:cNvSpPr txBox="1"/>
          <p:nvPr/>
        </p:nvSpPr>
        <p:spPr>
          <a:xfrm>
            <a:off x="276225" y="3971925"/>
            <a:ext cx="3253358" cy="194310"/>
          </a:xfrm>
          <a:prstGeom prst="rect">
            <a:avLst/>
          </a:prstGeom>
          <a:noFill/>
        </p:spPr>
        <p:txBody>
          <a:bodyPr wrap="none" lIns="0" rIns="0" tIns="0" bIns="0">
            <a:spAutoFit/>
          </a:bodyPr>
          <a:lstStyle/>
          <a:p>
            <a:r>
              <a:rPr sz="1150" b="0">
                <a:solidFill>
                  <a:srgbClr val="2E2E2E"/>
                </a:solidFill>
                <a:latin typeface="Calibri"/>
              </a:rPr>
              <a:t>▪ 'Nut and seed-topped' is the largest surface finish at</a:t>
            </a:r>
          </a:p>
        </p:txBody>
      </p:sp>
      <p:pic>
        <p:nvPicPr>
          <p:cNvPr id="22" name="Picture 21" descr="lock.png"/>
          <p:cNvPicPr>
            <a:picLocks noChangeAspect="1"/>
          </p:cNvPicPr>
          <p:nvPr/>
        </p:nvPicPr>
        <p:blipFill>
          <a:blip r:embed="rId4"/>
          <a:stretch>
            <a:fillRect/>
          </a:stretch>
        </p:blipFill>
        <p:spPr>
          <a:xfrm>
            <a:off x="3478736" y="3961701"/>
            <a:ext cx="134549" cy="195707"/>
          </a:xfrm>
          <a:prstGeom prst="rect">
            <a:avLst/>
          </a:prstGeom>
        </p:spPr>
      </p:pic>
      <p:sp>
        <p:nvSpPr>
          <p:cNvPr id="23" name="TextBox 22"/>
          <p:cNvSpPr txBox="1"/>
          <p:nvPr/>
        </p:nvSpPr>
        <p:spPr>
          <a:xfrm>
            <a:off x="3653846" y="39719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559778" y="3961701"/>
            <a:ext cx="134549" cy="195707"/>
          </a:xfrm>
          <a:prstGeom prst="rect">
            <a:avLst/>
          </a:prstGeom>
        </p:spPr>
      </p:pic>
      <p:sp>
        <p:nvSpPr>
          <p:cNvPr id="25" name="TextBox 24"/>
          <p:cNvSpPr txBox="1"/>
          <p:nvPr/>
        </p:nvSpPr>
        <p:spPr>
          <a:xfrm>
            <a:off x="4734888" y="39719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199763"/>
            <a:ext cx="2312020" cy="194310"/>
          </a:xfrm>
          <a:prstGeom prst="rect">
            <a:avLst/>
          </a:prstGeom>
          <a:noFill/>
        </p:spPr>
        <p:txBody>
          <a:bodyPr wrap="none" lIns="0" rIns="0" tIns="0" bIns="0">
            <a:spAutoFit/>
          </a:bodyPr>
          <a:lstStyle/>
          <a:p>
            <a:r>
              <a:rPr sz="1150" b="0">
                <a:solidFill>
                  <a:srgbClr val="2E2E2E"/>
                </a:solidFill>
                <a:latin typeface="Calibri"/>
              </a:rPr>
              <a:t>▪ 'Nut and seed-topped' grows fastest</a:t>
            </a:r>
          </a:p>
        </p:txBody>
      </p:sp>
      <p:pic>
        <p:nvPicPr>
          <p:cNvPr id="27" name="Picture 26" descr="lock.png"/>
          <p:cNvPicPr>
            <a:picLocks noChangeAspect="1"/>
          </p:cNvPicPr>
          <p:nvPr/>
        </p:nvPicPr>
        <p:blipFill>
          <a:blip r:embed="rId4"/>
          <a:stretch>
            <a:fillRect/>
          </a:stretch>
        </p:blipFill>
        <p:spPr>
          <a:xfrm>
            <a:off x="2537399" y="4189539"/>
            <a:ext cx="134549" cy="195707"/>
          </a:xfrm>
          <a:prstGeom prst="rect">
            <a:avLst/>
          </a:prstGeom>
        </p:spPr>
      </p:pic>
      <p:sp>
        <p:nvSpPr>
          <p:cNvPr id="28" name="TextBox 27"/>
          <p:cNvSpPr txBox="1"/>
          <p:nvPr/>
        </p:nvSpPr>
        <p:spPr>
          <a:xfrm>
            <a:off x="2712508" y="41997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27600"/>
            <a:ext cx="2821198" cy="194310"/>
          </a:xfrm>
          <a:prstGeom prst="rect">
            <a:avLst/>
          </a:prstGeom>
          <a:noFill/>
        </p:spPr>
        <p:txBody>
          <a:bodyPr wrap="none" lIns="0" rIns="0" tIns="0" bIns="0">
            <a:spAutoFit/>
          </a:bodyPr>
          <a:lstStyle/>
          <a:p>
            <a:r>
              <a:rPr sz="1150" b="0">
                <a:solidFill>
                  <a:srgbClr val="2E2E2E"/>
                </a:solidFill>
                <a:latin typeface="Calibri"/>
              </a:rPr>
              <a:t>▪ Share shifts toward 'Nut and seed-topped' (+</a:t>
            </a:r>
          </a:p>
        </p:txBody>
      </p:sp>
      <p:pic>
        <p:nvPicPr>
          <p:cNvPr id="30" name="Picture 29" descr="lock.png"/>
          <p:cNvPicPr>
            <a:picLocks noChangeAspect="1"/>
          </p:cNvPicPr>
          <p:nvPr/>
        </p:nvPicPr>
        <p:blipFill>
          <a:blip r:embed="rId4"/>
          <a:stretch>
            <a:fillRect/>
          </a:stretch>
        </p:blipFill>
        <p:spPr>
          <a:xfrm>
            <a:off x="3046577" y="4417377"/>
            <a:ext cx="134549" cy="195707"/>
          </a:xfrm>
          <a:prstGeom prst="rect">
            <a:avLst/>
          </a:prstGeom>
        </p:spPr>
      </p:pic>
      <p:sp>
        <p:nvSpPr>
          <p:cNvPr id="31" name="TextBox 30"/>
          <p:cNvSpPr txBox="1"/>
          <p:nvPr/>
        </p:nvSpPr>
        <p:spPr>
          <a:xfrm>
            <a:off x="3221686" y="4427600"/>
            <a:ext cx="2291767" cy="194310"/>
          </a:xfrm>
          <a:prstGeom prst="rect">
            <a:avLst/>
          </a:prstGeom>
          <a:noFill/>
        </p:spPr>
        <p:txBody>
          <a:bodyPr wrap="none" lIns="0" rIns="0" tIns="0" bIns="0">
            <a:spAutoFit/>
          </a:bodyPr>
          <a:lstStyle/>
          <a:p>
            <a:r>
              <a:rPr sz="1150" b="0">
                <a:solidFill>
                  <a:srgbClr val="2E2E2E"/>
                </a:solidFill>
                <a:latin typeface="Calibri"/>
              </a:rPr>
              <a:t>BPS) and away from 'Sugar-topped' (-</a:t>
            </a:r>
          </a:p>
        </p:txBody>
      </p:sp>
      <p:pic>
        <p:nvPicPr>
          <p:cNvPr id="32" name="Picture 31" descr="lock.png"/>
          <p:cNvPicPr>
            <a:picLocks noChangeAspect="1"/>
          </p:cNvPicPr>
          <p:nvPr/>
        </p:nvPicPr>
        <p:blipFill>
          <a:blip r:embed="rId4"/>
          <a:stretch>
            <a:fillRect/>
          </a:stretch>
        </p:blipFill>
        <p:spPr>
          <a:xfrm>
            <a:off x="5462607" y="4417377"/>
            <a:ext cx="134549" cy="195707"/>
          </a:xfrm>
          <a:prstGeom prst="rect">
            <a:avLst/>
          </a:prstGeom>
        </p:spPr>
      </p:pic>
      <p:sp>
        <p:nvSpPr>
          <p:cNvPr id="33" name="TextBox 32"/>
          <p:cNvSpPr txBox="1"/>
          <p:nvPr/>
        </p:nvSpPr>
        <p:spPr>
          <a:xfrm>
            <a:off x="5637716" y="44276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554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645215"/>
            <a:ext cx="134549" cy="195707"/>
          </a:xfrm>
          <a:prstGeom prst="rect">
            <a:avLst/>
          </a:prstGeom>
        </p:spPr>
      </p:pic>
      <p:sp>
        <p:nvSpPr>
          <p:cNvPr id="36" name="TextBox 35"/>
          <p:cNvSpPr txBox="1"/>
          <p:nvPr/>
        </p:nvSpPr>
        <p:spPr>
          <a:xfrm>
            <a:off x="1841342" y="46554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645215"/>
            <a:ext cx="134549" cy="195707"/>
          </a:xfrm>
          <a:prstGeom prst="rect">
            <a:avLst/>
          </a:prstGeom>
        </p:spPr>
      </p:pic>
      <p:sp>
        <p:nvSpPr>
          <p:cNvPr id="38" name="TextBox 37"/>
          <p:cNvSpPr txBox="1"/>
          <p:nvPr/>
        </p:nvSpPr>
        <p:spPr>
          <a:xfrm>
            <a:off x="2167888" y="4655438"/>
            <a:ext cx="1744079" cy="194310"/>
          </a:xfrm>
          <a:prstGeom prst="rect">
            <a:avLst/>
          </a:prstGeom>
          <a:noFill/>
        </p:spPr>
        <p:txBody>
          <a:bodyPr wrap="none" lIns="0" rIns="0" tIns="0" bIns="0">
            <a:spAutoFit/>
          </a:bodyPr>
          <a:lstStyle/>
          <a:p>
            <a:r>
              <a:rPr sz="1150" b="0">
                <a:solidFill>
                  <a:srgbClr val="2E2E2E"/>
                </a:solidFill>
                <a:latin typeface="Calibri"/>
              </a:rPr>
              <a:t>US$ Mn across 6 categories.</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Surface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Surface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Surface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9794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931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169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Crumb / streusel-topped</a:t>
            </a:r>
          </a:p>
        </p:txBody>
      </p:sp>
      <p:sp>
        <p:nvSpPr>
          <p:cNvPr id="19" name="BPS Value 1"/>
          <p:cNvSpPr txBox="1"/>
          <p:nvPr/>
        </p:nvSpPr>
        <p:spPr>
          <a:xfrm>
            <a:off x="6896100" y="177889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08449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797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035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Untopped</a:t>
            </a:r>
          </a:p>
        </p:txBody>
      </p:sp>
      <p:sp>
        <p:nvSpPr>
          <p:cNvPr id="23" name="BPS Value 2"/>
          <p:cNvSpPr txBox="1"/>
          <p:nvPr/>
        </p:nvSpPr>
        <p:spPr>
          <a:xfrm>
            <a:off x="6896100" y="20654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4476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4428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666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Sugar-topped</a:t>
            </a:r>
          </a:p>
        </p:txBody>
      </p:sp>
      <p:sp>
        <p:nvSpPr>
          <p:cNvPr id="27" name="BPS Value 3"/>
          <p:cNvSpPr txBox="1"/>
          <p:nvPr/>
        </p:nvSpPr>
        <p:spPr>
          <a:xfrm>
            <a:off x="6896100" y="242858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287063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6587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896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toppings</a:t>
            </a:r>
          </a:p>
        </p:txBody>
      </p:sp>
      <p:sp>
        <p:nvSpPr>
          <p:cNvPr id="31" name="BPS Value 4"/>
          <p:cNvSpPr txBox="1"/>
          <p:nvPr/>
        </p:nvSpPr>
        <p:spPr>
          <a:xfrm>
            <a:off x="6896100" y="285158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382489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8201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7439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Glazed / drizzled</a:t>
            </a:r>
          </a:p>
        </p:txBody>
      </p:sp>
      <p:sp>
        <p:nvSpPr>
          <p:cNvPr id="35" name="BPS Value 5"/>
          <p:cNvSpPr txBox="1"/>
          <p:nvPr/>
        </p:nvSpPr>
        <p:spPr>
          <a:xfrm>
            <a:off x="6896100" y="380584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928997" y="540153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3967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3205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Nut and seed-topped</a:t>
            </a:r>
          </a:p>
        </p:txBody>
      </p:sp>
      <p:sp>
        <p:nvSpPr>
          <p:cNvPr id="39" name="BPS Value 6"/>
          <p:cNvSpPr txBox="1"/>
          <p:nvPr/>
        </p:nvSpPr>
        <p:spPr>
          <a:xfrm>
            <a:off x="6896100" y="538248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Surface Finish</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5" name="Picture 44" descr="lock.png"/>
          <p:cNvPicPr>
            <a:picLocks noChangeAspect="1"/>
          </p:cNvPicPr>
          <p:nvPr/>
        </p:nvPicPr>
        <p:blipFill>
          <a:blip r:embed="rId5"/>
          <a:stretch>
            <a:fillRect/>
          </a:stretch>
        </p:blipFill>
        <p:spPr>
          <a:xfrm>
            <a:off x="2557843" y="3833622"/>
            <a:ext cx="275034" cy="400050"/>
          </a:xfrm>
          <a:prstGeom prst="rect">
            <a:avLst/>
          </a:prstGeom>
        </p:spPr>
      </p:pic>
      <p:sp>
        <p:nvSpPr>
          <p:cNvPr id="46" name="TextBox 45"/>
          <p:cNvSpPr txBox="1"/>
          <p:nvPr/>
        </p:nvSpPr>
        <p:spPr>
          <a:xfrm>
            <a:off x="7829550" y="1400175"/>
            <a:ext cx="2858281" cy="194310"/>
          </a:xfrm>
          <a:prstGeom prst="rect">
            <a:avLst/>
          </a:prstGeom>
          <a:noFill/>
        </p:spPr>
        <p:txBody>
          <a:bodyPr wrap="none" lIns="0" rIns="0" tIns="0" bIns="0">
            <a:spAutoFit/>
          </a:bodyPr>
          <a:lstStyle/>
          <a:p>
            <a:r>
              <a:rPr sz="1150" b="0">
                <a:solidFill>
                  <a:srgbClr val="2E2E2E"/>
                </a:solidFill>
                <a:latin typeface="Calibri"/>
              </a:rPr>
              <a:t>▪ 'Nut and seed-topped' gains the most share +</a:t>
            </a:r>
          </a:p>
        </p:txBody>
      </p:sp>
      <p:pic>
        <p:nvPicPr>
          <p:cNvPr id="47" name="Picture 46" descr="lock.png"/>
          <p:cNvPicPr>
            <a:picLocks noChangeAspect="1"/>
          </p:cNvPicPr>
          <p:nvPr/>
        </p:nvPicPr>
        <p:blipFill>
          <a:blip r:embed="rId5"/>
          <a:stretch>
            <a:fillRect/>
          </a:stretch>
        </p:blipFill>
        <p:spPr>
          <a:xfrm>
            <a:off x="10636985" y="1389951"/>
            <a:ext cx="134549" cy="195707"/>
          </a:xfrm>
          <a:prstGeom prst="rect">
            <a:avLst/>
          </a:prstGeom>
        </p:spPr>
      </p:pic>
      <p:sp>
        <p:nvSpPr>
          <p:cNvPr id="48" name="TextBox 47"/>
          <p:cNvSpPr txBox="1"/>
          <p:nvPr/>
        </p:nvSpPr>
        <p:spPr>
          <a:xfrm>
            <a:off x="10812094"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49" name="TextBox 48"/>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50" name="TextBox 49"/>
          <p:cNvSpPr txBox="1"/>
          <p:nvPr/>
        </p:nvSpPr>
        <p:spPr>
          <a:xfrm>
            <a:off x="7829550" y="1803273"/>
            <a:ext cx="2049301" cy="194310"/>
          </a:xfrm>
          <a:prstGeom prst="rect">
            <a:avLst/>
          </a:prstGeom>
          <a:noFill/>
        </p:spPr>
        <p:txBody>
          <a:bodyPr wrap="none" lIns="0" rIns="0" tIns="0" bIns="0">
            <a:spAutoFit/>
          </a:bodyPr>
          <a:lstStyle/>
          <a:p>
            <a:r>
              <a:rPr sz="1150" b="0">
                <a:solidFill>
                  <a:srgbClr val="2E2E2E"/>
                </a:solidFill>
                <a:latin typeface="Calibri"/>
              </a:rPr>
              <a:t>▪ 'Sugar-topped' cedes the most -</a:t>
            </a:r>
          </a:p>
        </p:txBody>
      </p:sp>
      <p:pic>
        <p:nvPicPr>
          <p:cNvPr id="51" name="Picture 50" descr="lock.png"/>
          <p:cNvPicPr>
            <a:picLocks noChangeAspect="1"/>
          </p:cNvPicPr>
          <p:nvPr/>
        </p:nvPicPr>
        <p:blipFill>
          <a:blip r:embed="rId5"/>
          <a:stretch>
            <a:fillRect/>
          </a:stretch>
        </p:blipFill>
        <p:spPr>
          <a:xfrm>
            <a:off x="9828005" y="1793049"/>
            <a:ext cx="134549" cy="195707"/>
          </a:xfrm>
          <a:prstGeom prst="rect">
            <a:avLst/>
          </a:prstGeom>
        </p:spPr>
      </p:pic>
      <p:sp>
        <p:nvSpPr>
          <p:cNvPr id="52" name="TextBox 51"/>
          <p:cNvSpPr txBox="1"/>
          <p:nvPr/>
        </p:nvSpPr>
        <p:spPr>
          <a:xfrm>
            <a:off x="10003114"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53" name="TextBox 52"/>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54" name="TextBox 53"/>
          <p:cNvSpPr txBox="1"/>
          <p:nvPr/>
        </p:nvSpPr>
        <p:spPr>
          <a:xfrm>
            <a:off x="7829550" y="2206371"/>
            <a:ext cx="3775657" cy="194310"/>
          </a:xfrm>
          <a:prstGeom prst="rect">
            <a:avLst/>
          </a:prstGeom>
          <a:noFill/>
        </p:spPr>
        <p:txBody>
          <a:bodyPr wrap="none" lIns="0" rIns="0" tIns="0" bIns="0">
            <a:spAutoFit/>
          </a:bodyPr>
          <a:lstStyle/>
          <a:p>
            <a:r>
              <a:rPr sz="1150" b="0">
                <a:solidFill>
                  <a:srgbClr val="2E2E2E"/>
                </a:solidFill>
                <a:latin typeface="Calibri"/>
              </a:rPr>
              <a:t>▪ 'Nut and seed-topped' is the fastest-growing surface finish at</a:t>
            </a:r>
          </a:p>
        </p:txBody>
      </p:sp>
      <p:pic>
        <p:nvPicPr>
          <p:cNvPr id="55" name="Picture 54" descr="lock.png"/>
          <p:cNvPicPr>
            <a:picLocks noChangeAspect="1"/>
          </p:cNvPicPr>
          <p:nvPr/>
        </p:nvPicPr>
        <p:blipFill>
          <a:blip r:embed="rId5"/>
          <a:stretch>
            <a:fillRect/>
          </a:stretch>
        </p:blipFill>
        <p:spPr>
          <a:xfrm>
            <a:off x="11554361" y="2196147"/>
            <a:ext cx="134549" cy="195707"/>
          </a:xfrm>
          <a:prstGeom prst="rect">
            <a:avLst/>
          </a:prstGeom>
        </p:spPr>
      </p:pic>
      <p:sp>
        <p:nvSpPr>
          <p:cNvPr id="56" name="TextBox 55"/>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7" name="TextBox 56"/>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8" name="Picture 57" descr="lock.png"/>
          <p:cNvPicPr>
            <a:picLocks noChangeAspect="1"/>
          </p:cNvPicPr>
          <p:nvPr/>
        </p:nvPicPr>
        <p:blipFill>
          <a:blip r:embed="rId5"/>
          <a:stretch>
            <a:fillRect/>
          </a:stretch>
        </p:blipFill>
        <p:spPr>
          <a:xfrm>
            <a:off x="9327669" y="2599245"/>
            <a:ext cx="134549" cy="195707"/>
          </a:xfrm>
          <a:prstGeom prst="rect">
            <a:avLst/>
          </a:prstGeom>
        </p:spPr>
      </p:pic>
      <p:sp>
        <p:nvSpPr>
          <p:cNvPr id="59" name="TextBox 58"/>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0" name="Picture 59" descr="lock.png"/>
          <p:cNvPicPr>
            <a:picLocks noChangeAspect="1"/>
          </p:cNvPicPr>
          <p:nvPr/>
        </p:nvPicPr>
        <p:blipFill>
          <a:blip r:embed="rId5"/>
          <a:stretch>
            <a:fillRect/>
          </a:stretch>
        </p:blipFill>
        <p:spPr>
          <a:xfrm>
            <a:off x="9654215" y="2599245"/>
            <a:ext cx="134549" cy="195707"/>
          </a:xfrm>
          <a:prstGeom prst="rect">
            <a:avLst/>
          </a:prstGeom>
        </p:spPr>
      </p:pic>
      <p:sp>
        <p:nvSpPr>
          <p:cNvPr id="61" name="TextBox 60"/>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62" name="TextBox 61"/>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63" name="TextBox 62"/>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64"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Surface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Surface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724028"/>
        </p:xfrm>
        <a:graphic>
          <a:graphicData uri="http://schemas.openxmlformats.org/drawingml/2006/table">
            <a:tbl>
              <a:tblPr>
                <a:tableStyleId>{5C22544A-7EE6-4342-B048-85BDC9FD1C3A}</a:tableStyleId>
              </a:tblPr>
              <a:tblGrid>
                <a:gridCol w="1762417"/>
                <a:gridCol w="674986"/>
                <a:gridCol w="674986"/>
                <a:gridCol w="674986"/>
                <a:gridCol w="674986"/>
                <a:gridCol w="674986"/>
                <a:gridCol w="674986"/>
                <a:gridCol w="674986"/>
                <a:gridCol w="674986"/>
                <a:gridCol w="674986"/>
                <a:gridCol w="674986"/>
                <a:gridCol w="674986"/>
                <a:gridCol w="674986"/>
                <a:gridCol w="674986"/>
                <a:gridCol w="674986"/>
                <a:gridCol w="674986"/>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Surface Finish (%)  ·  light = lower, dark = higher growth</a:t>
            </a:r>
          </a:p>
        </p:txBody>
      </p:sp>
      <p:sp>
        <p:nvSpPr>
          <p:cNvPr id="17" name="TextBox 16"/>
          <p:cNvSpPr txBox="1"/>
          <p:nvPr/>
        </p:nvSpPr>
        <p:spPr>
          <a:xfrm>
            <a:off x="18573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sp>
        <p:nvSpPr>
          <p:cNvPr id="33" name="Rectangle 32"/>
          <p:cNvSpPr/>
          <p:nvPr/>
        </p:nvSpPr>
        <p:spPr>
          <a:xfrm>
            <a:off x="1857375" y="3733800"/>
            <a:ext cx="643890"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733800"/>
            <a:ext cx="643890" cy="47307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733800"/>
            <a:ext cx="643890"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733800"/>
            <a:ext cx="643890" cy="47307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733800"/>
            <a:ext cx="643890"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733800"/>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73380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733800"/>
            <a:ext cx="643890"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733800"/>
            <a:ext cx="643890"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733800"/>
            <a:ext cx="643890" cy="47307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733800"/>
            <a:ext cx="643890" cy="47307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73380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733800"/>
            <a:ext cx="643890" cy="47307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733800"/>
            <a:ext cx="643890"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733800"/>
            <a:ext cx="643890"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sp>
        <p:nvSpPr>
          <p:cNvPr id="49" name="Rectangle 48"/>
          <p:cNvSpPr/>
          <p:nvPr/>
        </p:nvSpPr>
        <p:spPr>
          <a:xfrm>
            <a:off x="1857375" y="4206875"/>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06875"/>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06875"/>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06875"/>
            <a:ext cx="643890"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06875"/>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06875"/>
            <a:ext cx="643890" cy="47307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06875"/>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06875"/>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06875"/>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06875"/>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06875"/>
            <a:ext cx="643890" cy="47307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06875"/>
            <a:ext cx="643890" cy="47307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06875"/>
            <a:ext cx="643890" cy="47307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06875"/>
            <a:ext cx="643890"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06875"/>
            <a:ext cx="643890"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sp>
        <p:nvSpPr>
          <p:cNvPr id="65" name="Rectangle 64"/>
          <p:cNvSpPr/>
          <p:nvPr/>
        </p:nvSpPr>
        <p:spPr>
          <a:xfrm>
            <a:off x="1857375" y="4679950"/>
            <a:ext cx="643890" cy="47307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7995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79950"/>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7995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7995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79950"/>
            <a:ext cx="643890"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79950"/>
            <a:ext cx="643890"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79950"/>
            <a:ext cx="643890" cy="47307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79950"/>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79950"/>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79950"/>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79950"/>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79950"/>
            <a:ext cx="643890" cy="473075"/>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79950"/>
            <a:ext cx="643890" cy="47307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7995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sp>
        <p:nvSpPr>
          <p:cNvPr id="81" name="Rectangle 80"/>
          <p:cNvSpPr/>
          <p:nvPr/>
        </p:nvSpPr>
        <p:spPr>
          <a:xfrm>
            <a:off x="1857375" y="5153025"/>
            <a:ext cx="643890" cy="473075"/>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53025"/>
            <a:ext cx="643890" cy="473075"/>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53025"/>
            <a:ext cx="643890" cy="47307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53025"/>
            <a:ext cx="643890" cy="473075"/>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5302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53025"/>
            <a:ext cx="643890"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53025"/>
            <a:ext cx="643890" cy="47307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53025"/>
            <a:ext cx="643890" cy="47307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53025"/>
            <a:ext cx="643890" cy="47307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53025"/>
            <a:ext cx="643890" cy="47307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53025"/>
            <a:ext cx="643890" cy="47307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53025"/>
            <a:ext cx="643890" cy="47307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53025"/>
            <a:ext cx="643890" cy="47307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53025"/>
            <a:ext cx="643890" cy="47307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53025"/>
            <a:ext cx="643890" cy="47307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sp>
        <p:nvSpPr>
          <p:cNvPr id="97" name="Rectangle 96"/>
          <p:cNvSpPr/>
          <p:nvPr/>
        </p:nvSpPr>
        <p:spPr>
          <a:xfrm>
            <a:off x="185737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626100"/>
            <a:ext cx="643890" cy="47307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626100"/>
            <a:ext cx="643890" cy="47307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113" name="Rectangle 112"/>
          <p:cNvSpPr/>
          <p:nvPr/>
        </p:nvSpPr>
        <p:spPr>
          <a:xfrm>
            <a:off x="1857375" y="6099175"/>
            <a:ext cx="643890" cy="473075"/>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6099175"/>
            <a:ext cx="643890" cy="473075"/>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609917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6099175"/>
            <a:ext cx="643890" cy="473075"/>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6099175"/>
            <a:ext cx="643890" cy="473075"/>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6099175"/>
            <a:ext cx="643890" cy="47307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6099175"/>
            <a:ext cx="643890" cy="47307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609917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609917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6099175"/>
            <a:ext cx="643890"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6099175"/>
            <a:ext cx="643890" cy="47307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6099175"/>
            <a:ext cx="643890" cy="473075"/>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6099175"/>
            <a:ext cx="643890" cy="473075"/>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6099175"/>
            <a:ext cx="643890" cy="473075"/>
          </a:xfrm>
          <a:prstGeom prst="rect">
            <a:avLst/>
          </a:prstGeom>
          <a:solidFill>
            <a:srgbClr val="0C43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6099175"/>
            <a:ext cx="643890" cy="47307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6790522" y="1956627"/>
            <a:ext cx="366712" cy="533400"/>
          </a:xfrm>
          <a:prstGeom prst="rect">
            <a:avLst/>
          </a:prstGeom>
        </p:spPr>
      </p:pic>
      <p:pic>
        <p:nvPicPr>
          <p:cNvPr id="174" name="Picture 173" descr="lock.png"/>
          <p:cNvPicPr>
            <a:picLocks noChangeAspect="1"/>
          </p:cNvPicPr>
          <p:nvPr/>
        </p:nvPicPr>
        <p:blipFill>
          <a:blip r:embed="rId4"/>
          <a:stretch>
            <a:fillRect/>
          </a:stretch>
        </p:blipFill>
        <p:spPr>
          <a:xfrm>
            <a:off x="11760938" y="3678301"/>
            <a:ext cx="128699" cy="187198"/>
          </a:xfrm>
          <a:prstGeom prst="rect">
            <a:avLst/>
          </a:prstGeom>
        </p:spPr>
      </p:pic>
      <p:pic>
        <p:nvPicPr>
          <p:cNvPr id="175" name="Picture 174" descr="lock.png"/>
          <p:cNvPicPr>
            <a:picLocks noChangeAspect="1"/>
          </p:cNvPicPr>
          <p:nvPr/>
        </p:nvPicPr>
        <p:blipFill>
          <a:blip r:embed="rId4"/>
          <a:stretch>
            <a:fillRect/>
          </a:stretch>
        </p:blipFill>
        <p:spPr>
          <a:xfrm>
            <a:off x="11760938" y="5059426"/>
            <a:ext cx="128699" cy="187198"/>
          </a:xfrm>
          <a:prstGeom prst="rect">
            <a:avLst/>
          </a:prstGeom>
        </p:spPr>
      </p:pic>
      <p:pic>
        <p:nvPicPr>
          <p:cNvPr id="176" name="Picture 17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Surface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Surface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8"/>
        </p:xfrm>
        <a:graphic>
          <a:graphicData uri="http://schemas.openxmlformats.org/drawingml/2006/table">
            <a:tbl>
              <a:tblPr>
                <a:tableStyleId>{5C22544A-7EE6-4342-B048-85BDC9FD1C3A}</a:tableStyleId>
              </a:tblPr>
              <a:tblGrid>
                <a:gridCol w="1878323"/>
                <a:gridCol w="667258"/>
                <a:gridCol w="667258"/>
                <a:gridCol w="667258"/>
                <a:gridCol w="667258"/>
                <a:gridCol w="667258"/>
                <a:gridCol w="667258"/>
                <a:gridCol w="667258"/>
                <a:gridCol w="667258"/>
                <a:gridCol w="667258"/>
                <a:gridCol w="667258"/>
                <a:gridCol w="667258"/>
                <a:gridCol w="667258"/>
                <a:gridCol w="667258"/>
                <a:gridCol w="667258"/>
                <a:gridCol w="66725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Surface Finish (%)  ·  light = lower, dark = higher growth</a:t>
            </a:r>
          </a:p>
        </p:txBody>
      </p:sp>
      <p:sp>
        <p:nvSpPr>
          <p:cNvPr id="17" name="TextBox 16"/>
          <p:cNvSpPr txBox="1"/>
          <p:nvPr/>
        </p:nvSpPr>
        <p:spPr>
          <a:xfrm>
            <a:off x="18573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sp>
        <p:nvSpPr>
          <p:cNvPr id="33" name="Rectangle 32"/>
          <p:cNvSpPr/>
          <p:nvPr/>
        </p:nvSpPr>
        <p:spPr>
          <a:xfrm>
            <a:off x="1857375" y="3733800"/>
            <a:ext cx="643890"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733800"/>
            <a:ext cx="643890" cy="47307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733800"/>
            <a:ext cx="643890"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733800"/>
            <a:ext cx="643890" cy="47307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733800"/>
            <a:ext cx="643890"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733800"/>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73380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733800"/>
            <a:ext cx="643890"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733800"/>
            <a:ext cx="643890"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733800"/>
            <a:ext cx="643890" cy="47307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733800"/>
            <a:ext cx="643890" cy="47307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73380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733800"/>
            <a:ext cx="643890" cy="47307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733800"/>
            <a:ext cx="643890" cy="47307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733800"/>
            <a:ext cx="643890" cy="47307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sp>
        <p:nvSpPr>
          <p:cNvPr id="49" name="Rectangle 48"/>
          <p:cNvSpPr/>
          <p:nvPr/>
        </p:nvSpPr>
        <p:spPr>
          <a:xfrm>
            <a:off x="1857375" y="4206875"/>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06875"/>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06875"/>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06875"/>
            <a:ext cx="643890"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06875"/>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06875"/>
            <a:ext cx="643890" cy="47307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06875"/>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06875"/>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06875"/>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06875"/>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06875"/>
            <a:ext cx="643890" cy="47307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06875"/>
            <a:ext cx="643890" cy="47307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06875"/>
            <a:ext cx="643890" cy="47307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06875"/>
            <a:ext cx="643890" cy="47307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06875"/>
            <a:ext cx="643890" cy="47307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sp>
        <p:nvSpPr>
          <p:cNvPr id="65" name="Rectangle 64"/>
          <p:cNvSpPr/>
          <p:nvPr/>
        </p:nvSpPr>
        <p:spPr>
          <a:xfrm>
            <a:off x="1857375" y="467995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7995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7995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7995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7995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79950"/>
            <a:ext cx="643890"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79950"/>
            <a:ext cx="643890"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79950"/>
            <a:ext cx="643890" cy="47307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79950"/>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79950"/>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79950"/>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79950"/>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79950"/>
            <a:ext cx="643890" cy="473075"/>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79950"/>
            <a:ext cx="643890" cy="47307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7995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sp>
        <p:nvSpPr>
          <p:cNvPr id="81" name="Rectangle 80"/>
          <p:cNvSpPr/>
          <p:nvPr/>
        </p:nvSpPr>
        <p:spPr>
          <a:xfrm>
            <a:off x="1857375" y="5153025"/>
            <a:ext cx="643890" cy="473075"/>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53025"/>
            <a:ext cx="643890" cy="473075"/>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53025"/>
            <a:ext cx="643890" cy="47307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53025"/>
            <a:ext cx="643890" cy="473075"/>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5302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53025"/>
            <a:ext cx="643890"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53025"/>
            <a:ext cx="643890" cy="47307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53025"/>
            <a:ext cx="643890" cy="47307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53025"/>
            <a:ext cx="643890" cy="47307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53025"/>
            <a:ext cx="643890" cy="47307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53025"/>
            <a:ext cx="643890" cy="47307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53025"/>
            <a:ext cx="643890" cy="47307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53025"/>
            <a:ext cx="643890" cy="47307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53025"/>
            <a:ext cx="643890" cy="47307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53025"/>
            <a:ext cx="643890" cy="47307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sp>
        <p:nvSpPr>
          <p:cNvPr id="97" name="Rectangle 96"/>
          <p:cNvSpPr/>
          <p:nvPr/>
        </p:nvSpPr>
        <p:spPr>
          <a:xfrm>
            <a:off x="185737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626100"/>
            <a:ext cx="643890" cy="47307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626100"/>
            <a:ext cx="643890" cy="47307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626100"/>
            <a:ext cx="643890" cy="473075"/>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113" name="Rectangle 112"/>
          <p:cNvSpPr/>
          <p:nvPr/>
        </p:nvSpPr>
        <p:spPr>
          <a:xfrm>
            <a:off x="1857375" y="6099175"/>
            <a:ext cx="643890" cy="473075"/>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6099175"/>
            <a:ext cx="643890" cy="473075"/>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609917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6099175"/>
            <a:ext cx="643890" cy="473075"/>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6099175"/>
            <a:ext cx="643890" cy="473075"/>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6099175"/>
            <a:ext cx="643890" cy="47307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6099175"/>
            <a:ext cx="643890" cy="47307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609917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609917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6099175"/>
            <a:ext cx="643890"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6099175"/>
            <a:ext cx="643890" cy="47307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6099175"/>
            <a:ext cx="643890" cy="473075"/>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6099175"/>
            <a:ext cx="643890" cy="473075"/>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6099175"/>
            <a:ext cx="643890" cy="473075"/>
          </a:xfrm>
          <a:prstGeom prst="rect">
            <a:avLst/>
          </a:prstGeom>
          <a:solidFill>
            <a:srgbClr val="0C43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6099175"/>
            <a:ext cx="643890" cy="47307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6848467" y="1956627"/>
            <a:ext cx="366712" cy="533400"/>
          </a:xfrm>
          <a:prstGeom prst="rect">
            <a:avLst/>
          </a:prstGeom>
        </p:spPr>
      </p:pic>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Individual Muffin Size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Individual Muffin Size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Individual Muffin Size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Individual Muffin Size,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Individual Muffin Size segment categorizes the market by individual muffin size.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- 60 g to below 100 g</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Small - 30 g to below 60 g</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Large / jumbo - 100 g and above</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Mini / bite-sized - below 30 g</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Individual Muffin Size split shows how demand is distributed across individual muffin size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594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_371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979_2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190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0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843_2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1_475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8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80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316_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5_8__605E5C.png"/>
          <p:cNvPicPr>
            <a:picLocks noChangeAspect="1"/>
          </p:cNvPicPr>
          <p:nvPr/>
        </p:nvPicPr>
        <p:blipFill>
          <a:blip r:embed="rId12"/>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5"/>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5"/>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5"/>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5"/>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'Standard - 60 g to below 100 g' holds the largest</a:t>
            </a:r>
          </a:p>
        </p:txBody>
      </p:sp>
      <p:sp>
        <p:nvSpPr>
          <p:cNvPr id="81" name="TextBox 80"/>
          <p:cNvSpPr txBox="1"/>
          <p:nvPr/>
        </p:nvSpPr>
        <p:spPr>
          <a:xfrm>
            <a:off x="485775" y="4397077"/>
            <a:ext cx="842094" cy="186689"/>
          </a:xfrm>
          <a:prstGeom prst="rect">
            <a:avLst/>
          </a:prstGeom>
          <a:noFill/>
        </p:spPr>
        <p:txBody>
          <a:bodyPr wrap="none" lIns="0" rIns="0" tIns="0" bIns="0">
            <a:spAutoFit/>
          </a:bodyPr>
          <a:lstStyle/>
          <a:p>
            <a:r>
              <a:rPr sz="1100" b="0">
                <a:solidFill>
                  <a:srgbClr val="2E2E2E"/>
                </a:solidFill>
                <a:latin typeface="Calibri"/>
              </a:rPr>
              <a:t>share in 2026</a:t>
            </a:r>
          </a:p>
        </p:txBody>
      </p:sp>
      <p:pic>
        <p:nvPicPr>
          <p:cNvPr id="82" name="Picture 81" descr="lock.png"/>
          <p:cNvPicPr>
            <a:picLocks noChangeAspect="1"/>
          </p:cNvPicPr>
          <p:nvPr/>
        </p:nvPicPr>
        <p:blipFill>
          <a:blip r:embed="rId15"/>
          <a:stretch>
            <a:fillRect/>
          </a:stretch>
        </p:blipFill>
        <p:spPr>
          <a:xfrm>
            <a:off x="1275920" y="4387298"/>
            <a:ext cx="128699" cy="187198"/>
          </a:xfrm>
          <a:prstGeom prst="rect">
            <a:avLst/>
          </a:prstGeom>
        </p:spPr>
      </p:pic>
      <p:sp>
        <p:nvSpPr>
          <p:cNvPr id="83" name="TextBox 82"/>
          <p:cNvSpPr txBox="1"/>
          <p:nvPr/>
        </p:nvSpPr>
        <p:spPr>
          <a:xfrm>
            <a:off x="1443416"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4" name="TextBox 83"/>
          <p:cNvSpPr txBox="1"/>
          <p:nvPr/>
        </p:nvSpPr>
        <p:spPr>
          <a:xfrm>
            <a:off x="485775" y="4615009"/>
            <a:ext cx="2209080" cy="186689"/>
          </a:xfrm>
          <a:prstGeom prst="rect">
            <a:avLst/>
          </a:prstGeom>
          <a:noFill/>
        </p:spPr>
        <p:txBody>
          <a:bodyPr wrap="none" lIns="0" rIns="0" tIns="0" bIns="0">
            <a:spAutoFit/>
          </a:bodyPr>
          <a:lstStyle/>
          <a:p>
            <a:r>
              <a:rPr sz="1100" b="0">
                <a:solidFill>
                  <a:srgbClr val="2E2E2E"/>
                </a:solidFill>
                <a:latin typeface="Calibri"/>
              </a:rPr>
              <a:t>▪ 'Mini / bite-sized - below 30 g' is the</a:t>
            </a:r>
          </a:p>
        </p:txBody>
      </p:sp>
      <p:sp>
        <p:nvSpPr>
          <p:cNvPr id="85" name="TextBox 84"/>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86" name="Picture 85" descr="lock.png"/>
          <p:cNvPicPr>
            <a:picLocks noChangeAspect="1"/>
          </p:cNvPicPr>
          <p:nvPr/>
        </p:nvPicPr>
        <p:blipFill>
          <a:blip r:embed="rId15"/>
          <a:stretch>
            <a:fillRect/>
          </a:stretch>
        </p:blipFill>
        <p:spPr>
          <a:xfrm>
            <a:off x="2307026" y="4772870"/>
            <a:ext cx="128699" cy="187198"/>
          </a:xfrm>
          <a:prstGeom prst="rect">
            <a:avLst/>
          </a:prstGeom>
        </p:spPr>
      </p:pic>
      <p:sp>
        <p:nvSpPr>
          <p:cNvPr id="87" name="TextBox 86"/>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88" name="TextBox 87"/>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9" name="TextBox 88"/>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90" name="Picture 89" descr="lock.png"/>
          <p:cNvPicPr>
            <a:picLocks noChangeAspect="1"/>
          </p:cNvPicPr>
          <p:nvPr/>
        </p:nvPicPr>
        <p:blipFill>
          <a:blip r:embed="rId15"/>
          <a:stretch>
            <a:fillRect/>
          </a:stretch>
        </p:blipFill>
        <p:spPr>
          <a:xfrm>
            <a:off x="2240451" y="5158441"/>
            <a:ext cx="128699" cy="187198"/>
          </a:xfrm>
          <a:prstGeom prst="rect">
            <a:avLst/>
          </a:prstGeom>
        </p:spPr>
      </p:pic>
      <p:sp>
        <p:nvSpPr>
          <p:cNvPr id="91" name="TextBox 90"/>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2" name="Picture 91" descr="lock.png"/>
          <p:cNvPicPr>
            <a:picLocks noChangeAspect="1"/>
          </p:cNvPicPr>
          <p:nvPr/>
        </p:nvPicPr>
        <p:blipFill>
          <a:blip r:embed="rId15"/>
          <a:stretch>
            <a:fillRect/>
          </a:stretch>
        </p:blipFill>
        <p:spPr>
          <a:xfrm>
            <a:off x="2552799" y="5158441"/>
            <a:ext cx="128699" cy="187198"/>
          </a:xfrm>
          <a:prstGeom prst="rect">
            <a:avLst/>
          </a:prstGeom>
        </p:spPr>
      </p:pic>
      <p:sp>
        <p:nvSpPr>
          <p:cNvPr id="93" name="TextBox 92"/>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4" name="TextBox 93"/>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5" name="TextBox 94"/>
          <p:cNvSpPr txBox="1"/>
          <p:nvPr/>
        </p:nvSpPr>
        <p:spPr>
          <a:xfrm>
            <a:off x="485775" y="5553793"/>
            <a:ext cx="2784524" cy="186689"/>
          </a:xfrm>
          <a:prstGeom prst="rect">
            <a:avLst/>
          </a:prstGeom>
          <a:noFill/>
        </p:spPr>
        <p:txBody>
          <a:bodyPr wrap="none" lIns="0" rIns="0" tIns="0" bIns="0">
            <a:spAutoFit/>
          </a:bodyPr>
          <a:lstStyle/>
          <a:p>
            <a:r>
              <a:rPr sz="1100" b="0">
                <a:solidFill>
                  <a:srgbClr val="2E2E2E"/>
                </a:solidFill>
                <a:latin typeface="Calibri"/>
              </a:rPr>
              <a:t>▪ 4 sub-segments make up the individual muffin</a:t>
            </a:r>
          </a:p>
        </p:txBody>
      </p:sp>
      <p:sp>
        <p:nvSpPr>
          <p:cNvPr id="96" name="TextBox 95"/>
          <p:cNvSpPr txBox="1"/>
          <p:nvPr/>
        </p:nvSpPr>
        <p:spPr>
          <a:xfrm>
            <a:off x="485775" y="5721433"/>
            <a:ext cx="923949" cy="186689"/>
          </a:xfrm>
          <a:prstGeom prst="rect">
            <a:avLst/>
          </a:prstGeom>
          <a:noFill/>
        </p:spPr>
        <p:txBody>
          <a:bodyPr wrap="none" lIns="0" rIns="0" tIns="0" bIns="0">
            <a:spAutoFit/>
          </a:bodyPr>
          <a:lstStyle/>
          <a:p>
            <a:r>
              <a:rPr sz="1100" b="0">
                <a:solidFill>
                  <a:srgbClr val="2E2E2E"/>
                </a:solidFill>
                <a:latin typeface="Calibri"/>
              </a:rPr>
              <a:t>size landscape.</a:t>
            </a:r>
          </a:p>
        </p:txBody>
      </p:sp>
      <p:sp>
        <p:nvSpPr>
          <p:cNvPr id="97" name="TextBox 96"/>
          <p:cNvSpPr txBox="1"/>
          <p:nvPr/>
        </p:nvSpPr>
        <p:spPr>
          <a:xfrm>
            <a:off x="3838575" y="4229437"/>
            <a:ext cx="1963241" cy="186689"/>
          </a:xfrm>
          <a:prstGeom prst="rect">
            <a:avLst/>
          </a:prstGeom>
          <a:noFill/>
        </p:spPr>
        <p:txBody>
          <a:bodyPr wrap="none" lIns="0" rIns="0" tIns="0" bIns="0">
            <a:spAutoFit/>
          </a:bodyPr>
          <a:lstStyle/>
          <a:p>
            <a:r>
              <a:rPr sz="1100" b="0">
                <a:solidFill>
                  <a:srgbClr val="2E2E2E"/>
                </a:solidFill>
                <a:latin typeface="Calibri"/>
              </a:rPr>
              <a:t>● Standard - 60 g to below 100 g:</a:t>
            </a:r>
          </a:p>
        </p:txBody>
      </p:sp>
      <p:pic>
        <p:nvPicPr>
          <p:cNvPr id="98" name="Picture 97" descr="lock.png"/>
          <p:cNvPicPr>
            <a:picLocks noChangeAspect="1"/>
          </p:cNvPicPr>
          <p:nvPr/>
        </p:nvPicPr>
        <p:blipFill>
          <a:blip r:embed="rId15"/>
          <a:stretch>
            <a:fillRect/>
          </a:stretch>
        </p:blipFill>
        <p:spPr>
          <a:xfrm>
            <a:off x="5749868" y="4219658"/>
            <a:ext cx="128699" cy="187198"/>
          </a:xfrm>
          <a:prstGeom prst="rect">
            <a:avLst/>
          </a:prstGeom>
        </p:spPr>
      </p:pic>
      <p:sp>
        <p:nvSpPr>
          <p:cNvPr id="99" name="TextBox 98"/>
          <p:cNvSpPr txBox="1"/>
          <p:nvPr/>
        </p:nvSpPr>
        <p:spPr>
          <a:xfrm>
            <a:off x="591736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5"/>
          <a:stretch>
            <a:fillRect/>
          </a:stretch>
        </p:blipFill>
        <p:spPr>
          <a:xfrm>
            <a:off x="6776814" y="4219658"/>
            <a:ext cx="128699" cy="187198"/>
          </a:xfrm>
          <a:prstGeom prst="rect">
            <a:avLst/>
          </a:prstGeom>
        </p:spPr>
      </p:pic>
      <p:sp>
        <p:nvSpPr>
          <p:cNvPr id="101" name="TextBox 100"/>
          <p:cNvSpPr txBox="1"/>
          <p:nvPr/>
        </p:nvSpPr>
        <p:spPr>
          <a:xfrm>
            <a:off x="6944309"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102" name="TextBox 101"/>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103" name="TextBox 102"/>
          <p:cNvSpPr txBox="1"/>
          <p:nvPr/>
        </p:nvSpPr>
        <p:spPr>
          <a:xfrm>
            <a:off x="3838575" y="4615009"/>
            <a:ext cx="1685478" cy="186689"/>
          </a:xfrm>
          <a:prstGeom prst="rect">
            <a:avLst/>
          </a:prstGeom>
          <a:noFill/>
        </p:spPr>
        <p:txBody>
          <a:bodyPr wrap="none" lIns="0" rIns="0" tIns="0" bIns="0">
            <a:spAutoFit/>
          </a:bodyPr>
          <a:lstStyle/>
          <a:p>
            <a:r>
              <a:rPr sz="1100" b="0">
                <a:solidFill>
                  <a:srgbClr val="2E2E2E"/>
                </a:solidFill>
                <a:latin typeface="Calibri"/>
              </a:rPr>
              <a:t>● Small - 30 g to below 60 g:</a:t>
            </a:r>
          </a:p>
        </p:txBody>
      </p:sp>
      <p:pic>
        <p:nvPicPr>
          <p:cNvPr id="104" name="Picture 103" descr="lock.png"/>
          <p:cNvPicPr>
            <a:picLocks noChangeAspect="1"/>
          </p:cNvPicPr>
          <p:nvPr/>
        </p:nvPicPr>
        <p:blipFill>
          <a:blip r:embed="rId15"/>
          <a:stretch>
            <a:fillRect/>
          </a:stretch>
        </p:blipFill>
        <p:spPr>
          <a:xfrm>
            <a:off x="5472105" y="4605230"/>
            <a:ext cx="128699" cy="187198"/>
          </a:xfrm>
          <a:prstGeom prst="rect">
            <a:avLst/>
          </a:prstGeom>
        </p:spPr>
      </p:pic>
      <p:sp>
        <p:nvSpPr>
          <p:cNvPr id="105" name="TextBox 104"/>
          <p:cNvSpPr txBox="1"/>
          <p:nvPr/>
        </p:nvSpPr>
        <p:spPr>
          <a:xfrm>
            <a:off x="563960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5"/>
          <a:stretch>
            <a:fillRect/>
          </a:stretch>
        </p:blipFill>
        <p:spPr>
          <a:xfrm>
            <a:off x="6499051" y="4605230"/>
            <a:ext cx="128699" cy="187198"/>
          </a:xfrm>
          <a:prstGeom prst="rect">
            <a:avLst/>
          </a:prstGeom>
        </p:spPr>
      </p:pic>
      <p:sp>
        <p:nvSpPr>
          <p:cNvPr id="107" name="TextBox 106"/>
          <p:cNvSpPr txBox="1"/>
          <p:nvPr/>
        </p:nvSpPr>
        <p:spPr>
          <a:xfrm>
            <a:off x="6666546" y="4615009"/>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8" name="TextBox 107"/>
          <p:cNvSpPr txBox="1"/>
          <p:nvPr/>
        </p:nvSpPr>
        <p:spPr>
          <a:xfrm>
            <a:off x="3838575" y="4782649"/>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9" name="TextBox 108"/>
          <p:cNvSpPr txBox="1"/>
          <p:nvPr/>
        </p:nvSpPr>
        <p:spPr>
          <a:xfrm>
            <a:off x="3838575" y="5000581"/>
            <a:ext cx="2062013" cy="186689"/>
          </a:xfrm>
          <a:prstGeom prst="rect">
            <a:avLst/>
          </a:prstGeom>
          <a:noFill/>
        </p:spPr>
        <p:txBody>
          <a:bodyPr wrap="none" lIns="0" rIns="0" tIns="0" bIns="0">
            <a:spAutoFit/>
          </a:bodyPr>
          <a:lstStyle/>
          <a:p>
            <a:r>
              <a:rPr sz="1100" b="0">
                <a:solidFill>
                  <a:srgbClr val="2E2E2E"/>
                </a:solidFill>
                <a:latin typeface="Calibri"/>
              </a:rPr>
              <a:t>● Large / jumbo - 100 g and above:</a:t>
            </a:r>
          </a:p>
        </p:txBody>
      </p:sp>
      <p:pic>
        <p:nvPicPr>
          <p:cNvPr id="110" name="Picture 109" descr="lock.png"/>
          <p:cNvPicPr>
            <a:picLocks noChangeAspect="1"/>
          </p:cNvPicPr>
          <p:nvPr/>
        </p:nvPicPr>
        <p:blipFill>
          <a:blip r:embed="rId15"/>
          <a:stretch>
            <a:fillRect/>
          </a:stretch>
        </p:blipFill>
        <p:spPr>
          <a:xfrm>
            <a:off x="5848640" y="4990801"/>
            <a:ext cx="128699" cy="187198"/>
          </a:xfrm>
          <a:prstGeom prst="rect">
            <a:avLst/>
          </a:prstGeom>
        </p:spPr>
      </p:pic>
      <p:sp>
        <p:nvSpPr>
          <p:cNvPr id="111" name="TextBox 110"/>
          <p:cNvSpPr txBox="1"/>
          <p:nvPr/>
        </p:nvSpPr>
        <p:spPr>
          <a:xfrm>
            <a:off x="6016136"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5"/>
          <a:stretch>
            <a:fillRect/>
          </a:stretch>
        </p:blipFill>
        <p:spPr>
          <a:xfrm>
            <a:off x="6875586" y="4990801"/>
            <a:ext cx="128699" cy="187198"/>
          </a:xfrm>
          <a:prstGeom prst="rect">
            <a:avLst/>
          </a:prstGeom>
        </p:spPr>
      </p:pic>
      <p:sp>
        <p:nvSpPr>
          <p:cNvPr id="113" name="TextBox 112"/>
          <p:cNvSpPr txBox="1"/>
          <p:nvPr/>
        </p:nvSpPr>
        <p:spPr>
          <a:xfrm>
            <a:off x="7043082" y="5000581"/>
            <a:ext cx="787234" cy="186689"/>
          </a:xfrm>
          <a:prstGeom prst="rect">
            <a:avLst/>
          </a:prstGeom>
          <a:noFill/>
        </p:spPr>
        <p:txBody>
          <a:bodyPr wrap="none" lIns="0" rIns="0" tIns="0" bIns="0">
            <a:spAutoFit/>
          </a:bodyPr>
          <a:lstStyle/>
          <a:p>
            <a:r>
              <a:rPr sz="1100" b="0">
                <a:solidFill>
                  <a:srgbClr val="2E2E2E"/>
                </a:solidFill>
                <a:latin typeface="Calibri"/>
              </a:rPr>
              <a:t>CAGR serves</a:t>
            </a:r>
          </a:p>
        </p:txBody>
      </p:sp>
      <p:sp>
        <p:nvSpPr>
          <p:cNvPr id="114" name="TextBox 113"/>
          <p:cNvSpPr txBox="1"/>
          <p:nvPr/>
        </p:nvSpPr>
        <p:spPr>
          <a:xfrm>
            <a:off x="3838575" y="5168221"/>
            <a:ext cx="517673" cy="186689"/>
          </a:xfrm>
          <a:prstGeom prst="rect">
            <a:avLst/>
          </a:prstGeom>
          <a:noFill/>
        </p:spPr>
        <p:txBody>
          <a:bodyPr wrap="none" lIns="0" rIns="0" tIns="0" bIns="0">
            <a:spAutoFit/>
          </a:bodyPr>
          <a:lstStyle/>
          <a:p>
            <a:r>
              <a:rPr sz="1100" b="0">
                <a:solidFill>
                  <a:srgbClr val="2E2E2E"/>
                </a:solidFill>
                <a:latin typeface="Calibri"/>
              </a:rPr>
              <a:t>a niche.</a:t>
            </a:r>
          </a:p>
        </p:txBody>
      </p:sp>
      <p:sp>
        <p:nvSpPr>
          <p:cNvPr id="115" name="TextBox 114"/>
          <p:cNvSpPr txBox="1"/>
          <p:nvPr/>
        </p:nvSpPr>
        <p:spPr>
          <a:xfrm>
            <a:off x="3838575" y="5386153"/>
            <a:ext cx="1879748" cy="186689"/>
          </a:xfrm>
          <a:prstGeom prst="rect">
            <a:avLst/>
          </a:prstGeom>
          <a:noFill/>
        </p:spPr>
        <p:txBody>
          <a:bodyPr wrap="none" lIns="0" rIns="0" tIns="0" bIns="0">
            <a:spAutoFit/>
          </a:bodyPr>
          <a:lstStyle/>
          <a:p>
            <a:r>
              <a:rPr sz="1100" b="0">
                <a:solidFill>
                  <a:srgbClr val="2E2E2E"/>
                </a:solidFill>
                <a:latin typeface="Calibri"/>
              </a:rPr>
              <a:t>● Mini / bite-sized - below 30 g:</a:t>
            </a:r>
          </a:p>
        </p:txBody>
      </p:sp>
      <p:pic>
        <p:nvPicPr>
          <p:cNvPr id="116" name="Picture 115" descr="lock.png"/>
          <p:cNvPicPr>
            <a:picLocks noChangeAspect="1"/>
          </p:cNvPicPr>
          <p:nvPr/>
        </p:nvPicPr>
        <p:blipFill>
          <a:blip r:embed="rId15"/>
          <a:stretch>
            <a:fillRect/>
          </a:stretch>
        </p:blipFill>
        <p:spPr>
          <a:xfrm>
            <a:off x="5666375" y="5376373"/>
            <a:ext cx="128699" cy="187198"/>
          </a:xfrm>
          <a:prstGeom prst="rect">
            <a:avLst/>
          </a:prstGeom>
        </p:spPr>
      </p:pic>
      <p:sp>
        <p:nvSpPr>
          <p:cNvPr id="117" name="TextBox 116"/>
          <p:cNvSpPr txBox="1"/>
          <p:nvPr/>
        </p:nvSpPr>
        <p:spPr>
          <a:xfrm>
            <a:off x="5833871"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5"/>
          <a:stretch>
            <a:fillRect/>
          </a:stretch>
        </p:blipFill>
        <p:spPr>
          <a:xfrm>
            <a:off x="6693321" y="5376373"/>
            <a:ext cx="128699" cy="187198"/>
          </a:xfrm>
          <a:prstGeom prst="rect">
            <a:avLst/>
          </a:prstGeom>
        </p:spPr>
      </p:pic>
      <p:sp>
        <p:nvSpPr>
          <p:cNvPr id="119" name="TextBox 118"/>
          <p:cNvSpPr txBox="1"/>
          <p:nvPr/>
        </p:nvSpPr>
        <p:spPr>
          <a:xfrm>
            <a:off x="6860817" y="538615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20" name="TextBox 119"/>
          <p:cNvSpPr txBox="1"/>
          <p:nvPr/>
        </p:nvSpPr>
        <p:spPr>
          <a:xfrm>
            <a:off x="3838575" y="555379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21" name="TextBox 120"/>
          <p:cNvSpPr txBox="1"/>
          <p:nvPr/>
        </p:nvSpPr>
        <p:spPr>
          <a:xfrm>
            <a:off x="8524875" y="5842641"/>
            <a:ext cx="3113868" cy="194310"/>
          </a:xfrm>
          <a:prstGeom prst="rect">
            <a:avLst/>
          </a:prstGeom>
          <a:noFill/>
        </p:spPr>
        <p:txBody>
          <a:bodyPr wrap="none" lIns="0" rIns="0" tIns="0" bIns="0">
            <a:spAutoFit/>
          </a:bodyPr>
          <a:lstStyle/>
          <a:p>
            <a:r>
              <a:rPr sz="1150" b="1">
                <a:solidFill>
                  <a:srgbClr val="0B2E4A"/>
                </a:solidFill>
                <a:latin typeface="Calibri"/>
              </a:rPr>
              <a:t>The Individual Muffin Size segment is projected to</a:t>
            </a:r>
          </a:p>
        </p:txBody>
      </p:sp>
      <p:sp>
        <p:nvSpPr>
          <p:cNvPr id="122" name="TextBox 121"/>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23" name="Picture 122" descr="lock.png"/>
          <p:cNvPicPr>
            <a:picLocks noChangeAspect="1"/>
          </p:cNvPicPr>
          <p:nvPr/>
        </p:nvPicPr>
        <p:blipFill>
          <a:blip r:embed="rId15"/>
          <a:stretch>
            <a:fillRect/>
          </a:stretch>
        </p:blipFill>
        <p:spPr>
          <a:xfrm>
            <a:off x="9651852" y="6007677"/>
            <a:ext cx="134549" cy="195707"/>
          </a:xfrm>
          <a:prstGeom prst="rect">
            <a:avLst/>
          </a:prstGeom>
        </p:spPr>
      </p:pic>
      <p:sp>
        <p:nvSpPr>
          <p:cNvPr id="124" name="TextBox 123"/>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Individual Muffin Size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Individual Muffin Size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Individual Muffin Size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Individual Muffin Size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434187" cy="186689"/>
          </a:xfrm>
          <a:prstGeom prst="rect">
            <a:avLst/>
          </a:prstGeom>
          <a:noFill/>
        </p:spPr>
        <p:txBody>
          <a:bodyPr wrap="none" lIns="0" rIns="0" tIns="0" bIns="0">
            <a:spAutoFit/>
          </a:bodyPr>
          <a:lstStyle/>
          <a:p>
            <a:r>
              <a:rPr sz="1100" b="0">
                <a:solidFill>
                  <a:srgbClr val="2E2E2E"/>
                </a:solidFill>
                <a:latin typeface="Calibri"/>
              </a:rPr>
              <a:t>Between 2026 and 2036, 'Large / jumbo - 100 g and above' gains the most share in the North America market (+</a:t>
            </a:r>
          </a:p>
        </p:txBody>
      </p:sp>
      <p:pic>
        <p:nvPicPr>
          <p:cNvPr id="21" name="Picture 20" descr="lock.png"/>
          <p:cNvPicPr>
            <a:picLocks noChangeAspect="1"/>
          </p:cNvPicPr>
          <p:nvPr/>
        </p:nvPicPr>
        <p:blipFill>
          <a:blip r:embed="rId6"/>
          <a:stretch>
            <a:fillRect/>
          </a:stretch>
        </p:blipFill>
        <p:spPr>
          <a:xfrm>
            <a:off x="6639413" y="5851905"/>
            <a:ext cx="128699" cy="187198"/>
          </a:xfrm>
          <a:prstGeom prst="rect">
            <a:avLst/>
          </a:prstGeom>
        </p:spPr>
      </p:pic>
      <p:sp>
        <p:nvSpPr>
          <p:cNvPr id="22" name="TextBox 21"/>
          <p:cNvSpPr txBox="1"/>
          <p:nvPr/>
        </p:nvSpPr>
        <p:spPr>
          <a:xfrm>
            <a:off x="6806909" y="5861685"/>
            <a:ext cx="2577157" cy="186689"/>
          </a:xfrm>
          <a:prstGeom prst="rect">
            <a:avLst/>
          </a:prstGeom>
          <a:noFill/>
        </p:spPr>
        <p:txBody>
          <a:bodyPr wrap="none" lIns="0" rIns="0" tIns="0" bIns="0">
            <a:spAutoFit/>
          </a:bodyPr>
          <a:lstStyle/>
          <a:p>
            <a:r>
              <a:rPr sz="1100" b="0">
                <a:solidFill>
                  <a:srgbClr val="2E2E2E"/>
                </a:solidFill>
                <a:latin typeface="Calibri"/>
              </a:rPr>
              <a:t>BPS) while 'Small - 30 g to below 60 g' cedes</a:t>
            </a:r>
          </a:p>
        </p:txBody>
      </p:sp>
      <p:pic>
        <p:nvPicPr>
          <p:cNvPr id="23" name="Picture 22" descr="lock.png"/>
          <p:cNvPicPr>
            <a:picLocks noChangeAspect="1"/>
          </p:cNvPicPr>
          <p:nvPr/>
        </p:nvPicPr>
        <p:blipFill>
          <a:blip r:embed="rId6"/>
          <a:stretch>
            <a:fillRect/>
          </a:stretch>
        </p:blipFill>
        <p:spPr>
          <a:xfrm>
            <a:off x="9332118" y="5851905"/>
            <a:ext cx="128699" cy="187198"/>
          </a:xfrm>
          <a:prstGeom prst="rect">
            <a:avLst/>
          </a:prstGeom>
        </p:spPr>
      </p:pic>
      <p:sp>
        <p:nvSpPr>
          <p:cNvPr id="24" name="TextBox 23"/>
          <p:cNvSpPr txBox="1"/>
          <p:nvPr/>
        </p:nvSpPr>
        <p:spPr>
          <a:xfrm>
            <a:off x="9499614" y="5861685"/>
            <a:ext cx="2182324" cy="186689"/>
          </a:xfrm>
          <a:prstGeom prst="rect">
            <a:avLst/>
          </a:prstGeom>
          <a:noFill/>
        </p:spPr>
        <p:txBody>
          <a:bodyPr wrap="none" lIns="0" rIns="0" tIns="0" bIns="0">
            <a:spAutoFit/>
          </a:bodyPr>
          <a:lstStyle/>
          <a:p>
            <a:r>
              <a:rPr sz="1100" b="0">
                <a:solidFill>
                  <a:srgbClr val="2E2E2E"/>
                </a:solidFill>
                <a:latin typeface="Calibri"/>
              </a:rPr>
              <a:t>BPS. Bubbles right of the CAGR-Index</a:t>
            </a:r>
          </a:p>
        </p:txBody>
      </p:sp>
      <p:sp>
        <p:nvSpPr>
          <p:cNvPr id="25" name="TextBox 24"/>
          <p:cNvSpPr txBox="1"/>
          <p:nvPr/>
        </p:nvSpPr>
        <p:spPr>
          <a:xfrm>
            <a:off x="257175" y="6029325"/>
            <a:ext cx="2518494" cy="186689"/>
          </a:xfrm>
          <a:prstGeom prst="rect">
            <a:avLst/>
          </a:prstGeom>
          <a:noFill/>
        </p:spPr>
        <p:txBody>
          <a:bodyPr wrap="none" lIns="0" rIns="0" tIns="0" bIns="0">
            <a:spAutoFit/>
          </a:bodyPr>
          <a:lstStyle/>
          <a:p>
            <a:r>
              <a:rPr sz="1100" b="0">
                <a:solidFill>
                  <a:srgbClr val="2E2E2E"/>
                </a:solidFill>
                <a:latin typeface="Calibri"/>
              </a:rPr>
              <a:t>line grow 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Individual Muffin Size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Mini / bite-sized - below 30 g</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Small - 30 g to below 60 g</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Standard - 60 g to below 100 g</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Large / jumbo - 100 g and above</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Individual Muffin Size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Individual Muffin Size,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Individual Muffin Size (MT)</a:t>
            </a:r>
          </a:p>
        </p:txBody>
      </p:sp>
      <p:graphicFrame>
        <p:nvGraphicFramePr>
          <p:cNvPr id="13" name="Table 12"/>
          <p:cNvGraphicFramePr>
            <a:graphicFrameLocks noGrp="1"/>
          </p:cNvGraphicFramePr>
          <p:nvPr/>
        </p:nvGraphicFramePr>
        <p:xfrm>
          <a:off x="152400" y="1238250"/>
          <a:ext cx="11887207" cy="1676402"/>
        </p:xfrm>
        <a:graphic>
          <a:graphicData uri="http://schemas.openxmlformats.org/drawingml/2006/table">
            <a:tbl>
              <a:tblPr>
                <a:tableStyleId>{5C22544A-7EE6-4342-B048-85BDC9FD1C3A}</a:tableStyleId>
              </a:tblPr>
              <a:tblGrid>
                <a:gridCol w="1985105"/>
                <a:gridCol w="530662"/>
                <a:gridCol w="530662"/>
                <a:gridCol w="530662"/>
                <a:gridCol w="530662"/>
                <a:gridCol w="530662"/>
                <a:gridCol w="530662"/>
                <a:gridCol w="530662"/>
                <a:gridCol w="641033"/>
                <a:gridCol w="641033"/>
                <a:gridCol w="641033"/>
                <a:gridCol w="641033"/>
                <a:gridCol w="641033"/>
                <a:gridCol w="641033"/>
                <a:gridCol w="641033"/>
                <a:gridCol w="641033"/>
                <a:gridCol w="641033"/>
                <a:gridCol w="418171"/>
              </a:tblGrid>
              <a:tr h="438912">
                <a:tc>
                  <a:txBody>
                    <a:bodyPr wrap="none"/>
                    <a:lstStyle/>
                    <a:p>
                      <a:pPr algn="l"/>
                      <a:r>
                        <a:rPr sz="1100" b="1">
                          <a:solidFill>
                            <a:srgbClr val="0B2E4A"/>
                          </a:solidFill>
                          <a:latin typeface="Calibri"/>
                        </a:rPr>
                        <a:t>Individual Muffin Size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498">
                <a:tc>
                  <a:txBody>
                    <a:bodyPr wrap="none"/>
                    <a:lstStyle/>
                    <a:p>
                      <a:pPr algn="l"/>
                      <a:r>
                        <a:rPr sz="1100" b="1">
                          <a:solidFill>
                            <a:srgbClr val="2E2E2E"/>
                          </a:solidFill>
                          <a:latin typeface="Calibri"/>
                        </a:rPr>
                        <a:t>Mini / bite-sized - below 30 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498">
                <a:tc>
                  <a:txBody>
                    <a:bodyPr wrap="none"/>
                    <a:lstStyle/>
                    <a:p>
                      <a:pPr algn="l"/>
                      <a:r>
                        <a:rPr sz="1100" b="1">
                          <a:solidFill>
                            <a:srgbClr val="2E2E2E"/>
                          </a:solidFill>
                          <a:latin typeface="Calibri"/>
                        </a:rPr>
                        <a:t>Small - 30 g to below 60 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498">
                <a:tc>
                  <a:txBody>
                    <a:bodyPr wrap="none"/>
                    <a:lstStyle/>
                    <a:p>
                      <a:pPr algn="l"/>
                      <a:r>
                        <a:rPr sz="1100" b="1">
                          <a:solidFill>
                            <a:srgbClr val="2E2E2E"/>
                          </a:solidFill>
                          <a:latin typeface="Calibri"/>
                        </a:rPr>
                        <a:t>Standard - 60 g to below 100 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498">
                <a:tc>
                  <a:txBody>
                    <a:bodyPr wrap="none"/>
                    <a:lstStyle/>
                    <a:p>
                      <a:pPr algn="l"/>
                      <a:r>
                        <a:rPr sz="1100" b="1">
                          <a:solidFill>
                            <a:srgbClr val="2E2E2E"/>
                          </a:solidFill>
                          <a:latin typeface="Calibri"/>
                        </a:rPr>
                        <a:t>Large / jumbo - 100 g and above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Individual Muffin Size</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01865" y="2029206"/>
            <a:ext cx="366712" cy="533400"/>
          </a:xfrm>
          <a:prstGeom prst="rect">
            <a:avLst/>
          </a:prstGeom>
        </p:spPr>
      </p:pic>
      <p:sp>
        <p:nvSpPr>
          <p:cNvPr id="21" name="TextBox 20"/>
          <p:cNvSpPr txBox="1"/>
          <p:nvPr/>
        </p:nvSpPr>
        <p:spPr>
          <a:xfrm>
            <a:off x="276225" y="3676650"/>
            <a:ext cx="4271143" cy="194310"/>
          </a:xfrm>
          <a:prstGeom prst="rect">
            <a:avLst/>
          </a:prstGeom>
          <a:noFill/>
        </p:spPr>
        <p:txBody>
          <a:bodyPr wrap="none" lIns="0" rIns="0" tIns="0" bIns="0">
            <a:spAutoFit/>
          </a:bodyPr>
          <a:lstStyle/>
          <a:p>
            <a:r>
              <a:rPr sz="1150" b="0">
                <a:solidFill>
                  <a:srgbClr val="2E2E2E"/>
                </a:solidFill>
                <a:latin typeface="Calibri"/>
              </a:rPr>
              <a:t>▪ 'Standard - 60 g to below 100 g' is the largest individual muffin size at</a:t>
            </a:r>
          </a:p>
        </p:txBody>
      </p:sp>
      <p:pic>
        <p:nvPicPr>
          <p:cNvPr id="22" name="Picture 21" descr="lock.png"/>
          <p:cNvPicPr>
            <a:picLocks noChangeAspect="1"/>
          </p:cNvPicPr>
          <p:nvPr/>
        </p:nvPicPr>
        <p:blipFill>
          <a:blip r:embed="rId4"/>
          <a:stretch>
            <a:fillRect/>
          </a:stretch>
        </p:blipFill>
        <p:spPr>
          <a:xfrm>
            <a:off x="4496522" y="3666426"/>
            <a:ext cx="134549" cy="195707"/>
          </a:xfrm>
          <a:prstGeom prst="rect">
            <a:avLst/>
          </a:prstGeom>
        </p:spPr>
      </p:pic>
      <p:sp>
        <p:nvSpPr>
          <p:cNvPr id="23" name="TextBox 22"/>
          <p:cNvSpPr txBox="1"/>
          <p:nvPr/>
        </p:nvSpPr>
        <p:spPr>
          <a:xfrm>
            <a:off x="4671632" y="36766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5701365" y="3666426"/>
            <a:ext cx="134549" cy="195707"/>
          </a:xfrm>
          <a:prstGeom prst="rect">
            <a:avLst/>
          </a:prstGeom>
        </p:spPr>
      </p:pic>
      <p:sp>
        <p:nvSpPr>
          <p:cNvPr id="25" name="TextBox 24"/>
          <p:cNvSpPr txBox="1"/>
          <p:nvPr/>
        </p:nvSpPr>
        <p:spPr>
          <a:xfrm>
            <a:off x="5876474" y="36766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904487"/>
            <a:ext cx="2774416" cy="194310"/>
          </a:xfrm>
          <a:prstGeom prst="rect">
            <a:avLst/>
          </a:prstGeom>
          <a:noFill/>
        </p:spPr>
        <p:txBody>
          <a:bodyPr wrap="none" lIns="0" rIns="0" tIns="0" bIns="0">
            <a:spAutoFit/>
          </a:bodyPr>
          <a:lstStyle/>
          <a:p>
            <a:r>
              <a:rPr sz="1150" b="0">
                <a:solidFill>
                  <a:srgbClr val="2E2E2E"/>
                </a:solidFill>
                <a:latin typeface="Calibri"/>
              </a:rPr>
              <a:t>▪ 'Mini / bite-sized - below 30 g' grows fastest</a:t>
            </a:r>
          </a:p>
        </p:txBody>
      </p:sp>
      <p:pic>
        <p:nvPicPr>
          <p:cNvPr id="27" name="Picture 26" descr="lock.png"/>
          <p:cNvPicPr>
            <a:picLocks noChangeAspect="1"/>
          </p:cNvPicPr>
          <p:nvPr/>
        </p:nvPicPr>
        <p:blipFill>
          <a:blip r:embed="rId4"/>
          <a:stretch>
            <a:fillRect/>
          </a:stretch>
        </p:blipFill>
        <p:spPr>
          <a:xfrm>
            <a:off x="2999795" y="3894264"/>
            <a:ext cx="134549" cy="195707"/>
          </a:xfrm>
          <a:prstGeom prst="rect">
            <a:avLst/>
          </a:prstGeom>
        </p:spPr>
      </p:pic>
      <p:sp>
        <p:nvSpPr>
          <p:cNvPr id="28" name="TextBox 27"/>
          <p:cNvSpPr txBox="1"/>
          <p:nvPr/>
        </p:nvSpPr>
        <p:spPr>
          <a:xfrm>
            <a:off x="3174904" y="39044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132325"/>
            <a:ext cx="3474144" cy="194310"/>
          </a:xfrm>
          <a:prstGeom prst="rect">
            <a:avLst/>
          </a:prstGeom>
          <a:noFill/>
        </p:spPr>
        <p:txBody>
          <a:bodyPr wrap="none" lIns="0" rIns="0" tIns="0" bIns="0">
            <a:spAutoFit/>
          </a:bodyPr>
          <a:lstStyle/>
          <a:p>
            <a:r>
              <a:rPr sz="1150" b="0">
                <a:solidFill>
                  <a:srgbClr val="2E2E2E"/>
                </a:solidFill>
                <a:latin typeface="Calibri"/>
              </a:rPr>
              <a:t>▪ Share shifts toward 'Large / jumbo - 100 g and above' (+</a:t>
            </a:r>
          </a:p>
        </p:txBody>
      </p:sp>
      <p:pic>
        <p:nvPicPr>
          <p:cNvPr id="30" name="Picture 29" descr="lock.png"/>
          <p:cNvPicPr>
            <a:picLocks noChangeAspect="1"/>
          </p:cNvPicPr>
          <p:nvPr/>
        </p:nvPicPr>
        <p:blipFill>
          <a:blip r:embed="rId4"/>
          <a:stretch>
            <a:fillRect/>
          </a:stretch>
        </p:blipFill>
        <p:spPr>
          <a:xfrm>
            <a:off x="3699523" y="4122102"/>
            <a:ext cx="134549" cy="195707"/>
          </a:xfrm>
          <a:prstGeom prst="rect">
            <a:avLst/>
          </a:prstGeom>
        </p:spPr>
      </p:pic>
      <p:sp>
        <p:nvSpPr>
          <p:cNvPr id="31" name="TextBox 30"/>
          <p:cNvSpPr txBox="1"/>
          <p:nvPr/>
        </p:nvSpPr>
        <p:spPr>
          <a:xfrm>
            <a:off x="3874632" y="4132325"/>
            <a:ext cx="3006613" cy="194310"/>
          </a:xfrm>
          <a:prstGeom prst="rect">
            <a:avLst/>
          </a:prstGeom>
          <a:noFill/>
        </p:spPr>
        <p:txBody>
          <a:bodyPr wrap="none" lIns="0" rIns="0" tIns="0" bIns="0">
            <a:spAutoFit/>
          </a:bodyPr>
          <a:lstStyle/>
          <a:p>
            <a:r>
              <a:rPr sz="1150" b="0">
                <a:solidFill>
                  <a:srgbClr val="2E2E2E"/>
                </a:solidFill>
                <a:latin typeface="Calibri"/>
              </a:rPr>
              <a:t>BPS) and away from 'Small - 30 g to below 60 g' (-</a:t>
            </a:r>
          </a:p>
        </p:txBody>
      </p:sp>
      <p:pic>
        <p:nvPicPr>
          <p:cNvPr id="32" name="Picture 31" descr="lock.png"/>
          <p:cNvPicPr>
            <a:picLocks noChangeAspect="1"/>
          </p:cNvPicPr>
          <p:nvPr/>
        </p:nvPicPr>
        <p:blipFill>
          <a:blip r:embed="rId4"/>
          <a:stretch>
            <a:fillRect/>
          </a:stretch>
        </p:blipFill>
        <p:spPr>
          <a:xfrm>
            <a:off x="6830400" y="4122102"/>
            <a:ext cx="134549" cy="195707"/>
          </a:xfrm>
          <a:prstGeom prst="rect">
            <a:avLst/>
          </a:prstGeom>
        </p:spPr>
      </p:pic>
      <p:sp>
        <p:nvSpPr>
          <p:cNvPr id="33" name="TextBox 32"/>
          <p:cNvSpPr txBox="1"/>
          <p:nvPr/>
        </p:nvSpPr>
        <p:spPr>
          <a:xfrm>
            <a:off x="7005509" y="41323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601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349940"/>
            <a:ext cx="134549" cy="195707"/>
          </a:xfrm>
          <a:prstGeom prst="rect">
            <a:avLst/>
          </a:prstGeom>
        </p:spPr>
      </p:pic>
      <p:sp>
        <p:nvSpPr>
          <p:cNvPr id="36" name="TextBox 35"/>
          <p:cNvSpPr txBox="1"/>
          <p:nvPr/>
        </p:nvSpPr>
        <p:spPr>
          <a:xfrm>
            <a:off x="1965143" y="43601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349940"/>
            <a:ext cx="134549" cy="195707"/>
          </a:xfrm>
          <a:prstGeom prst="rect">
            <a:avLst/>
          </a:prstGeom>
        </p:spPr>
      </p:pic>
      <p:sp>
        <p:nvSpPr>
          <p:cNvPr id="38" name="TextBox 37"/>
          <p:cNvSpPr txBox="1"/>
          <p:nvPr/>
        </p:nvSpPr>
        <p:spPr>
          <a:xfrm>
            <a:off x="2291688" y="43601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Individual Muffin Size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Individual Muffin Size,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Individual Muffin Size (US$ Mn)</a:t>
            </a:r>
          </a:p>
        </p:txBody>
      </p:sp>
      <p:graphicFrame>
        <p:nvGraphicFramePr>
          <p:cNvPr id="13" name="Table 12"/>
          <p:cNvGraphicFramePr>
            <a:graphicFrameLocks noGrp="1"/>
          </p:cNvGraphicFramePr>
          <p:nvPr/>
        </p:nvGraphicFramePr>
        <p:xfrm>
          <a:off x="152400" y="1238250"/>
          <a:ext cx="11887200" cy="1485896"/>
        </p:xfrm>
        <a:graphic>
          <a:graphicData uri="http://schemas.openxmlformats.org/drawingml/2006/table">
            <a:tbl>
              <a:tblPr>
                <a:tableStyleId>{5C22544A-7EE6-4342-B048-85BDC9FD1C3A}</a:tableStyleId>
              </a:tblPr>
              <a:tblGrid>
                <a:gridCol w="2115600"/>
                <a:gridCol w="574800"/>
                <a:gridCol w="574800"/>
                <a:gridCol w="574800"/>
                <a:gridCol w="574800"/>
                <a:gridCol w="574800"/>
                <a:gridCol w="574800"/>
                <a:gridCol w="574800"/>
                <a:gridCol w="574800"/>
                <a:gridCol w="574800"/>
                <a:gridCol w="574800"/>
                <a:gridCol w="574800"/>
                <a:gridCol w="574800"/>
                <a:gridCol w="574800"/>
                <a:gridCol w="574800"/>
                <a:gridCol w="574800"/>
                <a:gridCol w="574800"/>
                <a:gridCol w="574800"/>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Individual Muffin Size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67110" y="1837563"/>
            <a:ext cx="366712" cy="533400"/>
          </a:xfrm>
          <a:prstGeom prst="rect">
            <a:avLst/>
          </a:prstGeom>
        </p:spPr>
      </p:pic>
      <p:sp>
        <p:nvSpPr>
          <p:cNvPr id="21" name="TextBox 20"/>
          <p:cNvSpPr txBox="1"/>
          <p:nvPr/>
        </p:nvSpPr>
        <p:spPr>
          <a:xfrm>
            <a:off x="276225" y="3486150"/>
            <a:ext cx="4271143" cy="194310"/>
          </a:xfrm>
          <a:prstGeom prst="rect">
            <a:avLst/>
          </a:prstGeom>
          <a:noFill/>
        </p:spPr>
        <p:txBody>
          <a:bodyPr wrap="none" lIns="0" rIns="0" tIns="0" bIns="0">
            <a:spAutoFit/>
          </a:bodyPr>
          <a:lstStyle/>
          <a:p>
            <a:r>
              <a:rPr sz="1150" b="0">
                <a:solidFill>
                  <a:srgbClr val="2E2E2E"/>
                </a:solidFill>
                <a:latin typeface="Calibri"/>
              </a:rPr>
              <a:t>▪ 'Standard - 60 g to below 100 g' is the largest individual muffin size at</a:t>
            </a:r>
          </a:p>
        </p:txBody>
      </p:sp>
      <p:pic>
        <p:nvPicPr>
          <p:cNvPr id="22" name="Picture 21" descr="lock.png"/>
          <p:cNvPicPr>
            <a:picLocks noChangeAspect="1"/>
          </p:cNvPicPr>
          <p:nvPr/>
        </p:nvPicPr>
        <p:blipFill>
          <a:blip r:embed="rId4"/>
          <a:stretch>
            <a:fillRect/>
          </a:stretch>
        </p:blipFill>
        <p:spPr>
          <a:xfrm>
            <a:off x="4496522" y="3475926"/>
            <a:ext cx="134549" cy="195707"/>
          </a:xfrm>
          <a:prstGeom prst="rect">
            <a:avLst/>
          </a:prstGeom>
        </p:spPr>
      </p:pic>
      <p:sp>
        <p:nvSpPr>
          <p:cNvPr id="23" name="TextBox 22"/>
          <p:cNvSpPr txBox="1"/>
          <p:nvPr/>
        </p:nvSpPr>
        <p:spPr>
          <a:xfrm>
            <a:off x="4671632"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5577564" y="3475926"/>
            <a:ext cx="134549" cy="195707"/>
          </a:xfrm>
          <a:prstGeom prst="rect">
            <a:avLst/>
          </a:prstGeom>
        </p:spPr>
      </p:pic>
      <p:sp>
        <p:nvSpPr>
          <p:cNvPr id="25" name="TextBox 24"/>
          <p:cNvSpPr txBox="1"/>
          <p:nvPr/>
        </p:nvSpPr>
        <p:spPr>
          <a:xfrm>
            <a:off x="5752674"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774416" cy="194310"/>
          </a:xfrm>
          <a:prstGeom prst="rect">
            <a:avLst/>
          </a:prstGeom>
          <a:noFill/>
        </p:spPr>
        <p:txBody>
          <a:bodyPr wrap="none" lIns="0" rIns="0" tIns="0" bIns="0">
            <a:spAutoFit/>
          </a:bodyPr>
          <a:lstStyle/>
          <a:p>
            <a:r>
              <a:rPr sz="1150" b="0">
                <a:solidFill>
                  <a:srgbClr val="2E2E2E"/>
                </a:solidFill>
                <a:latin typeface="Calibri"/>
              </a:rPr>
              <a:t>▪ 'Mini / bite-sized - below 30 g' grows fastest</a:t>
            </a:r>
          </a:p>
        </p:txBody>
      </p:sp>
      <p:pic>
        <p:nvPicPr>
          <p:cNvPr id="27" name="Picture 26" descr="lock.png"/>
          <p:cNvPicPr>
            <a:picLocks noChangeAspect="1"/>
          </p:cNvPicPr>
          <p:nvPr/>
        </p:nvPicPr>
        <p:blipFill>
          <a:blip r:embed="rId4"/>
          <a:stretch>
            <a:fillRect/>
          </a:stretch>
        </p:blipFill>
        <p:spPr>
          <a:xfrm>
            <a:off x="2999795" y="3703764"/>
            <a:ext cx="134549" cy="195707"/>
          </a:xfrm>
          <a:prstGeom prst="rect">
            <a:avLst/>
          </a:prstGeom>
        </p:spPr>
      </p:pic>
      <p:sp>
        <p:nvSpPr>
          <p:cNvPr id="28" name="TextBox 27"/>
          <p:cNvSpPr txBox="1"/>
          <p:nvPr/>
        </p:nvSpPr>
        <p:spPr>
          <a:xfrm>
            <a:off x="3174904"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3474144" cy="194310"/>
          </a:xfrm>
          <a:prstGeom prst="rect">
            <a:avLst/>
          </a:prstGeom>
          <a:noFill/>
        </p:spPr>
        <p:txBody>
          <a:bodyPr wrap="none" lIns="0" rIns="0" tIns="0" bIns="0">
            <a:spAutoFit/>
          </a:bodyPr>
          <a:lstStyle/>
          <a:p>
            <a:r>
              <a:rPr sz="1150" b="0">
                <a:solidFill>
                  <a:srgbClr val="2E2E2E"/>
                </a:solidFill>
                <a:latin typeface="Calibri"/>
              </a:rPr>
              <a:t>▪ Share shifts toward 'Large / jumbo - 100 g and above' (+</a:t>
            </a:r>
          </a:p>
        </p:txBody>
      </p:sp>
      <p:pic>
        <p:nvPicPr>
          <p:cNvPr id="30" name="Picture 29" descr="lock.png"/>
          <p:cNvPicPr>
            <a:picLocks noChangeAspect="1"/>
          </p:cNvPicPr>
          <p:nvPr/>
        </p:nvPicPr>
        <p:blipFill>
          <a:blip r:embed="rId4"/>
          <a:stretch>
            <a:fillRect/>
          </a:stretch>
        </p:blipFill>
        <p:spPr>
          <a:xfrm>
            <a:off x="3699523" y="3931602"/>
            <a:ext cx="134549" cy="195707"/>
          </a:xfrm>
          <a:prstGeom prst="rect">
            <a:avLst/>
          </a:prstGeom>
        </p:spPr>
      </p:pic>
      <p:sp>
        <p:nvSpPr>
          <p:cNvPr id="31" name="TextBox 30"/>
          <p:cNvSpPr txBox="1"/>
          <p:nvPr/>
        </p:nvSpPr>
        <p:spPr>
          <a:xfrm>
            <a:off x="3874632" y="3941825"/>
            <a:ext cx="3006613" cy="194310"/>
          </a:xfrm>
          <a:prstGeom prst="rect">
            <a:avLst/>
          </a:prstGeom>
          <a:noFill/>
        </p:spPr>
        <p:txBody>
          <a:bodyPr wrap="none" lIns="0" rIns="0" tIns="0" bIns="0">
            <a:spAutoFit/>
          </a:bodyPr>
          <a:lstStyle/>
          <a:p>
            <a:r>
              <a:rPr sz="1150" b="0">
                <a:solidFill>
                  <a:srgbClr val="2E2E2E"/>
                </a:solidFill>
                <a:latin typeface="Calibri"/>
              </a:rPr>
              <a:t>BPS) and away from 'Small - 30 g to below 60 g' (-</a:t>
            </a:r>
          </a:p>
        </p:txBody>
      </p:sp>
      <p:pic>
        <p:nvPicPr>
          <p:cNvPr id="32" name="Picture 31" descr="lock.png"/>
          <p:cNvPicPr>
            <a:picLocks noChangeAspect="1"/>
          </p:cNvPicPr>
          <p:nvPr/>
        </p:nvPicPr>
        <p:blipFill>
          <a:blip r:embed="rId4"/>
          <a:stretch>
            <a:fillRect/>
          </a:stretch>
        </p:blipFill>
        <p:spPr>
          <a:xfrm>
            <a:off x="6830400" y="3931602"/>
            <a:ext cx="134549" cy="195707"/>
          </a:xfrm>
          <a:prstGeom prst="rect">
            <a:avLst/>
          </a:prstGeom>
        </p:spPr>
      </p:pic>
      <p:sp>
        <p:nvSpPr>
          <p:cNvPr id="33" name="TextBox 32"/>
          <p:cNvSpPr txBox="1"/>
          <p:nvPr/>
        </p:nvSpPr>
        <p:spPr>
          <a:xfrm>
            <a:off x="7005509"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Individual Muffin Size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Individual Muffin Size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660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0184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564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Mini / bite-sized - below 30 g</a:t>
            </a:r>
          </a:p>
        </p:txBody>
      </p:sp>
      <p:sp>
        <p:nvSpPr>
          <p:cNvPr id="19" name="BPS Value 1"/>
          <p:cNvSpPr txBox="1"/>
          <p:nvPr/>
        </p:nvSpPr>
        <p:spPr>
          <a:xfrm>
            <a:off x="6896100" y="178755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45034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455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693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Small - 30 g to below 60 g</a:t>
            </a:r>
          </a:p>
        </p:txBody>
      </p:sp>
      <p:sp>
        <p:nvSpPr>
          <p:cNvPr id="23" name="BPS Value 2"/>
          <p:cNvSpPr txBox="1"/>
          <p:nvPr/>
        </p:nvSpPr>
        <p:spPr>
          <a:xfrm>
            <a:off x="6896100" y="243129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58857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5838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5076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Large / jumbo - 100 g and above</a:t>
            </a:r>
          </a:p>
        </p:txBody>
      </p:sp>
      <p:sp>
        <p:nvSpPr>
          <p:cNvPr id="27" name="BPS Value 3"/>
          <p:cNvSpPr txBox="1"/>
          <p:nvPr/>
        </p:nvSpPr>
        <p:spPr>
          <a:xfrm>
            <a:off x="6896100" y="35695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2310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2262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500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- 60 g to below 100 g</a:t>
            </a:r>
          </a:p>
        </p:txBody>
      </p:sp>
      <p:sp>
        <p:nvSpPr>
          <p:cNvPr id="31" name="BPS Value 4"/>
          <p:cNvSpPr txBox="1"/>
          <p:nvPr/>
        </p:nvSpPr>
        <p:spPr>
          <a:xfrm>
            <a:off x="6896100" y="52119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Individual Muffin Size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511227" cy="194310"/>
          </a:xfrm>
          <a:prstGeom prst="rect">
            <a:avLst/>
          </a:prstGeom>
          <a:noFill/>
        </p:spPr>
        <p:txBody>
          <a:bodyPr wrap="none" lIns="0" rIns="0" tIns="0" bIns="0">
            <a:spAutoFit/>
          </a:bodyPr>
          <a:lstStyle/>
          <a:p>
            <a:r>
              <a:rPr sz="1150" b="0">
                <a:solidFill>
                  <a:srgbClr val="2E2E2E"/>
                </a:solidFill>
                <a:latin typeface="Calibri"/>
              </a:rPr>
              <a:t>▪ 'Large / jumbo - 100 g and above' gains the most share +</a:t>
            </a:r>
          </a:p>
        </p:txBody>
      </p:sp>
      <p:pic>
        <p:nvPicPr>
          <p:cNvPr id="39" name="Picture 38" descr="lock.png"/>
          <p:cNvPicPr>
            <a:picLocks noChangeAspect="1"/>
          </p:cNvPicPr>
          <p:nvPr/>
        </p:nvPicPr>
        <p:blipFill>
          <a:blip r:embed="rId5"/>
          <a:stretch>
            <a:fillRect/>
          </a:stretch>
        </p:blipFill>
        <p:spPr>
          <a:xfrm>
            <a:off x="11289931" y="1389951"/>
            <a:ext cx="134549" cy="195707"/>
          </a:xfrm>
          <a:prstGeom prst="rect">
            <a:avLst/>
          </a:prstGeom>
        </p:spPr>
      </p:pic>
      <p:sp>
        <p:nvSpPr>
          <p:cNvPr id="40" name="TextBox 39"/>
          <p:cNvSpPr txBox="1"/>
          <p:nvPr/>
        </p:nvSpPr>
        <p:spPr>
          <a:xfrm>
            <a:off x="11465040"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41" name="TextBox 40"/>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764147" cy="194310"/>
          </a:xfrm>
          <a:prstGeom prst="rect">
            <a:avLst/>
          </a:prstGeom>
          <a:noFill/>
        </p:spPr>
        <p:txBody>
          <a:bodyPr wrap="none" lIns="0" rIns="0" tIns="0" bIns="0">
            <a:spAutoFit/>
          </a:bodyPr>
          <a:lstStyle/>
          <a:p>
            <a:r>
              <a:rPr sz="1150" b="0">
                <a:solidFill>
                  <a:srgbClr val="2E2E2E"/>
                </a:solidFill>
                <a:latin typeface="Calibri"/>
              </a:rPr>
              <a:t>▪ 'Small - 30 g to below 60 g' cedes the most -</a:t>
            </a:r>
          </a:p>
        </p:txBody>
      </p:sp>
      <p:pic>
        <p:nvPicPr>
          <p:cNvPr id="43" name="Picture 42" descr="lock.png"/>
          <p:cNvPicPr>
            <a:picLocks noChangeAspect="1"/>
          </p:cNvPicPr>
          <p:nvPr/>
        </p:nvPicPr>
        <p:blipFill>
          <a:blip r:embed="rId5"/>
          <a:stretch>
            <a:fillRect/>
          </a:stretch>
        </p:blipFill>
        <p:spPr>
          <a:xfrm>
            <a:off x="10542851" y="1793049"/>
            <a:ext cx="134549" cy="195707"/>
          </a:xfrm>
          <a:prstGeom prst="rect">
            <a:avLst/>
          </a:prstGeom>
        </p:spPr>
      </p:pic>
      <p:sp>
        <p:nvSpPr>
          <p:cNvPr id="44" name="TextBox 43"/>
          <p:cNvSpPr txBox="1"/>
          <p:nvPr/>
        </p:nvSpPr>
        <p:spPr>
          <a:xfrm>
            <a:off x="10717960" y="180327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45" name="TextBox 44"/>
          <p:cNvSpPr txBox="1"/>
          <p:nvPr/>
        </p:nvSpPr>
        <p:spPr>
          <a:xfrm>
            <a:off x="7829550" y="1978533"/>
            <a:ext cx="1364691" cy="194310"/>
          </a:xfrm>
          <a:prstGeom prst="rect">
            <a:avLst/>
          </a:prstGeom>
          <a:noFill/>
        </p:spPr>
        <p:txBody>
          <a:bodyPr wrap="none" lIns="0" rIns="0" tIns="0" bIns="0">
            <a:spAutoFit/>
          </a:bodyPr>
          <a:lstStyle/>
          <a:p>
            <a:r>
              <a:rPr sz="1150" b="0">
                <a:solidFill>
                  <a:srgbClr val="2E2E2E"/>
                </a:solidFill>
                <a:latin typeface="Calibri"/>
              </a:rPr>
              <a:t>same 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3874070" cy="194310"/>
          </a:xfrm>
          <a:prstGeom prst="rect">
            <a:avLst/>
          </a:prstGeom>
          <a:noFill/>
        </p:spPr>
        <p:txBody>
          <a:bodyPr wrap="none" lIns="0" rIns="0" tIns="0" bIns="0">
            <a:spAutoFit/>
          </a:bodyPr>
          <a:lstStyle/>
          <a:p>
            <a:r>
              <a:rPr sz="1150" b="0">
                <a:solidFill>
                  <a:srgbClr val="2E2E2E"/>
                </a:solidFill>
                <a:latin typeface="Calibri"/>
              </a:rPr>
              <a:t>▪ 'Mini / bite-sized - below 30 g' is the fastest-growing individual</a:t>
            </a:r>
          </a:p>
        </p:txBody>
      </p:sp>
      <p:sp>
        <p:nvSpPr>
          <p:cNvPr id="47" name="TextBox 46"/>
          <p:cNvSpPr txBox="1"/>
          <p:nvPr/>
        </p:nvSpPr>
        <p:spPr>
          <a:xfrm>
            <a:off x="7829550" y="2381631"/>
            <a:ext cx="875196" cy="194310"/>
          </a:xfrm>
          <a:prstGeom prst="rect">
            <a:avLst/>
          </a:prstGeom>
          <a:noFill/>
        </p:spPr>
        <p:txBody>
          <a:bodyPr wrap="none" lIns="0" rIns="0" tIns="0" bIns="0">
            <a:spAutoFit/>
          </a:bodyPr>
          <a:lstStyle/>
          <a:p>
            <a:r>
              <a:rPr sz="1150" b="0">
                <a:solidFill>
                  <a:srgbClr val="2E2E2E"/>
                </a:solidFill>
                <a:latin typeface="Calibri"/>
              </a:rPr>
              <a:t>muffin size at</a:t>
            </a:r>
          </a:p>
        </p:txBody>
      </p:sp>
      <p:pic>
        <p:nvPicPr>
          <p:cNvPr id="48" name="Picture 47" descr="lock.png"/>
          <p:cNvPicPr>
            <a:picLocks noChangeAspect="1"/>
          </p:cNvPicPr>
          <p:nvPr/>
        </p:nvPicPr>
        <p:blipFill>
          <a:blip r:embed="rId5"/>
          <a:stretch>
            <a:fillRect/>
          </a:stretch>
        </p:blipFill>
        <p:spPr>
          <a:xfrm>
            <a:off x="8653900" y="2371407"/>
            <a:ext cx="134549" cy="195707"/>
          </a:xfrm>
          <a:prstGeom prst="rect">
            <a:avLst/>
          </a:prstGeom>
        </p:spPr>
      </p:pic>
      <p:sp>
        <p:nvSpPr>
          <p:cNvPr id="49" name="TextBox 48"/>
          <p:cNvSpPr txBox="1"/>
          <p:nvPr/>
        </p:nvSpPr>
        <p:spPr>
          <a:xfrm>
            <a:off x="882900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Individual Muffin Size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Individual Muffin Size,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Individual Muffin Size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sp>
        <p:nvSpPr>
          <p:cNvPr id="33" name="Rectangle 32"/>
          <p:cNvSpPr/>
          <p:nvPr/>
        </p:nvSpPr>
        <p:spPr>
          <a:xfrm>
            <a:off x="1857375" y="3248025"/>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sp>
        <p:nvSpPr>
          <p:cNvPr id="65" name="Rectangle 64"/>
          <p:cNvSpPr/>
          <p:nvPr/>
        </p:nvSpPr>
        <p:spPr>
          <a:xfrm>
            <a:off x="185737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81" name="Rectangle 80"/>
          <p:cNvSpPr/>
          <p:nvPr/>
        </p:nvSpPr>
        <p:spPr>
          <a:xfrm>
            <a:off x="1857375" y="5741194"/>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060904" y="1713738"/>
            <a:ext cx="366712" cy="533400"/>
          </a:xfrm>
          <a:prstGeom prst="rect">
            <a:avLst/>
          </a:prstGeom>
        </p:spPr>
      </p:pic>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Individual Muffin Size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Individual Muffin Size,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Individual Muffin Size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sp>
        <p:nvSpPr>
          <p:cNvPr id="33" name="Rectangle 32"/>
          <p:cNvSpPr/>
          <p:nvPr/>
        </p:nvSpPr>
        <p:spPr>
          <a:xfrm>
            <a:off x="1857375" y="3248025"/>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sp>
        <p:nvSpPr>
          <p:cNvPr id="65" name="Rectangle 64"/>
          <p:cNvSpPr/>
          <p:nvPr/>
        </p:nvSpPr>
        <p:spPr>
          <a:xfrm>
            <a:off x="185737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81" name="Rectangle 80"/>
          <p:cNvSpPr/>
          <p:nvPr/>
        </p:nvSpPr>
        <p:spPr>
          <a:xfrm>
            <a:off x="1857375" y="5741194"/>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060904"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Storage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Storage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Storage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Storage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Storage Format segment categorizes the market by storage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Frozen</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Chilled</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Ambient</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Storage Format split shows how demand is distributed across storage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_047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_72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2_9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194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017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5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355_8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609_6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5_5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77975" cy="186689"/>
          </a:xfrm>
          <a:prstGeom prst="rect">
            <a:avLst/>
          </a:prstGeom>
          <a:noFill/>
        </p:spPr>
        <p:txBody>
          <a:bodyPr wrap="none" lIns="0" rIns="0" tIns="0" bIns="0">
            <a:spAutoFit/>
          </a:bodyPr>
          <a:lstStyle/>
          <a:p>
            <a:r>
              <a:rPr sz="1100" b="0">
                <a:solidFill>
                  <a:srgbClr val="2E2E2E"/>
                </a:solidFill>
                <a:latin typeface="Calibri"/>
              </a:rPr>
              <a:t>▪ 'Frozen' holds the largest share in 2026</a:t>
            </a:r>
          </a:p>
        </p:txBody>
      </p:sp>
      <p:pic>
        <p:nvPicPr>
          <p:cNvPr id="70" name="Picture 69" descr="lock.png"/>
          <p:cNvPicPr>
            <a:picLocks noChangeAspect="1"/>
          </p:cNvPicPr>
          <p:nvPr/>
        </p:nvPicPr>
        <p:blipFill>
          <a:blip r:embed="rId13"/>
          <a:stretch>
            <a:fillRect/>
          </a:stretch>
        </p:blipFill>
        <p:spPr>
          <a:xfrm>
            <a:off x="2811802" y="4219658"/>
            <a:ext cx="128699" cy="187198"/>
          </a:xfrm>
          <a:prstGeom prst="rect">
            <a:avLst/>
          </a:prstGeom>
        </p:spPr>
      </p:pic>
      <p:sp>
        <p:nvSpPr>
          <p:cNvPr id="71" name="TextBox 70"/>
          <p:cNvSpPr txBox="1"/>
          <p:nvPr/>
        </p:nvSpPr>
        <p:spPr>
          <a:xfrm>
            <a:off x="2979298"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72" name="TextBox 71"/>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73" name="TextBox 72"/>
          <p:cNvSpPr txBox="1"/>
          <p:nvPr/>
        </p:nvSpPr>
        <p:spPr>
          <a:xfrm>
            <a:off x="485775" y="4615009"/>
            <a:ext cx="2875384" cy="186689"/>
          </a:xfrm>
          <a:prstGeom prst="rect">
            <a:avLst/>
          </a:prstGeom>
          <a:noFill/>
        </p:spPr>
        <p:txBody>
          <a:bodyPr wrap="none" lIns="0" rIns="0" tIns="0" bIns="0">
            <a:spAutoFit/>
          </a:bodyPr>
          <a:lstStyle/>
          <a:p>
            <a:r>
              <a:rPr sz="1100" b="0">
                <a:solidFill>
                  <a:srgbClr val="2E2E2E"/>
                </a:solidFill>
                <a:latin typeface="Calibri"/>
              </a:rPr>
              <a:t>▪ 'Ambient' is the fastest-growing sub-segment at</a:t>
            </a:r>
          </a:p>
        </p:txBody>
      </p:sp>
      <p:pic>
        <p:nvPicPr>
          <p:cNvPr id="74" name="Picture 73" descr="lock.png"/>
          <p:cNvPicPr>
            <a:picLocks noChangeAspect="1"/>
          </p:cNvPicPr>
          <p:nvPr/>
        </p:nvPicPr>
        <p:blipFill>
          <a:blip r:embed="rId13"/>
          <a:stretch>
            <a:fillRect/>
          </a:stretch>
        </p:blipFill>
        <p:spPr>
          <a:xfrm>
            <a:off x="472307" y="4772870"/>
            <a:ext cx="128699" cy="187198"/>
          </a:xfrm>
          <a:prstGeom prst="rect">
            <a:avLst/>
          </a:prstGeom>
        </p:spPr>
      </p:pic>
      <p:sp>
        <p:nvSpPr>
          <p:cNvPr id="75" name="TextBox 74"/>
          <p:cNvSpPr txBox="1"/>
          <p:nvPr/>
        </p:nvSpPr>
        <p:spPr>
          <a:xfrm>
            <a:off x="639803"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6" name="TextBox 7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7" name="Picture 76" descr="lock.png"/>
          <p:cNvPicPr>
            <a:picLocks noChangeAspect="1"/>
          </p:cNvPicPr>
          <p:nvPr/>
        </p:nvPicPr>
        <p:blipFill>
          <a:blip r:embed="rId13"/>
          <a:stretch>
            <a:fillRect/>
          </a:stretch>
        </p:blipFill>
        <p:spPr>
          <a:xfrm>
            <a:off x="2240451" y="4990801"/>
            <a:ext cx="128699" cy="187198"/>
          </a:xfrm>
          <a:prstGeom prst="rect">
            <a:avLst/>
          </a:prstGeom>
        </p:spPr>
      </p:pic>
      <p:sp>
        <p:nvSpPr>
          <p:cNvPr id="78" name="TextBox 7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9" name="Picture 78" descr="lock.png"/>
          <p:cNvPicPr>
            <a:picLocks noChangeAspect="1"/>
          </p:cNvPicPr>
          <p:nvPr/>
        </p:nvPicPr>
        <p:blipFill>
          <a:blip r:embed="rId13"/>
          <a:stretch>
            <a:fillRect/>
          </a:stretch>
        </p:blipFill>
        <p:spPr>
          <a:xfrm>
            <a:off x="2552799" y="4990801"/>
            <a:ext cx="128699" cy="187198"/>
          </a:xfrm>
          <a:prstGeom prst="rect">
            <a:avLst/>
          </a:prstGeom>
        </p:spPr>
      </p:pic>
      <p:sp>
        <p:nvSpPr>
          <p:cNvPr id="80" name="TextBox 7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2" name="TextBox 81"/>
          <p:cNvSpPr txBox="1"/>
          <p:nvPr/>
        </p:nvSpPr>
        <p:spPr>
          <a:xfrm>
            <a:off x="485775" y="5386153"/>
            <a:ext cx="2673201" cy="186689"/>
          </a:xfrm>
          <a:prstGeom prst="rect">
            <a:avLst/>
          </a:prstGeom>
          <a:noFill/>
        </p:spPr>
        <p:txBody>
          <a:bodyPr wrap="none" lIns="0" rIns="0" tIns="0" bIns="0">
            <a:spAutoFit/>
          </a:bodyPr>
          <a:lstStyle/>
          <a:p>
            <a:r>
              <a:rPr sz="1100" b="0">
                <a:solidFill>
                  <a:srgbClr val="2E2E2E"/>
                </a:solidFill>
                <a:latin typeface="Calibri"/>
              </a:rPr>
              <a:t>▪ 3 sub-segments make up the storage format</a:t>
            </a:r>
          </a:p>
        </p:txBody>
      </p:sp>
      <p:sp>
        <p:nvSpPr>
          <p:cNvPr id="83" name="TextBox 82"/>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4" name="TextBox 83"/>
          <p:cNvSpPr txBox="1"/>
          <p:nvPr/>
        </p:nvSpPr>
        <p:spPr>
          <a:xfrm>
            <a:off x="3838575" y="4229437"/>
            <a:ext cx="614263" cy="186689"/>
          </a:xfrm>
          <a:prstGeom prst="rect">
            <a:avLst/>
          </a:prstGeom>
          <a:noFill/>
        </p:spPr>
        <p:txBody>
          <a:bodyPr wrap="none" lIns="0" rIns="0" tIns="0" bIns="0">
            <a:spAutoFit/>
          </a:bodyPr>
          <a:lstStyle/>
          <a:p>
            <a:r>
              <a:rPr sz="1100" b="0">
                <a:solidFill>
                  <a:srgbClr val="2E2E2E"/>
                </a:solidFill>
                <a:latin typeface="Calibri"/>
              </a:rPr>
              <a:t>● Frozen:</a:t>
            </a:r>
          </a:p>
        </p:txBody>
      </p:sp>
      <p:pic>
        <p:nvPicPr>
          <p:cNvPr id="85" name="Picture 84" descr="lock.png"/>
          <p:cNvPicPr>
            <a:picLocks noChangeAspect="1"/>
          </p:cNvPicPr>
          <p:nvPr/>
        </p:nvPicPr>
        <p:blipFill>
          <a:blip r:embed="rId13"/>
          <a:stretch>
            <a:fillRect/>
          </a:stretch>
        </p:blipFill>
        <p:spPr>
          <a:xfrm>
            <a:off x="4400889" y="4219658"/>
            <a:ext cx="128699" cy="187198"/>
          </a:xfrm>
          <a:prstGeom prst="rect">
            <a:avLst/>
          </a:prstGeom>
        </p:spPr>
      </p:pic>
      <p:sp>
        <p:nvSpPr>
          <p:cNvPr id="86" name="TextBox 85"/>
          <p:cNvSpPr txBox="1"/>
          <p:nvPr/>
        </p:nvSpPr>
        <p:spPr>
          <a:xfrm>
            <a:off x="456838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3"/>
          <a:stretch>
            <a:fillRect/>
          </a:stretch>
        </p:blipFill>
        <p:spPr>
          <a:xfrm>
            <a:off x="5427835" y="4219658"/>
            <a:ext cx="128699" cy="187198"/>
          </a:xfrm>
          <a:prstGeom prst="rect">
            <a:avLst/>
          </a:prstGeom>
        </p:spPr>
      </p:pic>
      <p:sp>
        <p:nvSpPr>
          <p:cNvPr id="88" name="TextBox 87"/>
          <p:cNvSpPr txBox="1"/>
          <p:nvPr/>
        </p:nvSpPr>
        <p:spPr>
          <a:xfrm>
            <a:off x="5595331"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9" name="TextBox 88"/>
          <p:cNvSpPr txBox="1"/>
          <p:nvPr/>
        </p:nvSpPr>
        <p:spPr>
          <a:xfrm>
            <a:off x="3838575" y="4447369"/>
            <a:ext cx="616991" cy="186689"/>
          </a:xfrm>
          <a:prstGeom prst="rect">
            <a:avLst/>
          </a:prstGeom>
          <a:noFill/>
        </p:spPr>
        <p:txBody>
          <a:bodyPr wrap="none" lIns="0" rIns="0" tIns="0" bIns="0">
            <a:spAutoFit/>
          </a:bodyPr>
          <a:lstStyle/>
          <a:p>
            <a:r>
              <a:rPr sz="1100" b="0">
                <a:solidFill>
                  <a:srgbClr val="2E2E2E"/>
                </a:solidFill>
                <a:latin typeface="Calibri"/>
              </a:rPr>
              <a:t>● Chilled:</a:t>
            </a:r>
          </a:p>
        </p:txBody>
      </p:sp>
      <p:pic>
        <p:nvPicPr>
          <p:cNvPr id="90" name="Picture 89" descr="lock.png"/>
          <p:cNvPicPr>
            <a:picLocks noChangeAspect="1"/>
          </p:cNvPicPr>
          <p:nvPr/>
        </p:nvPicPr>
        <p:blipFill>
          <a:blip r:embed="rId13"/>
          <a:stretch>
            <a:fillRect/>
          </a:stretch>
        </p:blipFill>
        <p:spPr>
          <a:xfrm>
            <a:off x="4403618" y="4437590"/>
            <a:ext cx="128699" cy="187198"/>
          </a:xfrm>
          <a:prstGeom prst="rect">
            <a:avLst/>
          </a:prstGeom>
        </p:spPr>
      </p:pic>
      <p:sp>
        <p:nvSpPr>
          <p:cNvPr id="91" name="TextBox 90"/>
          <p:cNvSpPr txBox="1"/>
          <p:nvPr/>
        </p:nvSpPr>
        <p:spPr>
          <a:xfrm>
            <a:off x="457111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2" name="Picture 91" descr="lock.png"/>
          <p:cNvPicPr>
            <a:picLocks noChangeAspect="1"/>
          </p:cNvPicPr>
          <p:nvPr/>
        </p:nvPicPr>
        <p:blipFill>
          <a:blip r:embed="rId13"/>
          <a:stretch>
            <a:fillRect/>
          </a:stretch>
        </p:blipFill>
        <p:spPr>
          <a:xfrm>
            <a:off x="5430564" y="4437590"/>
            <a:ext cx="128699" cy="187198"/>
          </a:xfrm>
          <a:prstGeom prst="rect">
            <a:avLst/>
          </a:prstGeom>
        </p:spPr>
      </p:pic>
      <p:sp>
        <p:nvSpPr>
          <p:cNvPr id="93" name="TextBox 92"/>
          <p:cNvSpPr txBox="1"/>
          <p:nvPr/>
        </p:nvSpPr>
        <p:spPr>
          <a:xfrm>
            <a:off x="559806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4" name="TextBox 93"/>
          <p:cNvSpPr txBox="1"/>
          <p:nvPr/>
        </p:nvSpPr>
        <p:spPr>
          <a:xfrm>
            <a:off x="3838575" y="4665301"/>
            <a:ext cx="717401" cy="186689"/>
          </a:xfrm>
          <a:prstGeom prst="rect">
            <a:avLst/>
          </a:prstGeom>
          <a:noFill/>
        </p:spPr>
        <p:txBody>
          <a:bodyPr wrap="none" lIns="0" rIns="0" tIns="0" bIns="0">
            <a:spAutoFit/>
          </a:bodyPr>
          <a:lstStyle/>
          <a:p>
            <a:r>
              <a:rPr sz="1100" b="0">
                <a:solidFill>
                  <a:srgbClr val="2E2E2E"/>
                </a:solidFill>
                <a:latin typeface="Calibri"/>
              </a:rPr>
              <a:t>● Ambient:</a:t>
            </a:r>
          </a:p>
        </p:txBody>
      </p:sp>
      <p:pic>
        <p:nvPicPr>
          <p:cNvPr id="95" name="Picture 94" descr="lock.png"/>
          <p:cNvPicPr>
            <a:picLocks noChangeAspect="1"/>
          </p:cNvPicPr>
          <p:nvPr/>
        </p:nvPicPr>
        <p:blipFill>
          <a:blip r:embed="rId13"/>
          <a:stretch>
            <a:fillRect/>
          </a:stretch>
        </p:blipFill>
        <p:spPr>
          <a:xfrm>
            <a:off x="4504027" y="4655522"/>
            <a:ext cx="128699" cy="187198"/>
          </a:xfrm>
          <a:prstGeom prst="rect">
            <a:avLst/>
          </a:prstGeom>
        </p:spPr>
      </p:pic>
      <p:sp>
        <p:nvSpPr>
          <p:cNvPr id="96" name="TextBox 95"/>
          <p:cNvSpPr txBox="1"/>
          <p:nvPr/>
        </p:nvSpPr>
        <p:spPr>
          <a:xfrm>
            <a:off x="46715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5530973" y="4655522"/>
            <a:ext cx="128699" cy="187198"/>
          </a:xfrm>
          <a:prstGeom prst="rect">
            <a:avLst/>
          </a:prstGeom>
        </p:spPr>
      </p:pic>
      <p:sp>
        <p:nvSpPr>
          <p:cNvPr id="98" name="TextBox 97"/>
          <p:cNvSpPr txBox="1"/>
          <p:nvPr/>
        </p:nvSpPr>
        <p:spPr>
          <a:xfrm>
            <a:off x="5698469"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9" name="TextBox 98"/>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Storage Format segment is projected to grow at</a:t>
            </a:r>
          </a:p>
        </p:txBody>
      </p:sp>
      <p:sp>
        <p:nvSpPr>
          <p:cNvPr id="100" name="TextBox 99"/>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01" name="Picture 100" descr="lock.png"/>
          <p:cNvPicPr>
            <a:picLocks noChangeAspect="1"/>
          </p:cNvPicPr>
          <p:nvPr/>
        </p:nvPicPr>
        <p:blipFill>
          <a:blip r:embed="rId13"/>
          <a:stretch>
            <a:fillRect/>
          </a:stretch>
        </p:blipFill>
        <p:spPr>
          <a:xfrm>
            <a:off x="9154084" y="6007677"/>
            <a:ext cx="134549" cy="195707"/>
          </a:xfrm>
          <a:prstGeom prst="rect">
            <a:avLst/>
          </a:prstGeom>
        </p:spPr>
      </p:pic>
      <p:sp>
        <p:nvSpPr>
          <p:cNvPr id="102" name="TextBox 101"/>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Storage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Storage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Storage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Storage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989165" cy="186689"/>
          </a:xfrm>
          <a:prstGeom prst="rect">
            <a:avLst/>
          </a:prstGeom>
          <a:noFill/>
        </p:spPr>
        <p:txBody>
          <a:bodyPr wrap="none" lIns="0" rIns="0" tIns="0" bIns="0">
            <a:spAutoFit/>
          </a:bodyPr>
          <a:lstStyle/>
          <a:p>
            <a:r>
              <a:rPr sz="1100" b="0">
                <a:solidFill>
                  <a:srgbClr val="2E2E2E"/>
                </a:solidFill>
                <a:latin typeface="Calibri"/>
              </a:rPr>
              <a:t>Between 2026 and 2036, 'Chilled' gains the most share in the North America market (+</a:t>
            </a:r>
          </a:p>
        </p:txBody>
      </p:sp>
      <p:pic>
        <p:nvPicPr>
          <p:cNvPr id="21" name="Picture 20" descr="lock.png"/>
          <p:cNvPicPr>
            <a:picLocks noChangeAspect="1"/>
          </p:cNvPicPr>
          <p:nvPr/>
        </p:nvPicPr>
        <p:blipFill>
          <a:blip r:embed="rId6"/>
          <a:stretch>
            <a:fillRect/>
          </a:stretch>
        </p:blipFill>
        <p:spPr>
          <a:xfrm>
            <a:off x="5194391" y="5935726"/>
            <a:ext cx="128699" cy="187198"/>
          </a:xfrm>
          <a:prstGeom prst="rect">
            <a:avLst/>
          </a:prstGeom>
        </p:spPr>
      </p:pic>
      <p:sp>
        <p:nvSpPr>
          <p:cNvPr id="22" name="TextBox 21"/>
          <p:cNvSpPr txBox="1"/>
          <p:nvPr/>
        </p:nvSpPr>
        <p:spPr>
          <a:xfrm>
            <a:off x="5361887" y="5945505"/>
            <a:ext cx="1505942" cy="186689"/>
          </a:xfrm>
          <a:prstGeom prst="rect">
            <a:avLst/>
          </a:prstGeom>
          <a:noFill/>
        </p:spPr>
        <p:txBody>
          <a:bodyPr wrap="none" lIns="0" rIns="0" tIns="0" bIns="0">
            <a:spAutoFit/>
          </a:bodyPr>
          <a:lstStyle/>
          <a:p>
            <a:r>
              <a:rPr sz="1100" b="0">
                <a:solidFill>
                  <a:srgbClr val="2E2E2E"/>
                </a:solidFill>
                <a:latin typeface="Calibri"/>
              </a:rPr>
              <a:t>BPS) while 'Frozen' cedes</a:t>
            </a:r>
          </a:p>
        </p:txBody>
      </p:sp>
      <p:pic>
        <p:nvPicPr>
          <p:cNvPr id="23" name="Picture 22" descr="lock.png"/>
          <p:cNvPicPr>
            <a:picLocks noChangeAspect="1"/>
          </p:cNvPicPr>
          <p:nvPr/>
        </p:nvPicPr>
        <p:blipFill>
          <a:blip r:embed="rId6"/>
          <a:stretch>
            <a:fillRect/>
          </a:stretch>
        </p:blipFill>
        <p:spPr>
          <a:xfrm>
            <a:off x="6815881" y="5935726"/>
            <a:ext cx="128699" cy="187198"/>
          </a:xfrm>
          <a:prstGeom prst="rect">
            <a:avLst/>
          </a:prstGeom>
        </p:spPr>
      </p:pic>
      <p:sp>
        <p:nvSpPr>
          <p:cNvPr id="24" name="TextBox 23"/>
          <p:cNvSpPr txBox="1"/>
          <p:nvPr/>
        </p:nvSpPr>
        <p:spPr>
          <a:xfrm>
            <a:off x="6983377"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Storage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Ambient</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Chilled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Frozen</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Storage Format</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3134692" cy="194310"/>
          </a:xfrm>
          <a:prstGeom prst="rect">
            <a:avLst/>
          </a:prstGeom>
          <a:noFill/>
        </p:spPr>
        <p:txBody>
          <a:bodyPr wrap="none" lIns="0" rIns="0" tIns="0" bIns="0">
            <a:spAutoFit/>
          </a:bodyPr>
          <a:lstStyle/>
          <a:p>
            <a:r>
              <a:rPr sz="1150" b="0">
                <a:solidFill>
                  <a:srgbClr val="2E2E2E"/>
                </a:solidFill>
                <a:latin typeface="Calibri"/>
              </a:rPr>
              <a:t>▪ Across its 3 sub-segments, by storage format adds</a:t>
            </a:r>
          </a:p>
        </p:txBody>
      </p:sp>
      <p:pic>
        <p:nvPicPr>
          <p:cNvPr id="29" name="Picture 28" descr="lock.png"/>
          <p:cNvPicPr>
            <a:picLocks noChangeAspect="1"/>
          </p:cNvPicPr>
          <p:nvPr/>
        </p:nvPicPr>
        <p:blipFill>
          <a:blip r:embed="rId7"/>
          <a:stretch>
            <a:fillRect/>
          </a:stretch>
        </p:blipFill>
        <p:spPr>
          <a:xfrm>
            <a:off x="9389396" y="4276026"/>
            <a:ext cx="134549" cy="195707"/>
          </a:xfrm>
          <a:prstGeom prst="rect">
            <a:avLst/>
          </a:prstGeom>
        </p:spPr>
      </p:pic>
      <p:sp>
        <p:nvSpPr>
          <p:cNvPr id="30" name="TextBox 29"/>
          <p:cNvSpPr txBox="1"/>
          <p:nvPr/>
        </p:nvSpPr>
        <p:spPr>
          <a:xfrm>
            <a:off x="9564505" y="4286250"/>
            <a:ext cx="1841636" cy="194310"/>
          </a:xfrm>
          <a:prstGeom prst="rect">
            <a:avLst/>
          </a:prstGeom>
          <a:noFill/>
        </p:spPr>
        <p:txBody>
          <a:bodyPr wrap="none" lIns="0" rIns="0" tIns="0" bIns="0">
            <a:spAutoFit/>
          </a:bodyPr>
          <a:lstStyle/>
          <a:p>
            <a:r>
              <a:rPr sz="1150" b="0">
                <a:solidFill>
                  <a:srgbClr val="2E2E2E"/>
                </a:solidFill>
                <a:latin typeface="Calibri"/>
              </a:rPr>
              <a:t>US$ Mn to the North America</a:t>
            </a:r>
          </a:p>
        </p:txBody>
      </p:sp>
      <p:sp>
        <p:nvSpPr>
          <p:cNvPr id="31" name="TextBox 30"/>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2" name="TextBox 31"/>
          <p:cNvSpPr txBox="1"/>
          <p:nvPr/>
        </p:nvSpPr>
        <p:spPr>
          <a:xfrm>
            <a:off x="6305550" y="4689347"/>
            <a:ext cx="943942" cy="194310"/>
          </a:xfrm>
          <a:prstGeom prst="rect">
            <a:avLst/>
          </a:prstGeom>
          <a:noFill/>
        </p:spPr>
        <p:txBody>
          <a:bodyPr wrap="none" lIns="0" rIns="0" tIns="0" bIns="0">
            <a:spAutoFit/>
          </a:bodyPr>
          <a:lstStyle/>
          <a:p>
            <a:r>
              <a:rPr sz="1150" b="0">
                <a:solidFill>
                  <a:srgbClr val="2E2E2E"/>
                </a:solidFill>
                <a:latin typeface="Calibri"/>
              </a:rPr>
              <a:t>▪ 'Chilled' adds</a:t>
            </a:r>
          </a:p>
        </p:txBody>
      </p:sp>
      <p:pic>
        <p:nvPicPr>
          <p:cNvPr id="33" name="Picture 32" descr="lock.png"/>
          <p:cNvPicPr>
            <a:picLocks noChangeAspect="1"/>
          </p:cNvPicPr>
          <p:nvPr/>
        </p:nvPicPr>
        <p:blipFill>
          <a:blip r:embed="rId7"/>
          <a:stretch>
            <a:fillRect/>
          </a:stretch>
        </p:blipFill>
        <p:spPr>
          <a:xfrm>
            <a:off x="7198646" y="4679124"/>
            <a:ext cx="134549" cy="195707"/>
          </a:xfrm>
          <a:prstGeom prst="rect">
            <a:avLst/>
          </a:prstGeom>
        </p:spPr>
      </p:pic>
      <p:sp>
        <p:nvSpPr>
          <p:cNvPr id="34" name="TextBox 33"/>
          <p:cNvSpPr txBox="1"/>
          <p:nvPr/>
        </p:nvSpPr>
        <p:spPr>
          <a:xfrm>
            <a:off x="7373755"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7946226" y="4679124"/>
            <a:ext cx="134549" cy="195707"/>
          </a:xfrm>
          <a:prstGeom prst="rect">
            <a:avLst/>
          </a:prstGeom>
        </p:spPr>
      </p:pic>
      <p:sp>
        <p:nvSpPr>
          <p:cNvPr id="36" name="TextBox 35"/>
          <p:cNvSpPr txBox="1"/>
          <p:nvPr/>
        </p:nvSpPr>
        <p:spPr>
          <a:xfrm>
            <a:off x="8121335"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941089" cy="194310"/>
          </a:xfrm>
          <a:prstGeom prst="rect">
            <a:avLst/>
          </a:prstGeom>
          <a:noFill/>
        </p:spPr>
        <p:txBody>
          <a:bodyPr wrap="none" lIns="0" rIns="0" tIns="0" bIns="0">
            <a:spAutoFit/>
          </a:bodyPr>
          <a:lstStyle/>
          <a:p>
            <a:r>
              <a:rPr sz="1150" b="0">
                <a:solidFill>
                  <a:srgbClr val="2E2E2E"/>
                </a:solidFill>
                <a:latin typeface="Calibri"/>
              </a:rPr>
              <a:t>▪ 'Frozen' adds</a:t>
            </a:r>
          </a:p>
        </p:txBody>
      </p:sp>
      <p:pic>
        <p:nvPicPr>
          <p:cNvPr id="38" name="Picture 37" descr="lock.png"/>
          <p:cNvPicPr>
            <a:picLocks noChangeAspect="1"/>
          </p:cNvPicPr>
          <p:nvPr/>
        </p:nvPicPr>
        <p:blipFill>
          <a:blip r:embed="rId7"/>
          <a:stretch>
            <a:fillRect/>
          </a:stretch>
        </p:blipFill>
        <p:spPr>
          <a:xfrm>
            <a:off x="7195793" y="4906962"/>
            <a:ext cx="134549" cy="195707"/>
          </a:xfrm>
          <a:prstGeom prst="rect">
            <a:avLst/>
          </a:prstGeom>
        </p:spPr>
      </p:pic>
      <p:sp>
        <p:nvSpPr>
          <p:cNvPr id="39" name="TextBox 38"/>
          <p:cNvSpPr txBox="1"/>
          <p:nvPr/>
        </p:nvSpPr>
        <p:spPr>
          <a:xfrm>
            <a:off x="737090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7943373" y="4906962"/>
            <a:ext cx="134549" cy="195707"/>
          </a:xfrm>
          <a:prstGeom prst="rect">
            <a:avLst/>
          </a:prstGeom>
        </p:spPr>
      </p:pic>
      <p:sp>
        <p:nvSpPr>
          <p:cNvPr id="41" name="TextBox 40"/>
          <p:cNvSpPr txBox="1"/>
          <p:nvPr/>
        </p:nvSpPr>
        <p:spPr>
          <a:xfrm>
            <a:off x="811848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048915" cy="194310"/>
          </a:xfrm>
          <a:prstGeom prst="rect">
            <a:avLst/>
          </a:prstGeom>
          <a:noFill/>
        </p:spPr>
        <p:txBody>
          <a:bodyPr wrap="none" lIns="0" rIns="0" tIns="0" bIns="0">
            <a:spAutoFit/>
          </a:bodyPr>
          <a:lstStyle/>
          <a:p>
            <a:r>
              <a:rPr sz="1150" b="0">
                <a:solidFill>
                  <a:srgbClr val="2E2E2E"/>
                </a:solidFill>
                <a:latin typeface="Calibri"/>
              </a:rPr>
              <a:t>▪ 'Ambient' adds</a:t>
            </a:r>
          </a:p>
        </p:txBody>
      </p:sp>
      <p:pic>
        <p:nvPicPr>
          <p:cNvPr id="43" name="Picture 42" descr="lock.png"/>
          <p:cNvPicPr>
            <a:picLocks noChangeAspect="1"/>
          </p:cNvPicPr>
          <p:nvPr/>
        </p:nvPicPr>
        <p:blipFill>
          <a:blip r:embed="rId7"/>
          <a:stretch>
            <a:fillRect/>
          </a:stretch>
        </p:blipFill>
        <p:spPr>
          <a:xfrm>
            <a:off x="7303619" y="5134800"/>
            <a:ext cx="134549" cy="195707"/>
          </a:xfrm>
          <a:prstGeom prst="rect">
            <a:avLst/>
          </a:prstGeom>
        </p:spPr>
      </p:pic>
      <p:sp>
        <p:nvSpPr>
          <p:cNvPr id="44" name="TextBox 43"/>
          <p:cNvSpPr txBox="1"/>
          <p:nvPr/>
        </p:nvSpPr>
        <p:spPr>
          <a:xfrm>
            <a:off x="7478729"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051199" y="5134800"/>
            <a:ext cx="134549" cy="195707"/>
          </a:xfrm>
          <a:prstGeom prst="rect">
            <a:avLst/>
          </a:prstGeom>
        </p:spPr>
      </p:pic>
      <p:sp>
        <p:nvSpPr>
          <p:cNvPr id="46" name="TextBox 45"/>
          <p:cNvSpPr txBox="1"/>
          <p:nvPr/>
        </p:nvSpPr>
        <p:spPr>
          <a:xfrm>
            <a:off x="8226309"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Storage Format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Storage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Storage Format (MT)</a:t>
            </a:r>
          </a:p>
        </p:txBody>
      </p:sp>
      <p:graphicFrame>
        <p:nvGraphicFramePr>
          <p:cNvPr id="13" name="Table 12"/>
          <p:cNvGraphicFramePr>
            <a:graphicFrameLocks noGrp="1"/>
          </p:cNvGraphicFramePr>
          <p:nvPr/>
        </p:nvGraphicFramePr>
        <p:xfrm>
          <a:off x="152400" y="1238250"/>
          <a:ext cx="11887199" cy="1428752"/>
        </p:xfrm>
        <a:graphic>
          <a:graphicData uri="http://schemas.openxmlformats.org/drawingml/2006/table">
            <a:tbl>
              <a:tblPr>
                <a:tableStyleId>{5C22544A-7EE6-4342-B048-85BDC9FD1C3A}</a:tableStyleId>
              </a:tblPr>
              <a:tblGrid>
                <a:gridCol w="1015839"/>
                <a:gridCol w="583049"/>
                <a:gridCol w="583049"/>
                <a:gridCol w="583049"/>
                <a:gridCol w="583049"/>
                <a:gridCol w="583049"/>
                <a:gridCol w="583049"/>
                <a:gridCol w="583049"/>
                <a:gridCol w="693420"/>
                <a:gridCol w="693420"/>
                <a:gridCol w="693420"/>
                <a:gridCol w="693420"/>
                <a:gridCol w="693420"/>
                <a:gridCol w="693420"/>
                <a:gridCol w="693420"/>
                <a:gridCol w="693420"/>
                <a:gridCol w="693420"/>
                <a:gridCol w="549237"/>
              </a:tblGrid>
              <a:tr h="438912">
                <a:tc>
                  <a:txBody>
                    <a:bodyPr wrap="none"/>
                    <a:lstStyle/>
                    <a:p>
                      <a:pPr algn="l"/>
                      <a:r>
                        <a:rPr sz="1100" b="1">
                          <a:solidFill>
                            <a:srgbClr val="0B2E4A"/>
                          </a:solidFill>
                          <a:latin typeface="Calibri"/>
                        </a:rPr>
                        <a:t>Storage</a:t>
                      </a:r>
                      <a:endParaRPr sz="1100"/>
                    </a:p>
                    <a:p>
                      <a:pPr algn="l"/>
                      <a:r>
                        <a:rPr sz="1100" b="1">
                          <a:solidFill>
                            <a:srgbClr val="0B2E4A"/>
                          </a:solidFill>
                          <a:latin typeface="Calibri"/>
                        </a:rPr>
                        <a:t>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Storage Format</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17228" y="1905381"/>
            <a:ext cx="366712" cy="533400"/>
          </a:xfrm>
          <a:prstGeom prst="rect">
            <a:avLst/>
          </a:prstGeom>
        </p:spPr>
      </p:pic>
      <p:sp>
        <p:nvSpPr>
          <p:cNvPr id="21" name="TextBox 20"/>
          <p:cNvSpPr txBox="1"/>
          <p:nvPr/>
        </p:nvSpPr>
        <p:spPr>
          <a:xfrm>
            <a:off x="276225" y="3429000"/>
            <a:ext cx="2490303" cy="194310"/>
          </a:xfrm>
          <a:prstGeom prst="rect">
            <a:avLst/>
          </a:prstGeom>
          <a:noFill/>
        </p:spPr>
        <p:txBody>
          <a:bodyPr wrap="none" lIns="0" rIns="0" tIns="0" bIns="0">
            <a:spAutoFit/>
          </a:bodyPr>
          <a:lstStyle/>
          <a:p>
            <a:r>
              <a:rPr sz="1150" b="0">
                <a:solidFill>
                  <a:srgbClr val="2E2E2E"/>
                </a:solidFill>
                <a:latin typeface="Calibri"/>
              </a:rPr>
              <a:t>▪ 'Frozen' is the largest storage format at</a:t>
            </a:r>
          </a:p>
        </p:txBody>
      </p:sp>
      <p:pic>
        <p:nvPicPr>
          <p:cNvPr id="22" name="Picture 21" descr="lock.png"/>
          <p:cNvPicPr>
            <a:picLocks noChangeAspect="1"/>
          </p:cNvPicPr>
          <p:nvPr/>
        </p:nvPicPr>
        <p:blipFill>
          <a:blip r:embed="rId4"/>
          <a:stretch>
            <a:fillRect/>
          </a:stretch>
        </p:blipFill>
        <p:spPr>
          <a:xfrm>
            <a:off x="2715682" y="3418776"/>
            <a:ext cx="134549" cy="195707"/>
          </a:xfrm>
          <a:prstGeom prst="rect">
            <a:avLst/>
          </a:prstGeom>
        </p:spPr>
      </p:pic>
      <p:sp>
        <p:nvSpPr>
          <p:cNvPr id="23" name="TextBox 22"/>
          <p:cNvSpPr txBox="1"/>
          <p:nvPr/>
        </p:nvSpPr>
        <p:spPr>
          <a:xfrm>
            <a:off x="2890792" y="3429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920524" y="3418776"/>
            <a:ext cx="134549" cy="195707"/>
          </a:xfrm>
          <a:prstGeom prst="rect">
            <a:avLst/>
          </a:prstGeom>
        </p:spPr>
      </p:pic>
      <p:sp>
        <p:nvSpPr>
          <p:cNvPr id="25" name="TextBox 24"/>
          <p:cNvSpPr txBox="1"/>
          <p:nvPr/>
        </p:nvSpPr>
        <p:spPr>
          <a:xfrm>
            <a:off x="4095634" y="3429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656837"/>
            <a:ext cx="1559235" cy="194310"/>
          </a:xfrm>
          <a:prstGeom prst="rect">
            <a:avLst/>
          </a:prstGeom>
          <a:noFill/>
        </p:spPr>
        <p:txBody>
          <a:bodyPr wrap="none" lIns="0" rIns="0" tIns="0" bIns="0">
            <a:spAutoFit/>
          </a:bodyPr>
          <a:lstStyle/>
          <a:p>
            <a:r>
              <a:rPr sz="1150" b="0">
                <a:solidFill>
                  <a:srgbClr val="2E2E2E"/>
                </a:solidFill>
                <a:latin typeface="Calibri"/>
              </a:rPr>
              <a:t>▪ 'Ambient' grows fastest</a:t>
            </a:r>
          </a:p>
        </p:txBody>
      </p:sp>
      <p:pic>
        <p:nvPicPr>
          <p:cNvPr id="27" name="Picture 26" descr="lock.png"/>
          <p:cNvPicPr>
            <a:picLocks noChangeAspect="1"/>
          </p:cNvPicPr>
          <p:nvPr/>
        </p:nvPicPr>
        <p:blipFill>
          <a:blip r:embed="rId4"/>
          <a:stretch>
            <a:fillRect/>
          </a:stretch>
        </p:blipFill>
        <p:spPr>
          <a:xfrm>
            <a:off x="1784613" y="3646614"/>
            <a:ext cx="134549" cy="195707"/>
          </a:xfrm>
          <a:prstGeom prst="rect">
            <a:avLst/>
          </a:prstGeom>
        </p:spPr>
      </p:pic>
      <p:sp>
        <p:nvSpPr>
          <p:cNvPr id="28" name="TextBox 27"/>
          <p:cNvSpPr txBox="1"/>
          <p:nvPr/>
        </p:nvSpPr>
        <p:spPr>
          <a:xfrm>
            <a:off x="1959723" y="3656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884675"/>
            <a:ext cx="1963439" cy="194310"/>
          </a:xfrm>
          <a:prstGeom prst="rect">
            <a:avLst/>
          </a:prstGeom>
          <a:noFill/>
        </p:spPr>
        <p:txBody>
          <a:bodyPr wrap="none" lIns="0" rIns="0" tIns="0" bIns="0">
            <a:spAutoFit/>
          </a:bodyPr>
          <a:lstStyle/>
          <a:p>
            <a:r>
              <a:rPr sz="1150" b="0">
                <a:solidFill>
                  <a:srgbClr val="2E2E2E"/>
                </a:solidFill>
                <a:latin typeface="Calibri"/>
              </a:rPr>
              <a:t>▪ Share shifts toward 'Chilled' (+</a:t>
            </a:r>
          </a:p>
        </p:txBody>
      </p:sp>
      <p:pic>
        <p:nvPicPr>
          <p:cNvPr id="30" name="Picture 29" descr="lock.png"/>
          <p:cNvPicPr>
            <a:picLocks noChangeAspect="1"/>
          </p:cNvPicPr>
          <p:nvPr/>
        </p:nvPicPr>
        <p:blipFill>
          <a:blip r:embed="rId4"/>
          <a:stretch>
            <a:fillRect/>
          </a:stretch>
        </p:blipFill>
        <p:spPr>
          <a:xfrm>
            <a:off x="2188818" y="3874452"/>
            <a:ext cx="134549" cy="195707"/>
          </a:xfrm>
          <a:prstGeom prst="rect">
            <a:avLst/>
          </a:prstGeom>
        </p:spPr>
      </p:pic>
      <p:sp>
        <p:nvSpPr>
          <p:cNvPr id="31" name="TextBox 30"/>
          <p:cNvSpPr txBox="1"/>
          <p:nvPr/>
        </p:nvSpPr>
        <p:spPr>
          <a:xfrm>
            <a:off x="2363928" y="3884675"/>
            <a:ext cx="1886706" cy="194310"/>
          </a:xfrm>
          <a:prstGeom prst="rect">
            <a:avLst/>
          </a:prstGeom>
          <a:noFill/>
        </p:spPr>
        <p:txBody>
          <a:bodyPr wrap="none" lIns="0" rIns="0" tIns="0" bIns="0">
            <a:spAutoFit/>
          </a:bodyPr>
          <a:lstStyle/>
          <a:p>
            <a:r>
              <a:rPr sz="1150" b="0">
                <a:solidFill>
                  <a:srgbClr val="2E2E2E"/>
                </a:solidFill>
                <a:latin typeface="Calibri"/>
              </a:rPr>
              <a:t>BPS) and away from 'Frozen' (-</a:t>
            </a:r>
          </a:p>
        </p:txBody>
      </p:sp>
      <p:pic>
        <p:nvPicPr>
          <p:cNvPr id="32" name="Picture 31" descr="lock.png"/>
          <p:cNvPicPr>
            <a:picLocks noChangeAspect="1"/>
          </p:cNvPicPr>
          <p:nvPr/>
        </p:nvPicPr>
        <p:blipFill>
          <a:blip r:embed="rId4"/>
          <a:stretch>
            <a:fillRect/>
          </a:stretch>
        </p:blipFill>
        <p:spPr>
          <a:xfrm>
            <a:off x="4199788" y="3874452"/>
            <a:ext cx="134549" cy="195707"/>
          </a:xfrm>
          <a:prstGeom prst="rect">
            <a:avLst/>
          </a:prstGeom>
        </p:spPr>
      </p:pic>
      <p:sp>
        <p:nvSpPr>
          <p:cNvPr id="33" name="TextBox 32"/>
          <p:cNvSpPr txBox="1"/>
          <p:nvPr/>
        </p:nvSpPr>
        <p:spPr>
          <a:xfrm>
            <a:off x="4374897" y="3884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12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02290"/>
            <a:ext cx="134549" cy="195707"/>
          </a:xfrm>
          <a:prstGeom prst="rect">
            <a:avLst/>
          </a:prstGeom>
        </p:spPr>
      </p:pic>
      <p:sp>
        <p:nvSpPr>
          <p:cNvPr id="36" name="TextBox 35"/>
          <p:cNvSpPr txBox="1"/>
          <p:nvPr/>
        </p:nvSpPr>
        <p:spPr>
          <a:xfrm>
            <a:off x="1965143" y="4112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02290"/>
            <a:ext cx="134549" cy="195707"/>
          </a:xfrm>
          <a:prstGeom prst="rect">
            <a:avLst/>
          </a:prstGeom>
        </p:spPr>
      </p:pic>
      <p:sp>
        <p:nvSpPr>
          <p:cNvPr id="38" name="TextBox 37"/>
          <p:cNvSpPr txBox="1"/>
          <p:nvPr/>
        </p:nvSpPr>
        <p:spPr>
          <a:xfrm>
            <a:off x="2291688" y="4112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Storage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Storage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Storage Format (US$ Mn)</a:t>
            </a:r>
          </a:p>
        </p:txBody>
      </p:sp>
      <p:graphicFrame>
        <p:nvGraphicFramePr>
          <p:cNvPr id="13" name="Table 12"/>
          <p:cNvGraphicFramePr>
            <a:graphicFrameLocks noGrp="1"/>
          </p:cNvGraphicFramePr>
          <p:nvPr/>
        </p:nvGraphicFramePr>
        <p:xfrm>
          <a:off x="152400" y="1238250"/>
          <a:ext cx="11887204" cy="1238250"/>
        </p:xfrm>
        <a:graphic>
          <a:graphicData uri="http://schemas.openxmlformats.org/drawingml/2006/table">
            <a:tbl>
              <a:tblPr>
                <a:tableStyleId>{5C22544A-7EE6-4342-B048-85BDC9FD1C3A}</a:tableStyleId>
              </a:tblPr>
              <a:tblGrid>
                <a:gridCol w="1174586"/>
                <a:gridCol w="630154"/>
                <a:gridCol w="630154"/>
                <a:gridCol w="630154"/>
                <a:gridCol w="630154"/>
                <a:gridCol w="630154"/>
                <a:gridCol w="630154"/>
                <a:gridCol w="630154"/>
                <a:gridCol w="630154"/>
                <a:gridCol w="630154"/>
                <a:gridCol w="630154"/>
                <a:gridCol w="630154"/>
                <a:gridCol w="630154"/>
                <a:gridCol w="630154"/>
                <a:gridCol w="630154"/>
                <a:gridCol w="630154"/>
                <a:gridCol w="630154"/>
                <a:gridCol w="630154"/>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Storage Format</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96605" y="1713738"/>
            <a:ext cx="366712" cy="533399"/>
          </a:xfrm>
          <a:prstGeom prst="rect">
            <a:avLst/>
          </a:prstGeom>
        </p:spPr>
      </p:pic>
      <p:sp>
        <p:nvSpPr>
          <p:cNvPr id="21" name="TextBox 20"/>
          <p:cNvSpPr txBox="1"/>
          <p:nvPr/>
        </p:nvSpPr>
        <p:spPr>
          <a:xfrm>
            <a:off x="276225" y="3238500"/>
            <a:ext cx="2490303" cy="194310"/>
          </a:xfrm>
          <a:prstGeom prst="rect">
            <a:avLst/>
          </a:prstGeom>
          <a:noFill/>
        </p:spPr>
        <p:txBody>
          <a:bodyPr wrap="none" lIns="0" rIns="0" tIns="0" bIns="0">
            <a:spAutoFit/>
          </a:bodyPr>
          <a:lstStyle/>
          <a:p>
            <a:r>
              <a:rPr sz="1150" b="0">
                <a:solidFill>
                  <a:srgbClr val="2E2E2E"/>
                </a:solidFill>
                <a:latin typeface="Calibri"/>
              </a:rPr>
              <a:t>▪ 'Frozen' is the largest storage format at</a:t>
            </a:r>
          </a:p>
        </p:txBody>
      </p:sp>
      <p:pic>
        <p:nvPicPr>
          <p:cNvPr id="22" name="Picture 21" descr="lock.png"/>
          <p:cNvPicPr>
            <a:picLocks noChangeAspect="1"/>
          </p:cNvPicPr>
          <p:nvPr/>
        </p:nvPicPr>
        <p:blipFill>
          <a:blip r:embed="rId4"/>
          <a:stretch>
            <a:fillRect/>
          </a:stretch>
        </p:blipFill>
        <p:spPr>
          <a:xfrm>
            <a:off x="2715682" y="3228276"/>
            <a:ext cx="134549" cy="195707"/>
          </a:xfrm>
          <a:prstGeom prst="rect">
            <a:avLst/>
          </a:prstGeom>
        </p:spPr>
      </p:pic>
      <p:sp>
        <p:nvSpPr>
          <p:cNvPr id="23" name="TextBox 22"/>
          <p:cNvSpPr txBox="1"/>
          <p:nvPr/>
        </p:nvSpPr>
        <p:spPr>
          <a:xfrm>
            <a:off x="2890792"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796724" y="3228276"/>
            <a:ext cx="134549" cy="195707"/>
          </a:xfrm>
          <a:prstGeom prst="rect">
            <a:avLst/>
          </a:prstGeom>
        </p:spPr>
      </p:pic>
      <p:sp>
        <p:nvSpPr>
          <p:cNvPr id="25" name="TextBox 24"/>
          <p:cNvSpPr txBox="1"/>
          <p:nvPr/>
        </p:nvSpPr>
        <p:spPr>
          <a:xfrm>
            <a:off x="3971834"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1559235" cy="194310"/>
          </a:xfrm>
          <a:prstGeom prst="rect">
            <a:avLst/>
          </a:prstGeom>
          <a:noFill/>
        </p:spPr>
        <p:txBody>
          <a:bodyPr wrap="none" lIns="0" rIns="0" tIns="0" bIns="0">
            <a:spAutoFit/>
          </a:bodyPr>
          <a:lstStyle/>
          <a:p>
            <a:r>
              <a:rPr sz="1150" b="0">
                <a:solidFill>
                  <a:srgbClr val="2E2E2E"/>
                </a:solidFill>
                <a:latin typeface="Calibri"/>
              </a:rPr>
              <a:t>▪ 'Ambient' grows fastest</a:t>
            </a:r>
          </a:p>
        </p:txBody>
      </p:sp>
      <p:pic>
        <p:nvPicPr>
          <p:cNvPr id="27" name="Picture 26" descr="lock.png"/>
          <p:cNvPicPr>
            <a:picLocks noChangeAspect="1"/>
          </p:cNvPicPr>
          <p:nvPr/>
        </p:nvPicPr>
        <p:blipFill>
          <a:blip r:embed="rId4"/>
          <a:stretch>
            <a:fillRect/>
          </a:stretch>
        </p:blipFill>
        <p:spPr>
          <a:xfrm>
            <a:off x="1784613" y="3456114"/>
            <a:ext cx="134549" cy="195707"/>
          </a:xfrm>
          <a:prstGeom prst="rect">
            <a:avLst/>
          </a:prstGeom>
        </p:spPr>
      </p:pic>
      <p:sp>
        <p:nvSpPr>
          <p:cNvPr id="28" name="TextBox 27"/>
          <p:cNvSpPr txBox="1"/>
          <p:nvPr/>
        </p:nvSpPr>
        <p:spPr>
          <a:xfrm>
            <a:off x="1959723"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1963439" cy="194310"/>
          </a:xfrm>
          <a:prstGeom prst="rect">
            <a:avLst/>
          </a:prstGeom>
          <a:noFill/>
        </p:spPr>
        <p:txBody>
          <a:bodyPr wrap="none" lIns="0" rIns="0" tIns="0" bIns="0">
            <a:spAutoFit/>
          </a:bodyPr>
          <a:lstStyle/>
          <a:p>
            <a:r>
              <a:rPr sz="1150" b="0">
                <a:solidFill>
                  <a:srgbClr val="2E2E2E"/>
                </a:solidFill>
                <a:latin typeface="Calibri"/>
              </a:rPr>
              <a:t>▪ Share shifts toward 'Chilled' (+</a:t>
            </a:r>
          </a:p>
        </p:txBody>
      </p:sp>
      <p:pic>
        <p:nvPicPr>
          <p:cNvPr id="30" name="Picture 29" descr="lock.png"/>
          <p:cNvPicPr>
            <a:picLocks noChangeAspect="1"/>
          </p:cNvPicPr>
          <p:nvPr/>
        </p:nvPicPr>
        <p:blipFill>
          <a:blip r:embed="rId4"/>
          <a:stretch>
            <a:fillRect/>
          </a:stretch>
        </p:blipFill>
        <p:spPr>
          <a:xfrm>
            <a:off x="2188818" y="3683952"/>
            <a:ext cx="134549" cy="195707"/>
          </a:xfrm>
          <a:prstGeom prst="rect">
            <a:avLst/>
          </a:prstGeom>
        </p:spPr>
      </p:pic>
      <p:sp>
        <p:nvSpPr>
          <p:cNvPr id="31" name="TextBox 30"/>
          <p:cNvSpPr txBox="1"/>
          <p:nvPr/>
        </p:nvSpPr>
        <p:spPr>
          <a:xfrm>
            <a:off x="2363928" y="3694175"/>
            <a:ext cx="1886706" cy="194310"/>
          </a:xfrm>
          <a:prstGeom prst="rect">
            <a:avLst/>
          </a:prstGeom>
          <a:noFill/>
        </p:spPr>
        <p:txBody>
          <a:bodyPr wrap="none" lIns="0" rIns="0" tIns="0" bIns="0">
            <a:spAutoFit/>
          </a:bodyPr>
          <a:lstStyle/>
          <a:p>
            <a:r>
              <a:rPr sz="1150" b="0">
                <a:solidFill>
                  <a:srgbClr val="2E2E2E"/>
                </a:solidFill>
                <a:latin typeface="Calibri"/>
              </a:rPr>
              <a:t>BPS) and away from 'Frozen' (-</a:t>
            </a:r>
          </a:p>
        </p:txBody>
      </p:sp>
      <p:pic>
        <p:nvPicPr>
          <p:cNvPr id="32" name="Picture 31" descr="lock.png"/>
          <p:cNvPicPr>
            <a:picLocks noChangeAspect="1"/>
          </p:cNvPicPr>
          <p:nvPr/>
        </p:nvPicPr>
        <p:blipFill>
          <a:blip r:embed="rId4"/>
          <a:stretch>
            <a:fillRect/>
          </a:stretch>
        </p:blipFill>
        <p:spPr>
          <a:xfrm>
            <a:off x="4199788" y="3683952"/>
            <a:ext cx="134549" cy="195707"/>
          </a:xfrm>
          <a:prstGeom prst="rect">
            <a:avLst/>
          </a:prstGeom>
        </p:spPr>
      </p:pic>
      <p:sp>
        <p:nvSpPr>
          <p:cNvPr id="33" name="TextBox 32"/>
          <p:cNvSpPr txBox="1"/>
          <p:nvPr/>
        </p:nvSpPr>
        <p:spPr>
          <a:xfrm>
            <a:off x="4374897"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Storage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Storage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3159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268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506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Ambient</a:t>
            </a:r>
          </a:p>
        </p:txBody>
      </p:sp>
      <p:sp>
        <p:nvSpPr>
          <p:cNvPr id="19" name="BPS Value 1"/>
          <p:cNvSpPr txBox="1"/>
          <p:nvPr/>
        </p:nvSpPr>
        <p:spPr>
          <a:xfrm>
            <a:off x="6896100" y="191254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305348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04872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7252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Chilled</a:t>
            </a:r>
          </a:p>
        </p:txBody>
      </p:sp>
      <p:sp>
        <p:nvSpPr>
          <p:cNvPr id="23" name="BPS Value 2"/>
          <p:cNvSpPr txBox="1"/>
          <p:nvPr/>
        </p:nvSpPr>
        <p:spPr>
          <a:xfrm>
            <a:off x="6896100" y="303443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07933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07457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99837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Frozen</a:t>
            </a:r>
          </a:p>
        </p:txBody>
      </p:sp>
      <p:sp>
        <p:nvSpPr>
          <p:cNvPr id="27" name="BPS Value 3"/>
          <p:cNvSpPr txBox="1"/>
          <p:nvPr/>
        </p:nvSpPr>
        <p:spPr>
          <a:xfrm>
            <a:off x="6896100" y="506028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Storage Format</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000522" cy="194310"/>
          </a:xfrm>
          <a:prstGeom prst="rect">
            <a:avLst/>
          </a:prstGeom>
          <a:noFill/>
        </p:spPr>
        <p:txBody>
          <a:bodyPr wrap="none" lIns="0" rIns="0" tIns="0" bIns="0">
            <a:spAutoFit/>
          </a:bodyPr>
          <a:lstStyle/>
          <a:p>
            <a:r>
              <a:rPr sz="1150" b="0">
                <a:solidFill>
                  <a:srgbClr val="2E2E2E"/>
                </a:solidFill>
                <a:latin typeface="Calibri"/>
              </a:rPr>
              <a:t>▪ 'Chilled' gains the most share +</a:t>
            </a:r>
          </a:p>
        </p:txBody>
      </p:sp>
      <p:pic>
        <p:nvPicPr>
          <p:cNvPr id="35" name="Picture 34" descr="lock.png"/>
          <p:cNvPicPr>
            <a:picLocks noChangeAspect="1"/>
          </p:cNvPicPr>
          <p:nvPr/>
        </p:nvPicPr>
        <p:blipFill>
          <a:blip r:embed="rId5"/>
          <a:stretch>
            <a:fillRect/>
          </a:stretch>
        </p:blipFill>
        <p:spPr>
          <a:xfrm>
            <a:off x="9779226" y="1389951"/>
            <a:ext cx="134549" cy="195707"/>
          </a:xfrm>
          <a:prstGeom prst="rect">
            <a:avLst/>
          </a:prstGeom>
        </p:spPr>
      </p:pic>
      <p:sp>
        <p:nvSpPr>
          <p:cNvPr id="36" name="TextBox 35"/>
          <p:cNvSpPr txBox="1"/>
          <p:nvPr/>
        </p:nvSpPr>
        <p:spPr>
          <a:xfrm>
            <a:off x="9954336" y="1400175"/>
            <a:ext cx="1772604"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7" name="TextBox 36"/>
          <p:cNvSpPr txBox="1"/>
          <p:nvPr/>
        </p:nvSpPr>
        <p:spPr>
          <a:xfrm>
            <a:off x="7829550" y="1575435"/>
            <a:ext cx="1397496"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1644240" cy="194310"/>
          </a:xfrm>
          <a:prstGeom prst="rect">
            <a:avLst/>
          </a:prstGeom>
          <a:noFill/>
        </p:spPr>
        <p:txBody>
          <a:bodyPr wrap="none" lIns="0" rIns="0" tIns="0" bIns="0">
            <a:spAutoFit/>
          </a:bodyPr>
          <a:lstStyle/>
          <a:p>
            <a:r>
              <a:rPr sz="1150" b="0">
                <a:solidFill>
                  <a:srgbClr val="2E2E2E"/>
                </a:solidFill>
                <a:latin typeface="Calibri"/>
              </a:rPr>
              <a:t>▪ 'Frozen' cedes the most -</a:t>
            </a:r>
          </a:p>
        </p:txBody>
      </p:sp>
      <p:pic>
        <p:nvPicPr>
          <p:cNvPr id="39" name="Picture 38" descr="lock.png"/>
          <p:cNvPicPr>
            <a:picLocks noChangeAspect="1"/>
          </p:cNvPicPr>
          <p:nvPr/>
        </p:nvPicPr>
        <p:blipFill>
          <a:blip r:embed="rId5"/>
          <a:stretch>
            <a:fillRect/>
          </a:stretch>
        </p:blipFill>
        <p:spPr>
          <a:xfrm>
            <a:off x="9422944" y="1793049"/>
            <a:ext cx="134549" cy="195707"/>
          </a:xfrm>
          <a:prstGeom prst="rect">
            <a:avLst/>
          </a:prstGeom>
        </p:spPr>
      </p:pic>
      <p:sp>
        <p:nvSpPr>
          <p:cNvPr id="40" name="TextBox 39"/>
          <p:cNvSpPr txBox="1"/>
          <p:nvPr/>
        </p:nvSpPr>
        <p:spPr>
          <a:xfrm>
            <a:off x="9598053" y="180327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41" name="TextBox 40"/>
          <p:cNvSpPr txBox="1"/>
          <p:nvPr/>
        </p:nvSpPr>
        <p:spPr>
          <a:xfrm>
            <a:off x="7829550" y="2031111"/>
            <a:ext cx="3120429" cy="194310"/>
          </a:xfrm>
          <a:prstGeom prst="rect">
            <a:avLst/>
          </a:prstGeom>
          <a:noFill/>
        </p:spPr>
        <p:txBody>
          <a:bodyPr wrap="none" lIns="0" rIns="0" tIns="0" bIns="0">
            <a:spAutoFit/>
          </a:bodyPr>
          <a:lstStyle/>
          <a:p>
            <a:r>
              <a:rPr sz="1150" b="0">
                <a:solidFill>
                  <a:srgbClr val="2E2E2E"/>
                </a:solidFill>
                <a:latin typeface="Calibri"/>
              </a:rPr>
              <a:t>▪ 'Ambient' is the fastest-growing storage format at</a:t>
            </a:r>
          </a:p>
        </p:txBody>
      </p:sp>
      <p:pic>
        <p:nvPicPr>
          <p:cNvPr id="42" name="Picture 41" descr="lock.png"/>
          <p:cNvPicPr>
            <a:picLocks noChangeAspect="1"/>
          </p:cNvPicPr>
          <p:nvPr/>
        </p:nvPicPr>
        <p:blipFill>
          <a:blip r:embed="rId5"/>
          <a:stretch>
            <a:fillRect/>
          </a:stretch>
        </p:blipFill>
        <p:spPr>
          <a:xfrm>
            <a:off x="10899133" y="2020887"/>
            <a:ext cx="134549" cy="195707"/>
          </a:xfrm>
          <a:prstGeom prst="rect">
            <a:avLst/>
          </a:prstGeom>
        </p:spPr>
      </p:pic>
      <p:sp>
        <p:nvSpPr>
          <p:cNvPr id="43" name="TextBox 42"/>
          <p:cNvSpPr txBox="1"/>
          <p:nvPr/>
        </p:nvSpPr>
        <p:spPr>
          <a:xfrm>
            <a:off x="11074242" y="203111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4" name="TextBox 43"/>
          <p:cNvSpPr txBox="1"/>
          <p:nvPr/>
        </p:nvSpPr>
        <p:spPr>
          <a:xfrm>
            <a:off x="7829550" y="220637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5" name="TextBox 44"/>
          <p:cNvSpPr txBox="1"/>
          <p:nvPr/>
        </p:nvSpPr>
        <p:spPr>
          <a:xfrm>
            <a:off x="7829550" y="243420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423985"/>
            <a:ext cx="134549" cy="195707"/>
          </a:xfrm>
          <a:prstGeom prst="rect">
            <a:avLst/>
          </a:prstGeom>
        </p:spPr>
      </p:pic>
      <p:sp>
        <p:nvSpPr>
          <p:cNvPr id="47" name="TextBox 46"/>
          <p:cNvSpPr txBox="1"/>
          <p:nvPr/>
        </p:nvSpPr>
        <p:spPr>
          <a:xfrm>
            <a:off x="9502779" y="243420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423985"/>
            <a:ext cx="134549" cy="195707"/>
          </a:xfrm>
          <a:prstGeom prst="rect">
            <a:avLst/>
          </a:prstGeom>
        </p:spPr>
      </p:pic>
      <p:sp>
        <p:nvSpPr>
          <p:cNvPr id="49" name="TextBox 48"/>
          <p:cNvSpPr txBox="1"/>
          <p:nvPr/>
        </p:nvSpPr>
        <p:spPr>
          <a:xfrm>
            <a:off x="9829324" y="243420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66204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2837307"/>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Storage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Storage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Storage Format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sp>
        <p:nvSpPr>
          <p:cNvPr id="33" name="Rectangle 32"/>
          <p:cNvSpPr/>
          <p:nvPr/>
        </p:nvSpPr>
        <p:spPr>
          <a:xfrm>
            <a:off x="1857375" y="3000375"/>
            <a:ext cx="643890" cy="1190625"/>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sp>
        <p:nvSpPr>
          <p:cNvPr id="49" name="Rectangle 48"/>
          <p:cNvSpPr/>
          <p:nvPr/>
        </p:nvSpPr>
        <p:spPr>
          <a:xfrm>
            <a:off x="185737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65" name="Rectangle 64"/>
          <p:cNvSpPr/>
          <p:nvPr/>
        </p:nvSpPr>
        <p:spPr>
          <a:xfrm>
            <a:off x="185737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554187"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Storage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Storage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Storage Format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sp>
        <p:nvSpPr>
          <p:cNvPr id="33" name="Rectangle 32"/>
          <p:cNvSpPr/>
          <p:nvPr/>
        </p:nvSpPr>
        <p:spPr>
          <a:xfrm>
            <a:off x="1857375" y="3000375"/>
            <a:ext cx="643890" cy="1190625"/>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sp>
        <p:nvSpPr>
          <p:cNvPr id="49" name="Rectangle 48"/>
          <p:cNvSpPr/>
          <p:nvPr/>
        </p:nvSpPr>
        <p:spPr>
          <a:xfrm>
            <a:off x="185737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65" name="Rectangle 64"/>
          <p:cNvSpPr/>
          <p:nvPr/>
        </p:nvSpPr>
        <p:spPr>
          <a:xfrm>
            <a:off x="185737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554187" y="1589913"/>
            <a:ext cx="366712" cy="533400"/>
          </a:xfrm>
          <a:prstGeom prst="rect">
            <a:avLst/>
          </a:prstGeom>
        </p:spPr>
      </p:pic>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Shelf Life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Shelf Life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Shelf Life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Shelf Life,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Shelf Life segment categorizes the market by shelf life.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Up to 7 days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8-30 days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31-90 days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More than 90 days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Shelf Life split shows how demand is distributed across shelf life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2_011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3_099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4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667_5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799_3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1_8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480_6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816_8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4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438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638_2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701032" cy="186689"/>
          </a:xfrm>
          <a:prstGeom prst="rect">
            <a:avLst/>
          </a:prstGeom>
          <a:noFill/>
        </p:spPr>
        <p:txBody>
          <a:bodyPr wrap="none" lIns="0" rIns="0" tIns="0" bIns="0">
            <a:spAutoFit/>
          </a:bodyPr>
          <a:lstStyle/>
          <a:p>
            <a:r>
              <a:rPr sz="1100" b="0">
                <a:solidFill>
                  <a:srgbClr val="2E2E2E"/>
                </a:solidFill>
                <a:latin typeface="Calibri"/>
              </a:rPr>
              <a:t>▪ 'Up to 7 days' holds the largest share in 2026</a:t>
            </a:r>
          </a:p>
        </p:txBody>
      </p:sp>
      <p:pic>
        <p:nvPicPr>
          <p:cNvPr id="81" name="Picture 80" descr="lock.png"/>
          <p:cNvPicPr>
            <a:picLocks noChangeAspect="1"/>
          </p:cNvPicPr>
          <p:nvPr/>
        </p:nvPicPr>
        <p:blipFill>
          <a:blip r:embed="rId16"/>
          <a:stretch>
            <a:fillRect/>
          </a:stretch>
        </p:blipFill>
        <p:spPr>
          <a:xfrm>
            <a:off x="3134858"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858467" cy="186689"/>
          </a:xfrm>
          <a:prstGeom prst="rect">
            <a:avLst/>
          </a:prstGeom>
          <a:noFill/>
        </p:spPr>
        <p:txBody>
          <a:bodyPr wrap="none" lIns="0" rIns="0" tIns="0" bIns="0">
            <a:spAutoFit/>
          </a:bodyPr>
          <a:lstStyle/>
          <a:p>
            <a:r>
              <a:rPr sz="1100" b="0">
                <a:solidFill>
                  <a:srgbClr val="2E2E2E"/>
                </a:solidFill>
                <a:latin typeface="Calibri"/>
              </a:rPr>
              <a:t>▪ '31-90 days' is the fastest-growing sub-segment</a:t>
            </a:r>
          </a:p>
        </p:txBody>
      </p:sp>
      <p:sp>
        <p:nvSpPr>
          <p:cNvPr id="84" name="TextBox 83"/>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85" name="Picture 84" descr="lock.png"/>
          <p:cNvPicPr>
            <a:picLocks noChangeAspect="1"/>
          </p:cNvPicPr>
          <p:nvPr/>
        </p:nvPicPr>
        <p:blipFill>
          <a:blip r:embed="rId16"/>
          <a:stretch>
            <a:fillRect/>
          </a:stretch>
        </p:blipFill>
        <p:spPr>
          <a:xfrm>
            <a:off x="623805" y="4772870"/>
            <a:ext cx="128699" cy="187198"/>
          </a:xfrm>
          <a:prstGeom prst="rect">
            <a:avLst/>
          </a:prstGeom>
        </p:spPr>
      </p:pic>
      <p:sp>
        <p:nvSpPr>
          <p:cNvPr id="86" name="TextBox 85"/>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914650" cy="186689"/>
          </a:xfrm>
          <a:prstGeom prst="rect">
            <a:avLst/>
          </a:prstGeom>
          <a:noFill/>
        </p:spPr>
        <p:txBody>
          <a:bodyPr wrap="none" lIns="0" rIns="0" tIns="0" bIns="0">
            <a:spAutoFit/>
          </a:bodyPr>
          <a:lstStyle/>
          <a:p>
            <a:r>
              <a:rPr sz="1100" b="0">
                <a:solidFill>
                  <a:srgbClr val="2E2E2E"/>
                </a:solidFill>
                <a:latin typeface="Calibri"/>
              </a:rPr>
              <a:t>▪ 4 sub-segments make up the shelf life landscape.</a:t>
            </a:r>
          </a:p>
        </p:txBody>
      </p:sp>
      <p:sp>
        <p:nvSpPr>
          <p:cNvPr id="94" name="TextBox 93"/>
          <p:cNvSpPr txBox="1"/>
          <p:nvPr/>
        </p:nvSpPr>
        <p:spPr>
          <a:xfrm>
            <a:off x="3838575" y="4229437"/>
            <a:ext cx="937319" cy="186689"/>
          </a:xfrm>
          <a:prstGeom prst="rect">
            <a:avLst/>
          </a:prstGeom>
          <a:noFill/>
        </p:spPr>
        <p:txBody>
          <a:bodyPr wrap="none" lIns="0" rIns="0" tIns="0" bIns="0">
            <a:spAutoFit/>
          </a:bodyPr>
          <a:lstStyle/>
          <a:p>
            <a:r>
              <a:rPr sz="1100" b="0">
                <a:solidFill>
                  <a:srgbClr val="2E2E2E"/>
                </a:solidFill>
                <a:latin typeface="Calibri"/>
              </a:rPr>
              <a:t>● Up to 7 days:</a:t>
            </a:r>
          </a:p>
        </p:txBody>
      </p:sp>
      <p:pic>
        <p:nvPicPr>
          <p:cNvPr id="95" name="Picture 94" descr="lock.png"/>
          <p:cNvPicPr>
            <a:picLocks noChangeAspect="1"/>
          </p:cNvPicPr>
          <p:nvPr/>
        </p:nvPicPr>
        <p:blipFill>
          <a:blip r:embed="rId16"/>
          <a:stretch>
            <a:fillRect/>
          </a:stretch>
        </p:blipFill>
        <p:spPr>
          <a:xfrm>
            <a:off x="4723946" y="4219658"/>
            <a:ext cx="128699" cy="187198"/>
          </a:xfrm>
          <a:prstGeom prst="rect">
            <a:avLst/>
          </a:prstGeom>
        </p:spPr>
      </p:pic>
      <p:sp>
        <p:nvSpPr>
          <p:cNvPr id="96" name="TextBox 95"/>
          <p:cNvSpPr txBox="1"/>
          <p:nvPr/>
        </p:nvSpPr>
        <p:spPr>
          <a:xfrm>
            <a:off x="48914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6"/>
          <a:stretch>
            <a:fillRect/>
          </a:stretch>
        </p:blipFill>
        <p:spPr>
          <a:xfrm>
            <a:off x="5750892" y="4219658"/>
            <a:ext cx="128699" cy="187198"/>
          </a:xfrm>
          <a:prstGeom prst="rect">
            <a:avLst/>
          </a:prstGeom>
        </p:spPr>
      </p:pic>
      <p:sp>
        <p:nvSpPr>
          <p:cNvPr id="98" name="TextBox 97"/>
          <p:cNvSpPr txBox="1"/>
          <p:nvPr/>
        </p:nvSpPr>
        <p:spPr>
          <a:xfrm>
            <a:off x="59183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9" name="TextBox 98"/>
          <p:cNvSpPr txBox="1"/>
          <p:nvPr/>
        </p:nvSpPr>
        <p:spPr>
          <a:xfrm>
            <a:off x="3838575" y="4447369"/>
            <a:ext cx="774972" cy="186689"/>
          </a:xfrm>
          <a:prstGeom prst="rect">
            <a:avLst/>
          </a:prstGeom>
          <a:noFill/>
        </p:spPr>
        <p:txBody>
          <a:bodyPr wrap="none" lIns="0" rIns="0" tIns="0" bIns="0">
            <a:spAutoFit/>
          </a:bodyPr>
          <a:lstStyle/>
          <a:p>
            <a:r>
              <a:rPr sz="1100" b="0">
                <a:solidFill>
                  <a:srgbClr val="2E2E2E"/>
                </a:solidFill>
                <a:latin typeface="Calibri"/>
              </a:rPr>
              <a:t>● 8-30 days:</a:t>
            </a:r>
          </a:p>
        </p:txBody>
      </p:sp>
      <p:pic>
        <p:nvPicPr>
          <p:cNvPr id="100" name="Picture 99" descr="lock.png"/>
          <p:cNvPicPr>
            <a:picLocks noChangeAspect="1"/>
          </p:cNvPicPr>
          <p:nvPr/>
        </p:nvPicPr>
        <p:blipFill>
          <a:blip r:embed="rId16"/>
          <a:stretch>
            <a:fillRect/>
          </a:stretch>
        </p:blipFill>
        <p:spPr>
          <a:xfrm>
            <a:off x="4561599" y="4437590"/>
            <a:ext cx="128699" cy="187198"/>
          </a:xfrm>
          <a:prstGeom prst="rect">
            <a:avLst/>
          </a:prstGeom>
        </p:spPr>
      </p:pic>
      <p:sp>
        <p:nvSpPr>
          <p:cNvPr id="101" name="TextBox 100"/>
          <p:cNvSpPr txBox="1"/>
          <p:nvPr/>
        </p:nvSpPr>
        <p:spPr>
          <a:xfrm>
            <a:off x="472909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6"/>
          <a:stretch>
            <a:fillRect/>
          </a:stretch>
        </p:blipFill>
        <p:spPr>
          <a:xfrm>
            <a:off x="5588545" y="4437590"/>
            <a:ext cx="128699" cy="187198"/>
          </a:xfrm>
          <a:prstGeom prst="rect">
            <a:avLst/>
          </a:prstGeom>
        </p:spPr>
      </p:pic>
      <p:sp>
        <p:nvSpPr>
          <p:cNvPr id="103" name="TextBox 102"/>
          <p:cNvSpPr txBox="1"/>
          <p:nvPr/>
        </p:nvSpPr>
        <p:spPr>
          <a:xfrm>
            <a:off x="5756041"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4" name="TextBox 103"/>
          <p:cNvSpPr txBox="1"/>
          <p:nvPr/>
        </p:nvSpPr>
        <p:spPr>
          <a:xfrm>
            <a:off x="3838575" y="4665301"/>
            <a:ext cx="845914" cy="186689"/>
          </a:xfrm>
          <a:prstGeom prst="rect">
            <a:avLst/>
          </a:prstGeom>
          <a:noFill/>
        </p:spPr>
        <p:txBody>
          <a:bodyPr wrap="none" lIns="0" rIns="0" tIns="0" bIns="0">
            <a:spAutoFit/>
          </a:bodyPr>
          <a:lstStyle/>
          <a:p>
            <a:r>
              <a:rPr sz="1100" b="0">
                <a:solidFill>
                  <a:srgbClr val="2E2E2E"/>
                </a:solidFill>
                <a:latin typeface="Calibri"/>
              </a:rPr>
              <a:t>● 31-90 days:</a:t>
            </a:r>
          </a:p>
        </p:txBody>
      </p:sp>
      <p:pic>
        <p:nvPicPr>
          <p:cNvPr id="105" name="Picture 104" descr="lock.png"/>
          <p:cNvPicPr>
            <a:picLocks noChangeAspect="1"/>
          </p:cNvPicPr>
          <p:nvPr/>
        </p:nvPicPr>
        <p:blipFill>
          <a:blip r:embed="rId16"/>
          <a:stretch>
            <a:fillRect/>
          </a:stretch>
        </p:blipFill>
        <p:spPr>
          <a:xfrm>
            <a:off x="4632540" y="4655522"/>
            <a:ext cx="128699" cy="187198"/>
          </a:xfrm>
          <a:prstGeom prst="rect">
            <a:avLst/>
          </a:prstGeom>
        </p:spPr>
      </p:pic>
      <p:sp>
        <p:nvSpPr>
          <p:cNvPr id="106" name="TextBox 105"/>
          <p:cNvSpPr txBox="1"/>
          <p:nvPr/>
        </p:nvSpPr>
        <p:spPr>
          <a:xfrm>
            <a:off x="480003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7" name="Picture 106" descr="lock.png"/>
          <p:cNvPicPr>
            <a:picLocks noChangeAspect="1"/>
          </p:cNvPicPr>
          <p:nvPr/>
        </p:nvPicPr>
        <p:blipFill>
          <a:blip r:embed="rId16"/>
          <a:stretch>
            <a:fillRect/>
          </a:stretch>
        </p:blipFill>
        <p:spPr>
          <a:xfrm>
            <a:off x="5659486" y="4655522"/>
            <a:ext cx="128699" cy="187198"/>
          </a:xfrm>
          <a:prstGeom prst="rect">
            <a:avLst/>
          </a:prstGeom>
        </p:spPr>
      </p:pic>
      <p:sp>
        <p:nvSpPr>
          <p:cNvPr id="108" name="TextBox 107"/>
          <p:cNvSpPr txBox="1"/>
          <p:nvPr/>
        </p:nvSpPr>
        <p:spPr>
          <a:xfrm>
            <a:off x="5826982"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09" name="TextBox 108"/>
          <p:cNvSpPr txBox="1"/>
          <p:nvPr/>
        </p:nvSpPr>
        <p:spPr>
          <a:xfrm>
            <a:off x="3838575" y="4883233"/>
            <a:ext cx="1296665" cy="186689"/>
          </a:xfrm>
          <a:prstGeom prst="rect">
            <a:avLst/>
          </a:prstGeom>
          <a:noFill/>
        </p:spPr>
        <p:txBody>
          <a:bodyPr wrap="none" lIns="0" rIns="0" tIns="0" bIns="0">
            <a:spAutoFit/>
          </a:bodyPr>
          <a:lstStyle/>
          <a:p>
            <a:r>
              <a:rPr sz="1100" b="0">
                <a:solidFill>
                  <a:srgbClr val="2E2E2E"/>
                </a:solidFill>
                <a:latin typeface="Calibri"/>
              </a:rPr>
              <a:t>● More than 90 days:</a:t>
            </a:r>
          </a:p>
        </p:txBody>
      </p:sp>
      <p:pic>
        <p:nvPicPr>
          <p:cNvPr id="110" name="Picture 109" descr="lock.png"/>
          <p:cNvPicPr>
            <a:picLocks noChangeAspect="1"/>
          </p:cNvPicPr>
          <p:nvPr/>
        </p:nvPicPr>
        <p:blipFill>
          <a:blip r:embed="rId16"/>
          <a:stretch>
            <a:fillRect/>
          </a:stretch>
        </p:blipFill>
        <p:spPr>
          <a:xfrm>
            <a:off x="5083291" y="4873454"/>
            <a:ext cx="128699" cy="187198"/>
          </a:xfrm>
          <a:prstGeom prst="rect">
            <a:avLst/>
          </a:prstGeom>
        </p:spPr>
      </p:pic>
      <p:sp>
        <p:nvSpPr>
          <p:cNvPr id="111" name="TextBox 110"/>
          <p:cNvSpPr txBox="1"/>
          <p:nvPr/>
        </p:nvSpPr>
        <p:spPr>
          <a:xfrm>
            <a:off x="5250787"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6110237" y="4873454"/>
            <a:ext cx="128699" cy="187198"/>
          </a:xfrm>
          <a:prstGeom prst="rect">
            <a:avLst/>
          </a:prstGeom>
        </p:spPr>
      </p:pic>
      <p:sp>
        <p:nvSpPr>
          <p:cNvPr id="113" name="TextBox 112"/>
          <p:cNvSpPr txBox="1"/>
          <p:nvPr/>
        </p:nvSpPr>
        <p:spPr>
          <a:xfrm>
            <a:off x="6277733"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4" name="TextBox 113"/>
          <p:cNvSpPr txBox="1"/>
          <p:nvPr/>
        </p:nvSpPr>
        <p:spPr>
          <a:xfrm>
            <a:off x="8524875" y="5842641"/>
            <a:ext cx="2952985" cy="194310"/>
          </a:xfrm>
          <a:prstGeom prst="rect">
            <a:avLst/>
          </a:prstGeom>
          <a:noFill/>
        </p:spPr>
        <p:txBody>
          <a:bodyPr wrap="none" lIns="0" rIns="0" tIns="0" bIns="0">
            <a:spAutoFit/>
          </a:bodyPr>
          <a:lstStyle/>
          <a:p>
            <a:r>
              <a:rPr sz="1150" b="1">
                <a:solidFill>
                  <a:srgbClr val="0B2E4A"/>
                </a:solidFill>
                <a:latin typeface="Calibri"/>
              </a:rPr>
              <a:t>The Shelf Life segment is projected to grow at a</a:t>
            </a:r>
          </a:p>
        </p:txBody>
      </p:sp>
      <p:sp>
        <p:nvSpPr>
          <p:cNvPr id="115" name="TextBox 114"/>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16" name="Picture 115" descr="lock.png"/>
          <p:cNvPicPr>
            <a:picLocks noChangeAspect="1"/>
          </p:cNvPicPr>
          <p:nvPr/>
        </p:nvPicPr>
        <p:blipFill>
          <a:blip r:embed="rId16"/>
          <a:stretch>
            <a:fillRect/>
          </a:stretch>
        </p:blipFill>
        <p:spPr>
          <a:xfrm>
            <a:off x="9048826" y="6007677"/>
            <a:ext cx="134549" cy="195707"/>
          </a:xfrm>
          <a:prstGeom prst="rect">
            <a:avLst/>
          </a:prstGeom>
        </p:spPr>
      </p:pic>
      <p:sp>
        <p:nvSpPr>
          <p:cNvPr id="117" name="TextBox 116"/>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Shelf Life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Shelf Life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Shelf Life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Shelf Life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09492" cy="186689"/>
          </a:xfrm>
          <a:prstGeom prst="rect">
            <a:avLst/>
          </a:prstGeom>
          <a:noFill/>
        </p:spPr>
        <p:txBody>
          <a:bodyPr wrap="none" lIns="0" rIns="0" tIns="0" bIns="0">
            <a:spAutoFit/>
          </a:bodyPr>
          <a:lstStyle/>
          <a:p>
            <a:r>
              <a:rPr sz="1100" b="0">
                <a:solidFill>
                  <a:srgbClr val="2E2E2E"/>
                </a:solidFill>
                <a:latin typeface="Calibri"/>
              </a:rPr>
              <a:t>Between 2026 and 2036, 'Up to 7 days' gains the most share in the North America market (+</a:t>
            </a:r>
          </a:p>
        </p:txBody>
      </p:sp>
      <p:pic>
        <p:nvPicPr>
          <p:cNvPr id="21" name="Picture 20" descr="lock.png"/>
          <p:cNvPicPr>
            <a:picLocks noChangeAspect="1"/>
          </p:cNvPicPr>
          <p:nvPr/>
        </p:nvPicPr>
        <p:blipFill>
          <a:blip r:embed="rId6"/>
          <a:stretch>
            <a:fillRect/>
          </a:stretch>
        </p:blipFill>
        <p:spPr>
          <a:xfrm>
            <a:off x="5514719" y="5851905"/>
            <a:ext cx="128699" cy="187198"/>
          </a:xfrm>
          <a:prstGeom prst="rect">
            <a:avLst/>
          </a:prstGeom>
        </p:spPr>
      </p:pic>
      <p:sp>
        <p:nvSpPr>
          <p:cNvPr id="22" name="TextBox 21"/>
          <p:cNvSpPr txBox="1"/>
          <p:nvPr/>
        </p:nvSpPr>
        <p:spPr>
          <a:xfrm>
            <a:off x="5682215" y="5861685"/>
            <a:ext cx="1666651" cy="186689"/>
          </a:xfrm>
          <a:prstGeom prst="rect">
            <a:avLst/>
          </a:prstGeom>
          <a:noFill/>
        </p:spPr>
        <p:txBody>
          <a:bodyPr wrap="none" lIns="0" rIns="0" tIns="0" bIns="0">
            <a:spAutoFit/>
          </a:bodyPr>
          <a:lstStyle/>
          <a:p>
            <a:r>
              <a:rPr sz="1100" b="0">
                <a:solidFill>
                  <a:srgbClr val="2E2E2E"/>
                </a:solidFill>
                <a:latin typeface="Calibri"/>
              </a:rPr>
              <a:t>BPS) while '8-30 days' cedes</a:t>
            </a:r>
          </a:p>
        </p:txBody>
      </p:sp>
      <p:pic>
        <p:nvPicPr>
          <p:cNvPr id="23" name="Picture 22" descr="lock.png"/>
          <p:cNvPicPr>
            <a:picLocks noChangeAspect="1"/>
          </p:cNvPicPr>
          <p:nvPr/>
        </p:nvPicPr>
        <p:blipFill>
          <a:blip r:embed="rId6"/>
          <a:stretch>
            <a:fillRect/>
          </a:stretch>
        </p:blipFill>
        <p:spPr>
          <a:xfrm>
            <a:off x="7296918" y="5851905"/>
            <a:ext cx="128699" cy="187198"/>
          </a:xfrm>
          <a:prstGeom prst="rect">
            <a:avLst/>
          </a:prstGeom>
        </p:spPr>
      </p:pic>
      <p:sp>
        <p:nvSpPr>
          <p:cNvPr id="24" name="TextBox 23"/>
          <p:cNvSpPr txBox="1"/>
          <p:nvPr/>
        </p:nvSpPr>
        <p:spPr>
          <a:xfrm>
            <a:off x="7464414"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Shelf Life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Up to 7 days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8-30 days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31-90 days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More than 90 days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Shelf Life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Shelf Life,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Shelf Life (MT)</a:t>
            </a:r>
          </a:p>
        </p:txBody>
      </p:sp>
      <p:graphicFrame>
        <p:nvGraphicFramePr>
          <p:cNvPr id="13" name="Table 12"/>
          <p:cNvGraphicFramePr>
            <a:graphicFrameLocks noGrp="1"/>
          </p:cNvGraphicFramePr>
          <p:nvPr/>
        </p:nvGraphicFramePr>
        <p:xfrm>
          <a:off x="152400" y="1238250"/>
          <a:ext cx="11887198" cy="1485896"/>
        </p:xfrm>
        <a:graphic>
          <a:graphicData uri="http://schemas.openxmlformats.org/drawingml/2006/table">
            <a:tbl>
              <a:tblPr>
                <a:tableStyleId>{5C22544A-7EE6-4342-B048-85BDC9FD1C3A}</a:tableStyleId>
              </a:tblPr>
              <a:tblGrid>
                <a:gridCol w="1226486"/>
                <a:gridCol w="569818"/>
                <a:gridCol w="569818"/>
                <a:gridCol w="569818"/>
                <a:gridCol w="569818"/>
                <a:gridCol w="569818"/>
                <a:gridCol w="569818"/>
                <a:gridCol w="569818"/>
                <a:gridCol w="681327"/>
                <a:gridCol w="681327"/>
                <a:gridCol w="681327"/>
                <a:gridCol w="681327"/>
                <a:gridCol w="681327"/>
                <a:gridCol w="681327"/>
                <a:gridCol w="681327"/>
                <a:gridCol w="681327"/>
                <a:gridCol w="681327"/>
                <a:gridCol w="540043"/>
              </a:tblGrid>
              <a:tr h="246126">
                <a:tc>
                  <a:txBody>
                    <a:bodyPr wrap="none"/>
                    <a:lstStyle/>
                    <a:p>
                      <a:pPr algn="l"/>
                      <a:r>
                        <a:rPr sz="1100" b="1">
                          <a:solidFill>
                            <a:srgbClr val="0B2E4A"/>
                          </a:solidFill>
                          <a:latin typeface="Calibri"/>
                        </a:rPr>
                        <a:t>Shelf Life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F-CAGR</a:t>
                      </a:r>
                      <a:endParaRPr sz="1100"/>
                    </a:p>
                  </a:txBody>
                  <a:tcPr marL="38100" marR="28575" marT="19050" marB="19050" anchor="ctr">
                    <a:solidFill>
                      <a:srgbClr val="E0E8EF"/>
                    </a:solidFill>
                  </a:tcPr>
                </a:tc>
              </a:tr>
              <a:tr h="247954">
                <a:tc>
                  <a:txBody>
                    <a:bodyPr wrap="none"/>
                    <a:lstStyle/>
                    <a:p>
                      <a:pPr algn="l"/>
                      <a:r>
                        <a:rPr sz="1100" b="1">
                          <a:solidFill>
                            <a:srgbClr val="2E2E2E"/>
                          </a:solidFill>
                          <a:latin typeface="Calibri"/>
                        </a:rPr>
                        <a:t>Up to 7 days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954">
                <a:tc>
                  <a:txBody>
                    <a:bodyPr wrap="none"/>
                    <a:lstStyle/>
                    <a:p>
                      <a:pPr algn="l"/>
                      <a:r>
                        <a:rPr sz="1100" b="1">
                          <a:solidFill>
                            <a:srgbClr val="2E2E2E"/>
                          </a:solidFill>
                          <a:latin typeface="Calibri"/>
                        </a:rPr>
                        <a:t>8-30 days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954">
                <a:tc>
                  <a:txBody>
                    <a:bodyPr wrap="none"/>
                    <a:lstStyle/>
                    <a:p>
                      <a:pPr algn="l"/>
                      <a:r>
                        <a:rPr sz="1100" b="1">
                          <a:solidFill>
                            <a:srgbClr val="2E2E2E"/>
                          </a:solidFill>
                          <a:latin typeface="Calibri"/>
                        </a:rPr>
                        <a:t>31-90 days</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954">
                <a:tc>
                  <a:txBody>
                    <a:bodyPr wrap="none"/>
                    <a:lstStyle/>
                    <a:p>
                      <a:pPr algn="l"/>
                      <a:r>
                        <a:rPr sz="1100" b="1">
                          <a:solidFill>
                            <a:srgbClr val="2E2E2E"/>
                          </a:solidFill>
                          <a:latin typeface="Calibri"/>
                        </a:rPr>
                        <a:t>More than 90 days</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Shelf Life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2552" y="1837563"/>
            <a:ext cx="366712" cy="533400"/>
          </a:xfrm>
          <a:prstGeom prst="rect">
            <a:avLst/>
          </a:prstGeom>
        </p:spPr>
      </p:pic>
      <p:sp>
        <p:nvSpPr>
          <p:cNvPr id="21" name="TextBox 20"/>
          <p:cNvSpPr txBox="1"/>
          <p:nvPr/>
        </p:nvSpPr>
        <p:spPr>
          <a:xfrm>
            <a:off x="276225" y="3486150"/>
            <a:ext cx="2443522" cy="194310"/>
          </a:xfrm>
          <a:prstGeom prst="rect">
            <a:avLst/>
          </a:prstGeom>
          <a:noFill/>
        </p:spPr>
        <p:txBody>
          <a:bodyPr wrap="none" lIns="0" rIns="0" tIns="0" bIns="0">
            <a:spAutoFit/>
          </a:bodyPr>
          <a:lstStyle/>
          <a:p>
            <a:r>
              <a:rPr sz="1150" b="0">
                <a:solidFill>
                  <a:srgbClr val="2E2E2E"/>
                </a:solidFill>
                <a:latin typeface="Calibri"/>
              </a:rPr>
              <a:t>▪ 'Up to 7 days' is the largest shelf life at</a:t>
            </a:r>
          </a:p>
        </p:txBody>
      </p:sp>
      <p:pic>
        <p:nvPicPr>
          <p:cNvPr id="22" name="Picture 21" descr="lock.png"/>
          <p:cNvPicPr>
            <a:picLocks noChangeAspect="1"/>
          </p:cNvPicPr>
          <p:nvPr/>
        </p:nvPicPr>
        <p:blipFill>
          <a:blip r:embed="rId4"/>
          <a:stretch>
            <a:fillRect/>
          </a:stretch>
        </p:blipFill>
        <p:spPr>
          <a:xfrm>
            <a:off x="2668901" y="3475926"/>
            <a:ext cx="134549" cy="195707"/>
          </a:xfrm>
          <a:prstGeom prst="rect">
            <a:avLst/>
          </a:prstGeom>
        </p:spPr>
      </p:pic>
      <p:sp>
        <p:nvSpPr>
          <p:cNvPr id="23" name="TextBox 22"/>
          <p:cNvSpPr txBox="1"/>
          <p:nvPr/>
        </p:nvSpPr>
        <p:spPr>
          <a:xfrm>
            <a:off x="2844010" y="3486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873743" y="3475926"/>
            <a:ext cx="134549" cy="195707"/>
          </a:xfrm>
          <a:prstGeom prst="rect">
            <a:avLst/>
          </a:prstGeom>
        </p:spPr>
      </p:pic>
      <p:sp>
        <p:nvSpPr>
          <p:cNvPr id="25" name="TextBox 24"/>
          <p:cNvSpPr txBox="1"/>
          <p:nvPr/>
        </p:nvSpPr>
        <p:spPr>
          <a:xfrm>
            <a:off x="4048852" y="3486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713987"/>
            <a:ext cx="1693589" cy="194310"/>
          </a:xfrm>
          <a:prstGeom prst="rect">
            <a:avLst/>
          </a:prstGeom>
          <a:noFill/>
        </p:spPr>
        <p:txBody>
          <a:bodyPr wrap="none" lIns="0" rIns="0" tIns="0" bIns="0">
            <a:spAutoFit/>
          </a:bodyPr>
          <a:lstStyle/>
          <a:p>
            <a:r>
              <a:rPr sz="1150" b="0">
                <a:solidFill>
                  <a:srgbClr val="2E2E2E"/>
                </a:solidFill>
                <a:latin typeface="Calibri"/>
              </a:rPr>
              <a:t>▪ '31-90 days' grows fastest</a:t>
            </a:r>
          </a:p>
        </p:txBody>
      </p:sp>
      <p:pic>
        <p:nvPicPr>
          <p:cNvPr id="27" name="Picture 26" descr="lock.png"/>
          <p:cNvPicPr>
            <a:picLocks noChangeAspect="1"/>
          </p:cNvPicPr>
          <p:nvPr/>
        </p:nvPicPr>
        <p:blipFill>
          <a:blip r:embed="rId4"/>
          <a:stretch>
            <a:fillRect/>
          </a:stretch>
        </p:blipFill>
        <p:spPr>
          <a:xfrm>
            <a:off x="1918968" y="3703764"/>
            <a:ext cx="134549" cy="195707"/>
          </a:xfrm>
          <a:prstGeom prst="rect">
            <a:avLst/>
          </a:prstGeom>
        </p:spPr>
      </p:pic>
      <p:sp>
        <p:nvSpPr>
          <p:cNvPr id="28" name="TextBox 27"/>
          <p:cNvSpPr txBox="1"/>
          <p:nvPr/>
        </p:nvSpPr>
        <p:spPr>
          <a:xfrm>
            <a:off x="2094077"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98327" cy="194310"/>
          </a:xfrm>
          <a:prstGeom prst="rect">
            <a:avLst/>
          </a:prstGeom>
          <a:noFill/>
        </p:spPr>
        <p:txBody>
          <a:bodyPr wrap="none" lIns="0" rIns="0" tIns="0" bIns="0">
            <a:spAutoFit/>
          </a:bodyPr>
          <a:lstStyle/>
          <a:p>
            <a:r>
              <a:rPr sz="1150" b="0">
                <a:solidFill>
                  <a:srgbClr val="2E2E2E"/>
                </a:solidFill>
                <a:latin typeface="Calibri"/>
              </a:rPr>
              <a:t>▪ Share shifts toward 'Up to 7 days' (+</a:t>
            </a:r>
          </a:p>
        </p:txBody>
      </p:sp>
      <p:pic>
        <p:nvPicPr>
          <p:cNvPr id="30" name="Picture 29" descr="lock.png"/>
          <p:cNvPicPr>
            <a:picLocks noChangeAspect="1"/>
          </p:cNvPicPr>
          <p:nvPr/>
        </p:nvPicPr>
        <p:blipFill>
          <a:blip r:embed="rId4"/>
          <a:stretch>
            <a:fillRect/>
          </a:stretch>
        </p:blipFill>
        <p:spPr>
          <a:xfrm>
            <a:off x="2523706" y="3931602"/>
            <a:ext cx="134549" cy="195707"/>
          </a:xfrm>
          <a:prstGeom prst="rect">
            <a:avLst/>
          </a:prstGeom>
        </p:spPr>
      </p:pic>
      <p:sp>
        <p:nvSpPr>
          <p:cNvPr id="31" name="TextBox 30"/>
          <p:cNvSpPr txBox="1"/>
          <p:nvPr/>
        </p:nvSpPr>
        <p:spPr>
          <a:xfrm>
            <a:off x="2698816" y="3941825"/>
            <a:ext cx="2054721" cy="194310"/>
          </a:xfrm>
          <a:prstGeom prst="rect">
            <a:avLst/>
          </a:prstGeom>
          <a:noFill/>
        </p:spPr>
        <p:txBody>
          <a:bodyPr wrap="none" lIns="0" rIns="0" tIns="0" bIns="0">
            <a:spAutoFit/>
          </a:bodyPr>
          <a:lstStyle/>
          <a:p>
            <a:r>
              <a:rPr sz="1150" b="0">
                <a:solidFill>
                  <a:srgbClr val="2E2E2E"/>
                </a:solidFill>
                <a:latin typeface="Calibri"/>
              </a:rPr>
              <a:t>BPS) and away from '8-30 days' (-</a:t>
            </a:r>
          </a:p>
        </p:txBody>
      </p:sp>
      <p:pic>
        <p:nvPicPr>
          <p:cNvPr id="32" name="Picture 31" descr="lock.png"/>
          <p:cNvPicPr>
            <a:picLocks noChangeAspect="1"/>
          </p:cNvPicPr>
          <p:nvPr/>
        </p:nvPicPr>
        <p:blipFill>
          <a:blip r:embed="rId4"/>
          <a:stretch>
            <a:fillRect/>
          </a:stretch>
        </p:blipFill>
        <p:spPr>
          <a:xfrm>
            <a:off x="4702691" y="3931602"/>
            <a:ext cx="134549" cy="195707"/>
          </a:xfrm>
          <a:prstGeom prst="rect">
            <a:avLst/>
          </a:prstGeom>
        </p:spPr>
      </p:pic>
      <p:sp>
        <p:nvSpPr>
          <p:cNvPr id="33" name="TextBox 32"/>
          <p:cNvSpPr txBox="1"/>
          <p:nvPr/>
        </p:nvSpPr>
        <p:spPr>
          <a:xfrm>
            <a:off x="4877800"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59440"/>
            <a:ext cx="134549" cy="195707"/>
          </a:xfrm>
          <a:prstGeom prst="rect">
            <a:avLst/>
          </a:prstGeom>
        </p:spPr>
      </p:pic>
      <p:sp>
        <p:nvSpPr>
          <p:cNvPr id="36" name="TextBox 35"/>
          <p:cNvSpPr txBox="1"/>
          <p:nvPr/>
        </p:nvSpPr>
        <p:spPr>
          <a:xfrm>
            <a:off x="1965143"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59440"/>
            <a:ext cx="134549" cy="195707"/>
          </a:xfrm>
          <a:prstGeom prst="rect">
            <a:avLst/>
          </a:prstGeom>
        </p:spPr>
      </p:pic>
      <p:sp>
        <p:nvSpPr>
          <p:cNvPr id="38" name="TextBox 37"/>
          <p:cNvSpPr txBox="1"/>
          <p:nvPr/>
        </p:nvSpPr>
        <p:spPr>
          <a:xfrm>
            <a:off x="2291688" y="4169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Shelf Life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Shelf Life,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Shelf Life (US$ Mn)</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1377045"/>
                <a:gridCol w="618244"/>
                <a:gridCol w="618244"/>
                <a:gridCol w="618244"/>
                <a:gridCol w="618244"/>
                <a:gridCol w="618244"/>
                <a:gridCol w="618244"/>
                <a:gridCol w="618244"/>
                <a:gridCol w="618244"/>
                <a:gridCol w="618244"/>
                <a:gridCol w="618244"/>
                <a:gridCol w="618244"/>
                <a:gridCol w="618244"/>
                <a:gridCol w="618244"/>
                <a:gridCol w="618244"/>
                <a:gridCol w="618244"/>
                <a:gridCol w="618244"/>
                <a:gridCol w="618244"/>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Shelf Life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7829" y="1837563"/>
            <a:ext cx="366712" cy="533400"/>
          </a:xfrm>
          <a:prstGeom prst="rect">
            <a:avLst/>
          </a:prstGeom>
        </p:spPr>
      </p:pic>
      <p:sp>
        <p:nvSpPr>
          <p:cNvPr id="21" name="TextBox 20"/>
          <p:cNvSpPr txBox="1"/>
          <p:nvPr/>
        </p:nvSpPr>
        <p:spPr>
          <a:xfrm>
            <a:off x="276225" y="3486150"/>
            <a:ext cx="2443522" cy="194310"/>
          </a:xfrm>
          <a:prstGeom prst="rect">
            <a:avLst/>
          </a:prstGeom>
          <a:noFill/>
        </p:spPr>
        <p:txBody>
          <a:bodyPr wrap="none" lIns="0" rIns="0" tIns="0" bIns="0">
            <a:spAutoFit/>
          </a:bodyPr>
          <a:lstStyle/>
          <a:p>
            <a:r>
              <a:rPr sz="1150" b="0">
                <a:solidFill>
                  <a:srgbClr val="2E2E2E"/>
                </a:solidFill>
                <a:latin typeface="Calibri"/>
              </a:rPr>
              <a:t>▪ 'Up to 7 days' is the largest shelf life at</a:t>
            </a:r>
          </a:p>
        </p:txBody>
      </p:sp>
      <p:pic>
        <p:nvPicPr>
          <p:cNvPr id="22" name="Picture 21" descr="lock.png"/>
          <p:cNvPicPr>
            <a:picLocks noChangeAspect="1"/>
          </p:cNvPicPr>
          <p:nvPr/>
        </p:nvPicPr>
        <p:blipFill>
          <a:blip r:embed="rId4"/>
          <a:stretch>
            <a:fillRect/>
          </a:stretch>
        </p:blipFill>
        <p:spPr>
          <a:xfrm>
            <a:off x="2668901" y="3475926"/>
            <a:ext cx="134549" cy="195707"/>
          </a:xfrm>
          <a:prstGeom prst="rect">
            <a:avLst/>
          </a:prstGeom>
        </p:spPr>
      </p:pic>
      <p:sp>
        <p:nvSpPr>
          <p:cNvPr id="23" name="TextBox 22"/>
          <p:cNvSpPr txBox="1"/>
          <p:nvPr/>
        </p:nvSpPr>
        <p:spPr>
          <a:xfrm>
            <a:off x="2844010"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749943" y="3475926"/>
            <a:ext cx="134549" cy="195707"/>
          </a:xfrm>
          <a:prstGeom prst="rect">
            <a:avLst/>
          </a:prstGeom>
        </p:spPr>
      </p:pic>
      <p:sp>
        <p:nvSpPr>
          <p:cNvPr id="25" name="TextBox 24"/>
          <p:cNvSpPr txBox="1"/>
          <p:nvPr/>
        </p:nvSpPr>
        <p:spPr>
          <a:xfrm>
            <a:off x="3925052"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1693589" cy="194310"/>
          </a:xfrm>
          <a:prstGeom prst="rect">
            <a:avLst/>
          </a:prstGeom>
          <a:noFill/>
        </p:spPr>
        <p:txBody>
          <a:bodyPr wrap="none" lIns="0" rIns="0" tIns="0" bIns="0">
            <a:spAutoFit/>
          </a:bodyPr>
          <a:lstStyle/>
          <a:p>
            <a:r>
              <a:rPr sz="1150" b="0">
                <a:solidFill>
                  <a:srgbClr val="2E2E2E"/>
                </a:solidFill>
                <a:latin typeface="Calibri"/>
              </a:rPr>
              <a:t>▪ '31-90 days' grows fastest</a:t>
            </a:r>
          </a:p>
        </p:txBody>
      </p:sp>
      <p:pic>
        <p:nvPicPr>
          <p:cNvPr id="27" name="Picture 26" descr="lock.png"/>
          <p:cNvPicPr>
            <a:picLocks noChangeAspect="1"/>
          </p:cNvPicPr>
          <p:nvPr/>
        </p:nvPicPr>
        <p:blipFill>
          <a:blip r:embed="rId4"/>
          <a:stretch>
            <a:fillRect/>
          </a:stretch>
        </p:blipFill>
        <p:spPr>
          <a:xfrm>
            <a:off x="1918968" y="3703764"/>
            <a:ext cx="134549" cy="195707"/>
          </a:xfrm>
          <a:prstGeom prst="rect">
            <a:avLst/>
          </a:prstGeom>
        </p:spPr>
      </p:pic>
      <p:sp>
        <p:nvSpPr>
          <p:cNvPr id="28" name="TextBox 27"/>
          <p:cNvSpPr txBox="1"/>
          <p:nvPr/>
        </p:nvSpPr>
        <p:spPr>
          <a:xfrm>
            <a:off x="2094077"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98327" cy="194310"/>
          </a:xfrm>
          <a:prstGeom prst="rect">
            <a:avLst/>
          </a:prstGeom>
          <a:noFill/>
        </p:spPr>
        <p:txBody>
          <a:bodyPr wrap="none" lIns="0" rIns="0" tIns="0" bIns="0">
            <a:spAutoFit/>
          </a:bodyPr>
          <a:lstStyle/>
          <a:p>
            <a:r>
              <a:rPr sz="1150" b="0">
                <a:solidFill>
                  <a:srgbClr val="2E2E2E"/>
                </a:solidFill>
                <a:latin typeface="Calibri"/>
              </a:rPr>
              <a:t>▪ Share shifts toward 'Up to 7 days' (+</a:t>
            </a:r>
          </a:p>
        </p:txBody>
      </p:sp>
      <p:pic>
        <p:nvPicPr>
          <p:cNvPr id="30" name="Picture 29" descr="lock.png"/>
          <p:cNvPicPr>
            <a:picLocks noChangeAspect="1"/>
          </p:cNvPicPr>
          <p:nvPr/>
        </p:nvPicPr>
        <p:blipFill>
          <a:blip r:embed="rId4"/>
          <a:stretch>
            <a:fillRect/>
          </a:stretch>
        </p:blipFill>
        <p:spPr>
          <a:xfrm>
            <a:off x="2523706" y="3931602"/>
            <a:ext cx="134549" cy="195707"/>
          </a:xfrm>
          <a:prstGeom prst="rect">
            <a:avLst/>
          </a:prstGeom>
        </p:spPr>
      </p:pic>
      <p:sp>
        <p:nvSpPr>
          <p:cNvPr id="31" name="TextBox 30"/>
          <p:cNvSpPr txBox="1"/>
          <p:nvPr/>
        </p:nvSpPr>
        <p:spPr>
          <a:xfrm>
            <a:off x="2698816" y="3941825"/>
            <a:ext cx="2054721" cy="194310"/>
          </a:xfrm>
          <a:prstGeom prst="rect">
            <a:avLst/>
          </a:prstGeom>
          <a:noFill/>
        </p:spPr>
        <p:txBody>
          <a:bodyPr wrap="none" lIns="0" rIns="0" tIns="0" bIns="0">
            <a:spAutoFit/>
          </a:bodyPr>
          <a:lstStyle/>
          <a:p>
            <a:r>
              <a:rPr sz="1150" b="0">
                <a:solidFill>
                  <a:srgbClr val="2E2E2E"/>
                </a:solidFill>
                <a:latin typeface="Calibri"/>
              </a:rPr>
              <a:t>BPS) and away from '8-30 days' (-</a:t>
            </a:r>
          </a:p>
        </p:txBody>
      </p:sp>
      <p:pic>
        <p:nvPicPr>
          <p:cNvPr id="32" name="Picture 31" descr="lock.png"/>
          <p:cNvPicPr>
            <a:picLocks noChangeAspect="1"/>
          </p:cNvPicPr>
          <p:nvPr/>
        </p:nvPicPr>
        <p:blipFill>
          <a:blip r:embed="rId4"/>
          <a:stretch>
            <a:fillRect/>
          </a:stretch>
        </p:blipFill>
        <p:spPr>
          <a:xfrm>
            <a:off x="4702691" y="3931602"/>
            <a:ext cx="134549" cy="195707"/>
          </a:xfrm>
          <a:prstGeom prst="rect">
            <a:avLst/>
          </a:prstGeom>
        </p:spPr>
      </p:pic>
      <p:sp>
        <p:nvSpPr>
          <p:cNvPr id="33" name="TextBox 32"/>
          <p:cNvSpPr txBox="1"/>
          <p:nvPr/>
        </p:nvSpPr>
        <p:spPr>
          <a:xfrm>
            <a:off x="4877800"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Shelf Life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Shelf Life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4382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390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628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More than 90 days</a:t>
            </a:r>
          </a:p>
        </p:txBody>
      </p:sp>
      <p:sp>
        <p:nvSpPr>
          <p:cNvPr id="19" name="BPS Value 1"/>
          <p:cNvSpPr txBox="1"/>
          <p:nvPr/>
        </p:nvSpPr>
        <p:spPr>
          <a:xfrm>
            <a:off x="6896100" y="192477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5577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5299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767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8-30 days</a:t>
            </a:r>
          </a:p>
        </p:txBody>
      </p:sp>
      <p:sp>
        <p:nvSpPr>
          <p:cNvPr id="23" name="BPS Value 2"/>
          <p:cNvSpPr txBox="1"/>
          <p:nvPr/>
        </p:nvSpPr>
        <p:spPr>
          <a:xfrm>
            <a:off x="6896100" y="253871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2479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2432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1670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31-90 days</a:t>
            </a:r>
          </a:p>
        </p:txBody>
      </p:sp>
      <p:sp>
        <p:nvSpPr>
          <p:cNvPr id="27" name="BPS Value 3"/>
          <p:cNvSpPr txBox="1"/>
          <p:nvPr/>
        </p:nvSpPr>
        <p:spPr>
          <a:xfrm>
            <a:off x="6896100" y="32289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492021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9154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8392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Up to 7 days</a:t>
            </a:r>
          </a:p>
        </p:txBody>
      </p:sp>
      <p:sp>
        <p:nvSpPr>
          <p:cNvPr id="31" name="BPS Value 4"/>
          <p:cNvSpPr txBox="1"/>
          <p:nvPr/>
        </p:nvSpPr>
        <p:spPr>
          <a:xfrm>
            <a:off x="6896100" y="490116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Shelf Life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335410" cy="194310"/>
          </a:xfrm>
          <a:prstGeom prst="rect">
            <a:avLst/>
          </a:prstGeom>
          <a:noFill/>
        </p:spPr>
        <p:txBody>
          <a:bodyPr wrap="none" lIns="0" rIns="0" tIns="0" bIns="0">
            <a:spAutoFit/>
          </a:bodyPr>
          <a:lstStyle/>
          <a:p>
            <a:r>
              <a:rPr sz="1150" b="0">
                <a:solidFill>
                  <a:srgbClr val="2E2E2E"/>
                </a:solidFill>
                <a:latin typeface="Calibri"/>
              </a:rPr>
              <a:t>▪ 'Up to 7 days' gains the most share +</a:t>
            </a:r>
          </a:p>
        </p:txBody>
      </p:sp>
      <p:pic>
        <p:nvPicPr>
          <p:cNvPr id="39" name="Picture 38" descr="lock.png"/>
          <p:cNvPicPr>
            <a:picLocks noChangeAspect="1"/>
          </p:cNvPicPr>
          <p:nvPr/>
        </p:nvPicPr>
        <p:blipFill>
          <a:blip r:embed="rId5"/>
          <a:stretch>
            <a:fillRect/>
          </a:stretch>
        </p:blipFill>
        <p:spPr>
          <a:xfrm>
            <a:off x="10114114" y="1389951"/>
            <a:ext cx="134549" cy="195707"/>
          </a:xfrm>
          <a:prstGeom prst="rect">
            <a:avLst/>
          </a:prstGeom>
        </p:spPr>
      </p:pic>
      <p:sp>
        <p:nvSpPr>
          <p:cNvPr id="40" name="TextBox 39"/>
          <p:cNvSpPr txBox="1"/>
          <p:nvPr/>
        </p:nvSpPr>
        <p:spPr>
          <a:xfrm>
            <a:off x="10289224"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1812255" cy="194310"/>
          </a:xfrm>
          <a:prstGeom prst="rect">
            <a:avLst/>
          </a:prstGeom>
          <a:noFill/>
        </p:spPr>
        <p:txBody>
          <a:bodyPr wrap="none" lIns="0" rIns="0" tIns="0" bIns="0">
            <a:spAutoFit/>
          </a:bodyPr>
          <a:lstStyle/>
          <a:p>
            <a:r>
              <a:rPr sz="1150" b="0">
                <a:solidFill>
                  <a:srgbClr val="2E2E2E"/>
                </a:solidFill>
                <a:latin typeface="Calibri"/>
              </a:rPr>
              <a:t>▪ '8-30 days' cedes the most -</a:t>
            </a:r>
          </a:p>
        </p:txBody>
      </p:sp>
      <p:pic>
        <p:nvPicPr>
          <p:cNvPr id="43" name="Picture 42" descr="lock.png"/>
          <p:cNvPicPr>
            <a:picLocks noChangeAspect="1"/>
          </p:cNvPicPr>
          <p:nvPr/>
        </p:nvPicPr>
        <p:blipFill>
          <a:blip r:embed="rId5"/>
          <a:stretch>
            <a:fillRect/>
          </a:stretch>
        </p:blipFill>
        <p:spPr>
          <a:xfrm>
            <a:off x="9590959" y="1793049"/>
            <a:ext cx="134549" cy="195707"/>
          </a:xfrm>
          <a:prstGeom prst="rect">
            <a:avLst/>
          </a:prstGeom>
        </p:spPr>
      </p:pic>
      <p:sp>
        <p:nvSpPr>
          <p:cNvPr id="44" name="TextBox 43"/>
          <p:cNvSpPr txBox="1"/>
          <p:nvPr/>
        </p:nvSpPr>
        <p:spPr>
          <a:xfrm>
            <a:off x="9766068"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45" name="TextBox 44"/>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829550" y="2206371"/>
            <a:ext cx="2870262" cy="194310"/>
          </a:xfrm>
          <a:prstGeom prst="rect">
            <a:avLst/>
          </a:prstGeom>
          <a:noFill/>
        </p:spPr>
        <p:txBody>
          <a:bodyPr wrap="none" lIns="0" rIns="0" tIns="0" bIns="0">
            <a:spAutoFit/>
          </a:bodyPr>
          <a:lstStyle/>
          <a:p>
            <a:r>
              <a:rPr sz="1150" b="0">
                <a:solidFill>
                  <a:srgbClr val="2E2E2E"/>
                </a:solidFill>
                <a:latin typeface="Calibri"/>
              </a:rPr>
              <a:t>▪ '31-90 days' is the fastest-growing shelf life at</a:t>
            </a:r>
          </a:p>
        </p:txBody>
      </p:sp>
      <p:pic>
        <p:nvPicPr>
          <p:cNvPr id="47" name="Picture 46" descr="lock.png"/>
          <p:cNvPicPr>
            <a:picLocks noChangeAspect="1"/>
          </p:cNvPicPr>
          <p:nvPr/>
        </p:nvPicPr>
        <p:blipFill>
          <a:blip r:embed="rId5"/>
          <a:stretch>
            <a:fillRect/>
          </a:stretch>
        </p:blipFill>
        <p:spPr>
          <a:xfrm>
            <a:off x="10648965" y="2196147"/>
            <a:ext cx="134549" cy="195707"/>
          </a:xfrm>
          <a:prstGeom prst="rect">
            <a:avLst/>
          </a:prstGeom>
        </p:spPr>
      </p:pic>
      <p:sp>
        <p:nvSpPr>
          <p:cNvPr id="48" name="TextBox 47"/>
          <p:cNvSpPr txBox="1"/>
          <p:nvPr/>
        </p:nvSpPr>
        <p:spPr>
          <a:xfrm>
            <a:off x="10824075"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9" name="TextBox 48"/>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Shelf Life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Shelf Life,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Shelf Life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sp>
        <p:nvSpPr>
          <p:cNvPr id="33" name="Rectangle 32"/>
          <p:cNvSpPr/>
          <p:nvPr/>
        </p:nvSpPr>
        <p:spPr>
          <a:xfrm>
            <a:off x="1857375" y="3248025"/>
            <a:ext cx="643890" cy="831056"/>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sp>
        <p:nvSpPr>
          <p:cNvPr id="65" name="Rectangle 64"/>
          <p:cNvSpPr/>
          <p:nvPr/>
        </p:nvSpPr>
        <p:spPr>
          <a:xfrm>
            <a:off x="1857375" y="4910138"/>
            <a:ext cx="643890" cy="831056"/>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81" name="Rectangle 80"/>
          <p:cNvSpPr/>
          <p:nvPr/>
        </p:nvSpPr>
        <p:spPr>
          <a:xfrm>
            <a:off x="185737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63944" y="1713738"/>
            <a:ext cx="366712" cy="533400"/>
          </a:xfrm>
          <a:prstGeom prst="rect">
            <a:avLst/>
          </a:prstGeom>
        </p:spPr>
      </p:pic>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Shelf Life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Shelf Life,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Shelf Life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sp>
        <p:nvSpPr>
          <p:cNvPr id="33" name="Rectangle 32"/>
          <p:cNvSpPr/>
          <p:nvPr/>
        </p:nvSpPr>
        <p:spPr>
          <a:xfrm>
            <a:off x="1857375" y="3248025"/>
            <a:ext cx="643890" cy="831056"/>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sp>
        <p:nvSpPr>
          <p:cNvPr id="49" name="Rectangle 48"/>
          <p:cNvSpPr/>
          <p:nvPr/>
        </p:nvSpPr>
        <p:spPr>
          <a:xfrm>
            <a:off x="1857375" y="4079081"/>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sp>
        <p:nvSpPr>
          <p:cNvPr id="65" name="Rectangle 64"/>
          <p:cNvSpPr/>
          <p:nvPr/>
        </p:nvSpPr>
        <p:spPr>
          <a:xfrm>
            <a:off x="1857375" y="4910138"/>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81" name="Rectangle 80"/>
          <p:cNvSpPr/>
          <p:nvPr/>
        </p:nvSpPr>
        <p:spPr>
          <a:xfrm>
            <a:off x="185737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63944" y="1713738"/>
            <a:ext cx="366712" cy="533400"/>
          </a:xfrm>
          <a:prstGeom prst="rect">
            <a:avLst/>
          </a:prstGeom>
        </p:spPr>
      </p:pic>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Packaging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Packaging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Packaging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Packaging Format segment categorizes the market by packaging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Rigid plastic packs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Paperboard packs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packs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packaging formats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Packaging Format split shows how demand is distributed across packaging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713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_610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3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_302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713_605E5C.png"/>
          <p:cNvPicPr>
            <a:picLocks noChangeAspect="1"/>
          </p:cNvPicPr>
          <p:nvPr/>
        </p:nvPicPr>
        <p:blipFill>
          <a:blip r:embed="rId4"/>
          <a:stretch>
            <a:fillRect/>
          </a:stretch>
        </p:blipFill>
        <p:spPr>
          <a:xfrm>
            <a:off x="5005218" y="2779432"/>
            <a:ext cx="1195728" cy="361950"/>
          </a:xfrm>
          <a:prstGeom prst="rect">
            <a:avLst/>
          </a:prstGeom>
        </p:spPr>
      </p:pic>
      <p:pic>
        <p:nvPicPr>
          <p:cNvPr id="69" name="Picture 68" descr="2_8__605E5C.png"/>
          <p:cNvPicPr>
            <a:picLocks noChangeAspect="1"/>
          </p:cNvPicPr>
          <p:nvPr/>
        </p:nvPicPr>
        <p:blipFill>
          <a:blip r:embed="rId8"/>
          <a:stretch>
            <a:fillRect/>
          </a:stretch>
        </p:blipFill>
        <p:spPr>
          <a:xfrm>
            <a:off x="5111864" y="3272281"/>
            <a:ext cx="982436" cy="361950"/>
          </a:xfrm>
          <a:prstGeom prst="rect">
            <a:avLst/>
          </a:prstGeom>
        </p:spPr>
      </p:pic>
      <p:pic>
        <p:nvPicPr>
          <p:cNvPr id="70" name="Picture 69" descr="434_7_605E5C.png"/>
          <p:cNvPicPr>
            <a:picLocks noChangeAspect="1"/>
          </p:cNvPicPr>
          <p:nvPr/>
        </p:nvPicPr>
        <p:blipFill>
          <a:blip r:embed="rId9"/>
          <a:stretch>
            <a:fillRect/>
          </a:stretch>
        </p:blipFill>
        <p:spPr>
          <a:xfrm>
            <a:off x="7534105" y="2286582"/>
            <a:ext cx="1195728" cy="361950"/>
          </a:xfrm>
          <a:prstGeom prst="rect">
            <a:avLst/>
          </a:prstGeom>
        </p:spPr>
      </p:pic>
      <p:pic>
        <p:nvPicPr>
          <p:cNvPr id="71" name="Picture 70" descr="729_2_605E5C.png"/>
          <p:cNvPicPr>
            <a:picLocks noChangeAspect="1"/>
          </p:cNvPicPr>
          <p:nvPr/>
        </p:nvPicPr>
        <p:blipFill>
          <a:blip r:embed="rId10"/>
          <a:stretch>
            <a:fillRect/>
          </a:stretch>
        </p:blipFill>
        <p:spPr>
          <a:xfrm>
            <a:off x="7534105" y="2779432"/>
            <a:ext cx="1195728" cy="361950"/>
          </a:xfrm>
          <a:prstGeom prst="rect">
            <a:avLst/>
          </a:prstGeom>
        </p:spPr>
      </p:pic>
      <p:pic>
        <p:nvPicPr>
          <p:cNvPr id="72" name="Picture 71" descr="5_3__605E5C.png"/>
          <p:cNvPicPr>
            <a:picLocks noChangeAspect="1"/>
          </p:cNvPicPr>
          <p:nvPr/>
        </p:nvPicPr>
        <p:blipFill>
          <a:blip r:embed="rId11"/>
          <a:stretch>
            <a:fillRect/>
          </a:stretch>
        </p:blipFill>
        <p:spPr>
          <a:xfrm>
            <a:off x="7640751" y="3272281"/>
            <a:ext cx="982436" cy="361950"/>
          </a:xfrm>
          <a:prstGeom prst="rect">
            <a:avLst/>
          </a:prstGeom>
        </p:spPr>
      </p:pic>
      <p:pic>
        <p:nvPicPr>
          <p:cNvPr id="73" name="Picture 72" descr="147_9_605E5C.png"/>
          <p:cNvPicPr>
            <a:picLocks noChangeAspect="1"/>
          </p:cNvPicPr>
          <p:nvPr/>
        </p:nvPicPr>
        <p:blipFill>
          <a:blip r:embed="rId12"/>
          <a:stretch>
            <a:fillRect/>
          </a:stretch>
        </p:blipFill>
        <p:spPr>
          <a:xfrm>
            <a:off x="10062992" y="2286582"/>
            <a:ext cx="1195728" cy="361950"/>
          </a:xfrm>
          <a:prstGeom prst="rect">
            <a:avLst/>
          </a:prstGeom>
        </p:spPr>
      </p:pic>
      <p:pic>
        <p:nvPicPr>
          <p:cNvPr id="74" name="Picture 73" descr="301_7_605E5C.png"/>
          <p:cNvPicPr>
            <a:picLocks noChangeAspect="1"/>
          </p:cNvPicPr>
          <p:nvPr/>
        </p:nvPicPr>
        <p:blipFill>
          <a:blip r:embed="rId13"/>
          <a:stretch>
            <a:fillRect/>
          </a:stretch>
        </p:blipFill>
        <p:spPr>
          <a:xfrm>
            <a:off x="10062992" y="2779432"/>
            <a:ext cx="1195728" cy="361950"/>
          </a:xfrm>
          <a:prstGeom prst="rect">
            <a:avLst/>
          </a:prstGeom>
        </p:spPr>
      </p:pic>
      <p:pic>
        <p:nvPicPr>
          <p:cNvPr id="75" name="Picture 74" descr="7_4__605E5C.png"/>
          <p:cNvPicPr>
            <a:picLocks noChangeAspect="1"/>
          </p:cNvPicPr>
          <p:nvPr/>
        </p:nvPicPr>
        <p:blipFill>
          <a:blip r:embed="rId14"/>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5"/>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5"/>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5"/>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5"/>
          <a:stretch>
            <a:fillRect/>
          </a:stretch>
        </p:blipFill>
        <p:spPr>
          <a:xfrm>
            <a:off x="10567511" y="2827057"/>
            <a:ext cx="183356" cy="266700"/>
          </a:xfrm>
          <a:prstGeom prst="rect">
            <a:avLst/>
          </a:prstGeom>
        </p:spPr>
      </p:pic>
      <p:sp>
        <p:nvSpPr>
          <p:cNvPr id="80" name="TextBox 79"/>
          <p:cNvSpPr txBox="1"/>
          <p:nvPr/>
        </p:nvSpPr>
        <p:spPr>
          <a:xfrm>
            <a:off x="485775" y="4229437"/>
            <a:ext cx="2703487" cy="186689"/>
          </a:xfrm>
          <a:prstGeom prst="rect">
            <a:avLst/>
          </a:prstGeom>
          <a:noFill/>
        </p:spPr>
        <p:txBody>
          <a:bodyPr wrap="none" lIns="0" rIns="0" tIns="0" bIns="0">
            <a:spAutoFit/>
          </a:bodyPr>
          <a:lstStyle/>
          <a:p>
            <a:r>
              <a:rPr sz="1100" b="0">
                <a:solidFill>
                  <a:srgbClr val="2E2E2E"/>
                </a:solidFill>
                <a:latin typeface="Calibri"/>
              </a:rPr>
              <a:t>▪ 'Rigid plastic packs' holds the largest share in</a:t>
            </a:r>
          </a:p>
        </p:txBody>
      </p:sp>
      <p:sp>
        <p:nvSpPr>
          <p:cNvPr id="81" name="TextBox 80"/>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82" name="Picture 81" descr="lock.png"/>
          <p:cNvPicPr>
            <a:picLocks noChangeAspect="1"/>
          </p:cNvPicPr>
          <p:nvPr/>
        </p:nvPicPr>
        <p:blipFill>
          <a:blip r:embed="rId15"/>
          <a:stretch>
            <a:fillRect/>
          </a:stretch>
        </p:blipFill>
        <p:spPr>
          <a:xfrm>
            <a:off x="793792" y="4387298"/>
            <a:ext cx="128699" cy="187198"/>
          </a:xfrm>
          <a:prstGeom prst="rect">
            <a:avLst/>
          </a:prstGeom>
        </p:spPr>
      </p:pic>
      <p:sp>
        <p:nvSpPr>
          <p:cNvPr id="83" name="TextBox 82"/>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4" name="TextBox 83"/>
          <p:cNvSpPr txBox="1"/>
          <p:nvPr/>
        </p:nvSpPr>
        <p:spPr>
          <a:xfrm>
            <a:off x="485775" y="4615009"/>
            <a:ext cx="2881386" cy="186689"/>
          </a:xfrm>
          <a:prstGeom prst="rect">
            <a:avLst/>
          </a:prstGeom>
          <a:noFill/>
        </p:spPr>
        <p:txBody>
          <a:bodyPr wrap="none" lIns="0" rIns="0" tIns="0" bIns="0">
            <a:spAutoFit/>
          </a:bodyPr>
          <a:lstStyle/>
          <a:p>
            <a:r>
              <a:rPr sz="1100" b="0">
                <a:solidFill>
                  <a:srgbClr val="2E2E2E"/>
                </a:solidFill>
                <a:latin typeface="Calibri"/>
              </a:rPr>
              <a:t>▪ 'Other packaging formats' is the fastest-growing</a:t>
            </a:r>
          </a:p>
        </p:txBody>
      </p:sp>
      <p:sp>
        <p:nvSpPr>
          <p:cNvPr id="85" name="TextBox 84"/>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6" name="Picture 85" descr="lock.png"/>
          <p:cNvPicPr>
            <a:picLocks noChangeAspect="1"/>
          </p:cNvPicPr>
          <p:nvPr/>
        </p:nvPicPr>
        <p:blipFill>
          <a:blip r:embed="rId15"/>
          <a:stretch>
            <a:fillRect/>
          </a:stretch>
        </p:blipFill>
        <p:spPr>
          <a:xfrm>
            <a:off x="1391064" y="4772870"/>
            <a:ext cx="128699" cy="187198"/>
          </a:xfrm>
          <a:prstGeom prst="rect">
            <a:avLst/>
          </a:prstGeom>
        </p:spPr>
      </p:pic>
      <p:sp>
        <p:nvSpPr>
          <p:cNvPr id="87" name="TextBox 86"/>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8" name="TextBox 87"/>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9" name="Picture 88" descr="lock.png"/>
          <p:cNvPicPr>
            <a:picLocks noChangeAspect="1"/>
          </p:cNvPicPr>
          <p:nvPr/>
        </p:nvPicPr>
        <p:blipFill>
          <a:blip r:embed="rId15"/>
          <a:stretch>
            <a:fillRect/>
          </a:stretch>
        </p:blipFill>
        <p:spPr>
          <a:xfrm>
            <a:off x="2240451" y="4990801"/>
            <a:ext cx="128699" cy="187198"/>
          </a:xfrm>
          <a:prstGeom prst="rect">
            <a:avLst/>
          </a:prstGeom>
        </p:spPr>
      </p:pic>
      <p:sp>
        <p:nvSpPr>
          <p:cNvPr id="90" name="TextBox 89"/>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1" name="Picture 90" descr="lock.png"/>
          <p:cNvPicPr>
            <a:picLocks noChangeAspect="1"/>
          </p:cNvPicPr>
          <p:nvPr/>
        </p:nvPicPr>
        <p:blipFill>
          <a:blip r:embed="rId15"/>
          <a:stretch>
            <a:fillRect/>
          </a:stretch>
        </p:blipFill>
        <p:spPr>
          <a:xfrm>
            <a:off x="2552799" y="4990801"/>
            <a:ext cx="128699" cy="187198"/>
          </a:xfrm>
          <a:prstGeom prst="rect">
            <a:avLst/>
          </a:prstGeom>
        </p:spPr>
      </p:pic>
      <p:sp>
        <p:nvSpPr>
          <p:cNvPr id="92" name="TextBox 91"/>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3" name="TextBox 92"/>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4" name="TextBox 93"/>
          <p:cNvSpPr txBox="1"/>
          <p:nvPr/>
        </p:nvSpPr>
        <p:spPr>
          <a:xfrm>
            <a:off x="485775" y="5386153"/>
            <a:ext cx="2813992" cy="186689"/>
          </a:xfrm>
          <a:prstGeom prst="rect">
            <a:avLst/>
          </a:prstGeom>
          <a:noFill/>
        </p:spPr>
        <p:txBody>
          <a:bodyPr wrap="none" lIns="0" rIns="0" tIns="0" bIns="0">
            <a:spAutoFit/>
          </a:bodyPr>
          <a:lstStyle/>
          <a:p>
            <a:r>
              <a:rPr sz="1100" b="0">
                <a:solidFill>
                  <a:srgbClr val="2E2E2E"/>
                </a:solidFill>
                <a:latin typeface="Calibri"/>
              </a:rPr>
              <a:t>▪ 4 sub-segments make up the packaging format</a:t>
            </a:r>
          </a:p>
        </p:txBody>
      </p:sp>
      <p:sp>
        <p:nvSpPr>
          <p:cNvPr id="95" name="TextBox 94"/>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6" name="TextBox 95"/>
          <p:cNvSpPr txBox="1"/>
          <p:nvPr/>
        </p:nvSpPr>
        <p:spPr>
          <a:xfrm>
            <a:off x="3838575" y="4229437"/>
            <a:ext cx="1255191" cy="186689"/>
          </a:xfrm>
          <a:prstGeom prst="rect">
            <a:avLst/>
          </a:prstGeom>
          <a:noFill/>
        </p:spPr>
        <p:txBody>
          <a:bodyPr wrap="none" lIns="0" rIns="0" tIns="0" bIns="0">
            <a:spAutoFit/>
          </a:bodyPr>
          <a:lstStyle/>
          <a:p>
            <a:r>
              <a:rPr sz="1100" b="0">
                <a:solidFill>
                  <a:srgbClr val="2E2E2E"/>
                </a:solidFill>
                <a:latin typeface="Calibri"/>
              </a:rPr>
              <a:t>● Rigid plastic packs:</a:t>
            </a:r>
          </a:p>
        </p:txBody>
      </p:sp>
      <p:pic>
        <p:nvPicPr>
          <p:cNvPr id="97" name="Picture 96" descr="lock.png"/>
          <p:cNvPicPr>
            <a:picLocks noChangeAspect="1"/>
          </p:cNvPicPr>
          <p:nvPr/>
        </p:nvPicPr>
        <p:blipFill>
          <a:blip r:embed="rId15"/>
          <a:stretch>
            <a:fillRect/>
          </a:stretch>
        </p:blipFill>
        <p:spPr>
          <a:xfrm>
            <a:off x="5041818" y="4219658"/>
            <a:ext cx="128699" cy="187198"/>
          </a:xfrm>
          <a:prstGeom prst="rect">
            <a:avLst/>
          </a:prstGeom>
        </p:spPr>
      </p:pic>
      <p:sp>
        <p:nvSpPr>
          <p:cNvPr id="98" name="TextBox 97"/>
          <p:cNvSpPr txBox="1"/>
          <p:nvPr/>
        </p:nvSpPr>
        <p:spPr>
          <a:xfrm>
            <a:off x="520931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5"/>
          <a:stretch>
            <a:fillRect/>
          </a:stretch>
        </p:blipFill>
        <p:spPr>
          <a:xfrm>
            <a:off x="6068764" y="4219658"/>
            <a:ext cx="128699" cy="187198"/>
          </a:xfrm>
          <a:prstGeom prst="rect">
            <a:avLst/>
          </a:prstGeom>
        </p:spPr>
      </p:pic>
      <p:sp>
        <p:nvSpPr>
          <p:cNvPr id="100" name="TextBox 99"/>
          <p:cNvSpPr txBox="1"/>
          <p:nvPr/>
        </p:nvSpPr>
        <p:spPr>
          <a:xfrm>
            <a:off x="623626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1" name="TextBox 100"/>
          <p:cNvSpPr txBox="1"/>
          <p:nvPr/>
        </p:nvSpPr>
        <p:spPr>
          <a:xfrm>
            <a:off x="3838575" y="4447369"/>
            <a:ext cx="1245914" cy="186689"/>
          </a:xfrm>
          <a:prstGeom prst="rect">
            <a:avLst/>
          </a:prstGeom>
          <a:noFill/>
        </p:spPr>
        <p:txBody>
          <a:bodyPr wrap="none" lIns="0" rIns="0" tIns="0" bIns="0">
            <a:spAutoFit/>
          </a:bodyPr>
          <a:lstStyle/>
          <a:p>
            <a:r>
              <a:rPr sz="1100" b="0">
                <a:solidFill>
                  <a:srgbClr val="2E2E2E"/>
                </a:solidFill>
                <a:latin typeface="Calibri"/>
              </a:rPr>
              <a:t>● Paperboard packs:</a:t>
            </a:r>
          </a:p>
        </p:txBody>
      </p:sp>
      <p:pic>
        <p:nvPicPr>
          <p:cNvPr id="102" name="Picture 101" descr="lock.png"/>
          <p:cNvPicPr>
            <a:picLocks noChangeAspect="1"/>
          </p:cNvPicPr>
          <p:nvPr/>
        </p:nvPicPr>
        <p:blipFill>
          <a:blip r:embed="rId15"/>
          <a:stretch>
            <a:fillRect/>
          </a:stretch>
        </p:blipFill>
        <p:spPr>
          <a:xfrm>
            <a:off x="5032541" y="4437590"/>
            <a:ext cx="128699" cy="187198"/>
          </a:xfrm>
          <a:prstGeom prst="rect">
            <a:avLst/>
          </a:prstGeom>
        </p:spPr>
      </p:pic>
      <p:sp>
        <p:nvSpPr>
          <p:cNvPr id="103" name="TextBox 102"/>
          <p:cNvSpPr txBox="1"/>
          <p:nvPr/>
        </p:nvSpPr>
        <p:spPr>
          <a:xfrm>
            <a:off x="520003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4" name="Picture 103" descr="lock.png"/>
          <p:cNvPicPr>
            <a:picLocks noChangeAspect="1"/>
          </p:cNvPicPr>
          <p:nvPr/>
        </p:nvPicPr>
        <p:blipFill>
          <a:blip r:embed="rId15"/>
          <a:stretch>
            <a:fillRect/>
          </a:stretch>
        </p:blipFill>
        <p:spPr>
          <a:xfrm>
            <a:off x="6059487" y="4437590"/>
            <a:ext cx="128699" cy="187198"/>
          </a:xfrm>
          <a:prstGeom prst="rect">
            <a:avLst/>
          </a:prstGeom>
        </p:spPr>
      </p:pic>
      <p:sp>
        <p:nvSpPr>
          <p:cNvPr id="105" name="TextBox 104"/>
          <p:cNvSpPr txBox="1"/>
          <p:nvPr/>
        </p:nvSpPr>
        <p:spPr>
          <a:xfrm>
            <a:off x="6226983"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6" name="TextBox 105"/>
          <p:cNvSpPr txBox="1"/>
          <p:nvPr/>
        </p:nvSpPr>
        <p:spPr>
          <a:xfrm>
            <a:off x="3838575" y="4665301"/>
            <a:ext cx="1012626" cy="186689"/>
          </a:xfrm>
          <a:prstGeom prst="rect">
            <a:avLst/>
          </a:prstGeom>
          <a:noFill/>
        </p:spPr>
        <p:txBody>
          <a:bodyPr wrap="none" lIns="0" rIns="0" tIns="0" bIns="0">
            <a:spAutoFit/>
          </a:bodyPr>
          <a:lstStyle/>
          <a:p>
            <a:r>
              <a:rPr sz="1100" b="0">
                <a:solidFill>
                  <a:srgbClr val="2E2E2E"/>
                </a:solidFill>
                <a:latin typeface="Calibri"/>
              </a:rPr>
              <a:t>● Flexible packs:</a:t>
            </a:r>
          </a:p>
        </p:txBody>
      </p:sp>
      <p:pic>
        <p:nvPicPr>
          <p:cNvPr id="107" name="Picture 106" descr="lock.png"/>
          <p:cNvPicPr>
            <a:picLocks noChangeAspect="1"/>
          </p:cNvPicPr>
          <p:nvPr/>
        </p:nvPicPr>
        <p:blipFill>
          <a:blip r:embed="rId15"/>
          <a:stretch>
            <a:fillRect/>
          </a:stretch>
        </p:blipFill>
        <p:spPr>
          <a:xfrm>
            <a:off x="4799253" y="4655522"/>
            <a:ext cx="128699" cy="187198"/>
          </a:xfrm>
          <a:prstGeom prst="rect">
            <a:avLst/>
          </a:prstGeom>
        </p:spPr>
      </p:pic>
      <p:sp>
        <p:nvSpPr>
          <p:cNvPr id="108" name="TextBox 107"/>
          <p:cNvSpPr txBox="1"/>
          <p:nvPr/>
        </p:nvSpPr>
        <p:spPr>
          <a:xfrm>
            <a:off x="496674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9" name="Picture 108" descr="lock.png"/>
          <p:cNvPicPr>
            <a:picLocks noChangeAspect="1"/>
          </p:cNvPicPr>
          <p:nvPr/>
        </p:nvPicPr>
        <p:blipFill>
          <a:blip r:embed="rId15"/>
          <a:stretch>
            <a:fillRect/>
          </a:stretch>
        </p:blipFill>
        <p:spPr>
          <a:xfrm>
            <a:off x="5826199" y="4655522"/>
            <a:ext cx="128699" cy="187198"/>
          </a:xfrm>
          <a:prstGeom prst="rect">
            <a:avLst/>
          </a:prstGeom>
        </p:spPr>
      </p:pic>
      <p:sp>
        <p:nvSpPr>
          <p:cNvPr id="110" name="TextBox 109"/>
          <p:cNvSpPr txBox="1"/>
          <p:nvPr/>
        </p:nvSpPr>
        <p:spPr>
          <a:xfrm>
            <a:off x="5993695"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1" name="TextBox 110"/>
          <p:cNvSpPr txBox="1"/>
          <p:nvPr/>
        </p:nvSpPr>
        <p:spPr>
          <a:xfrm>
            <a:off x="3838575" y="4883233"/>
            <a:ext cx="1636092" cy="186689"/>
          </a:xfrm>
          <a:prstGeom prst="rect">
            <a:avLst/>
          </a:prstGeom>
          <a:noFill/>
        </p:spPr>
        <p:txBody>
          <a:bodyPr wrap="none" lIns="0" rIns="0" tIns="0" bIns="0">
            <a:spAutoFit/>
          </a:bodyPr>
          <a:lstStyle/>
          <a:p>
            <a:r>
              <a:rPr sz="1100" b="0">
                <a:solidFill>
                  <a:srgbClr val="2E2E2E"/>
                </a:solidFill>
                <a:latin typeface="Calibri"/>
              </a:rPr>
              <a:t>● Other packaging formats:</a:t>
            </a:r>
          </a:p>
        </p:txBody>
      </p:sp>
      <p:pic>
        <p:nvPicPr>
          <p:cNvPr id="112" name="Picture 111" descr="lock.png"/>
          <p:cNvPicPr>
            <a:picLocks noChangeAspect="1"/>
          </p:cNvPicPr>
          <p:nvPr/>
        </p:nvPicPr>
        <p:blipFill>
          <a:blip r:embed="rId15"/>
          <a:stretch>
            <a:fillRect/>
          </a:stretch>
        </p:blipFill>
        <p:spPr>
          <a:xfrm>
            <a:off x="5422718" y="4873454"/>
            <a:ext cx="128699" cy="187198"/>
          </a:xfrm>
          <a:prstGeom prst="rect">
            <a:avLst/>
          </a:prstGeom>
        </p:spPr>
      </p:pic>
      <p:sp>
        <p:nvSpPr>
          <p:cNvPr id="113" name="TextBox 112"/>
          <p:cNvSpPr txBox="1"/>
          <p:nvPr/>
        </p:nvSpPr>
        <p:spPr>
          <a:xfrm>
            <a:off x="559021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4" name="Picture 113" descr="lock.png"/>
          <p:cNvPicPr>
            <a:picLocks noChangeAspect="1"/>
          </p:cNvPicPr>
          <p:nvPr/>
        </p:nvPicPr>
        <p:blipFill>
          <a:blip r:embed="rId15"/>
          <a:stretch>
            <a:fillRect/>
          </a:stretch>
        </p:blipFill>
        <p:spPr>
          <a:xfrm>
            <a:off x="6449665" y="4873454"/>
            <a:ext cx="128699" cy="187198"/>
          </a:xfrm>
          <a:prstGeom prst="rect">
            <a:avLst/>
          </a:prstGeom>
        </p:spPr>
      </p:pic>
      <p:sp>
        <p:nvSpPr>
          <p:cNvPr id="115" name="TextBox 114"/>
          <p:cNvSpPr txBox="1"/>
          <p:nvPr/>
        </p:nvSpPr>
        <p:spPr>
          <a:xfrm>
            <a:off x="6617160"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6" name="TextBox 11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Packaging Format segment is projected to grow</a:t>
            </a:r>
          </a:p>
        </p:txBody>
      </p:sp>
      <p:sp>
        <p:nvSpPr>
          <p:cNvPr id="117" name="TextBox 116"/>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18" name="Picture 117" descr="lock.png"/>
          <p:cNvPicPr>
            <a:picLocks noChangeAspect="1"/>
          </p:cNvPicPr>
          <p:nvPr/>
        </p:nvPicPr>
        <p:blipFill>
          <a:blip r:embed="rId15"/>
          <a:stretch>
            <a:fillRect/>
          </a:stretch>
        </p:blipFill>
        <p:spPr>
          <a:xfrm>
            <a:off x="9310118" y="6007677"/>
            <a:ext cx="134549" cy="195707"/>
          </a:xfrm>
          <a:prstGeom prst="rect">
            <a:avLst/>
          </a:prstGeom>
        </p:spPr>
      </p:pic>
      <p:sp>
        <p:nvSpPr>
          <p:cNvPr id="119" name="TextBox 118"/>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Packaging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Packaging Format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Packaging Format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Packaging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84799" cy="186689"/>
          </a:xfrm>
          <a:prstGeom prst="rect">
            <a:avLst/>
          </a:prstGeom>
          <a:noFill/>
        </p:spPr>
        <p:txBody>
          <a:bodyPr wrap="none" lIns="0" rIns="0" tIns="0" bIns="0">
            <a:spAutoFit/>
          </a:bodyPr>
          <a:lstStyle/>
          <a:p>
            <a:r>
              <a:rPr sz="1100" b="0">
                <a:solidFill>
                  <a:srgbClr val="2E2E2E"/>
                </a:solidFill>
                <a:latin typeface="Calibri"/>
              </a:rPr>
              <a:t>Between 2026 and 2036, 'Flexible packs' gains the most share in the North America market (+</a:t>
            </a:r>
          </a:p>
        </p:txBody>
      </p:sp>
      <p:pic>
        <p:nvPicPr>
          <p:cNvPr id="21" name="Picture 20" descr="lock.png"/>
          <p:cNvPicPr>
            <a:picLocks noChangeAspect="1"/>
          </p:cNvPicPr>
          <p:nvPr/>
        </p:nvPicPr>
        <p:blipFill>
          <a:blip r:embed="rId6"/>
          <a:stretch>
            <a:fillRect/>
          </a:stretch>
        </p:blipFill>
        <p:spPr>
          <a:xfrm>
            <a:off x="5590026" y="5851905"/>
            <a:ext cx="128699" cy="187198"/>
          </a:xfrm>
          <a:prstGeom prst="rect">
            <a:avLst/>
          </a:prstGeom>
        </p:spPr>
      </p:pic>
      <p:sp>
        <p:nvSpPr>
          <p:cNvPr id="22" name="TextBox 21"/>
          <p:cNvSpPr txBox="1"/>
          <p:nvPr/>
        </p:nvSpPr>
        <p:spPr>
          <a:xfrm>
            <a:off x="5757522" y="5861685"/>
            <a:ext cx="2137593" cy="186689"/>
          </a:xfrm>
          <a:prstGeom prst="rect">
            <a:avLst/>
          </a:prstGeom>
          <a:noFill/>
        </p:spPr>
        <p:txBody>
          <a:bodyPr wrap="none" lIns="0" rIns="0" tIns="0" bIns="0">
            <a:spAutoFit/>
          </a:bodyPr>
          <a:lstStyle/>
          <a:p>
            <a:r>
              <a:rPr sz="1100" b="0">
                <a:solidFill>
                  <a:srgbClr val="2E2E2E"/>
                </a:solidFill>
                <a:latin typeface="Calibri"/>
              </a:rPr>
              <a:t>BPS) while 'Paperboard packs' cedes</a:t>
            </a:r>
          </a:p>
        </p:txBody>
      </p:sp>
      <p:pic>
        <p:nvPicPr>
          <p:cNvPr id="23" name="Picture 22" descr="lock.png"/>
          <p:cNvPicPr>
            <a:picLocks noChangeAspect="1"/>
          </p:cNvPicPr>
          <p:nvPr/>
        </p:nvPicPr>
        <p:blipFill>
          <a:blip r:embed="rId6"/>
          <a:stretch>
            <a:fillRect/>
          </a:stretch>
        </p:blipFill>
        <p:spPr>
          <a:xfrm>
            <a:off x="7843167" y="5851905"/>
            <a:ext cx="128699" cy="187198"/>
          </a:xfrm>
          <a:prstGeom prst="rect">
            <a:avLst/>
          </a:prstGeom>
        </p:spPr>
      </p:pic>
      <p:sp>
        <p:nvSpPr>
          <p:cNvPr id="24" name="TextBox 23"/>
          <p:cNvSpPr txBox="1"/>
          <p:nvPr/>
        </p:nvSpPr>
        <p:spPr>
          <a:xfrm>
            <a:off x="8010663"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packs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Rigid plastic packs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Paperboard packs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packaging formats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Packaging Format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Packaging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Packaging Format (MT)</a:t>
            </a:r>
          </a:p>
        </p:txBody>
      </p:sp>
      <p:graphicFrame>
        <p:nvGraphicFramePr>
          <p:cNvPr id="13" name="Table 12"/>
          <p:cNvGraphicFramePr>
            <a:graphicFrameLocks noGrp="1"/>
          </p:cNvGraphicFramePr>
          <p:nvPr/>
        </p:nvGraphicFramePr>
        <p:xfrm>
          <a:off x="152400" y="1238250"/>
          <a:ext cx="11887198" cy="1485896"/>
        </p:xfrm>
        <a:graphic>
          <a:graphicData uri="http://schemas.openxmlformats.org/drawingml/2006/table">
            <a:tbl>
              <a:tblPr>
                <a:tableStyleId>{5C22544A-7EE6-4342-B048-85BDC9FD1C3A}</a:tableStyleId>
              </a:tblPr>
              <a:tblGrid>
                <a:gridCol w="1569151"/>
                <a:gridCol w="549747"/>
                <a:gridCol w="549747"/>
                <a:gridCol w="549747"/>
                <a:gridCol w="549747"/>
                <a:gridCol w="549747"/>
                <a:gridCol w="549747"/>
                <a:gridCol w="549747"/>
                <a:gridCol w="661089"/>
                <a:gridCol w="661089"/>
                <a:gridCol w="661089"/>
                <a:gridCol w="661089"/>
                <a:gridCol w="661089"/>
                <a:gridCol w="661089"/>
                <a:gridCol w="661089"/>
                <a:gridCol w="661089"/>
                <a:gridCol w="661089"/>
                <a:gridCol w="520017"/>
              </a:tblGrid>
              <a:tr h="246126">
                <a:tc>
                  <a:txBody>
                    <a:bodyPr wrap="none"/>
                    <a:lstStyle/>
                    <a:p>
                      <a:pPr algn="l"/>
                      <a:r>
                        <a:rPr sz="1100" b="1">
                          <a:solidFill>
                            <a:srgbClr val="0B2E4A"/>
                          </a:solidFill>
                          <a:latin typeface="Calibri"/>
                        </a:rPr>
                        <a:t>Packaging Format</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7954">
                <a:tc>
                  <a:txBody>
                    <a:bodyPr wrap="none"/>
                    <a:lstStyle/>
                    <a:p>
                      <a:pPr algn="l"/>
                      <a:r>
                        <a:rPr sz="1100" b="1">
                          <a:solidFill>
                            <a:srgbClr val="2E2E2E"/>
                          </a:solidFill>
                          <a:latin typeface="Calibri"/>
                        </a:rPr>
                        <a:t>Flexible packs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Rigid plastic packs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Paperboard packs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Other packaging formats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Packaging Format</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3884" y="1837563"/>
            <a:ext cx="366712" cy="533400"/>
          </a:xfrm>
          <a:prstGeom prst="rect">
            <a:avLst/>
          </a:prstGeom>
        </p:spPr>
      </p:pic>
      <p:sp>
        <p:nvSpPr>
          <p:cNvPr id="21" name="TextBox 20"/>
          <p:cNvSpPr txBox="1"/>
          <p:nvPr/>
        </p:nvSpPr>
        <p:spPr>
          <a:xfrm>
            <a:off x="276225" y="3486150"/>
            <a:ext cx="3307556" cy="194310"/>
          </a:xfrm>
          <a:prstGeom prst="rect">
            <a:avLst/>
          </a:prstGeom>
          <a:noFill/>
        </p:spPr>
        <p:txBody>
          <a:bodyPr wrap="none" lIns="0" rIns="0" tIns="0" bIns="0">
            <a:spAutoFit/>
          </a:bodyPr>
          <a:lstStyle/>
          <a:p>
            <a:r>
              <a:rPr sz="1150" b="0">
                <a:solidFill>
                  <a:srgbClr val="2E2E2E"/>
                </a:solidFill>
                <a:latin typeface="Calibri"/>
              </a:rPr>
              <a:t>▪ 'Rigid plastic packs' is the largest packaging format at</a:t>
            </a:r>
          </a:p>
        </p:txBody>
      </p:sp>
      <p:pic>
        <p:nvPicPr>
          <p:cNvPr id="22" name="Picture 21" descr="lock.png"/>
          <p:cNvPicPr>
            <a:picLocks noChangeAspect="1"/>
          </p:cNvPicPr>
          <p:nvPr/>
        </p:nvPicPr>
        <p:blipFill>
          <a:blip r:embed="rId4"/>
          <a:stretch>
            <a:fillRect/>
          </a:stretch>
        </p:blipFill>
        <p:spPr>
          <a:xfrm>
            <a:off x="3532935" y="3475926"/>
            <a:ext cx="134549" cy="195707"/>
          </a:xfrm>
          <a:prstGeom prst="rect">
            <a:avLst/>
          </a:prstGeom>
        </p:spPr>
      </p:pic>
      <p:sp>
        <p:nvSpPr>
          <p:cNvPr id="23" name="TextBox 22"/>
          <p:cNvSpPr txBox="1"/>
          <p:nvPr/>
        </p:nvSpPr>
        <p:spPr>
          <a:xfrm>
            <a:off x="3708044" y="3486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737777" y="3475926"/>
            <a:ext cx="134549" cy="195707"/>
          </a:xfrm>
          <a:prstGeom prst="rect">
            <a:avLst/>
          </a:prstGeom>
        </p:spPr>
      </p:pic>
      <p:sp>
        <p:nvSpPr>
          <p:cNvPr id="25" name="TextBox 24"/>
          <p:cNvSpPr txBox="1"/>
          <p:nvPr/>
        </p:nvSpPr>
        <p:spPr>
          <a:xfrm>
            <a:off x="4912886" y="3486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713987"/>
            <a:ext cx="2519684" cy="194310"/>
          </a:xfrm>
          <a:prstGeom prst="rect">
            <a:avLst/>
          </a:prstGeom>
          <a:noFill/>
        </p:spPr>
        <p:txBody>
          <a:bodyPr wrap="none" lIns="0" rIns="0" tIns="0" bIns="0">
            <a:spAutoFit/>
          </a:bodyPr>
          <a:lstStyle/>
          <a:p>
            <a:r>
              <a:rPr sz="1150" b="0">
                <a:solidFill>
                  <a:srgbClr val="2E2E2E"/>
                </a:solidFill>
                <a:latin typeface="Calibri"/>
              </a:rPr>
              <a:t>▪ 'Other packaging formats' grows fastest</a:t>
            </a:r>
          </a:p>
        </p:txBody>
      </p:sp>
      <p:pic>
        <p:nvPicPr>
          <p:cNvPr id="27" name="Picture 26" descr="lock.png"/>
          <p:cNvPicPr>
            <a:picLocks noChangeAspect="1"/>
          </p:cNvPicPr>
          <p:nvPr/>
        </p:nvPicPr>
        <p:blipFill>
          <a:blip r:embed="rId4"/>
          <a:stretch>
            <a:fillRect/>
          </a:stretch>
        </p:blipFill>
        <p:spPr>
          <a:xfrm>
            <a:off x="2745063" y="3703764"/>
            <a:ext cx="134549" cy="195707"/>
          </a:xfrm>
          <a:prstGeom prst="rect">
            <a:avLst/>
          </a:prstGeom>
        </p:spPr>
      </p:pic>
      <p:sp>
        <p:nvSpPr>
          <p:cNvPr id="28" name="TextBox 27"/>
          <p:cNvSpPr txBox="1"/>
          <p:nvPr/>
        </p:nvSpPr>
        <p:spPr>
          <a:xfrm>
            <a:off x="2920173"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3028863" cy="194310"/>
          </a:xfrm>
          <a:prstGeom prst="rect">
            <a:avLst/>
          </a:prstGeom>
          <a:noFill/>
        </p:spPr>
        <p:txBody>
          <a:bodyPr wrap="none" lIns="0" rIns="0" tIns="0" bIns="0">
            <a:spAutoFit/>
          </a:bodyPr>
          <a:lstStyle/>
          <a:p>
            <a:r>
              <a:rPr sz="1150" b="0">
                <a:solidFill>
                  <a:srgbClr val="2E2E2E"/>
                </a:solidFill>
                <a:latin typeface="Calibri"/>
              </a:rPr>
              <a:t>▪ Share shifts toward 'Other packaging formats' (+</a:t>
            </a:r>
          </a:p>
        </p:txBody>
      </p:sp>
      <p:pic>
        <p:nvPicPr>
          <p:cNvPr id="30" name="Picture 29" descr="lock.png"/>
          <p:cNvPicPr>
            <a:picLocks noChangeAspect="1"/>
          </p:cNvPicPr>
          <p:nvPr/>
        </p:nvPicPr>
        <p:blipFill>
          <a:blip r:embed="rId4"/>
          <a:stretch>
            <a:fillRect/>
          </a:stretch>
        </p:blipFill>
        <p:spPr>
          <a:xfrm>
            <a:off x="3254242" y="3931602"/>
            <a:ext cx="134549" cy="195707"/>
          </a:xfrm>
          <a:prstGeom prst="rect">
            <a:avLst/>
          </a:prstGeom>
        </p:spPr>
      </p:pic>
      <p:sp>
        <p:nvSpPr>
          <p:cNvPr id="31" name="TextBox 30"/>
          <p:cNvSpPr txBox="1"/>
          <p:nvPr/>
        </p:nvSpPr>
        <p:spPr>
          <a:xfrm>
            <a:off x="3429351" y="3941825"/>
            <a:ext cx="2547069" cy="194310"/>
          </a:xfrm>
          <a:prstGeom prst="rect">
            <a:avLst/>
          </a:prstGeom>
          <a:noFill/>
        </p:spPr>
        <p:txBody>
          <a:bodyPr wrap="none" lIns="0" rIns="0" tIns="0" bIns="0">
            <a:spAutoFit/>
          </a:bodyPr>
          <a:lstStyle/>
          <a:p>
            <a:r>
              <a:rPr sz="1150" b="0">
                <a:solidFill>
                  <a:srgbClr val="2E2E2E"/>
                </a:solidFill>
                <a:latin typeface="Calibri"/>
              </a:rPr>
              <a:t>BPS) and away from 'Paperboard packs' (-</a:t>
            </a:r>
          </a:p>
        </p:txBody>
      </p:sp>
      <p:pic>
        <p:nvPicPr>
          <p:cNvPr id="32" name="Picture 31" descr="lock.png"/>
          <p:cNvPicPr>
            <a:picLocks noChangeAspect="1"/>
          </p:cNvPicPr>
          <p:nvPr/>
        </p:nvPicPr>
        <p:blipFill>
          <a:blip r:embed="rId4"/>
          <a:stretch>
            <a:fillRect/>
          </a:stretch>
        </p:blipFill>
        <p:spPr>
          <a:xfrm>
            <a:off x="5925574" y="3931602"/>
            <a:ext cx="134549" cy="195707"/>
          </a:xfrm>
          <a:prstGeom prst="rect">
            <a:avLst/>
          </a:prstGeom>
        </p:spPr>
      </p:pic>
      <p:sp>
        <p:nvSpPr>
          <p:cNvPr id="33" name="TextBox 32"/>
          <p:cNvSpPr txBox="1"/>
          <p:nvPr/>
        </p:nvSpPr>
        <p:spPr>
          <a:xfrm>
            <a:off x="6100683"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59440"/>
            <a:ext cx="134549" cy="195707"/>
          </a:xfrm>
          <a:prstGeom prst="rect">
            <a:avLst/>
          </a:prstGeom>
        </p:spPr>
      </p:pic>
      <p:sp>
        <p:nvSpPr>
          <p:cNvPr id="36" name="TextBox 35"/>
          <p:cNvSpPr txBox="1"/>
          <p:nvPr/>
        </p:nvSpPr>
        <p:spPr>
          <a:xfrm>
            <a:off x="1965143"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59440"/>
            <a:ext cx="134549" cy="195707"/>
          </a:xfrm>
          <a:prstGeom prst="rect">
            <a:avLst/>
          </a:prstGeom>
        </p:spPr>
      </p:pic>
      <p:sp>
        <p:nvSpPr>
          <p:cNvPr id="38" name="TextBox 37"/>
          <p:cNvSpPr txBox="1"/>
          <p:nvPr/>
        </p:nvSpPr>
        <p:spPr>
          <a:xfrm>
            <a:off x="2291688" y="4169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Packaging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Packaging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Packaging Format (US$ Mn)</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1721397"/>
                <a:gridCol w="597988"/>
                <a:gridCol w="597988"/>
                <a:gridCol w="597988"/>
                <a:gridCol w="597988"/>
                <a:gridCol w="597988"/>
                <a:gridCol w="597988"/>
                <a:gridCol w="597988"/>
                <a:gridCol w="597988"/>
                <a:gridCol w="597988"/>
                <a:gridCol w="597988"/>
                <a:gridCol w="597988"/>
                <a:gridCol w="597988"/>
                <a:gridCol w="597988"/>
                <a:gridCol w="597988"/>
                <a:gridCol w="597988"/>
                <a:gridCol w="597988"/>
                <a:gridCol w="597988"/>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Packaging Format</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70004" y="1837563"/>
            <a:ext cx="366712" cy="533400"/>
          </a:xfrm>
          <a:prstGeom prst="rect">
            <a:avLst/>
          </a:prstGeom>
        </p:spPr>
      </p:pic>
      <p:sp>
        <p:nvSpPr>
          <p:cNvPr id="21" name="TextBox 20"/>
          <p:cNvSpPr txBox="1"/>
          <p:nvPr/>
        </p:nvSpPr>
        <p:spPr>
          <a:xfrm>
            <a:off x="276225" y="3486150"/>
            <a:ext cx="3307556" cy="194310"/>
          </a:xfrm>
          <a:prstGeom prst="rect">
            <a:avLst/>
          </a:prstGeom>
          <a:noFill/>
        </p:spPr>
        <p:txBody>
          <a:bodyPr wrap="none" lIns="0" rIns="0" tIns="0" bIns="0">
            <a:spAutoFit/>
          </a:bodyPr>
          <a:lstStyle/>
          <a:p>
            <a:r>
              <a:rPr sz="1150" b="0">
                <a:solidFill>
                  <a:srgbClr val="2E2E2E"/>
                </a:solidFill>
                <a:latin typeface="Calibri"/>
              </a:rPr>
              <a:t>▪ 'Rigid plastic packs' is the largest packaging format at</a:t>
            </a:r>
          </a:p>
        </p:txBody>
      </p:sp>
      <p:pic>
        <p:nvPicPr>
          <p:cNvPr id="22" name="Picture 21" descr="lock.png"/>
          <p:cNvPicPr>
            <a:picLocks noChangeAspect="1"/>
          </p:cNvPicPr>
          <p:nvPr/>
        </p:nvPicPr>
        <p:blipFill>
          <a:blip r:embed="rId4"/>
          <a:stretch>
            <a:fillRect/>
          </a:stretch>
        </p:blipFill>
        <p:spPr>
          <a:xfrm>
            <a:off x="3532935" y="3475926"/>
            <a:ext cx="134549" cy="195707"/>
          </a:xfrm>
          <a:prstGeom prst="rect">
            <a:avLst/>
          </a:prstGeom>
        </p:spPr>
      </p:pic>
      <p:sp>
        <p:nvSpPr>
          <p:cNvPr id="23" name="TextBox 22"/>
          <p:cNvSpPr txBox="1"/>
          <p:nvPr/>
        </p:nvSpPr>
        <p:spPr>
          <a:xfrm>
            <a:off x="3708044"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613977" y="3475926"/>
            <a:ext cx="134549" cy="195707"/>
          </a:xfrm>
          <a:prstGeom prst="rect">
            <a:avLst/>
          </a:prstGeom>
        </p:spPr>
      </p:pic>
      <p:sp>
        <p:nvSpPr>
          <p:cNvPr id="25" name="TextBox 24"/>
          <p:cNvSpPr txBox="1"/>
          <p:nvPr/>
        </p:nvSpPr>
        <p:spPr>
          <a:xfrm>
            <a:off x="4789086"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519684" cy="194310"/>
          </a:xfrm>
          <a:prstGeom prst="rect">
            <a:avLst/>
          </a:prstGeom>
          <a:noFill/>
        </p:spPr>
        <p:txBody>
          <a:bodyPr wrap="none" lIns="0" rIns="0" tIns="0" bIns="0">
            <a:spAutoFit/>
          </a:bodyPr>
          <a:lstStyle/>
          <a:p>
            <a:r>
              <a:rPr sz="1150" b="0">
                <a:solidFill>
                  <a:srgbClr val="2E2E2E"/>
                </a:solidFill>
                <a:latin typeface="Calibri"/>
              </a:rPr>
              <a:t>▪ 'Other packaging formats' grows fastest</a:t>
            </a:r>
          </a:p>
        </p:txBody>
      </p:sp>
      <p:pic>
        <p:nvPicPr>
          <p:cNvPr id="27" name="Picture 26" descr="lock.png"/>
          <p:cNvPicPr>
            <a:picLocks noChangeAspect="1"/>
          </p:cNvPicPr>
          <p:nvPr/>
        </p:nvPicPr>
        <p:blipFill>
          <a:blip r:embed="rId4"/>
          <a:stretch>
            <a:fillRect/>
          </a:stretch>
        </p:blipFill>
        <p:spPr>
          <a:xfrm>
            <a:off x="2745063" y="3703764"/>
            <a:ext cx="134549" cy="195707"/>
          </a:xfrm>
          <a:prstGeom prst="rect">
            <a:avLst/>
          </a:prstGeom>
        </p:spPr>
      </p:pic>
      <p:sp>
        <p:nvSpPr>
          <p:cNvPr id="28" name="TextBox 27"/>
          <p:cNvSpPr txBox="1"/>
          <p:nvPr/>
        </p:nvSpPr>
        <p:spPr>
          <a:xfrm>
            <a:off x="2920173"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377058" cy="194310"/>
          </a:xfrm>
          <a:prstGeom prst="rect">
            <a:avLst/>
          </a:prstGeom>
          <a:noFill/>
        </p:spPr>
        <p:txBody>
          <a:bodyPr wrap="none" lIns="0" rIns="0" tIns="0" bIns="0">
            <a:spAutoFit/>
          </a:bodyPr>
          <a:lstStyle/>
          <a:p>
            <a:r>
              <a:rPr sz="1150" b="0">
                <a:solidFill>
                  <a:srgbClr val="2E2E2E"/>
                </a:solidFill>
                <a:latin typeface="Calibri"/>
              </a:rPr>
              <a:t>▪ Share shifts toward 'Flexible packs' (+</a:t>
            </a:r>
          </a:p>
        </p:txBody>
      </p:sp>
      <p:pic>
        <p:nvPicPr>
          <p:cNvPr id="30" name="Picture 29" descr="lock.png"/>
          <p:cNvPicPr>
            <a:picLocks noChangeAspect="1"/>
          </p:cNvPicPr>
          <p:nvPr/>
        </p:nvPicPr>
        <p:blipFill>
          <a:blip r:embed="rId4"/>
          <a:stretch>
            <a:fillRect/>
          </a:stretch>
        </p:blipFill>
        <p:spPr>
          <a:xfrm>
            <a:off x="2602436" y="3931602"/>
            <a:ext cx="134549" cy="195707"/>
          </a:xfrm>
          <a:prstGeom prst="rect">
            <a:avLst/>
          </a:prstGeom>
        </p:spPr>
      </p:pic>
      <p:sp>
        <p:nvSpPr>
          <p:cNvPr id="31" name="TextBox 30"/>
          <p:cNvSpPr txBox="1"/>
          <p:nvPr/>
        </p:nvSpPr>
        <p:spPr>
          <a:xfrm>
            <a:off x="2777546" y="3941825"/>
            <a:ext cx="2547069" cy="194310"/>
          </a:xfrm>
          <a:prstGeom prst="rect">
            <a:avLst/>
          </a:prstGeom>
          <a:noFill/>
        </p:spPr>
        <p:txBody>
          <a:bodyPr wrap="none" lIns="0" rIns="0" tIns="0" bIns="0">
            <a:spAutoFit/>
          </a:bodyPr>
          <a:lstStyle/>
          <a:p>
            <a:r>
              <a:rPr sz="1150" b="0">
                <a:solidFill>
                  <a:srgbClr val="2E2E2E"/>
                </a:solidFill>
                <a:latin typeface="Calibri"/>
              </a:rPr>
              <a:t>BPS) and away from 'Paperboard packs' (-</a:t>
            </a:r>
          </a:p>
        </p:txBody>
      </p:sp>
      <p:pic>
        <p:nvPicPr>
          <p:cNvPr id="32" name="Picture 31" descr="lock.png"/>
          <p:cNvPicPr>
            <a:picLocks noChangeAspect="1"/>
          </p:cNvPicPr>
          <p:nvPr/>
        </p:nvPicPr>
        <p:blipFill>
          <a:blip r:embed="rId4"/>
          <a:stretch>
            <a:fillRect/>
          </a:stretch>
        </p:blipFill>
        <p:spPr>
          <a:xfrm>
            <a:off x="5273769" y="3931602"/>
            <a:ext cx="134549" cy="195707"/>
          </a:xfrm>
          <a:prstGeom prst="rect">
            <a:avLst/>
          </a:prstGeom>
        </p:spPr>
      </p:pic>
      <p:sp>
        <p:nvSpPr>
          <p:cNvPr id="33" name="TextBox 32"/>
          <p:cNvSpPr txBox="1"/>
          <p:nvPr/>
        </p:nvSpPr>
        <p:spPr>
          <a:xfrm>
            <a:off x="5448878"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Packaging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Packaging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008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953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191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packaging formats</a:t>
            </a:r>
          </a:p>
        </p:txBody>
      </p:sp>
      <p:sp>
        <p:nvSpPr>
          <p:cNvPr id="19" name="BPS Value 1"/>
          <p:cNvSpPr txBox="1"/>
          <p:nvPr/>
        </p:nvSpPr>
        <p:spPr>
          <a:xfrm>
            <a:off x="6896100" y="178103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24033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355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593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packs</a:t>
            </a:r>
          </a:p>
        </p:txBody>
      </p:sp>
      <p:sp>
        <p:nvSpPr>
          <p:cNvPr id="23" name="BPS Value 2"/>
          <p:cNvSpPr txBox="1"/>
          <p:nvPr/>
        </p:nvSpPr>
        <p:spPr>
          <a:xfrm>
            <a:off x="6896100" y="222128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28316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2784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022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Paperboard packs</a:t>
            </a:r>
          </a:p>
        </p:txBody>
      </p:sp>
      <p:sp>
        <p:nvSpPr>
          <p:cNvPr id="27" name="BPS Value 3"/>
          <p:cNvSpPr txBox="1"/>
          <p:nvPr/>
        </p:nvSpPr>
        <p:spPr>
          <a:xfrm>
            <a:off x="6896100" y="326411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12909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1243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0481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Rigid plastic packs</a:t>
            </a:r>
          </a:p>
        </p:txBody>
      </p:sp>
      <p:sp>
        <p:nvSpPr>
          <p:cNvPr id="31" name="BPS Value 4"/>
          <p:cNvSpPr txBox="1"/>
          <p:nvPr/>
        </p:nvSpPr>
        <p:spPr>
          <a:xfrm>
            <a:off x="6896100" y="511004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Packaging Format</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414141" cy="194310"/>
          </a:xfrm>
          <a:prstGeom prst="rect">
            <a:avLst/>
          </a:prstGeom>
          <a:noFill/>
        </p:spPr>
        <p:txBody>
          <a:bodyPr wrap="none" lIns="0" rIns="0" tIns="0" bIns="0">
            <a:spAutoFit/>
          </a:bodyPr>
          <a:lstStyle/>
          <a:p>
            <a:r>
              <a:rPr sz="1150" b="0">
                <a:solidFill>
                  <a:srgbClr val="2E2E2E"/>
                </a:solidFill>
                <a:latin typeface="Calibri"/>
              </a:rPr>
              <a:t>▪ 'Flexible packs' gains the most share +</a:t>
            </a:r>
          </a:p>
        </p:txBody>
      </p:sp>
      <p:pic>
        <p:nvPicPr>
          <p:cNvPr id="39" name="Picture 38" descr="lock.png"/>
          <p:cNvPicPr>
            <a:picLocks noChangeAspect="1"/>
          </p:cNvPicPr>
          <p:nvPr/>
        </p:nvPicPr>
        <p:blipFill>
          <a:blip r:embed="rId5"/>
          <a:stretch>
            <a:fillRect/>
          </a:stretch>
        </p:blipFill>
        <p:spPr>
          <a:xfrm>
            <a:off x="10192844" y="1389951"/>
            <a:ext cx="134549" cy="195707"/>
          </a:xfrm>
          <a:prstGeom prst="rect">
            <a:avLst/>
          </a:prstGeom>
        </p:spPr>
      </p:pic>
      <p:sp>
        <p:nvSpPr>
          <p:cNvPr id="40" name="TextBox 39"/>
          <p:cNvSpPr txBox="1"/>
          <p:nvPr/>
        </p:nvSpPr>
        <p:spPr>
          <a:xfrm>
            <a:off x="10367954"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304603" cy="194310"/>
          </a:xfrm>
          <a:prstGeom prst="rect">
            <a:avLst/>
          </a:prstGeom>
          <a:noFill/>
        </p:spPr>
        <p:txBody>
          <a:bodyPr wrap="none" lIns="0" rIns="0" tIns="0" bIns="0">
            <a:spAutoFit/>
          </a:bodyPr>
          <a:lstStyle/>
          <a:p>
            <a:r>
              <a:rPr sz="1150" b="0">
                <a:solidFill>
                  <a:srgbClr val="2E2E2E"/>
                </a:solidFill>
                <a:latin typeface="Calibri"/>
              </a:rPr>
              <a:t>▪ 'Paperboard packs' cedes the most -</a:t>
            </a:r>
          </a:p>
        </p:txBody>
      </p:sp>
      <p:pic>
        <p:nvPicPr>
          <p:cNvPr id="43" name="Picture 42" descr="lock.png"/>
          <p:cNvPicPr>
            <a:picLocks noChangeAspect="1"/>
          </p:cNvPicPr>
          <p:nvPr/>
        </p:nvPicPr>
        <p:blipFill>
          <a:blip r:embed="rId5"/>
          <a:stretch>
            <a:fillRect/>
          </a:stretch>
        </p:blipFill>
        <p:spPr>
          <a:xfrm>
            <a:off x="10083307" y="1793049"/>
            <a:ext cx="134549" cy="195707"/>
          </a:xfrm>
          <a:prstGeom prst="rect">
            <a:avLst/>
          </a:prstGeom>
        </p:spPr>
      </p:pic>
      <p:sp>
        <p:nvSpPr>
          <p:cNvPr id="44" name="TextBox 43"/>
          <p:cNvSpPr txBox="1"/>
          <p:nvPr/>
        </p:nvSpPr>
        <p:spPr>
          <a:xfrm>
            <a:off x="10258416"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5" name="TextBox 44"/>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4057650" cy="194310"/>
          </a:xfrm>
          <a:prstGeom prst="rect">
            <a:avLst/>
          </a:prstGeom>
          <a:noFill/>
        </p:spPr>
        <p:txBody>
          <a:bodyPr wrap="none" lIns="0" rIns="0" tIns="0" bIns="0">
            <a:spAutoFit/>
          </a:bodyPr>
          <a:lstStyle/>
          <a:p>
            <a:r>
              <a:rPr sz="1150" b="0">
                <a:solidFill>
                  <a:srgbClr val="2E2E2E"/>
                </a:solidFill>
                <a:latin typeface="Calibri"/>
              </a:rPr>
              <a:t>▪ 'Other packaging formats' is the fastest-growing packaging format</a:t>
            </a:r>
          </a:p>
        </p:txBody>
      </p:sp>
      <p:sp>
        <p:nvSpPr>
          <p:cNvPr id="47" name="TextBox 46"/>
          <p:cNvSpPr txBox="1"/>
          <p:nvPr/>
        </p:nvSpPr>
        <p:spPr>
          <a:xfrm>
            <a:off x="7829550" y="2381631"/>
            <a:ext cx="195150" cy="194310"/>
          </a:xfrm>
          <a:prstGeom prst="rect">
            <a:avLst/>
          </a:prstGeom>
          <a:noFill/>
        </p:spPr>
        <p:txBody>
          <a:bodyPr wrap="none" lIns="0" rIns="0" tIns="0" bIns="0">
            <a:spAutoFit/>
          </a:bodyPr>
          <a:lstStyle/>
          <a:p>
            <a:r>
              <a:rPr sz="1150" b="0">
                <a:solidFill>
                  <a:srgbClr val="2E2E2E"/>
                </a:solidFill>
                <a:latin typeface="Calibri"/>
              </a:rPr>
              <a:t>at</a:t>
            </a:r>
          </a:p>
        </p:txBody>
      </p:sp>
      <p:pic>
        <p:nvPicPr>
          <p:cNvPr id="48" name="Picture 47" descr="lock.png"/>
          <p:cNvPicPr>
            <a:picLocks noChangeAspect="1"/>
          </p:cNvPicPr>
          <p:nvPr/>
        </p:nvPicPr>
        <p:blipFill>
          <a:blip r:embed="rId5"/>
          <a:stretch>
            <a:fillRect/>
          </a:stretch>
        </p:blipFill>
        <p:spPr>
          <a:xfrm>
            <a:off x="7973854" y="2371407"/>
            <a:ext cx="134549" cy="195707"/>
          </a:xfrm>
          <a:prstGeom prst="rect">
            <a:avLst/>
          </a:prstGeom>
        </p:spPr>
      </p:pic>
      <p:sp>
        <p:nvSpPr>
          <p:cNvPr id="49" name="TextBox 48"/>
          <p:cNvSpPr txBox="1"/>
          <p:nvPr/>
        </p:nvSpPr>
        <p:spPr>
          <a:xfrm>
            <a:off x="8148964"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Packaging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Packaging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Packaging Format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packs</a:t>
            </a:r>
          </a:p>
        </p:txBody>
      </p:sp>
      <p:sp>
        <p:nvSpPr>
          <p:cNvPr id="33" name="Rectangle 32"/>
          <p:cNvSpPr/>
          <p:nvPr/>
        </p:nvSpPr>
        <p:spPr>
          <a:xfrm>
            <a:off x="1857375" y="3248025"/>
            <a:ext cx="643890" cy="831056"/>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Rigid plastic packs</a:t>
            </a:r>
          </a:p>
        </p:txBody>
      </p:sp>
      <p:sp>
        <p:nvSpPr>
          <p:cNvPr id="49" name="Rectangle 48"/>
          <p:cNvSpPr/>
          <p:nvPr/>
        </p:nvSpPr>
        <p:spPr>
          <a:xfrm>
            <a:off x="185737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Paperboard packs</a:t>
            </a:r>
          </a:p>
        </p:txBody>
      </p:sp>
      <p:sp>
        <p:nvSpPr>
          <p:cNvPr id="65" name="Rectangle 64"/>
          <p:cNvSpPr/>
          <p:nvPr/>
        </p:nvSpPr>
        <p:spPr>
          <a:xfrm>
            <a:off x="1857375" y="4910138"/>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formats</a:t>
            </a:r>
          </a:p>
        </p:txBody>
      </p:sp>
      <p:sp>
        <p:nvSpPr>
          <p:cNvPr id="81" name="Rectangle 80"/>
          <p:cNvSpPr/>
          <p:nvPr/>
        </p:nvSpPr>
        <p:spPr>
          <a:xfrm>
            <a:off x="1857375" y="5741194"/>
            <a:ext cx="643890" cy="831056"/>
          </a:xfrm>
          <a:prstGeom prst="rect">
            <a:avLst/>
          </a:prstGeom>
          <a:solidFill>
            <a:srgbClr val="0D5B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49689"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Packaging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Packaging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Packaging Format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packs</a:t>
            </a:r>
          </a:p>
        </p:txBody>
      </p:sp>
      <p:sp>
        <p:nvSpPr>
          <p:cNvPr id="33" name="Rectangle 32"/>
          <p:cNvSpPr/>
          <p:nvPr/>
        </p:nvSpPr>
        <p:spPr>
          <a:xfrm>
            <a:off x="1857375" y="3248025"/>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Rigid plastic packs</a:t>
            </a:r>
          </a:p>
        </p:txBody>
      </p:sp>
      <p:sp>
        <p:nvSpPr>
          <p:cNvPr id="49" name="Rectangle 48"/>
          <p:cNvSpPr/>
          <p:nvPr/>
        </p:nvSpPr>
        <p:spPr>
          <a:xfrm>
            <a:off x="1857375" y="4079081"/>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Paperboard packs</a:t>
            </a:r>
          </a:p>
        </p:txBody>
      </p:sp>
      <p:sp>
        <p:nvSpPr>
          <p:cNvPr id="65" name="Rectangle 64"/>
          <p:cNvSpPr/>
          <p:nvPr/>
        </p:nvSpPr>
        <p:spPr>
          <a:xfrm>
            <a:off x="1857375" y="4910138"/>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formats</a:t>
            </a:r>
          </a:p>
        </p:txBody>
      </p:sp>
      <p:sp>
        <p:nvSpPr>
          <p:cNvPr id="81" name="Rectangle 80"/>
          <p:cNvSpPr/>
          <p:nvPr/>
        </p:nvSpPr>
        <p:spPr>
          <a:xfrm>
            <a:off x="1857375" y="5741194"/>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49689" y="1713738"/>
            <a:ext cx="366712" cy="533400"/>
          </a:xfrm>
          <a:prstGeom prst="rect">
            <a:avLst/>
          </a:prstGeom>
        </p:spPr>
      </p:pic>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 Configuration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 Configuration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 Configuration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Pack Configuration,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 Configuration segment categorizes the market by pack configuration.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Multipacks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Single-muffin packs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Bulk foodservice packs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 Configuration split shows how demand is distributed across pack configuration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921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3_12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5_0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121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1_561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3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555_2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666_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1_8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615083" cy="186689"/>
          </a:xfrm>
          <a:prstGeom prst="rect">
            <a:avLst/>
          </a:prstGeom>
          <a:noFill/>
        </p:spPr>
        <p:txBody>
          <a:bodyPr wrap="none" lIns="0" rIns="0" tIns="0" bIns="0">
            <a:spAutoFit/>
          </a:bodyPr>
          <a:lstStyle/>
          <a:p>
            <a:r>
              <a:rPr sz="1100" b="0">
                <a:solidFill>
                  <a:srgbClr val="2E2E2E"/>
                </a:solidFill>
                <a:latin typeface="Calibri"/>
              </a:rPr>
              <a:t>▪ 'Multipacks' holds the largest share in 2026</a:t>
            </a:r>
          </a:p>
        </p:txBody>
      </p:sp>
      <p:pic>
        <p:nvPicPr>
          <p:cNvPr id="70" name="Picture 69" descr="lock.png"/>
          <p:cNvPicPr>
            <a:picLocks noChangeAspect="1"/>
          </p:cNvPicPr>
          <p:nvPr/>
        </p:nvPicPr>
        <p:blipFill>
          <a:blip r:embed="rId13"/>
          <a:stretch>
            <a:fillRect/>
          </a:stretch>
        </p:blipFill>
        <p:spPr>
          <a:xfrm>
            <a:off x="3048910" y="4219658"/>
            <a:ext cx="128699" cy="187198"/>
          </a:xfrm>
          <a:prstGeom prst="rect">
            <a:avLst/>
          </a:prstGeom>
        </p:spPr>
      </p:pic>
      <p:sp>
        <p:nvSpPr>
          <p:cNvPr id="71" name="TextBox 70"/>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2" name="TextBox 71"/>
          <p:cNvSpPr txBox="1"/>
          <p:nvPr/>
        </p:nvSpPr>
        <p:spPr>
          <a:xfrm>
            <a:off x="485775" y="4615009"/>
            <a:ext cx="2863924" cy="186689"/>
          </a:xfrm>
          <a:prstGeom prst="rect">
            <a:avLst/>
          </a:prstGeom>
          <a:noFill/>
        </p:spPr>
        <p:txBody>
          <a:bodyPr wrap="none" lIns="0" rIns="0" tIns="0" bIns="0">
            <a:spAutoFit/>
          </a:bodyPr>
          <a:lstStyle/>
          <a:p>
            <a:r>
              <a:rPr sz="1100" b="0">
                <a:solidFill>
                  <a:srgbClr val="2E2E2E"/>
                </a:solidFill>
                <a:latin typeface="Calibri"/>
              </a:rPr>
              <a:t>▪ 'Multipacks' is the fastest-growing sub-segment</a:t>
            </a:r>
          </a:p>
        </p:txBody>
      </p:sp>
      <p:sp>
        <p:nvSpPr>
          <p:cNvPr id="73" name="TextBox 72"/>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74" name="Picture 73" descr="lock.png"/>
          <p:cNvPicPr>
            <a:picLocks noChangeAspect="1"/>
          </p:cNvPicPr>
          <p:nvPr/>
        </p:nvPicPr>
        <p:blipFill>
          <a:blip r:embed="rId13"/>
          <a:stretch>
            <a:fillRect/>
          </a:stretch>
        </p:blipFill>
        <p:spPr>
          <a:xfrm>
            <a:off x="623805" y="4772870"/>
            <a:ext cx="128699" cy="187198"/>
          </a:xfrm>
          <a:prstGeom prst="rect">
            <a:avLst/>
          </a:prstGeom>
        </p:spPr>
      </p:pic>
      <p:sp>
        <p:nvSpPr>
          <p:cNvPr id="75" name="TextBox 74"/>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6" name="TextBox 7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7" name="Picture 76" descr="lock.png"/>
          <p:cNvPicPr>
            <a:picLocks noChangeAspect="1"/>
          </p:cNvPicPr>
          <p:nvPr/>
        </p:nvPicPr>
        <p:blipFill>
          <a:blip r:embed="rId13"/>
          <a:stretch>
            <a:fillRect/>
          </a:stretch>
        </p:blipFill>
        <p:spPr>
          <a:xfrm>
            <a:off x="2240451" y="4990801"/>
            <a:ext cx="128699" cy="187198"/>
          </a:xfrm>
          <a:prstGeom prst="rect">
            <a:avLst/>
          </a:prstGeom>
        </p:spPr>
      </p:pic>
      <p:sp>
        <p:nvSpPr>
          <p:cNvPr id="78" name="TextBox 7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9" name="Picture 78" descr="lock.png"/>
          <p:cNvPicPr>
            <a:picLocks noChangeAspect="1"/>
          </p:cNvPicPr>
          <p:nvPr/>
        </p:nvPicPr>
        <p:blipFill>
          <a:blip r:embed="rId13"/>
          <a:stretch>
            <a:fillRect/>
          </a:stretch>
        </p:blipFill>
        <p:spPr>
          <a:xfrm>
            <a:off x="2552799" y="4990801"/>
            <a:ext cx="128699" cy="187198"/>
          </a:xfrm>
          <a:prstGeom prst="rect">
            <a:avLst/>
          </a:prstGeom>
        </p:spPr>
      </p:pic>
      <p:sp>
        <p:nvSpPr>
          <p:cNvPr id="80" name="TextBox 7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2" name="TextBox 81"/>
          <p:cNvSpPr txBox="1"/>
          <p:nvPr/>
        </p:nvSpPr>
        <p:spPr>
          <a:xfrm>
            <a:off x="485775" y="5386153"/>
            <a:ext cx="2881659" cy="186689"/>
          </a:xfrm>
          <a:prstGeom prst="rect">
            <a:avLst/>
          </a:prstGeom>
          <a:noFill/>
        </p:spPr>
        <p:txBody>
          <a:bodyPr wrap="none" lIns="0" rIns="0" tIns="0" bIns="0">
            <a:spAutoFit/>
          </a:bodyPr>
          <a:lstStyle/>
          <a:p>
            <a:r>
              <a:rPr sz="1100" b="0">
                <a:solidFill>
                  <a:srgbClr val="2E2E2E"/>
                </a:solidFill>
                <a:latin typeface="Calibri"/>
              </a:rPr>
              <a:t>▪ 3 sub-segments make up the pack configuration</a:t>
            </a:r>
          </a:p>
        </p:txBody>
      </p:sp>
      <p:sp>
        <p:nvSpPr>
          <p:cNvPr id="83" name="TextBox 82"/>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4" name="TextBox 83"/>
          <p:cNvSpPr txBox="1"/>
          <p:nvPr/>
        </p:nvSpPr>
        <p:spPr>
          <a:xfrm>
            <a:off x="3838575" y="4229437"/>
            <a:ext cx="851371" cy="186689"/>
          </a:xfrm>
          <a:prstGeom prst="rect">
            <a:avLst/>
          </a:prstGeom>
          <a:noFill/>
        </p:spPr>
        <p:txBody>
          <a:bodyPr wrap="none" lIns="0" rIns="0" tIns="0" bIns="0">
            <a:spAutoFit/>
          </a:bodyPr>
          <a:lstStyle/>
          <a:p>
            <a:r>
              <a:rPr sz="1100" b="0">
                <a:solidFill>
                  <a:srgbClr val="2E2E2E"/>
                </a:solidFill>
                <a:latin typeface="Calibri"/>
              </a:rPr>
              <a:t>● Multipacks:</a:t>
            </a:r>
          </a:p>
        </p:txBody>
      </p:sp>
      <p:pic>
        <p:nvPicPr>
          <p:cNvPr id="85" name="Picture 84" descr="lock.png"/>
          <p:cNvPicPr>
            <a:picLocks noChangeAspect="1"/>
          </p:cNvPicPr>
          <p:nvPr/>
        </p:nvPicPr>
        <p:blipFill>
          <a:blip r:embed="rId13"/>
          <a:stretch>
            <a:fillRect/>
          </a:stretch>
        </p:blipFill>
        <p:spPr>
          <a:xfrm>
            <a:off x="4637997" y="4219658"/>
            <a:ext cx="128699" cy="187198"/>
          </a:xfrm>
          <a:prstGeom prst="rect">
            <a:avLst/>
          </a:prstGeom>
        </p:spPr>
      </p:pic>
      <p:sp>
        <p:nvSpPr>
          <p:cNvPr id="86" name="TextBox 85"/>
          <p:cNvSpPr txBox="1"/>
          <p:nvPr/>
        </p:nvSpPr>
        <p:spPr>
          <a:xfrm>
            <a:off x="480549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3"/>
          <a:stretch>
            <a:fillRect/>
          </a:stretch>
        </p:blipFill>
        <p:spPr>
          <a:xfrm>
            <a:off x="5664943" y="4219658"/>
            <a:ext cx="128699" cy="187198"/>
          </a:xfrm>
          <a:prstGeom prst="rect">
            <a:avLst/>
          </a:prstGeom>
        </p:spPr>
      </p:pic>
      <p:sp>
        <p:nvSpPr>
          <p:cNvPr id="88" name="TextBox 87"/>
          <p:cNvSpPr txBox="1"/>
          <p:nvPr/>
        </p:nvSpPr>
        <p:spPr>
          <a:xfrm>
            <a:off x="5832439"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9" name="TextBox 88"/>
          <p:cNvSpPr txBox="1"/>
          <p:nvPr/>
        </p:nvSpPr>
        <p:spPr>
          <a:xfrm>
            <a:off x="3838575" y="4447369"/>
            <a:ext cx="1334591" cy="186689"/>
          </a:xfrm>
          <a:prstGeom prst="rect">
            <a:avLst/>
          </a:prstGeom>
          <a:noFill/>
        </p:spPr>
        <p:txBody>
          <a:bodyPr wrap="none" lIns="0" rIns="0" tIns="0" bIns="0">
            <a:spAutoFit/>
          </a:bodyPr>
          <a:lstStyle/>
          <a:p>
            <a:r>
              <a:rPr sz="1100" b="0">
                <a:solidFill>
                  <a:srgbClr val="2E2E2E"/>
                </a:solidFill>
                <a:latin typeface="Calibri"/>
              </a:rPr>
              <a:t>● Single-muffin packs:</a:t>
            </a:r>
          </a:p>
        </p:txBody>
      </p:sp>
      <p:pic>
        <p:nvPicPr>
          <p:cNvPr id="90" name="Picture 89" descr="lock.png"/>
          <p:cNvPicPr>
            <a:picLocks noChangeAspect="1"/>
          </p:cNvPicPr>
          <p:nvPr/>
        </p:nvPicPr>
        <p:blipFill>
          <a:blip r:embed="rId13"/>
          <a:stretch>
            <a:fillRect/>
          </a:stretch>
        </p:blipFill>
        <p:spPr>
          <a:xfrm>
            <a:off x="5121218" y="4437590"/>
            <a:ext cx="128699" cy="187198"/>
          </a:xfrm>
          <a:prstGeom prst="rect">
            <a:avLst/>
          </a:prstGeom>
        </p:spPr>
      </p:pic>
      <p:sp>
        <p:nvSpPr>
          <p:cNvPr id="91" name="TextBox 90"/>
          <p:cNvSpPr txBox="1"/>
          <p:nvPr/>
        </p:nvSpPr>
        <p:spPr>
          <a:xfrm>
            <a:off x="528871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2" name="Picture 91" descr="lock.png"/>
          <p:cNvPicPr>
            <a:picLocks noChangeAspect="1"/>
          </p:cNvPicPr>
          <p:nvPr/>
        </p:nvPicPr>
        <p:blipFill>
          <a:blip r:embed="rId13"/>
          <a:stretch>
            <a:fillRect/>
          </a:stretch>
        </p:blipFill>
        <p:spPr>
          <a:xfrm>
            <a:off x="6148164" y="4437590"/>
            <a:ext cx="128699" cy="187198"/>
          </a:xfrm>
          <a:prstGeom prst="rect">
            <a:avLst/>
          </a:prstGeom>
        </p:spPr>
      </p:pic>
      <p:sp>
        <p:nvSpPr>
          <p:cNvPr id="93" name="TextBox 92"/>
          <p:cNvSpPr txBox="1"/>
          <p:nvPr/>
        </p:nvSpPr>
        <p:spPr>
          <a:xfrm>
            <a:off x="6315659"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4" name="TextBox 93"/>
          <p:cNvSpPr txBox="1"/>
          <p:nvPr/>
        </p:nvSpPr>
        <p:spPr>
          <a:xfrm>
            <a:off x="3838575" y="4665301"/>
            <a:ext cx="1516037" cy="186689"/>
          </a:xfrm>
          <a:prstGeom prst="rect">
            <a:avLst/>
          </a:prstGeom>
          <a:noFill/>
        </p:spPr>
        <p:txBody>
          <a:bodyPr wrap="none" lIns="0" rIns="0" tIns="0" bIns="0">
            <a:spAutoFit/>
          </a:bodyPr>
          <a:lstStyle/>
          <a:p>
            <a:r>
              <a:rPr sz="1100" b="0">
                <a:solidFill>
                  <a:srgbClr val="2E2E2E"/>
                </a:solidFill>
                <a:latin typeface="Calibri"/>
              </a:rPr>
              <a:t>● Bulk foodservice packs:</a:t>
            </a:r>
          </a:p>
        </p:txBody>
      </p:sp>
      <p:pic>
        <p:nvPicPr>
          <p:cNvPr id="95" name="Picture 94" descr="lock.png"/>
          <p:cNvPicPr>
            <a:picLocks noChangeAspect="1"/>
          </p:cNvPicPr>
          <p:nvPr/>
        </p:nvPicPr>
        <p:blipFill>
          <a:blip r:embed="rId13"/>
          <a:stretch>
            <a:fillRect/>
          </a:stretch>
        </p:blipFill>
        <p:spPr>
          <a:xfrm>
            <a:off x="5302664" y="4655522"/>
            <a:ext cx="128699" cy="187198"/>
          </a:xfrm>
          <a:prstGeom prst="rect">
            <a:avLst/>
          </a:prstGeom>
        </p:spPr>
      </p:pic>
      <p:sp>
        <p:nvSpPr>
          <p:cNvPr id="96" name="TextBox 95"/>
          <p:cNvSpPr txBox="1"/>
          <p:nvPr/>
        </p:nvSpPr>
        <p:spPr>
          <a:xfrm>
            <a:off x="5470160"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6329610" y="4655522"/>
            <a:ext cx="128699" cy="187198"/>
          </a:xfrm>
          <a:prstGeom prst="rect">
            <a:avLst/>
          </a:prstGeom>
        </p:spPr>
      </p:pic>
      <p:sp>
        <p:nvSpPr>
          <p:cNvPr id="98" name="TextBox 97"/>
          <p:cNvSpPr txBox="1"/>
          <p:nvPr/>
        </p:nvSpPr>
        <p:spPr>
          <a:xfrm>
            <a:off x="6497106"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9" name="TextBox 98"/>
          <p:cNvSpPr txBox="1"/>
          <p:nvPr/>
        </p:nvSpPr>
        <p:spPr>
          <a:xfrm>
            <a:off x="8524875" y="5842641"/>
            <a:ext cx="2942145" cy="194310"/>
          </a:xfrm>
          <a:prstGeom prst="rect">
            <a:avLst/>
          </a:prstGeom>
          <a:noFill/>
        </p:spPr>
        <p:txBody>
          <a:bodyPr wrap="none" lIns="0" rIns="0" tIns="0" bIns="0">
            <a:spAutoFit/>
          </a:bodyPr>
          <a:lstStyle/>
          <a:p>
            <a:r>
              <a:rPr sz="1150" b="1">
                <a:solidFill>
                  <a:srgbClr val="0B2E4A"/>
                </a:solidFill>
                <a:latin typeface="Calibri"/>
              </a:rPr>
              <a:t>The Pack Configuration segment is projected to</a:t>
            </a:r>
          </a:p>
        </p:txBody>
      </p:sp>
      <p:sp>
        <p:nvSpPr>
          <p:cNvPr id="100" name="TextBox 99"/>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1" name="Picture 100" descr="lock.png"/>
          <p:cNvPicPr>
            <a:picLocks noChangeAspect="1"/>
          </p:cNvPicPr>
          <p:nvPr/>
        </p:nvPicPr>
        <p:blipFill>
          <a:blip r:embed="rId13"/>
          <a:stretch>
            <a:fillRect/>
          </a:stretch>
        </p:blipFill>
        <p:spPr>
          <a:xfrm>
            <a:off x="9651852" y="6007677"/>
            <a:ext cx="134549" cy="195707"/>
          </a:xfrm>
          <a:prstGeom prst="rect">
            <a:avLst/>
          </a:prstGeom>
        </p:spPr>
      </p:pic>
      <p:sp>
        <p:nvSpPr>
          <p:cNvPr id="102" name="TextBox 101"/>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Pack Configuration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 Configuration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 Configuration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 Configuration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223544" cy="186689"/>
          </a:xfrm>
          <a:prstGeom prst="rect">
            <a:avLst/>
          </a:prstGeom>
          <a:noFill/>
        </p:spPr>
        <p:txBody>
          <a:bodyPr wrap="none" lIns="0" rIns="0" tIns="0" bIns="0">
            <a:spAutoFit/>
          </a:bodyPr>
          <a:lstStyle/>
          <a:p>
            <a:r>
              <a:rPr sz="1100" b="0">
                <a:solidFill>
                  <a:srgbClr val="2E2E2E"/>
                </a:solidFill>
                <a:latin typeface="Calibri"/>
              </a:rPr>
              <a:t>Between 2026 and 2036, 'Multipacks' gains the most share in the North America market (+</a:t>
            </a:r>
          </a:p>
        </p:txBody>
      </p:sp>
      <p:pic>
        <p:nvPicPr>
          <p:cNvPr id="21" name="Picture 20" descr="lock.png"/>
          <p:cNvPicPr>
            <a:picLocks noChangeAspect="1"/>
          </p:cNvPicPr>
          <p:nvPr/>
        </p:nvPicPr>
        <p:blipFill>
          <a:blip r:embed="rId6"/>
          <a:stretch>
            <a:fillRect/>
          </a:stretch>
        </p:blipFill>
        <p:spPr>
          <a:xfrm>
            <a:off x="5428771" y="5851905"/>
            <a:ext cx="128699" cy="187198"/>
          </a:xfrm>
          <a:prstGeom prst="rect">
            <a:avLst/>
          </a:prstGeom>
        </p:spPr>
      </p:pic>
      <p:sp>
        <p:nvSpPr>
          <p:cNvPr id="22" name="TextBox 21"/>
          <p:cNvSpPr txBox="1"/>
          <p:nvPr/>
        </p:nvSpPr>
        <p:spPr>
          <a:xfrm>
            <a:off x="5596267" y="5861685"/>
            <a:ext cx="2407716" cy="186689"/>
          </a:xfrm>
          <a:prstGeom prst="rect">
            <a:avLst/>
          </a:prstGeom>
          <a:noFill/>
        </p:spPr>
        <p:txBody>
          <a:bodyPr wrap="none" lIns="0" rIns="0" tIns="0" bIns="0">
            <a:spAutoFit/>
          </a:bodyPr>
          <a:lstStyle/>
          <a:p>
            <a:r>
              <a:rPr sz="1100" b="0">
                <a:solidFill>
                  <a:srgbClr val="2E2E2E"/>
                </a:solidFill>
                <a:latin typeface="Calibri"/>
              </a:rPr>
              <a:t>BPS) while 'Bulk foodservice packs' cedes</a:t>
            </a:r>
          </a:p>
        </p:txBody>
      </p:sp>
      <p:pic>
        <p:nvPicPr>
          <p:cNvPr id="23" name="Picture 22" descr="lock.png"/>
          <p:cNvPicPr>
            <a:picLocks noChangeAspect="1"/>
          </p:cNvPicPr>
          <p:nvPr/>
        </p:nvPicPr>
        <p:blipFill>
          <a:blip r:embed="rId6"/>
          <a:stretch>
            <a:fillRect/>
          </a:stretch>
        </p:blipFill>
        <p:spPr>
          <a:xfrm>
            <a:off x="7952035" y="5851905"/>
            <a:ext cx="128699" cy="187198"/>
          </a:xfrm>
          <a:prstGeom prst="rect">
            <a:avLst/>
          </a:prstGeom>
        </p:spPr>
      </p:pic>
      <p:sp>
        <p:nvSpPr>
          <p:cNvPr id="24" name="TextBox 23"/>
          <p:cNvSpPr txBox="1"/>
          <p:nvPr/>
        </p:nvSpPr>
        <p:spPr>
          <a:xfrm>
            <a:off x="8119531"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 Configuration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Single-muffin packs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Multipacks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Bulk foodservice packs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Pack Configuration</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352626" cy="194310"/>
          </a:xfrm>
          <a:prstGeom prst="rect">
            <a:avLst/>
          </a:prstGeom>
          <a:noFill/>
        </p:spPr>
        <p:txBody>
          <a:bodyPr wrap="none" lIns="0" rIns="0" tIns="0" bIns="0">
            <a:spAutoFit/>
          </a:bodyPr>
          <a:lstStyle/>
          <a:p>
            <a:r>
              <a:rPr sz="1150" b="0">
                <a:solidFill>
                  <a:srgbClr val="2E2E2E"/>
                </a:solidFill>
                <a:latin typeface="Calibri"/>
              </a:rPr>
              <a:t>▪ Across its 3 sub-segments, by pack configuration adds</a:t>
            </a:r>
          </a:p>
        </p:txBody>
      </p:sp>
      <p:pic>
        <p:nvPicPr>
          <p:cNvPr id="29" name="Picture 28" descr="lock.png"/>
          <p:cNvPicPr>
            <a:picLocks noChangeAspect="1"/>
          </p:cNvPicPr>
          <p:nvPr/>
        </p:nvPicPr>
        <p:blipFill>
          <a:blip r:embed="rId7"/>
          <a:stretch>
            <a:fillRect/>
          </a:stretch>
        </p:blipFill>
        <p:spPr>
          <a:xfrm>
            <a:off x="9607330" y="4276026"/>
            <a:ext cx="134549" cy="195707"/>
          </a:xfrm>
          <a:prstGeom prst="rect">
            <a:avLst/>
          </a:prstGeom>
        </p:spPr>
      </p:pic>
      <p:sp>
        <p:nvSpPr>
          <p:cNvPr id="30" name="TextBox 29"/>
          <p:cNvSpPr txBox="1"/>
          <p:nvPr/>
        </p:nvSpPr>
        <p:spPr>
          <a:xfrm>
            <a:off x="9782439" y="4286250"/>
            <a:ext cx="1841636" cy="194310"/>
          </a:xfrm>
          <a:prstGeom prst="rect">
            <a:avLst/>
          </a:prstGeom>
          <a:noFill/>
        </p:spPr>
        <p:txBody>
          <a:bodyPr wrap="none" lIns="0" rIns="0" tIns="0" bIns="0">
            <a:spAutoFit/>
          </a:bodyPr>
          <a:lstStyle/>
          <a:p>
            <a:r>
              <a:rPr sz="1150" b="0">
                <a:solidFill>
                  <a:srgbClr val="2E2E2E"/>
                </a:solidFill>
                <a:latin typeface="Calibri"/>
              </a:rPr>
              <a:t>US$ Mn to the North America</a:t>
            </a:r>
          </a:p>
        </p:txBody>
      </p:sp>
      <p:sp>
        <p:nvSpPr>
          <p:cNvPr id="31" name="TextBox 30"/>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2" name="TextBox 31"/>
          <p:cNvSpPr txBox="1"/>
          <p:nvPr/>
        </p:nvSpPr>
        <p:spPr>
          <a:xfrm>
            <a:off x="6305550" y="4689347"/>
            <a:ext cx="1188975" cy="194310"/>
          </a:xfrm>
          <a:prstGeom prst="rect">
            <a:avLst/>
          </a:prstGeom>
          <a:noFill/>
        </p:spPr>
        <p:txBody>
          <a:bodyPr wrap="none" lIns="0" rIns="0" tIns="0" bIns="0">
            <a:spAutoFit/>
          </a:bodyPr>
          <a:lstStyle/>
          <a:p>
            <a:r>
              <a:rPr sz="1150" b="0">
                <a:solidFill>
                  <a:srgbClr val="2E2E2E"/>
                </a:solidFill>
                <a:latin typeface="Calibri"/>
              </a:rPr>
              <a:t>▪ 'Multipacks' adds</a:t>
            </a:r>
          </a:p>
        </p:txBody>
      </p:sp>
      <p:pic>
        <p:nvPicPr>
          <p:cNvPr id="33" name="Picture 32" descr="lock.png"/>
          <p:cNvPicPr>
            <a:picLocks noChangeAspect="1"/>
          </p:cNvPicPr>
          <p:nvPr/>
        </p:nvPicPr>
        <p:blipFill>
          <a:blip r:embed="rId7"/>
          <a:stretch>
            <a:fillRect/>
          </a:stretch>
        </p:blipFill>
        <p:spPr>
          <a:xfrm>
            <a:off x="7443679" y="4679124"/>
            <a:ext cx="134549" cy="195707"/>
          </a:xfrm>
          <a:prstGeom prst="rect">
            <a:avLst/>
          </a:prstGeom>
        </p:spPr>
      </p:pic>
      <p:sp>
        <p:nvSpPr>
          <p:cNvPr id="34" name="TextBox 33"/>
          <p:cNvSpPr txBox="1"/>
          <p:nvPr/>
        </p:nvSpPr>
        <p:spPr>
          <a:xfrm>
            <a:off x="7618788"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8191259" y="4679124"/>
            <a:ext cx="134549" cy="195707"/>
          </a:xfrm>
          <a:prstGeom prst="rect">
            <a:avLst/>
          </a:prstGeom>
        </p:spPr>
      </p:pic>
      <p:sp>
        <p:nvSpPr>
          <p:cNvPr id="36" name="TextBox 35"/>
          <p:cNvSpPr txBox="1"/>
          <p:nvPr/>
        </p:nvSpPr>
        <p:spPr>
          <a:xfrm>
            <a:off x="8366368"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694160" cy="194310"/>
          </a:xfrm>
          <a:prstGeom prst="rect">
            <a:avLst/>
          </a:prstGeom>
          <a:noFill/>
        </p:spPr>
        <p:txBody>
          <a:bodyPr wrap="none" lIns="0" rIns="0" tIns="0" bIns="0">
            <a:spAutoFit/>
          </a:bodyPr>
          <a:lstStyle/>
          <a:p>
            <a:r>
              <a:rPr sz="1150" b="0">
                <a:solidFill>
                  <a:srgbClr val="2E2E2E"/>
                </a:solidFill>
                <a:latin typeface="Calibri"/>
              </a:rPr>
              <a:t>▪ 'Single-muffin packs' adds</a:t>
            </a:r>
          </a:p>
        </p:txBody>
      </p:sp>
      <p:pic>
        <p:nvPicPr>
          <p:cNvPr id="38" name="Picture 37" descr="lock.png"/>
          <p:cNvPicPr>
            <a:picLocks noChangeAspect="1"/>
          </p:cNvPicPr>
          <p:nvPr/>
        </p:nvPicPr>
        <p:blipFill>
          <a:blip r:embed="rId7"/>
          <a:stretch>
            <a:fillRect/>
          </a:stretch>
        </p:blipFill>
        <p:spPr>
          <a:xfrm>
            <a:off x="7948864" y="4906962"/>
            <a:ext cx="134549" cy="195707"/>
          </a:xfrm>
          <a:prstGeom prst="rect">
            <a:avLst/>
          </a:prstGeom>
        </p:spPr>
      </p:pic>
      <p:sp>
        <p:nvSpPr>
          <p:cNvPr id="39" name="TextBox 38"/>
          <p:cNvSpPr txBox="1"/>
          <p:nvPr/>
        </p:nvSpPr>
        <p:spPr>
          <a:xfrm>
            <a:off x="812397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696444" y="4906962"/>
            <a:ext cx="134549" cy="195707"/>
          </a:xfrm>
          <a:prstGeom prst="rect">
            <a:avLst/>
          </a:prstGeom>
        </p:spPr>
      </p:pic>
      <p:sp>
        <p:nvSpPr>
          <p:cNvPr id="41" name="TextBox 40"/>
          <p:cNvSpPr txBox="1"/>
          <p:nvPr/>
        </p:nvSpPr>
        <p:spPr>
          <a:xfrm>
            <a:off x="887155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883854" cy="194310"/>
          </a:xfrm>
          <a:prstGeom prst="rect">
            <a:avLst/>
          </a:prstGeom>
          <a:noFill/>
        </p:spPr>
        <p:txBody>
          <a:bodyPr wrap="none" lIns="0" rIns="0" tIns="0" bIns="0">
            <a:spAutoFit/>
          </a:bodyPr>
          <a:lstStyle/>
          <a:p>
            <a:r>
              <a:rPr sz="1150" b="0">
                <a:solidFill>
                  <a:srgbClr val="2E2E2E"/>
                </a:solidFill>
                <a:latin typeface="Calibri"/>
              </a:rPr>
              <a:t>▪ 'Bulk foodservice packs' adds</a:t>
            </a:r>
          </a:p>
        </p:txBody>
      </p:sp>
      <p:pic>
        <p:nvPicPr>
          <p:cNvPr id="43" name="Picture 42" descr="lock.png"/>
          <p:cNvPicPr>
            <a:picLocks noChangeAspect="1"/>
          </p:cNvPicPr>
          <p:nvPr/>
        </p:nvPicPr>
        <p:blipFill>
          <a:blip r:embed="rId7"/>
          <a:stretch>
            <a:fillRect/>
          </a:stretch>
        </p:blipFill>
        <p:spPr>
          <a:xfrm>
            <a:off x="8138557" y="5134800"/>
            <a:ext cx="134549" cy="195707"/>
          </a:xfrm>
          <a:prstGeom prst="rect">
            <a:avLst/>
          </a:prstGeom>
        </p:spPr>
      </p:pic>
      <p:sp>
        <p:nvSpPr>
          <p:cNvPr id="44" name="TextBox 43"/>
          <p:cNvSpPr txBox="1"/>
          <p:nvPr/>
        </p:nvSpPr>
        <p:spPr>
          <a:xfrm>
            <a:off x="8313667"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886138" y="5134800"/>
            <a:ext cx="134549" cy="195707"/>
          </a:xfrm>
          <a:prstGeom prst="rect">
            <a:avLst/>
          </a:prstGeom>
        </p:spPr>
      </p:pic>
      <p:sp>
        <p:nvSpPr>
          <p:cNvPr id="46" name="TextBox 45"/>
          <p:cNvSpPr txBox="1"/>
          <p:nvPr/>
        </p:nvSpPr>
        <p:spPr>
          <a:xfrm>
            <a:off x="9061247"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Pack Configuration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Pack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Pack Configuration (MT)</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462830"/>
                <a:gridCol w="555412"/>
                <a:gridCol w="555412"/>
                <a:gridCol w="555412"/>
                <a:gridCol w="555412"/>
                <a:gridCol w="555412"/>
                <a:gridCol w="555412"/>
                <a:gridCol w="555412"/>
                <a:gridCol w="667902"/>
                <a:gridCol w="667902"/>
                <a:gridCol w="667902"/>
                <a:gridCol w="667902"/>
                <a:gridCol w="667902"/>
                <a:gridCol w="667902"/>
                <a:gridCol w="667902"/>
                <a:gridCol w="667902"/>
                <a:gridCol w="667902"/>
                <a:gridCol w="525375"/>
              </a:tblGrid>
              <a:tr h="246126">
                <a:tc>
                  <a:txBody>
                    <a:bodyPr wrap="none"/>
                    <a:lstStyle/>
                    <a:p>
                      <a:pPr algn="l"/>
                      <a:r>
                        <a:rPr sz="1100" b="1">
                          <a:solidFill>
                            <a:srgbClr val="0B2E4A"/>
                          </a:solidFill>
                          <a:latin typeface="Calibri"/>
                        </a:rPr>
                        <a:t>Pack Configuration</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8031">
                <a:tc>
                  <a:txBody>
                    <a:bodyPr wrap="none"/>
                    <a:lstStyle/>
                    <a:p>
                      <a:pPr algn="l"/>
                      <a:r>
                        <a:rPr sz="1100" b="1">
                          <a:solidFill>
                            <a:srgbClr val="2E2E2E"/>
                          </a:solidFill>
                          <a:latin typeface="Calibri"/>
                        </a:rPr>
                        <a:t>Single-muffin packs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Multipacks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8031">
                <a:tc>
                  <a:txBody>
                    <a:bodyPr wrap="none"/>
                    <a:lstStyle/>
                    <a:p>
                      <a:pPr algn="l"/>
                      <a:r>
                        <a:rPr sz="1100" b="1">
                          <a:solidFill>
                            <a:srgbClr val="2E2E2E"/>
                          </a:solidFill>
                          <a:latin typeface="Calibri"/>
                        </a:rPr>
                        <a:t>Bulk foodservice packs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Pack Configuration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0728" y="1713738"/>
            <a:ext cx="366712" cy="533400"/>
          </a:xfrm>
          <a:prstGeom prst="rect">
            <a:avLst/>
          </a:prstGeom>
        </p:spPr>
      </p:pic>
      <p:sp>
        <p:nvSpPr>
          <p:cNvPr id="21" name="TextBox 20"/>
          <p:cNvSpPr txBox="1"/>
          <p:nvPr/>
        </p:nvSpPr>
        <p:spPr>
          <a:xfrm>
            <a:off x="276225" y="3238500"/>
            <a:ext cx="2956123" cy="194310"/>
          </a:xfrm>
          <a:prstGeom prst="rect">
            <a:avLst/>
          </a:prstGeom>
          <a:noFill/>
        </p:spPr>
        <p:txBody>
          <a:bodyPr wrap="none" lIns="0" rIns="0" tIns="0" bIns="0">
            <a:spAutoFit/>
          </a:bodyPr>
          <a:lstStyle/>
          <a:p>
            <a:r>
              <a:rPr sz="1150" b="0">
                <a:solidFill>
                  <a:srgbClr val="2E2E2E"/>
                </a:solidFill>
                <a:latin typeface="Calibri"/>
              </a:rPr>
              <a:t>▪ 'Multipacks' is the largest pack configuration at</a:t>
            </a:r>
          </a:p>
        </p:txBody>
      </p:sp>
      <p:pic>
        <p:nvPicPr>
          <p:cNvPr id="22" name="Picture 21" descr="lock.png"/>
          <p:cNvPicPr>
            <a:picLocks noChangeAspect="1"/>
          </p:cNvPicPr>
          <p:nvPr/>
        </p:nvPicPr>
        <p:blipFill>
          <a:blip r:embed="rId4"/>
          <a:stretch>
            <a:fillRect/>
          </a:stretch>
        </p:blipFill>
        <p:spPr>
          <a:xfrm>
            <a:off x="3181502" y="3228276"/>
            <a:ext cx="134549" cy="195707"/>
          </a:xfrm>
          <a:prstGeom prst="rect">
            <a:avLst/>
          </a:prstGeom>
        </p:spPr>
      </p:pic>
      <p:sp>
        <p:nvSpPr>
          <p:cNvPr id="23" name="TextBox 22"/>
          <p:cNvSpPr txBox="1"/>
          <p:nvPr/>
        </p:nvSpPr>
        <p:spPr>
          <a:xfrm>
            <a:off x="3356611" y="32385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386344" y="3228276"/>
            <a:ext cx="134549" cy="195707"/>
          </a:xfrm>
          <a:prstGeom prst="rect">
            <a:avLst/>
          </a:prstGeom>
        </p:spPr>
      </p:pic>
      <p:sp>
        <p:nvSpPr>
          <p:cNvPr id="25" name="TextBox 24"/>
          <p:cNvSpPr txBox="1"/>
          <p:nvPr/>
        </p:nvSpPr>
        <p:spPr>
          <a:xfrm>
            <a:off x="4561453" y="32385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66337"/>
            <a:ext cx="1699294" cy="194310"/>
          </a:xfrm>
          <a:prstGeom prst="rect">
            <a:avLst/>
          </a:prstGeom>
          <a:noFill/>
        </p:spPr>
        <p:txBody>
          <a:bodyPr wrap="none" lIns="0" rIns="0" tIns="0" bIns="0">
            <a:spAutoFit/>
          </a:bodyPr>
          <a:lstStyle/>
          <a:p>
            <a:r>
              <a:rPr sz="1150" b="0">
                <a:solidFill>
                  <a:srgbClr val="2E2E2E"/>
                </a:solidFill>
                <a:latin typeface="Calibri"/>
              </a:rPr>
              <a:t>▪ 'Multipacks' grows fastest</a:t>
            </a:r>
          </a:p>
        </p:txBody>
      </p:sp>
      <p:pic>
        <p:nvPicPr>
          <p:cNvPr id="27" name="Picture 26" descr="lock.png"/>
          <p:cNvPicPr>
            <a:picLocks noChangeAspect="1"/>
          </p:cNvPicPr>
          <p:nvPr/>
        </p:nvPicPr>
        <p:blipFill>
          <a:blip r:embed="rId4"/>
          <a:stretch>
            <a:fillRect/>
          </a:stretch>
        </p:blipFill>
        <p:spPr>
          <a:xfrm>
            <a:off x="1924673" y="3456114"/>
            <a:ext cx="134549" cy="195707"/>
          </a:xfrm>
          <a:prstGeom prst="rect">
            <a:avLst/>
          </a:prstGeom>
        </p:spPr>
      </p:pic>
      <p:sp>
        <p:nvSpPr>
          <p:cNvPr id="28" name="TextBox 27"/>
          <p:cNvSpPr txBox="1"/>
          <p:nvPr/>
        </p:nvSpPr>
        <p:spPr>
          <a:xfrm>
            <a:off x="2099782"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208472" cy="194310"/>
          </a:xfrm>
          <a:prstGeom prst="rect">
            <a:avLst/>
          </a:prstGeom>
          <a:noFill/>
        </p:spPr>
        <p:txBody>
          <a:bodyPr wrap="none" lIns="0" rIns="0" tIns="0" bIns="0">
            <a:spAutoFit/>
          </a:bodyPr>
          <a:lstStyle/>
          <a:p>
            <a:r>
              <a:rPr sz="1150" b="0">
                <a:solidFill>
                  <a:srgbClr val="2E2E2E"/>
                </a:solidFill>
                <a:latin typeface="Calibri"/>
              </a:rPr>
              <a:t>▪ Share shifts toward 'Multipacks' (+</a:t>
            </a:r>
          </a:p>
        </p:txBody>
      </p:sp>
      <p:pic>
        <p:nvPicPr>
          <p:cNvPr id="30" name="Picture 29" descr="lock.png"/>
          <p:cNvPicPr>
            <a:picLocks noChangeAspect="1"/>
          </p:cNvPicPr>
          <p:nvPr/>
        </p:nvPicPr>
        <p:blipFill>
          <a:blip r:embed="rId4"/>
          <a:stretch>
            <a:fillRect/>
          </a:stretch>
        </p:blipFill>
        <p:spPr>
          <a:xfrm>
            <a:off x="2433851" y="3683952"/>
            <a:ext cx="134549" cy="195707"/>
          </a:xfrm>
          <a:prstGeom prst="rect">
            <a:avLst/>
          </a:prstGeom>
        </p:spPr>
      </p:pic>
      <p:sp>
        <p:nvSpPr>
          <p:cNvPr id="31" name="TextBox 30"/>
          <p:cNvSpPr txBox="1"/>
          <p:nvPr/>
        </p:nvSpPr>
        <p:spPr>
          <a:xfrm>
            <a:off x="2608961" y="3694175"/>
            <a:ext cx="2829470" cy="194310"/>
          </a:xfrm>
          <a:prstGeom prst="rect">
            <a:avLst/>
          </a:prstGeom>
          <a:noFill/>
        </p:spPr>
        <p:txBody>
          <a:bodyPr wrap="none" lIns="0" rIns="0" tIns="0" bIns="0">
            <a:spAutoFit/>
          </a:bodyPr>
          <a:lstStyle/>
          <a:p>
            <a:r>
              <a:rPr sz="1150" b="0">
                <a:solidFill>
                  <a:srgbClr val="2E2E2E"/>
                </a:solidFill>
                <a:latin typeface="Calibri"/>
              </a:rPr>
              <a:t>BPS) and away from 'Bulk foodservice packs' (-</a:t>
            </a:r>
          </a:p>
        </p:txBody>
      </p:sp>
      <p:pic>
        <p:nvPicPr>
          <p:cNvPr id="32" name="Picture 31" descr="lock.png"/>
          <p:cNvPicPr>
            <a:picLocks noChangeAspect="1"/>
          </p:cNvPicPr>
          <p:nvPr/>
        </p:nvPicPr>
        <p:blipFill>
          <a:blip r:embed="rId4"/>
          <a:stretch>
            <a:fillRect/>
          </a:stretch>
        </p:blipFill>
        <p:spPr>
          <a:xfrm>
            <a:off x="5387585" y="3683952"/>
            <a:ext cx="134549" cy="195707"/>
          </a:xfrm>
          <a:prstGeom prst="rect">
            <a:avLst/>
          </a:prstGeom>
        </p:spPr>
      </p:pic>
      <p:sp>
        <p:nvSpPr>
          <p:cNvPr id="33" name="TextBox 32"/>
          <p:cNvSpPr txBox="1"/>
          <p:nvPr/>
        </p:nvSpPr>
        <p:spPr>
          <a:xfrm>
            <a:off x="556269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911790"/>
            <a:ext cx="134549" cy="195707"/>
          </a:xfrm>
          <a:prstGeom prst="rect">
            <a:avLst/>
          </a:prstGeom>
        </p:spPr>
      </p:pic>
      <p:sp>
        <p:nvSpPr>
          <p:cNvPr id="36" name="TextBox 35"/>
          <p:cNvSpPr txBox="1"/>
          <p:nvPr/>
        </p:nvSpPr>
        <p:spPr>
          <a:xfrm>
            <a:off x="1965143"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911790"/>
            <a:ext cx="134549" cy="195707"/>
          </a:xfrm>
          <a:prstGeom prst="rect">
            <a:avLst/>
          </a:prstGeom>
        </p:spPr>
      </p:pic>
      <p:sp>
        <p:nvSpPr>
          <p:cNvPr id="38" name="TextBox 37"/>
          <p:cNvSpPr txBox="1"/>
          <p:nvPr/>
        </p:nvSpPr>
        <p:spPr>
          <a:xfrm>
            <a:off x="2291688" y="39220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Pack Configuration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Pack Configuration (US$ Mn)</a:t>
            </a:r>
          </a:p>
        </p:txBody>
      </p:sp>
      <p:graphicFrame>
        <p:nvGraphicFramePr>
          <p:cNvPr id="13" name="Table 12"/>
          <p:cNvGraphicFramePr>
            <a:graphicFrameLocks noGrp="1"/>
          </p:cNvGraphicFramePr>
          <p:nvPr/>
        </p:nvGraphicFramePr>
        <p:xfrm>
          <a:off x="152400" y="1238250"/>
          <a:ext cx="11887195" cy="1238250"/>
        </p:xfrm>
        <a:graphic>
          <a:graphicData uri="http://schemas.openxmlformats.org/drawingml/2006/table">
            <a:tbl>
              <a:tblPr>
                <a:tableStyleId>{5C22544A-7EE6-4342-B048-85BDC9FD1C3A}</a:tableStyleId>
              </a:tblPr>
              <a:tblGrid>
                <a:gridCol w="1609148"/>
                <a:gridCol w="604591"/>
                <a:gridCol w="604591"/>
                <a:gridCol w="604591"/>
                <a:gridCol w="604591"/>
                <a:gridCol w="604591"/>
                <a:gridCol w="604591"/>
                <a:gridCol w="604591"/>
                <a:gridCol w="604591"/>
                <a:gridCol w="604591"/>
                <a:gridCol w="604591"/>
                <a:gridCol w="604591"/>
                <a:gridCol w="604591"/>
                <a:gridCol w="604591"/>
                <a:gridCol w="604591"/>
                <a:gridCol w="604591"/>
                <a:gridCol w="604591"/>
                <a:gridCol w="604591"/>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Pack Configuration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13881" y="1713738"/>
            <a:ext cx="366712" cy="533400"/>
          </a:xfrm>
          <a:prstGeom prst="rect">
            <a:avLst/>
          </a:prstGeom>
        </p:spPr>
      </p:pic>
      <p:sp>
        <p:nvSpPr>
          <p:cNvPr id="21" name="TextBox 20"/>
          <p:cNvSpPr txBox="1"/>
          <p:nvPr/>
        </p:nvSpPr>
        <p:spPr>
          <a:xfrm>
            <a:off x="276225" y="3238500"/>
            <a:ext cx="2956123" cy="194310"/>
          </a:xfrm>
          <a:prstGeom prst="rect">
            <a:avLst/>
          </a:prstGeom>
          <a:noFill/>
        </p:spPr>
        <p:txBody>
          <a:bodyPr wrap="none" lIns="0" rIns="0" tIns="0" bIns="0">
            <a:spAutoFit/>
          </a:bodyPr>
          <a:lstStyle/>
          <a:p>
            <a:r>
              <a:rPr sz="1150" b="0">
                <a:solidFill>
                  <a:srgbClr val="2E2E2E"/>
                </a:solidFill>
                <a:latin typeface="Calibri"/>
              </a:rPr>
              <a:t>▪ 'Multipacks' is the largest pack configuration at</a:t>
            </a:r>
          </a:p>
        </p:txBody>
      </p:sp>
      <p:pic>
        <p:nvPicPr>
          <p:cNvPr id="22" name="Picture 21" descr="lock.png"/>
          <p:cNvPicPr>
            <a:picLocks noChangeAspect="1"/>
          </p:cNvPicPr>
          <p:nvPr/>
        </p:nvPicPr>
        <p:blipFill>
          <a:blip r:embed="rId4"/>
          <a:stretch>
            <a:fillRect/>
          </a:stretch>
        </p:blipFill>
        <p:spPr>
          <a:xfrm>
            <a:off x="3181502" y="3228276"/>
            <a:ext cx="134549" cy="195707"/>
          </a:xfrm>
          <a:prstGeom prst="rect">
            <a:avLst/>
          </a:prstGeom>
        </p:spPr>
      </p:pic>
      <p:sp>
        <p:nvSpPr>
          <p:cNvPr id="23" name="TextBox 22"/>
          <p:cNvSpPr txBox="1"/>
          <p:nvPr/>
        </p:nvSpPr>
        <p:spPr>
          <a:xfrm>
            <a:off x="3356611"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262544" y="3228276"/>
            <a:ext cx="134549" cy="195707"/>
          </a:xfrm>
          <a:prstGeom prst="rect">
            <a:avLst/>
          </a:prstGeom>
        </p:spPr>
      </p:pic>
      <p:sp>
        <p:nvSpPr>
          <p:cNvPr id="25" name="TextBox 24"/>
          <p:cNvSpPr txBox="1"/>
          <p:nvPr/>
        </p:nvSpPr>
        <p:spPr>
          <a:xfrm>
            <a:off x="4437653"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1699294" cy="194310"/>
          </a:xfrm>
          <a:prstGeom prst="rect">
            <a:avLst/>
          </a:prstGeom>
          <a:noFill/>
        </p:spPr>
        <p:txBody>
          <a:bodyPr wrap="none" lIns="0" rIns="0" tIns="0" bIns="0">
            <a:spAutoFit/>
          </a:bodyPr>
          <a:lstStyle/>
          <a:p>
            <a:r>
              <a:rPr sz="1150" b="0">
                <a:solidFill>
                  <a:srgbClr val="2E2E2E"/>
                </a:solidFill>
                <a:latin typeface="Calibri"/>
              </a:rPr>
              <a:t>▪ 'Multipacks' grows fastest</a:t>
            </a:r>
          </a:p>
        </p:txBody>
      </p:sp>
      <p:pic>
        <p:nvPicPr>
          <p:cNvPr id="27" name="Picture 26" descr="lock.png"/>
          <p:cNvPicPr>
            <a:picLocks noChangeAspect="1"/>
          </p:cNvPicPr>
          <p:nvPr/>
        </p:nvPicPr>
        <p:blipFill>
          <a:blip r:embed="rId4"/>
          <a:stretch>
            <a:fillRect/>
          </a:stretch>
        </p:blipFill>
        <p:spPr>
          <a:xfrm>
            <a:off x="1924673" y="3456114"/>
            <a:ext cx="134549" cy="195707"/>
          </a:xfrm>
          <a:prstGeom prst="rect">
            <a:avLst/>
          </a:prstGeom>
        </p:spPr>
      </p:pic>
      <p:sp>
        <p:nvSpPr>
          <p:cNvPr id="28" name="TextBox 27"/>
          <p:cNvSpPr txBox="1"/>
          <p:nvPr/>
        </p:nvSpPr>
        <p:spPr>
          <a:xfrm>
            <a:off x="2099782"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208472" cy="194310"/>
          </a:xfrm>
          <a:prstGeom prst="rect">
            <a:avLst/>
          </a:prstGeom>
          <a:noFill/>
        </p:spPr>
        <p:txBody>
          <a:bodyPr wrap="none" lIns="0" rIns="0" tIns="0" bIns="0">
            <a:spAutoFit/>
          </a:bodyPr>
          <a:lstStyle/>
          <a:p>
            <a:r>
              <a:rPr sz="1150" b="0">
                <a:solidFill>
                  <a:srgbClr val="2E2E2E"/>
                </a:solidFill>
                <a:latin typeface="Calibri"/>
              </a:rPr>
              <a:t>▪ Share shifts toward 'Multipacks' (+</a:t>
            </a:r>
          </a:p>
        </p:txBody>
      </p:sp>
      <p:pic>
        <p:nvPicPr>
          <p:cNvPr id="30" name="Picture 29" descr="lock.png"/>
          <p:cNvPicPr>
            <a:picLocks noChangeAspect="1"/>
          </p:cNvPicPr>
          <p:nvPr/>
        </p:nvPicPr>
        <p:blipFill>
          <a:blip r:embed="rId4"/>
          <a:stretch>
            <a:fillRect/>
          </a:stretch>
        </p:blipFill>
        <p:spPr>
          <a:xfrm>
            <a:off x="2433851" y="3683952"/>
            <a:ext cx="134549" cy="195707"/>
          </a:xfrm>
          <a:prstGeom prst="rect">
            <a:avLst/>
          </a:prstGeom>
        </p:spPr>
      </p:pic>
      <p:sp>
        <p:nvSpPr>
          <p:cNvPr id="31" name="TextBox 30"/>
          <p:cNvSpPr txBox="1"/>
          <p:nvPr/>
        </p:nvSpPr>
        <p:spPr>
          <a:xfrm>
            <a:off x="2608961" y="3694175"/>
            <a:ext cx="2829470" cy="194310"/>
          </a:xfrm>
          <a:prstGeom prst="rect">
            <a:avLst/>
          </a:prstGeom>
          <a:noFill/>
        </p:spPr>
        <p:txBody>
          <a:bodyPr wrap="none" lIns="0" rIns="0" tIns="0" bIns="0">
            <a:spAutoFit/>
          </a:bodyPr>
          <a:lstStyle/>
          <a:p>
            <a:r>
              <a:rPr sz="1150" b="0">
                <a:solidFill>
                  <a:srgbClr val="2E2E2E"/>
                </a:solidFill>
                <a:latin typeface="Calibri"/>
              </a:rPr>
              <a:t>BPS) and away from 'Bulk foodservice packs' (-</a:t>
            </a:r>
          </a:p>
        </p:txBody>
      </p:sp>
      <p:pic>
        <p:nvPicPr>
          <p:cNvPr id="32" name="Picture 31" descr="lock.png"/>
          <p:cNvPicPr>
            <a:picLocks noChangeAspect="1"/>
          </p:cNvPicPr>
          <p:nvPr/>
        </p:nvPicPr>
        <p:blipFill>
          <a:blip r:embed="rId4"/>
          <a:stretch>
            <a:fillRect/>
          </a:stretch>
        </p:blipFill>
        <p:spPr>
          <a:xfrm>
            <a:off x="5387585" y="3683952"/>
            <a:ext cx="134549" cy="195707"/>
          </a:xfrm>
          <a:prstGeom prst="rect">
            <a:avLst/>
          </a:prstGeom>
        </p:spPr>
      </p:pic>
      <p:sp>
        <p:nvSpPr>
          <p:cNvPr id="33" name="TextBox 32"/>
          <p:cNvSpPr txBox="1"/>
          <p:nvPr/>
        </p:nvSpPr>
        <p:spPr>
          <a:xfrm>
            <a:off x="556269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 Configuration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Pack Configuration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5596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5120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750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Bulk foodservice packs</a:t>
            </a:r>
          </a:p>
        </p:txBody>
      </p:sp>
      <p:sp>
        <p:nvSpPr>
          <p:cNvPr id="19" name="BPS Value 1"/>
          <p:cNvSpPr txBox="1"/>
          <p:nvPr/>
        </p:nvSpPr>
        <p:spPr>
          <a:xfrm>
            <a:off x="6896100" y="193691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0720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90244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2624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Single-muffin packs</a:t>
            </a:r>
          </a:p>
        </p:txBody>
      </p:sp>
      <p:sp>
        <p:nvSpPr>
          <p:cNvPr id="23" name="BPS Value 2"/>
          <p:cNvSpPr txBox="1"/>
          <p:nvPr/>
        </p:nvSpPr>
        <p:spPr>
          <a:xfrm>
            <a:off x="6896100" y="288815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90868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90391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2771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Multipacks</a:t>
            </a:r>
          </a:p>
        </p:txBody>
      </p:sp>
      <p:sp>
        <p:nvSpPr>
          <p:cNvPr id="27" name="BPS Value 3"/>
          <p:cNvSpPr txBox="1"/>
          <p:nvPr/>
        </p:nvSpPr>
        <p:spPr>
          <a:xfrm>
            <a:off x="6896100" y="488963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Pack Configuration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245555" cy="194310"/>
          </a:xfrm>
          <a:prstGeom prst="rect">
            <a:avLst/>
          </a:prstGeom>
          <a:noFill/>
        </p:spPr>
        <p:txBody>
          <a:bodyPr wrap="none" lIns="0" rIns="0" tIns="0" bIns="0">
            <a:spAutoFit/>
          </a:bodyPr>
          <a:lstStyle/>
          <a:p>
            <a:r>
              <a:rPr sz="1150" b="0">
                <a:solidFill>
                  <a:srgbClr val="2E2E2E"/>
                </a:solidFill>
                <a:latin typeface="Calibri"/>
              </a:rPr>
              <a:t>▪ 'Multipacks' gains the most share +</a:t>
            </a:r>
          </a:p>
        </p:txBody>
      </p:sp>
      <p:pic>
        <p:nvPicPr>
          <p:cNvPr id="35" name="Picture 34" descr="lock.png"/>
          <p:cNvPicPr>
            <a:picLocks noChangeAspect="1"/>
          </p:cNvPicPr>
          <p:nvPr/>
        </p:nvPicPr>
        <p:blipFill>
          <a:blip r:embed="rId5"/>
          <a:stretch>
            <a:fillRect/>
          </a:stretch>
        </p:blipFill>
        <p:spPr>
          <a:xfrm>
            <a:off x="10024259" y="1389951"/>
            <a:ext cx="134549" cy="195707"/>
          </a:xfrm>
          <a:prstGeom prst="rect">
            <a:avLst/>
          </a:prstGeom>
        </p:spPr>
      </p:pic>
      <p:sp>
        <p:nvSpPr>
          <p:cNvPr id="36" name="TextBox 35"/>
          <p:cNvSpPr txBox="1"/>
          <p:nvPr/>
        </p:nvSpPr>
        <p:spPr>
          <a:xfrm>
            <a:off x="10199369"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7" name="TextBox 36"/>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587004" cy="194310"/>
          </a:xfrm>
          <a:prstGeom prst="rect">
            <a:avLst/>
          </a:prstGeom>
          <a:noFill/>
        </p:spPr>
        <p:txBody>
          <a:bodyPr wrap="none" lIns="0" rIns="0" tIns="0" bIns="0">
            <a:spAutoFit/>
          </a:bodyPr>
          <a:lstStyle/>
          <a:p>
            <a:r>
              <a:rPr sz="1150" b="0">
                <a:solidFill>
                  <a:srgbClr val="2E2E2E"/>
                </a:solidFill>
                <a:latin typeface="Calibri"/>
              </a:rPr>
              <a:t>▪ 'Bulk foodservice packs' cedes the most -</a:t>
            </a:r>
          </a:p>
        </p:txBody>
      </p:sp>
      <p:pic>
        <p:nvPicPr>
          <p:cNvPr id="39" name="Picture 38" descr="lock.png"/>
          <p:cNvPicPr>
            <a:picLocks noChangeAspect="1"/>
          </p:cNvPicPr>
          <p:nvPr/>
        </p:nvPicPr>
        <p:blipFill>
          <a:blip r:embed="rId5"/>
          <a:stretch>
            <a:fillRect/>
          </a:stretch>
        </p:blipFill>
        <p:spPr>
          <a:xfrm>
            <a:off x="10365708" y="1793049"/>
            <a:ext cx="134549" cy="195707"/>
          </a:xfrm>
          <a:prstGeom prst="rect">
            <a:avLst/>
          </a:prstGeom>
        </p:spPr>
      </p:pic>
      <p:sp>
        <p:nvSpPr>
          <p:cNvPr id="40" name="TextBox 39"/>
          <p:cNvSpPr txBox="1"/>
          <p:nvPr/>
        </p:nvSpPr>
        <p:spPr>
          <a:xfrm>
            <a:off x="10540818"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1" name="TextBox 40"/>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3478423" cy="194310"/>
          </a:xfrm>
          <a:prstGeom prst="rect">
            <a:avLst/>
          </a:prstGeom>
          <a:noFill/>
        </p:spPr>
        <p:txBody>
          <a:bodyPr wrap="none" lIns="0" rIns="0" tIns="0" bIns="0">
            <a:spAutoFit/>
          </a:bodyPr>
          <a:lstStyle/>
          <a:p>
            <a:r>
              <a:rPr sz="1150" b="0">
                <a:solidFill>
                  <a:srgbClr val="2E2E2E"/>
                </a:solidFill>
                <a:latin typeface="Calibri"/>
              </a:rPr>
              <a:t>▪ 'Multipacks' is the fastest-growing pack configuration at</a:t>
            </a:r>
          </a:p>
        </p:txBody>
      </p:sp>
      <p:pic>
        <p:nvPicPr>
          <p:cNvPr id="43" name="Picture 42" descr="lock.png"/>
          <p:cNvPicPr>
            <a:picLocks noChangeAspect="1"/>
          </p:cNvPicPr>
          <p:nvPr/>
        </p:nvPicPr>
        <p:blipFill>
          <a:blip r:embed="rId5"/>
          <a:stretch>
            <a:fillRect/>
          </a:stretch>
        </p:blipFill>
        <p:spPr>
          <a:xfrm>
            <a:off x="11257127" y="2196147"/>
            <a:ext cx="134549" cy="195707"/>
          </a:xfrm>
          <a:prstGeom prst="rect">
            <a:avLst/>
          </a:prstGeom>
        </p:spPr>
      </p:pic>
      <p:sp>
        <p:nvSpPr>
          <p:cNvPr id="44" name="TextBox 43"/>
          <p:cNvSpPr txBox="1"/>
          <p:nvPr/>
        </p:nvSpPr>
        <p:spPr>
          <a:xfrm>
            <a:off x="11432236"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5" name="TextBox 44"/>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6" name="TextBox 45"/>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7" name="Picture 46" descr="lock.png"/>
          <p:cNvPicPr>
            <a:picLocks noChangeAspect="1"/>
          </p:cNvPicPr>
          <p:nvPr/>
        </p:nvPicPr>
        <p:blipFill>
          <a:blip r:embed="rId5"/>
          <a:stretch>
            <a:fillRect/>
          </a:stretch>
        </p:blipFill>
        <p:spPr>
          <a:xfrm>
            <a:off x="9327669" y="2599245"/>
            <a:ext cx="134549" cy="195707"/>
          </a:xfrm>
          <a:prstGeom prst="rect">
            <a:avLst/>
          </a:prstGeom>
        </p:spPr>
      </p:pic>
      <p:sp>
        <p:nvSpPr>
          <p:cNvPr id="48" name="TextBox 47"/>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9" name="Picture 48" descr="lock.png"/>
          <p:cNvPicPr>
            <a:picLocks noChangeAspect="1"/>
          </p:cNvPicPr>
          <p:nvPr/>
        </p:nvPicPr>
        <p:blipFill>
          <a:blip r:embed="rId5"/>
          <a:stretch>
            <a:fillRect/>
          </a:stretch>
        </p:blipFill>
        <p:spPr>
          <a:xfrm>
            <a:off x="9654215" y="2599245"/>
            <a:ext cx="134549" cy="195707"/>
          </a:xfrm>
          <a:prstGeom prst="rect">
            <a:avLst/>
          </a:prstGeom>
        </p:spPr>
      </p:pic>
      <p:sp>
        <p:nvSpPr>
          <p:cNvPr id="50" name="TextBox 49"/>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1" name="TextBox 50"/>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2" name="TextBox 51"/>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3"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Pack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Pack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Pack Configuration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Single-muffin packs</a:t>
            </a:r>
          </a:p>
        </p:txBody>
      </p:sp>
      <p:sp>
        <p:nvSpPr>
          <p:cNvPr id="33" name="Rectangle 32"/>
          <p:cNvSpPr/>
          <p:nvPr/>
        </p:nvSpPr>
        <p:spPr>
          <a:xfrm>
            <a:off x="185737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Multipacks</a:t>
            </a:r>
          </a:p>
        </p:txBody>
      </p:sp>
      <p:sp>
        <p:nvSpPr>
          <p:cNvPr id="49" name="Rectangle 48"/>
          <p:cNvSpPr/>
          <p:nvPr/>
        </p:nvSpPr>
        <p:spPr>
          <a:xfrm>
            <a:off x="185737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Bulk foodservice packs</a:t>
            </a:r>
          </a:p>
        </p:txBody>
      </p:sp>
      <p:sp>
        <p:nvSpPr>
          <p:cNvPr id="65" name="Rectangle 64"/>
          <p:cNvSpPr/>
          <p:nvPr/>
        </p:nvSpPr>
        <p:spPr>
          <a:xfrm>
            <a:off x="1857375" y="538162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789268"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Pack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Pack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Pack Configuration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Single-muffin packs</a:t>
            </a:r>
          </a:p>
        </p:txBody>
      </p:sp>
      <p:sp>
        <p:nvSpPr>
          <p:cNvPr id="33" name="Rectangle 32"/>
          <p:cNvSpPr/>
          <p:nvPr/>
        </p:nvSpPr>
        <p:spPr>
          <a:xfrm>
            <a:off x="185737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Multipacks</a:t>
            </a:r>
          </a:p>
        </p:txBody>
      </p:sp>
      <p:sp>
        <p:nvSpPr>
          <p:cNvPr id="49" name="Rectangle 48"/>
          <p:cNvSpPr/>
          <p:nvPr/>
        </p:nvSpPr>
        <p:spPr>
          <a:xfrm>
            <a:off x="185737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Bulk foodservice packs</a:t>
            </a:r>
          </a:p>
        </p:txBody>
      </p:sp>
      <p:sp>
        <p:nvSpPr>
          <p:cNvPr id="65" name="Rectangle 64"/>
          <p:cNvSpPr/>
          <p:nvPr/>
        </p:nvSpPr>
        <p:spPr>
          <a:xfrm>
            <a:off x="185737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789268" y="1589913"/>
            <a:ext cx="366712" cy="533400"/>
          </a:xfrm>
          <a:prstGeom prst="rect">
            <a:avLst/>
          </a:prstGeom>
        </p:spPr>
      </p:pic>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Multipack Wrapping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Multipack Wrapping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Multipack Wrapping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Multipack Wrapping,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Multipack Wrapping segment categorizes the market by multipack wrapping.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Individually wrapped muffins with…</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Shared pack without individual wr…</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Multipack Wrapping split shows how demand is distributed across multipack wrapping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1_959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2_970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2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_63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_383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43324" cy="186689"/>
          </a:xfrm>
          <a:prstGeom prst="rect">
            <a:avLst/>
          </a:prstGeom>
          <a:noFill/>
        </p:spPr>
        <p:txBody>
          <a:bodyPr wrap="none" lIns="0" rIns="0" tIns="0" bIns="0">
            <a:spAutoFit/>
          </a:bodyPr>
          <a:lstStyle/>
          <a:p>
            <a:r>
              <a:rPr sz="1100" b="0">
                <a:solidFill>
                  <a:srgbClr val="2E2E2E"/>
                </a:solidFill>
                <a:latin typeface="Calibri"/>
              </a:rPr>
              <a:t>▪ 'Individually wrapped muffins within an outer</a:t>
            </a:r>
          </a:p>
        </p:txBody>
      </p:sp>
      <p:sp>
        <p:nvSpPr>
          <p:cNvPr id="59" name="TextBox 58"/>
          <p:cNvSpPr txBox="1"/>
          <p:nvPr/>
        </p:nvSpPr>
        <p:spPr>
          <a:xfrm>
            <a:off x="485775" y="4397077"/>
            <a:ext cx="2144414" cy="186689"/>
          </a:xfrm>
          <a:prstGeom prst="rect">
            <a:avLst/>
          </a:prstGeom>
          <a:noFill/>
        </p:spPr>
        <p:txBody>
          <a:bodyPr wrap="none" lIns="0" rIns="0" tIns="0" bIns="0">
            <a:spAutoFit/>
          </a:bodyPr>
          <a:lstStyle/>
          <a:p>
            <a:r>
              <a:rPr sz="1100" b="0">
                <a:solidFill>
                  <a:srgbClr val="2E2E2E"/>
                </a:solidFill>
                <a:latin typeface="Calibri"/>
              </a:rPr>
              <a:t>pack' holds the largest share in 2026</a:t>
            </a:r>
          </a:p>
        </p:txBody>
      </p:sp>
      <p:pic>
        <p:nvPicPr>
          <p:cNvPr id="60" name="Picture 59" descr="lock.png"/>
          <p:cNvPicPr>
            <a:picLocks noChangeAspect="1"/>
          </p:cNvPicPr>
          <p:nvPr/>
        </p:nvPicPr>
        <p:blipFill>
          <a:blip r:embed="rId10"/>
          <a:stretch>
            <a:fillRect/>
          </a:stretch>
        </p:blipFill>
        <p:spPr>
          <a:xfrm>
            <a:off x="2578241" y="4387298"/>
            <a:ext cx="128699" cy="187198"/>
          </a:xfrm>
          <a:prstGeom prst="rect">
            <a:avLst/>
          </a:prstGeom>
        </p:spPr>
      </p:pic>
      <p:sp>
        <p:nvSpPr>
          <p:cNvPr id="61" name="TextBox 60"/>
          <p:cNvSpPr txBox="1"/>
          <p:nvPr/>
        </p:nvSpPr>
        <p:spPr>
          <a:xfrm>
            <a:off x="2745737" y="439707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62" name="TextBox 61"/>
          <p:cNvSpPr txBox="1"/>
          <p:nvPr/>
        </p:nvSpPr>
        <p:spPr>
          <a:xfrm>
            <a:off x="485775" y="456471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63" name="TextBox 62"/>
          <p:cNvSpPr txBox="1"/>
          <p:nvPr/>
        </p:nvSpPr>
        <p:spPr>
          <a:xfrm>
            <a:off x="485775" y="4782649"/>
            <a:ext cx="2743324" cy="186689"/>
          </a:xfrm>
          <a:prstGeom prst="rect">
            <a:avLst/>
          </a:prstGeom>
          <a:noFill/>
        </p:spPr>
        <p:txBody>
          <a:bodyPr wrap="none" lIns="0" rIns="0" tIns="0" bIns="0">
            <a:spAutoFit/>
          </a:bodyPr>
          <a:lstStyle/>
          <a:p>
            <a:r>
              <a:rPr sz="1100" b="0">
                <a:solidFill>
                  <a:srgbClr val="2E2E2E"/>
                </a:solidFill>
                <a:latin typeface="Calibri"/>
              </a:rPr>
              <a:t>▪ 'Individually wrapped muffins within an outer</a:t>
            </a:r>
          </a:p>
        </p:txBody>
      </p:sp>
      <p:sp>
        <p:nvSpPr>
          <p:cNvPr id="64" name="TextBox 63"/>
          <p:cNvSpPr txBox="1"/>
          <p:nvPr/>
        </p:nvSpPr>
        <p:spPr>
          <a:xfrm>
            <a:off x="485775" y="4950289"/>
            <a:ext cx="2538685" cy="186689"/>
          </a:xfrm>
          <a:prstGeom prst="rect">
            <a:avLst/>
          </a:prstGeom>
          <a:noFill/>
        </p:spPr>
        <p:txBody>
          <a:bodyPr wrap="none" lIns="0" rIns="0" tIns="0" bIns="0">
            <a:spAutoFit/>
          </a:bodyPr>
          <a:lstStyle/>
          <a:p>
            <a:r>
              <a:rPr sz="1100" b="0">
                <a:solidFill>
                  <a:srgbClr val="2E2E2E"/>
                </a:solidFill>
                <a:latin typeface="Calibri"/>
              </a:rPr>
              <a:t>pack' is the fastest-growing sub-segment at</a:t>
            </a:r>
          </a:p>
        </p:txBody>
      </p:sp>
      <p:pic>
        <p:nvPicPr>
          <p:cNvPr id="65" name="Picture 64" descr="lock.png"/>
          <p:cNvPicPr>
            <a:picLocks noChangeAspect="1"/>
          </p:cNvPicPr>
          <p:nvPr/>
        </p:nvPicPr>
        <p:blipFill>
          <a:blip r:embed="rId10"/>
          <a:stretch>
            <a:fillRect/>
          </a:stretch>
        </p:blipFill>
        <p:spPr>
          <a:xfrm>
            <a:off x="2972511" y="4940509"/>
            <a:ext cx="128699" cy="187198"/>
          </a:xfrm>
          <a:prstGeom prst="rect">
            <a:avLst/>
          </a:prstGeom>
        </p:spPr>
      </p:pic>
      <p:sp>
        <p:nvSpPr>
          <p:cNvPr id="66" name="TextBox 65"/>
          <p:cNvSpPr txBox="1"/>
          <p:nvPr/>
        </p:nvSpPr>
        <p:spPr>
          <a:xfrm>
            <a:off x="485775" y="511792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7" name="TextBox 66"/>
          <p:cNvSpPr txBox="1"/>
          <p:nvPr/>
        </p:nvSpPr>
        <p:spPr>
          <a:xfrm>
            <a:off x="485775" y="533586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8" name="Picture 67" descr="lock.png"/>
          <p:cNvPicPr>
            <a:picLocks noChangeAspect="1"/>
          </p:cNvPicPr>
          <p:nvPr/>
        </p:nvPicPr>
        <p:blipFill>
          <a:blip r:embed="rId10"/>
          <a:stretch>
            <a:fillRect/>
          </a:stretch>
        </p:blipFill>
        <p:spPr>
          <a:xfrm>
            <a:off x="2240451" y="5326081"/>
            <a:ext cx="128699" cy="187198"/>
          </a:xfrm>
          <a:prstGeom prst="rect">
            <a:avLst/>
          </a:prstGeom>
        </p:spPr>
      </p:pic>
      <p:sp>
        <p:nvSpPr>
          <p:cNvPr id="69" name="TextBox 68"/>
          <p:cNvSpPr txBox="1"/>
          <p:nvPr/>
        </p:nvSpPr>
        <p:spPr>
          <a:xfrm>
            <a:off x="2407947" y="533586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0" name="Picture 69" descr="lock.png"/>
          <p:cNvPicPr>
            <a:picLocks noChangeAspect="1"/>
          </p:cNvPicPr>
          <p:nvPr/>
        </p:nvPicPr>
        <p:blipFill>
          <a:blip r:embed="rId10"/>
          <a:stretch>
            <a:fillRect/>
          </a:stretch>
        </p:blipFill>
        <p:spPr>
          <a:xfrm>
            <a:off x="2552799" y="5326081"/>
            <a:ext cx="128699" cy="187198"/>
          </a:xfrm>
          <a:prstGeom prst="rect">
            <a:avLst/>
          </a:prstGeom>
        </p:spPr>
      </p:pic>
      <p:sp>
        <p:nvSpPr>
          <p:cNvPr id="71" name="TextBox 70"/>
          <p:cNvSpPr txBox="1"/>
          <p:nvPr/>
        </p:nvSpPr>
        <p:spPr>
          <a:xfrm>
            <a:off x="2720294" y="533586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2" name="TextBox 71"/>
          <p:cNvSpPr txBox="1"/>
          <p:nvPr/>
        </p:nvSpPr>
        <p:spPr>
          <a:xfrm>
            <a:off x="485775" y="550350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3" name="TextBox 72"/>
          <p:cNvSpPr txBox="1"/>
          <p:nvPr/>
        </p:nvSpPr>
        <p:spPr>
          <a:xfrm>
            <a:off x="485775" y="5721433"/>
            <a:ext cx="2914650" cy="186689"/>
          </a:xfrm>
          <a:prstGeom prst="rect">
            <a:avLst/>
          </a:prstGeom>
          <a:noFill/>
        </p:spPr>
        <p:txBody>
          <a:bodyPr wrap="none" lIns="0" rIns="0" tIns="0" bIns="0">
            <a:spAutoFit/>
          </a:bodyPr>
          <a:lstStyle/>
          <a:p>
            <a:r>
              <a:rPr sz="1100" b="0">
                <a:solidFill>
                  <a:srgbClr val="2E2E2E"/>
                </a:solidFill>
                <a:latin typeface="Calibri"/>
              </a:rPr>
              <a:t>▪ 2 sub-segments make up the multipack wrapping</a:t>
            </a:r>
          </a:p>
        </p:txBody>
      </p:sp>
      <p:sp>
        <p:nvSpPr>
          <p:cNvPr id="74" name="TextBox 73"/>
          <p:cNvSpPr txBox="1"/>
          <p:nvPr/>
        </p:nvSpPr>
        <p:spPr>
          <a:xfrm>
            <a:off x="485775" y="588907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5" name="TextBox 74"/>
          <p:cNvSpPr txBox="1"/>
          <p:nvPr/>
        </p:nvSpPr>
        <p:spPr>
          <a:xfrm>
            <a:off x="3838575" y="4229437"/>
            <a:ext cx="3161605" cy="186689"/>
          </a:xfrm>
          <a:prstGeom prst="rect">
            <a:avLst/>
          </a:prstGeom>
          <a:noFill/>
        </p:spPr>
        <p:txBody>
          <a:bodyPr wrap="none" lIns="0" rIns="0" tIns="0" bIns="0">
            <a:spAutoFit/>
          </a:bodyPr>
          <a:lstStyle/>
          <a:p>
            <a:r>
              <a:rPr sz="1100" b="1">
                <a:solidFill>
                  <a:srgbClr val="0B2E4A"/>
                </a:solidFill>
                <a:latin typeface="Calibri"/>
              </a:rPr>
              <a:t>● Individually wrapped muffins within an outer pack:</a:t>
            </a:r>
          </a:p>
        </p:txBody>
      </p:sp>
      <p:pic>
        <p:nvPicPr>
          <p:cNvPr id="76" name="Picture 75" descr="lock.png"/>
          <p:cNvPicPr>
            <a:picLocks noChangeAspect="1"/>
          </p:cNvPicPr>
          <p:nvPr/>
        </p:nvPicPr>
        <p:blipFill>
          <a:blip r:embed="rId10"/>
          <a:stretch>
            <a:fillRect/>
          </a:stretch>
        </p:blipFill>
        <p:spPr>
          <a:xfrm>
            <a:off x="6948232" y="4219658"/>
            <a:ext cx="128699" cy="187198"/>
          </a:xfrm>
          <a:prstGeom prst="rect">
            <a:avLst/>
          </a:prstGeom>
        </p:spPr>
      </p:pic>
      <p:sp>
        <p:nvSpPr>
          <p:cNvPr id="77" name="TextBox 76"/>
          <p:cNvSpPr txBox="1"/>
          <p:nvPr/>
        </p:nvSpPr>
        <p:spPr>
          <a:xfrm>
            <a:off x="7115727" y="4229437"/>
            <a:ext cx="510852" cy="186689"/>
          </a:xfrm>
          <a:prstGeom prst="rect">
            <a:avLst/>
          </a:prstGeom>
          <a:noFill/>
        </p:spPr>
        <p:txBody>
          <a:bodyPr wrap="none" lIns="0" rIns="0" tIns="0" bIns="0">
            <a:spAutoFit/>
          </a:bodyPr>
          <a:lstStyle/>
          <a:p>
            <a:r>
              <a:rPr sz="1100" b="1">
                <a:solidFill>
                  <a:srgbClr val="0B2E4A"/>
                </a:solidFill>
                <a:latin typeface="Calibri"/>
              </a:rPr>
              <a:t>of 2026</a:t>
            </a:r>
          </a:p>
        </p:txBody>
      </p:sp>
      <p:sp>
        <p:nvSpPr>
          <p:cNvPr id="78" name="TextBox 77"/>
          <p:cNvSpPr txBox="1"/>
          <p:nvPr/>
        </p:nvSpPr>
        <p:spPr>
          <a:xfrm>
            <a:off x="3838575" y="4397077"/>
            <a:ext cx="460102" cy="186689"/>
          </a:xfrm>
          <a:prstGeom prst="rect">
            <a:avLst/>
          </a:prstGeom>
          <a:noFill/>
        </p:spPr>
        <p:txBody>
          <a:bodyPr wrap="none" lIns="0" rIns="0" tIns="0" bIns="0">
            <a:spAutoFit/>
          </a:bodyPr>
          <a:lstStyle/>
          <a:p>
            <a:r>
              <a:rPr sz="1100" b="1">
                <a:solidFill>
                  <a:srgbClr val="0B2E4A"/>
                </a:solidFill>
                <a:latin typeface="Calibri"/>
              </a:rPr>
              <a:t>value ·</a:t>
            </a:r>
          </a:p>
        </p:txBody>
      </p:sp>
      <p:pic>
        <p:nvPicPr>
          <p:cNvPr id="79" name="Picture 78" descr="lock.png"/>
          <p:cNvPicPr>
            <a:picLocks noChangeAspect="1"/>
          </p:cNvPicPr>
          <p:nvPr/>
        </p:nvPicPr>
        <p:blipFill>
          <a:blip r:embed="rId10"/>
          <a:stretch>
            <a:fillRect/>
          </a:stretch>
        </p:blipFill>
        <p:spPr>
          <a:xfrm>
            <a:off x="4246728" y="4387298"/>
            <a:ext cx="128699" cy="187198"/>
          </a:xfrm>
          <a:prstGeom prst="rect">
            <a:avLst/>
          </a:prstGeom>
        </p:spPr>
      </p:pic>
      <p:sp>
        <p:nvSpPr>
          <p:cNvPr id="80" name="TextBox 79"/>
          <p:cNvSpPr txBox="1"/>
          <p:nvPr/>
        </p:nvSpPr>
        <p:spPr>
          <a:xfrm>
            <a:off x="4414224" y="4397077"/>
            <a:ext cx="1533201" cy="186689"/>
          </a:xfrm>
          <a:prstGeom prst="rect">
            <a:avLst/>
          </a:prstGeom>
          <a:noFill/>
        </p:spPr>
        <p:txBody>
          <a:bodyPr wrap="none" lIns="0" rIns="0" tIns="0" bIns="0">
            <a:spAutoFit/>
          </a:bodyPr>
          <a:lstStyle/>
          <a:p>
            <a:r>
              <a:rPr sz="1100" b="1">
                <a:solidFill>
                  <a:srgbClr val="0B2E4A"/>
                </a:solidFill>
                <a:latin typeface="Calibri"/>
              </a:rPr>
              <a:t>CAGR leads the segment.</a:t>
            </a:r>
          </a:p>
        </p:txBody>
      </p:sp>
      <p:sp>
        <p:nvSpPr>
          <p:cNvPr id="81" name="TextBox 80"/>
          <p:cNvSpPr txBox="1"/>
          <p:nvPr/>
        </p:nvSpPr>
        <p:spPr>
          <a:xfrm>
            <a:off x="3838575" y="4615009"/>
            <a:ext cx="2547689" cy="186689"/>
          </a:xfrm>
          <a:prstGeom prst="rect">
            <a:avLst/>
          </a:prstGeom>
          <a:noFill/>
        </p:spPr>
        <p:txBody>
          <a:bodyPr wrap="none" lIns="0" rIns="0" tIns="0" bIns="0">
            <a:spAutoFit/>
          </a:bodyPr>
          <a:lstStyle/>
          <a:p>
            <a:r>
              <a:rPr sz="1100" b="0">
                <a:solidFill>
                  <a:srgbClr val="2E2E2E"/>
                </a:solidFill>
                <a:latin typeface="Calibri"/>
              </a:rPr>
              <a:t>● Shared pack without individual wrapping:</a:t>
            </a:r>
          </a:p>
        </p:txBody>
      </p:sp>
      <p:pic>
        <p:nvPicPr>
          <p:cNvPr id="82" name="Picture 81" descr="lock.png"/>
          <p:cNvPicPr>
            <a:picLocks noChangeAspect="1"/>
          </p:cNvPicPr>
          <p:nvPr/>
        </p:nvPicPr>
        <p:blipFill>
          <a:blip r:embed="rId10"/>
          <a:stretch>
            <a:fillRect/>
          </a:stretch>
        </p:blipFill>
        <p:spPr>
          <a:xfrm>
            <a:off x="6334316" y="4605230"/>
            <a:ext cx="128699" cy="187198"/>
          </a:xfrm>
          <a:prstGeom prst="rect">
            <a:avLst/>
          </a:prstGeom>
        </p:spPr>
      </p:pic>
      <p:sp>
        <p:nvSpPr>
          <p:cNvPr id="83" name="TextBox 82"/>
          <p:cNvSpPr txBox="1"/>
          <p:nvPr/>
        </p:nvSpPr>
        <p:spPr>
          <a:xfrm>
            <a:off x="6501811"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7361262" y="4605230"/>
            <a:ext cx="128699" cy="187198"/>
          </a:xfrm>
          <a:prstGeom prst="rect">
            <a:avLst/>
          </a:prstGeom>
        </p:spPr>
      </p:pic>
      <p:sp>
        <p:nvSpPr>
          <p:cNvPr id="85" name="TextBox 84"/>
          <p:cNvSpPr txBox="1"/>
          <p:nvPr/>
        </p:nvSpPr>
        <p:spPr>
          <a:xfrm>
            <a:off x="3838575" y="478264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6" name="TextBox 85"/>
          <p:cNvSpPr txBox="1"/>
          <p:nvPr/>
        </p:nvSpPr>
        <p:spPr>
          <a:xfrm>
            <a:off x="8524875" y="5842641"/>
            <a:ext cx="3036850" cy="194310"/>
          </a:xfrm>
          <a:prstGeom prst="rect">
            <a:avLst/>
          </a:prstGeom>
          <a:noFill/>
        </p:spPr>
        <p:txBody>
          <a:bodyPr wrap="none" lIns="0" rIns="0" tIns="0" bIns="0">
            <a:spAutoFit/>
          </a:bodyPr>
          <a:lstStyle/>
          <a:p>
            <a:r>
              <a:rPr sz="1150" b="1">
                <a:solidFill>
                  <a:srgbClr val="0B2E4A"/>
                </a:solidFill>
                <a:latin typeface="Calibri"/>
              </a:rPr>
              <a:t>The Multipack Wrapping segment is projected to</a:t>
            </a:r>
          </a:p>
        </p:txBody>
      </p:sp>
      <p:sp>
        <p:nvSpPr>
          <p:cNvPr id="87" name="TextBox 8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88" name="Picture 87" descr="lock.png"/>
          <p:cNvPicPr>
            <a:picLocks noChangeAspect="1"/>
          </p:cNvPicPr>
          <p:nvPr/>
        </p:nvPicPr>
        <p:blipFill>
          <a:blip r:embed="rId10"/>
          <a:stretch>
            <a:fillRect/>
          </a:stretch>
        </p:blipFill>
        <p:spPr>
          <a:xfrm>
            <a:off x="9651852" y="6007677"/>
            <a:ext cx="134549" cy="195707"/>
          </a:xfrm>
          <a:prstGeom prst="rect">
            <a:avLst/>
          </a:prstGeom>
        </p:spPr>
      </p:pic>
      <p:sp>
        <p:nvSpPr>
          <p:cNvPr id="89" name="TextBox 8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Multipack Wrapping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Multipack Wrapping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Multipack Wrapping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Multipack Wrapping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7451650" cy="186689"/>
          </a:xfrm>
          <a:prstGeom prst="rect">
            <a:avLst/>
          </a:prstGeom>
          <a:noFill/>
        </p:spPr>
        <p:txBody>
          <a:bodyPr wrap="none" lIns="0" rIns="0" tIns="0" bIns="0">
            <a:spAutoFit/>
          </a:bodyPr>
          <a:lstStyle/>
          <a:p>
            <a:r>
              <a:rPr sz="1100" b="0">
                <a:solidFill>
                  <a:srgbClr val="2E2E2E"/>
                </a:solidFill>
                <a:latin typeface="Calibri"/>
              </a:rPr>
              <a:t>Between 2026 and 2036, 'Individually wrapped muffins within an outer pack' gains the most share in the North America market (+</a:t>
            </a:r>
          </a:p>
        </p:txBody>
      </p:sp>
      <p:pic>
        <p:nvPicPr>
          <p:cNvPr id="21" name="Picture 20" descr="lock.png"/>
          <p:cNvPicPr>
            <a:picLocks noChangeAspect="1"/>
          </p:cNvPicPr>
          <p:nvPr/>
        </p:nvPicPr>
        <p:blipFill>
          <a:blip r:embed="rId6"/>
          <a:stretch>
            <a:fillRect/>
          </a:stretch>
        </p:blipFill>
        <p:spPr>
          <a:xfrm>
            <a:off x="7656877" y="5851905"/>
            <a:ext cx="128699" cy="187198"/>
          </a:xfrm>
          <a:prstGeom prst="rect">
            <a:avLst/>
          </a:prstGeom>
        </p:spPr>
      </p:pic>
      <p:sp>
        <p:nvSpPr>
          <p:cNvPr id="22" name="TextBox 21"/>
          <p:cNvSpPr txBox="1"/>
          <p:nvPr/>
        </p:nvSpPr>
        <p:spPr>
          <a:xfrm>
            <a:off x="7824373" y="5861685"/>
            <a:ext cx="3439368" cy="186689"/>
          </a:xfrm>
          <a:prstGeom prst="rect">
            <a:avLst/>
          </a:prstGeom>
          <a:noFill/>
        </p:spPr>
        <p:txBody>
          <a:bodyPr wrap="none" lIns="0" rIns="0" tIns="0" bIns="0">
            <a:spAutoFit/>
          </a:bodyPr>
          <a:lstStyle/>
          <a:p>
            <a:r>
              <a:rPr sz="1100" b="0">
                <a:solidFill>
                  <a:srgbClr val="2E2E2E"/>
                </a:solidFill>
                <a:latin typeface="Calibri"/>
              </a:rPr>
              <a:t>BPS) while 'Shared pack without individual wrapping' cedes</a:t>
            </a:r>
          </a:p>
        </p:txBody>
      </p:sp>
      <p:pic>
        <p:nvPicPr>
          <p:cNvPr id="23" name="Picture 22" descr="lock.png"/>
          <p:cNvPicPr>
            <a:picLocks noChangeAspect="1"/>
          </p:cNvPicPr>
          <p:nvPr/>
        </p:nvPicPr>
        <p:blipFill>
          <a:blip r:embed="rId6"/>
          <a:stretch>
            <a:fillRect/>
          </a:stretch>
        </p:blipFill>
        <p:spPr>
          <a:xfrm>
            <a:off x="11211792" y="5851905"/>
            <a:ext cx="128699" cy="187198"/>
          </a:xfrm>
          <a:prstGeom prst="rect">
            <a:avLst/>
          </a:prstGeom>
        </p:spPr>
      </p:pic>
      <p:sp>
        <p:nvSpPr>
          <p:cNvPr id="24" name="TextBox 23"/>
          <p:cNvSpPr txBox="1"/>
          <p:nvPr/>
        </p:nvSpPr>
        <p:spPr>
          <a:xfrm>
            <a:off x="11379288" y="5861685"/>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25" name="TextBox 24"/>
          <p:cNvSpPr txBox="1"/>
          <p:nvPr/>
        </p:nvSpPr>
        <p:spPr>
          <a:xfrm>
            <a:off x="257175" y="6029325"/>
            <a:ext cx="4376869" cy="186689"/>
          </a:xfrm>
          <a:prstGeom prst="rect">
            <a:avLst/>
          </a:prstGeom>
          <a:noFill/>
        </p:spPr>
        <p:txBody>
          <a:bodyPr wrap="none" lIns="0" rIns="0" tIns="0" bIns="0">
            <a:spAutoFit/>
          </a:bodyPr>
          <a:lstStyle/>
          <a:p>
            <a:r>
              <a:rPr sz="1100" b="0">
                <a:solidFill>
                  <a:srgbClr val="2E2E2E"/>
                </a:solidFill>
                <a:latin typeface="Calibri"/>
              </a:rPr>
              <a:t>Bubbles right of the CAGR-Index line grow 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Multipack Wrapping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Individually wrapped muffins within an outer pack</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Shared pack without individual wrapping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Multipack Wrapping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Multipack Wrapping,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038350"/>
          </a:xfrm>
          <a:prstGeom prst="roundRect">
            <a:avLst>
              <a:gd name="adj" fmla="val 37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Multipack Wrapping (MT)</a:t>
            </a:r>
          </a:p>
        </p:txBody>
      </p:sp>
      <p:graphicFrame>
        <p:nvGraphicFramePr>
          <p:cNvPr id="13" name="Table 12"/>
          <p:cNvGraphicFramePr>
            <a:graphicFrameLocks noGrp="1"/>
          </p:cNvGraphicFramePr>
          <p:nvPr/>
        </p:nvGraphicFramePr>
        <p:xfrm>
          <a:off x="152400" y="1238250"/>
          <a:ext cx="11887208" cy="1571623"/>
        </p:xfrm>
        <a:graphic>
          <a:graphicData uri="http://schemas.openxmlformats.org/drawingml/2006/table">
            <a:tbl>
              <a:tblPr>
                <a:tableStyleId>{5C22544A-7EE6-4342-B048-85BDC9FD1C3A}</a:tableStyleId>
              </a:tblPr>
              <a:tblGrid>
                <a:gridCol w="2012457"/>
                <a:gridCol w="530662"/>
                <a:gridCol w="530662"/>
                <a:gridCol w="530662"/>
                <a:gridCol w="530662"/>
                <a:gridCol w="530662"/>
                <a:gridCol w="530662"/>
                <a:gridCol w="530662"/>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Multipack Wrapping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41832">
                <a:tc>
                  <a:txBody>
                    <a:bodyPr wrap="none"/>
                    <a:lstStyle/>
                    <a:p>
                      <a:pPr algn="l"/>
                      <a:r>
                        <a:rPr sz="1100" b="1">
                          <a:solidFill>
                            <a:srgbClr val="2E2E2E"/>
                          </a:solidFill>
                          <a:latin typeface="Calibri"/>
                        </a:rPr>
                        <a:t>Individually wrapped muffins</a:t>
                      </a:r>
                      <a:endParaRPr sz="1100"/>
                    </a:p>
                    <a:p>
                      <a:pPr algn="l"/>
                      <a:r>
                        <a:rPr sz="1100" b="1">
                          <a:solidFill>
                            <a:srgbClr val="2E2E2E"/>
                          </a:solidFill>
                          <a:latin typeface="Calibri"/>
                        </a:rPr>
                        <a:t>within an outer pack</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1832">
                <a:tc>
                  <a:txBody>
                    <a:bodyPr wrap="none"/>
                    <a:lstStyle/>
                    <a:p>
                      <a:pPr algn="l"/>
                      <a:r>
                        <a:rPr sz="1100" b="1">
                          <a:solidFill>
                            <a:srgbClr val="2E2E2E"/>
                          </a:solidFill>
                          <a:latin typeface="Calibri"/>
                        </a:rPr>
                        <a:t>Shared pack without individual</a:t>
                      </a:r>
                      <a:endParaRPr sz="1100"/>
                    </a:p>
                    <a:p>
                      <a:pPr algn="l"/>
                      <a:r>
                        <a:rPr sz="1100" b="1">
                          <a:solidFill>
                            <a:srgbClr val="2E2E2E"/>
                          </a:solidFill>
                          <a:latin typeface="Calibri"/>
                        </a:rPr>
                        <a:t>wrapping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904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19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152775"/>
            <a:ext cx="11906250" cy="3476625"/>
          </a:xfrm>
          <a:prstGeom prst="roundRect">
            <a:avLst>
              <a:gd name="adj" fmla="val 219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38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Multipack Wrapping</a:t>
            </a:r>
          </a:p>
        </p:txBody>
      </p:sp>
      <p:sp>
        <p:nvSpPr>
          <p:cNvPr id="17" name="Rectangle 16"/>
          <p:cNvSpPr/>
          <p:nvPr/>
        </p:nvSpPr>
        <p:spPr>
          <a:xfrm>
            <a:off x="276225" y="3476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62350"/>
            <a:ext cx="11639550" cy="2990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15542" y="1976818"/>
            <a:ext cx="366712" cy="533400"/>
          </a:xfrm>
          <a:prstGeom prst="rect">
            <a:avLst/>
          </a:prstGeom>
        </p:spPr>
      </p:pic>
      <p:sp>
        <p:nvSpPr>
          <p:cNvPr id="21" name="TextBox 20"/>
          <p:cNvSpPr txBox="1"/>
          <p:nvPr/>
        </p:nvSpPr>
        <p:spPr>
          <a:xfrm>
            <a:off x="276225" y="3571875"/>
            <a:ext cx="4800575" cy="194310"/>
          </a:xfrm>
          <a:prstGeom prst="rect">
            <a:avLst/>
          </a:prstGeom>
          <a:noFill/>
        </p:spPr>
        <p:txBody>
          <a:bodyPr wrap="none" lIns="0" rIns="0" tIns="0" bIns="0">
            <a:spAutoFit/>
          </a:bodyPr>
          <a:lstStyle/>
          <a:p>
            <a:r>
              <a:rPr sz="1150" b="0">
                <a:solidFill>
                  <a:srgbClr val="2E2E2E"/>
                </a:solidFill>
                <a:latin typeface="Calibri"/>
              </a:rPr>
              <a:t>▪ 'Shared pack without individual wrapping' is the largest multipack wrapping at</a:t>
            </a:r>
          </a:p>
        </p:txBody>
      </p:sp>
      <p:pic>
        <p:nvPicPr>
          <p:cNvPr id="22" name="Picture 21" descr="lock.png"/>
          <p:cNvPicPr>
            <a:picLocks noChangeAspect="1"/>
          </p:cNvPicPr>
          <p:nvPr/>
        </p:nvPicPr>
        <p:blipFill>
          <a:blip r:embed="rId4"/>
          <a:stretch>
            <a:fillRect/>
          </a:stretch>
        </p:blipFill>
        <p:spPr>
          <a:xfrm>
            <a:off x="5025954" y="3561651"/>
            <a:ext cx="134549" cy="195707"/>
          </a:xfrm>
          <a:prstGeom prst="rect">
            <a:avLst/>
          </a:prstGeom>
        </p:spPr>
      </p:pic>
      <p:sp>
        <p:nvSpPr>
          <p:cNvPr id="23" name="TextBox 22"/>
          <p:cNvSpPr txBox="1"/>
          <p:nvPr/>
        </p:nvSpPr>
        <p:spPr>
          <a:xfrm>
            <a:off x="5201063" y="357187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6230796" y="3561651"/>
            <a:ext cx="134549" cy="195707"/>
          </a:xfrm>
          <a:prstGeom prst="rect">
            <a:avLst/>
          </a:prstGeom>
        </p:spPr>
      </p:pic>
      <p:sp>
        <p:nvSpPr>
          <p:cNvPr id="25" name="TextBox 24"/>
          <p:cNvSpPr txBox="1"/>
          <p:nvPr/>
        </p:nvSpPr>
        <p:spPr>
          <a:xfrm>
            <a:off x="6405905" y="357187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799712"/>
            <a:ext cx="4028678"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grows fastest</a:t>
            </a:r>
          </a:p>
        </p:txBody>
      </p:sp>
      <p:pic>
        <p:nvPicPr>
          <p:cNvPr id="27" name="Picture 26" descr="lock.png"/>
          <p:cNvPicPr>
            <a:picLocks noChangeAspect="1"/>
          </p:cNvPicPr>
          <p:nvPr/>
        </p:nvPicPr>
        <p:blipFill>
          <a:blip r:embed="rId4"/>
          <a:stretch>
            <a:fillRect/>
          </a:stretch>
        </p:blipFill>
        <p:spPr>
          <a:xfrm>
            <a:off x="4254057" y="3789489"/>
            <a:ext cx="134549" cy="195707"/>
          </a:xfrm>
          <a:prstGeom prst="rect">
            <a:avLst/>
          </a:prstGeom>
        </p:spPr>
      </p:pic>
      <p:sp>
        <p:nvSpPr>
          <p:cNvPr id="28" name="TextBox 27"/>
          <p:cNvSpPr txBox="1"/>
          <p:nvPr/>
        </p:nvSpPr>
        <p:spPr>
          <a:xfrm>
            <a:off x="4429166" y="3799712"/>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027550"/>
            <a:ext cx="4537856" cy="194310"/>
          </a:xfrm>
          <a:prstGeom prst="rect">
            <a:avLst/>
          </a:prstGeom>
          <a:noFill/>
        </p:spPr>
        <p:txBody>
          <a:bodyPr wrap="none" lIns="0" rIns="0" tIns="0" bIns="0">
            <a:spAutoFit/>
          </a:bodyPr>
          <a:lstStyle/>
          <a:p>
            <a:r>
              <a:rPr sz="1150" b="0">
                <a:solidFill>
                  <a:srgbClr val="2E2E2E"/>
                </a:solidFill>
                <a:latin typeface="Calibri"/>
              </a:rPr>
              <a:t>▪ Share shifts toward 'Individually wrapped muffins within an outer pack' (+</a:t>
            </a:r>
          </a:p>
        </p:txBody>
      </p:sp>
      <p:pic>
        <p:nvPicPr>
          <p:cNvPr id="30" name="Picture 29" descr="lock.png"/>
          <p:cNvPicPr>
            <a:picLocks noChangeAspect="1"/>
          </p:cNvPicPr>
          <p:nvPr/>
        </p:nvPicPr>
        <p:blipFill>
          <a:blip r:embed="rId4"/>
          <a:stretch>
            <a:fillRect/>
          </a:stretch>
        </p:blipFill>
        <p:spPr>
          <a:xfrm>
            <a:off x="4763235" y="4017327"/>
            <a:ext cx="134549" cy="195707"/>
          </a:xfrm>
          <a:prstGeom prst="rect">
            <a:avLst/>
          </a:prstGeom>
        </p:spPr>
      </p:pic>
      <p:sp>
        <p:nvSpPr>
          <p:cNvPr id="31" name="TextBox 30"/>
          <p:cNvSpPr txBox="1"/>
          <p:nvPr/>
        </p:nvSpPr>
        <p:spPr>
          <a:xfrm>
            <a:off x="4938344" y="4027550"/>
            <a:ext cx="3908015" cy="194310"/>
          </a:xfrm>
          <a:prstGeom prst="rect">
            <a:avLst/>
          </a:prstGeom>
          <a:noFill/>
        </p:spPr>
        <p:txBody>
          <a:bodyPr wrap="none" lIns="0" rIns="0" tIns="0" bIns="0">
            <a:spAutoFit/>
          </a:bodyPr>
          <a:lstStyle/>
          <a:p>
            <a:r>
              <a:rPr sz="1150" b="0">
                <a:solidFill>
                  <a:srgbClr val="2E2E2E"/>
                </a:solidFill>
                <a:latin typeface="Calibri"/>
              </a:rPr>
              <a:t>BPS) and away from 'Shared pack without individual wrapping' (-</a:t>
            </a:r>
          </a:p>
        </p:txBody>
      </p:sp>
      <p:pic>
        <p:nvPicPr>
          <p:cNvPr id="32" name="Picture 31" descr="lock.png"/>
          <p:cNvPicPr>
            <a:picLocks noChangeAspect="1"/>
          </p:cNvPicPr>
          <p:nvPr/>
        </p:nvPicPr>
        <p:blipFill>
          <a:blip r:embed="rId4"/>
          <a:stretch>
            <a:fillRect/>
          </a:stretch>
        </p:blipFill>
        <p:spPr>
          <a:xfrm>
            <a:off x="8795514" y="4017327"/>
            <a:ext cx="134549" cy="195707"/>
          </a:xfrm>
          <a:prstGeom prst="rect">
            <a:avLst/>
          </a:prstGeom>
        </p:spPr>
      </p:pic>
      <p:sp>
        <p:nvSpPr>
          <p:cNvPr id="33" name="TextBox 32"/>
          <p:cNvSpPr txBox="1"/>
          <p:nvPr/>
        </p:nvSpPr>
        <p:spPr>
          <a:xfrm>
            <a:off x="8970623" y="40275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25538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245165"/>
            <a:ext cx="134549" cy="195707"/>
          </a:xfrm>
          <a:prstGeom prst="rect">
            <a:avLst/>
          </a:prstGeom>
        </p:spPr>
      </p:pic>
      <p:sp>
        <p:nvSpPr>
          <p:cNvPr id="36" name="TextBox 35"/>
          <p:cNvSpPr txBox="1"/>
          <p:nvPr/>
        </p:nvSpPr>
        <p:spPr>
          <a:xfrm>
            <a:off x="1965143" y="42553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245165"/>
            <a:ext cx="134549" cy="195707"/>
          </a:xfrm>
          <a:prstGeom prst="rect">
            <a:avLst/>
          </a:prstGeom>
        </p:spPr>
      </p:pic>
      <p:sp>
        <p:nvSpPr>
          <p:cNvPr id="38" name="TextBox 37"/>
          <p:cNvSpPr txBox="1"/>
          <p:nvPr/>
        </p:nvSpPr>
        <p:spPr>
          <a:xfrm>
            <a:off x="2291688" y="4255388"/>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Multipack Wrapping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Multipack Wrapping,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Multipack Wrapping (US$ Mn)</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3315725"/>
                <a:gridCol w="514876"/>
                <a:gridCol w="514876"/>
                <a:gridCol w="514876"/>
                <a:gridCol w="514876"/>
                <a:gridCol w="514876"/>
                <a:gridCol w="496739"/>
                <a:gridCol w="491557"/>
                <a:gridCol w="491557"/>
                <a:gridCol w="491557"/>
                <a:gridCol w="491557"/>
                <a:gridCol w="491557"/>
                <a:gridCol w="491557"/>
                <a:gridCol w="491557"/>
                <a:gridCol w="491557"/>
                <a:gridCol w="491557"/>
                <a:gridCol w="491557"/>
                <a:gridCol w="584792"/>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Multipack Wrapping</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570848" y="1595160"/>
            <a:ext cx="359497" cy="522905"/>
          </a:xfrm>
          <a:prstGeom prst="rect">
            <a:avLst/>
          </a:prstGeom>
        </p:spPr>
      </p:pic>
      <p:sp>
        <p:nvSpPr>
          <p:cNvPr id="21" name="TextBox 20"/>
          <p:cNvSpPr txBox="1"/>
          <p:nvPr/>
        </p:nvSpPr>
        <p:spPr>
          <a:xfrm>
            <a:off x="276225" y="2990850"/>
            <a:ext cx="5356535"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is the largest multipack wrapping at</a:t>
            </a:r>
          </a:p>
        </p:txBody>
      </p:sp>
      <p:pic>
        <p:nvPicPr>
          <p:cNvPr id="22" name="Picture 21" descr="lock.png"/>
          <p:cNvPicPr>
            <a:picLocks noChangeAspect="1"/>
          </p:cNvPicPr>
          <p:nvPr/>
        </p:nvPicPr>
        <p:blipFill>
          <a:blip r:embed="rId4"/>
          <a:stretch>
            <a:fillRect/>
          </a:stretch>
        </p:blipFill>
        <p:spPr>
          <a:xfrm>
            <a:off x="5581913" y="2980626"/>
            <a:ext cx="134549" cy="195707"/>
          </a:xfrm>
          <a:prstGeom prst="rect">
            <a:avLst/>
          </a:prstGeom>
        </p:spPr>
      </p:pic>
      <p:sp>
        <p:nvSpPr>
          <p:cNvPr id="23" name="TextBox 22"/>
          <p:cNvSpPr txBox="1"/>
          <p:nvPr/>
        </p:nvSpPr>
        <p:spPr>
          <a:xfrm>
            <a:off x="5757023"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6662956" y="2980626"/>
            <a:ext cx="134549" cy="195707"/>
          </a:xfrm>
          <a:prstGeom prst="rect">
            <a:avLst/>
          </a:prstGeom>
        </p:spPr>
      </p:pic>
      <p:sp>
        <p:nvSpPr>
          <p:cNvPr id="25" name="TextBox 24"/>
          <p:cNvSpPr txBox="1"/>
          <p:nvPr/>
        </p:nvSpPr>
        <p:spPr>
          <a:xfrm>
            <a:off x="6838065"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4028678"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grows fastest</a:t>
            </a:r>
          </a:p>
        </p:txBody>
      </p:sp>
      <p:pic>
        <p:nvPicPr>
          <p:cNvPr id="27" name="Picture 26" descr="lock.png"/>
          <p:cNvPicPr>
            <a:picLocks noChangeAspect="1"/>
          </p:cNvPicPr>
          <p:nvPr/>
        </p:nvPicPr>
        <p:blipFill>
          <a:blip r:embed="rId4"/>
          <a:stretch>
            <a:fillRect/>
          </a:stretch>
        </p:blipFill>
        <p:spPr>
          <a:xfrm>
            <a:off x="4254057" y="3208464"/>
            <a:ext cx="134549" cy="195707"/>
          </a:xfrm>
          <a:prstGeom prst="rect">
            <a:avLst/>
          </a:prstGeom>
        </p:spPr>
      </p:pic>
      <p:sp>
        <p:nvSpPr>
          <p:cNvPr id="28" name="TextBox 27"/>
          <p:cNvSpPr txBox="1"/>
          <p:nvPr/>
        </p:nvSpPr>
        <p:spPr>
          <a:xfrm>
            <a:off x="4429166"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4537856" cy="194310"/>
          </a:xfrm>
          <a:prstGeom prst="rect">
            <a:avLst/>
          </a:prstGeom>
          <a:noFill/>
        </p:spPr>
        <p:txBody>
          <a:bodyPr wrap="none" lIns="0" rIns="0" tIns="0" bIns="0">
            <a:spAutoFit/>
          </a:bodyPr>
          <a:lstStyle/>
          <a:p>
            <a:r>
              <a:rPr sz="1150" b="0">
                <a:solidFill>
                  <a:srgbClr val="2E2E2E"/>
                </a:solidFill>
                <a:latin typeface="Calibri"/>
              </a:rPr>
              <a:t>▪ Share shifts toward 'Individually wrapped muffins within an outer pack' (+</a:t>
            </a:r>
          </a:p>
        </p:txBody>
      </p:sp>
      <p:pic>
        <p:nvPicPr>
          <p:cNvPr id="30" name="Picture 29" descr="lock.png"/>
          <p:cNvPicPr>
            <a:picLocks noChangeAspect="1"/>
          </p:cNvPicPr>
          <p:nvPr/>
        </p:nvPicPr>
        <p:blipFill>
          <a:blip r:embed="rId4"/>
          <a:stretch>
            <a:fillRect/>
          </a:stretch>
        </p:blipFill>
        <p:spPr>
          <a:xfrm>
            <a:off x="4763235" y="3436302"/>
            <a:ext cx="134549" cy="195707"/>
          </a:xfrm>
          <a:prstGeom prst="rect">
            <a:avLst/>
          </a:prstGeom>
        </p:spPr>
      </p:pic>
      <p:sp>
        <p:nvSpPr>
          <p:cNvPr id="31" name="TextBox 30"/>
          <p:cNvSpPr txBox="1"/>
          <p:nvPr/>
        </p:nvSpPr>
        <p:spPr>
          <a:xfrm>
            <a:off x="4938344" y="3446525"/>
            <a:ext cx="3908015" cy="194310"/>
          </a:xfrm>
          <a:prstGeom prst="rect">
            <a:avLst/>
          </a:prstGeom>
          <a:noFill/>
        </p:spPr>
        <p:txBody>
          <a:bodyPr wrap="none" lIns="0" rIns="0" tIns="0" bIns="0">
            <a:spAutoFit/>
          </a:bodyPr>
          <a:lstStyle/>
          <a:p>
            <a:r>
              <a:rPr sz="1150" b="0">
                <a:solidFill>
                  <a:srgbClr val="2E2E2E"/>
                </a:solidFill>
                <a:latin typeface="Calibri"/>
              </a:rPr>
              <a:t>BPS) and away from 'Shared pack without individual wrapping' (-</a:t>
            </a:r>
          </a:p>
        </p:txBody>
      </p:sp>
      <p:pic>
        <p:nvPicPr>
          <p:cNvPr id="32" name="Picture 31" descr="lock.png"/>
          <p:cNvPicPr>
            <a:picLocks noChangeAspect="1"/>
          </p:cNvPicPr>
          <p:nvPr/>
        </p:nvPicPr>
        <p:blipFill>
          <a:blip r:embed="rId4"/>
          <a:stretch>
            <a:fillRect/>
          </a:stretch>
        </p:blipFill>
        <p:spPr>
          <a:xfrm>
            <a:off x="8795514" y="3436302"/>
            <a:ext cx="134549" cy="195707"/>
          </a:xfrm>
          <a:prstGeom prst="rect">
            <a:avLst/>
          </a:prstGeom>
        </p:spPr>
      </p:pic>
      <p:sp>
        <p:nvSpPr>
          <p:cNvPr id="33" name="TextBox 32"/>
          <p:cNvSpPr txBox="1"/>
          <p:nvPr/>
        </p:nvSpPr>
        <p:spPr>
          <a:xfrm>
            <a:off x="8970623"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Multipack Wrapping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Multipack Wrapping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8913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68437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60817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Shared pack without individual wrapping</a:t>
            </a:r>
          </a:p>
        </p:txBody>
      </p:sp>
      <p:sp>
        <p:nvSpPr>
          <p:cNvPr id="19" name="BPS Value 1"/>
          <p:cNvSpPr txBox="1"/>
          <p:nvPr/>
        </p:nvSpPr>
        <p:spPr>
          <a:xfrm>
            <a:off x="6896100" y="267008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9753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97056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943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Individually wrapped muffins within an outer pack</a:t>
            </a:r>
          </a:p>
        </p:txBody>
      </p:sp>
      <p:sp>
        <p:nvSpPr>
          <p:cNvPr id="23" name="BPS Value 2"/>
          <p:cNvSpPr txBox="1"/>
          <p:nvPr/>
        </p:nvSpPr>
        <p:spPr>
          <a:xfrm>
            <a:off x="6896100" y="495627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Multipack Wrapping</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57650"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gains the most</a:t>
            </a:r>
          </a:p>
        </p:txBody>
      </p:sp>
      <p:sp>
        <p:nvSpPr>
          <p:cNvPr id="31" name="TextBox 30"/>
          <p:cNvSpPr txBox="1"/>
          <p:nvPr/>
        </p:nvSpPr>
        <p:spPr>
          <a:xfrm>
            <a:off x="7829550" y="1575435"/>
            <a:ext cx="509500" cy="194310"/>
          </a:xfrm>
          <a:prstGeom prst="rect">
            <a:avLst/>
          </a:prstGeom>
          <a:noFill/>
        </p:spPr>
        <p:txBody>
          <a:bodyPr wrap="none" lIns="0" rIns="0" tIns="0" bIns="0">
            <a:spAutoFit/>
          </a:bodyPr>
          <a:lstStyle/>
          <a:p>
            <a:r>
              <a:rPr sz="1150" b="0">
                <a:solidFill>
                  <a:srgbClr val="2E2E2E"/>
                </a:solidFill>
                <a:latin typeface="Calibri"/>
              </a:rPr>
              <a:t>share +</a:t>
            </a:r>
          </a:p>
        </p:txBody>
      </p:sp>
      <p:pic>
        <p:nvPicPr>
          <p:cNvPr id="32" name="Picture 31" descr="lock.png"/>
          <p:cNvPicPr>
            <a:picLocks noChangeAspect="1"/>
          </p:cNvPicPr>
          <p:nvPr/>
        </p:nvPicPr>
        <p:blipFill>
          <a:blip r:embed="rId5"/>
          <a:stretch>
            <a:fillRect/>
          </a:stretch>
        </p:blipFill>
        <p:spPr>
          <a:xfrm>
            <a:off x="8288204" y="1565211"/>
            <a:ext cx="134549" cy="195707"/>
          </a:xfrm>
          <a:prstGeom prst="rect">
            <a:avLst/>
          </a:prstGeom>
        </p:spPr>
      </p:pic>
      <p:sp>
        <p:nvSpPr>
          <p:cNvPr id="33" name="TextBox 32"/>
          <p:cNvSpPr txBox="1"/>
          <p:nvPr/>
        </p:nvSpPr>
        <p:spPr>
          <a:xfrm>
            <a:off x="8463313" y="1575435"/>
            <a:ext cx="3126990"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3665549" cy="194310"/>
          </a:xfrm>
          <a:prstGeom prst="rect">
            <a:avLst/>
          </a:prstGeom>
          <a:noFill/>
        </p:spPr>
        <p:txBody>
          <a:bodyPr wrap="none" lIns="0" rIns="0" tIns="0" bIns="0">
            <a:spAutoFit/>
          </a:bodyPr>
          <a:lstStyle/>
          <a:p>
            <a:r>
              <a:rPr sz="1150" b="0">
                <a:solidFill>
                  <a:srgbClr val="2E2E2E"/>
                </a:solidFill>
                <a:latin typeface="Calibri"/>
              </a:rPr>
              <a:t>▪ 'Shared pack without individual wrapping' cedes the most -</a:t>
            </a:r>
          </a:p>
        </p:txBody>
      </p:sp>
      <p:pic>
        <p:nvPicPr>
          <p:cNvPr id="35" name="Picture 34" descr="lock.png"/>
          <p:cNvPicPr>
            <a:picLocks noChangeAspect="1"/>
          </p:cNvPicPr>
          <p:nvPr/>
        </p:nvPicPr>
        <p:blipFill>
          <a:blip r:embed="rId5"/>
          <a:stretch>
            <a:fillRect/>
          </a:stretch>
        </p:blipFill>
        <p:spPr>
          <a:xfrm>
            <a:off x="11444253" y="1793049"/>
            <a:ext cx="134549" cy="195707"/>
          </a:xfrm>
          <a:prstGeom prst="rect">
            <a:avLst/>
          </a:prstGeom>
        </p:spPr>
      </p:pic>
      <p:sp>
        <p:nvSpPr>
          <p:cNvPr id="36" name="TextBox 35"/>
          <p:cNvSpPr txBox="1"/>
          <p:nvPr/>
        </p:nvSpPr>
        <p:spPr>
          <a:xfrm>
            <a:off x="7829550" y="197853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37" name="TextBox 36"/>
          <p:cNvSpPr txBox="1"/>
          <p:nvPr/>
        </p:nvSpPr>
        <p:spPr>
          <a:xfrm>
            <a:off x="7829550" y="2206371"/>
            <a:ext cx="3560291"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is the</a:t>
            </a:r>
          </a:p>
        </p:txBody>
      </p:sp>
      <p:sp>
        <p:nvSpPr>
          <p:cNvPr id="38" name="TextBox 37"/>
          <p:cNvSpPr txBox="1"/>
          <p:nvPr/>
        </p:nvSpPr>
        <p:spPr>
          <a:xfrm>
            <a:off x="7829550" y="2381631"/>
            <a:ext cx="2361654" cy="194310"/>
          </a:xfrm>
          <a:prstGeom prst="rect">
            <a:avLst/>
          </a:prstGeom>
          <a:noFill/>
        </p:spPr>
        <p:txBody>
          <a:bodyPr wrap="none" lIns="0" rIns="0" tIns="0" bIns="0">
            <a:spAutoFit/>
          </a:bodyPr>
          <a:lstStyle/>
          <a:p>
            <a:r>
              <a:rPr sz="1150" b="0">
                <a:solidFill>
                  <a:srgbClr val="2E2E2E"/>
                </a:solidFill>
                <a:latin typeface="Calibri"/>
              </a:rPr>
              <a:t>fastest-growing multipack wrapping at</a:t>
            </a:r>
          </a:p>
        </p:txBody>
      </p:sp>
      <p:pic>
        <p:nvPicPr>
          <p:cNvPr id="39" name="Picture 38" descr="lock.png"/>
          <p:cNvPicPr>
            <a:picLocks noChangeAspect="1"/>
          </p:cNvPicPr>
          <p:nvPr/>
        </p:nvPicPr>
        <p:blipFill>
          <a:blip r:embed="rId5"/>
          <a:stretch>
            <a:fillRect/>
          </a:stretch>
        </p:blipFill>
        <p:spPr>
          <a:xfrm>
            <a:off x="10140358" y="2371407"/>
            <a:ext cx="134549" cy="195707"/>
          </a:xfrm>
          <a:prstGeom prst="rect">
            <a:avLst/>
          </a:prstGeom>
        </p:spPr>
      </p:pic>
      <p:sp>
        <p:nvSpPr>
          <p:cNvPr id="40" name="TextBox 39"/>
          <p:cNvSpPr txBox="1"/>
          <p:nvPr/>
        </p:nvSpPr>
        <p:spPr>
          <a:xfrm>
            <a:off x="10315467"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Multipack Wrapping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Multipack Wrapping,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Multipack Wrapping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Individually wrapped muffins within an outer pack</a:t>
            </a:r>
          </a:p>
        </p:txBody>
      </p:sp>
      <p:sp>
        <p:nvSpPr>
          <p:cNvPr id="33" name="Rectangle 32"/>
          <p:cNvSpPr/>
          <p:nvPr/>
        </p:nvSpPr>
        <p:spPr>
          <a:xfrm>
            <a:off x="1857375" y="2752725"/>
            <a:ext cx="643890" cy="190976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7533838" y="1482090"/>
            <a:ext cx="330041" cy="480060"/>
          </a:xfrm>
          <a:prstGeom prst="rect">
            <a:avLst/>
          </a:prstGeom>
        </p:spPr>
      </p:pic>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Multipack Wrapping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Multipack Wrapping,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Multipack Wrapping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Individually wrapped muffins within an outer pack</a:t>
            </a:r>
          </a:p>
        </p:txBody>
      </p:sp>
      <p:sp>
        <p:nvSpPr>
          <p:cNvPr id="33" name="Rectangle 32"/>
          <p:cNvSpPr/>
          <p:nvPr/>
        </p:nvSpPr>
        <p:spPr>
          <a:xfrm>
            <a:off x="1857375" y="2752725"/>
            <a:ext cx="643890" cy="190976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7533838" y="1482090"/>
            <a:ext cx="330041" cy="480060"/>
          </a:xfrm>
          <a:prstGeom prst="rect">
            <a:avLst/>
          </a:prstGeom>
        </p:spPr>
      </p:pic>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Price Positioning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Price Positioning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Price Positioning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Price Positioning,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Price Positioning segment categorizes the market by price positioning.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Premium</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Mid-range</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Economy / value</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Super-premium / speciality</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Price Positioning split shows how demand is distributed across price positioning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_375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_69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2_1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920_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_747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6_6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760_4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849_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1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540_9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_058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9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12764" cy="186689"/>
          </a:xfrm>
          <a:prstGeom prst="rect">
            <a:avLst/>
          </a:prstGeom>
          <a:noFill/>
        </p:spPr>
        <p:txBody>
          <a:bodyPr wrap="none" lIns="0" rIns="0" tIns="0" bIns="0">
            <a:spAutoFit/>
          </a:bodyPr>
          <a:lstStyle/>
          <a:p>
            <a:r>
              <a:rPr sz="1100" b="0">
                <a:solidFill>
                  <a:srgbClr val="2E2E2E"/>
                </a:solidFill>
                <a:latin typeface="Calibri"/>
              </a:rPr>
              <a:t>▪ 'Premium' holds the largest share in 2026</a:t>
            </a:r>
          </a:p>
        </p:txBody>
      </p:sp>
      <p:pic>
        <p:nvPicPr>
          <p:cNvPr id="81" name="Picture 80" descr="lock.png"/>
          <p:cNvPicPr>
            <a:picLocks noChangeAspect="1"/>
          </p:cNvPicPr>
          <p:nvPr/>
        </p:nvPicPr>
        <p:blipFill>
          <a:blip r:embed="rId16"/>
          <a:stretch>
            <a:fillRect/>
          </a:stretch>
        </p:blipFill>
        <p:spPr>
          <a:xfrm>
            <a:off x="2946591" y="4219658"/>
            <a:ext cx="128699" cy="187198"/>
          </a:xfrm>
          <a:prstGeom prst="rect">
            <a:avLst/>
          </a:prstGeom>
        </p:spPr>
      </p:pic>
      <p:sp>
        <p:nvSpPr>
          <p:cNvPr id="82" name="TextBox 81"/>
          <p:cNvSpPr txBox="1"/>
          <p:nvPr/>
        </p:nvSpPr>
        <p:spPr>
          <a:xfrm>
            <a:off x="3114086"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83" name="TextBox 82"/>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84" name="TextBox 83"/>
          <p:cNvSpPr txBox="1"/>
          <p:nvPr/>
        </p:nvSpPr>
        <p:spPr>
          <a:xfrm>
            <a:off x="485775" y="4615009"/>
            <a:ext cx="2099394" cy="186689"/>
          </a:xfrm>
          <a:prstGeom prst="rect">
            <a:avLst/>
          </a:prstGeom>
          <a:noFill/>
        </p:spPr>
        <p:txBody>
          <a:bodyPr wrap="none" lIns="0" rIns="0" tIns="0" bIns="0">
            <a:spAutoFit/>
          </a:bodyPr>
          <a:lstStyle/>
          <a:p>
            <a:r>
              <a:rPr sz="1100" b="0">
                <a:solidFill>
                  <a:srgbClr val="2E2E2E"/>
                </a:solidFill>
                <a:latin typeface="Calibri"/>
              </a:rPr>
              <a:t>▪ 'Super-premium / speciality' is the</a:t>
            </a:r>
          </a:p>
        </p:txBody>
      </p:sp>
      <p:sp>
        <p:nvSpPr>
          <p:cNvPr id="85" name="TextBox 84"/>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86" name="Picture 85" descr="lock.png"/>
          <p:cNvPicPr>
            <a:picLocks noChangeAspect="1"/>
          </p:cNvPicPr>
          <p:nvPr/>
        </p:nvPicPr>
        <p:blipFill>
          <a:blip r:embed="rId16"/>
          <a:stretch>
            <a:fillRect/>
          </a:stretch>
        </p:blipFill>
        <p:spPr>
          <a:xfrm>
            <a:off x="2307026" y="4772870"/>
            <a:ext cx="128699" cy="187198"/>
          </a:xfrm>
          <a:prstGeom prst="rect">
            <a:avLst/>
          </a:prstGeom>
        </p:spPr>
      </p:pic>
      <p:sp>
        <p:nvSpPr>
          <p:cNvPr id="87" name="TextBox 86"/>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88" name="TextBox 87"/>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9" name="TextBox 88"/>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90" name="Picture 89" descr="lock.png"/>
          <p:cNvPicPr>
            <a:picLocks noChangeAspect="1"/>
          </p:cNvPicPr>
          <p:nvPr/>
        </p:nvPicPr>
        <p:blipFill>
          <a:blip r:embed="rId16"/>
          <a:stretch>
            <a:fillRect/>
          </a:stretch>
        </p:blipFill>
        <p:spPr>
          <a:xfrm>
            <a:off x="2240451" y="5158441"/>
            <a:ext cx="128699" cy="187198"/>
          </a:xfrm>
          <a:prstGeom prst="rect">
            <a:avLst/>
          </a:prstGeom>
        </p:spPr>
      </p:pic>
      <p:sp>
        <p:nvSpPr>
          <p:cNvPr id="91" name="TextBox 90"/>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2" name="Picture 91" descr="lock.png"/>
          <p:cNvPicPr>
            <a:picLocks noChangeAspect="1"/>
          </p:cNvPicPr>
          <p:nvPr/>
        </p:nvPicPr>
        <p:blipFill>
          <a:blip r:embed="rId16"/>
          <a:stretch>
            <a:fillRect/>
          </a:stretch>
        </p:blipFill>
        <p:spPr>
          <a:xfrm>
            <a:off x="2552799" y="5158441"/>
            <a:ext cx="128699" cy="187198"/>
          </a:xfrm>
          <a:prstGeom prst="rect">
            <a:avLst/>
          </a:prstGeom>
        </p:spPr>
      </p:pic>
      <p:sp>
        <p:nvSpPr>
          <p:cNvPr id="93" name="TextBox 92"/>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4" name="TextBox 93"/>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5" name="TextBox 94"/>
          <p:cNvSpPr txBox="1"/>
          <p:nvPr/>
        </p:nvSpPr>
        <p:spPr>
          <a:xfrm>
            <a:off x="485775" y="5553793"/>
            <a:ext cx="2771154" cy="186689"/>
          </a:xfrm>
          <a:prstGeom prst="rect">
            <a:avLst/>
          </a:prstGeom>
          <a:noFill/>
        </p:spPr>
        <p:txBody>
          <a:bodyPr wrap="none" lIns="0" rIns="0" tIns="0" bIns="0">
            <a:spAutoFit/>
          </a:bodyPr>
          <a:lstStyle/>
          <a:p>
            <a:r>
              <a:rPr sz="1100" b="0">
                <a:solidFill>
                  <a:srgbClr val="2E2E2E"/>
                </a:solidFill>
                <a:latin typeface="Calibri"/>
              </a:rPr>
              <a:t>▪ 4 sub-segments make up the price positioning</a:t>
            </a:r>
          </a:p>
        </p:txBody>
      </p:sp>
      <p:sp>
        <p:nvSpPr>
          <p:cNvPr id="96" name="TextBox 95"/>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7" name="TextBox 96"/>
          <p:cNvSpPr txBox="1"/>
          <p:nvPr/>
        </p:nvSpPr>
        <p:spPr>
          <a:xfrm>
            <a:off x="3838575" y="4229437"/>
            <a:ext cx="749051" cy="186689"/>
          </a:xfrm>
          <a:prstGeom prst="rect">
            <a:avLst/>
          </a:prstGeom>
          <a:noFill/>
        </p:spPr>
        <p:txBody>
          <a:bodyPr wrap="none" lIns="0" rIns="0" tIns="0" bIns="0">
            <a:spAutoFit/>
          </a:bodyPr>
          <a:lstStyle/>
          <a:p>
            <a:r>
              <a:rPr sz="1100" b="0">
                <a:solidFill>
                  <a:srgbClr val="2E2E2E"/>
                </a:solidFill>
                <a:latin typeface="Calibri"/>
              </a:rPr>
              <a:t>● Premium:</a:t>
            </a:r>
          </a:p>
        </p:txBody>
      </p:sp>
      <p:pic>
        <p:nvPicPr>
          <p:cNvPr id="98" name="Picture 97" descr="lock.png"/>
          <p:cNvPicPr>
            <a:picLocks noChangeAspect="1"/>
          </p:cNvPicPr>
          <p:nvPr/>
        </p:nvPicPr>
        <p:blipFill>
          <a:blip r:embed="rId16"/>
          <a:stretch>
            <a:fillRect/>
          </a:stretch>
        </p:blipFill>
        <p:spPr>
          <a:xfrm>
            <a:off x="4535678" y="4219658"/>
            <a:ext cx="128699" cy="187198"/>
          </a:xfrm>
          <a:prstGeom prst="rect">
            <a:avLst/>
          </a:prstGeom>
        </p:spPr>
      </p:pic>
      <p:sp>
        <p:nvSpPr>
          <p:cNvPr id="99" name="TextBox 98"/>
          <p:cNvSpPr txBox="1"/>
          <p:nvPr/>
        </p:nvSpPr>
        <p:spPr>
          <a:xfrm>
            <a:off x="470317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562624" y="4219658"/>
            <a:ext cx="128699" cy="187198"/>
          </a:xfrm>
          <a:prstGeom prst="rect">
            <a:avLst/>
          </a:prstGeom>
        </p:spPr>
      </p:pic>
      <p:sp>
        <p:nvSpPr>
          <p:cNvPr id="101" name="TextBox 100"/>
          <p:cNvSpPr txBox="1"/>
          <p:nvPr/>
        </p:nvSpPr>
        <p:spPr>
          <a:xfrm>
            <a:off x="573012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821903" cy="186689"/>
          </a:xfrm>
          <a:prstGeom prst="rect">
            <a:avLst/>
          </a:prstGeom>
          <a:noFill/>
        </p:spPr>
        <p:txBody>
          <a:bodyPr wrap="none" lIns="0" rIns="0" tIns="0" bIns="0">
            <a:spAutoFit/>
          </a:bodyPr>
          <a:lstStyle/>
          <a:p>
            <a:r>
              <a:rPr sz="1100" b="0">
                <a:solidFill>
                  <a:srgbClr val="2E2E2E"/>
                </a:solidFill>
                <a:latin typeface="Calibri"/>
              </a:rPr>
              <a:t>● Mid-range:</a:t>
            </a:r>
          </a:p>
        </p:txBody>
      </p:sp>
      <p:pic>
        <p:nvPicPr>
          <p:cNvPr id="103" name="Picture 102" descr="lock.png"/>
          <p:cNvPicPr>
            <a:picLocks noChangeAspect="1"/>
          </p:cNvPicPr>
          <p:nvPr/>
        </p:nvPicPr>
        <p:blipFill>
          <a:blip r:embed="rId16"/>
          <a:stretch>
            <a:fillRect/>
          </a:stretch>
        </p:blipFill>
        <p:spPr>
          <a:xfrm>
            <a:off x="4608529" y="4437590"/>
            <a:ext cx="128699" cy="187198"/>
          </a:xfrm>
          <a:prstGeom prst="rect">
            <a:avLst/>
          </a:prstGeom>
        </p:spPr>
      </p:pic>
      <p:sp>
        <p:nvSpPr>
          <p:cNvPr id="104" name="TextBox 103"/>
          <p:cNvSpPr txBox="1"/>
          <p:nvPr/>
        </p:nvSpPr>
        <p:spPr>
          <a:xfrm>
            <a:off x="477602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635475" y="4437590"/>
            <a:ext cx="128699" cy="187198"/>
          </a:xfrm>
          <a:prstGeom prst="rect">
            <a:avLst/>
          </a:prstGeom>
        </p:spPr>
      </p:pic>
      <p:sp>
        <p:nvSpPr>
          <p:cNvPr id="106" name="TextBox 105"/>
          <p:cNvSpPr txBox="1"/>
          <p:nvPr/>
        </p:nvSpPr>
        <p:spPr>
          <a:xfrm>
            <a:off x="5802971"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174943" cy="186689"/>
          </a:xfrm>
          <a:prstGeom prst="rect">
            <a:avLst/>
          </a:prstGeom>
          <a:noFill/>
        </p:spPr>
        <p:txBody>
          <a:bodyPr wrap="none" lIns="0" rIns="0" tIns="0" bIns="0">
            <a:spAutoFit/>
          </a:bodyPr>
          <a:lstStyle/>
          <a:p>
            <a:r>
              <a:rPr sz="1100" b="0">
                <a:solidFill>
                  <a:srgbClr val="2E2E2E"/>
                </a:solidFill>
                <a:latin typeface="Calibri"/>
              </a:rPr>
              <a:t>● Economy / value:</a:t>
            </a:r>
          </a:p>
        </p:txBody>
      </p:sp>
      <p:pic>
        <p:nvPicPr>
          <p:cNvPr id="108" name="Picture 107" descr="lock.png"/>
          <p:cNvPicPr>
            <a:picLocks noChangeAspect="1"/>
          </p:cNvPicPr>
          <p:nvPr/>
        </p:nvPicPr>
        <p:blipFill>
          <a:blip r:embed="rId16"/>
          <a:stretch>
            <a:fillRect/>
          </a:stretch>
        </p:blipFill>
        <p:spPr>
          <a:xfrm>
            <a:off x="4961569" y="4655522"/>
            <a:ext cx="128699" cy="187198"/>
          </a:xfrm>
          <a:prstGeom prst="rect">
            <a:avLst/>
          </a:prstGeom>
        </p:spPr>
      </p:pic>
      <p:sp>
        <p:nvSpPr>
          <p:cNvPr id="109" name="TextBox 108"/>
          <p:cNvSpPr txBox="1"/>
          <p:nvPr/>
        </p:nvSpPr>
        <p:spPr>
          <a:xfrm>
            <a:off x="5129065"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5988516" y="4655522"/>
            <a:ext cx="128699" cy="187198"/>
          </a:xfrm>
          <a:prstGeom prst="rect">
            <a:avLst/>
          </a:prstGeom>
        </p:spPr>
      </p:pic>
      <p:sp>
        <p:nvSpPr>
          <p:cNvPr id="111" name="TextBox 110"/>
          <p:cNvSpPr txBox="1"/>
          <p:nvPr/>
        </p:nvSpPr>
        <p:spPr>
          <a:xfrm>
            <a:off x="6156011"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770062" cy="186689"/>
          </a:xfrm>
          <a:prstGeom prst="rect">
            <a:avLst/>
          </a:prstGeom>
          <a:noFill/>
        </p:spPr>
        <p:txBody>
          <a:bodyPr wrap="none" lIns="0" rIns="0" tIns="0" bIns="0">
            <a:spAutoFit/>
          </a:bodyPr>
          <a:lstStyle/>
          <a:p>
            <a:r>
              <a:rPr sz="1100" b="0">
                <a:solidFill>
                  <a:srgbClr val="2E2E2E"/>
                </a:solidFill>
                <a:latin typeface="Calibri"/>
              </a:rPr>
              <a:t>● Super-premium / speciality:</a:t>
            </a:r>
          </a:p>
        </p:txBody>
      </p:sp>
      <p:pic>
        <p:nvPicPr>
          <p:cNvPr id="113" name="Picture 112" descr="lock.png"/>
          <p:cNvPicPr>
            <a:picLocks noChangeAspect="1"/>
          </p:cNvPicPr>
          <p:nvPr/>
        </p:nvPicPr>
        <p:blipFill>
          <a:blip r:embed="rId16"/>
          <a:stretch>
            <a:fillRect/>
          </a:stretch>
        </p:blipFill>
        <p:spPr>
          <a:xfrm>
            <a:off x="5556689" y="4873454"/>
            <a:ext cx="128699" cy="187198"/>
          </a:xfrm>
          <a:prstGeom prst="rect">
            <a:avLst/>
          </a:prstGeom>
        </p:spPr>
      </p:pic>
      <p:sp>
        <p:nvSpPr>
          <p:cNvPr id="114" name="TextBox 113"/>
          <p:cNvSpPr txBox="1"/>
          <p:nvPr/>
        </p:nvSpPr>
        <p:spPr>
          <a:xfrm>
            <a:off x="572418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583635" y="4873454"/>
            <a:ext cx="128699" cy="187198"/>
          </a:xfrm>
          <a:prstGeom prst="rect">
            <a:avLst/>
          </a:prstGeom>
        </p:spPr>
      </p:pic>
      <p:sp>
        <p:nvSpPr>
          <p:cNvPr id="116" name="TextBox 115"/>
          <p:cNvSpPr txBox="1"/>
          <p:nvPr/>
        </p:nvSpPr>
        <p:spPr>
          <a:xfrm>
            <a:off x="6751130"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8" name="TextBox 117"/>
          <p:cNvSpPr txBox="1"/>
          <p:nvPr/>
        </p:nvSpPr>
        <p:spPr>
          <a:xfrm>
            <a:off x="8524875" y="5842641"/>
            <a:ext cx="3148955" cy="194310"/>
          </a:xfrm>
          <a:prstGeom prst="rect">
            <a:avLst/>
          </a:prstGeom>
          <a:noFill/>
        </p:spPr>
        <p:txBody>
          <a:bodyPr wrap="none" lIns="0" rIns="0" tIns="0" bIns="0">
            <a:spAutoFit/>
          </a:bodyPr>
          <a:lstStyle/>
          <a:p>
            <a:r>
              <a:rPr sz="1150" b="1">
                <a:solidFill>
                  <a:srgbClr val="0B2E4A"/>
                </a:solidFill>
                <a:latin typeface="Calibri"/>
              </a:rPr>
              <a:t>The Price Positioning segment is projected to grow</a:t>
            </a:r>
          </a:p>
        </p:txBody>
      </p:sp>
      <p:sp>
        <p:nvSpPr>
          <p:cNvPr id="119" name="TextBox 118"/>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20" name="Picture 119" descr="lock.png"/>
          <p:cNvPicPr>
            <a:picLocks noChangeAspect="1"/>
          </p:cNvPicPr>
          <p:nvPr/>
        </p:nvPicPr>
        <p:blipFill>
          <a:blip r:embed="rId16"/>
          <a:stretch>
            <a:fillRect/>
          </a:stretch>
        </p:blipFill>
        <p:spPr>
          <a:xfrm>
            <a:off x="9310118" y="6007677"/>
            <a:ext cx="134549" cy="195707"/>
          </a:xfrm>
          <a:prstGeom prst="rect">
            <a:avLst/>
          </a:prstGeom>
        </p:spPr>
      </p:pic>
      <p:sp>
        <p:nvSpPr>
          <p:cNvPr id="121" name="TextBox 120"/>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Price Positioning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Price Positioning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Price Positioning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194076" cy="186689"/>
          </a:xfrm>
          <a:prstGeom prst="rect">
            <a:avLst/>
          </a:prstGeom>
          <a:noFill/>
        </p:spPr>
        <p:txBody>
          <a:bodyPr wrap="none" lIns="0" rIns="0" tIns="0" bIns="0">
            <a:spAutoFit/>
          </a:bodyPr>
          <a:lstStyle/>
          <a:p>
            <a:r>
              <a:rPr sz="1100" b="0">
                <a:solidFill>
                  <a:srgbClr val="2E2E2E"/>
                </a:solidFill>
                <a:latin typeface="Calibri"/>
              </a:rPr>
              <a:t>Between 2026 and 2036, 'Mid-range' gains the most share in the North America market (+</a:t>
            </a:r>
          </a:p>
        </p:txBody>
      </p:sp>
      <p:pic>
        <p:nvPicPr>
          <p:cNvPr id="21" name="Picture 20" descr="lock.png"/>
          <p:cNvPicPr>
            <a:picLocks noChangeAspect="1"/>
          </p:cNvPicPr>
          <p:nvPr/>
        </p:nvPicPr>
        <p:blipFill>
          <a:blip r:embed="rId6"/>
          <a:stretch>
            <a:fillRect/>
          </a:stretch>
        </p:blipFill>
        <p:spPr>
          <a:xfrm>
            <a:off x="5399303" y="5851905"/>
            <a:ext cx="128699" cy="187198"/>
          </a:xfrm>
          <a:prstGeom prst="rect">
            <a:avLst/>
          </a:prstGeom>
        </p:spPr>
      </p:pic>
      <p:sp>
        <p:nvSpPr>
          <p:cNvPr id="22" name="TextBox 21"/>
          <p:cNvSpPr txBox="1"/>
          <p:nvPr/>
        </p:nvSpPr>
        <p:spPr>
          <a:xfrm>
            <a:off x="5566799" y="5861685"/>
            <a:ext cx="1640730" cy="186689"/>
          </a:xfrm>
          <a:prstGeom prst="rect">
            <a:avLst/>
          </a:prstGeom>
          <a:noFill/>
        </p:spPr>
        <p:txBody>
          <a:bodyPr wrap="none" lIns="0" rIns="0" tIns="0" bIns="0">
            <a:spAutoFit/>
          </a:bodyPr>
          <a:lstStyle/>
          <a:p>
            <a:r>
              <a:rPr sz="1100" b="0">
                <a:solidFill>
                  <a:srgbClr val="2E2E2E"/>
                </a:solidFill>
                <a:latin typeface="Calibri"/>
              </a:rPr>
              <a:t>BPS) while 'Premium' cedes</a:t>
            </a:r>
          </a:p>
        </p:txBody>
      </p:sp>
      <p:pic>
        <p:nvPicPr>
          <p:cNvPr id="23" name="Picture 22" descr="lock.png"/>
          <p:cNvPicPr>
            <a:picLocks noChangeAspect="1"/>
          </p:cNvPicPr>
          <p:nvPr/>
        </p:nvPicPr>
        <p:blipFill>
          <a:blip r:embed="rId6"/>
          <a:stretch>
            <a:fillRect/>
          </a:stretch>
        </p:blipFill>
        <p:spPr>
          <a:xfrm>
            <a:off x="7155581" y="5851905"/>
            <a:ext cx="128699" cy="187198"/>
          </a:xfrm>
          <a:prstGeom prst="rect">
            <a:avLst/>
          </a:prstGeom>
        </p:spPr>
      </p:pic>
      <p:sp>
        <p:nvSpPr>
          <p:cNvPr id="24" name="TextBox 23"/>
          <p:cNvSpPr txBox="1"/>
          <p:nvPr/>
        </p:nvSpPr>
        <p:spPr>
          <a:xfrm>
            <a:off x="7323077"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Price Positioning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Economy / value</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Mid-range</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Premium</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Super-premium / speciality</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Price Positioning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Price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Price Positioning (MT)</a:t>
            </a:r>
          </a:p>
        </p:txBody>
      </p:sp>
      <p:graphicFrame>
        <p:nvGraphicFramePr>
          <p:cNvPr id="13" name="Table 12"/>
          <p:cNvGraphicFramePr>
            <a:graphicFrameLocks noGrp="1"/>
          </p:cNvGraphicFramePr>
          <p:nvPr/>
        </p:nvGraphicFramePr>
        <p:xfrm>
          <a:off x="152400" y="1238250"/>
          <a:ext cx="11887200" cy="1676402"/>
        </p:xfrm>
        <a:graphic>
          <a:graphicData uri="http://schemas.openxmlformats.org/drawingml/2006/table">
            <a:tbl>
              <a:tblPr>
                <a:tableStyleId>{5C22544A-7EE6-4342-B048-85BDC9FD1C3A}</a:tableStyleId>
              </a:tblPr>
              <a:tblGrid>
                <a:gridCol w="1702618"/>
                <a:gridCol w="544949"/>
                <a:gridCol w="544949"/>
                <a:gridCol w="544949"/>
                <a:gridCol w="544949"/>
                <a:gridCol w="544949"/>
                <a:gridCol w="544949"/>
                <a:gridCol w="544949"/>
                <a:gridCol w="655320"/>
                <a:gridCol w="655320"/>
                <a:gridCol w="655320"/>
                <a:gridCol w="655320"/>
                <a:gridCol w="655320"/>
                <a:gridCol w="655320"/>
                <a:gridCol w="655320"/>
                <a:gridCol w="655320"/>
                <a:gridCol w="655320"/>
                <a:gridCol w="472059"/>
              </a:tblGrid>
              <a:tr h="438912">
                <a:tc>
                  <a:txBody>
                    <a:bodyPr wrap="none"/>
                    <a:lstStyle/>
                    <a:p>
                      <a:pPr algn="l"/>
                      <a:r>
                        <a:rPr sz="1100" b="1">
                          <a:solidFill>
                            <a:srgbClr val="0B2E4A"/>
                          </a:solidFill>
                          <a:latin typeface="Calibri"/>
                        </a:rPr>
                        <a:t>Price Positioning</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7498">
                <a:tc>
                  <a:txBody>
                    <a:bodyPr wrap="none"/>
                    <a:lstStyle/>
                    <a:p>
                      <a:pPr algn="l"/>
                      <a:r>
                        <a:rPr sz="1100" b="1">
                          <a:solidFill>
                            <a:srgbClr val="2E2E2E"/>
                          </a:solidFill>
                          <a:latin typeface="Calibri"/>
                        </a:rPr>
                        <a:t>Economy / value</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98">
                <a:tc>
                  <a:txBody>
                    <a:bodyPr wrap="none"/>
                    <a:lstStyle/>
                    <a:p>
                      <a:pPr algn="l"/>
                      <a:r>
                        <a:rPr sz="1100" b="1">
                          <a:solidFill>
                            <a:srgbClr val="2E2E2E"/>
                          </a:solidFill>
                          <a:latin typeface="Calibri"/>
                        </a:rPr>
                        <a:t>Mid-range</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98">
                <a:tc>
                  <a:txBody>
                    <a:bodyPr wrap="none"/>
                    <a:lstStyle/>
                    <a:p>
                      <a:pPr algn="l"/>
                      <a:r>
                        <a:rPr sz="1100" b="1">
                          <a:solidFill>
                            <a:srgbClr val="2E2E2E"/>
                          </a:solidFill>
                          <a:latin typeface="Calibri"/>
                        </a:rPr>
                        <a:t>Premium</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498">
                <a:tc>
                  <a:txBody>
                    <a:bodyPr wrap="none"/>
                    <a:lstStyle/>
                    <a:p>
                      <a:pPr algn="l"/>
                      <a:r>
                        <a:rPr sz="1100" b="1">
                          <a:solidFill>
                            <a:srgbClr val="2E2E2E"/>
                          </a:solidFill>
                          <a:latin typeface="Calibri"/>
                        </a:rPr>
                        <a:t>Super-premium / speciality</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Price Positioning</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60619" y="2029206"/>
            <a:ext cx="366712" cy="533400"/>
          </a:xfrm>
          <a:prstGeom prst="rect">
            <a:avLst/>
          </a:prstGeom>
        </p:spPr>
      </p:pic>
      <p:sp>
        <p:nvSpPr>
          <p:cNvPr id="21" name="TextBox 20"/>
          <p:cNvSpPr txBox="1"/>
          <p:nvPr/>
        </p:nvSpPr>
        <p:spPr>
          <a:xfrm>
            <a:off x="276225" y="3676650"/>
            <a:ext cx="2809788" cy="194310"/>
          </a:xfrm>
          <a:prstGeom prst="rect">
            <a:avLst/>
          </a:prstGeom>
          <a:noFill/>
        </p:spPr>
        <p:txBody>
          <a:bodyPr wrap="none" lIns="0" rIns="0" tIns="0" bIns="0">
            <a:spAutoFit/>
          </a:bodyPr>
          <a:lstStyle/>
          <a:p>
            <a:r>
              <a:rPr sz="1150" b="0">
                <a:solidFill>
                  <a:srgbClr val="2E2E2E"/>
                </a:solidFill>
                <a:latin typeface="Calibri"/>
              </a:rPr>
              <a:t>▪ 'Mid-range' is the largest price positioning at</a:t>
            </a:r>
          </a:p>
        </p:txBody>
      </p:sp>
      <p:pic>
        <p:nvPicPr>
          <p:cNvPr id="22" name="Picture 21" descr="lock.png"/>
          <p:cNvPicPr>
            <a:picLocks noChangeAspect="1"/>
          </p:cNvPicPr>
          <p:nvPr/>
        </p:nvPicPr>
        <p:blipFill>
          <a:blip r:embed="rId4"/>
          <a:stretch>
            <a:fillRect/>
          </a:stretch>
        </p:blipFill>
        <p:spPr>
          <a:xfrm>
            <a:off x="3035167" y="3666426"/>
            <a:ext cx="134549" cy="195707"/>
          </a:xfrm>
          <a:prstGeom prst="rect">
            <a:avLst/>
          </a:prstGeom>
        </p:spPr>
      </p:pic>
      <p:sp>
        <p:nvSpPr>
          <p:cNvPr id="23" name="TextBox 22"/>
          <p:cNvSpPr txBox="1"/>
          <p:nvPr/>
        </p:nvSpPr>
        <p:spPr>
          <a:xfrm>
            <a:off x="3210276" y="36766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240009" y="3666426"/>
            <a:ext cx="134549" cy="195707"/>
          </a:xfrm>
          <a:prstGeom prst="rect">
            <a:avLst/>
          </a:prstGeom>
        </p:spPr>
      </p:pic>
      <p:sp>
        <p:nvSpPr>
          <p:cNvPr id="25" name="TextBox 24"/>
          <p:cNvSpPr txBox="1"/>
          <p:nvPr/>
        </p:nvSpPr>
        <p:spPr>
          <a:xfrm>
            <a:off x="4415118" y="36766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904487"/>
            <a:ext cx="2659744" cy="194310"/>
          </a:xfrm>
          <a:prstGeom prst="rect">
            <a:avLst/>
          </a:prstGeom>
          <a:noFill/>
        </p:spPr>
        <p:txBody>
          <a:bodyPr wrap="none" lIns="0" rIns="0" tIns="0" bIns="0">
            <a:spAutoFit/>
          </a:bodyPr>
          <a:lstStyle/>
          <a:p>
            <a:r>
              <a:rPr sz="1150" b="0">
                <a:solidFill>
                  <a:srgbClr val="2E2E2E"/>
                </a:solidFill>
                <a:latin typeface="Calibri"/>
              </a:rPr>
              <a:t>▪ 'Super-premium / speciality' grows fastest</a:t>
            </a:r>
          </a:p>
        </p:txBody>
      </p:sp>
      <p:pic>
        <p:nvPicPr>
          <p:cNvPr id="27" name="Picture 26" descr="lock.png"/>
          <p:cNvPicPr>
            <a:picLocks noChangeAspect="1"/>
          </p:cNvPicPr>
          <p:nvPr/>
        </p:nvPicPr>
        <p:blipFill>
          <a:blip r:embed="rId4"/>
          <a:stretch>
            <a:fillRect/>
          </a:stretch>
        </p:blipFill>
        <p:spPr>
          <a:xfrm>
            <a:off x="2885123" y="3894264"/>
            <a:ext cx="134549" cy="195707"/>
          </a:xfrm>
          <a:prstGeom prst="rect">
            <a:avLst/>
          </a:prstGeom>
        </p:spPr>
      </p:pic>
      <p:sp>
        <p:nvSpPr>
          <p:cNvPr id="28" name="TextBox 27"/>
          <p:cNvSpPr txBox="1"/>
          <p:nvPr/>
        </p:nvSpPr>
        <p:spPr>
          <a:xfrm>
            <a:off x="3060232" y="39044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132325"/>
            <a:ext cx="2177665" cy="194310"/>
          </a:xfrm>
          <a:prstGeom prst="rect">
            <a:avLst/>
          </a:prstGeom>
          <a:noFill/>
        </p:spPr>
        <p:txBody>
          <a:bodyPr wrap="none" lIns="0" rIns="0" tIns="0" bIns="0">
            <a:spAutoFit/>
          </a:bodyPr>
          <a:lstStyle/>
          <a:p>
            <a:r>
              <a:rPr sz="1150" b="0">
                <a:solidFill>
                  <a:srgbClr val="2E2E2E"/>
                </a:solidFill>
                <a:latin typeface="Calibri"/>
              </a:rPr>
              <a:t>▪ Share shifts toward 'Mid-range' (+</a:t>
            </a:r>
          </a:p>
        </p:txBody>
      </p:sp>
      <p:pic>
        <p:nvPicPr>
          <p:cNvPr id="30" name="Picture 29" descr="lock.png"/>
          <p:cNvPicPr>
            <a:picLocks noChangeAspect="1"/>
          </p:cNvPicPr>
          <p:nvPr/>
        </p:nvPicPr>
        <p:blipFill>
          <a:blip r:embed="rId4"/>
          <a:stretch>
            <a:fillRect/>
          </a:stretch>
        </p:blipFill>
        <p:spPr>
          <a:xfrm>
            <a:off x="2403044" y="4122102"/>
            <a:ext cx="134549" cy="195707"/>
          </a:xfrm>
          <a:prstGeom prst="rect">
            <a:avLst/>
          </a:prstGeom>
        </p:spPr>
      </p:pic>
      <p:sp>
        <p:nvSpPr>
          <p:cNvPr id="31" name="TextBox 30"/>
          <p:cNvSpPr txBox="1"/>
          <p:nvPr/>
        </p:nvSpPr>
        <p:spPr>
          <a:xfrm>
            <a:off x="2578153" y="4132325"/>
            <a:ext cx="2027621" cy="194310"/>
          </a:xfrm>
          <a:prstGeom prst="rect">
            <a:avLst/>
          </a:prstGeom>
          <a:noFill/>
        </p:spPr>
        <p:txBody>
          <a:bodyPr wrap="none" lIns="0" rIns="0" tIns="0" bIns="0">
            <a:spAutoFit/>
          </a:bodyPr>
          <a:lstStyle/>
          <a:p>
            <a:r>
              <a:rPr sz="1150" b="0">
                <a:solidFill>
                  <a:srgbClr val="2E2E2E"/>
                </a:solidFill>
                <a:latin typeface="Calibri"/>
              </a:rPr>
              <a:t>BPS) and away from 'Premium' (-</a:t>
            </a:r>
          </a:p>
        </p:txBody>
      </p:sp>
      <p:pic>
        <p:nvPicPr>
          <p:cNvPr id="32" name="Picture 31" descr="lock.png"/>
          <p:cNvPicPr>
            <a:picLocks noChangeAspect="1"/>
          </p:cNvPicPr>
          <p:nvPr/>
        </p:nvPicPr>
        <p:blipFill>
          <a:blip r:embed="rId4"/>
          <a:stretch>
            <a:fillRect/>
          </a:stretch>
        </p:blipFill>
        <p:spPr>
          <a:xfrm>
            <a:off x="4554929" y="4122102"/>
            <a:ext cx="134549" cy="195707"/>
          </a:xfrm>
          <a:prstGeom prst="rect">
            <a:avLst/>
          </a:prstGeom>
        </p:spPr>
      </p:pic>
      <p:sp>
        <p:nvSpPr>
          <p:cNvPr id="33" name="TextBox 32"/>
          <p:cNvSpPr txBox="1"/>
          <p:nvPr/>
        </p:nvSpPr>
        <p:spPr>
          <a:xfrm>
            <a:off x="4730038" y="41323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601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349940"/>
            <a:ext cx="134549" cy="195707"/>
          </a:xfrm>
          <a:prstGeom prst="rect">
            <a:avLst/>
          </a:prstGeom>
        </p:spPr>
      </p:pic>
      <p:sp>
        <p:nvSpPr>
          <p:cNvPr id="36" name="TextBox 35"/>
          <p:cNvSpPr txBox="1"/>
          <p:nvPr/>
        </p:nvSpPr>
        <p:spPr>
          <a:xfrm>
            <a:off x="1965143" y="43601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349940"/>
            <a:ext cx="134549" cy="195707"/>
          </a:xfrm>
          <a:prstGeom prst="rect">
            <a:avLst/>
          </a:prstGeom>
        </p:spPr>
      </p:pic>
      <p:sp>
        <p:nvSpPr>
          <p:cNvPr id="38" name="TextBox 37"/>
          <p:cNvSpPr txBox="1"/>
          <p:nvPr/>
        </p:nvSpPr>
        <p:spPr>
          <a:xfrm>
            <a:off x="2291688" y="43601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Price Positioning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Price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Price Positioning (US$ Mn)</a:t>
            </a:r>
          </a:p>
        </p:txBody>
      </p:sp>
      <p:graphicFrame>
        <p:nvGraphicFramePr>
          <p:cNvPr id="13" name="Table 12"/>
          <p:cNvGraphicFramePr>
            <a:graphicFrameLocks noGrp="1"/>
          </p:cNvGraphicFramePr>
          <p:nvPr/>
        </p:nvGraphicFramePr>
        <p:xfrm>
          <a:off x="152400" y="1238250"/>
          <a:ext cx="11887199" cy="1485896"/>
        </p:xfrm>
        <a:graphic>
          <a:graphicData uri="http://schemas.openxmlformats.org/drawingml/2006/table">
            <a:tbl>
              <a:tblPr>
                <a:tableStyleId>{5C22544A-7EE6-4342-B048-85BDC9FD1C3A}</a:tableStyleId>
              </a:tblPr>
              <a:tblGrid>
                <a:gridCol w="1855550"/>
                <a:gridCol w="590097"/>
                <a:gridCol w="590097"/>
                <a:gridCol w="590097"/>
                <a:gridCol w="590097"/>
                <a:gridCol w="590097"/>
                <a:gridCol w="590097"/>
                <a:gridCol w="590097"/>
                <a:gridCol w="590097"/>
                <a:gridCol w="590097"/>
                <a:gridCol w="590097"/>
                <a:gridCol w="590097"/>
                <a:gridCol w="590097"/>
                <a:gridCol w="590097"/>
                <a:gridCol w="590097"/>
                <a:gridCol w="590097"/>
                <a:gridCol w="590097"/>
                <a:gridCol w="590097"/>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Price Positioning</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37084" y="1837563"/>
            <a:ext cx="366712" cy="533400"/>
          </a:xfrm>
          <a:prstGeom prst="rect">
            <a:avLst/>
          </a:prstGeom>
        </p:spPr>
      </p:pic>
      <p:sp>
        <p:nvSpPr>
          <p:cNvPr id="21" name="TextBox 20"/>
          <p:cNvSpPr txBox="1"/>
          <p:nvPr/>
        </p:nvSpPr>
        <p:spPr>
          <a:xfrm>
            <a:off x="276225" y="3486150"/>
            <a:ext cx="2809788" cy="194310"/>
          </a:xfrm>
          <a:prstGeom prst="rect">
            <a:avLst/>
          </a:prstGeom>
          <a:noFill/>
        </p:spPr>
        <p:txBody>
          <a:bodyPr wrap="none" lIns="0" rIns="0" tIns="0" bIns="0">
            <a:spAutoFit/>
          </a:bodyPr>
          <a:lstStyle/>
          <a:p>
            <a:r>
              <a:rPr sz="1150" b="0">
                <a:solidFill>
                  <a:srgbClr val="2E2E2E"/>
                </a:solidFill>
                <a:latin typeface="Calibri"/>
              </a:rPr>
              <a:t>▪ 'Mid-range' is the largest price positioning at</a:t>
            </a:r>
          </a:p>
        </p:txBody>
      </p:sp>
      <p:pic>
        <p:nvPicPr>
          <p:cNvPr id="22" name="Picture 21" descr="lock.png"/>
          <p:cNvPicPr>
            <a:picLocks noChangeAspect="1"/>
          </p:cNvPicPr>
          <p:nvPr/>
        </p:nvPicPr>
        <p:blipFill>
          <a:blip r:embed="rId4"/>
          <a:stretch>
            <a:fillRect/>
          </a:stretch>
        </p:blipFill>
        <p:spPr>
          <a:xfrm>
            <a:off x="3035167" y="3475926"/>
            <a:ext cx="134549" cy="195707"/>
          </a:xfrm>
          <a:prstGeom prst="rect">
            <a:avLst/>
          </a:prstGeom>
        </p:spPr>
      </p:pic>
      <p:sp>
        <p:nvSpPr>
          <p:cNvPr id="23" name="TextBox 22"/>
          <p:cNvSpPr txBox="1"/>
          <p:nvPr/>
        </p:nvSpPr>
        <p:spPr>
          <a:xfrm>
            <a:off x="3210276"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116209" y="3475926"/>
            <a:ext cx="134549" cy="195707"/>
          </a:xfrm>
          <a:prstGeom prst="rect">
            <a:avLst/>
          </a:prstGeom>
        </p:spPr>
      </p:pic>
      <p:sp>
        <p:nvSpPr>
          <p:cNvPr id="25" name="TextBox 24"/>
          <p:cNvSpPr txBox="1"/>
          <p:nvPr/>
        </p:nvSpPr>
        <p:spPr>
          <a:xfrm>
            <a:off x="4291318"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659744" cy="194310"/>
          </a:xfrm>
          <a:prstGeom prst="rect">
            <a:avLst/>
          </a:prstGeom>
          <a:noFill/>
        </p:spPr>
        <p:txBody>
          <a:bodyPr wrap="none" lIns="0" rIns="0" tIns="0" bIns="0">
            <a:spAutoFit/>
          </a:bodyPr>
          <a:lstStyle/>
          <a:p>
            <a:r>
              <a:rPr sz="1150" b="0">
                <a:solidFill>
                  <a:srgbClr val="2E2E2E"/>
                </a:solidFill>
                <a:latin typeface="Calibri"/>
              </a:rPr>
              <a:t>▪ 'Super-premium / speciality' grows fastest</a:t>
            </a:r>
          </a:p>
        </p:txBody>
      </p:sp>
      <p:pic>
        <p:nvPicPr>
          <p:cNvPr id="27" name="Picture 26" descr="lock.png"/>
          <p:cNvPicPr>
            <a:picLocks noChangeAspect="1"/>
          </p:cNvPicPr>
          <p:nvPr/>
        </p:nvPicPr>
        <p:blipFill>
          <a:blip r:embed="rId4"/>
          <a:stretch>
            <a:fillRect/>
          </a:stretch>
        </p:blipFill>
        <p:spPr>
          <a:xfrm>
            <a:off x="2885123" y="3703764"/>
            <a:ext cx="134549" cy="195707"/>
          </a:xfrm>
          <a:prstGeom prst="rect">
            <a:avLst/>
          </a:prstGeom>
        </p:spPr>
      </p:pic>
      <p:sp>
        <p:nvSpPr>
          <p:cNvPr id="28" name="TextBox 27"/>
          <p:cNvSpPr txBox="1"/>
          <p:nvPr/>
        </p:nvSpPr>
        <p:spPr>
          <a:xfrm>
            <a:off x="3060232"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177665" cy="194310"/>
          </a:xfrm>
          <a:prstGeom prst="rect">
            <a:avLst/>
          </a:prstGeom>
          <a:noFill/>
        </p:spPr>
        <p:txBody>
          <a:bodyPr wrap="none" lIns="0" rIns="0" tIns="0" bIns="0">
            <a:spAutoFit/>
          </a:bodyPr>
          <a:lstStyle/>
          <a:p>
            <a:r>
              <a:rPr sz="1150" b="0">
                <a:solidFill>
                  <a:srgbClr val="2E2E2E"/>
                </a:solidFill>
                <a:latin typeface="Calibri"/>
              </a:rPr>
              <a:t>▪ Share shifts toward 'Mid-range' (+</a:t>
            </a:r>
          </a:p>
        </p:txBody>
      </p:sp>
      <p:pic>
        <p:nvPicPr>
          <p:cNvPr id="30" name="Picture 29" descr="lock.png"/>
          <p:cNvPicPr>
            <a:picLocks noChangeAspect="1"/>
          </p:cNvPicPr>
          <p:nvPr/>
        </p:nvPicPr>
        <p:blipFill>
          <a:blip r:embed="rId4"/>
          <a:stretch>
            <a:fillRect/>
          </a:stretch>
        </p:blipFill>
        <p:spPr>
          <a:xfrm>
            <a:off x="2403044" y="3931602"/>
            <a:ext cx="134549" cy="195707"/>
          </a:xfrm>
          <a:prstGeom prst="rect">
            <a:avLst/>
          </a:prstGeom>
        </p:spPr>
      </p:pic>
      <p:sp>
        <p:nvSpPr>
          <p:cNvPr id="31" name="TextBox 30"/>
          <p:cNvSpPr txBox="1"/>
          <p:nvPr/>
        </p:nvSpPr>
        <p:spPr>
          <a:xfrm>
            <a:off x="2578153" y="3941825"/>
            <a:ext cx="2027621" cy="194310"/>
          </a:xfrm>
          <a:prstGeom prst="rect">
            <a:avLst/>
          </a:prstGeom>
          <a:noFill/>
        </p:spPr>
        <p:txBody>
          <a:bodyPr wrap="none" lIns="0" rIns="0" tIns="0" bIns="0">
            <a:spAutoFit/>
          </a:bodyPr>
          <a:lstStyle/>
          <a:p>
            <a:r>
              <a:rPr sz="1150" b="0">
                <a:solidFill>
                  <a:srgbClr val="2E2E2E"/>
                </a:solidFill>
                <a:latin typeface="Calibri"/>
              </a:rPr>
              <a:t>BPS) and away from 'Premium' (-</a:t>
            </a:r>
          </a:p>
        </p:txBody>
      </p:sp>
      <p:pic>
        <p:nvPicPr>
          <p:cNvPr id="32" name="Picture 31" descr="lock.png"/>
          <p:cNvPicPr>
            <a:picLocks noChangeAspect="1"/>
          </p:cNvPicPr>
          <p:nvPr/>
        </p:nvPicPr>
        <p:blipFill>
          <a:blip r:embed="rId4"/>
          <a:stretch>
            <a:fillRect/>
          </a:stretch>
        </p:blipFill>
        <p:spPr>
          <a:xfrm>
            <a:off x="4554929" y="3931602"/>
            <a:ext cx="134549" cy="195707"/>
          </a:xfrm>
          <a:prstGeom prst="rect">
            <a:avLst/>
          </a:prstGeom>
        </p:spPr>
      </p:pic>
      <p:sp>
        <p:nvSpPr>
          <p:cNvPr id="33" name="TextBox 32"/>
          <p:cNvSpPr txBox="1"/>
          <p:nvPr/>
        </p:nvSpPr>
        <p:spPr>
          <a:xfrm>
            <a:off x="4730038"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Price Positioning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Price Positioning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401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2925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305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Economy / value</a:t>
            </a:r>
          </a:p>
        </p:txBody>
      </p:sp>
      <p:sp>
        <p:nvSpPr>
          <p:cNvPr id="19" name="BPS Value 1"/>
          <p:cNvSpPr txBox="1"/>
          <p:nvPr/>
        </p:nvSpPr>
        <p:spPr>
          <a:xfrm>
            <a:off x="6896100" y="201496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4882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4406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6786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Super-premium / speciality</a:t>
            </a:r>
          </a:p>
        </p:txBody>
      </p:sp>
      <p:sp>
        <p:nvSpPr>
          <p:cNvPr id="23" name="BPS Value 2"/>
          <p:cNvSpPr txBox="1"/>
          <p:nvPr/>
        </p:nvSpPr>
        <p:spPr>
          <a:xfrm>
            <a:off x="6896100" y="282977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02599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0212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450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Premium</a:t>
            </a:r>
          </a:p>
        </p:txBody>
      </p:sp>
      <p:sp>
        <p:nvSpPr>
          <p:cNvPr id="27" name="BPS Value 3"/>
          <p:cNvSpPr txBox="1"/>
          <p:nvPr/>
        </p:nvSpPr>
        <p:spPr>
          <a:xfrm>
            <a:off x="6896100" y="400694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49737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9261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164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Mid-range</a:t>
            </a:r>
          </a:p>
        </p:txBody>
      </p:sp>
      <p:sp>
        <p:nvSpPr>
          <p:cNvPr id="31" name="BPS Value 4"/>
          <p:cNvSpPr txBox="1"/>
          <p:nvPr/>
        </p:nvSpPr>
        <p:spPr>
          <a:xfrm>
            <a:off x="6896100" y="547832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Price Positioning</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214748" cy="194310"/>
          </a:xfrm>
          <a:prstGeom prst="rect">
            <a:avLst/>
          </a:prstGeom>
          <a:noFill/>
        </p:spPr>
        <p:txBody>
          <a:bodyPr wrap="none" lIns="0" rIns="0" tIns="0" bIns="0">
            <a:spAutoFit/>
          </a:bodyPr>
          <a:lstStyle/>
          <a:p>
            <a:r>
              <a:rPr sz="1150" b="0">
                <a:solidFill>
                  <a:srgbClr val="2E2E2E"/>
                </a:solidFill>
                <a:latin typeface="Calibri"/>
              </a:rPr>
              <a:t>▪ 'Mid-range' gains the most share +</a:t>
            </a:r>
          </a:p>
        </p:txBody>
      </p:sp>
      <p:pic>
        <p:nvPicPr>
          <p:cNvPr id="39" name="Picture 38" descr="lock.png"/>
          <p:cNvPicPr>
            <a:picLocks noChangeAspect="1"/>
          </p:cNvPicPr>
          <p:nvPr/>
        </p:nvPicPr>
        <p:blipFill>
          <a:blip r:embed="rId5"/>
          <a:stretch>
            <a:fillRect/>
          </a:stretch>
        </p:blipFill>
        <p:spPr>
          <a:xfrm>
            <a:off x="9993452" y="1389951"/>
            <a:ext cx="134549" cy="195707"/>
          </a:xfrm>
          <a:prstGeom prst="rect">
            <a:avLst/>
          </a:prstGeom>
        </p:spPr>
      </p:pic>
      <p:sp>
        <p:nvSpPr>
          <p:cNvPr id="40" name="TextBox 39"/>
          <p:cNvSpPr txBox="1"/>
          <p:nvPr/>
        </p:nvSpPr>
        <p:spPr>
          <a:xfrm>
            <a:off x="10168561"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1785156" cy="194310"/>
          </a:xfrm>
          <a:prstGeom prst="rect">
            <a:avLst/>
          </a:prstGeom>
          <a:noFill/>
        </p:spPr>
        <p:txBody>
          <a:bodyPr wrap="none" lIns="0" rIns="0" tIns="0" bIns="0">
            <a:spAutoFit/>
          </a:bodyPr>
          <a:lstStyle/>
          <a:p>
            <a:r>
              <a:rPr sz="1150" b="0">
                <a:solidFill>
                  <a:srgbClr val="2E2E2E"/>
                </a:solidFill>
                <a:latin typeface="Calibri"/>
              </a:rPr>
              <a:t>▪ 'Premium' cedes the most -</a:t>
            </a:r>
          </a:p>
        </p:txBody>
      </p:sp>
      <p:pic>
        <p:nvPicPr>
          <p:cNvPr id="43" name="Picture 42" descr="lock.png"/>
          <p:cNvPicPr>
            <a:picLocks noChangeAspect="1"/>
          </p:cNvPicPr>
          <p:nvPr/>
        </p:nvPicPr>
        <p:blipFill>
          <a:blip r:embed="rId5"/>
          <a:stretch>
            <a:fillRect/>
          </a:stretch>
        </p:blipFill>
        <p:spPr>
          <a:xfrm>
            <a:off x="9563860" y="1793049"/>
            <a:ext cx="134549" cy="195707"/>
          </a:xfrm>
          <a:prstGeom prst="rect">
            <a:avLst/>
          </a:prstGeom>
        </p:spPr>
      </p:pic>
      <p:sp>
        <p:nvSpPr>
          <p:cNvPr id="44" name="TextBox 43"/>
          <p:cNvSpPr txBox="1"/>
          <p:nvPr/>
        </p:nvSpPr>
        <p:spPr>
          <a:xfrm>
            <a:off x="9738969"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45" name="TextBox 44"/>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829550" y="2206371"/>
            <a:ext cx="3478138" cy="194310"/>
          </a:xfrm>
          <a:prstGeom prst="rect">
            <a:avLst/>
          </a:prstGeom>
          <a:noFill/>
        </p:spPr>
        <p:txBody>
          <a:bodyPr wrap="none" lIns="0" rIns="0" tIns="0" bIns="0">
            <a:spAutoFit/>
          </a:bodyPr>
          <a:lstStyle/>
          <a:p>
            <a:r>
              <a:rPr sz="1150" b="0">
                <a:solidFill>
                  <a:srgbClr val="2E2E2E"/>
                </a:solidFill>
                <a:latin typeface="Calibri"/>
              </a:rPr>
              <a:t>▪ 'Super-premium / speciality' is the fastest-growing price</a:t>
            </a:r>
          </a:p>
        </p:txBody>
      </p:sp>
      <p:sp>
        <p:nvSpPr>
          <p:cNvPr id="47" name="TextBox 46"/>
          <p:cNvSpPr txBox="1"/>
          <p:nvPr/>
        </p:nvSpPr>
        <p:spPr>
          <a:xfrm>
            <a:off x="7829550" y="2381631"/>
            <a:ext cx="888317" cy="194310"/>
          </a:xfrm>
          <a:prstGeom prst="rect">
            <a:avLst/>
          </a:prstGeom>
          <a:noFill/>
        </p:spPr>
        <p:txBody>
          <a:bodyPr wrap="none" lIns="0" rIns="0" tIns="0" bIns="0">
            <a:spAutoFit/>
          </a:bodyPr>
          <a:lstStyle/>
          <a:p>
            <a:r>
              <a:rPr sz="1150" b="0">
                <a:solidFill>
                  <a:srgbClr val="2E2E2E"/>
                </a:solidFill>
                <a:latin typeface="Calibri"/>
              </a:rPr>
              <a:t>positioning at</a:t>
            </a:r>
          </a:p>
        </p:txBody>
      </p:sp>
      <p:pic>
        <p:nvPicPr>
          <p:cNvPr id="48" name="Picture 47" descr="lock.png"/>
          <p:cNvPicPr>
            <a:picLocks noChangeAspect="1"/>
          </p:cNvPicPr>
          <p:nvPr/>
        </p:nvPicPr>
        <p:blipFill>
          <a:blip r:embed="rId5"/>
          <a:stretch>
            <a:fillRect/>
          </a:stretch>
        </p:blipFill>
        <p:spPr>
          <a:xfrm>
            <a:off x="8667021" y="2371407"/>
            <a:ext cx="134549" cy="195707"/>
          </a:xfrm>
          <a:prstGeom prst="rect">
            <a:avLst/>
          </a:prstGeom>
        </p:spPr>
      </p:pic>
      <p:sp>
        <p:nvSpPr>
          <p:cNvPr id="49" name="TextBox 48"/>
          <p:cNvSpPr txBox="1"/>
          <p:nvPr/>
        </p:nvSpPr>
        <p:spPr>
          <a:xfrm>
            <a:off x="8842131"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Price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Price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901628"/>
                <a:gridCol w="665705"/>
                <a:gridCol w="665705"/>
                <a:gridCol w="665705"/>
                <a:gridCol w="665705"/>
                <a:gridCol w="665705"/>
                <a:gridCol w="665705"/>
                <a:gridCol w="665705"/>
                <a:gridCol w="665705"/>
                <a:gridCol w="665705"/>
                <a:gridCol w="665705"/>
                <a:gridCol w="665705"/>
                <a:gridCol w="665705"/>
                <a:gridCol w="665705"/>
                <a:gridCol w="665705"/>
                <a:gridCol w="665705"/>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Price Positioning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sp>
        <p:nvSpPr>
          <p:cNvPr id="33" name="Rectangle 32"/>
          <p:cNvSpPr/>
          <p:nvPr/>
        </p:nvSpPr>
        <p:spPr>
          <a:xfrm>
            <a:off x="1857375" y="3248025"/>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sp>
        <p:nvSpPr>
          <p:cNvPr id="49" name="Rectangle 48"/>
          <p:cNvSpPr/>
          <p:nvPr/>
        </p:nvSpPr>
        <p:spPr>
          <a:xfrm>
            <a:off x="1857375" y="4079081"/>
            <a:ext cx="643890" cy="831056"/>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sp>
        <p:nvSpPr>
          <p:cNvPr id="65" name="Rectangle 64"/>
          <p:cNvSpPr/>
          <p:nvPr/>
        </p:nvSpPr>
        <p:spPr>
          <a:xfrm>
            <a:off x="1857375" y="4910138"/>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81" name="Rectangle 80"/>
          <p:cNvSpPr/>
          <p:nvPr/>
        </p:nvSpPr>
        <p:spPr>
          <a:xfrm>
            <a:off x="1857375" y="5741194"/>
            <a:ext cx="643890" cy="831056"/>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60125" y="1713738"/>
            <a:ext cx="366712" cy="533400"/>
          </a:xfrm>
          <a:prstGeom prst="rect">
            <a:avLst/>
          </a:prstGeom>
        </p:spPr>
      </p:pic>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Price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Price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2024859"/>
                <a:gridCol w="657489"/>
                <a:gridCol w="657489"/>
                <a:gridCol w="657489"/>
                <a:gridCol w="657489"/>
                <a:gridCol w="657489"/>
                <a:gridCol w="657489"/>
                <a:gridCol w="657489"/>
                <a:gridCol w="657489"/>
                <a:gridCol w="657489"/>
                <a:gridCol w="657489"/>
                <a:gridCol w="657489"/>
                <a:gridCol w="657489"/>
                <a:gridCol w="657489"/>
                <a:gridCol w="657489"/>
                <a:gridCol w="657489"/>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Price Positioning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sp>
        <p:nvSpPr>
          <p:cNvPr id="33" name="Rectangle 32"/>
          <p:cNvSpPr/>
          <p:nvPr/>
        </p:nvSpPr>
        <p:spPr>
          <a:xfrm>
            <a:off x="1857375" y="3248025"/>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sp>
        <p:nvSpPr>
          <p:cNvPr id="49" name="Rectangle 48"/>
          <p:cNvSpPr/>
          <p:nvPr/>
        </p:nvSpPr>
        <p:spPr>
          <a:xfrm>
            <a:off x="1857375" y="4079081"/>
            <a:ext cx="643890" cy="831056"/>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D5F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sp>
        <p:nvSpPr>
          <p:cNvPr id="65" name="Rectangle 64"/>
          <p:cNvSpPr/>
          <p:nvPr/>
        </p:nvSpPr>
        <p:spPr>
          <a:xfrm>
            <a:off x="1857375" y="4910138"/>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81" name="Rectangle 80"/>
          <p:cNvSpPr/>
          <p:nvPr/>
        </p:nvSpPr>
        <p:spPr>
          <a:xfrm>
            <a:off x="1857375" y="5741194"/>
            <a:ext cx="643890" cy="831056"/>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921736" y="1713738"/>
            <a:ext cx="366712" cy="533400"/>
          </a:xfrm>
          <a:prstGeom prst="rect">
            <a:avLst/>
          </a:prstGeom>
        </p:spPr>
      </p:pic>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Brand Ownership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Brand Ownership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Brand Ownership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Brand Ownership,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Brand Ownership segment categorizes the market by brand ownership.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Retailer private labels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Manufacturer brands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 operator brands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Brand Ownership split shows how demand is distributed across brand ownership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1_549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_375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4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450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09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3_8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598_9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883_0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0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912764" cy="186689"/>
          </a:xfrm>
          <a:prstGeom prst="rect">
            <a:avLst/>
          </a:prstGeom>
          <a:noFill/>
        </p:spPr>
        <p:txBody>
          <a:bodyPr wrap="none" lIns="0" rIns="0" tIns="0" bIns="0">
            <a:spAutoFit/>
          </a:bodyPr>
          <a:lstStyle/>
          <a:p>
            <a:r>
              <a:rPr sz="1100" b="0">
                <a:solidFill>
                  <a:srgbClr val="2E2E2E"/>
                </a:solidFill>
                <a:latin typeface="Calibri"/>
              </a:rPr>
              <a:t>▪ 'Retailer private labels' holds the largest share in</a:t>
            </a:r>
          </a:p>
        </p:txBody>
      </p:sp>
      <p:sp>
        <p:nvSpPr>
          <p:cNvPr id="70" name="TextBox 69"/>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71" name="Picture 70" descr="lock.png"/>
          <p:cNvPicPr>
            <a:picLocks noChangeAspect="1"/>
          </p:cNvPicPr>
          <p:nvPr/>
        </p:nvPicPr>
        <p:blipFill>
          <a:blip r:embed="rId13"/>
          <a:stretch>
            <a:fillRect/>
          </a:stretch>
        </p:blipFill>
        <p:spPr>
          <a:xfrm>
            <a:off x="793792" y="4387298"/>
            <a:ext cx="128699" cy="187198"/>
          </a:xfrm>
          <a:prstGeom prst="rect">
            <a:avLst/>
          </a:prstGeom>
        </p:spPr>
      </p:pic>
      <p:sp>
        <p:nvSpPr>
          <p:cNvPr id="72" name="TextBox 71"/>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3" name="TextBox 72"/>
          <p:cNvSpPr txBox="1"/>
          <p:nvPr/>
        </p:nvSpPr>
        <p:spPr>
          <a:xfrm>
            <a:off x="485775" y="4615009"/>
            <a:ext cx="2709763" cy="186689"/>
          </a:xfrm>
          <a:prstGeom prst="rect">
            <a:avLst/>
          </a:prstGeom>
          <a:noFill/>
        </p:spPr>
        <p:txBody>
          <a:bodyPr wrap="none" lIns="0" rIns="0" tIns="0" bIns="0">
            <a:spAutoFit/>
          </a:bodyPr>
          <a:lstStyle/>
          <a:p>
            <a:r>
              <a:rPr sz="1100" b="0">
                <a:solidFill>
                  <a:srgbClr val="2E2E2E"/>
                </a:solidFill>
                <a:latin typeface="Calibri"/>
              </a:rPr>
              <a:t>▪ 'Retailer private labels' is the fastest-growing</a:t>
            </a:r>
          </a:p>
        </p:txBody>
      </p:sp>
      <p:sp>
        <p:nvSpPr>
          <p:cNvPr id="74" name="TextBox 7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75" name="Picture 74" descr="lock.png"/>
          <p:cNvPicPr>
            <a:picLocks noChangeAspect="1"/>
          </p:cNvPicPr>
          <p:nvPr/>
        </p:nvPicPr>
        <p:blipFill>
          <a:blip r:embed="rId13"/>
          <a:stretch>
            <a:fillRect/>
          </a:stretch>
        </p:blipFill>
        <p:spPr>
          <a:xfrm>
            <a:off x="1391064" y="4772870"/>
            <a:ext cx="128699" cy="187198"/>
          </a:xfrm>
          <a:prstGeom prst="rect">
            <a:avLst/>
          </a:prstGeom>
        </p:spPr>
      </p:pic>
      <p:sp>
        <p:nvSpPr>
          <p:cNvPr id="76" name="TextBox 7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7" name="TextBox 7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8" name="Picture 77" descr="lock.png"/>
          <p:cNvPicPr>
            <a:picLocks noChangeAspect="1"/>
          </p:cNvPicPr>
          <p:nvPr/>
        </p:nvPicPr>
        <p:blipFill>
          <a:blip r:embed="rId13"/>
          <a:stretch>
            <a:fillRect/>
          </a:stretch>
        </p:blipFill>
        <p:spPr>
          <a:xfrm>
            <a:off x="2240451" y="4990801"/>
            <a:ext cx="128699" cy="187198"/>
          </a:xfrm>
          <a:prstGeom prst="rect">
            <a:avLst/>
          </a:prstGeom>
        </p:spPr>
      </p:pic>
      <p:sp>
        <p:nvSpPr>
          <p:cNvPr id="79" name="TextBox 7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0" name="Picture 79" descr="lock.png"/>
          <p:cNvPicPr>
            <a:picLocks noChangeAspect="1"/>
          </p:cNvPicPr>
          <p:nvPr/>
        </p:nvPicPr>
        <p:blipFill>
          <a:blip r:embed="rId13"/>
          <a:stretch>
            <a:fillRect/>
          </a:stretch>
        </p:blipFill>
        <p:spPr>
          <a:xfrm>
            <a:off x="2552799" y="4990801"/>
            <a:ext cx="128699" cy="187198"/>
          </a:xfrm>
          <a:prstGeom prst="rect">
            <a:avLst/>
          </a:prstGeom>
        </p:spPr>
      </p:pic>
      <p:sp>
        <p:nvSpPr>
          <p:cNvPr id="81" name="TextBox 8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2" name="TextBox 8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3" name="TextBox 82"/>
          <p:cNvSpPr txBox="1"/>
          <p:nvPr/>
        </p:nvSpPr>
        <p:spPr>
          <a:xfrm>
            <a:off x="485775" y="5386153"/>
            <a:ext cx="2791345" cy="186689"/>
          </a:xfrm>
          <a:prstGeom prst="rect">
            <a:avLst/>
          </a:prstGeom>
          <a:noFill/>
        </p:spPr>
        <p:txBody>
          <a:bodyPr wrap="none" lIns="0" rIns="0" tIns="0" bIns="0">
            <a:spAutoFit/>
          </a:bodyPr>
          <a:lstStyle/>
          <a:p>
            <a:r>
              <a:rPr sz="1100" b="0">
                <a:solidFill>
                  <a:srgbClr val="2E2E2E"/>
                </a:solidFill>
                <a:latin typeface="Calibri"/>
              </a:rPr>
              <a:t>▪ 3 sub-segments make up the brand ownership</a:t>
            </a:r>
          </a:p>
        </p:txBody>
      </p:sp>
      <p:sp>
        <p:nvSpPr>
          <p:cNvPr id="84" name="TextBox 8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5" name="TextBox 84"/>
          <p:cNvSpPr txBox="1"/>
          <p:nvPr/>
        </p:nvSpPr>
        <p:spPr>
          <a:xfrm>
            <a:off x="3838575" y="4229437"/>
            <a:ext cx="1464468" cy="186689"/>
          </a:xfrm>
          <a:prstGeom prst="rect">
            <a:avLst/>
          </a:prstGeom>
          <a:noFill/>
        </p:spPr>
        <p:txBody>
          <a:bodyPr wrap="none" lIns="0" rIns="0" tIns="0" bIns="0">
            <a:spAutoFit/>
          </a:bodyPr>
          <a:lstStyle/>
          <a:p>
            <a:r>
              <a:rPr sz="1100" b="0">
                <a:solidFill>
                  <a:srgbClr val="2E2E2E"/>
                </a:solidFill>
                <a:latin typeface="Calibri"/>
              </a:rPr>
              <a:t>● Retailer private labels:</a:t>
            </a:r>
          </a:p>
        </p:txBody>
      </p:sp>
      <p:pic>
        <p:nvPicPr>
          <p:cNvPr id="86" name="Picture 85" descr="lock.png"/>
          <p:cNvPicPr>
            <a:picLocks noChangeAspect="1"/>
          </p:cNvPicPr>
          <p:nvPr/>
        </p:nvPicPr>
        <p:blipFill>
          <a:blip r:embed="rId13"/>
          <a:stretch>
            <a:fillRect/>
          </a:stretch>
        </p:blipFill>
        <p:spPr>
          <a:xfrm>
            <a:off x="5251095" y="4219658"/>
            <a:ext cx="128699" cy="187198"/>
          </a:xfrm>
          <a:prstGeom prst="rect">
            <a:avLst/>
          </a:prstGeom>
        </p:spPr>
      </p:pic>
      <p:sp>
        <p:nvSpPr>
          <p:cNvPr id="87" name="TextBox 86"/>
          <p:cNvSpPr txBox="1"/>
          <p:nvPr/>
        </p:nvSpPr>
        <p:spPr>
          <a:xfrm>
            <a:off x="541859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8" name="Picture 87" descr="lock.png"/>
          <p:cNvPicPr>
            <a:picLocks noChangeAspect="1"/>
          </p:cNvPicPr>
          <p:nvPr/>
        </p:nvPicPr>
        <p:blipFill>
          <a:blip r:embed="rId13"/>
          <a:stretch>
            <a:fillRect/>
          </a:stretch>
        </p:blipFill>
        <p:spPr>
          <a:xfrm>
            <a:off x="6278041" y="4219658"/>
            <a:ext cx="128699" cy="187198"/>
          </a:xfrm>
          <a:prstGeom prst="rect">
            <a:avLst/>
          </a:prstGeom>
        </p:spPr>
      </p:pic>
      <p:sp>
        <p:nvSpPr>
          <p:cNvPr id="89" name="TextBox 88"/>
          <p:cNvSpPr txBox="1"/>
          <p:nvPr/>
        </p:nvSpPr>
        <p:spPr>
          <a:xfrm>
            <a:off x="6445537"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0" name="TextBox 89"/>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1" name="TextBox 90"/>
          <p:cNvSpPr txBox="1"/>
          <p:nvPr/>
        </p:nvSpPr>
        <p:spPr>
          <a:xfrm>
            <a:off x="3838575" y="4615009"/>
            <a:ext cx="1441003" cy="186689"/>
          </a:xfrm>
          <a:prstGeom prst="rect">
            <a:avLst/>
          </a:prstGeom>
          <a:noFill/>
        </p:spPr>
        <p:txBody>
          <a:bodyPr wrap="none" lIns="0" rIns="0" tIns="0" bIns="0">
            <a:spAutoFit/>
          </a:bodyPr>
          <a:lstStyle/>
          <a:p>
            <a:r>
              <a:rPr sz="1100" b="0">
                <a:solidFill>
                  <a:srgbClr val="2E2E2E"/>
                </a:solidFill>
                <a:latin typeface="Calibri"/>
              </a:rPr>
              <a:t>● Manufacturer brands:</a:t>
            </a:r>
          </a:p>
        </p:txBody>
      </p:sp>
      <p:pic>
        <p:nvPicPr>
          <p:cNvPr id="92" name="Picture 91" descr="lock.png"/>
          <p:cNvPicPr>
            <a:picLocks noChangeAspect="1"/>
          </p:cNvPicPr>
          <p:nvPr/>
        </p:nvPicPr>
        <p:blipFill>
          <a:blip r:embed="rId13"/>
          <a:stretch>
            <a:fillRect/>
          </a:stretch>
        </p:blipFill>
        <p:spPr>
          <a:xfrm>
            <a:off x="5227630" y="4605230"/>
            <a:ext cx="128699" cy="187198"/>
          </a:xfrm>
          <a:prstGeom prst="rect">
            <a:avLst/>
          </a:prstGeom>
        </p:spPr>
      </p:pic>
      <p:sp>
        <p:nvSpPr>
          <p:cNvPr id="93" name="TextBox 92"/>
          <p:cNvSpPr txBox="1"/>
          <p:nvPr/>
        </p:nvSpPr>
        <p:spPr>
          <a:xfrm>
            <a:off x="5395125"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6254576" y="4605230"/>
            <a:ext cx="128699" cy="187198"/>
          </a:xfrm>
          <a:prstGeom prst="rect">
            <a:avLst/>
          </a:prstGeom>
        </p:spPr>
      </p:pic>
      <p:sp>
        <p:nvSpPr>
          <p:cNvPr id="95" name="TextBox 94"/>
          <p:cNvSpPr txBox="1"/>
          <p:nvPr/>
        </p:nvSpPr>
        <p:spPr>
          <a:xfrm>
            <a:off x="6422071"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6" name="TextBox 95"/>
          <p:cNvSpPr txBox="1"/>
          <p:nvPr/>
        </p:nvSpPr>
        <p:spPr>
          <a:xfrm>
            <a:off x="3838575" y="4832941"/>
            <a:ext cx="1952570" cy="186689"/>
          </a:xfrm>
          <a:prstGeom prst="rect">
            <a:avLst/>
          </a:prstGeom>
          <a:noFill/>
        </p:spPr>
        <p:txBody>
          <a:bodyPr wrap="none" lIns="0" rIns="0" tIns="0" bIns="0">
            <a:spAutoFit/>
          </a:bodyPr>
          <a:lstStyle/>
          <a:p>
            <a:r>
              <a:rPr sz="1100" b="0">
                <a:solidFill>
                  <a:srgbClr val="2E2E2E"/>
                </a:solidFill>
                <a:latin typeface="Calibri"/>
              </a:rPr>
              <a:t>● Foodservice / operator brands:</a:t>
            </a:r>
          </a:p>
        </p:txBody>
      </p:sp>
      <p:pic>
        <p:nvPicPr>
          <p:cNvPr id="97" name="Picture 96" descr="lock.png"/>
          <p:cNvPicPr>
            <a:picLocks noChangeAspect="1"/>
          </p:cNvPicPr>
          <p:nvPr/>
        </p:nvPicPr>
        <p:blipFill>
          <a:blip r:embed="rId13"/>
          <a:stretch>
            <a:fillRect/>
          </a:stretch>
        </p:blipFill>
        <p:spPr>
          <a:xfrm>
            <a:off x="5739196" y="4823162"/>
            <a:ext cx="128699" cy="187198"/>
          </a:xfrm>
          <a:prstGeom prst="rect">
            <a:avLst/>
          </a:prstGeom>
        </p:spPr>
      </p:pic>
      <p:sp>
        <p:nvSpPr>
          <p:cNvPr id="98" name="TextBox 97"/>
          <p:cNvSpPr txBox="1"/>
          <p:nvPr/>
        </p:nvSpPr>
        <p:spPr>
          <a:xfrm>
            <a:off x="5906692"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766142" y="4823162"/>
            <a:ext cx="128699" cy="187198"/>
          </a:xfrm>
          <a:prstGeom prst="rect">
            <a:avLst/>
          </a:prstGeom>
        </p:spPr>
      </p:pic>
      <p:sp>
        <p:nvSpPr>
          <p:cNvPr id="100" name="TextBox 99"/>
          <p:cNvSpPr txBox="1"/>
          <p:nvPr/>
        </p:nvSpPr>
        <p:spPr>
          <a:xfrm>
            <a:off x="6933638"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1" name="TextBox 100"/>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2" name="TextBox 10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Brand Ownership segment is projected to grow</a:t>
            </a:r>
          </a:p>
        </p:txBody>
      </p:sp>
      <p:sp>
        <p:nvSpPr>
          <p:cNvPr id="103" name="TextBox 102"/>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04" name="Picture 103" descr="lock.png"/>
          <p:cNvPicPr>
            <a:picLocks noChangeAspect="1"/>
          </p:cNvPicPr>
          <p:nvPr/>
        </p:nvPicPr>
        <p:blipFill>
          <a:blip r:embed="rId13"/>
          <a:stretch>
            <a:fillRect/>
          </a:stretch>
        </p:blipFill>
        <p:spPr>
          <a:xfrm>
            <a:off x="9310118" y="6007677"/>
            <a:ext cx="134549" cy="195707"/>
          </a:xfrm>
          <a:prstGeom prst="rect">
            <a:avLst/>
          </a:prstGeom>
        </p:spPr>
      </p:pic>
      <p:sp>
        <p:nvSpPr>
          <p:cNvPr id="105" name="TextBox 104"/>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Brand Ownership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Brand Ownership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Brand Ownership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Brand Ownership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836642" cy="186689"/>
          </a:xfrm>
          <a:prstGeom prst="rect">
            <a:avLst/>
          </a:prstGeom>
          <a:noFill/>
        </p:spPr>
        <p:txBody>
          <a:bodyPr wrap="none" lIns="0" rIns="0" tIns="0" bIns="0">
            <a:spAutoFit/>
          </a:bodyPr>
          <a:lstStyle/>
          <a:p>
            <a:r>
              <a:rPr sz="1100" b="0">
                <a:solidFill>
                  <a:srgbClr val="2E2E2E"/>
                </a:solidFill>
                <a:latin typeface="Calibri"/>
              </a:rPr>
              <a:t>Between 2026 and 2036, 'Retailer private labels' gains the most share in the North America market (+</a:t>
            </a:r>
          </a:p>
        </p:txBody>
      </p:sp>
      <p:pic>
        <p:nvPicPr>
          <p:cNvPr id="21" name="Picture 20" descr="lock.png"/>
          <p:cNvPicPr>
            <a:picLocks noChangeAspect="1"/>
          </p:cNvPicPr>
          <p:nvPr/>
        </p:nvPicPr>
        <p:blipFill>
          <a:blip r:embed="rId6"/>
          <a:stretch>
            <a:fillRect/>
          </a:stretch>
        </p:blipFill>
        <p:spPr>
          <a:xfrm>
            <a:off x="6041868" y="5851905"/>
            <a:ext cx="128699" cy="187198"/>
          </a:xfrm>
          <a:prstGeom prst="rect">
            <a:avLst/>
          </a:prstGeom>
        </p:spPr>
      </p:pic>
      <p:sp>
        <p:nvSpPr>
          <p:cNvPr id="22" name="TextBox 21"/>
          <p:cNvSpPr txBox="1"/>
          <p:nvPr/>
        </p:nvSpPr>
        <p:spPr>
          <a:xfrm>
            <a:off x="6209364" y="5861685"/>
            <a:ext cx="2332682" cy="186689"/>
          </a:xfrm>
          <a:prstGeom prst="rect">
            <a:avLst/>
          </a:prstGeom>
          <a:noFill/>
        </p:spPr>
        <p:txBody>
          <a:bodyPr wrap="none" lIns="0" rIns="0" tIns="0" bIns="0">
            <a:spAutoFit/>
          </a:bodyPr>
          <a:lstStyle/>
          <a:p>
            <a:r>
              <a:rPr sz="1100" b="0">
                <a:solidFill>
                  <a:srgbClr val="2E2E2E"/>
                </a:solidFill>
                <a:latin typeface="Calibri"/>
              </a:rPr>
              <a:t>BPS) while 'Manufacturer brands' cedes</a:t>
            </a:r>
          </a:p>
        </p:txBody>
      </p:sp>
      <p:pic>
        <p:nvPicPr>
          <p:cNvPr id="23" name="Picture 22" descr="lock.png"/>
          <p:cNvPicPr>
            <a:picLocks noChangeAspect="1"/>
          </p:cNvPicPr>
          <p:nvPr/>
        </p:nvPicPr>
        <p:blipFill>
          <a:blip r:embed="rId6"/>
          <a:stretch>
            <a:fillRect/>
          </a:stretch>
        </p:blipFill>
        <p:spPr>
          <a:xfrm>
            <a:off x="8490098" y="5851905"/>
            <a:ext cx="128699" cy="187198"/>
          </a:xfrm>
          <a:prstGeom prst="rect">
            <a:avLst/>
          </a:prstGeom>
        </p:spPr>
      </p:pic>
      <p:sp>
        <p:nvSpPr>
          <p:cNvPr id="24" name="TextBox 23"/>
          <p:cNvSpPr txBox="1"/>
          <p:nvPr/>
        </p:nvSpPr>
        <p:spPr>
          <a:xfrm>
            <a:off x="8657594" y="5861685"/>
            <a:ext cx="310210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a:t>
            </a:r>
          </a:p>
        </p:txBody>
      </p:sp>
      <p:sp>
        <p:nvSpPr>
          <p:cNvPr id="25" name="TextBox 24"/>
          <p:cNvSpPr txBox="1"/>
          <p:nvPr/>
        </p:nvSpPr>
        <p:spPr>
          <a:xfrm>
            <a:off x="257175" y="602932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Brand Ownership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Manufacturer brands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Retailer private labels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Foodservice / operator brands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Brand Ownership</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258207" cy="194310"/>
          </a:xfrm>
          <a:prstGeom prst="rect">
            <a:avLst/>
          </a:prstGeom>
          <a:noFill/>
        </p:spPr>
        <p:txBody>
          <a:bodyPr wrap="none" lIns="0" rIns="0" tIns="0" bIns="0">
            <a:spAutoFit/>
          </a:bodyPr>
          <a:lstStyle/>
          <a:p>
            <a:r>
              <a:rPr sz="1150" b="0">
                <a:solidFill>
                  <a:srgbClr val="2E2E2E"/>
                </a:solidFill>
                <a:latin typeface="Calibri"/>
              </a:rPr>
              <a:t>▪ Across its 3 sub-segments, by brand ownership adds</a:t>
            </a:r>
          </a:p>
        </p:txBody>
      </p:sp>
      <p:pic>
        <p:nvPicPr>
          <p:cNvPr id="29" name="Picture 28" descr="lock.png"/>
          <p:cNvPicPr>
            <a:picLocks noChangeAspect="1"/>
          </p:cNvPicPr>
          <p:nvPr/>
        </p:nvPicPr>
        <p:blipFill>
          <a:blip r:embed="rId7"/>
          <a:stretch>
            <a:fillRect/>
          </a:stretch>
        </p:blipFill>
        <p:spPr>
          <a:xfrm>
            <a:off x="9512911" y="4276026"/>
            <a:ext cx="134549" cy="195707"/>
          </a:xfrm>
          <a:prstGeom prst="rect">
            <a:avLst/>
          </a:prstGeom>
        </p:spPr>
      </p:pic>
      <p:sp>
        <p:nvSpPr>
          <p:cNvPr id="30" name="TextBox 29"/>
          <p:cNvSpPr txBox="1"/>
          <p:nvPr/>
        </p:nvSpPr>
        <p:spPr>
          <a:xfrm>
            <a:off x="9688020" y="4286250"/>
            <a:ext cx="1841636" cy="194310"/>
          </a:xfrm>
          <a:prstGeom prst="rect">
            <a:avLst/>
          </a:prstGeom>
          <a:noFill/>
        </p:spPr>
        <p:txBody>
          <a:bodyPr wrap="none" lIns="0" rIns="0" tIns="0" bIns="0">
            <a:spAutoFit/>
          </a:bodyPr>
          <a:lstStyle/>
          <a:p>
            <a:r>
              <a:rPr sz="1150" b="0">
                <a:solidFill>
                  <a:srgbClr val="2E2E2E"/>
                </a:solidFill>
                <a:latin typeface="Calibri"/>
              </a:rPr>
              <a:t>US$ Mn to the North America</a:t>
            </a:r>
          </a:p>
        </p:txBody>
      </p:sp>
      <p:sp>
        <p:nvSpPr>
          <p:cNvPr id="31" name="TextBox 30"/>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2" name="TextBox 31"/>
          <p:cNvSpPr txBox="1"/>
          <p:nvPr/>
        </p:nvSpPr>
        <p:spPr>
          <a:xfrm>
            <a:off x="6305550" y="4689347"/>
            <a:ext cx="1829941" cy="194310"/>
          </a:xfrm>
          <a:prstGeom prst="rect">
            <a:avLst/>
          </a:prstGeom>
          <a:noFill/>
        </p:spPr>
        <p:txBody>
          <a:bodyPr wrap="none" lIns="0" rIns="0" tIns="0" bIns="0">
            <a:spAutoFit/>
          </a:bodyPr>
          <a:lstStyle/>
          <a:p>
            <a:r>
              <a:rPr sz="1150" b="0">
                <a:solidFill>
                  <a:srgbClr val="2E2E2E"/>
                </a:solidFill>
                <a:latin typeface="Calibri"/>
              </a:rPr>
              <a:t>▪ 'Retailer private labels' adds</a:t>
            </a:r>
          </a:p>
        </p:txBody>
      </p:sp>
      <p:pic>
        <p:nvPicPr>
          <p:cNvPr id="33" name="Picture 32" descr="lock.png"/>
          <p:cNvPicPr>
            <a:picLocks noChangeAspect="1"/>
          </p:cNvPicPr>
          <p:nvPr/>
        </p:nvPicPr>
        <p:blipFill>
          <a:blip r:embed="rId7"/>
          <a:stretch>
            <a:fillRect/>
          </a:stretch>
        </p:blipFill>
        <p:spPr>
          <a:xfrm>
            <a:off x="8084644" y="4679124"/>
            <a:ext cx="134549" cy="195707"/>
          </a:xfrm>
          <a:prstGeom prst="rect">
            <a:avLst/>
          </a:prstGeom>
        </p:spPr>
      </p:pic>
      <p:sp>
        <p:nvSpPr>
          <p:cNvPr id="34" name="TextBox 33"/>
          <p:cNvSpPr txBox="1"/>
          <p:nvPr/>
        </p:nvSpPr>
        <p:spPr>
          <a:xfrm>
            <a:off x="8259754"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8832225" y="4679124"/>
            <a:ext cx="134549" cy="195707"/>
          </a:xfrm>
          <a:prstGeom prst="rect">
            <a:avLst/>
          </a:prstGeom>
        </p:spPr>
      </p:pic>
      <p:sp>
        <p:nvSpPr>
          <p:cNvPr id="36" name="TextBox 35"/>
          <p:cNvSpPr txBox="1"/>
          <p:nvPr/>
        </p:nvSpPr>
        <p:spPr>
          <a:xfrm>
            <a:off x="9007334"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805409" cy="194310"/>
          </a:xfrm>
          <a:prstGeom prst="rect">
            <a:avLst/>
          </a:prstGeom>
          <a:noFill/>
        </p:spPr>
        <p:txBody>
          <a:bodyPr wrap="none" lIns="0" rIns="0" tIns="0" bIns="0">
            <a:spAutoFit/>
          </a:bodyPr>
          <a:lstStyle/>
          <a:p>
            <a:r>
              <a:rPr sz="1150" b="0">
                <a:solidFill>
                  <a:srgbClr val="2E2E2E"/>
                </a:solidFill>
                <a:latin typeface="Calibri"/>
              </a:rPr>
              <a:t>▪ 'Manufacturer brands' adds</a:t>
            </a:r>
          </a:p>
        </p:txBody>
      </p:sp>
      <p:pic>
        <p:nvPicPr>
          <p:cNvPr id="38" name="Picture 37" descr="lock.png"/>
          <p:cNvPicPr>
            <a:picLocks noChangeAspect="1"/>
          </p:cNvPicPr>
          <p:nvPr/>
        </p:nvPicPr>
        <p:blipFill>
          <a:blip r:embed="rId7"/>
          <a:stretch>
            <a:fillRect/>
          </a:stretch>
        </p:blipFill>
        <p:spPr>
          <a:xfrm>
            <a:off x="8060113" y="4906962"/>
            <a:ext cx="134549" cy="195707"/>
          </a:xfrm>
          <a:prstGeom prst="rect">
            <a:avLst/>
          </a:prstGeom>
        </p:spPr>
      </p:pic>
      <p:sp>
        <p:nvSpPr>
          <p:cNvPr id="39" name="TextBox 38"/>
          <p:cNvSpPr txBox="1"/>
          <p:nvPr/>
        </p:nvSpPr>
        <p:spPr>
          <a:xfrm>
            <a:off x="8235222"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807693" y="4906962"/>
            <a:ext cx="134549" cy="195707"/>
          </a:xfrm>
          <a:prstGeom prst="rect">
            <a:avLst/>
          </a:prstGeom>
        </p:spPr>
      </p:pic>
      <p:sp>
        <p:nvSpPr>
          <p:cNvPr id="41" name="TextBox 40"/>
          <p:cNvSpPr txBox="1"/>
          <p:nvPr/>
        </p:nvSpPr>
        <p:spPr>
          <a:xfrm>
            <a:off x="8982802"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2340229" cy="194310"/>
          </a:xfrm>
          <a:prstGeom prst="rect">
            <a:avLst/>
          </a:prstGeom>
          <a:noFill/>
        </p:spPr>
        <p:txBody>
          <a:bodyPr wrap="none" lIns="0" rIns="0" tIns="0" bIns="0">
            <a:spAutoFit/>
          </a:bodyPr>
          <a:lstStyle/>
          <a:p>
            <a:r>
              <a:rPr sz="1150" b="0">
                <a:solidFill>
                  <a:srgbClr val="2E2E2E"/>
                </a:solidFill>
                <a:latin typeface="Calibri"/>
              </a:rPr>
              <a:t>▪ 'Foodservice / operator brands' adds</a:t>
            </a:r>
          </a:p>
        </p:txBody>
      </p:sp>
      <p:pic>
        <p:nvPicPr>
          <p:cNvPr id="43" name="Picture 42" descr="lock.png"/>
          <p:cNvPicPr>
            <a:picLocks noChangeAspect="1"/>
          </p:cNvPicPr>
          <p:nvPr/>
        </p:nvPicPr>
        <p:blipFill>
          <a:blip r:embed="rId7"/>
          <a:stretch>
            <a:fillRect/>
          </a:stretch>
        </p:blipFill>
        <p:spPr>
          <a:xfrm>
            <a:off x="8594932" y="5134800"/>
            <a:ext cx="134549" cy="195707"/>
          </a:xfrm>
          <a:prstGeom prst="rect">
            <a:avLst/>
          </a:prstGeom>
        </p:spPr>
      </p:pic>
      <p:sp>
        <p:nvSpPr>
          <p:cNvPr id="44" name="TextBox 43"/>
          <p:cNvSpPr txBox="1"/>
          <p:nvPr/>
        </p:nvSpPr>
        <p:spPr>
          <a:xfrm>
            <a:off x="8770042"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9342513" y="5134800"/>
            <a:ext cx="134549" cy="195707"/>
          </a:xfrm>
          <a:prstGeom prst="rect">
            <a:avLst/>
          </a:prstGeom>
        </p:spPr>
      </p:pic>
      <p:sp>
        <p:nvSpPr>
          <p:cNvPr id="46" name="TextBox 45"/>
          <p:cNvSpPr txBox="1"/>
          <p:nvPr/>
        </p:nvSpPr>
        <p:spPr>
          <a:xfrm>
            <a:off x="9517622"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Brand Ownership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Brand Ownership,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Brand Ownership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1886817"/>
                <a:gridCol w="535424"/>
                <a:gridCol w="535424"/>
                <a:gridCol w="535424"/>
                <a:gridCol w="535424"/>
                <a:gridCol w="535424"/>
                <a:gridCol w="535424"/>
                <a:gridCol w="535424"/>
                <a:gridCol w="645795"/>
                <a:gridCol w="645795"/>
                <a:gridCol w="645795"/>
                <a:gridCol w="645795"/>
                <a:gridCol w="645795"/>
                <a:gridCol w="645795"/>
                <a:gridCol w="645795"/>
                <a:gridCol w="645795"/>
                <a:gridCol w="645795"/>
                <a:gridCol w="440260"/>
              </a:tblGrid>
              <a:tr h="438912">
                <a:tc>
                  <a:txBody>
                    <a:bodyPr wrap="none"/>
                    <a:lstStyle/>
                    <a:p>
                      <a:pPr algn="l"/>
                      <a:r>
                        <a:rPr sz="1100" b="1">
                          <a:solidFill>
                            <a:srgbClr val="0B2E4A"/>
                          </a:solidFill>
                          <a:latin typeface="Calibri"/>
                        </a:rPr>
                        <a:t>Brand Ownership</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7460">
                <a:tc>
                  <a:txBody>
                    <a:bodyPr wrap="none"/>
                    <a:lstStyle/>
                    <a:p>
                      <a:pPr algn="l"/>
                      <a:r>
                        <a:rPr sz="1100" b="1">
                          <a:solidFill>
                            <a:srgbClr val="2E2E2E"/>
                          </a:solidFill>
                          <a:latin typeface="Calibri"/>
                        </a:rPr>
                        <a:t>Manufacturer brands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460">
                <a:tc>
                  <a:txBody>
                    <a:bodyPr wrap="none"/>
                    <a:lstStyle/>
                    <a:p>
                      <a:pPr algn="l"/>
                      <a:r>
                        <a:rPr sz="1100" b="1">
                          <a:solidFill>
                            <a:srgbClr val="2E2E2E"/>
                          </a:solidFill>
                          <a:latin typeface="Calibri"/>
                        </a:rPr>
                        <a:t>Retailer private labels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7460">
                <a:tc>
                  <a:txBody>
                    <a:bodyPr wrap="none"/>
                    <a:lstStyle/>
                    <a:p>
                      <a:pPr algn="l"/>
                      <a:r>
                        <a:rPr sz="1100" b="1">
                          <a:solidFill>
                            <a:srgbClr val="2E2E2E"/>
                          </a:solidFill>
                          <a:latin typeface="Calibri"/>
                        </a:rPr>
                        <a:t>Foodservice / operator brands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Brand Ownership</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52718" y="1905381"/>
            <a:ext cx="366712" cy="533400"/>
          </a:xfrm>
          <a:prstGeom prst="rect">
            <a:avLst/>
          </a:prstGeom>
        </p:spPr>
      </p:pic>
      <p:sp>
        <p:nvSpPr>
          <p:cNvPr id="21" name="TextBox 20"/>
          <p:cNvSpPr txBox="1"/>
          <p:nvPr/>
        </p:nvSpPr>
        <p:spPr>
          <a:xfrm>
            <a:off x="276225" y="3429000"/>
            <a:ext cx="3478138" cy="194310"/>
          </a:xfrm>
          <a:prstGeom prst="rect">
            <a:avLst/>
          </a:prstGeom>
          <a:noFill/>
        </p:spPr>
        <p:txBody>
          <a:bodyPr wrap="none" lIns="0" rIns="0" tIns="0" bIns="0">
            <a:spAutoFit/>
          </a:bodyPr>
          <a:lstStyle/>
          <a:p>
            <a:r>
              <a:rPr sz="1150" b="0">
                <a:solidFill>
                  <a:srgbClr val="2E2E2E"/>
                </a:solidFill>
                <a:latin typeface="Calibri"/>
              </a:rPr>
              <a:t>▪ 'Manufacturer brands' is the largest brand ownership at</a:t>
            </a:r>
          </a:p>
        </p:txBody>
      </p:sp>
      <p:pic>
        <p:nvPicPr>
          <p:cNvPr id="22" name="Picture 21" descr="lock.png"/>
          <p:cNvPicPr>
            <a:picLocks noChangeAspect="1"/>
          </p:cNvPicPr>
          <p:nvPr/>
        </p:nvPicPr>
        <p:blipFill>
          <a:blip r:embed="rId4"/>
          <a:stretch>
            <a:fillRect/>
          </a:stretch>
        </p:blipFill>
        <p:spPr>
          <a:xfrm>
            <a:off x="3703517" y="3418776"/>
            <a:ext cx="134549" cy="195707"/>
          </a:xfrm>
          <a:prstGeom prst="rect">
            <a:avLst/>
          </a:prstGeom>
        </p:spPr>
      </p:pic>
      <p:sp>
        <p:nvSpPr>
          <p:cNvPr id="23" name="TextBox 22"/>
          <p:cNvSpPr txBox="1"/>
          <p:nvPr/>
        </p:nvSpPr>
        <p:spPr>
          <a:xfrm>
            <a:off x="3878626" y="3429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908359" y="3418776"/>
            <a:ext cx="134549" cy="195707"/>
          </a:xfrm>
          <a:prstGeom prst="rect">
            <a:avLst/>
          </a:prstGeom>
        </p:spPr>
      </p:pic>
      <p:sp>
        <p:nvSpPr>
          <p:cNvPr id="25" name="TextBox 24"/>
          <p:cNvSpPr txBox="1"/>
          <p:nvPr/>
        </p:nvSpPr>
        <p:spPr>
          <a:xfrm>
            <a:off x="5083468" y="3429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656837"/>
            <a:ext cx="2340260" cy="194310"/>
          </a:xfrm>
          <a:prstGeom prst="rect">
            <a:avLst/>
          </a:prstGeom>
          <a:noFill/>
        </p:spPr>
        <p:txBody>
          <a:bodyPr wrap="none" lIns="0" rIns="0" tIns="0" bIns="0">
            <a:spAutoFit/>
          </a:bodyPr>
          <a:lstStyle/>
          <a:p>
            <a:r>
              <a:rPr sz="1150" b="0">
                <a:solidFill>
                  <a:srgbClr val="2E2E2E"/>
                </a:solidFill>
                <a:latin typeface="Calibri"/>
              </a:rPr>
              <a:t>▪ 'Retailer private labels' grows fastest</a:t>
            </a:r>
          </a:p>
        </p:txBody>
      </p:sp>
      <p:pic>
        <p:nvPicPr>
          <p:cNvPr id="27" name="Picture 26" descr="lock.png"/>
          <p:cNvPicPr>
            <a:picLocks noChangeAspect="1"/>
          </p:cNvPicPr>
          <p:nvPr/>
        </p:nvPicPr>
        <p:blipFill>
          <a:blip r:embed="rId4"/>
          <a:stretch>
            <a:fillRect/>
          </a:stretch>
        </p:blipFill>
        <p:spPr>
          <a:xfrm>
            <a:off x="2565639" y="3646614"/>
            <a:ext cx="134549" cy="195707"/>
          </a:xfrm>
          <a:prstGeom prst="rect">
            <a:avLst/>
          </a:prstGeom>
        </p:spPr>
      </p:pic>
      <p:sp>
        <p:nvSpPr>
          <p:cNvPr id="28" name="TextBox 27"/>
          <p:cNvSpPr txBox="1"/>
          <p:nvPr/>
        </p:nvSpPr>
        <p:spPr>
          <a:xfrm>
            <a:off x="2740748" y="3656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884675"/>
            <a:ext cx="2849438" cy="194310"/>
          </a:xfrm>
          <a:prstGeom prst="rect">
            <a:avLst/>
          </a:prstGeom>
          <a:noFill/>
        </p:spPr>
        <p:txBody>
          <a:bodyPr wrap="none" lIns="0" rIns="0" tIns="0" bIns="0">
            <a:spAutoFit/>
          </a:bodyPr>
          <a:lstStyle/>
          <a:p>
            <a:r>
              <a:rPr sz="1150" b="0">
                <a:solidFill>
                  <a:srgbClr val="2E2E2E"/>
                </a:solidFill>
                <a:latin typeface="Calibri"/>
              </a:rPr>
              <a:t>▪ Share shifts toward 'Retailer private labels' (+</a:t>
            </a:r>
          </a:p>
        </p:txBody>
      </p:sp>
      <p:pic>
        <p:nvPicPr>
          <p:cNvPr id="30" name="Picture 29" descr="lock.png"/>
          <p:cNvPicPr>
            <a:picLocks noChangeAspect="1"/>
          </p:cNvPicPr>
          <p:nvPr/>
        </p:nvPicPr>
        <p:blipFill>
          <a:blip r:embed="rId4"/>
          <a:stretch>
            <a:fillRect/>
          </a:stretch>
        </p:blipFill>
        <p:spPr>
          <a:xfrm>
            <a:off x="3074817" y="3874452"/>
            <a:ext cx="134549" cy="195707"/>
          </a:xfrm>
          <a:prstGeom prst="rect">
            <a:avLst/>
          </a:prstGeom>
        </p:spPr>
      </p:pic>
      <p:sp>
        <p:nvSpPr>
          <p:cNvPr id="31" name="TextBox 30"/>
          <p:cNvSpPr txBox="1"/>
          <p:nvPr/>
        </p:nvSpPr>
        <p:spPr>
          <a:xfrm>
            <a:off x="3249926" y="3884675"/>
            <a:ext cx="2751025" cy="194310"/>
          </a:xfrm>
          <a:prstGeom prst="rect">
            <a:avLst/>
          </a:prstGeom>
          <a:noFill/>
        </p:spPr>
        <p:txBody>
          <a:bodyPr wrap="none" lIns="0" rIns="0" tIns="0" bIns="0">
            <a:spAutoFit/>
          </a:bodyPr>
          <a:lstStyle/>
          <a:p>
            <a:r>
              <a:rPr sz="1150" b="0">
                <a:solidFill>
                  <a:srgbClr val="2E2E2E"/>
                </a:solidFill>
                <a:latin typeface="Calibri"/>
              </a:rPr>
              <a:t>BPS) and away from 'Manufacturer brands' (-</a:t>
            </a:r>
          </a:p>
        </p:txBody>
      </p:sp>
      <p:pic>
        <p:nvPicPr>
          <p:cNvPr id="32" name="Picture 31" descr="lock.png"/>
          <p:cNvPicPr>
            <a:picLocks noChangeAspect="1"/>
          </p:cNvPicPr>
          <p:nvPr/>
        </p:nvPicPr>
        <p:blipFill>
          <a:blip r:embed="rId4"/>
          <a:stretch>
            <a:fillRect/>
          </a:stretch>
        </p:blipFill>
        <p:spPr>
          <a:xfrm>
            <a:off x="5950106" y="3874452"/>
            <a:ext cx="134549" cy="195707"/>
          </a:xfrm>
          <a:prstGeom prst="rect">
            <a:avLst/>
          </a:prstGeom>
        </p:spPr>
      </p:pic>
      <p:sp>
        <p:nvSpPr>
          <p:cNvPr id="33" name="TextBox 32"/>
          <p:cNvSpPr txBox="1"/>
          <p:nvPr/>
        </p:nvSpPr>
        <p:spPr>
          <a:xfrm>
            <a:off x="6125215" y="3884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12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02290"/>
            <a:ext cx="134549" cy="195707"/>
          </a:xfrm>
          <a:prstGeom prst="rect">
            <a:avLst/>
          </a:prstGeom>
        </p:spPr>
      </p:pic>
      <p:sp>
        <p:nvSpPr>
          <p:cNvPr id="36" name="TextBox 35"/>
          <p:cNvSpPr txBox="1"/>
          <p:nvPr/>
        </p:nvSpPr>
        <p:spPr>
          <a:xfrm>
            <a:off x="1965143" y="4112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02290"/>
            <a:ext cx="134549" cy="195707"/>
          </a:xfrm>
          <a:prstGeom prst="rect">
            <a:avLst/>
          </a:prstGeom>
        </p:spPr>
      </p:pic>
      <p:sp>
        <p:nvSpPr>
          <p:cNvPr id="38" name="TextBox 37"/>
          <p:cNvSpPr txBox="1"/>
          <p:nvPr/>
        </p:nvSpPr>
        <p:spPr>
          <a:xfrm>
            <a:off x="2291688" y="4112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Brand Ownership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Brand Ownership,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Brand Ownership (US$ Mn)</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026843"/>
                <a:gridCol w="580021"/>
                <a:gridCol w="580021"/>
                <a:gridCol w="580021"/>
                <a:gridCol w="580021"/>
                <a:gridCol w="580021"/>
                <a:gridCol w="580021"/>
                <a:gridCol w="580021"/>
                <a:gridCol w="580021"/>
                <a:gridCol w="580021"/>
                <a:gridCol w="580021"/>
                <a:gridCol w="580021"/>
                <a:gridCol w="580021"/>
                <a:gridCol w="580021"/>
                <a:gridCol w="580021"/>
                <a:gridCol w="580021"/>
                <a:gridCol w="580021"/>
                <a:gridCol w="580021"/>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Brand Ownership</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22731" y="1713738"/>
            <a:ext cx="366712" cy="533400"/>
          </a:xfrm>
          <a:prstGeom prst="rect">
            <a:avLst/>
          </a:prstGeom>
        </p:spPr>
      </p:pic>
      <p:sp>
        <p:nvSpPr>
          <p:cNvPr id="21" name="TextBox 20"/>
          <p:cNvSpPr txBox="1"/>
          <p:nvPr/>
        </p:nvSpPr>
        <p:spPr>
          <a:xfrm>
            <a:off x="276225" y="3238500"/>
            <a:ext cx="3502669" cy="194310"/>
          </a:xfrm>
          <a:prstGeom prst="rect">
            <a:avLst/>
          </a:prstGeom>
          <a:noFill/>
        </p:spPr>
        <p:txBody>
          <a:bodyPr wrap="none" lIns="0" rIns="0" tIns="0" bIns="0">
            <a:spAutoFit/>
          </a:bodyPr>
          <a:lstStyle/>
          <a:p>
            <a:r>
              <a:rPr sz="1150" b="0">
                <a:solidFill>
                  <a:srgbClr val="2E2E2E"/>
                </a:solidFill>
                <a:latin typeface="Calibri"/>
              </a:rPr>
              <a:t>▪ 'Retailer private labels' is the largest brand ownership at</a:t>
            </a:r>
          </a:p>
        </p:txBody>
      </p:sp>
      <p:pic>
        <p:nvPicPr>
          <p:cNvPr id="22" name="Picture 21" descr="lock.png"/>
          <p:cNvPicPr>
            <a:picLocks noChangeAspect="1"/>
          </p:cNvPicPr>
          <p:nvPr/>
        </p:nvPicPr>
        <p:blipFill>
          <a:blip r:embed="rId4"/>
          <a:stretch>
            <a:fillRect/>
          </a:stretch>
        </p:blipFill>
        <p:spPr>
          <a:xfrm>
            <a:off x="3728048" y="3228276"/>
            <a:ext cx="134549" cy="195707"/>
          </a:xfrm>
          <a:prstGeom prst="rect">
            <a:avLst/>
          </a:prstGeom>
        </p:spPr>
      </p:pic>
      <p:sp>
        <p:nvSpPr>
          <p:cNvPr id="23" name="TextBox 22"/>
          <p:cNvSpPr txBox="1"/>
          <p:nvPr/>
        </p:nvSpPr>
        <p:spPr>
          <a:xfrm>
            <a:off x="3903158"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809090" y="3228276"/>
            <a:ext cx="134549" cy="195707"/>
          </a:xfrm>
          <a:prstGeom prst="rect">
            <a:avLst/>
          </a:prstGeom>
        </p:spPr>
      </p:pic>
      <p:sp>
        <p:nvSpPr>
          <p:cNvPr id="25" name="TextBox 24"/>
          <p:cNvSpPr txBox="1"/>
          <p:nvPr/>
        </p:nvSpPr>
        <p:spPr>
          <a:xfrm>
            <a:off x="4984200"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340260" cy="194310"/>
          </a:xfrm>
          <a:prstGeom prst="rect">
            <a:avLst/>
          </a:prstGeom>
          <a:noFill/>
        </p:spPr>
        <p:txBody>
          <a:bodyPr wrap="none" lIns="0" rIns="0" tIns="0" bIns="0">
            <a:spAutoFit/>
          </a:bodyPr>
          <a:lstStyle/>
          <a:p>
            <a:r>
              <a:rPr sz="1150" b="0">
                <a:solidFill>
                  <a:srgbClr val="2E2E2E"/>
                </a:solidFill>
                <a:latin typeface="Calibri"/>
              </a:rPr>
              <a:t>▪ 'Retailer private labels' grows fastest</a:t>
            </a:r>
          </a:p>
        </p:txBody>
      </p:sp>
      <p:pic>
        <p:nvPicPr>
          <p:cNvPr id="27" name="Picture 26" descr="lock.png"/>
          <p:cNvPicPr>
            <a:picLocks noChangeAspect="1"/>
          </p:cNvPicPr>
          <p:nvPr/>
        </p:nvPicPr>
        <p:blipFill>
          <a:blip r:embed="rId4"/>
          <a:stretch>
            <a:fillRect/>
          </a:stretch>
        </p:blipFill>
        <p:spPr>
          <a:xfrm>
            <a:off x="2565639" y="3456114"/>
            <a:ext cx="134549" cy="195707"/>
          </a:xfrm>
          <a:prstGeom prst="rect">
            <a:avLst/>
          </a:prstGeom>
        </p:spPr>
      </p:pic>
      <p:sp>
        <p:nvSpPr>
          <p:cNvPr id="28" name="TextBox 27"/>
          <p:cNvSpPr txBox="1"/>
          <p:nvPr/>
        </p:nvSpPr>
        <p:spPr>
          <a:xfrm>
            <a:off x="2740748"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849438" cy="194310"/>
          </a:xfrm>
          <a:prstGeom prst="rect">
            <a:avLst/>
          </a:prstGeom>
          <a:noFill/>
        </p:spPr>
        <p:txBody>
          <a:bodyPr wrap="none" lIns="0" rIns="0" tIns="0" bIns="0">
            <a:spAutoFit/>
          </a:bodyPr>
          <a:lstStyle/>
          <a:p>
            <a:r>
              <a:rPr sz="1150" b="0">
                <a:solidFill>
                  <a:srgbClr val="2E2E2E"/>
                </a:solidFill>
                <a:latin typeface="Calibri"/>
              </a:rPr>
              <a:t>▪ Share shifts toward 'Retailer private labels' (+</a:t>
            </a:r>
          </a:p>
        </p:txBody>
      </p:sp>
      <p:pic>
        <p:nvPicPr>
          <p:cNvPr id="30" name="Picture 29" descr="lock.png"/>
          <p:cNvPicPr>
            <a:picLocks noChangeAspect="1"/>
          </p:cNvPicPr>
          <p:nvPr/>
        </p:nvPicPr>
        <p:blipFill>
          <a:blip r:embed="rId4"/>
          <a:stretch>
            <a:fillRect/>
          </a:stretch>
        </p:blipFill>
        <p:spPr>
          <a:xfrm>
            <a:off x="3074817" y="3683952"/>
            <a:ext cx="134549" cy="195707"/>
          </a:xfrm>
          <a:prstGeom prst="rect">
            <a:avLst/>
          </a:prstGeom>
        </p:spPr>
      </p:pic>
      <p:sp>
        <p:nvSpPr>
          <p:cNvPr id="31" name="TextBox 30"/>
          <p:cNvSpPr txBox="1"/>
          <p:nvPr/>
        </p:nvSpPr>
        <p:spPr>
          <a:xfrm>
            <a:off x="3249926" y="3694175"/>
            <a:ext cx="2751025" cy="194310"/>
          </a:xfrm>
          <a:prstGeom prst="rect">
            <a:avLst/>
          </a:prstGeom>
          <a:noFill/>
        </p:spPr>
        <p:txBody>
          <a:bodyPr wrap="none" lIns="0" rIns="0" tIns="0" bIns="0">
            <a:spAutoFit/>
          </a:bodyPr>
          <a:lstStyle/>
          <a:p>
            <a:r>
              <a:rPr sz="1150" b="0">
                <a:solidFill>
                  <a:srgbClr val="2E2E2E"/>
                </a:solidFill>
                <a:latin typeface="Calibri"/>
              </a:rPr>
              <a:t>BPS) and away from 'Manufacturer brands' (-</a:t>
            </a:r>
          </a:p>
        </p:txBody>
      </p:sp>
      <p:pic>
        <p:nvPicPr>
          <p:cNvPr id="32" name="Picture 31" descr="lock.png"/>
          <p:cNvPicPr>
            <a:picLocks noChangeAspect="1"/>
          </p:cNvPicPr>
          <p:nvPr/>
        </p:nvPicPr>
        <p:blipFill>
          <a:blip r:embed="rId4"/>
          <a:stretch>
            <a:fillRect/>
          </a:stretch>
        </p:blipFill>
        <p:spPr>
          <a:xfrm>
            <a:off x="5950106" y="3683952"/>
            <a:ext cx="134549" cy="195707"/>
          </a:xfrm>
          <a:prstGeom prst="rect">
            <a:avLst/>
          </a:prstGeom>
        </p:spPr>
      </p:pic>
      <p:sp>
        <p:nvSpPr>
          <p:cNvPr id="33" name="TextBox 32"/>
          <p:cNvSpPr txBox="1"/>
          <p:nvPr/>
        </p:nvSpPr>
        <p:spPr>
          <a:xfrm>
            <a:off x="612521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Brand Ownership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Brand Ownership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835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358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73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 operator brands</a:t>
            </a:r>
          </a:p>
        </p:txBody>
      </p:sp>
      <p:sp>
        <p:nvSpPr>
          <p:cNvPr id="19" name="BPS Value 1"/>
          <p:cNvSpPr txBox="1"/>
          <p:nvPr/>
        </p:nvSpPr>
        <p:spPr>
          <a:xfrm>
            <a:off x="6896100" y="202930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32008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153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391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Manufacturer brands</a:t>
            </a:r>
          </a:p>
        </p:txBody>
      </p:sp>
      <p:sp>
        <p:nvSpPr>
          <p:cNvPr id="23" name="BPS Value 2"/>
          <p:cNvSpPr txBox="1"/>
          <p:nvPr/>
        </p:nvSpPr>
        <p:spPr>
          <a:xfrm>
            <a:off x="6896100" y="330103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52291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22442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1482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Retailer private labels</a:t>
            </a:r>
          </a:p>
        </p:txBody>
      </p:sp>
      <p:sp>
        <p:nvSpPr>
          <p:cNvPr id="27" name="BPS Value 3"/>
          <p:cNvSpPr txBox="1"/>
          <p:nvPr/>
        </p:nvSpPr>
        <p:spPr>
          <a:xfrm>
            <a:off x="6896100" y="521013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Brand Ownership</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886521" cy="194310"/>
          </a:xfrm>
          <a:prstGeom prst="rect">
            <a:avLst/>
          </a:prstGeom>
          <a:noFill/>
        </p:spPr>
        <p:txBody>
          <a:bodyPr wrap="none" lIns="0" rIns="0" tIns="0" bIns="0">
            <a:spAutoFit/>
          </a:bodyPr>
          <a:lstStyle/>
          <a:p>
            <a:r>
              <a:rPr sz="1150" b="0">
                <a:solidFill>
                  <a:srgbClr val="2E2E2E"/>
                </a:solidFill>
                <a:latin typeface="Calibri"/>
              </a:rPr>
              <a:t>▪ 'Retailer private labels' gains the most share +</a:t>
            </a:r>
          </a:p>
        </p:txBody>
      </p:sp>
      <p:pic>
        <p:nvPicPr>
          <p:cNvPr id="35" name="Picture 34" descr="lock.png"/>
          <p:cNvPicPr>
            <a:picLocks noChangeAspect="1"/>
          </p:cNvPicPr>
          <p:nvPr/>
        </p:nvPicPr>
        <p:blipFill>
          <a:blip r:embed="rId5"/>
          <a:stretch>
            <a:fillRect/>
          </a:stretch>
        </p:blipFill>
        <p:spPr>
          <a:xfrm>
            <a:off x="10665225" y="1389951"/>
            <a:ext cx="134549" cy="195707"/>
          </a:xfrm>
          <a:prstGeom prst="rect">
            <a:avLst/>
          </a:prstGeom>
        </p:spPr>
      </p:pic>
      <p:sp>
        <p:nvSpPr>
          <p:cNvPr id="36" name="TextBox 35"/>
          <p:cNvSpPr txBox="1"/>
          <p:nvPr/>
        </p:nvSpPr>
        <p:spPr>
          <a:xfrm>
            <a:off x="10840334"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37" name="TextBox 36"/>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508560" cy="194310"/>
          </a:xfrm>
          <a:prstGeom prst="rect">
            <a:avLst/>
          </a:prstGeom>
          <a:noFill/>
        </p:spPr>
        <p:txBody>
          <a:bodyPr wrap="none" lIns="0" rIns="0" tIns="0" bIns="0">
            <a:spAutoFit/>
          </a:bodyPr>
          <a:lstStyle/>
          <a:p>
            <a:r>
              <a:rPr sz="1150" b="0">
                <a:solidFill>
                  <a:srgbClr val="2E2E2E"/>
                </a:solidFill>
                <a:latin typeface="Calibri"/>
              </a:rPr>
              <a:t>▪ 'Manufacturer brands' cedes the most -</a:t>
            </a:r>
          </a:p>
        </p:txBody>
      </p:sp>
      <p:pic>
        <p:nvPicPr>
          <p:cNvPr id="39" name="Picture 38" descr="lock.png"/>
          <p:cNvPicPr>
            <a:picLocks noChangeAspect="1"/>
          </p:cNvPicPr>
          <p:nvPr/>
        </p:nvPicPr>
        <p:blipFill>
          <a:blip r:embed="rId5"/>
          <a:stretch>
            <a:fillRect/>
          </a:stretch>
        </p:blipFill>
        <p:spPr>
          <a:xfrm>
            <a:off x="10287263" y="1793049"/>
            <a:ext cx="134549" cy="195707"/>
          </a:xfrm>
          <a:prstGeom prst="rect">
            <a:avLst/>
          </a:prstGeom>
        </p:spPr>
      </p:pic>
      <p:sp>
        <p:nvSpPr>
          <p:cNvPr id="40" name="TextBox 39"/>
          <p:cNvSpPr txBox="1"/>
          <p:nvPr/>
        </p:nvSpPr>
        <p:spPr>
          <a:xfrm>
            <a:off x="10462373"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1" name="TextBox 40"/>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4024969" cy="194310"/>
          </a:xfrm>
          <a:prstGeom prst="rect">
            <a:avLst/>
          </a:prstGeom>
          <a:noFill/>
        </p:spPr>
        <p:txBody>
          <a:bodyPr wrap="none" lIns="0" rIns="0" tIns="0" bIns="0">
            <a:spAutoFit/>
          </a:bodyPr>
          <a:lstStyle/>
          <a:p>
            <a:r>
              <a:rPr sz="1150" b="0">
                <a:solidFill>
                  <a:srgbClr val="2E2E2E"/>
                </a:solidFill>
                <a:latin typeface="Calibri"/>
              </a:rPr>
              <a:t>▪ 'Retailer private labels' is the fastest-growing brand ownership at</a:t>
            </a:r>
          </a:p>
        </p:txBody>
      </p:sp>
      <p:pic>
        <p:nvPicPr>
          <p:cNvPr id="43" name="Picture 42" descr="lock.png"/>
          <p:cNvPicPr>
            <a:picLocks noChangeAspect="1"/>
          </p:cNvPicPr>
          <p:nvPr/>
        </p:nvPicPr>
        <p:blipFill>
          <a:blip r:embed="rId5"/>
          <a:stretch>
            <a:fillRect/>
          </a:stretch>
        </p:blipFill>
        <p:spPr>
          <a:xfrm>
            <a:off x="7815470" y="2371407"/>
            <a:ext cx="134549" cy="195707"/>
          </a:xfrm>
          <a:prstGeom prst="rect">
            <a:avLst/>
          </a:prstGeom>
        </p:spPr>
      </p:pic>
      <p:sp>
        <p:nvSpPr>
          <p:cNvPr id="44" name="TextBox 43"/>
          <p:cNvSpPr txBox="1"/>
          <p:nvPr/>
        </p:nvSpPr>
        <p:spPr>
          <a:xfrm>
            <a:off x="799057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5" name="TextBox 44"/>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599245"/>
            <a:ext cx="134549" cy="195707"/>
          </a:xfrm>
          <a:prstGeom prst="rect">
            <a:avLst/>
          </a:prstGeom>
        </p:spPr>
      </p:pic>
      <p:sp>
        <p:nvSpPr>
          <p:cNvPr id="47" name="TextBox 46"/>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599245"/>
            <a:ext cx="134549" cy="195707"/>
          </a:xfrm>
          <a:prstGeom prst="rect">
            <a:avLst/>
          </a:prstGeom>
        </p:spPr>
      </p:pic>
      <p:sp>
        <p:nvSpPr>
          <p:cNvPr id="49" name="TextBox 48"/>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Brand Ownership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Brand Ownership,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Brand Ownership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Manufacturer brands</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Retailer private labels</a:t>
            </a:r>
          </a:p>
        </p:txBody>
      </p:sp>
      <p:sp>
        <p:nvSpPr>
          <p:cNvPr id="49" name="Rectangle 48"/>
          <p:cNvSpPr/>
          <p:nvPr/>
        </p:nvSpPr>
        <p:spPr>
          <a:xfrm>
            <a:off x="1857375" y="4191000"/>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 operator brands</a:t>
            </a:r>
          </a:p>
        </p:txBody>
      </p:sp>
      <p:sp>
        <p:nvSpPr>
          <p:cNvPr id="65" name="Rectangle 64"/>
          <p:cNvSpPr/>
          <p:nvPr/>
        </p:nvSpPr>
        <p:spPr>
          <a:xfrm>
            <a:off x="1857375" y="5381625"/>
            <a:ext cx="643890" cy="119062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13478" y="1589913"/>
            <a:ext cx="366712" cy="533400"/>
          </a:xfrm>
          <a:prstGeom prst="rect">
            <a:avLst/>
          </a:prstGeom>
        </p:spPr>
      </p:pic>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Brand Ownership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Brand Ownership,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Brand Ownership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Manufacturer brands</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Retailer private labels</a:t>
            </a:r>
          </a:p>
        </p:txBody>
      </p:sp>
      <p:sp>
        <p:nvSpPr>
          <p:cNvPr id="49" name="Rectangle 48"/>
          <p:cNvSpPr/>
          <p:nvPr/>
        </p:nvSpPr>
        <p:spPr>
          <a:xfrm>
            <a:off x="1857375" y="4191000"/>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4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 operator brands</a:t>
            </a:r>
          </a:p>
        </p:txBody>
      </p:sp>
      <p:sp>
        <p:nvSpPr>
          <p:cNvPr id="65" name="Rectangle 64"/>
          <p:cNvSpPr/>
          <p:nvPr/>
        </p:nvSpPr>
        <p:spPr>
          <a:xfrm>
            <a:off x="185737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13478" y="1589913"/>
            <a:ext cx="366712" cy="533400"/>
          </a:xfrm>
          <a:prstGeom prst="rect">
            <a:avLst/>
          </a:prstGeom>
        </p:spPr>
      </p:pic>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Sales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Sales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Sales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Sales Channel segment categorizes the market by sales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and institutional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Vending</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Channel split shows how demand is distributed across sales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_214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3_092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3_4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224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028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5_2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58_9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33_0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3_9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16857" cy="186689"/>
          </a:xfrm>
          <a:prstGeom prst="rect">
            <a:avLst/>
          </a:prstGeom>
          <a:noFill/>
        </p:spPr>
        <p:txBody>
          <a:bodyPr wrap="none" lIns="0" rIns="0" tIns="0" bIns="0">
            <a:spAutoFit/>
          </a:bodyPr>
          <a:lstStyle/>
          <a:p>
            <a:r>
              <a:rPr sz="1100" b="0">
                <a:solidFill>
                  <a:srgbClr val="2E2E2E"/>
                </a:solidFill>
                <a:latin typeface="Calibri"/>
              </a:rPr>
              <a:t>▪ 'Retail' holds the largest share in 2026</a:t>
            </a:r>
          </a:p>
        </p:txBody>
      </p:sp>
      <p:pic>
        <p:nvPicPr>
          <p:cNvPr id="70" name="Picture 69" descr="lock.png"/>
          <p:cNvPicPr>
            <a:picLocks noChangeAspect="1"/>
          </p:cNvPicPr>
          <p:nvPr/>
        </p:nvPicPr>
        <p:blipFill>
          <a:blip r:embed="rId13"/>
          <a:stretch>
            <a:fillRect/>
          </a:stretch>
        </p:blipFill>
        <p:spPr>
          <a:xfrm>
            <a:off x="2750683" y="4219658"/>
            <a:ext cx="128699" cy="187198"/>
          </a:xfrm>
          <a:prstGeom prst="rect">
            <a:avLst/>
          </a:prstGeom>
        </p:spPr>
      </p:pic>
      <p:sp>
        <p:nvSpPr>
          <p:cNvPr id="71" name="TextBox 70"/>
          <p:cNvSpPr txBox="1"/>
          <p:nvPr/>
        </p:nvSpPr>
        <p:spPr>
          <a:xfrm>
            <a:off x="2918179"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72" name="TextBox 71"/>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73" name="TextBox 72"/>
          <p:cNvSpPr txBox="1"/>
          <p:nvPr/>
        </p:nvSpPr>
        <p:spPr>
          <a:xfrm>
            <a:off x="485775" y="4615009"/>
            <a:ext cx="2202502" cy="186689"/>
          </a:xfrm>
          <a:prstGeom prst="rect">
            <a:avLst/>
          </a:prstGeom>
          <a:noFill/>
        </p:spPr>
        <p:txBody>
          <a:bodyPr wrap="none" lIns="0" rIns="0" tIns="0" bIns="0">
            <a:spAutoFit/>
          </a:bodyPr>
          <a:lstStyle/>
          <a:p>
            <a:r>
              <a:rPr sz="1100" b="0">
                <a:solidFill>
                  <a:srgbClr val="2E2E2E"/>
                </a:solidFill>
                <a:latin typeface="Calibri"/>
              </a:rPr>
              <a:t>▪ 'Foodservice and institutional' is the</a:t>
            </a:r>
          </a:p>
        </p:txBody>
      </p:sp>
      <p:sp>
        <p:nvSpPr>
          <p:cNvPr id="74" name="TextBox 73"/>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75" name="Picture 74" descr="lock.png"/>
          <p:cNvPicPr>
            <a:picLocks noChangeAspect="1"/>
          </p:cNvPicPr>
          <p:nvPr/>
        </p:nvPicPr>
        <p:blipFill>
          <a:blip r:embed="rId13"/>
          <a:stretch>
            <a:fillRect/>
          </a:stretch>
        </p:blipFill>
        <p:spPr>
          <a:xfrm>
            <a:off x="2307026" y="4772870"/>
            <a:ext cx="128699" cy="187198"/>
          </a:xfrm>
          <a:prstGeom prst="rect">
            <a:avLst/>
          </a:prstGeom>
        </p:spPr>
      </p:pic>
      <p:sp>
        <p:nvSpPr>
          <p:cNvPr id="76" name="TextBox 75"/>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77" name="TextBox 76"/>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8" name="TextBox 77"/>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9" name="Picture 78" descr="lock.png"/>
          <p:cNvPicPr>
            <a:picLocks noChangeAspect="1"/>
          </p:cNvPicPr>
          <p:nvPr/>
        </p:nvPicPr>
        <p:blipFill>
          <a:blip r:embed="rId13"/>
          <a:stretch>
            <a:fillRect/>
          </a:stretch>
        </p:blipFill>
        <p:spPr>
          <a:xfrm>
            <a:off x="2240451" y="5158441"/>
            <a:ext cx="128699" cy="187198"/>
          </a:xfrm>
          <a:prstGeom prst="rect">
            <a:avLst/>
          </a:prstGeom>
        </p:spPr>
      </p:pic>
      <p:sp>
        <p:nvSpPr>
          <p:cNvPr id="80" name="TextBox 79"/>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1" name="Picture 80" descr="lock.png"/>
          <p:cNvPicPr>
            <a:picLocks noChangeAspect="1"/>
          </p:cNvPicPr>
          <p:nvPr/>
        </p:nvPicPr>
        <p:blipFill>
          <a:blip r:embed="rId13"/>
          <a:stretch>
            <a:fillRect/>
          </a:stretch>
        </p:blipFill>
        <p:spPr>
          <a:xfrm>
            <a:off x="2552799" y="5158441"/>
            <a:ext cx="128699" cy="187198"/>
          </a:xfrm>
          <a:prstGeom prst="rect">
            <a:avLst/>
          </a:prstGeom>
        </p:spPr>
      </p:pic>
      <p:sp>
        <p:nvSpPr>
          <p:cNvPr id="82" name="TextBox 81"/>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3" name="TextBox 82"/>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4" name="TextBox 83"/>
          <p:cNvSpPr txBox="1"/>
          <p:nvPr/>
        </p:nvSpPr>
        <p:spPr>
          <a:xfrm>
            <a:off x="485775" y="5553793"/>
            <a:ext cx="2582341" cy="186689"/>
          </a:xfrm>
          <a:prstGeom prst="rect">
            <a:avLst/>
          </a:prstGeom>
          <a:noFill/>
        </p:spPr>
        <p:txBody>
          <a:bodyPr wrap="none" lIns="0" rIns="0" tIns="0" bIns="0">
            <a:spAutoFit/>
          </a:bodyPr>
          <a:lstStyle/>
          <a:p>
            <a:r>
              <a:rPr sz="1100" b="0">
                <a:solidFill>
                  <a:srgbClr val="2E2E2E"/>
                </a:solidFill>
                <a:latin typeface="Calibri"/>
              </a:rPr>
              <a:t>▪ 3 sub-segments make up the sales channel</a:t>
            </a:r>
          </a:p>
        </p:txBody>
      </p:sp>
      <p:sp>
        <p:nvSpPr>
          <p:cNvPr id="85" name="TextBox 84"/>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6" name="TextBox 85"/>
          <p:cNvSpPr txBox="1"/>
          <p:nvPr/>
        </p:nvSpPr>
        <p:spPr>
          <a:xfrm>
            <a:off x="3838575" y="4229437"/>
            <a:ext cx="553144" cy="186689"/>
          </a:xfrm>
          <a:prstGeom prst="rect">
            <a:avLst/>
          </a:prstGeom>
          <a:noFill/>
        </p:spPr>
        <p:txBody>
          <a:bodyPr wrap="none" lIns="0" rIns="0" tIns="0" bIns="0">
            <a:spAutoFit/>
          </a:bodyPr>
          <a:lstStyle/>
          <a:p>
            <a:r>
              <a:rPr sz="1100" b="0">
                <a:solidFill>
                  <a:srgbClr val="2E2E2E"/>
                </a:solidFill>
                <a:latin typeface="Calibri"/>
              </a:rPr>
              <a:t>● Retail:</a:t>
            </a:r>
          </a:p>
        </p:txBody>
      </p:sp>
      <p:pic>
        <p:nvPicPr>
          <p:cNvPr id="87" name="Picture 86" descr="lock.png"/>
          <p:cNvPicPr>
            <a:picLocks noChangeAspect="1"/>
          </p:cNvPicPr>
          <p:nvPr/>
        </p:nvPicPr>
        <p:blipFill>
          <a:blip r:embed="rId13"/>
          <a:stretch>
            <a:fillRect/>
          </a:stretch>
        </p:blipFill>
        <p:spPr>
          <a:xfrm>
            <a:off x="4339771" y="4219658"/>
            <a:ext cx="128699" cy="187198"/>
          </a:xfrm>
          <a:prstGeom prst="rect">
            <a:avLst/>
          </a:prstGeom>
        </p:spPr>
      </p:pic>
      <p:sp>
        <p:nvSpPr>
          <p:cNvPr id="88" name="TextBox 87"/>
          <p:cNvSpPr txBox="1"/>
          <p:nvPr/>
        </p:nvSpPr>
        <p:spPr>
          <a:xfrm>
            <a:off x="450726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5366717" y="4219658"/>
            <a:ext cx="128699" cy="187198"/>
          </a:xfrm>
          <a:prstGeom prst="rect">
            <a:avLst/>
          </a:prstGeom>
        </p:spPr>
      </p:pic>
      <p:sp>
        <p:nvSpPr>
          <p:cNvPr id="90" name="TextBox 89"/>
          <p:cNvSpPr txBox="1"/>
          <p:nvPr/>
        </p:nvSpPr>
        <p:spPr>
          <a:xfrm>
            <a:off x="553421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1873170" cy="186689"/>
          </a:xfrm>
          <a:prstGeom prst="rect">
            <a:avLst/>
          </a:prstGeom>
          <a:noFill/>
        </p:spPr>
        <p:txBody>
          <a:bodyPr wrap="none" lIns="0" rIns="0" tIns="0" bIns="0">
            <a:spAutoFit/>
          </a:bodyPr>
          <a:lstStyle/>
          <a:p>
            <a:r>
              <a:rPr sz="1100" b="0">
                <a:solidFill>
                  <a:srgbClr val="2E2E2E"/>
                </a:solidFill>
                <a:latin typeface="Calibri"/>
              </a:rPr>
              <a:t>● Foodservice and institutional:</a:t>
            </a:r>
          </a:p>
        </p:txBody>
      </p:sp>
      <p:pic>
        <p:nvPicPr>
          <p:cNvPr id="92" name="Picture 91" descr="lock.png"/>
          <p:cNvPicPr>
            <a:picLocks noChangeAspect="1"/>
          </p:cNvPicPr>
          <p:nvPr/>
        </p:nvPicPr>
        <p:blipFill>
          <a:blip r:embed="rId13"/>
          <a:stretch>
            <a:fillRect/>
          </a:stretch>
        </p:blipFill>
        <p:spPr>
          <a:xfrm>
            <a:off x="5659797" y="4437590"/>
            <a:ext cx="128699" cy="187198"/>
          </a:xfrm>
          <a:prstGeom prst="rect">
            <a:avLst/>
          </a:prstGeom>
        </p:spPr>
      </p:pic>
      <p:sp>
        <p:nvSpPr>
          <p:cNvPr id="93" name="TextBox 92"/>
          <p:cNvSpPr txBox="1"/>
          <p:nvPr/>
        </p:nvSpPr>
        <p:spPr>
          <a:xfrm>
            <a:off x="582729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6686743" y="4437590"/>
            <a:ext cx="128699" cy="187198"/>
          </a:xfrm>
          <a:prstGeom prst="rect">
            <a:avLst/>
          </a:prstGeom>
        </p:spPr>
      </p:pic>
      <p:sp>
        <p:nvSpPr>
          <p:cNvPr id="95" name="TextBox 94"/>
          <p:cNvSpPr txBox="1"/>
          <p:nvPr/>
        </p:nvSpPr>
        <p:spPr>
          <a:xfrm>
            <a:off x="6854239"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96" name="TextBox 9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97" name="TextBox 96"/>
          <p:cNvSpPr txBox="1"/>
          <p:nvPr/>
        </p:nvSpPr>
        <p:spPr>
          <a:xfrm>
            <a:off x="3838575" y="4832941"/>
            <a:ext cx="696664" cy="186689"/>
          </a:xfrm>
          <a:prstGeom prst="rect">
            <a:avLst/>
          </a:prstGeom>
          <a:noFill/>
        </p:spPr>
        <p:txBody>
          <a:bodyPr wrap="none" lIns="0" rIns="0" tIns="0" bIns="0">
            <a:spAutoFit/>
          </a:bodyPr>
          <a:lstStyle/>
          <a:p>
            <a:r>
              <a:rPr sz="1100" b="0">
                <a:solidFill>
                  <a:srgbClr val="2E2E2E"/>
                </a:solidFill>
                <a:latin typeface="Calibri"/>
              </a:rPr>
              <a:t>● Vending:</a:t>
            </a:r>
          </a:p>
        </p:txBody>
      </p:sp>
      <p:pic>
        <p:nvPicPr>
          <p:cNvPr id="98" name="Picture 97" descr="lock.png"/>
          <p:cNvPicPr>
            <a:picLocks noChangeAspect="1"/>
          </p:cNvPicPr>
          <p:nvPr/>
        </p:nvPicPr>
        <p:blipFill>
          <a:blip r:embed="rId13"/>
          <a:stretch>
            <a:fillRect/>
          </a:stretch>
        </p:blipFill>
        <p:spPr>
          <a:xfrm>
            <a:off x="4483291" y="4823162"/>
            <a:ext cx="128699" cy="187198"/>
          </a:xfrm>
          <a:prstGeom prst="rect">
            <a:avLst/>
          </a:prstGeom>
        </p:spPr>
      </p:pic>
      <p:sp>
        <p:nvSpPr>
          <p:cNvPr id="99" name="TextBox 98"/>
          <p:cNvSpPr txBox="1"/>
          <p:nvPr/>
        </p:nvSpPr>
        <p:spPr>
          <a:xfrm>
            <a:off x="4650786"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3"/>
          <a:stretch>
            <a:fillRect/>
          </a:stretch>
        </p:blipFill>
        <p:spPr>
          <a:xfrm>
            <a:off x="5510237" y="4823162"/>
            <a:ext cx="128699" cy="187198"/>
          </a:xfrm>
          <a:prstGeom prst="rect">
            <a:avLst/>
          </a:prstGeom>
        </p:spPr>
      </p:pic>
      <p:sp>
        <p:nvSpPr>
          <p:cNvPr id="101" name="TextBox 100"/>
          <p:cNvSpPr txBox="1"/>
          <p:nvPr/>
        </p:nvSpPr>
        <p:spPr>
          <a:xfrm>
            <a:off x="5677732"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2" name="TextBox 10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Sales Channel segment is projected to grow at a</a:t>
            </a:r>
          </a:p>
        </p:txBody>
      </p:sp>
      <p:sp>
        <p:nvSpPr>
          <p:cNvPr id="103" name="TextBox 10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04" name="Picture 103" descr="lock.png"/>
          <p:cNvPicPr>
            <a:picLocks noChangeAspect="1"/>
          </p:cNvPicPr>
          <p:nvPr/>
        </p:nvPicPr>
        <p:blipFill>
          <a:blip r:embed="rId13"/>
          <a:stretch>
            <a:fillRect/>
          </a:stretch>
        </p:blipFill>
        <p:spPr>
          <a:xfrm>
            <a:off x="9048826" y="6007677"/>
            <a:ext cx="134549" cy="195707"/>
          </a:xfrm>
          <a:prstGeom prst="rect">
            <a:avLst/>
          </a:prstGeom>
        </p:spPr>
      </p:pic>
      <p:sp>
        <p:nvSpPr>
          <p:cNvPr id="105" name="TextBox 10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Sales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Sales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Sales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245343" cy="186689"/>
          </a:xfrm>
          <a:prstGeom prst="rect">
            <a:avLst/>
          </a:prstGeom>
          <a:noFill/>
        </p:spPr>
        <p:txBody>
          <a:bodyPr wrap="none" lIns="0" rIns="0" tIns="0" bIns="0">
            <a:spAutoFit/>
          </a:bodyPr>
          <a:lstStyle/>
          <a:p>
            <a:r>
              <a:rPr sz="1100" b="0">
                <a:solidFill>
                  <a:srgbClr val="2E2E2E"/>
                </a:solidFill>
                <a:latin typeface="Calibri"/>
              </a:rPr>
              <a:t>Between 2026 and 2036, 'Foodservice and institutional' gains the most share in the North America market (+</a:t>
            </a:r>
          </a:p>
        </p:txBody>
      </p:sp>
      <p:pic>
        <p:nvPicPr>
          <p:cNvPr id="21" name="Picture 20" descr="lock.png"/>
          <p:cNvPicPr>
            <a:picLocks noChangeAspect="1"/>
          </p:cNvPicPr>
          <p:nvPr/>
        </p:nvPicPr>
        <p:blipFill>
          <a:blip r:embed="rId6"/>
          <a:stretch>
            <a:fillRect/>
          </a:stretch>
        </p:blipFill>
        <p:spPr>
          <a:xfrm>
            <a:off x="6450570" y="5851905"/>
            <a:ext cx="128699" cy="187198"/>
          </a:xfrm>
          <a:prstGeom prst="rect">
            <a:avLst/>
          </a:prstGeom>
        </p:spPr>
      </p:pic>
      <p:sp>
        <p:nvSpPr>
          <p:cNvPr id="22" name="TextBox 21"/>
          <p:cNvSpPr txBox="1"/>
          <p:nvPr/>
        </p:nvSpPr>
        <p:spPr>
          <a:xfrm>
            <a:off x="6618066" y="5861685"/>
            <a:ext cx="1444823" cy="186689"/>
          </a:xfrm>
          <a:prstGeom prst="rect">
            <a:avLst/>
          </a:prstGeom>
          <a:noFill/>
        </p:spPr>
        <p:txBody>
          <a:bodyPr wrap="none" lIns="0" rIns="0" tIns="0" bIns="0">
            <a:spAutoFit/>
          </a:bodyPr>
          <a:lstStyle/>
          <a:p>
            <a:r>
              <a:rPr sz="1100" b="0">
                <a:solidFill>
                  <a:srgbClr val="2E2E2E"/>
                </a:solidFill>
                <a:latin typeface="Calibri"/>
              </a:rPr>
              <a:t>BPS) while 'Retail' cedes</a:t>
            </a:r>
          </a:p>
        </p:txBody>
      </p:sp>
      <p:pic>
        <p:nvPicPr>
          <p:cNvPr id="23" name="Picture 22" descr="lock.png"/>
          <p:cNvPicPr>
            <a:picLocks noChangeAspect="1"/>
          </p:cNvPicPr>
          <p:nvPr/>
        </p:nvPicPr>
        <p:blipFill>
          <a:blip r:embed="rId6"/>
          <a:stretch>
            <a:fillRect/>
          </a:stretch>
        </p:blipFill>
        <p:spPr>
          <a:xfrm>
            <a:off x="8010941" y="5851905"/>
            <a:ext cx="128699" cy="187198"/>
          </a:xfrm>
          <a:prstGeom prst="rect">
            <a:avLst/>
          </a:prstGeom>
        </p:spPr>
      </p:pic>
      <p:sp>
        <p:nvSpPr>
          <p:cNvPr id="24" name="TextBox 23"/>
          <p:cNvSpPr txBox="1"/>
          <p:nvPr/>
        </p:nvSpPr>
        <p:spPr>
          <a:xfrm>
            <a:off x="8178437"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Foodservice and institutional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Vending</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Sales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3039702" cy="194310"/>
          </a:xfrm>
          <a:prstGeom prst="rect">
            <a:avLst/>
          </a:prstGeom>
          <a:noFill/>
        </p:spPr>
        <p:txBody>
          <a:bodyPr wrap="none" lIns="0" rIns="0" tIns="0" bIns="0">
            <a:spAutoFit/>
          </a:bodyPr>
          <a:lstStyle/>
          <a:p>
            <a:r>
              <a:rPr sz="1150" b="0">
                <a:solidFill>
                  <a:srgbClr val="2E2E2E"/>
                </a:solidFill>
                <a:latin typeface="Calibri"/>
              </a:rPr>
              <a:t>▪ Across its 3 sub-segments, by sales channel adds</a:t>
            </a:r>
          </a:p>
        </p:txBody>
      </p:sp>
      <p:pic>
        <p:nvPicPr>
          <p:cNvPr id="29" name="Picture 28" descr="lock.png"/>
          <p:cNvPicPr>
            <a:picLocks noChangeAspect="1"/>
          </p:cNvPicPr>
          <p:nvPr/>
        </p:nvPicPr>
        <p:blipFill>
          <a:blip r:embed="rId7"/>
          <a:stretch>
            <a:fillRect/>
          </a:stretch>
        </p:blipFill>
        <p:spPr>
          <a:xfrm>
            <a:off x="9294406" y="4276026"/>
            <a:ext cx="134549" cy="195707"/>
          </a:xfrm>
          <a:prstGeom prst="rect">
            <a:avLst/>
          </a:prstGeom>
        </p:spPr>
      </p:pic>
      <p:sp>
        <p:nvSpPr>
          <p:cNvPr id="30" name="TextBox 29"/>
          <p:cNvSpPr txBox="1"/>
          <p:nvPr/>
        </p:nvSpPr>
        <p:spPr>
          <a:xfrm>
            <a:off x="9469516" y="4286250"/>
            <a:ext cx="2300609" cy="194310"/>
          </a:xfrm>
          <a:prstGeom prst="rect">
            <a:avLst/>
          </a:prstGeom>
          <a:noFill/>
        </p:spPr>
        <p:txBody>
          <a:bodyPr wrap="none" lIns="0" rIns="0" tIns="0" bIns="0">
            <a:spAutoFit/>
          </a:bodyPr>
          <a:lstStyle/>
          <a:p>
            <a:r>
              <a:rPr sz="1150" b="0">
                <a:solidFill>
                  <a:srgbClr val="2E2E2E"/>
                </a:solidFill>
                <a:latin typeface="Calibri"/>
              </a:rPr>
              <a:t>US$ Mn to the North America market</a:t>
            </a:r>
          </a:p>
        </p:txBody>
      </p:sp>
      <p:sp>
        <p:nvSpPr>
          <p:cNvPr id="31" name="TextBox 30"/>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2" name="TextBox 31"/>
          <p:cNvSpPr txBox="1"/>
          <p:nvPr/>
        </p:nvSpPr>
        <p:spPr>
          <a:xfrm>
            <a:off x="6305550" y="4689347"/>
            <a:ext cx="877192" cy="194310"/>
          </a:xfrm>
          <a:prstGeom prst="rect">
            <a:avLst/>
          </a:prstGeom>
          <a:noFill/>
        </p:spPr>
        <p:txBody>
          <a:bodyPr wrap="none" lIns="0" rIns="0" tIns="0" bIns="0">
            <a:spAutoFit/>
          </a:bodyPr>
          <a:lstStyle/>
          <a:p>
            <a:r>
              <a:rPr sz="1150" b="0">
                <a:solidFill>
                  <a:srgbClr val="2E2E2E"/>
                </a:solidFill>
                <a:latin typeface="Calibri"/>
              </a:rPr>
              <a:t>▪ 'Retail' adds</a:t>
            </a:r>
          </a:p>
        </p:txBody>
      </p:sp>
      <p:pic>
        <p:nvPicPr>
          <p:cNvPr id="33" name="Picture 32" descr="lock.png"/>
          <p:cNvPicPr>
            <a:picLocks noChangeAspect="1"/>
          </p:cNvPicPr>
          <p:nvPr/>
        </p:nvPicPr>
        <p:blipFill>
          <a:blip r:embed="rId7"/>
          <a:stretch>
            <a:fillRect/>
          </a:stretch>
        </p:blipFill>
        <p:spPr>
          <a:xfrm>
            <a:off x="7131896" y="4679124"/>
            <a:ext cx="134549" cy="195707"/>
          </a:xfrm>
          <a:prstGeom prst="rect">
            <a:avLst/>
          </a:prstGeom>
        </p:spPr>
      </p:pic>
      <p:sp>
        <p:nvSpPr>
          <p:cNvPr id="34" name="TextBox 33"/>
          <p:cNvSpPr txBox="1"/>
          <p:nvPr/>
        </p:nvSpPr>
        <p:spPr>
          <a:xfrm>
            <a:off x="7307006"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7879477" y="4679124"/>
            <a:ext cx="134549" cy="195707"/>
          </a:xfrm>
          <a:prstGeom prst="rect">
            <a:avLst/>
          </a:prstGeom>
        </p:spPr>
      </p:pic>
      <p:sp>
        <p:nvSpPr>
          <p:cNvPr id="36" name="TextBox 35"/>
          <p:cNvSpPr txBox="1"/>
          <p:nvPr/>
        </p:nvSpPr>
        <p:spPr>
          <a:xfrm>
            <a:off x="8054586"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2257220" cy="194310"/>
          </a:xfrm>
          <a:prstGeom prst="rect">
            <a:avLst/>
          </a:prstGeom>
          <a:noFill/>
        </p:spPr>
        <p:txBody>
          <a:bodyPr wrap="none" lIns="0" rIns="0" tIns="0" bIns="0">
            <a:spAutoFit/>
          </a:bodyPr>
          <a:lstStyle/>
          <a:p>
            <a:r>
              <a:rPr sz="1150" b="0">
                <a:solidFill>
                  <a:srgbClr val="2E2E2E"/>
                </a:solidFill>
                <a:latin typeface="Calibri"/>
              </a:rPr>
              <a:t>▪ 'Foodservice and institutional' adds</a:t>
            </a:r>
          </a:p>
        </p:txBody>
      </p:sp>
      <p:pic>
        <p:nvPicPr>
          <p:cNvPr id="38" name="Picture 37" descr="lock.png"/>
          <p:cNvPicPr>
            <a:picLocks noChangeAspect="1"/>
          </p:cNvPicPr>
          <p:nvPr/>
        </p:nvPicPr>
        <p:blipFill>
          <a:blip r:embed="rId7"/>
          <a:stretch>
            <a:fillRect/>
          </a:stretch>
        </p:blipFill>
        <p:spPr>
          <a:xfrm>
            <a:off x="8511924" y="4906962"/>
            <a:ext cx="134549" cy="195707"/>
          </a:xfrm>
          <a:prstGeom prst="rect">
            <a:avLst/>
          </a:prstGeom>
        </p:spPr>
      </p:pic>
      <p:sp>
        <p:nvSpPr>
          <p:cNvPr id="39" name="TextBox 38"/>
          <p:cNvSpPr txBox="1"/>
          <p:nvPr/>
        </p:nvSpPr>
        <p:spPr>
          <a:xfrm>
            <a:off x="868703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9259504" y="4906962"/>
            <a:ext cx="134549" cy="195707"/>
          </a:xfrm>
          <a:prstGeom prst="rect">
            <a:avLst/>
          </a:prstGeom>
        </p:spPr>
      </p:pic>
      <p:sp>
        <p:nvSpPr>
          <p:cNvPr id="41" name="TextBox 40"/>
          <p:cNvSpPr txBox="1"/>
          <p:nvPr/>
        </p:nvSpPr>
        <p:spPr>
          <a:xfrm>
            <a:off x="943461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027236" cy="194310"/>
          </a:xfrm>
          <a:prstGeom prst="rect">
            <a:avLst/>
          </a:prstGeom>
          <a:noFill/>
        </p:spPr>
        <p:txBody>
          <a:bodyPr wrap="none" lIns="0" rIns="0" tIns="0" bIns="0">
            <a:spAutoFit/>
          </a:bodyPr>
          <a:lstStyle/>
          <a:p>
            <a:r>
              <a:rPr sz="1150" b="0">
                <a:solidFill>
                  <a:srgbClr val="2E2E2E"/>
                </a:solidFill>
                <a:latin typeface="Calibri"/>
              </a:rPr>
              <a:t>▪ 'Vending' adds</a:t>
            </a:r>
          </a:p>
        </p:txBody>
      </p:sp>
      <p:pic>
        <p:nvPicPr>
          <p:cNvPr id="43" name="Picture 42" descr="lock.png"/>
          <p:cNvPicPr>
            <a:picLocks noChangeAspect="1"/>
          </p:cNvPicPr>
          <p:nvPr/>
        </p:nvPicPr>
        <p:blipFill>
          <a:blip r:embed="rId7"/>
          <a:stretch>
            <a:fillRect/>
          </a:stretch>
        </p:blipFill>
        <p:spPr>
          <a:xfrm>
            <a:off x="7281940" y="5134800"/>
            <a:ext cx="134549" cy="195707"/>
          </a:xfrm>
          <a:prstGeom prst="rect">
            <a:avLst/>
          </a:prstGeom>
        </p:spPr>
      </p:pic>
      <p:sp>
        <p:nvSpPr>
          <p:cNvPr id="44" name="TextBox 43"/>
          <p:cNvSpPr txBox="1"/>
          <p:nvPr/>
        </p:nvSpPr>
        <p:spPr>
          <a:xfrm>
            <a:off x="7457049"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029520" y="5134800"/>
            <a:ext cx="134549" cy="195707"/>
          </a:xfrm>
          <a:prstGeom prst="rect">
            <a:avLst/>
          </a:prstGeom>
        </p:spPr>
      </p:pic>
      <p:sp>
        <p:nvSpPr>
          <p:cNvPr id="46" name="TextBox 45"/>
          <p:cNvSpPr txBox="1"/>
          <p:nvPr/>
        </p:nvSpPr>
        <p:spPr>
          <a:xfrm>
            <a:off x="8204629"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Sales Channel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Sales Channel (MT)</a:t>
            </a:r>
          </a:p>
        </p:txBody>
      </p:sp>
      <p:graphicFrame>
        <p:nvGraphicFramePr>
          <p:cNvPr id="13" name="Table 12"/>
          <p:cNvGraphicFramePr>
            <a:graphicFrameLocks noGrp="1"/>
          </p:cNvGraphicFramePr>
          <p:nvPr/>
        </p:nvGraphicFramePr>
        <p:xfrm>
          <a:off x="152400" y="1238250"/>
          <a:ext cx="11887203" cy="1238250"/>
        </p:xfrm>
        <a:graphic>
          <a:graphicData uri="http://schemas.openxmlformats.org/drawingml/2006/table">
            <a:tbl>
              <a:tblPr>
                <a:tableStyleId>{5C22544A-7EE6-4342-B048-85BDC9FD1C3A}</a:tableStyleId>
              </a:tblPr>
              <a:tblGrid>
                <a:gridCol w="1804031"/>
                <a:gridCol w="536333"/>
                <a:gridCol w="536333"/>
                <a:gridCol w="536333"/>
                <a:gridCol w="536333"/>
                <a:gridCol w="536333"/>
                <a:gridCol w="536333"/>
                <a:gridCol w="536333"/>
                <a:gridCol w="646892"/>
                <a:gridCol w="646892"/>
                <a:gridCol w="646892"/>
                <a:gridCol w="646892"/>
                <a:gridCol w="646892"/>
                <a:gridCol w="646892"/>
                <a:gridCol w="646892"/>
                <a:gridCol w="646892"/>
                <a:gridCol w="646892"/>
                <a:gridCol w="506813"/>
              </a:tblGrid>
              <a:tr h="246126">
                <a:tc>
                  <a:txBody>
                    <a:bodyPr wrap="none"/>
                    <a:lstStyle/>
                    <a:p>
                      <a:pPr algn="l"/>
                      <a:r>
                        <a:rPr sz="1100" b="1">
                          <a:solidFill>
                            <a:srgbClr val="0B2E4A"/>
                          </a:solidFill>
                          <a:latin typeface="Calibri"/>
                        </a:rPr>
                        <a:t>Sales Channel</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19050" marR="19050" marT="19050" marB="19050" anchor="ctr">
                    <a:solidFill>
                      <a:srgbClr val="E0E8EF"/>
                    </a:solidFill>
                  </a:tcPr>
                </a:tc>
              </a:tr>
              <a:tr h="248031">
                <a:tc>
                  <a:txBody>
                    <a:bodyPr wrap="none"/>
                    <a:lstStyle/>
                    <a:p>
                      <a:pPr algn="l"/>
                      <a:r>
                        <a:rPr sz="1100" b="1">
                          <a:solidFill>
                            <a:srgbClr val="2E2E2E"/>
                          </a:solidFill>
                          <a:latin typeface="Calibri"/>
                        </a:rPr>
                        <a:t>Retail</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8031">
                <a:tc>
                  <a:txBody>
                    <a:bodyPr wrap="none"/>
                    <a:lstStyle/>
                    <a:p>
                      <a:pPr algn="l"/>
                      <a:r>
                        <a:rPr sz="1100" b="1">
                          <a:solidFill>
                            <a:srgbClr val="2E2E2E"/>
                          </a:solidFill>
                          <a:latin typeface="Calibri"/>
                        </a:rPr>
                        <a:t>Foodservice and institutional</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8031">
                <a:tc>
                  <a:txBody>
                    <a:bodyPr wrap="none"/>
                    <a:lstStyle/>
                    <a:p>
                      <a:pPr algn="l"/>
                      <a:r>
                        <a:rPr sz="1100" b="1">
                          <a:solidFill>
                            <a:srgbClr val="2E2E2E"/>
                          </a:solidFill>
                          <a:latin typeface="Calibri"/>
                        </a:rPr>
                        <a:t>Vending</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Sales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11327" y="1713738"/>
            <a:ext cx="366712" cy="533400"/>
          </a:xfrm>
          <a:prstGeom prst="rect">
            <a:avLst/>
          </a:prstGeom>
        </p:spPr>
      </p:pic>
      <p:sp>
        <p:nvSpPr>
          <p:cNvPr id="21" name="TextBox 20"/>
          <p:cNvSpPr txBox="1"/>
          <p:nvPr/>
        </p:nvSpPr>
        <p:spPr>
          <a:xfrm>
            <a:off x="276225" y="3238500"/>
            <a:ext cx="2331417" cy="194310"/>
          </a:xfrm>
          <a:prstGeom prst="rect">
            <a:avLst/>
          </a:prstGeom>
          <a:noFill/>
        </p:spPr>
        <p:txBody>
          <a:bodyPr wrap="none" lIns="0" rIns="0" tIns="0" bIns="0">
            <a:spAutoFit/>
          </a:bodyPr>
          <a:lstStyle/>
          <a:p>
            <a:r>
              <a:rPr sz="1150" b="0">
                <a:solidFill>
                  <a:srgbClr val="2E2E2E"/>
                </a:solidFill>
                <a:latin typeface="Calibri"/>
              </a:rPr>
              <a:t>▪ 'Retail' is the largest sales channel at</a:t>
            </a:r>
          </a:p>
        </p:txBody>
      </p:sp>
      <p:pic>
        <p:nvPicPr>
          <p:cNvPr id="22" name="Picture 21" descr="lock.png"/>
          <p:cNvPicPr>
            <a:picLocks noChangeAspect="1"/>
          </p:cNvPicPr>
          <p:nvPr/>
        </p:nvPicPr>
        <p:blipFill>
          <a:blip r:embed="rId4"/>
          <a:stretch>
            <a:fillRect/>
          </a:stretch>
        </p:blipFill>
        <p:spPr>
          <a:xfrm>
            <a:off x="2556796" y="3228276"/>
            <a:ext cx="134549" cy="195707"/>
          </a:xfrm>
          <a:prstGeom prst="rect">
            <a:avLst/>
          </a:prstGeom>
        </p:spPr>
      </p:pic>
      <p:sp>
        <p:nvSpPr>
          <p:cNvPr id="23" name="TextBox 22"/>
          <p:cNvSpPr txBox="1"/>
          <p:nvPr/>
        </p:nvSpPr>
        <p:spPr>
          <a:xfrm>
            <a:off x="2731905" y="32385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761638" y="3228276"/>
            <a:ext cx="134549" cy="195707"/>
          </a:xfrm>
          <a:prstGeom prst="rect">
            <a:avLst/>
          </a:prstGeom>
        </p:spPr>
      </p:pic>
      <p:sp>
        <p:nvSpPr>
          <p:cNvPr id="25" name="TextBox 24"/>
          <p:cNvSpPr txBox="1"/>
          <p:nvPr/>
        </p:nvSpPr>
        <p:spPr>
          <a:xfrm>
            <a:off x="3936747" y="32385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66337"/>
            <a:ext cx="2767539" cy="194310"/>
          </a:xfrm>
          <a:prstGeom prst="rect">
            <a:avLst/>
          </a:prstGeom>
          <a:noFill/>
        </p:spPr>
        <p:txBody>
          <a:bodyPr wrap="none" lIns="0" rIns="0" tIns="0" bIns="0">
            <a:spAutoFit/>
          </a:bodyPr>
          <a:lstStyle/>
          <a:p>
            <a:r>
              <a:rPr sz="1150" b="0">
                <a:solidFill>
                  <a:srgbClr val="2E2E2E"/>
                </a:solidFill>
                <a:latin typeface="Calibri"/>
              </a:rPr>
              <a:t>▪ 'Foodservice and institutional' grows fastest</a:t>
            </a:r>
          </a:p>
        </p:txBody>
      </p:sp>
      <p:pic>
        <p:nvPicPr>
          <p:cNvPr id="27" name="Picture 26" descr="lock.png"/>
          <p:cNvPicPr>
            <a:picLocks noChangeAspect="1"/>
          </p:cNvPicPr>
          <p:nvPr/>
        </p:nvPicPr>
        <p:blipFill>
          <a:blip r:embed="rId4"/>
          <a:stretch>
            <a:fillRect/>
          </a:stretch>
        </p:blipFill>
        <p:spPr>
          <a:xfrm>
            <a:off x="2992918" y="3456114"/>
            <a:ext cx="134549" cy="195707"/>
          </a:xfrm>
          <a:prstGeom prst="rect">
            <a:avLst/>
          </a:prstGeom>
        </p:spPr>
      </p:pic>
      <p:sp>
        <p:nvSpPr>
          <p:cNvPr id="28" name="TextBox 27"/>
          <p:cNvSpPr txBox="1"/>
          <p:nvPr/>
        </p:nvSpPr>
        <p:spPr>
          <a:xfrm>
            <a:off x="3168027"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276717" cy="194310"/>
          </a:xfrm>
          <a:prstGeom prst="rect">
            <a:avLst/>
          </a:prstGeom>
          <a:noFill/>
        </p:spPr>
        <p:txBody>
          <a:bodyPr wrap="none" lIns="0" rIns="0" tIns="0" bIns="0">
            <a:spAutoFit/>
          </a:bodyPr>
          <a:lstStyle/>
          <a:p>
            <a:r>
              <a:rPr sz="1150" b="0">
                <a:solidFill>
                  <a:srgbClr val="2E2E2E"/>
                </a:solidFill>
                <a:latin typeface="Calibri"/>
              </a:rPr>
              <a:t>▪ Share shifts toward 'Foodservice and institutional' (+</a:t>
            </a:r>
          </a:p>
        </p:txBody>
      </p:sp>
      <p:pic>
        <p:nvPicPr>
          <p:cNvPr id="30" name="Picture 29" descr="lock.png"/>
          <p:cNvPicPr>
            <a:picLocks noChangeAspect="1"/>
          </p:cNvPicPr>
          <p:nvPr/>
        </p:nvPicPr>
        <p:blipFill>
          <a:blip r:embed="rId4"/>
          <a:stretch>
            <a:fillRect/>
          </a:stretch>
        </p:blipFill>
        <p:spPr>
          <a:xfrm>
            <a:off x="3502096" y="3683952"/>
            <a:ext cx="134549" cy="195707"/>
          </a:xfrm>
          <a:prstGeom prst="rect">
            <a:avLst/>
          </a:prstGeom>
        </p:spPr>
      </p:pic>
      <p:sp>
        <p:nvSpPr>
          <p:cNvPr id="31" name="TextBox 30"/>
          <p:cNvSpPr txBox="1"/>
          <p:nvPr/>
        </p:nvSpPr>
        <p:spPr>
          <a:xfrm>
            <a:off x="3677205" y="3694175"/>
            <a:ext cx="1822809" cy="194310"/>
          </a:xfrm>
          <a:prstGeom prst="rect">
            <a:avLst/>
          </a:prstGeom>
          <a:noFill/>
        </p:spPr>
        <p:txBody>
          <a:bodyPr wrap="none" lIns="0" rIns="0" tIns="0" bIns="0">
            <a:spAutoFit/>
          </a:bodyPr>
          <a:lstStyle/>
          <a:p>
            <a:r>
              <a:rPr sz="1150" b="0">
                <a:solidFill>
                  <a:srgbClr val="2E2E2E"/>
                </a:solidFill>
                <a:latin typeface="Calibri"/>
              </a:rPr>
              <a:t>BPS) and away from 'Retail' (-</a:t>
            </a:r>
          </a:p>
        </p:txBody>
      </p:sp>
      <p:pic>
        <p:nvPicPr>
          <p:cNvPr id="32" name="Picture 31" descr="lock.png"/>
          <p:cNvPicPr>
            <a:picLocks noChangeAspect="1"/>
          </p:cNvPicPr>
          <p:nvPr/>
        </p:nvPicPr>
        <p:blipFill>
          <a:blip r:embed="rId4"/>
          <a:stretch>
            <a:fillRect/>
          </a:stretch>
        </p:blipFill>
        <p:spPr>
          <a:xfrm>
            <a:off x="5449169" y="3683952"/>
            <a:ext cx="134549" cy="195707"/>
          </a:xfrm>
          <a:prstGeom prst="rect">
            <a:avLst/>
          </a:prstGeom>
        </p:spPr>
      </p:pic>
      <p:sp>
        <p:nvSpPr>
          <p:cNvPr id="33" name="TextBox 32"/>
          <p:cNvSpPr txBox="1"/>
          <p:nvPr/>
        </p:nvSpPr>
        <p:spPr>
          <a:xfrm>
            <a:off x="5624278"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911790"/>
            <a:ext cx="134549" cy="195707"/>
          </a:xfrm>
          <a:prstGeom prst="rect">
            <a:avLst/>
          </a:prstGeom>
        </p:spPr>
      </p:pic>
      <p:sp>
        <p:nvSpPr>
          <p:cNvPr id="36" name="TextBox 35"/>
          <p:cNvSpPr txBox="1"/>
          <p:nvPr/>
        </p:nvSpPr>
        <p:spPr>
          <a:xfrm>
            <a:off x="1965143"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911790"/>
            <a:ext cx="134549" cy="195707"/>
          </a:xfrm>
          <a:prstGeom prst="rect">
            <a:avLst/>
          </a:prstGeom>
        </p:spPr>
      </p:pic>
      <p:sp>
        <p:nvSpPr>
          <p:cNvPr id="38" name="TextBox 37"/>
          <p:cNvSpPr txBox="1"/>
          <p:nvPr/>
        </p:nvSpPr>
        <p:spPr>
          <a:xfrm>
            <a:off x="2291688" y="39220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Sales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Sales Channel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51666"/>
                <a:gridCol w="584443"/>
                <a:gridCol w="584443"/>
                <a:gridCol w="584443"/>
                <a:gridCol w="584443"/>
                <a:gridCol w="584443"/>
                <a:gridCol w="584443"/>
                <a:gridCol w="584443"/>
                <a:gridCol w="584443"/>
                <a:gridCol w="584443"/>
                <a:gridCol w="584443"/>
                <a:gridCol w="584443"/>
                <a:gridCol w="584443"/>
                <a:gridCol w="584443"/>
                <a:gridCol w="584443"/>
                <a:gridCol w="584443"/>
                <a:gridCol w="584443"/>
                <a:gridCol w="584443"/>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Sales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5141" y="1713738"/>
            <a:ext cx="366712" cy="533400"/>
          </a:xfrm>
          <a:prstGeom prst="rect">
            <a:avLst/>
          </a:prstGeom>
        </p:spPr>
      </p:pic>
      <p:sp>
        <p:nvSpPr>
          <p:cNvPr id="21" name="TextBox 20"/>
          <p:cNvSpPr txBox="1"/>
          <p:nvPr/>
        </p:nvSpPr>
        <p:spPr>
          <a:xfrm>
            <a:off x="276225" y="3238500"/>
            <a:ext cx="2331417" cy="194310"/>
          </a:xfrm>
          <a:prstGeom prst="rect">
            <a:avLst/>
          </a:prstGeom>
          <a:noFill/>
        </p:spPr>
        <p:txBody>
          <a:bodyPr wrap="none" lIns="0" rIns="0" tIns="0" bIns="0">
            <a:spAutoFit/>
          </a:bodyPr>
          <a:lstStyle/>
          <a:p>
            <a:r>
              <a:rPr sz="1150" b="0">
                <a:solidFill>
                  <a:srgbClr val="2E2E2E"/>
                </a:solidFill>
                <a:latin typeface="Calibri"/>
              </a:rPr>
              <a:t>▪ 'Retail' is the largest sales channel at</a:t>
            </a:r>
          </a:p>
        </p:txBody>
      </p:sp>
      <p:pic>
        <p:nvPicPr>
          <p:cNvPr id="22" name="Picture 21" descr="lock.png"/>
          <p:cNvPicPr>
            <a:picLocks noChangeAspect="1"/>
          </p:cNvPicPr>
          <p:nvPr/>
        </p:nvPicPr>
        <p:blipFill>
          <a:blip r:embed="rId4"/>
          <a:stretch>
            <a:fillRect/>
          </a:stretch>
        </p:blipFill>
        <p:spPr>
          <a:xfrm>
            <a:off x="2556796" y="3228276"/>
            <a:ext cx="134549" cy="195707"/>
          </a:xfrm>
          <a:prstGeom prst="rect">
            <a:avLst/>
          </a:prstGeom>
        </p:spPr>
      </p:pic>
      <p:sp>
        <p:nvSpPr>
          <p:cNvPr id="23" name="TextBox 22"/>
          <p:cNvSpPr txBox="1"/>
          <p:nvPr/>
        </p:nvSpPr>
        <p:spPr>
          <a:xfrm>
            <a:off x="2731905"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637838" y="3228276"/>
            <a:ext cx="134549" cy="195707"/>
          </a:xfrm>
          <a:prstGeom prst="rect">
            <a:avLst/>
          </a:prstGeom>
        </p:spPr>
      </p:pic>
      <p:sp>
        <p:nvSpPr>
          <p:cNvPr id="25" name="TextBox 24"/>
          <p:cNvSpPr txBox="1"/>
          <p:nvPr/>
        </p:nvSpPr>
        <p:spPr>
          <a:xfrm>
            <a:off x="3812947"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767539" cy="194310"/>
          </a:xfrm>
          <a:prstGeom prst="rect">
            <a:avLst/>
          </a:prstGeom>
          <a:noFill/>
        </p:spPr>
        <p:txBody>
          <a:bodyPr wrap="none" lIns="0" rIns="0" tIns="0" bIns="0">
            <a:spAutoFit/>
          </a:bodyPr>
          <a:lstStyle/>
          <a:p>
            <a:r>
              <a:rPr sz="1150" b="0">
                <a:solidFill>
                  <a:srgbClr val="2E2E2E"/>
                </a:solidFill>
                <a:latin typeface="Calibri"/>
              </a:rPr>
              <a:t>▪ 'Foodservice and institutional' grows fastest</a:t>
            </a:r>
          </a:p>
        </p:txBody>
      </p:sp>
      <p:pic>
        <p:nvPicPr>
          <p:cNvPr id="27" name="Picture 26" descr="lock.png"/>
          <p:cNvPicPr>
            <a:picLocks noChangeAspect="1"/>
          </p:cNvPicPr>
          <p:nvPr/>
        </p:nvPicPr>
        <p:blipFill>
          <a:blip r:embed="rId4"/>
          <a:stretch>
            <a:fillRect/>
          </a:stretch>
        </p:blipFill>
        <p:spPr>
          <a:xfrm>
            <a:off x="2992918" y="3456114"/>
            <a:ext cx="134549" cy="195707"/>
          </a:xfrm>
          <a:prstGeom prst="rect">
            <a:avLst/>
          </a:prstGeom>
        </p:spPr>
      </p:pic>
      <p:sp>
        <p:nvSpPr>
          <p:cNvPr id="28" name="TextBox 27"/>
          <p:cNvSpPr txBox="1"/>
          <p:nvPr/>
        </p:nvSpPr>
        <p:spPr>
          <a:xfrm>
            <a:off x="3168027"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276717" cy="194310"/>
          </a:xfrm>
          <a:prstGeom prst="rect">
            <a:avLst/>
          </a:prstGeom>
          <a:noFill/>
        </p:spPr>
        <p:txBody>
          <a:bodyPr wrap="none" lIns="0" rIns="0" tIns="0" bIns="0">
            <a:spAutoFit/>
          </a:bodyPr>
          <a:lstStyle/>
          <a:p>
            <a:r>
              <a:rPr sz="1150" b="0">
                <a:solidFill>
                  <a:srgbClr val="2E2E2E"/>
                </a:solidFill>
                <a:latin typeface="Calibri"/>
              </a:rPr>
              <a:t>▪ Share shifts toward 'Foodservice and institutional' (+</a:t>
            </a:r>
          </a:p>
        </p:txBody>
      </p:sp>
      <p:pic>
        <p:nvPicPr>
          <p:cNvPr id="30" name="Picture 29" descr="lock.png"/>
          <p:cNvPicPr>
            <a:picLocks noChangeAspect="1"/>
          </p:cNvPicPr>
          <p:nvPr/>
        </p:nvPicPr>
        <p:blipFill>
          <a:blip r:embed="rId4"/>
          <a:stretch>
            <a:fillRect/>
          </a:stretch>
        </p:blipFill>
        <p:spPr>
          <a:xfrm>
            <a:off x="3502096" y="3683952"/>
            <a:ext cx="134549" cy="195707"/>
          </a:xfrm>
          <a:prstGeom prst="rect">
            <a:avLst/>
          </a:prstGeom>
        </p:spPr>
      </p:pic>
      <p:sp>
        <p:nvSpPr>
          <p:cNvPr id="31" name="TextBox 30"/>
          <p:cNvSpPr txBox="1"/>
          <p:nvPr/>
        </p:nvSpPr>
        <p:spPr>
          <a:xfrm>
            <a:off x="3677205" y="3694175"/>
            <a:ext cx="1822809" cy="194310"/>
          </a:xfrm>
          <a:prstGeom prst="rect">
            <a:avLst/>
          </a:prstGeom>
          <a:noFill/>
        </p:spPr>
        <p:txBody>
          <a:bodyPr wrap="none" lIns="0" rIns="0" tIns="0" bIns="0">
            <a:spAutoFit/>
          </a:bodyPr>
          <a:lstStyle/>
          <a:p>
            <a:r>
              <a:rPr sz="1150" b="0">
                <a:solidFill>
                  <a:srgbClr val="2E2E2E"/>
                </a:solidFill>
                <a:latin typeface="Calibri"/>
              </a:rPr>
              <a:t>BPS) and away from 'Retail' (-</a:t>
            </a:r>
          </a:p>
        </p:txBody>
      </p:sp>
      <p:pic>
        <p:nvPicPr>
          <p:cNvPr id="32" name="Picture 31" descr="lock.png"/>
          <p:cNvPicPr>
            <a:picLocks noChangeAspect="1"/>
          </p:cNvPicPr>
          <p:nvPr/>
        </p:nvPicPr>
        <p:blipFill>
          <a:blip r:embed="rId4"/>
          <a:stretch>
            <a:fillRect/>
          </a:stretch>
        </p:blipFill>
        <p:spPr>
          <a:xfrm>
            <a:off x="5449169" y="3683952"/>
            <a:ext cx="134549" cy="195707"/>
          </a:xfrm>
          <a:prstGeom prst="rect">
            <a:avLst/>
          </a:prstGeom>
        </p:spPr>
      </p:pic>
      <p:sp>
        <p:nvSpPr>
          <p:cNvPr id="33" name="TextBox 32"/>
          <p:cNvSpPr txBox="1"/>
          <p:nvPr/>
        </p:nvSpPr>
        <p:spPr>
          <a:xfrm>
            <a:off x="5624278"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Sales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Sales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7074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659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897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Vending</a:t>
            </a:r>
          </a:p>
        </p:txBody>
      </p:sp>
      <p:sp>
        <p:nvSpPr>
          <p:cNvPr id="19" name="BPS Value 1"/>
          <p:cNvSpPr txBox="1"/>
          <p:nvPr/>
        </p:nvSpPr>
        <p:spPr>
          <a:xfrm>
            <a:off x="6896100" y="175169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73651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7317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555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and institutional</a:t>
            </a:r>
          </a:p>
        </p:txBody>
      </p:sp>
      <p:sp>
        <p:nvSpPr>
          <p:cNvPr id="23" name="BPS Value 2"/>
          <p:cNvSpPr txBox="1"/>
          <p:nvPr/>
        </p:nvSpPr>
        <p:spPr>
          <a:xfrm>
            <a:off x="6896100" y="271746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92321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9184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422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a:t>
            </a:r>
          </a:p>
        </p:txBody>
      </p:sp>
      <p:sp>
        <p:nvSpPr>
          <p:cNvPr id="27" name="BPS Value 3"/>
          <p:cNvSpPr txBox="1"/>
          <p:nvPr/>
        </p:nvSpPr>
        <p:spPr>
          <a:xfrm>
            <a:off x="6896100" y="490416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Sales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313800" cy="194310"/>
          </a:xfrm>
          <a:prstGeom prst="rect">
            <a:avLst/>
          </a:prstGeom>
          <a:noFill/>
        </p:spPr>
        <p:txBody>
          <a:bodyPr wrap="none" lIns="0" rIns="0" tIns="0" bIns="0">
            <a:spAutoFit/>
          </a:bodyPr>
          <a:lstStyle/>
          <a:p>
            <a:r>
              <a:rPr sz="1150" b="0">
                <a:solidFill>
                  <a:srgbClr val="2E2E2E"/>
                </a:solidFill>
                <a:latin typeface="Calibri"/>
              </a:rPr>
              <a:t>▪ 'Foodservice and institutional' gains the most share +</a:t>
            </a:r>
          </a:p>
        </p:txBody>
      </p:sp>
      <p:pic>
        <p:nvPicPr>
          <p:cNvPr id="35" name="Picture 34" descr="lock.png"/>
          <p:cNvPicPr>
            <a:picLocks noChangeAspect="1"/>
          </p:cNvPicPr>
          <p:nvPr/>
        </p:nvPicPr>
        <p:blipFill>
          <a:blip r:embed="rId5"/>
          <a:stretch>
            <a:fillRect/>
          </a:stretch>
        </p:blipFill>
        <p:spPr>
          <a:xfrm>
            <a:off x="11092504" y="1389951"/>
            <a:ext cx="134549" cy="195707"/>
          </a:xfrm>
          <a:prstGeom prst="rect">
            <a:avLst/>
          </a:prstGeom>
        </p:spPr>
      </p:pic>
      <p:sp>
        <p:nvSpPr>
          <p:cNvPr id="36" name="TextBox 35"/>
          <p:cNvSpPr txBox="1"/>
          <p:nvPr/>
        </p:nvSpPr>
        <p:spPr>
          <a:xfrm>
            <a:off x="11267613"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7" name="TextBox 36"/>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1580343" cy="194310"/>
          </a:xfrm>
          <a:prstGeom prst="rect">
            <a:avLst/>
          </a:prstGeom>
          <a:noFill/>
        </p:spPr>
        <p:txBody>
          <a:bodyPr wrap="none" lIns="0" rIns="0" tIns="0" bIns="0">
            <a:spAutoFit/>
          </a:bodyPr>
          <a:lstStyle/>
          <a:p>
            <a:r>
              <a:rPr sz="1150" b="0">
                <a:solidFill>
                  <a:srgbClr val="2E2E2E"/>
                </a:solidFill>
                <a:latin typeface="Calibri"/>
              </a:rPr>
              <a:t>▪ 'Retail' cedes the most -</a:t>
            </a:r>
          </a:p>
        </p:txBody>
      </p:sp>
      <p:pic>
        <p:nvPicPr>
          <p:cNvPr id="39" name="Picture 38" descr="lock.png"/>
          <p:cNvPicPr>
            <a:picLocks noChangeAspect="1"/>
          </p:cNvPicPr>
          <p:nvPr/>
        </p:nvPicPr>
        <p:blipFill>
          <a:blip r:embed="rId5"/>
          <a:stretch>
            <a:fillRect/>
          </a:stretch>
        </p:blipFill>
        <p:spPr>
          <a:xfrm>
            <a:off x="9359047" y="1793049"/>
            <a:ext cx="134549" cy="195707"/>
          </a:xfrm>
          <a:prstGeom prst="rect">
            <a:avLst/>
          </a:prstGeom>
        </p:spPr>
      </p:pic>
      <p:sp>
        <p:nvSpPr>
          <p:cNvPr id="40" name="TextBox 39"/>
          <p:cNvSpPr txBox="1"/>
          <p:nvPr/>
        </p:nvSpPr>
        <p:spPr>
          <a:xfrm>
            <a:off x="9534157" y="180327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41" name="TextBox 40"/>
          <p:cNvSpPr txBox="1"/>
          <p:nvPr/>
        </p:nvSpPr>
        <p:spPr>
          <a:xfrm>
            <a:off x="7829550" y="2031111"/>
            <a:ext cx="4057650" cy="194310"/>
          </a:xfrm>
          <a:prstGeom prst="rect">
            <a:avLst/>
          </a:prstGeom>
          <a:noFill/>
        </p:spPr>
        <p:txBody>
          <a:bodyPr wrap="none" lIns="0" rIns="0" tIns="0" bIns="0">
            <a:spAutoFit/>
          </a:bodyPr>
          <a:lstStyle/>
          <a:p>
            <a:r>
              <a:rPr sz="1150" b="0">
                <a:solidFill>
                  <a:srgbClr val="2E2E2E"/>
                </a:solidFill>
                <a:latin typeface="Calibri"/>
              </a:rPr>
              <a:t>▪ 'Foodservice and institutional' is the fastest-growing sales channel</a:t>
            </a:r>
          </a:p>
        </p:txBody>
      </p:sp>
      <p:sp>
        <p:nvSpPr>
          <p:cNvPr id="42" name="TextBox 41"/>
          <p:cNvSpPr txBox="1"/>
          <p:nvPr/>
        </p:nvSpPr>
        <p:spPr>
          <a:xfrm>
            <a:off x="7829550" y="2206371"/>
            <a:ext cx="195150" cy="194310"/>
          </a:xfrm>
          <a:prstGeom prst="rect">
            <a:avLst/>
          </a:prstGeom>
          <a:noFill/>
        </p:spPr>
        <p:txBody>
          <a:bodyPr wrap="none" lIns="0" rIns="0" tIns="0" bIns="0">
            <a:spAutoFit/>
          </a:bodyPr>
          <a:lstStyle/>
          <a:p>
            <a:r>
              <a:rPr sz="1150" b="0">
                <a:solidFill>
                  <a:srgbClr val="2E2E2E"/>
                </a:solidFill>
                <a:latin typeface="Calibri"/>
              </a:rPr>
              <a:t>at</a:t>
            </a:r>
          </a:p>
        </p:txBody>
      </p:sp>
      <p:pic>
        <p:nvPicPr>
          <p:cNvPr id="43" name="Picture 42" descr="lock.png"/>
          <p:cNvPicPr>
            <a:picLocks noChangeAspect="1"/>
          </p:cNvPicPr>
          <p:nvPr/>
        </p:nvPicPr>
        <p:blipFill>
          <a:blip r:embed="rId5"/>
          <a:stretch>
            <a:fillRect/>
          </a:stretch>
        </p:blipFill>
        <p:spPr>
          <a:xfrm>
            <a:off x="7973854" y="2196147"/>
            <a:ext cx="134549" cy="195707"/>
          </a:xfrm>
          <a:prstGeom prst="rect">
            <a:avLst/>
          </a:prstGeom>
        </p:spPr>
      </p:pic>
      <p:sp>
        <p:nvSpPr>
          <p:cNvPr id="44" name="TextBox 43"/>
          <p:cNvSpPr txBox="1"/>
          <p:nvPr/>
        </p:nvSpPr>
        <p:spPr>
          <a:xfrm>
            <a:off x="8148964" y="220637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5" name="TextBox 44"/>
          <p:cNvSpPr txBox="1"/>
          <p:nvPr/>
        </p:nvSpPr>
        <p:spPr>
          <a:xfrm>
            <a:off x="7829550" y="243420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423985"/>
            <a:ext cx="134549" cy="195707"/>
          </a:xfrm>
          <a:prstGeom prst="rect">
            <a:avLst/>
          </a:prstGeom>
        </p:spPr>
      </p:pic>
      <p:sp>
        <p:nvSpPr>
          <p:cNvPr id="47" name="TextBox 46"/>
          <p:cNvSpPr txBox="1"/>
          <p:nvPr/>
        </p:nvSpPr>
        <p:spPr>
          <a:xfrm>
            <a:off x="9502779" y="243420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423985"/>
            <a:ext cx="134549" cy="195707"/>
          </a:xfrm>
          <a:prstGeom prst="rect">
            <a:avLst/>
          </a:prstGeom>
        </p:spPr>
      </p:pic>
      <p:sp>
        <p:nvSpPr>
          <p:cNvPr id="49" name="TextBox 48"/>
          <p:cNvSpPr txBox="1"/>
          <p:nvPr/>
        </p:nvSpPr>
        <p:spPr>
          <a:xfrm>
            <a:off x="9829324" y="243420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66204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2837307"/>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Sales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institutional</a:t>
            </a:r>
          </a:p>
        </p:txBody>
      </p:sp>
      <p:sp>
        <p:nvSpPr>
          <p:cNvPr id="49" name="Rectangle 48"/>
          <p:cNvSpPr/>
          <p:nvPr/>
        </p:nvSpPr>
        <p:spPr>
          <a:xfrm>
            <a:off x="1857375" y="4191000"/>
            <a:ext cx="643890" cy="1190625"/>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Vending</a:t>
            </a:r>
          </a:p>
        </p:txBody>
      </p:sp>
      <p:sp>
        <p:nvSpPr>
          <p:cNvPr id="65" name="Rectangle 64"/>
          <p:cNvSpPr/>
          <p:nvPr/>
        </p:nvSpPr>
        <p:spPr>
          <a:xfrm>
            <a:off x="185737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52"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Sales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F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institutional</a:t>
            </a:r>
          </a:p>
        </p:txBody>
      </p:sp>
      <p:sp>
        <p:nvSpPr>
          <p:cNvPr id="49" name="Rectangle 48"/>
          <p:cNvSpPr/>
          <p:nvPr/>
        </p:nvSpPr>
        <p:spPr>
          <a:xfrm>
            <a:off x="1857375" y="4191000"/>
            <a:ext cx="643890" cy="1190625"/>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Vending</a:t>
            </a:r>
          </a:p>
        </p:txBody>
      </p:sp>
      <p:sp>
        <p:nvSpPr>
          <p:cNvPr id="65" name="Rectangle 64"/>
          <p:cNvSpPr/>
          <p:nvPr/>
        </p:nvSpPr>
        <p:spPr>
          <a:xfrm>
            <a:off x="185737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52" y="1589913"/>
            <a:ext cx="366712" cy="533400"/>
          </a:xfrm>
          <a:prstGeom prst="rect">
            <a:avLst/>
          </a:prstGeom>
        </p:spPr>
      </p:pic>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Product Pricing &amp;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3130.9</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3926.0</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4721.0</a:t>
            </a:r>
          </a:p>
        </p:txBody>
      </p:sp>
      <p:cxnSp>
        <p:nvCxnSpPr>
          <p:cNvPr id="16" name="Connector 15"/>
          <p:cNvCxnSpPr/>
          <p:nvPr/>
        </p:nvCxnSpPr>
        <p:spPr>
          <a:xfrm>
            <a:off x="2409825" y="1927636"/>
            <a:ext cx="0" cy="51354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2190750" y="1927636"/>
            <a:ext cx="438150" cy="51354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1775236"/>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Sweet muffins</a:t>
            </a:r>
          </a:p>
        </p:txBody>
      </p:sp>
      <p:cxnSp>
        <p:nvCxnSpPr>
          <p:cNvPr id="20" name="Connector 19"/>
          <p:cNvCxnSpPr/>
          <p:nvPr/>
        </p:nvCxnSpPr>
        <p:spPr>
          <a:xfrm>
            <a:off x="5915025" y="2933049"/>
            <a:ext cx="0" cy="39466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695950" y="2933049"/>
            <a:ext cx="438150" cy="39466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4162425" y="278064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4162425" y="3566301"/>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Savoury muffins</a:t>
            </a:r>
          </a:p>
        </p:txBody>
      </p:sp>
      <p:sp>
        <p:nvSpPr>
          <p:cNvPr id="24" name="Rounded Rectangle 23"/>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a:t>
            </a:r>
          </a:p>
        </p:txBody>
      </p:sp>
      <p:cxnSp>
        <p:nvCxnSpPr>
          <p:cNvPr id="26" name="Connector 25"/>
          <p:cNvCxnSpPr/>
          <p:nvPr/>
        </p:nvCxnSpPr>
        <p:spPr>
          <a:xfrm>
            <a:off x="619125" y="452751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619125" y="49150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19125" y="530263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619125" y="569020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619125" y="607776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619125" y="4527514"/>
            <a:ext cx="0" cy="1550248"/>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90550" y="452751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90550" y="49150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90550" y="53026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90550" y="569020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590550" y="607776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37" name="FMI Scale tick"/>
          <p:cNvSpPr txBox="1"/>
          <p:nvPr/>
        </p:nvSpPr>
        <p:spPr>
          <a:xfrm>
            <a:off x="138112" y="4460839"/>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+8.3%</a:t>
            </a:r>
          </a:p>
        </p:txBody>
      </p:sp>
      <p:sp>
        <p:nvSpPr>
          <p:cNvPr id="38" name="FMI Scale tick"/>
          <p:cNvSpPr txBox="1"/>
          <p:nvPr/>
        </p:nvSpPr>
        <p:spPr>
          <a:xfrm>
            <a:off x="138112" y="484840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39" name="FMI Scale tick"/>
          <p:cNvSpPr txBox="1"/>
          <p:nvPr/>
        </p:nvSpPr>
        <p:spPr>
          <a:xfrm>
            <a:off x="219075" y="523596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0" name="FMI Scale tick"/>
          <p:cNvSpPr txBox="1"/>
          <p:nvPr/>
        </p:nvSpPr>
        <p:spPr>
          <a:xfrm>
            <a:off x="164306" y="5623525"/>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41" name="FMI Scale tick"/>
          <p:cNvSpPr txBox="1"/>
          <p:nvPr/>
        </p:nvSpPr>
        <p:spPr>
          <a:xfrm>
            <a:off x="164306" y="6011087"/>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-8.3%</a:t>
            </a:r>
          </a:p>
        </p:txBody>
      </p:sp>
      <p:cxnSp>
        <p:nvCxnSpPr>
          <p:cNvPr id="42" name="Connector 41"/>
          <p:cNvCxnSpPr/>
          <p:nvPr/>
        </p:nvCxnSpPr>
        <p:spPr>
          <a:xfrm>
            <a:off x="619125" y="530263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43" name="Rectangle 42"/>
          <p:cNvSpPr/>
          <p:nvPr/>
        </p:nvSpPr>
        <p:spPr>
          <a:xfrm>
            <a:off x="2152650" y="4627936"/>
            <a:ext cx="457200" cy="67470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MI Data Label"/>
          <p:cNvSpPr txBox="1"/>
          <p:nvPr/>
        </p:nvSpPr>
        <p:spPr>
          <a:xfrm>
            <a:off x="619125" y="4485061"/>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5" name="Rectangle 44"/>
          <p:cNvSpPr/>
          <p:nvPr/>
        </p:nvSpPr>
        <p:spPr>
          <a:xfrm>
            <a:off x="5676900" y="4627941"/>
            <a:ext cx="457200" cy="67469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MI Data Label"/>
          <p:cNvSpPr txBox="1"/>
          <p:nvPr/>
        </p:nvSpPr>
        <p:spPr>
          <a:xfrm>
            <a:off x="4143375" y="4485066"/>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7" name="TextBox 46"/>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48" name="TextBox 47"/>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49" name="Rounded Rectangle 48"/>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1" name="Rectangle 50"/>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53" name="TextBox 5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4" name="Picture 53" descr="lock.png"/>
          <p:cNvPicPr>
            <a:picLocks noChangeAspect="1"/>
          </p:cNvPicPr>
          <p:nvPr/>
        </p:nvPicPr>
        <p:blipFill>
          <a:blip r:embed="rId4"/>
          <a:stretch>
            <a:fillRect/>
          </a:stretch>
        </p:blipFill>
        <p:spPr>
          <a:xfrm>
            <a:off x="2345475" y="1748312"/>
            <a:ext cx="128699" cy="187198"/>
          </a:xfrm>
          <a:prstGeom prst="rect">
            <a:avLst/>
          </a:prstGeom>
        </p:spPr>
      </p:pic>
      <p:pic>
        <p:nvPicPr>
          <p:cNvPr id="55" name="Picture 54" descr="lock.png"/>
          <p:cNvPicPr>
            <a:picLocks noChangeAspect="1"/>
          </p:cNvPicPr>
          <p:nvPr/>
        </p:nvPicPr>
        <p:blipFill>
          <a:blip r:embed="rId4"/>
          <a:stretch>
            <a:fillRect/>
          </a:stretch>
        </p:blipFill>
        <p:spPr>
          <a:xfrm>
            <a:off x="5850675" y="2753725"/>
            <a:ext cx="128699" cy="187198"/>
          </a:xfrm>
          <a:prstGeom prst="rect">
            <a:avLst/>
          </a:prstGeom>
        </p:spPr>
      </p:pic>
      <p:pic>
        <p:nvPicPr>
          <p:cNvPr id="56" name="Picture 55" descr="lock.png"/>
          <p:cNvPicPr>
            <a:picLocks noChangeAspect="1"/>
          </p:cNvPicPr>
          <p:nvPr/>
        </p:nvPicPr>
        <p:blipFill>
          <a:blip r:embed="rId4"/>
          <a:stretch>
            <a:fillRect/>
          </a:stretch>
        </p:blipFill>
        <p:spPr>
          <a:xfrm>
            <a:off x="2316900" y="4458137"/>
            <a:ext cx="128699" cy="187198"/>
          </a:xfrm>
          <a:prstGeom prst="rect">
            <a:avLst/>
          </a:prstGeom>
        </p:spPr>
      </p:pic>
      <p:pic>
        <p:nvPicPr>
          <p:cNvPr id="57" name="Picture 56" descr="lock.png"/>
          <p:cNvPicPr>
            <a:picLocks noChangeAspect="1"/>
          </p:cNvPicPr>
          <p:nvPr/>
        </p:nvPicPr>
        <p:blipFill>
          <a:blip r:embed="rId4"/>
          <a:stretch>
            <a:fillRect/>
          </a:stretch>
        </p:blipFill>
        <p:spPr>
          <a:xfrm>
            <a:off x="5841150" y="4458142"/>
            <a:ext cx="128699" cy="187198"/>
          </a:xfrm>
          <a:prstGeom prst="rect">
            <a:avLst/>
          </a:prstGeom>
        </p:spPr>
      </p:pic>
      <p:sp>
        <p:nvSpPr>
          <p:cNvPr id="58" name="TextBox 57"/>
          <p:cNvSpPr txBox="1"/>
          <p:nvPr/>
        </p:nvSpPr>
        <p:spPr>
          <a:xfrm>
            <a:off x="8048625" y="1736673"/>
            <a:ext cx="3848100" cy="194310"/>
          </a:xfrm>
          <a:prstGeom prst="rect">
            <a:avLst/>
          </a:prstGeom>
          <a:noFill/>
        </p:spPr>
        <p:txBody>
          <a:bodyPr wrap="none" lIns="0" rIns="0" tIns="0" bIns="0">
            <a:spAutoFit/>
          </a:bodyPr>
          <a:lstStyle/>
          <a:p>
            <a:r>
              <a:rPr sz="1150" b="0">
                <a:solidFill>
                  <a:srgbClr val="2E2E2E"/>
                </a:solidFill>
                <a:latin typeface="Calibri"/>
              </a:rPr>
              <a:t>▪ The chart shows North America average pricing of key product</a:t>
            </a:r>
          </a:p>
        </p:txBody>
      </p:sp>
      <p:sp>
        <p:nvSpPr>
          <p:cNvPr id="59" name="TextBox 58"/>
          <p:cNvSpPr txBox="1"/>
          <p:nvPr/>
        </p:nvSpPr>
        <p:spPr>
          <a:xfrm>
            <a:off x="8048625" y="1911934"/>
            <a:ext cx="3820629" cy="194310"/>
          </a:xfrm>
          <a:prstGeom prst="rect">
            <a:avLst/>
          </a:prstGeom>
          <a:noFill/>
        </p:spPr>
        <p:txBody>
          <a:bodyPr wrap="none" lIns="0" rIns="0" tIns="0" bIns="0">
            <a:spAutoFit/>
          </a:bodyPr>
          <a:lstStyle/>
          <a:p>
            <a:r>
              <a:rPr sz="1150" b="0">
                <a:solidFill>
                  <a:srgbClr val="2E2E2E"/>
                </a:solidFill>
                <a:latin typeface="Calibri"/>
              </a:rPr>
              <a:t>type types in USD, harmonised across regions. Each candlestick</a:t>
            </a:r>
          </a:p>
        </p:txBody>
      </p:sp>
      <p:sp>
        <p:nvSpPr>
          <p:cNvPr id="60" name="TextBox 59"/>
          <p:cNvSpPr txBox="1"/>
          <p:nvPr/>
        </p:nvSpPr>
        <p:spPr>
          <a:xfrm>
            <a:off x="8048625" y="2087194"/>
            <a:ext cx="3848100" cy="194310"/>
          </a:xfrm>
          <a:prstGeom prst="rect">
            <a:avLst/>
          </a:prstGeom>
          <a:noFill/>
        </p:spPr>
        <p:txBody>
          <a:bodyPr wrap="none" lIns="0" rIns="0" tIns="0" bIns="0">
            <a:spAutoFit/>
          </a:bodyPr>
          <a:lstStyle/>
          <a:p>
            <a:r>
              <a:rPr sz="1150" b="0">
                <a:solidFill>
                  <a:srgbClr val="2E2E2E"/>
                </a:solidFill>
                <a:latin typeface="Calibri"/>
              </a:rPr>
              <a:t>spans the minimum-to-maximum observed price within the base</a:t>
            </a:r>
          </a:p>
        </p:txBody>
      </p:sp>
      <p:sp>
        <p:nvSpPr>
          <p:cNvPr id="61" name="TextBox 60"/>
          <p:cNvSpPr txBox="1"/>
          <p:nvPr/>
        </p:nvSpPr>
        <p:spPr>
          <a:xfrm>
            <a:off x="8048625" y="2262454"/>
            <a:ext cx="3735722" cy="194310"/>
          </a:xfrm>
          <a:prstGeom prst="rect">
            <a:avLst/>
          </a:prstGeom>
          <a:noFill/>
        </p:spPr>
        <p:txBody>
          <a:bodyPr wrap="none" lIns="0" rIns="0" tIns="0" bIns="0">
            <a:spAutoFit/>
          </a:bodyPr>
          <a:lstStyle/>
          <a:p>
            <a:r>
              <a:rPr sz="1150" b="0">
                <a:solidFill>
                  <a:srgbClr val="2E2E2E"/>
                </a:solidFill>
                <a:latin typeface="Calibri"/>
              </a:rPr>
              <a:t>year, giving a clear read of price range and market dispersion.</a:t>
            </a:r>
          </a:p>
        </p:txBody>
      </p:sp>
      <p:sp>
        <p:nvSpPr>
          <p:cNvPr id="62" name="TextBox 61"/>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63" name="TextBox 62"/>
          <p:cNvSpPr txBox="1"/>
          <p:nvPr/>
        </p:nvSpPr>
        <p:spPr>
          <a:xfrm>
            <a:off x="8048625" y="2665551"/>
            <a:ext cx="3488121" cy="194310"/>
          </a:xfrm>
          <a:prstGeom prst="rect">
            <a:avLst/>
          </a:prstGeom>
          <a:noFill/>
        </p:spPr>
        <p:txBody>
          <a:bodyPr wrap="none" lIns="0" rIns="0" tIns="0" bIns="0">
            <a:spAutoFit/>
          </a:bodyPr>
          <a:lstStyle/>
          <a:p>
            <a:r>
              <a:rPr sz="1150" b="0">
                <a:solidFill>
                  <a:srgbClr val="2E2E2E"/>
                </a:solidFill>
                <a:latin typeface="Calibri"/>
              </a:rPr>
              <a:t>price levels 'Sweet muffins' shows the most movement (+</a:t>
            </a:r>
          </a:p>
        </p:txBody>
      </p:sp>
      <p:pic>
        <p:nvPicPr>
          <p:cNvPr id="64" name="Picture 63" descr="lock.png"/>
          <p:cNvPicPr>
            <a:picLocks noChangeAspect="1"/>
          </p:cNvPicPr>
          <p:nvPr/>
        </p:nvPicPr>
        <p:blipFill>
          <a:blip r:embed="rId4"/>
          <a:stretch>
            <a:fillRect/>
          </a:stretch>
        </p:blipFill>
        <p:spPr>
          <a:xfrm>
            <a:off x="11485900" y="2655328"/>
            <a:ext cx="134549" cy="195707"/>
          </a:xfrm>
          <a:prstGeom prst="rect">
            <a:avLst/>
          </a:prstGeom>
        </p:spPr>
      </p:pic>
      <p:sp>
        <p:nvSpPr>
          <p:cNvPr id="65" name="TextBox 64"/>
          <p:cNvSpPr txBox="1"/>
          <p:nvPr/>
        </p:nvSpPr>
        <p:spPr>
          <a:xfrm>
            <a:off x="11661010" y="2665551"/>
            <a:ext cx="120414" cy="194310"/>
          </a:xfrm>
          <a:prstGeom prst="rect">
            <a:avLst/>
          </a:prstGeom>
          <a:noFill/>
        </p:spPr>
        <p:txBody>
          <a:bodyPr wrap="none" lIns="0" rIns="0" tIns="0" bIns="0">
            <a:spAutoFit/>
          </a:bodyPr>
          <a:lstStyle/>
          <a:p>
            <a:r>
              <a:rPr sz="1150" b="0">
                <a:solidFill>
                  <a:srgbClr val="2E2E2E"/>
                </a:solidFill>
                <a:latin typeface="Calibri"/>
              </a:rPr>
              <a:t>)</a:t>
            </a:r>
          </a:p>
        </p:txBody>
      </p:sp>
      <p:sp>
        <p:nvSpPr>
          <p:cNvPr id="66" name="TextBox 65"/>
          <p:cNvSpPr txBox="1"/>
          <p:nvPr/>
        </p:nvSpPr>
        <p:spPr>
          <a:xfrm>
            <a:off x="8048625" y="2840811"/>
            <a:ext cx="2051012" cy="194310"/>
          </a:xfrm>
          <a:prstGeom prst="rect">
            <a:avLst/>
          </a:prstGeom>
          <a:noFill/>
        </p:spPr>
        <p:txBody>
          <a:bodyPr wrap="none" lIns="0" rIns="0" tIns="0" bIns="0">
            <a:spAutoFit/>
          </a:bodyPr>
          <a:lstStyle/>
          <a:p>
            <a:r>
              <a:rPr sz="1150" b="0">
                <a:solidFill>
                  <a:srgbClr val="2E2E2E"/>
                </a:solidFill>
                <a:latin typeface="Calibri"/>
              </a:rPr>
              <a:t>and 'Savoury muffins' the least (+</a:t>
            </a:r>
          </a:p>
        </p:txBody>
      </p:sp>
      <p:pic>
        <p:nvPicPr>
          <p:cNvPr id="67" name="Picture 66" descr="lock.png"/>
          <p:cNvPicPr>
            <a:picLocks noChangeAspect="1"/>
          </p:cNvPicPr>
          <p:nvPr/>
        </p:nvPicPr>
        <p:blipFill>
          <a:blip r:embed="rId4"/>
          <a:stretch>
            <a:fillRect/>
          </a:stretch>
        </p:blipFill>
        <p:spPr>
          <a:xfrm>
            <a:off x="10048791" y="2830588"/>
            <a:ext cx="134549" cy="195707"/>
          </a:xfrm>
          <a:prstGeom prst="rect">
            <a:avLst/>
          </a:prstGeom>
        </p:spPr>
      </p:pic>
      <p:sp>
        <p:nvSpPr>
          <p:cNvPr id="68" name="TextBox 67"/>
          <p:cNvSpPr txBox="1"/>
          <p:nvPr/>
        </p:nvSpPr>
        <p:spPr>
          <a:xfrm>
            <a:off x="10223901" y="2840811"/>
            <a:ext cx="1530139" cy="194310"/>
          </a:xfrm>
          <a:prstGeom prst="rect">
            <a:avLst/>
          </a:prstGeom>
          <a:noFill/>
        </p:spPr>
        <p:txBody>
          <a:bodyPr wrap="none" lIns="0" rIns="0" tIns="0" bIns="0">
            <a:spAutoFit/>
          </a:bodyPr>
          <a:lstStyle/>
          <a:p>
            <a:r>
              <a:rPr sz="1150" b="0">
                <a:solidFill>
                  <a:srgbClr val="2E2E2E"/>
                </a:solidFill>
                <a:latin typeface="Calibri"/>
              </a:rPr>
              <a:t>) variability stakeholders</a:t>
            </a:r>
          </a:p>
        </p:txBody>
      </p:sp>
      <p:sp>
        <p:nvSpPr>
          <p:cNvPr id="69" name="TextBox 68"/>
          <p:cNvSpPr txBox="1"/>
          <p:nvPr/>
        </p:nvSpPr>
        <p:spPr>
          <a:xfrm>
            <a:off x="8048625" y="3016071"/>
            <a:ext cx="3347206" cy="194310"/>
          </a:xfrm>
          <a:prstGeom prst="rect">
            <a:avLst/>
          </a:prstGeom>
          <a:noFill/>
        </p:spPr>
        <p:txBody>
          <a:bodyPr wrap="none" lIns="0" rIns="0" tIns="0" bIns="0">
            <a:spAutoFit/>
          </a:bodyPr>
          <a:lstStyle/>
          <a:p>
            <a:r>
              <a:rPr sz="1150" b="0">
                <a:solidFill>
                  <a:srgbClr val="2E2E2E"/>
                </a:solidFill>
                <a:latin typeface="Calibri"/>
              </a:rPr>
              <a:t>should monitor when planning procurement or pricing.</a:t>
            </a:r>
          </a:p>
        </p:txBody>
      </p:sp>
      <p:sp>
        <p:nvSpPr>
          <p:cNvPr id="70" name="TextBox 69"/>
          <p:cNvSpPr txBox="1"/>
          <p:nvPr/>
        </p:nvSpPr>
        <p:spPr>
          <a:xfrm>
            <a:off x="8048625" y="3243909"/>
            <a:ext cx="3797337" cy="194310"/>
          </a:xfrm>
          <a:prstGeom prst="rect">
            <a:avLst/>
          </a:prstGeom>
          <a:noFill/>
        </p:spPr>
        <p:txBody>
          <a:bodyPr wrap="none" lIns="0" rIns="0" tIns="0" bIns="0">
            <a:spAutoFit/>
          </a:bodyPr>
          <a:lstStyle/>
          <a:p>
            <a:r>
              <a:rPr sz="1150" b="0">
                <a:solidFill>
                  <a:srgbClr val="2E2E2E"/>
                </a:solidFill>
                <a:latin typeface="Calibri"/>
              </a:rPr>
              <a:t>▪ The lower chart indexes country-level price movement to the</a:t>
            </a:r>
          </a:p>
        </p:txBody>
      </p:sp>
      <p:sp>
        <p:nvSpPr>
          <p:cNvPr id="71" name="TextBox 70"/>
          <p:cNvSpPr txBox="1"/>
          <p:nvPr/>
        </p:nvSpPr>
        <p:spPr>
          <a:xfrm>
            <a:off x="8048625" y="341916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72" name="TextBox 71"/>
          <p:cNvSpPr txBox="1"/>
          <p:nvPr/>
        </p:nvSpPr>
        <p:spPr>
          <a:xfrm>
            <a:off x="8048625" y="359442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73" name="TextBox 72"/>
          <p:cNvSpPr txBox="1"/>
          <p:nvPr/>
        </p:nvSpPr>
        <p:spPr>
          <a:xfrm>
            <a:off x="8048625" y="376968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74" name="TextBox 73"/>
          <p:cNvSpPr txBox="1"/>
          <p:nvPr/>
        </p:nvSpPr>
        <p:spPr>
          <a:xfrm>
            <a:off x="8048625" y="3997527"/>
            <a:ext cx="2406724" cy="194310"/>
          </a:xfrm>
          <a:prstGeom prst="rect">
            <a:avLst/>
          </a:prstGeom>
          <a:noFill/>
        </p:spPr>
        <p:txBody>
          <a:bodyPr wrap="none" lIns="0" rIns="0" tIns="0" bIns="0">
            <a:spAutoFit/>
          </a:bodyPr>
          <a:lstStyle/>
          <a:p>
            <a:r>
              <a:rPr sz="1150" b="0">
                <a:solidFill>
                  <a:srgbClr val="2E2E2E"/>
                </a:solidFill>
                <a:latin typeface="Calibri"/>
              </a:rPr>
              <a:t>▪ Country price indices diverge by up to</a:t>
            </a:r>
          </a:p>
        </p:txBody>
      </p:sp>
      <p:pic>
        <p:nvPicPr>
          <p:cNvPr id="75" name="Picture 74" descr="lock.png"/>
          <p:cNvPicPr>
            <a:picLocks noChangeAspect="1"/>
          </p:cNvPicPr>
          <p:nvPr/>
        </p:nvPicPr>
        <p:blipFill>
          <a:blip r:embed="rId4"/>
          <a:stretch>
            <a:fillRect/>
          </a:stretch>
        </p:blipFill>
        <p:spPr>
          <a:xfrm>
            <a:off x="10404503" y="3987304"/>
            <a:ext cx="134549" cy="195707"/>
          </a:xfrm>
          <a:prstGeom prst="rect">
            <a:avLst/>
          </a:prstGeom>
        </p:spPr>
      </p:pic>
      <p:sp>
        <p:nvSpPr>
          <p:cNvPr id="76" name="TextBox 75"/>
          <p:cNvSpPr txBox="1"/>
          <p:nvPr/>
        </p:nvSpPr>
        <p:spPr>
          <a:xfrm>
            <a:off x="10579612" y="399752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77" name="TextBox 76"/>
          <p:cNvSpPr txBox="1"/>
          <p:nvPr/>
        </p:nvSpPr>
        <p:spPr>
          <a:xfrm>
            <a:off x="8048625" y="4172787"/>
            <a:ext cx="3672681" cy="194310"/>
          </a:xfrm>
          <a:prstGeom prst="rect">
            <a:avLst/>
          </a:prstGeom>
          <a:noFill/>
        </p:spPr>
        <p:txBody>
          <a:bodyPr wrap="none" lIns="0" rIns="0" tIns="0" bIns="0">
            <a:spAutoFit/>
          </a:bodyPr>
          <a:lstStyle/>
          <a:p>
            <a:r>
              <a:rPr sz="1150" b="0">
                <a:solidFill>
                  <a:srgbClr val="2E2E2E"/>
                </a:solidFill>
                <a:latin typeface="Calibri"/>
              </a:rPr>
              <a:t>2036: higher-priced countries start higher and grow steadily,</a:t>
            </a:r>
          </a:p>
        </p:txBody>
      </p:sp>
      <p:sp>
        <p:nvSpPr>
          <p:cNvPr id="78" name="TextBox 77"/>
          <p:cNvSpPr txBox="1"/>
          <p:nvPr/>
        </p:nvSpPr>
        <p:spPr>
          <a:xfrm>
            <a:off x="8048625" y="4348047"/>
            <a:ext cx="3330091" cy="194310"/>
          </a:xfrm>
          <a:prstGeom prst="rect">
            <a:avLst/>
          </a:prstGeom>
          <a:noFill/>
        </p:spPr>
        <p:txBody>
          <a:bodyPr wrap="none" lIns="0" rIns="0" tIns="0" bIns="0">
            <a:spAutoFit/>
          </a:bodyPr>
          <a:lstStyle/>
          <a:p>
            <a:r>
              <a:rPr sz="1150" b="0">
                <a:solidFill>
                  <a:srgbClr val="2E2E2E"/>
                </a:solidFill>
                <a:latin typeface="Calibri"/>
              </a:rPr>
              <a:t>while lower-priced countries start lower and converge,</a:t>
            </a:r>
          </a:p>
        </p:txBody>
      </p:sp>
      <p:sp>
        <p:nvSpPr>
          <p:cNvPr id="79" name="TextBox 78"/>
          <p:cNvSpPr txBox="1"/>
          <p:nvPr/>
        </p:nvSpPr>
        <p:spPr>
          <a:xfrm>
            <a:off x="8048625" y="4523307"/>
            <a:ext cx="1688740" cy="194310"/>
          </a:xfrm>
          <a:prstGeom prst="rect">
            <a:avLst/>
          </a:prstGeom>
          <a:noFill/>
        </p:spPr>
        <p:txBody>
          <a:bodyPr wrap="none" lIns="0" rIns="0" tIns="0" bIns="0">
            <a:spAutoFit/>
          </a:bodyPr>
          <a:lstStyle/>
          <a:p>
            <a:r>
              <a:rPr sz="1150" b="0">
                <a:solidFill>
                  <a:srgbClr val="2E2E2E"/>
                </a:solidFill>
                <a:latin typeface="Calibri"/>
              </a:rPr>
              <a:t>reflecting catch-up growth.</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North America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461772">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461772">
                <a:tc>
                  <a:txBody>
                    <a:bodyPr wrap="square"/>
                    <a:lstStyle/>
                    <a:p>
                      <a:pPr algn="l"/>
                      <a:r>
                        <a:rPr sz="850" b="1">
                          <a:solidFill>
                            <a:srgbClr val="1F1F1F"/>
                          </a:solidFill>
                          <a:latin typeface="Calibri"/>
                        </a:rPr>
                        <a:t>Sweet muffins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b="0">
                          <a:solidFill>
                            <a:srgbClr val="1F1F1F"/>
                          </a:solidFill>
                          <a:latin typeface="Calibri"/>
                        </a:rPr>
                        <a:t>0.70%</a:t>
                      </a:r>
                    </a:p>
                  </a:txBody>
                  <a:tcPr marL="36576" marR="36576" marT="9144" marB="9144" anchor="ctr">
                    <a:solidFill>
                      <a:srgbClr val="FFFFFF"/>
                    </a:solidFill>
                  </a:tcPr>
                </a:tc>
                <a:tc>
                  <a:txBody>
                    <a:bodyPr wrap="square"/>
                    <a:lstStyle/>
                    <a:p>
                      <a:pPr algn="ctr"/>
                      <a:r>
                        <a:rPr sz="850" b="0">
                          <a:solidFill>
                            <a:srgbClr val="1F1F1F"/>
                          </a:solidFill>
                          <a:latin typeface="Calibri"/>
                        </a:rPr>
                        <a:t>110.5</a:t>
                      </a:r>
                    </a:p>
                  </a:txBody>
                  <a:tcPr marL="36576" marR="36576" marT="9144" marB="9144" anchor="ctr">
                    <a:solidFill>
                      <a:srgbClr val="F4B183"/>
                    </a:solidFill>
                  </a:tcPr>
                </a:tc>
              </a:tr>
              <a:tr h="461772">
                <a:tc>
                  <a:txBody>
                    <a:bodyPr wrap="square"/>
                    <a:lstStyle/>
                    <a:p>
                      <a:pPr algn="l"/>
                      <a:r>
                        <a:rPr sz="850" b="1">
                          <a:solidFill>
                            <a:srgbClr val="1F1F1F"/>
                          </a:solidFill>
                          <a:latin typeface="Calibri"/>
                        </a:rPr>
                        <a:t>Savoury muffins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b="0">
                          <a:solidFill>
                            <a:srgbClr val="1F1F1F"/>
                          </a:solidFill>
                          <a:latin typeface="Calibri"/>
                        </a:rPr>
                        <a:t>0.66%</a:t>
                      </a:r>
                    </a:p>
                  </a:txBody>
                  <a:tcPr marL="36576" marR="36576" marT="9144" marB="9144" anchor="ctr">
                    <a:solidFill>
                      <a:srgbClr val="F3F6F9"/>
                    </a:solidFill>
                  </a:tcPr>
                </a:tc>
                <a:tc>
                  <a:txBody>
                    <a:bodyPr wrap="square"/>
                    <a:lstStyle/>
                    <a:p>
                      <a:pPr algn="ctr"/>
                      <a:r>
                        <a:rPr sz="850" b="0">
                          <a:solidFill>
                            <a:srgbClr val="1F1F1F"/>
                          </a:solidFill>
                          <a:latin typeface="Calibri"/>
                        </a:rPr>
                        <a:t>89.4</a:t>
                      </a:r>
                    </a:p>
                  </a:txBody>
                  <a:tcPr marL="36576" marR="36576" marT="9144" marB="9144" anchor="ctr">
                    <a:solidFill>
                      <a:srgbClr val="9DC0E0"/>
                    </a:solidFill>
                  </a:tcPr>
                </a:tc>
              </a:tr>
              <a:tr h="461772">
                <a:tc>
                  <a:txBody>
                    <a:bodyPr wrap="square"/>
                    <a:lstStyle/>
                    <a:p>
                      <a:pPr algn="l"/>
                      <a:r>
                        <a:rPr sz="850" b="1">
                          <a:solidFill>
                            <a:srgbClr val="1F1F1F"/>
                          </a:solidFill>
                          <a:latin typeface="Calibri"/>
                        </a:rPr>
                        <a:t>North America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b="0">
                          <a:solidFill>
                            <a:srgbClr val="1F1F1F"/>
                          </a:solidFill>
                          <a:latin typeface="Calibri"/>
                        </a:rPr>
                        <a:t>0.73%</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Sweet muffins sit at the top of the 2026 price ladder at an index of 110.5, while Savoury muffins trade at 89.4, which keeps the full product type spread within 23.6%.</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Sweet muffins post the fastest price growth at a 0.70% CAGR between 2026 and 2036, compared with 0.66% for Savoury muffins.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9643491" y="4117466"/>
            <a:ext cx="330041" cy="480060"/>
          </a:xfrm>
          <a:prstGeom prst="rect">
            <a:avLst/>
          </a:prstGeom>
        </p:spPr>
      </p:pic>
      <p:sp>
        <p:nvSpPr>
          <p:cNvPr id="34" name="TextBox 33"/>
          <p:cNvSpPr txBox="1"/>
          <p:nvPr/>
        </p:nvSpPr>
        <p:spPr>
          <a:xfrm>
            <a:off x="411480" y="1110615"/>
            <a:ext cx="4226272" cy="217169"/>
          </a:xfrm>
          <a:prstGeom prst="rect">
            <a:avLst/>
          </a:prstGeom>
          <a:noFill/>
        </p:spPr>
        <p:txBody>
          <a:bodyPr wrap="none" lIns="0" rIns="0" tIns="0" bIns="0">
            <a:spAutoFit/>
          </a:bodyPr>
          <a:lstStyle/>
          <a:p>
            <a:r>
              <a:rPr sz="1300" b="1">
                <a:solidFill>
                  <a:srgbClr val="FFFFFF"/>
                </a:solidFill>
                <a:latin typeface="Calibri"/>
              </a:rPr>
              <a:t>Sweet muffins command the highest 2026 price point at US$</a:t>
            </a:r>
          </a:p>
        </p:txBody>
      </p:sp>
      <p:pic>
        <p:nvPicPr>
          <p:cNvPr id="35" name="Picture 34" descr="lock.png"/>
          <p:cNvPicPr>
            <a:picLocks noChangeAspect="1"/>
          </p:cNvPicPr>
          <p:nvPr/>
        </p:nvPicPr>
        <p:blipFill>
          <a:blip r:embed="rId6"/>
          <a:stretch>
            <a:fillRect/>
          </a:stretch>
        </p:blipFill>
        <p:spPr>
          <a:xfrm>
            <a:off x="4590213" y="1099058"/>
            <a:ext cx="152098" cy="221234"/>
          </a:xfrm>
          <a:prstGeom prst="rect">
            <a:avLst/>
          </a:prstGeom>
        </p:spPr>
      </p:pic>
      <p:sp>
        <p:nvSpPr>
          <p:cNvPr id="36" name="TextBox 35"/>
          <p:cNvSpPr txBox="1"/>
          <p:nvPr/>
        </p:nvSpPr>
        <p:spPr>
          <a:xfrm>
            <a:off x="4788162" y="1110615"/>
            <a:ext cx="3194397" cy="217169"/>
          </a:xfrm>
          <a:prstGeom prst="rect">
            <a:avLst/>
          </a:prstGeom>
          <a:noFill/>
        </p:spPr>
        <p:txBody>
          <a:bodyPr wrap="none" lIns="0" rIns="0" tIns="0" bIns="0">
            <a:spAutoFit/>
          </a:bodyPr>
          <a:lstStyle/>
          <a:p>
            <a:r>
              <a:rPr sz="1300" b="1">
                <a:solidFill>
                  <a:srgbClr val="FFFFFF"/>
                </a:solidFill>
                <a:latin typeface="Calibri"/>
              </a:rPr>
              <a:t>/MT, a 23.6% premium over Savoury muffins.</a:t>
            </a:r>
          </a:p>
        </p:txBody>
      </p:sp>
      <p:sp>
        <p:nvSpPr>
          <p:cNvPr id="37" name="TextBox 36"/>
          <p:cNvSpPr txBox="1"/>
          <p:nvPr/>
        </p:nvSpPr>
        <p:spPr>
          <a:xfrm>
            <a:off x="8658225" y="5530976"/>
            <a:ext cx="2681994" cy="179069"/>
          </a:xfrm>
          <a:prstGeom prst="rect">
            <a:avLst/>
          </a:prstGeom>
          <a:noFill/>
        </p:spPr>
        <p:txBody>
          <a:bodyPr wrap="none" lIns="0" rIns="0" tIns="0" bIns="0">
            <a:spAutoFit/>
          </a:bodyPr>
          <a:lstStyle/>
          <a:p>
            <a:r>
              <a:rPr sz="1050" b="0">
                <a:solidFill>
                  <a:srgbClr val="1F1F1F"/>
                </a:solidFill>
                <a:latin typeface="Calibri"/>
              </a:rPr>
              <a:t>The North America average price rises from US$</a:t>
            </a:r>
          </a:p>
        </p:txBody>
      </p:sp>
      <p:pic>
        <p:nvPicPr>
          <p:cNvPr id="38" name="Picture 37" descr="lock.png"/>
          <p:cNvPicPr>
            <a:picLocks noChangeAspect="1"/>
          </p:cNvPicPr>
          <p:nvPr/>
        </p:nvPicPr>
        <p:blipFill>
          <a:blip r:embed="rId6"/>
          <a:stretch>
            <a:fillRect/>
          </a:stretch>
        </p:blipFill>
        <p:spPr>
          <a:xfrm>
            <a:off x="11287168" y="5521642"/>
            <a:ext cx="122849" cy="178689"/>
          </a:xfrm>
          <a:prstGeom prst="rect">
            <a:avLst/>
          </a:prstGeom>
        </p:spPr>
      </p:pic>
      <p:sp>
        <p:nvSpPr>
          <p:cNvPr id="39" name="TextBox 38"/>
          <p:cNvSpPr txBox="1"/>
          <p:nvPr/>
        </p:nvSpPr>
        <p:spPr>
          <a:xfrm>
            <a:off x="11447051" y="5530976"/>
            <a:ext cx="306958" cy="179069"/>
          </a:xfrm>
          <a:prstGeom prst="rect">
            <a:avLst/>
          </a:prstGeom>
          <a:noFill/>
        </p:spPr>
        <p:txBody>
          <a:bodyPr wrap="none" lIns="0" rIns="0" tIns="0" bIns="0">
            <a:spAutoFit/>
          </a:bodyPr>
          <a:lstStyle/>
          <a:p>
            <a:r>
              <a:rPr sz="1050" b="0">
                <a:solidFill>
                  <a:srgbClr val="1F1F1F"/>
                </a:solidFill>
                <a:latin typeface="Calibri"/>
              </a:rPr>
              <a:t>/MT</a:t>
            </a:r>
          </a:p>
        </p:txBody>
      </p:sp>
      <p:sp>
        <p:nvSpPr>
          <p:cNvPr id="40" name="TextBox 39"/>
          <p:cNvSpPr txBox="1"/>
          <p:nvPr/>
        </p:nvSpPr>
        <p:spPr>
          <a:xfrm>
            <a:off x="8658225" y="5690996"/>
            <a:ext cx="868226" cy="179069"/>
          </a:xfrm>
          <a:prstGeom prst="rect">
            <a:avLst/>
          </a:prstGeom>
          <a:noFill/>
        </p:spPr>
        <p:txBody>
          <a:bodyPr wrap="none" lIns="0" rIns="0" tIns="0" bIns="0">
            <a:spAutoFit/>
          </a:bodyPr>
          <a:lstStyle/>
          <a:p>
            <a:r>
              <a:rPr sz="1050" b="0">
                <a:solidFill>
                  <a:srgbClr val="1F1F1F"/>
                </a:solidFill>
                <a:latin typeface="Calibri"/>
              </a:rPr>
              <a:t>in 2026 to US$</a:t>
            </a:r>
          </a:p>
        </p:txBody>
      </p:sp>
      <p:pic>
        <p:nvPicPr>
          <p:cNvPr id="41" name="Picture 40" descr="lock.png"/>
          <p:cNvPicPr>
            <a:picLocks noChangeAspect="1"/>
          </p:cNvPicPr>
          <p:nvPr/>
        </p:nvPicPr>
        <p:blipFill>
          <a:blip r:embed="rId6"/>
          <a:stretch>
            <a:fillRect/>
          </a:stretch>
        </p:blipFill>
        <p:spPr>
          <a:xfrm>
            <a:off x="9473400" y="5681662"/>
            <a:ext cx="122849" cy="178689"/>
          </a:xfrm>
          <a:prstGeom prst="rect">
            <a:avLst/>
          </a:prstGeom>
        </p:spPr>
      </p:pic>
      <p:sp>
        <p:nvSpPr>
          <p:cNvPr id="42" name="TextBox 41"/>
          <p:cNvSpPr txBox="1"/>
          <p:nvPr/>
        </p:nvSpPr>
        <p:spPr>
          <a:xfrm>
            <a:off x="9633282" y="5690996"/>
            <a:ext cx="2166044" cy="179069"/>
          </a:xfrm>
          <a:prstGeom prst="rect">
            <a:avLst/>
          </a:prstGeom>
          <a:noFill/>
        </p:spPr>
        <p:txBody>
          <a:bodyPr wrap="none" lIns="0" rIns="0" tIns="0" bIns="0">
            <a:spAutoFit/>
          </a:bodyPr>
          <a:lstStyle/>
          <a:p>
            <a:r>
              <a:rPr sz="1050" b="0">
                <a:solidFill>
                  <a:srgbClr val="1F1F1F"/>
                </a:solidFill>
                <a:latin typeface="Calibri"/>
              </a:rPr>
              <a:t>/MT in 2036, and the gap between the</a:t>
            </a:r>
          </a:p>
        </p:txBody>
      </p:sp>
      <p:sp>
        <p:nvSpPr>
          <p:cNvPr id="43" name="TextBox 42"/>
          <p:cNvSpPr txBox="1"/>
          <p:nvPr/>
        </p:nvSpPr>
        <p:spPr>
          <a:xfrm>
            <a:off x="8658225" y="5851016"/>
            <a:ext cx="2878373" cy="179069"/>
          </a:xfrm>
          <a:prstGeom prst="rect">
            <a:avLst/>
          </a:prstGeom>
          <a:noFill/>
        </p:spPr>
        <p:txBody>
          <a:bodyPr wrap="none" lIns="0" rIns="0" tIns="0" bIns="0">
            <a:spAutoFit/>
          </a:bodyPr>
          <a:lstStyle/>
          <a:p>
            <a:r>
              <a:rPr sz="1050" b="0">
                <a:solidFill>
                  <a:srgbClr val="1F1F1F"/>
                </a:solidFill>
                <a:latin typeface="Calibri"/>
              </a:rPr>
              <a:t>highest and lowest priced product type moves from</a:t>
            </a:r>
          </a:p>
        </p:txBody>
      </p:sp>
      <p:sp>
        <p:nvSpPr>
          <p:cNvPr id="44" name="TextBox 43"/>
          <p:cNvSpPr txBox="1"/>
          <p:nvPr/>
        </p:nvSpPr>
        <p:spPr>
          <a:xfrm>
            <a:off x="8658225" y="6011036"/>
            <a:ext cx="1813656" cy="179069"/>
          </a:xfrm>
          <a:prstGeom prst="rect">
            <a:avLst/>
          </a:prstGeom>
          <a:noFill/>
        </p:spPr>
        <p:txBody>
          <a:bodyPr wrap="none" lIns="0" rIns="0" tIns="0" bIns="0">
            <a:spAutoFit/>
          </a:bodyPr>
          <a:lstStyle/>
          <a:p>
            <a:r>
              <a:rPr sz="1050" b="0">
                <a:solidFill>
                  <a:srgbClr val="1F1F1F"/>
                </a:solidFill>
                <a:latin typeface="Calibri"/>
              </a:rPr>
              <a:t>23.4% in 2021 to 24.0% in 2036.</a:t>
            </a:r>
          </a:p>
        </p:txBody>
      </p:sp>
      <p:pic>
        <p:nvPicPr>
          <p:cNvPr id="45" name="Picture 44" descr="lock.png"/>
          <p:cNvPicPr>
            <a:picLocks noChangeAspect="1"/>
          </p:cNvPicPr>
          <p:nvPr/>
        </p:nvPicPr>
        <p:blipFill>
          <a:blip r:embed="rId6"/>
          <a:stretch>
            <a:fillRect/>
          </a:stretch>
        </p:blipFill>
        <p:spPr>
          <a:xfrm>
            <a:off x="3418190" y="3048804"/>
            <a:ext cx="454926" cy="661711"/>
          </a:xfrm>
          <a:prstGeom prst="rect">
            <a:avLst/>
          </a:prstGeom>
        </p:spPr>
      </p:pic>
      <p:sp>
        <p:nvSpPr>
          <p:cNvPr id="46"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country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3,060</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3,435</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3,810</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4,186</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4,561</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4,937</a:t>
            </a:r>
          </a:p>
        </p:txBody>
      </p:sp>
      <p:sp>
        <p:nvSpPr>
          <p:cNvPr id="25" name="TextBox 24"/>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U.S.</a:t>
            </a:r>
          </a:p>
        </p:txBody>
      </p:sp>
      <p:sp>
        <p:nvSpPr>
          <p:cNvPr id="26" name="Rectangle 25"/>
          <p:cNvSpPr/>
          <p:nvPr/>
        </p:nvSpPr>
        <p:spPr>
          <a:xfrm>
            <a:off x="2045494" y="2448389"/>
            <a:ext cx="2548126" cy="1129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257644"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Canada</a:t>
            </a:r>
          </a:p>
        </p:txBody>
      </p:sp>
      <p:sp>
        <p:nvSpPr>
          <p:cNvPr id="29" name="Rectangle 28"/>
          <p:cNvSpPr/>
          <p:nvPr/>
        </p:nvSpPr>
        <p:spPr>
          <a:xfrm>
            <a:off x="4105359" y="4620120"/>
            <a:ext cx="2821697" cy="1129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5454295"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33" name="Rectangle 32"/>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35" name="Rounded Rectangle 34"/>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37" name="Rectangle 3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9" name="Rounded Rectangle 38"/>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40" name="TextBox 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41" name="TextBox 40"/>
          <p:cNvSpPr txBox="1"/>
          <p:nvPr/>
        </p:nvSpPr>
        <p:spPr>
          <a:xfrm>
            <a:off x="8048625" y="1736673"/>
            <a:ext cx="3751656" cy="194310"/>
          </a:xfrm>
          <a:prstGeom prst="rect">
            <a:avLst/>
          </a:prstGeom>
          <a:noFill/>
        </p:spPr>
        <p:txBody>
          <a:bodyPr wrap="none" lIns="0" rIns="0" tIns="0" bIns="0">
            <a:spAutoFit/>
          </a:bodyPr>
          <a:lstStyle/>
          <a:p>
            <a:r>
              <a:rPr sz="1150" b="0">
                <a:solidFill>
                  <a:srgbClr val="2E2E2E"/>
                </a:solidFill>
                <a:latin typeface="Calibri"/>
              </a:rPr>
              <a:t>▪ Average prices sit within a tight band across regions, ranging</a:t>
            </a:r>
          </a:p>
        </p:txBody>
      </p:sp>
      <p:sp>
        <p:nvSpPr>
          <p:cNvPr id="42" name="TextBox 41"/>
          <p:cNvSpPr txBox="1"/>
          <p:nvPr/>
        </p:nvSpPr>
        <p:spPr>
          <a:xfrm>
            <a:off x="8048625" y="1911934"/>
            <a:ext cx="471276" cy="194310"/>
          </a:xfrm>
          <a:prstGeom prst="rect">
            <a:avLst/>
          </a:prstGeom>
          <a:noFill/>
        </p:spPr>
        <p:txBody>
          <a:bodyPr wrap="none" lIns="0" rIns="0" tIns="0" bIns="0">
            <a:spAutoFit/>
          </a:bodyPr>
          <a:lstStyle/>
          <a:p>
            <a:r>
              <a:rPr sz="1150" b="0">
                <a:solidFill>
                  <a:srgbClr val="2E2E2E"/>
                </a:solidFill>
                <a:latin typeface="Calibri"/>
              </a:rPr>
              <a:t>from ~</a:t>
            </a:r>
          </a:p>
        </p:txBody>
      </p:sp>
      <p:pic>
        <p:nvPicPr>
          <p:cNvPr id="43" name="Picture 42" descr="lock.png"/>
          <p:cNvPicPr>
            <a:picLocks noChangeAspect="1"/>
          </p:cNvPicPr>
          <p:nvPr/>
        </p:nvPicPr>
        <p:blipFill>
          <a:blip r:embed="rId4"/>
          <a:stretch>
            <a:fillRect/>
          </a:stretch>
        </p:blipFill>
        <p:spPr>
          <a:xfrm>
            <a:off x="8469055" y="1901710"/>
            <a:ext cx="134549" cy="195707"/>
          </a:xfrm>
          <a:prstGeom prst="rect">
            <a:avLst/>
          </a:prstGeom>
        </p:spPr>
      </p:pic>
      <p:sp>
        <p:nvSpPr>
          <p:cNvPr id="44" name="TextBox 43"/>
          <p:cNvSpPr txBox="1"/>
          <p:nvPr/>
        </p:nvSpPr>
        <p:spPr>
          <a:xfrm>
            <a:off x="8644164" y="1911934"/>
            <a:ext cx="1304503" cy="194310"/>
          </a:xfrm>
          <a:prstGeom prst="rect">
            <a:avLst/>
          </a:prstGeom>
          <a:noFill/>
        </p:spPr>
        <p:txBody>
          <a:bodyPr wrap="none" lIns="0" rIns="0" tIns="0" bIns="0">
            <a:spAutoFit/>
          </a:bodyPr>
          <a:lstStyle/>
          <a:p>
            <a:r>
              <a:rPr sz="1150" b="0">
                <a:solidFill>
                  <a:srgbClr val="2E2E2E"/>
                </a:solidFill>
                <a:latin typeface="Calibri"/>
              </a:rPr>
              <a:t>US$/MT in 'U.S.' to ~</a:t>
            </a:r>
          </a:p>
        </p:txBody>
      </p:sp>
      <p:pic>
        <p:nvPicPr>
          <p:cNvPr id="45" name="Picture 44" descr="lock.png"/>
          <p:cNvPicPr>
            <a:picLocks noChangeAspect="1"/>
          </p:cNvPicPr>
          <p:nvPr/>
        </p:nvPicPr>
        <p:blipFill>
          <a:blip r:embed="rId4"/>
          <a:stretch>
            <a:fillRect/>
          </a:stretch>
        </p:blipFill>
        <p:spPr>
          <a:xfrm>
            <a:off x="9897822" y="1901710"/>
            <a:ext cx="134549" cy="195707"/>
          </a:xfrm>
          <a:prstGeom prst="rect">
            <a:avLst/>
          </a:prstGeom>
        </p:spPr>
      </p:pic>
      <p:sp>
        <p:nvSpPr>
          <p:cNvPr id="46" name="TextBox 45"/>
          <p:cNvSpPr txBox="1"/>
          <p:nvPr/>
        </p:nvSpPr>
        <p:spPr>
          <a:xfrm>
            <a:off x="10072931" y="1911934"/>
            <a:ext cx="1398066" cy="194310"/>
          </a:xfrm>
          <a:prstGeom prst="rect">
            <a:avLst/>
          </a:prstGeom>
          <a:noFill/>
        </p:spPr>
        <p:txBody>
          <a:bodyPr wrap="none" lIns="0" rIns="0" tIns="0" bIns="0">
            <a:spAutoFit/>
          </a:bodyPr>
          <a:lstStyle/>
          <a:p>
            <a:r>
              <a:rPr sz="1150" b="0">
                <a:solidFill>
                  <a:srgbClr val="2E2E2E"/>
                </a:solidFill>
                <a:latin typeface="Calibri"/>
              </a:rPr>
              <a:t>US$/MT in 'Canada' at</a:t>
            </a:r>
          </a:p>
        </p:txBody>
      </p:sp>
      <p:sp>
        <p:nvSpPr>
          <p:cNvPr id="47" name="TextBox 46"/>
          <p:cNvSpPr txBox="1"/>
          <p:nvPr/>
        </p:nvSpPr>
        <p:spPr>
          <a:xfrm>
            <a:off x="8048625" y="2087194"/>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8" name="TextBox 47"/>
          <p:cNvSpPr txBox="1"/>
          <p:nvPr/>
        </p:nvSpPr>
        <p:spPr>
          <a:xfrm>
            <a:off x="8048625" y="2315032"/>
            <a:ext cx="3848100" cy="194310"/>
          </a:xfrm>
          <a:prstGeom prst="rect">
            <a:avLst/>
          </a:prstGeom>
          <a:noFill/>
        </p:spPr>
        <p:txBody>
          <a:bodyPr wrap="none" lIns="0" rIns="0" tIns="0" bIns="0">
            <a:spAutoFit/>
          </a:bodyPr>
          <a:lstStyle/>
          <a:p>
            <a:r>
              <a:rPr sz="1150" b="0">
                <a:solidFill>
                  <a:srgbClr val="2E2E2E"/>
                </a:solidFill>
                <a:latin typeface="Calibri"/>
              </a:rPr>
              <a:t>▪ 'Canada' commands the premium a signal of stronger demand</a:t>
            </a:r>
          </a:p>
        </p:txBody>
      </p:sp>
      <p:sp>
        <p:nvSpPr>
          <p:cNvPr id="49" name="TextBox 48"/>
          <p:cNvSpPr txBox="1"/>
          <p:nvPr/>
        </p:nvSpPr>
        <p:spPr>
          <a:xfrm>
            <a:off x="8048625" y="2490292"/>
            <a:ext cx="3680953" cy="194310"/>
          </a:xfrm>
          <a:prstGeom prst="rect">
            <a:avLst/>
          </a:prstGeom>
          <a:noFill/>
        </p:spPr>
        <p:txBody>
          <a:bodyPr wrap="none" lIns="0" rIns="0" tIns="0" bIns="0">
            <a:spAutoFit/>
          </a:bodyPr>
          <a:lstStyle/>
          <a:p>
            <a:r>
              <a:rPr sz="1150" b="0">
                <a:solidFill>
                  <a:srgbClr val="2E2E2E"/>
                </a:solidFill>
                <a:latin typeface="Calibri"/>
              </a:rPr>
              <a:t>and limited price-competitive supply while 'U.S.' remains the</a:t>
            </a:r>
          </a:p>
        </p:txBody>
      </p:sp>
      <p:sp>
        <p:nvSpPr>
          <p:cNvPr id="50" name="TextBox 49"/>
          <p:cNvSpPr txBox="1"/>
          <p:nvPr/>
        </p:nvSpPr>
        <p:spPr>
          <a:xfrm>
            <a:off x="8048625" y="2665551"/>
            <a:ext cx="2320577" cy="194310"/>
          </a:xfrm>
          <a:prstGeom prst="rect">
            <a:avLst/>
          </a:prstGeom>
          <a:noFill/>
        </p:spPr>
        <p:txBody>
          <a:bodyPr wrap="none" lIns="0" rIns="0" tIns="0" bIns="0">
            <a:spAutoFit/>
          </a:bodyPr>
          <a:lstStyle/>
          <a:p>
            <a:r>
              <a:rPr sz="1150" b="0">
                <a:solidFill>
                  <a:srgbClr val="2E2E2E"/>
                </a:solidFill>
                <a:latin typeface="Calibri"/>
              </a:rPr>
              <a:t>most accessible, value-led geography.</a:t>
            </a:r>
          </a:p>
        </p:txBody>
      </p:sp>
      <p:sp>
        <p:nvSpPr>
          <p:cNvPr id="51" name="TextBox 50"/>
          <p:cNvSpPr txBox="1"/>
          <p:nvPr/>
        </p:nvSpPr>
        <p:spPr>
          <a:xfrm>
            <a:off x="8048625" y="2893389"/>
            <a:ext cx="3813596" cy="194310"/>
          </a:xfrm>
          <a:prstGeom prst="rect">
            <a:avLst/>
          </a:prstGeom>
          <a:noFill/>
        </p:spPr>
        <p:txBody>
          <a:bodyPr wrap="none" lIns="0" rIns="0" tIns="0" bIns="0">
            <a:spAutoFit/>
          </a:bodyPr>
          <a:lstStyle/>
          <a:p>
            <a:r>
              <a:rPr sz="1150" b="0">
                <a:solidFill>
                  <a:srgbClr val="2E2E2E"/>
                </a:solidFill>
                <a:latin typeface="Calibri"/>
              </a:rPr>
              <a:t>▪ The orange dot is each region's average selling price; the blue</a:t>
            </a:r>
          </a:p>
        </p:txBody>
      </p:sp>
      <p:sp>
        <p:nvSpPr>
          <p:cNvPr id="52" name="TextBox 51"/>
          <p:cNvSpPr txBox="1"/>
          <p:nvPr/>
        </p:nvSpPr>
        <p:spPr>
          <a:xfrm>
            <a:off x="8048625" y="3068649"/>
            <a:ext cx="3640162" cy="194310"/>
          </a:xfrm>
          <a:prstGeom prst="rect">
            <a:avLst/>
          </a:prstGeom>
          <a:noFill/>
        </p:spPr>
        <p:txBody>
          <a:bodyPr wrap="none" lIns="0" rIns="0" tIns="0" bIns="0">
            <a:spAutoFit/>
          </a:bodyPr>
          <a:lstStyle/>
          <a:p>
            <a:r>
              <a:rPr sz="1150" b="0">
                <a:solidFill>
                  <a:srgbClr val="2E2E2E"/>
                </a:solidFill>
                <a:latin typeface="Calibri"/>
              </a:rPr>
              <a:t>band is its full low-to-high price range, all derived as Value ÷</a:t>
            </a:r>
          </a:p>
        </p:txBody>
      </p:sp>
      <p:sp>
        <p:nvSpPr>
          <p:cNvPr id="53" name="TextBox 52"/>
          <p:cNvSpPr txBox="1"/>
          <p:nvPr/>
        </p:nvSpPr>
        <p:spPr>
          <a:xfrm>
            <a:off x="8048625" y="3243909"/>
            <a:ext cx="572827" cy="194310"/>
          </a:xfrm>
          <a:prstGeom prst="rect">
            <a:avLst/>
          </a:prstGeom>
          <a:noFill/>
        </p:spPr>
        <p:txBody>
          <a:bodyPr wrap="none" lIns="0" rIns="0" tIns="0" bIns="0">
            <a:spAutoFit/>
          </a:bodyPr>
          <a:lstStyle/>
          <a:p>
            <a:r>
              <a:rPr sz="1150" b="0">
                <a:solidFill>
                  <a:srgbClr val="2E2E2E"/>
                </a:solidFill>
                <a:latin typeface="Calibri"/>
              </a:rPr>
              <a:t>Volume.</a:t>
            </a:r>
          </a:p>
        </p:txBody>
      </p:sp>
      <p:sp>
        <p:nvSpPr>
          <p:cNvPr id="54" name="TextBox 53"/>
          <p:cNvSpPr txBox="1"/>
          <p:nvPr/>
        </p:nvSpPr>
        <p:spPr>
          <a:xfrm>
            <a:off x="8048625" y="3471747"/>
            <a:ext cx="3776513" cy="194310"/>
          </a:xfrm>
          <a:prstGeom prst="rect">
            <a:avLst/>
          </a:prstGeom>
          <a:noFill/>
        </p:spPr>
        <p:txBody>
          <a:bodyPr wrap="none" lIns="0" rIns="0" tIns="0" bIns="0">
            <a:spAutoFit/>
          </a:bodyPr>
          <a:lstStyle/>
          <a:p>
            <a:r>
              <a:rPr sz="1150" b="0">
                <a:solidFill>
                  <a:srgbClr val="2E2E2E"/>
                </a:solidFill>
                <a:latin typeface="Calibri"/>
              </a:rPr>
              <a:t>▪ Narrow bands point to commoditised, price-led competition;</a:t>
            </a:r>
          </a:p>
        </p:txBody>
      </p:sp>
      <p:sp>
        <p:nvSpPr>
          <p:cNvPr id="55" name="TextBox 54"/>
          <p:cNvSpPr txBox="1"/>
          <p:nvPr/>
        </p:nvSpPr>
        <p:spPr>
          <a:xfrm>
            <a:off x="8048625" y="3647007"/>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56" name="TextBox 55"/>
          <p:cNvSpPr txBox="1"/>
          <p:nvPr/>
        </p:nvSpPr>
        <p:spPr>
          <a:xfrm>
            <a:off x="8048625" y="3822267"/>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Packaged Muffins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1247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934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343275"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90850"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628900"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66950"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914525"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705225"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705225"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705225"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705225"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705225"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705225"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96439"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911172"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911172"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96439"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543175"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71888"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48037"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838022"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5017427"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614355"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71888"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3006616"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85158"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505753"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72934"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733800"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733800"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733800"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733800"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733800"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48000"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4279956"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5041347"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5041347"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4279956"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3048000"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816044"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1054653"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1054653"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TextBox 53"/>
          <p:cNvSpPr txBox="1"/>
          <p:nvPr/>
        </p:nvSpPr>
        <p:spPr>
          <a:xfrm>
            <a:off x="1816044"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5" name="Rounded Rectangle 54"/>
          <p:cNvSpPr/>
          <p:nvPr/>
        </p:nvSpPr>
        <p:spPr>
          <a:xfrm>
            <a:off x="7343775" y="1354081"/>
            <a:ext cx="470535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477125" y="1439806"/>
            <a:ext cx="44386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477125" y="1677931"/>
            <a:ext cx="4438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477125" y="1763656"/>
            <a:ext cx="443865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Packaged Muffins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Packaged Muffins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343775" y="4943046"/>
            <a:ext cx="470535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477125" y="5028771"/>
            <a:ext cx="443865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477125" y="5266896"/>
            <a:ext cx="4438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77125" y="5352621"/>
            <a:ext cx="443865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336396"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944277" y="1889132"/>
            <a:ext cx="128699" cy="187198"/>
          </a:xfrm>
          <a:prstGeom prst="rect">
            <a:avLst/>
          </a:prstGeom>
        </p:spPr>
      </p:pic>
      <p:sp>
        <p:nvSpPr>
          <p:cNvPr id="66" name="TextBox 65"/>
          <p:cNvSpPr txBox="1"/>
          <p:nvPr/>
        </p:nvSpPr>
        <p:spPr>
          <a:xfrm>
            <a:off x="4362308"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418613" y="2315626"/>
            <a:ext cx="92663" cy="134782"/>
          </a:xfrm>
          <a:prstGeom prst="rect">
            <a:avLst/>
          </a:prstGeom>
        </p:spPr>
      </p:pic>
      <p:sp>
        <p:nvSpPr>
          <p:cNvPr id="68" name="TextBox 67"/>
          <p:cNvSpPr txBox="1"/>
          <p:nvPr/>
        </p:nvSpPr>
        <p:spPr>
          <a:xfrm>
            <a:off x="5130968"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172736" y="3363591"/>
            <a:ext cx="92663" cy="134782"/>
          </a:xfrm>
          <a:prstGeom prst="rect">
            <a:avLst/>
          </a:prstGeom>
        </p:spPr>
      </p:pic>
      <p:sp>
        <p:nvSpPr>
          <p:cNvPr id="70" name="TextBox 69"/>
          <p:cNvSpPr txBox="1"/>
          <p:nvPr/>
        </p:nvSpPr>
        <p:spPr>
          <a:xfrm>
            <a:off x="5120171"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178341" y="4655202"/>
            <a:ext cx="97811" cy="142270"/>
          </a:xfrm>
          <a:prstGeom prst="rect">
            <a:avLst/>
          </a:prstGeom>
        </p:spPr>
      </p:pic>
      <p:sp>
        <p:nvSpPr>
          <p:cNvPr id="72" name="TextBox 71"/>
          <p:cNvSpPr txBox="1"/>
          <p:nvPr/>
        </p:nvSpPr>
        <p:spPr>
          <a:xfrm>
            <a:off x="4327292"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885613" y="5767261"/>
            <a:ext cx="92663" cy="134782"/>
          </a:xfrm>
          <a:prstGeom prst="rect">
            <a:avLst/>
          </a:prstGeom>
        </p:spPr>
      </p:pic>
      <p:sp>
        <p:nvSpPr>
          <p:cNvPr id="74" name="TextBox 73"/>
          <p:cNvSpPr txBox="1"/>
          <p:nvPr/>
        </p:nvSpPr>
        <p:spPr>
          <a:xfrm>
            <a:off x="3144658"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167161" y="6103453"/>
            <a:ext cx="97811" cy="142270"/>
          </a:xfrm>
          <a:prstGeom prst="rect">
            <a:avLst/>
          </a:prstGeom>
        </p:spPr>
      </p:pic>
      <p:sp>
        <p:nvSpPr>
          <p:cNvPr id="76" name="TextBox 75"/>
          <p:cNvSpPr txBox="1"/>
          <p:nvPr/>
        </p:nvSpPr>
        <p:spPr>
          <a:xfrm>
            <a:off x="1954338"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7" name="TextBox 76"/>
          <p:cNvSpPr txBox="1"/>
          <p:nvPr/>
        </p:nvSpPr>
        <p:spPr>
          <a:xfrm>
            <a:off x="2308296"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544802" y="5767261"/>
            <a:ext cx="92663" cy="134782"/>
          </a:xfrm>
          <a:prstGeom prst="rect">
            <a:avLst/>
          </a:prstGeom>
        </p:spPr>
      </p:pic>
      <p:sp>
        <p:nvSpPr>
          <p:cNvPr id="79" name="TextBox 78"/>
          <p:cNvSpPr txBox="1"/>
          <p:nvPr/>
        </p:nvSpPr>
        <p:spPr>
          <a:xfrm>
            <a:off x="1144816"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660310" y="4719297"/>
            <a:ext cx="92663" cy="134782"/>
          </a:xfrm>
          <a:prstGeom prst="rect">
            <a:avLst/>
          </a:prstGeom>
        </p:spPr>
      </p:pic>
      <p:sp>
        <p:nvSpPr>
          <p:cNvPr id="81" name="TextBox 80"/>
          <p:cNvSpPr txBox="1"/>
          <p:nvPr/>
        </p:nvSpPr>
        <p:spPr>
          <a:xfrm>
            <a:off x="1127477"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202838" y="3363591"/>
            <a:ext cx="92663" cy="134782"/>
          </a:xfrm>
          <a:prstGeom prst="rect">
            <a:avLst/>
          </a:prstGeom>
        </p:spPr>
      </p:pic>
      <p:sp>
        <p:nvSpPr>
          <p:cNvPr id="83" name="TextBox 82"/>
          <p:cNvSpPr txBox="1"/>
          <p:nvPr/>
        </p:nvSpPr>
        <p:spPr>
          <a:xfrm>
            <a:off x="1898348"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421701" y="2375977"/>
            <a:ext cx="92663" cy="134782"/>
          </a:xfrm>
          <a:prstGeom prst="rect">
            <a:avLst/>
          </a:prstGeom>
        </p:spPr>
      </p:pic>
      <p:sp>
        <p:nvSpPr>
          <p:cNvPr id="85" name="TextBox 84"/>
          <p:cNvSpPr txBox="1"/>
          <p:nvPr/>
        </p:nvSpPr>
        <p:spPr>
          <a:xfrm>
            <a:off x="7477125" y="5362146"/>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8166043" y="5352366"/>
            <a:ext cx="128699" cy="187198"/>
          </a:xfrm>
          <a:prstGeom prst="rect">
            <a:avLst/>
          </a:prstGeom>
        </p:spPr>
      </p:pic>
      <p:sp>
        <p:nvSpPr>
          <p:cNvPr id="87" name="TextBox 86"/>
          <p:cNvSpPr txBox="1"/>
          <p:nvPr/>
        </p:nvSpPr>
        <p:spPr>
          <a:xfrm>
            <a:off x="8333538" y="5362146"/>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8" name="TextBox 87"/>
          <p:cNvSpPr txBox="1"/>
          <p:nvPr/>
        </p:nvSpPr>
        <p:spPr>
          <a:xfrm>
            <a:off x="7477125" y="5580078"/>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276548" y="5570298"/>
            <a:ext cx="128699" cy="187198"/>
          </a:xfrm>
          <a:prstGeom prst="rect">
            <a:avLst/>
          </a:prstGeom>
        </p:spPr>
      </p:pic>
      <p:sp>
        <p:nvSpPr>
          <p:cNvPr id="90" name="TextBox 89"/>
          <p:cNvSpPr txBox="1"/>
          <p:nvPr/>
        </p:nvSpPr>
        <p:spPr>
          <a:xfrm>
            <a:off x="9444044" y="5580078"/>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1" name="TextBox 90"/>
          <p:cNvSpPr txBox="1"/>
          <p:nvPr/>
        </p:nvSpPr>
        <p:spPr>
          <a:xfrm>
            <a:off x="7477125" y="5798010"/>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903560" y="5788230"/>
            <a:ext cx="128699" cy="187198"/>
          </a:xfrm>
          <a:prstGeom prst="rect">
            <a:avLst/>
          </a:prstGeom>
        </p:spPr>
      </p:pic>
      <p:sp>
        <p:nvSpPr>
          <p:cNvPr id="93" name="TextBox 92"/>
          <p:cNvSpPr txBox="1"/>
          <p:nvPr/>
        </p:nvSpPr>
        <p:spPr>
          <a:xfrm>
            <a:off x="9071056" y="5798010"/>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4" name="TextBox 93"/>
          <p:cNvSpPr txBox="1"/>
          <p:nvPr/>
        </p:nvSpPr>
        <p:spPr>
          <a:xfrm>
            <a:off x="7477125" y="6015942"/>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950491" y="6006162"/>
            <a:ext cx="128699" cy="187198"/>
          </a:xfrm>
          <a:prstGeom prst="rect">
            <a:avLst/>
          </a:prstGeom>
        </p:spPr>
      </p:pic>
      <p:sp>
        <p:nvSpPr>
          <p:cNvPr id="96" name="TextBox 95"/>
          <p:cNvSpPr txBox="1"/>
          <p:nvPr/>
        </p:nvSpPr>
        <p:spPr>
          <a:xfrm>
            <a:off x="9117987" y="6015942"/>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7" name="TextBox 96"/>
          <p:cNvSpPr txBox="1"/>
          <p:nvPr/>
        </p:nvSpPr>
        <p:spPr>
          <a:xfrm>
            <a:off x="7477125" y="6233874"/>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9025252" y="6224094"/>
            <a:ext cx="128699" cy="187198"/>
          </a:xfrm>
          <a:prstGeom prst="rect">
            <a:avLst/>
          </a:prstGeom>
        </p:spPr>
      </p:pic>
      <p:sp>
        <p:nvSpPr>
          <p:cNvPr id="99" name="TextBox 98"/>
          <p:cNvSpPr txBox="1"/>
          <p:nvPr/>
        </p:nvSpPr>
        <p:spPr>
          <a:xfrm>
            <a:off x="9192748" y="6233874"/>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1" cy="2271330"/>
        </p:xfrm>
        <a:graphic>
          <a:graphicData uri="http://schemas.openxmlformats.org/drawingml/2006/table">
            <a:tbl>
              <a:tblPr>
                <a:tableStyleId>{5C22544A-7EE6-4342-B048-85BDC9FD1C3A}</a:tableStyleId>
              </a:tblPr>
              <a:tblGrid>
                <a:gridCol w="875075"/>
                <a:gridCol w="1252844"/>
                <a:gridCol w="1252844"/>
                <a:gridCol w="1252844"/>
                <a:gridCol w="1252844"/>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101260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260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9" cy="2271330"/>
        </p:xfrm>
        <a:graphic>
          <a:graphicData uri="http://schemas.openxmlformats.org/drawingml/2006/table">
            <a:tbl>
              <a:tblPr>
                <a:tableStyleId>{5C22544A-7EE6-4342-B048-85BDC9FD1C3A}</a:tableStyleId>
              </a:tblPr>
              <a:tblGrid>
                <a:gridCol w="1377259"/>
                <a:gridCol w="1113010"/>
                <a:gridCol w="1113010"/>
                <a:gridCol w="1113010"/>
                <a:gridCol w="1113010"/>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101260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260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346472" y="2566777"/>
            <a:ext cx="366712" cy="533400"/>
          </a:xfrm>
          <a:prstGeom prst="rect">
            <a:avLst/>
          </a:prstGeom>
        </p:spPr>
      </p:pic>
      <p:pic>
        <p:nvPicPr>
          <p:cNvPr id="25" name="Picture 24" descr="lock.png"/>
          <p:cNvPicPr>
            <a:picLocks noChangeAspect="1"/>
          </p:cNvPicPr>
          <p:nvPr/>
        </p:nvPicPr>
        <p:blipFill>
          <a:blip r:embed="rId4"/>
          <a:stretch>
            <a:fillRect/>
          </a:stretch>
        </p:blipFill>
        <p:spPr>
          <a:xfrm>
            <a:off x="9626889" y="2566777"/>
            <a:ext cx="366712" cy="533400"/>
          </a:xfrm>
          <a:prstGeom prst="rect">
            <a:avLst/>
          </a:prstGeom>
        </p:spPr>
      </p:pic>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North America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country and sub-segment against the weighted average price of each country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2381250"/>
          </a:xfrm>
          <a:prstGeom prst="roundRect">
            <a:avLst>
              <a:gd name="adj" fmla="val 32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200" cy="1914526"/>
        </p:xfrm>
        <a:graphic>
          <a:graphicData uri="http://schemas.openxmlformats.org/drawingml/2006/table">
            <a:tbl>
              <a:tblPr>
                <a:tableStyleId>{5C22544A-7EE6-4342-B048-85BDC9FD1C3A}</a:tableStyleId>
              </a:tblPr>
              <a:tblGrid>
                <a:gridCol w="1571454"/>
                <a:gridCol w="3438582"/>
                <a:gridCol w="3438582"/>
                <a:gridCol w="3438582"/>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Sweet muffins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Savoury muffins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834200">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834200">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95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48100"/>
            <a:ext cx="11906250" cy="2695575"/>
          </a:xfrm>
          <a:prstGeom prst="roundRect">
            <a:avLst>
              <a:gd name="adj" fmla="val 28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933825"/>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1719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57675"/>
            <a:ext cx="11639550" cy="2209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95037" y="2385251"/>
            <a:ext cx="366712" cy="533399"/>
          </a:xfrm>
          <a:prstGeom prst="rect">
            <a:avLst/>
          </a:prstGeom>
        </p:spPr>
      </p:pic>
      <p:sp>
        <p:nvSpPr>
          <p:cNvPr id="21" name="TextBox 20"/>
          <p:cNvSpPr txBox="1"/>
          <p:nvPr/>
        </p:nvSpPr>
        <p:spPr>
          <a:xfrm>
            <a:off x="276225" y="4267200"/>
            <a:ext cx="4210955" cy="194310"/>
          </a:xfrm>
          <a:prstGeom prst="rect">
            <a:avLst/>
          </a:prstGeom>
          <a:noFill/>
        </p:spPr>
        <p:txBody>
          <a:bodyPr wrap="none" lIns="0" rIns="0" tIns="0" bIns="0">
            <a:spAutoFit/>
          </a:bodyPr>
          <a:lstStyle/>
          <a:p>
            <a:r>
              <a:rPr sz="1150" b="0">
                <a:solidFill>
                  <a:srgbClr val="2E2E2E"/>
                </a:solidFill>
                <a:latin typeface="Calibri"/>
              </a:rPr>
              <a:t>▪ On a weighted-average basis 'Canada' is the highest-priced region (~</a:t>
            </a:r>
          </a:p>
        </p:txBody>
      </p:sp>
      <p:pic>
        <p:nvPicPr>
          <p:cNvPr id="22" name="Picture 21" descr="lock.png"/>
          <p:cNvPicPr>
            <a:picLocks noChangeAspect="1"/>
          </p:cNvPicPr>
          <p:nvPr/>
        </p:nvPicPr>
        <p:blipFill>
          <a:blip r:embed="rId4"/>
          <a:stretch>
            <a:fillRect/>
          </a:stretch>
        </p:blipFill>
        <p:spPr>
          <a:xfrm>
            <a:off x="4436334" y="4256976"/>
            <a:ext cx="134549" cy="195707"/>
          </a:xfrm>
          <a:prstGeom prst="rect">
            <a:avLst/>
          </a:prstGeom>
        </p:spPr>
      </p:pic>
      <p:sp>
        <p:nvSpPr>
          <p:cNvPr id="23" name="TextBox 22"/>
          <p:cNvSpPr txBox="1"/>
          <p:nvPr/>
        </p:nvSpPr>
        <p:spPr>
          <a:xfrm>
            <a:off x="4611443" y="4267200"/>
            <a:ext cx="2653469" cy="194310"/>
          </a:xfrm>
          <a:prstGeom prst="rect">
            <a:avLst/>
          </a:prstGeom>
          <a:noFill/>
        </p:spPr>
        <p:txBody>
          <a:bodyPr wrap="none" lIns="0" rIns="0" tIns="0" bIns="0">
            <a:spAutoFit/>
          </a:bodyPr>
          <a:lstStyle/>
          <a:p>
            <a:r>
              <a:rPr sz="1150" b="0">
                <a:solidFill>
                  <a:srgbClr val="2E2E2E"/>
                </a:solidFill>
                <a:latin typeface="Calibri"/>
              </a:rPr>
              <a:t>US$/MT) and 'U.S.' the most competitive (~</a:t>
            </a:r>
          </a:p>
        </p:txBody>
      </p:sp>
      <p:pic>
        <p:nvPicPr>
          <p:cNvPr id="24" name="Picture 23" descr="lock.png"/>
          <p:cNvPicPr>
            <a:picLocks noChangeAspect="1"/>
          </p:cNvPicPr>
          <p:nvPr/>
        </p:nvPicPr>
        <p:blipFill>
          <a:blip r:embed="rId4"/>
          <a:stretch>
            <a:fillRect/>
          </a:stretch>
        </p:blipFill>
        <p:spPr>
          <a:xfrm>
            <a:off x="7214066" y="4256976"/>
            <a:ext cx="134549" cy="195707"/>
          </a:xfrm>
          <a:prstGeom prst="rect">
            <a:avLst/>
          </a:prstGeom>
        </p:spPr>
      </p:pic>
      <p:sp>
        <p:nvSpPr>
          <p:cNvPr id="25" name="TextBox 24"/>
          <p:cNvSpPr txBox="1"/>
          <p:nvPr/>
        </p:nvSpPr>
        <p:spPr>
          <a:xfrm>
            <a:off x="7389175" y="4267200"/>
            <a:ext cx="644996" cy="194310"/>
          </a:xfrm>
          <a:prstGeom prst="rect">
            <a:avLst/>
          </a:prstGeom>
          <a:noFill/>
        </p:spPr>
        <p:txBody>
          <a:bodyPr wrap="none" lIns="0" rIns="0" tIns="0" bIns="0">
            <a:spAutoFit/>
          </a:bodyPr>
          <a:lstStyle/>
          <a:p>
            <a:r>
              <a:rPr sz="1150" b="0">
                <a:solidFill>
                  <a:srgbClr val="2E2E2E"/>
                </a:solidFill>
                <a:latin typeface="Calibri"/>
              </a:rPr>
              <a:t>US$/MT).</a:t>
            </a:r>
          </a:p>
        </p:txBody>
      </p:sp>
      <p:sp>
        <p:nvSpPr>
          <p:cNvPr id="26" name="TextBox 25"/>
          <p:cNvSpPr txBox="1"/>
          <p:nvPr/>
        </p:nvSpPr>
        <p:spPr>
          <a:xfrm>
            <a:off x="276225" y="4495038"/>
            <a:ext cx="5929610" cy="194310"/>
          </a:xfrm>
          <a:prstGeom prst="rect">
            <a:avLst/>
          </a:prstGeom>
          <a:noFill/>
        </p:spPr>
        <p:txBody>
          <a:bodyPr wrap="none" lIns="0" rIns="0" tIns="0" bIns="0">
            <a:spAutoFit/>
          </a:bodyPr>
          <a:lstStyle/>
          <a:p>
            <a:r>
              <a:rPr sz="1150" b="0">
                <a:solidFill>
                  <a:srgbClr val="2E2E2E"/>
                </a:solidFill>
                <a:latin typeface="Calibri"/>
              </a:rPr>
              <a:t>▪ Price ranges are benchmarked per product type type at 2026, derived as Value ÷ Volume with a ±</a:t>
            </a:r>
          </a:p>
        </p:txBody>
      </p:sp>
      <p:pic>
        <p:nvPicPr>
          <p:cNvPr id="27" name="Picture 26" descr="lock.png"/>
          <p:cNvPicPr>
            <a:picLocks noChangeAspect="1"/>
          </p:cNvPicPr>
          <p:nvPr/>
        </p:nvPicPr>
        <p:blipFill>
          <a:blip r:embed="rId4"/>
          <a:stretch>
            <a:fillRect/>
          </a:stretch>
        </p:blipFill>
        <p:spPr>
          <a:xfrm>
            <a:off x="6154989" y="4484814"/>
            <a:ext cx="134549" cy="195707"/>
          </a:xfrm>
          <a:prstGeom prst="rect">
            <a:avLst/>
          </a:prstGeom>
        </p:spPr>
      </p:pic>
      <p:sp>
        <p:nvSpPr>
          <p:cNvPr id="28" name="TextBox 27"/>
          <p:cNvSpPr txBox="1"/>
          <p:nvPr/>
        </p:nvSpPr>
        <p:spPr>
          <a:xfrm>
            <a:off x="6330098" y="4495038"/>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29" name="TextBox 28"/>
          <p:cNvSpPr txBox="1"/>
          <p:nvPr/>
        </p:nvSpPr>
        <p:spPr>
          <a:xfrm>
            <a:off x="276225" y="4722875"/>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4712652"/>
            <a:ext cx="134549" cy="195707"/>
          </a:xfrm>
          <a:prstGeom prst="rect">
            <a:avLst/>
          </a:prstGeom>
        </p:spPr>
      </p:pic>
      <p:sp>
        <p:nvSpPr>
          <p:cNvPr id="31" name="TextBox 30"/>
          <p:cNvSpPr txBox="1"/>
          <p:nvPr/>
        </p:nvSpPr>
        <p:spPr>
          <a:xfrm>
            <a:off x="2541355" y="4722875"/>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4950713"/>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198" cy="1504674"/>
        </p:xfrm>
        <a:graphic>
          <a:graphicData uri="http://schemas.openxmlformats.org/drawingml/2006/table">
            <a:tbl>
              <a:tblPr>
                <a:tableStyleId>{5C22544A-7EE6-4342-B048-85BDC9FD1C3A}</a:tableStyleId>
              </a:tblPr>
              <a:tblGrid>
                <a:gridCol w="2681674"/>
                <a:gridCol w="1534254"/>
                <a:gridCol w="1534254"/>
                <a:gridCol w="1534254"/>
                <a:gridCol w="1534254"/>
                <a:gridCol w="1534254"/>
                <a:gridCol w="1534254"/>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629274">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29274">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7250146" y="2183449"/>
            <a:ext cx="366712" cy="533400"/>
          </a:xfrm>
          <a:prstGeom prst="rect">
            <a:avLst/>
          </a:prstGeom>
        </p:spPr>
      </p:pic>
      <p:sp>
        <p:nvSpPr>
          <p:cNvPr id="25" name="TextBox 24"/>
          <p:cNvSpPr txBox="1"/>
          <p:nvPr/>
        </p:nvSpPr>
        <p:spPr>
          <a:xfrm>
            <a:off x="6334125" y="3817595"/>
            <a:ext cx="3340605" cy="194310"/>
          </a:xfrm>
          <a:prstGeom prst="rect">
            <a:avLst/>
          </a:prstGeom>
          <a:noFill/>
        </p:spPr>
        <p:txBody>
          <a:bodyPr wrap="none" lIns="0" rIns="0" tIns="0" bIns="0">
            <a:spAutoFit/>
          </a:bodyPr>
          <a:lstStyle/>
          <a:p>
            <a:r>
              <a:rPr sz="1150" b="0">
                <a:solidFill>
                  <a:srgbClr val="2E2E2E"/>
                </a:solidFill>
                <a:latin typeface="Calibri"/>
              </a:rPr>
              <a:t>▪ Average product type price is projected to rise from ~</a:t>
            </a:r>
          </a:p>
        </p:txBody>
      </p:sp>
      <p:pic>
        <p:nvPicPr>
          <p:cNvPr id="26" name="Picture 25" descr="lock.png"/>
          <p:cNvPicPr>
            <a:picLocks noChangeAspect="1"/>
          </p:cNvPicPr>
          <p:nvPr/>
        </p:nvPicPr>
        <p:blipFill>
          <a:blip r:embed="rId4"/>
          <a:stretch>
            <a:fillRect/>
          </a:stretch>
        </p:blipFill>
        <p:spPr>
          <a:xfrm>
            <a:off x="9623884" y="3807371"/>
            <a:ext cx="134549" cy="195707"/>
          </a:xfrm>
          <a:prstGeom prst="rect">
            <a:avLst/>
          </a:prstGeom>
        </p:spPr>
      </p:pic>
      <p:sp>
        <p:nvSpPr>
          <p:cNvPr id="27" name="TextBox 26"/>
          <p:cNvSpPr txBox="1"/>
          <p:nvPr/>
        </p:nvSpPr>
        <p:spPr>
          <a:xfrm>
            <a:off x="9798993"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056259" y="3807371"/>
            <a:ext cx="134549" cy="195707"/>
          </a:xfrm>
          <a:prstGeom prst="rect">
            <a:avLst/>
          </a:prstGeom>
        </p:spPr>
      </p:pic>
      <p:sp>
        <p:nvSpPr>
          <p:cNvPr id="29" name="TextBox 28"/>
          <p:cNvSpPr txBox="1"/>
          <p:nvPr/>
        </p:nvSpPr>
        <p:spPr>
          <a:xfrm>
            <a:off x="10231368" y="3817595"/>
            <a:ext cx="1278545" cy="194310"/>
          </a:xfrm>
          <a:prstGeom prst="rect">
            <a:avLst/>
          </a:prstGeom>
          <a:noFill/>
        </p:spPr>
        <p:txBody>
          <a:bodyPr wrap="none" lIns="0" rIns="0" tIns="0" bIns="0">
            <a:spAutoFit/>
          </a:bodyPr>
          <a:lstStyle/>
          <a:p>
            <a:r>
              <a:rPr sz="1150" b="0">
                <a:solidFill>
                  <a:srgbClr val="2E2E2E"/>
                </a:solidFill>
                <a:latin typeface="Calibri"/>
              </a:rPr>
              <a:t>US$/MT by 2036 a +</a:t>
            </a:r>
          </a:p>
        </p:txBody>
      </p:sp>
      <p:pic>
        <p:nvPicPr>
          <p:cNvPr id="30" name="Picture 29" descr="lock.png"/>
          <p:cNvPicPr>
            <a:picLocks noChangeAspect="1"/>
          </p:cNvPicPr>
          <p:nvPr/>
        </p:nvPicPr>
        <p:blipFill>
          <a:blip r:embed="rId4"/>
          <a:stretch>
            <a:fillRect/>
          </a:stretch>
        </p:blipFill>
        <p:spPr>
          <a:xfrm>
            <a:off x="11459067" y="3807371"/>
            <a:ext cx="134549" cy="195707"/>
          </a:xfrm>
          <a:prstGeom prst="rect">
            <a:avLst/>
          </a:prstGeom>
        </p:spPr>
      </p:pic>
      <p:sp>
        <p:nvSpPr>
          <p:cNvPr id="31" name="TextBox 30"/>
          <p:cNvSpPr txBox="1"/>
          <p:nvPr/>
        </p:nvSpPr>
        <p:spPr>
          <a:xfrm>
            <a:off x="6334125" y="399285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2" name="TextBox 31"/>
          <p:cNvSpPr txBox="1"/>
          <p:nvPr/>
        </p:nvSpPr>
        <p:spPr>
          <a:xfrm>
            <a:off x="6334125" y="4220692"/>
            <a:ext cx="4080594" cy="194310"/>
          </a:xfrm>
          <a:prstGeom prst="rect">
            <a:avLst/>
          </a:prstGeom>
          <a:noFill/>
        </p:spPr>
        <p:txBody>
          <a:bodyPr wrap="none" lIns="0" rIns="0" tIns="0" bIns="0">
            <a:spAutoFit/>
          </a:bodyPr>
          <a:lstStyle/>
          <a:p>
            <a:r>
              <a:rPr sz="1150" b="0">
                <a:solidFill>
                  <a:srgbClr val="2E2E2E"/>
                </a:solidFill>
                <a:latin typeface="Calibri"/>
              </a:rPr>
              <a:t>▪ 'Sweet muffins' shows the strongest forecast price appreciation (+</a:t>
            </a:r>
          </a:p>
        </p:txBody>
      </p:sp>
      <p:pic>
        <p:nvPicPr>
          <p:cNvPr id="33" name="Picture 32" descr="lock.png"/>
          <p:cNvPicPr>
            <a:picLocks noChangeAspect="1"/>
          </p:cNvPicPr>
          <p:nvPr/>
        </p:nvPicPr>
        <p:blipFill>
          <a:blip r:embed="rId4"/>
          <a:stretch>
            <a:fillRect/>
          </a:stretch>
        </p:blipFill>
        <p:spPr>
          <a:xfrm>
            <a:off x="10363873" y="4210469"/>
            <a:ext cx="134549" cy="195707"/>
          </a:xfrm>
          <a:prstGeom prst="rect">
            <a:avLst/>
          </a:prstGeom>
        </p:spPr>
      </p:pic>
      <p:sp>
        <p:nvSpPr>
          <p:cNvPr id="34" name="TextBox 33"/>
          <p:cNvSpPr txBox="1"/>
          <p:nvPr/>
        </p:nvSpPr>
        <p:spPr>
          <a:xfrm>
            <a:off x="10538982" y="4220692"/>
            <a:ext cx="1171574" cy="194310"/>
          </a:xfrm>
          <a:prstGeom prst="rect">
            <a:avLst/>
          </a:prstGeom>
          <a:noFill/>
        </p:spPr>
        <p:txBody>
          <a:bodyPr wrap="none" lIns="0" rIns="0" tIns="0" bIns="0">
            <a:spAutoFit/>
          </a:bodyPr>
          <a:lstStyle/>
          <a:p>
            <a:r>
              <a:rPr sz="1150" b="0">
                <a:solidFill>
                  <a:srgbClr val="2E2E2E"/>
                </a:solidFill>
                <a:latin typeface="Calibri"/>
              </a:rPr>
              <a:t>) over the horizon.</a:t>
            </a:r>
          </a:p>
        </p:txBody>
      </p:sp>
      <p:sp>
        <p:nvSpPr>
          <p:cNvPr id="35" name="TextBox 34"/>
          <p:cNvSpPr txBox="1"/>
          <p:nvPr/>
        </p:nvSpPr>
        <p:spPr>
          <a:xfrm>
            <a:off x="6334125" y="444853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6" name="TextBox 35"/>
          <p:cNvSpPr txBox="1"/>
          <p:nvPr/>
        </p:nvSpPr>
        <p:spPr>
          <a:xfrm>
            <a:off x="6334125" y="462379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7" name="TextBox 36"/>
          <p:cNvSpPr txBox="1"/>
          <p:nvPr/>
        </p:nvSpPr>
        <p:spPr>
          <a:xfrm>
            <a:off x="6334125" y="485162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38" name="TextBox 37"/>
          <p:cNvSpPr txBox="1"/>
          <p:nvPr/>
        </p:nvSpPr>
        <p:spPr>
          <a:xfrm>
            <a:off x="6334125" y="502688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49" cy="3619745"/>
        </p:xfrm>
        <a:graphic>
          <a:graphicData uri="http://schemas.openxmlformats.org/drawingml/2006/table">
            <a:tbl>
              <a:tblPr>
                <a:tableStyleId>{5C22544A-7EE6-4342-B048-85BDC9FD1C3A}</a:tableStyleId>
              </a:tblPr>
              <a:tblGrid>
                <a:gridCol w="4529616"/>
                <a:gridCol w="385953"/>
                <a:gridCol w="589526"/>
                <a:gridCol w="385953"/>
                <a:gridCol w="1786101"/>
              </a:tblGrid>
              <a:tr h="631697">
                <a:tc>
                  <a:txBody>
                    <a:bodyPr wrap="none"/>
                    <a:lstStyle/>
                    <a:p>
                      <a:pPr algn="l"/>
                      <a:r>
                        <a:rPr sz="1100" b="1">
                          <a:solidFill>
                            <a:srgbClr val="0B2E4A"/>
                          </a:solidFill>
                          <a:latin typeface="Calibri"/>
                        </a:rPr>
                        <a:t>Company</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Tier</a:t>
                      </a:r>
                      <a:endParaRPr sz="1100"/>
                    </a:p>
                  </a:txBody>
                  <a:tcPr marL="19050" marR="14288" marT="19050" marB="19050" anchor="ctr">
                    <a:solidFill>
                      <a:srgbClr val="E0E8EF"/>
                    </a:solidFill>
                  </a:tcPr>
                </a:tc>
                <a:tc>
                  <a:txBody>
                    <a:bodyPr wrap="square"/>
                    <a:lstStyle/>
                    <a:p>
                      <a:pPr algn="l"/>
                      <a:r>
                        <a:rPr sz="1100" b="1">
                          <a:solidFill>
                            <a:srgbClr val="0B2E4A"/>
                          </a:solidFill>
                          <a:latin typeface="Calibri"/>
                        </a:rPr>
                        <a:t>Price Position</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ASP vs Peers</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19050" marR="14288" marT="19050" marB="19050" anchor="ctr">
                    <a:solidFill>
                      <a:srgbClr val="E0E8EF"/>
                    </a:solidFill>
                  </a:tcPr>
                </a:tc>
              </a:tr>
              <a:tr h="369484">
                <a:tc>
                  <a:txBody>
                    <a:bodyPr wrap="none"/>
                    <a:lstStyle/>
                    <a:p>
                      <a:pPr algn="l"/>
                      <a:r>
                        <a:rPr sz="1100" b="1">
                          <a:solidFill>
                            <a:srgbClr val="2E2E2E"/>
                          </a:solidFill>
                          <a:latin typeface="Calibri"/>
                        </a:rPr>
                        <a:t>Grupo Bimbo (Bimbo, Marinela, Little Bites, Thomas')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Tier 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Premium</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19050" marR="14288" marT="19050" marB="19050" anchor="ctr">
                    <a:solidFill>
                      <a:srgbClr val="FFFFFF"/>
                    </a:solidFill>
                  </a:tcPr>
                </a:tc>
              </a:tr>
              <a:tr h="562270">
                <a:tc>
                  <a:txBody>
                    <a:bodyPr wrap="none"/>
                    <a:lstStyle/>
                    <a:p>
                      <a:pPr algn="l"/>
                      <a:r>
                        <a:rPr sz="1100" b="1">
                          <a:solidFill>
                            <a:srgbClr val="2E2E2E"/>
                          </a:solidFill>
                          <a:latin typeface="Calibri"/>
                        </a:rPr>
                        <a:t>McKee Foods Corporation (Little Debbie, Sunbelt Bakery, Drake's,</a:t>
                      </a:r>
                      <a:endParaRPr sz="1100"/>
                    </a:p>
                    <a:p>
                      <a:pPr algn="l"/>
                      <a:r>
                        <a:rPr sz="1100" b="1">
                          <a:solidFill>
                            <a:srgbClr val="2E2E2E"/>
                          </a:solidFill>
                          <a:latin typeface="Calibri"/>
                        </a:rPr>
                        <a:t>Fieldstone Bakery)</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Tier 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Premium</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19050" marR="14288" marT="19050" marB="19050" anchor="ctr">
                    <a:solidFill>
                      <a:srgbClr val="F5F8FA"/>
                    </a:solidFill>
                  </a:tcPr>
                </a:tc>
              </a:tr>
              <a:tr h="562270">
                <a:tc>
                  <a:txBody>
                    <a:bodyPr wrap="none"/>
                    <a:lstStyle/>
                    <a:p>
                      <a:pPr algn="l"/>
                      <a:r>
                        <a:rPr sz="1100" b="1">
                          <a:solidFill>
                            <a:srgbClr val="2E2E2E"/>
                          </a:solidFill>
                          <a:latin typeface="Calibri"/>
                        </a:rPr>
                        <a:t>Hostess Brands (Hostess)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Tier 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Premium</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square"/>
                    <a:lstStyle/>
                    <a:p>
                      <a:pPr algn="l"/>
                      <a:r>
                        <a:rPr sz="1100" b="0">
                          <a:solidFill>
                            <a:srgbClr val="2E2E2E"/>
                          </a:solidFill>
                          <a:latin typeface="Calibri"/>
                        </a:rPr>
                        <a:t>Innovation-led price leadership</a:t>
                      </a:r>
                      <a:endParaRPr sz="1100"/>
                    </a:p>
                  </a:txBody>
                  <a:tcPr marL="19050" marR="14288" marT="19050" marB="19050" anchor="ctr">
                    <a:solidFill>
                      <a:srgbClr val="FFFFFF"/>
                    </a:solidFill>
                  </a:tcPr>
                </a:tc>
              </a:tr>
              <a:tr h="369484">
                <a:tc>
                  <a:txBody>
                    <a:bodyPr wrap="none"/>
                    <a:lstStyle/>
                    <a:p>
                      <a:pPr algn="l"/>
                      <a:r>
                        <a:rPr sz="1100" b="1">
                          <a:solidFill>
                            <a:srgbClr val="2E2E2E"/>
                          </a:solidFill>
                          <a:latin typeface="Calibri"/>
                        </a:rPr>
                        <a:t>Rich Products Corporation (Rich's)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Tier 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Parity</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19050" marR="14288" marT="19050" marB="19050" anchor="ctr">
                    <a:solidFill>
                      <a:srgbClr val="F5F8FA"/>
                    </a:solidFill>
                  </a:tcPr>
                </a:tc>
              </a:tr>
              <a:tr h="562270">
                <a:tc>
                  <a:txBody>
                    <a:bodyPr wrap="none"/>
                    <a:lstStyle/>
                    <a:p>
                      <a:pPr algn="l"/>
                      <a:r>
                        <a:rPr sz="1100" b="1">
                          <a:solidFill>
                            <a:srgbClr val="2E2E2E"/>
                          </a:solidFill>
                          <a:latin typeface="Calibri"/>
                        </a:rPr>
                        <a:t>ARYZTA / Aspire Bakeries (Otis Spunkmeyer, Cuisine de France, Hiestand,</a:t>
                      </a:r>
                      <a:endParaRPr sz="1100"/>
                    </a:p>
                    <a:p>
                      <a:pPr algn="l"/>
                      <a:r>
                        <a:rPr sz="1100" b="1">
                          <a:solidFill>
                            <a:srgbClr val="2E2E2E"/>
                          </a:solidFill>
                          <a:latin typeface="Calibri"/>
                        </a:rPr>
                        <a:t>Delice de France)</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Tier 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Parity</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square"/>
                    <a:lstStyle/>
                    <a:p>
                      <a:pPr algn="l"/>
                      <a:r>
                        <a:rPr sz="1100" b="0">
                          <a:solidFill>
                            <a:srgbClr val="2E2E2E"/>
                          </a:solidFill>
                          <a:latin typeface="Calibri"/>
                        </a:rPr>
                        <a:t>Penetration &amp; share-led pricing</a:t>
                      </a:r>
                      <a:endParaRPr sz="1100"/>
                    </a:p>
                  </a:txBody>
                  <a:tcPr marL="19050" marR="14288" marT="19050" marB="19050" anchor="ctr">
                    <a:solidFill>
                      <a:srgbClr val="FFFFFF"/>
                    </a:solidFill>
                  </a:tcPr>
                </a:tc>
              </a:tr>
              <a:tr h="562270">
                <a:tc>
                  <a:txBody>
                    <a:bodyPr wrap="none"/>
                    <a:lstStyle/>
                    <a:p>
                      <a:pPr algn="l"/>
                      <a:r>
                        <a:rPr sz="1100" b="1">
                          <a:solidFill>
                            <a:srgbClr val="2E2E2E"/>
                          </a:solidFill>
                          <a:latin typeface="Calibri"/>
                        </a:rPr>
                        <a:t>Europastry (Europastry, Dots)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Tier 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Parity</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square"/>
                    <a:lstStyle/>
                    <a:p>
                      <a:pPr algn="l"/>
                      <a:r>
                        <a:rPr sz="1100" b="0">
                          <a:solidFill>
                            <a:srgbClr val="2E2E2E"/>
                          </a:solidFill>
                          <a:latin typeface="Calibri"/>
                        </a:rPr>
                        <a:t>Competitive / discount-led pricing</a:t>
                      </a:r>
                      <a:endParaRPr sz="1100"/>
                    </a:p>
                  </a:txBody>
                  <a:tcPr marL="19050" marR="14288"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5682450" y="3279465"/>
            <a:ext cx="330041" cy="480060"/>
          </a:xfrm>
          <a:prstGeom prst="rect">
            <a:avLst/>
          </a:prstGeom>
        </p:spPr>
      </p:pic>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432549" cy="153161"/>
          </a:xfrm>
          <a:prstGeom prst="rect">
            <a:avLst/>
          </a:prstGeom>
          <a:noFill/>
        </p:spPr>
        <p:txBody>
          <a:bodyPr wrap="none" lIns="0" rIns="0" tIns="0" bIns="0">
            <a:spAutoFit/>
          </a:bodyPr>
          <a:lstStyle/>
          <a:p>
            <a:r>
              <a:rPr sz="879" b="0">
                <a:solidFill>
                  <a:srgbClr val="2E2E2E"/>
                </a:solidFill>
                <a:latin typeface="Calibri"/>
              </a:rPr>
              <a:t>▪ The Packaged Muffins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Packaged Muffins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Packaged Muffins Market Buyers / End-User Assessment</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983353"/>
                <a:gridCol w="1113221"/>
                <a:gridCol w="1116270"/>
                <a:gridCol w="1184142"/>
                <a:gridCol w="1681873"/>
                <a:gridCol w="1342511"/>
                <a:gridCol w="1472555"/>
                <a:gridCol w="1416039"/>
                <a:gridCol w="1577236"/>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Rest of LATAM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60121" y="2451926"/>
            <a:ext cx="366712" cy="533399"/>
          </a:xfrm>
          <a:prstGeom prst="rect">
            <a:avLst/>
          </a:prstGeom>
        </p:spPr>
      </p:pic>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Dynamics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North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Country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U.S.</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Canada</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cxnSp>
        <p:nvCxnSpPr>
          <p:cNvPr id="27" name="Connector 26"/>
          <p:cNvCxnSpPr/>
          <p:nvPr/>
        </p:nvCxnSpPr>
        <p:spPr>
          <a:xfrm>
            <a:off x="142875" y="2540572"/>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00025" y="2558825"/>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29" name="Rounded Rectangle 28"/>
          <p:cNvSpPr/>
          <p:nvPr/>
        </p:nvSpPr>
        <p:spPr>
          <a:xfrm>
            <a:off x="142875" y="2814377"/>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2850885"/>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31" name="Connector 30"/>
          <p:cNvCxnSpPr/>
          <p:nvPr/>
        </p:nvCxnSpPr>
        <p:spPr>
          <a:xfrm>
            <a:off x="276225" y="3088183"/>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76225" y="3142944"/>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4" name="TextBox 33"/>
          <p:cNvSpPr txBox="1"/>
          <p:nvPr/>
        </p:nvSpPr>
        <p:spPr>
          <a:xfrm>
            <a:off x="1752600" y="1606276"/>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35" name="Picture 34" descr="lock.png"/>
          <p:cNvPicPr>
            <a:picLocks noChangeAspect="1"/>
          </p:cNvPicPr>
          <p:nvPr/>
        </p:nvPicPr>
        <p:blipFill>
          <a:blip r:embed="rId4"/>
          <a:stretch>
            <a:fillRect/>
          </a:stretch>
        </p:blipFill>
        <p:spPr>
          <a:xfrm>
            <a:off x="2438789" y="1596497"/>
            <a:ext cx="128699" cy="187198"/>
          </a:xfrm>
          <a:prstGeom prst="rect">
            <a:avLst/>
          </a:prstGeom>
        </p:spPr>
      </p:pic>
      <p:sp>
        <p:nvSpPr>
          <p:cNvPr id="36" name="TextBox 35"/>
          <p:cNvSpPr txBox="1"/>
          <p:nvPr/>
        </p:nvSpPr>
        <p:spPr>
          <a:xfrm>
            <a:off x="2606285" y="1606276"/>
            <a:ext cx="1556419" cy="186689"/>
          </a:xfrm>
          <a:prstGeom prst="rect">
            <a:avLst/>
          </a:prstGeom>
          <a:noFill/>
        </p:spPr>
        <p:txBody>
          <a:bodyPr wrap="none" lIns="0" rIns="0" tIns="0" bIns="0">
            <a:spAutoFit/>
          </a:bodyPr>
          <a:lstStyle/>
          <a:p>
            <a:r>
              <a:rPr sz="1100" b="0">
                <a:solidFill>
                  <a:srgbClr val="2E2E2E"/>
                </a:solidFill>
                <a:latin typeface="Calibri"/>
              </a:rPr>
              <a:t>share), Installed demand (</a:t>
            </a:r>
          </a:p>
        </p:txBody>
      </p:sp>
      <p:pic>
        <p:nvPicPr>
          <p:cNvPr id="37" name="Picture 36" descr="lock.png"/>
          <p:cNvPicPr>
            <a:picLocks noChangeAspect="1"/>
          </p:cNvPicPr>
          <p:nvPr/>
        </p:nvPicPr>
        <p:blipFill>
          <a:blip r:embed="rId4"/>
          <a:stretch>
            <a:fillRect/>
          </a:stretch>
        </p:blipFill>
        <p:spPr>
          <a:xfrm>
            <a:off x="4110756" y="1596497"/>
            <a:ext cx="128699" cy="187198"/>
          </a:xfrm>
          <a:prstGeom prst="rect">
            <a:avLst/>
          </a:prstGeom>
        </p:spPr>
      </p:pic>
      <p:sp>
        <p:nvSpPr>
          <p:cNvPr id="38" name="TextBox 37"/>
          <p:cNvSpPr txBox="1"/>
          <p:nvPr/>
        </p:nvSpPr>
        <p:spPr>
          <a:xfrm>
            <a:off x="4278252" y="1606276"/>
            <a:ext cx="854355" cy="186689"/>
          </a:xfrm>
          <a:prstGeom prst="rect">
            <a:avLst/>
          </a:prstGeom>
          <a:noFill/>
        </p:spPr>
        <p:txBody>
          <a:bodyPr wrap="none" lIns="0" rIns="0" tIns="0" bIns="0">
            <a:spAutoFit/>
          </a:bodyPr>
          <a:lstStyle/>
          <a:p>
            <a:r>
              <a:rPr sz="1100" b="0">
                <a:solidFill>
                  <a:srgbClr val="2E2E2E"/>
                </a:solidFill>
                <a:latin typeface="Calibri"/>
              </a:rPr>
              <a:t>CAGR), Sweet</a:t>
            </a:r>
          </a:p>
        </p:txBody>
      </p:sp>
      <p:sp>
        <p:nvSpPr>
          <p:cNvPr id="39" name="TextBox 38"/>
          <p:cNvSpPr txBox="1"/>
          <p:nvPr/>
        </p:nvSpPr>
        <p:spPr>
          <a:xfrm>
            <a:off x="1752600" y="1773915"/>
            <a:ext cx="2386434" cy="186689"/>
          </a:xfrm>
          <a:prstGeom prst="rect">
            <a:avLst/>
          </a:prstGeom>
          <a:noFill/>
        </p:spPr>
        <p:txBody>
          <a:bodyPr wrap="none" lIns="0" rIns="0" tIns="0" bIns="0">
            <a:spAutoFit/>
          </a:bodyPr>
          <a:lstStyle/>
          <a:p>
            <a:r>
              <a:rPr sz="1100" b="0">
                <a:solidFill>
                  <a:srgbClr val="2E2E2E"/>
                </a:solidFill>
                <a:latin typeface="Calibri"/>
              </a:rPr>
              <a:t>muffins demand, Accelerating vs history.</a:t>
            </a:r>
          </a:p>
        </p:txBody>
      </p:sp>
      <p:sp>
        <p:nvSpPr>
          <p:cNvPr id="40" name="TextBox 39"/>
          <p:cNvSpPr txBox="1"/>
          <p:nvPr/>
        </p:nvSpPr>
        <p:spPr>
          <a:xfrm>
            <a:off x="5562600" y="1606276"/>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41" name="Picture 40" descr="lock.png"/>
          <p:cNvPicPr>
            <a:picLocks noChangeAspect="1"/>
          </p:cNvPicPr>
          <p:nvPr/>
        </p:nvPicPr>
        <p:blipFill>
          <a:blip r:embed="rId4"/>
          <a:stretch>
            <a:fillRect/>
          </a:stretch>
        </p:blipFill>
        <p:spPr>
          <a:xfrm>
            <a:off x="6797766" y="1596497"/>
            <a:ext cx="128699" cy="187198"/>
          </a:xfrm>
          <a:prstGeom prst="rect">
            <a:avLst/>
          </a:prstGeom>
        </p:spPr>
      </p:pic>
      <p:sp>
        <p:nvSpPr>
          <p:cNvPr id="42" name="TextBox 41"/>
          <p:cNvSpPr txBox="1"/>
          <p:nvPr/>
        </p:nvSpPr>
        <p:spPr>
          <a:xfrm>
            <a:off x="6965262" y="1606276"/>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43" name="TextBox 42"/>
          <p:cNvSpPr txBox="1"/>
          <p:nvPr/>
        </p:nvSpPr>
        <p:spPr>
          <a:xfrm>
            <a:off x="5562600" y="1773915"/>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44" name="Picture 43" descr="lock.png"/>
          <p:cNvPicPr>
            <a:picLocks noChangeAspect="1"/>
          </p:cNvPicPr>
          <p:nvPr/>
        </p:nvPicPr>
        <p:blipFill>
          <a:blip r:embed="rId4"/>
          <a:stretch>
            <a:fillRect/>
          </a:stretch>
        </p:blipFill>
        <p:spPr>
          <a:xfrm>
            <a:off x="6258066" y="1764137"/>
            <a:ext cx="128699" cy="187198"/>
          </a:xfrm>
          <a:prstGeom prst="rect">
            <a:avLst/>
          </a:prstGeom>
        </p:spPr>
      </p:pic>
      <p:sp>
        <p:nvSpPr>
          <p:cNvPr id="45" name="TextBox 44"/>
          <p:cNvSpPr txBox="1"/>
          <p:nvPr/>
        </p:nvSpPr>
        <p:spPr>
          <a:xfrm>
            <a:off x="6425562" y="1773915"/>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8420100" y="1690095"/>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47" name="Picture 46" descr="lock.png"/>
          <p:cNvPicPr>
            <a:picLocks noChangeAspect="1"/>
          </p:cNvPicPr>
          <p:nvPr/>
        </p:nvPicPr>
        <p:blipFill>
          <a:blip r:embed="rId4"/>
          <a:stretch>
            <a:fillRect/>
          </a:stretch>
        </p:blipFill>
        <p:spPr>
          <a:xfrm>
            <a:off x="9653902" y="1680317"/>
            <a:ext cx="128699" cy="187198"/>
          </a:xfrm>
          <a:prstGeom prst="rect">
            <a:avLst/>
          </a:prstGeom>
        </p:spPr>
      </p:pic>
      <p:sp>
        <p:nvSpPr>
          <p:cNvPr id="48" name="TextBox 47"/>
          <p:cNvSpPr txBox="1"/>
          <p:nvPr/>
        </p:nvSpPr>
        <p:spPr>
          <a:xfrm>
            <a:off x="9821398" y="1690095"/>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49" name="Picture 48" descr="lock.png"/>
          <p:cNvPicPr>
            <a:picLocks noChangeAspect="1"/>
          </p:cNvPicPr>
          <p:nvPr/>
        </p:nvPicPr>
        <p:blipFill>
          <a:blip r:embed="rId4"/>
          <a:stretch>
            <a:fillRect/>
          </a:stretch>
        </p:blipFill>
        <p:spPr>
          <a:xfrm>
            <a:off x="9922866" y="1680317"/>
            <a:ext cx="128699" cy="187198"/>
          </a:xfrm>
          <a:prstGeom prst="rect">
            <a:avLst/>
          </a:prstGeom>
        </p:spPr>
      </p:pic>
      <p:sp>
        <p:nvSpPr>
          <p:cNvPr id="50" name="TextBox 49"/>
          <p:cNvSpPr txBox="1"/>
          <p:nvPr/>
        </p:nvSpPr>
        <p:spPr>
          <a:xfrm>
            <a:off x="10090362" y="1690095"/>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51" name="TextBox 50"/>
          <p:cNvSpPr txBox="1"/>
          <p:nvPr/>
        </p:nvSpPr>
        <p:spPr>
          <a:xfrm>
            <a:off x="1752600" y="2117380"/>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52" name="Picture 51" descr="lock.png"/>
          <p:cNvPicPr>
            <a:picLocks noChangeAspect="1"/>
          </p:cNvPicPr>
          <p:nvPr/>
        </p:nvPicPr>
        <p:blipFill>
          <a:blip r:embed="rId4"/>
          <a:stretch>
            <a:fillRect/>
          </a:stretch>
        </p:blipFill>
        <p:spPr>
          <a:xfrm>
            <a:off x="2438789" y="2107601"/>
            <a:ext cx="128699" cy="187198"/>
          </a:xfrm>
          <a:prstGeom prst="rect">
            <a:avLst/>
          </a:prstGeom>
        </p:spPr>
      </p:pic>
      <p:sp>
        <p:nvSpPr>
          <p:cNvPr id="53" name="TextBox 52"/>
          <p:cNvSpPr txBox="1"/>
          <p:nvPr/>
        </p:nvSpPr>
        <p:spPr>
          <a:xfrm>
            <a:off x="2606285" y="2117380"/>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54" name="Picture 53" descr="lock.png"/>
          <p:cNvPicPr>
            <a:picLocks noChangeAspect="1"/>
          </p:cNvPicPr>
          <p:nvPr/>
        </p:nvPicPr>
        <p:blipFill>
          <a:blip r:embed="rId4"/>
          <a:stretch>
            <a:fillRect/>
          </a:stretch>
        </p:blipFill>
        <p:spPr>
          <a:xfrm>
            <a:off x="4237905" y="2107601"/>
            <a:ext cx="128699" cy="187198"/>
          </a:xfrm>
          <a:prstGeom prst="rect">
            <a:avLst/>
          </a:prstGeom>
        </p:spPr>
      </p:pic>
      <p:sp>
        <p:nvSpPr>
          <p:cNvPr id="55" name="TextBox 54"/>
          <p:cNvSpPr txBox="1"/>
          <p:nvPr/>
        </p:nvSpPr>
        <p:spPr>
          <a:xfrm>
            <a:off x="4405401" y="2117380"/>
            <a:ext cx="535136" cy="186689"/>
          </a:xfrm>
          <a:prstGeom prst="rect">
            <a:avLst/>
          </a:prstGeom>
          <a:noFill/>
        </p:spPr>
        <p:txBody>
          <a:bodyPr wrap="none" lIns="0" rIns="0" tIns="0" bIns="0">
            <a:spAutoFit/>
          </a:bodyPr>
          <a:lstStyle/>
          <a:p>
            <a:r>
              <a:rPr sz="1100" b="0">
                <a:solidFill>
                  <a:srgbClr val="2E2E2E"/>
                </a:solidFill>
                <a:latin typeface="Calibri"/>
              </a:rPr>
              <a:t>), Sweet</a:t>
            </a:r>
          </a:p>
        </p:txBody>
      </p:sp>
      <p:sp>
        <p:nvSpPr>
          <p:cNvPr id="56" name="TextBox 55"/>
          <p:cNvSpPr txBox="1"/>
          <p:nvPr/>
        </p:nvSpPr>
        <p:spPr>
          <a:xfrm>
            <a:off x="1752600" y="2285020"/>
            <a:ext cx="2386434" cy="186689"/>
          </a:xfrm>
          <a:prstGeom prst="rect">
            <a:avLst/>
          </a:prstGeom>
          <a:noFill/>
        </p:spPr>
        <p:txBody>
          <a:bodyPr wrap="none" lIns="0" rIns="0" tIns="0" bIns="0">
            <a:spAutoFit/>
          </a:bodyPr>
          <a:lstStyle/>
          <a:p>
            <a:r>
              <a:rPr sz="1100" b="0">
                <a:solidFill>
                  <a:srgbClr val="2E2E2E"/>
                </a:solidFill>
                <a:latin typeface="Calibri"/>
              </a:rPr>
              <a:t>muffins demand, Accelerating vs history.</a:t>
            </a:r>
          </a:p>
        </p:txBody>
      </p:sp>
      <p:sp>
        <p:nvSpPr>
          <p:cNvPr id="57" name="TextBox 56"/>
          <p:cNvSpPr txBox="1"/>
          <p:nvPr/>
        </p:nvSpPr>
        <p:spPr>
          <a:xfrm>
            <a:off x="5562600" y="220120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58" name="Picture 57" descr="lock.png"/>
          <p:cNvPicPr>
            <a:picLocks noChangeAspect="1"/>
          </p:cNvPicPr>
          <p:nvPr/>
        </p:nvPicPr>
        <p:blipFill>
          <a:blip r:embed="rId4"/>
          <a:stretch>
            <a:fillRect/>
          </a:stretch>
        </p:blipFill>
        <p:spPr>
          <a:xfrm>
            <a:off x="6623687" y="2191421"/>
            <a:ext cx="128699" cy="187198"/>
          </a:xfrm>
          <a:prstGeom prst="rect">
            <a:avLst/>
          </a:prstGeom>
        </p:spPr>
      </p:pic>
      <p:sp>
        <p:nvSpPr>
          <p:cNvPr id="59" name="TextBox 58"/>
          <p:cNvSpPr txBox="1"/>
          <p:nvPr/>
        </p:nvSpPr>
        <p:spPr>
          <a:xfrm>
            <a:off x="6791183" y="22012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60" name="TextBox 59"/>
          <p:cNvSpPr txBox="1"/>
          <p:nvPr/>
        </p:nvSpPr>
        <p:spPr>
          <a:xfrm>
            <a:off x="8420100" y="2201200"/>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61" name="Picture 60" descr="lock.png"/>
          <p:cNvPicPr>
            <a:picLocks noChangeAspect="1"/>
          </p:cNvPicPr>
          <p:nvPr/>
        </p:nvPicPr>
        <p:blipFill>
          <a:blip r:embed="rId4"/>
          <a:stretch>
            <a:fillRect/>
          </a:stretch>
        </p:blipFill>
        <p:spPr>
          <a:xfrm>
            <a:off x="9653902" y="2191421"/>
            <a:ext cx="128699" cy="187198"/>
          </a:xfrm>
          <a:prstGeom prst="rect">
            <a:avLst/>
          </a:prstGeom>
        </p:spPr>
      </p:pic>
      <p:sp>
        <p:nvSpPr>
          <p:cNvPr id="62" name="TextBox 61"/>
          <p:cNvSpPr txBox="1"/>
          <p:nvPr/>
        </p:nvSpPr>
        <p:spPr>
          <a:xfrm>
            <a:off x="9821398" y="220120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3" name="Picture 62" descr="lock.png"/>
          <p:cNvPicPr>
            <a:picLocks noChangeAspect="1"/>
          </p:cNvPicPr>
          <p:nvPr/>
        </p:nvPicPr>
        <p:blipFill>
          <a:blip r:embed="rId4"/>
          <a:stretch>
            <a:fillRect/>
          </a:stretch>
        </p:blipFill>
        <p:spPr>
          <a:xfrm>
            <a:off x="9922866" y="2191421"/>
            <a:ext cx="128699" cy="187198"/>
          </a:xfrm>
          <a:prstGeom prst="rect">
            <a:avLst/>
          </a:prstGeom>
        </p:spPr>
      </p:pic>
      <p:sp>
        <p:nvSpPr>
          <p:cNvPr id="64" name="TextBox 63"/>
          <p:cNvSpPr txBox="1"/>
          <p:nvPr/>
        </p:nvSpPr>
        <p:spPr>
          <a:xfrm>
            <a:off x="10090362" y="2201200"/>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65" name="TextBox 64"/>
          <p:cNvSpPr txBox="1"/>
          <p:nvPr/>
        </p:nvSpPr>
        <p:spPr>
          <a:xfrm>
            <a:off x="304800" y="3271926"/>
            <a:ext cx="2591618" cy="186689"/>
          </a:xfrm>
          <a:prstGeom prst="rect">
            <a:avLst/>
          </a:prstGeom>
          <a:noFill/>
        </p:spPr>
        <p:txBody>
          <a:bodyPr wrap="none" lIns="0" rIns="0" tIns="0" bIns="0">
            <a:spAutoFit/>
          </a:bodyPr>
          <a:lstStyle/>
          <a:p>
            <a:r>
              <a:rPr sz="1100" b="0">
                <a:solidFill>
                  <a:srgbClr val="2E2E2E"/>
                </a:solidFill>
                <a:latin typeface="Calibri"/>
              </a:rPr>
              <a:t>▪ U.S., Canada anchor scale with a combined</a:t>
            </a:r>
          </a:p>
        </p:txBody>
      </p:sp>
      <p:pic>
        <p:nvPicPr>
          <p:cNvPr id="66" name="Picture 65" descr="lock.png"/>
          <p:cNvPicPr>
            <a:picLocks noChangeAspect="1"/>
          </p:cNvPicPr>
          <p:nvPr/>
        </p:nvPicPr>
        <p:blipFill>
          <a:blip r:embed="rId4"/>
          <a:stretch>
            <a:fillRect/>
          </a:stretch>
        </p:blipFill>
        <p:spPr>
          <a:xfrm>
            <a:off x="2844470" y="3262147"/>
            <a:ext cx="128699" cy="187198"/>
          </a:xfrm>
          <a:prstGeom prst="rect">
            <a:avLst/>
          </a:prstGeom>
        </p:spPr>
      </p:pic>
      <p:sp>
        <p:nvSpPr>
          <p:cNvPr id="67" name="TextBox 66"/>
          <p:cNvSpPr txBox="1"/>
          <p:nvPr/>
        </p:nvSpPr>
        <p:spPr>
          <a:xfrm>
            <a:off x="3011965" y="3271926"/>
            <a:ext cx="4391620" cy="186689"/>
          </a:xfrm>
          <a:prstGeom prst="rect">
            <a:avLst/>
          </a:prstGeom>
          <a:noFill/>
        </p:spPr>
        <p:txBody>
          <a:bodyPr wrap="none" lIns="0" rIns="0" tIns="0" bIns="0">
            <a:spAutoFit/>
          </a:bodyPr>
          <a:lstStyle/>
          <a:p>
            <a:r>
              <a:rPr sz="1100" b="0">
                <a:solidFill>
                  <a:srgbClr val="2E2E2E"/>
                </a:solidFill>
                <a:latin typeface="Calibri"/>
              </a:rPr>
              <a:t>of North America value in 2036, while 'Canada' offers the steepest upside at</a:t>
            </a:r>
          </a:p>
        </p:txBody>
      </p:sp>
      <p:pic>
        <p:nvPicPr>
          <p:cNvPr id="68" name="Picture 67" descr="lock.png"/>
          <p:cNvPicPr>
            <a:picLocks noChangeAspect="1"/>
          </p:cNvPicPr>
          <p:nvPr/>
        </p:nvPicPr>
        <p:blipFill>
          <a:blip r:embed="rId4"/>
          <a:stretch>
            <a:fillRect/>
          </a:stretch>
        </p:blipFill>
        <p:spPr>
          <a:xfrm>
            <a:off x="7351637" y="3262147"/>
            <a:ext cx="128699" cy="187198"/>
          </a:xfrm>
          <a:prstGeom prst="rect">
            <a:avLst/>
          </a:prstGeom>
        </p:spPr>
      </p:pic>
      <p:sp>
        <p:nvSpPr>
          <p:cNvPr id="69" name="TextBox 68"/>
          <p:cNvSpPr txBox="1"/>
          <p:nvPr/>
        </p:nvSpPr>
        <p:spPr>
          <a:xfrm>
            <a:off x="7519133" y="3271926"/>
            <a:ext cx="1819704" cy="186689"/>
          </a:xfrm>
          <a:prstGeom prst="rect">
            <a:avLst/>
          </a:prstGeom>
          <a:noFill/>
        </p:spPr>
        <p:txBody>
          <a:bodyPr wrap="none" lIns="0" rIns="0" tIns="0" bIns="0">
            <a:spAutoFit/>
          </a:bodyPr>
          <a:lstStyle/>
          <a:p>
            <a:r>
              <a:rPr sz="1100" b="0">
                <a:solidFill>
                  <a:srgbClr val="2E2E2E"/>
                </a:solidFill>
                <a:latin typeface="Calibri"/>
              </a:rPr>
              <a:t>CAGR against a market pace of</a:t>
            </a:r>
          </a:p>
        </p:txBody>
      </p:sp>
      <p:pic>
        <p:nvPicPr>
          <p:cNvPr id="70" name="Picture 69" descr="lock.png"/>
          <p:cNvPicPr>
            <a:picLocks noChangeAspect="1"/>
          </p:cNvPicPr>
          <p:nvPr/>
        </p:nvPicPr>
        <p:blipFill>
          <a:blip r:embed="rId4"/>
          <a:stretch>
            <a:fillRect/>
          </a:stretch>
        </p:blipFill>
        <p:spPr>
          <a:xfrm>
            <a:off x="9286889" y="3262147"/>
            <a:ext cx="128699" cy="187198"/>
          </a:xfrm>
          <a:prstGeom prst="rect">
            <a:avLst/>
          </a:prstGeom>
        </p:spPr>
      </p:pic>
      <p:sp>
        <p:nvSpPr>
          <p:cNvPr id="71" name="TextBox 70"/>
          <p:cNvSpPr txBox="1"/>
          <p:nvPr/>
        </p:nvSpPr>
        <p:spPr>
          <a:xfrm>
            <a:off x="9454385" y="3271926"/>
            <a:ext cx="2025451" cy="186689"/>
          </a:xfrm>
          <a:prstGeom prst="rect">
            <a:avLst/>
          </a:prstGeom>
          <a:noFill/>
        </p:spPr>
        <p:txBody>
          <a:bodyPr wrap="none" lIns="0" rIns="0" tIns="0" bIns="0">
            <a:spAutoFit/>
          </a:bodyPr>
          <a:lstStyle/>
          <a:p>
            <a:r>
              <a:rPr sz="1100" b="0">
                <a:solidFill>
                  <a:srgbClr val="2E2E2E"/>
                </a:solidFill>
                <a:latin typeface="Calibri"/>
              </a:rPr>
              <a:t>. 1 of 2 countries grow at or above</a:t>
            </a:r>
          </a:p>
        </p:txBody>
      </p:sp>
      <p:sp>
        <p:nvSpPr>
          <p:cNvPr id="72" name="TextBox 71"/>
          <p:cNvSpPr txBox="1"/>
          <p:nvPr/>
        </p:nvSpPr>
        <p:spPr>
          <a:xfrm>
            <a:off x="304800" y="3439566"/>
            <a:ext cx="9705131" cy="186689"/>
          </a:xfrm>
          <a:prstGeom prst="rect">
            <a:avLst/>
          </a:prstGeom>
          <a:noFill/>
        </p:spPr>
        <p:txBody>
          <a:bodyPr wrap="none" lIns="0" rIns="0" tIns="0" bIns="0">
            <a:spAutoFit/>
          </a:bodyPr>
          <a:lstStyle/>
          <a:p>
            <a:r>
              <a:rPr sz="1100" b="0">
                <a:solidFill>
                  <a:srgbClr val="2E2E2E"/>
                </a:solidFill>
                <a:latin typeface="Calibri"/>
              </a:rPr>
              <a:t>that pace, so entry logic has to differ by country scale defence in the leaders, mix and premiumisation in the mid-tier, and availability-led expansion in the fastest movers.</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North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13586"/>
            <a:ext cx="2324100" cy="2272585"/>
          </a:xfrm>
          <a:custGeom>
            <a:avLst/>
            <a:gdLst/>
            <a:ahLst/>
            <a:cxnLst/>
            <a:rect l="l" t="t" r="r" b="b"/>
            <a:pathLst>
              <a:path w="244" h="249">
                <a:moveTo>
                  <a:pt x="244" y="37"/>
                </a:moveTo>
                <a:lnTo>
                  <a:pt x="177" y="0"/>
                </a:lnTo>
                <a:lnTo>
                  <a:pt x="150" y="65"/>
                </a:lnTo>
                <a:lnTo>
                  <a:pt x="0" y="84"/>
                </a:lnTo>
                <a:lnTo>
                  <a:pt x="0" y="196"/>
                </a:lnTo>
                <a:lnTo>
                  <a:pt x="149" y="216"/>
                </a:lnTo>
                <a:lnTo>
                  <a:pt x="217" y="196"/>
                </a:lnTo>
                <a:lnTo>
                  <a:pt x="244" y="249"/>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2 product type lines and 3 sales channel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3466991" y="1322601"/>
            <a:ext cx="1125226" cy="173278"/>
          </a:xfrm>
          <a:prstGeom prst="rect">
            <a:avLst/>
          </a:prstGeom>
          <a:noFill/>
        </p:spPr>
        <p:txBody>
          <a:bodyPr wrap="none" lIns="0" rIns="0" tIns="0" bIns="0">
            <a:spAutoFit/>
          </a:bodyPr>
          <a:lstStyle/>
          <a:p>
            <a:r>
              <a:rPr sz="1011" b="0">
                <a:solidFill>
                  <a:srgbClr val="2E2E2E"/>
                </a:solidFill>
                <a:latin typeface="Calibri"/>
              </a:rPr>
              <a:t>Production Scale-up</a:t>
            </a:r>
          </a:p>
        </p:txBody>
      </p:sp>
      <p:pic>
        <p:nvPicPr>
          <p:cNvPr id="69" name="Picture 68" descr="lock.png"/>
          <p:cNvPicPr>
            <a:picLocks noChangeAspect="1"/>
          </p:cNvPicPr>
          <p:nvPr/>
        </p:nvPicPr>
        <p:blipFill>
          <a:blip r:embed="rId4"/>
          <a:stretch>
            <a:fillRect/>
          </a:stretch>
        </p:blipFill>
        <p:spPr>
          <a:xfrm>
            <a:off x="4538330" y="1313604"/>
            <a:ext cx="118403" cy="172222"/>
          </a:xfrm>
          <a:prstGeom prst="rect">
            <a:avLst/>
          </a:prstGeom>
        </p:spPr>
      </p:pic>
      <p:sp>
        <p:nvSpPr>
          <p:cNvPr id="70" name="TextBox 69"/>
          <p:cNvSpPr txBox="1"/>
          <p:nvPr/>
        </p:nvSpPr>
        <p:spPr>
          <a:xfrm>
            <a:off x="2482772" y="1561215"/>
            <a:ext cx="1094602" cy="173278"/>
          </a:xfrm>
          <a:prstGeom prst="rect">
            <a:avLst/>
          </a:prstGeom>
          <a:noFill/>
        </p:spPr>
        <p:txBody>
          <a:bodyPr wrap="none" lIns="0" rIns="0" tIns="0" bIns="0">
            <a:spAutoFit/>
          </a:bodyPr>
          <a:lstStyle/>
          <a:p>
            <a:r>
              <a:rPr sz="1011" b="0">
                <a:solidFill>
                  <a:srgbClr val="2E2E2E"/>
                </a:solidFill>
                <a:latin typeface="Calibri"/>
              </a:rPr>
              <a:t>Input Cost Pressure</a:t>
            </a:r>
          </a:p>
        </p:txBody>
      </p:sp>
      <p:pic>
        <p:nvPicPr>
          <p:cNvPr id="71" name="Picture 70" descr="lock.png"/>
          <p:cNvPicPr>
            <a:picLocks noChangeAspect="1"/>
          </p:cNvPicPr>
          <p:nvPr/>
        </p:nvPicPr>
        <p:blipFill>
          <a:blip r:embed="rId4"/>
          <a:stretch>
            <a:fillRect/>
          </a:stretch>
        </p:blipFill>
        <p:spPr>
          <a:xfrm>
            <a:off x="3523486" y="1552218"/>
            <a:ext cx="118403" cy="172222"/>
          </a:xfrm>
          <a:prstGeom prst="rect">
            <a:avLst/>
          </a:prstGeom>
        </p:spPr>
      </p:pic>
      <p:sp>
        <p:nvSpPr>
          <p:cNvPr id="72" name="TextBox 71"/>
          <p:cNvSpPr txBox="1"/>
          <p:nvPr/>
        </p:nvSpPr>
        <p:spPr>
          <a:xfrm>
            <a:off x="1943191" y="2311939"/>
            <a:ext cx="759234" cy="173278"/>
          </a:xfrm>
          <a:prstGeom prst="rect">
            <a:avLst/>
          </a:prstGeom>
          <a:noFill/>
        </p:spPr>
        <p:txBody>
          <a:bodyPr wrap="none" lIns="0" rIns="0" tIns="0" bIns="0">
            <a:spAutoFit/>
          </a:bodyPr>
          <a:lstStyle/>
          <a:p>
            <a:r>
              <a:rPr sz="1011" b="0">
                <a:solidFill>
                  <a:srgbClr val="2E2E2E"/>
                </a:solidFill>
                <a:latin typeface="Calibri"/>
              </a:rPr>
              <a:t>Capacity Add</a:t>
            </a:r>
          </a:p>
        </p:txBody>
      </p:sp>
      <p:pic>
        <p:nvPicPr>
          <p:cNvPr id="73" name="Picture 72" descr="lock.png"/>
          <p:cNvPicPr>
            <a:picLocks noChangeAspect="1"/>
          </p:cNvPicPr>
          <p:nvPr/>
        </p:nvPicPr>
        <p:blipFill>
          <a:blip r:embed="rId4"/>
          <a:stretch>
            <a:fillRect/>
          </a:stretch>
        </p:blipFill>
        <p:spPr>
          <a:xfrm>
            <a:off x="2648537" y="2302942"/>
            <a:ext cx="118403" cy="172222"/>
          </a:xfrm>
          <a:prstGeom prst="rect">
            <a:avLst/>
          </a:prstGeom>
        </p:spPr>
      </p:pic>
      <p:sp>
        <p:nvSpPr>
          <p:cNvPr id="74" name="TextBox 73"/>
          <p:cNvSpPr txBox="1"/>
          <p:nvPr/>
        </p:nvSpPr>
        <p:spPr>
          <a:xfrm>
            <a:off x="1014573" y="3278069"/>
            <a:ext cx="1202291" cy="173278"/>
          </a:xfrm>
          <a:prstGeom prst="rect">
            <a:avLst/>
          </a:prstGeom>
          <a:noFill/>
        </p:spPr>
        <p:txBody>
          <a:bodyPr wrap="none" lIns="0" rIns="0" tIns="0" bIns="0">
            <a:spAutoFit/>
          </a:bodyPr>
          <a:lstStyle/>
          <a:p>
            <a:r>
              <a:rPr sz="1011" b="0">
                <a:solidFill>
                  <a:srgbClr val="2E2E2E"/>
                </a:solidFill>
                <a:latin typeface="Calibri"/>
              </a:rPr>
              <a:t>Supply Concentration</a:t>
            </a:r>
          </a:p>
        </p:txBody>
      </p:sp>
      <p:pic>
        <p:nvPicPr>
          <p:cNvPr id="75" name="Picture 74" descr="lock.png"/>
          <p:cNvPicPr>
            <a:picLocks noChangeAspect="1"/>
          </p:cNvPicPr>
          <p:nvPr/>
        </p:nvPicPr>
        <p:blipFill>
          <a:blip r:embed="rId4"/>
          <a:stretch>
            <a:fillRect/>
          </a:stretch>
        </p:blipFill>
        <p:spPr>
          <a:xfrm>
            <a:off x="2162976" y="3269072"/>
            <a:ext cx="118403" cy="172222"/>
          </a:xfrm>
          <a:prstGeom prst="rect">
            <a:avLst/>
          </a:prstGeom>
        </p:spPr>
      </p:pic>
      <p:sp>
        <p:nvSpPr>
          <p:cNvPr id="76" name="TextBox 75"/>
          <p:cNvSpPr txBox="1"/>
          <p:nvPr/>
        </p:nvSpPr>
        <p:spPr>
          <a:xfrm>
            <a:off x="1148118" y="4350392"/>
            <a:ext cx="1068746" cy="173278"/>
          </a:xfrm>
          <a:prstGeom prst="rect">
            <a:avLst/>
          </a:prstGeom>
          <a:noFill/>
        </p:spPr>
        <p:txBody>
          <a:bodyPr wrap="none" lIns="0" rIns="0" tIns="0" bIns="0">
            <a:spAutoFit/>
          </a:bodyPr>
          <a:lstStyle/>
          <a:p>
            <a:r>
              <a:rPr sz="1011" b="0">
                <a:solidFill>
                  <a:srgbClr val="2E2E2E"/>
                </a:solidFill>
                <a:latin typeface="Calibri"/>
              </a:rPr>
              <a:t>Geographic Spread</a:t>
            </a:r>
          </a:p>
        </p:txBody>
      </p:sp>
      <p:pic>
        <p:nvPicPr>
          <p:cNvPr id="77" name="Picture 76" descr="lock.png"/>
          <p:cNvPicPr>
            <a:picLocks noChangeAspect="1"/>
          </p:cNvPicPr>
          <p:nvPr/>
        </p:nvPicPr>
        <p:blipFill>
          <a:blip r:embed="rId4"/>
          <a:stretch>
            <a:fillRect/>
          </a:stretch>
        </p:blipFill>
        <p:spPr>
          <a:xfrm>
            <a:off x="2162976" y="4341395"/>
            <a:ext cx="118403" cy="172222"/>
          </a:xfrm>
          <a:prstGeom prst="rect">
            <a:avLst/>
          </a:prstGeom>
        </p:spPr>
      </p:pic>
      <p:sp>
        <p:nvSpPr>
          <p:cNvPr id="78" name="TextBox 77"/>
          <p:cNvSpPr txBox="1"/>
          <p:nvPr/>
        </p:nvSpPr>
        <p:spPr>
          <a:xfrm>
            <a:off x="1722039" y="5316521"/>
            <a:ext cx="980386" cy="173278"/>
          </a:xfrm>
          <a:prstGeom prst="rect">
            <a:avLst/>
          </a:prstGeom>
          <a:noFill/>
        </p:spPr>
        <p:txBody>
          <a:bodyPr wrap="none" lIns="0" rIns="0" tIns="0" bIns="0">
            <a:spAutoFit/>
          </a:bodyPr>
          <a:lstStyle/>
          <a:p>
            <a:r>
              <a:rPr sz="1011" b="0">
                <a:solidFill>
                  <a:srgbClr val="2E2E2E"/>
                </a:solidFill>
                <a:latin typeface="Calibri"/>
              </a:rPr>
              <a:t>Portfolio Breadth</a:t>
            </a:r>
          </a:p>
        </p:txBody>
      </p:sp>
      <p:pic>
        <p:nvPicPr>
          <p:cNvPr id="79" name="Picture 78" descr="lock.png"/>
          <p:cNvPicPr>
            <a:picLocks noChangeAspect="1"/>
          </p:cNvPicPr>
          <p:nvPr/>
        </p:nvPicPr>
        <p:blipFill>
          <a:blip r:embed="rId4"/>
          <a:stretch>
            <a:fillRect/>
          </a:stretch>
        </p:blipFill>
        <p:spPr>
          <a:xfrm>
            <a:off x="2648537" y="5307524"/>
            <a:ext cx="118403" cy="172222"/>
          </a:xfrm>
          <a:prstGeom prst="rect">
            <a:avLst/>
          </a:prstGeom>
        </p:spPr>
      </p:pic>
      <p:sp>
        <p:nvSpPr>
          <p:cNvPr id="80" name="TextBox 79"/>
          <p:cNvSpPr txBox="1"/>
          <p:nvPr/>
        </p:nvSpPr>
        <p:spPr>
          <a:xfrm>
            <a:off x="2838472" y="6067245"/>
            <a:ext cx="738901" cy="173278"/>
          </a:xfrm>
          <a:prstGeom prst="rect">
            <a:avLst/>
          </a:prstGeom>
          <a:noFill/>
        </p:spPr>
        <p:txBody>
          <a:bodyPr wrap="none" lIns="0" rIns="0" tIns="0" bIns="0">
            <a:spAutoFit/>
          </a:bodyPr>
          <a:lstStyle/>
          <a:p>
            <a:r>
              <a:rPr sz="1011" b="0">
                <a:solidFill>
                  <a:srgbClr val="2E2E2E"/>
                </a:solidFill>
                <a:latin typeface="Calibri"/>
              </a:rPr>
              <a:t>Route Depth</a:t>
            </a:r>
          </a:p>
        </p:txBody>
      </p:sp>
      <p:pic>
        <p:nvPicPr>
          <p:cNvPr id="81" name="Picture 80" descr="lock.png"/>
          <p:cNvPicPr>
            <a:picLocks noChangeAspect="1"/>
          </p:cNvPicPr>
          <p:nvPr/>
        </p:nvPicPr>
        <p:blipFill>
          <a:blip r:embed="rId4"/>
          <a:stretch>
            <a:fillRect/>
          </a:stretch>
        </p:blipFill>
        <p:spPr>
          <a:xfrm>
            <a:off x="3523486" y="6058248"/>
            <a:ext cx="118403" cy="172222"/>
          </a:xfrm>
          <a:prstGeom prst="rect">
            <a:avLst/>
          </a:prstGeom>
        </p:spPr>
      </p:pic>
      <p:sp>
        <p:nvSpPr>
          <p:cNvPr id="82" name="TextBox 81"/>
          <p:cNvSpPr txBox="1"/>
          <p:nvPr/>
        </p:nvSpPr>
        <p:spPr>
          <a:xfrm>
            <a:off x="3616852" y="6305860"/>
            <a:ext cx="975365" cy="173278"/>
          </a:xfrm>
          <a:prstGeom prst="rect">
            <a:avLst/>
          </a:prstGeom>
          <a:noFill/>
        </p:spPr>
        <p:txBody>
          <a:bodyPr wrap="none" lIns="0" rIns="0" tIns="0" bIns="0">
            <a:spAutoFit/>
          </a:bodyPr>
          <a:lstStyle/>
          <a:p>
            <a:r>
              <a:rPr sz="1011" b="0">
                <a:solidFill>
                  <a:srgbClr val="2E2E2E"/>
                </a:solidFill>
                <a:latin typeface="Calibri"/>
              </a:rPr>
              <a:t>Value Realisation</a:t>
            </a:r>
          </a:p>
        </p:txBody>
      </p:sp>
      <p:pic>
        <p:nvPicPr>
          <p:cNvPr id="83" name="Picture 82" descr="lock.png"/>
          <p:cNvPicPr>
            <a:picLocks noChangeAspect="1"/>
          </p:cNvPicPr>
          <p:nvPr/>
        </p:nvPicPr>
        <p:blipFill>
          <a:blip r:embed="rId4"/>
          <a:stretch>
            <a:fillRect/>
          </a:stretch>
        </p:blipFill>
        <p:spPr>
          <a:xfrm>
            <a:off x="4538330" y="6296863"/>
            <a:ext cx="118403" cy="172222"/>
          </a:xfrm>
          <a:prstGeom prst="rect">
            <a:avLst/>
          </a:prstGeom>
        </p:spPr>
      </p:pic>
      <p:sp>
        <p:nvSpPr>
          <p:cNvPr id="84" name="TextBox 83"/>
          <p:cNvSpPr txBox="1"/>
          <p:nvPr/>
        </p:nvSpPr>
        <p:spPr>
          <a:xfrm>
            <a:off x="5000625" y="1496754"/>
            <a:ext cx="3355602" cy="186689"/>
          </a:xfrm>
          <a:prstGeom prst="rect">
            <a:avLst/>
          </a:prstGeom>
          <a:noFill/>
        </p:spPr>
        <p:txBody>
          <a:bodyPr wrap="none" lIns="0" rIns="0" tIns="0" bIns="0">
            <a:spAutoFit/>
          </a:bodyPr>
          <a:lstStyle/>
          <a:p>
            <a:r>
              <a:rPr sz="1100" b="0">
                <a:solidFill>
                  <a:srgbClr val="2E2E2E"/>
                </a:solidFill>
                <a:latin typeface="Calibri"/>
              </a:rPr>
              <a:t>▪ Supply-side conditions are led by Supply Concentration (</a:t>
            </a:r>
          </a:p>
        </p:txBody>
      </p:sp>
      <p:pic>
        <p:nvPicPr>
          <p:cNvPr id="85" name="Picture 84" descr="lock.png"/>
          <p:cNvPicPr>
            <a:picLocks noChangeAspect="1"/>
          </p:cNvPicPr>
          <p:nvPr/>
        </p:nvPicPr>
        <p:blipFill>
          <a:blip r:embed="rId4"/>
          <a:stretch>
            <a:fillRect/>
          </a:stretch>
        </p:blipFill>
        <p:spPr>
          <a:xfrm>
            <a:off x="8304279" y="1486975"/>
            <a:ext cx="128699" cy="187198"/>
          </a:xfrm>
          <a:prstGeom prst="rect">
            <a:avLst/>
          </a:prstGeom>
        </p:spPr>
      </p:pic>
      <p:sp>
        <p:nvSpPr>
          <p:cNvPr id="86" name="TextBox 85"/>
          <p:cNvSpPr txBox="1"/>
          <p:nvPr/>
        </p:nvSpPr>
        <p:spPr>
          <a:xfrm>
            <a:off x="8471775" y="1496754"/>
            <a:ext cx="1533773" cy="186689"/>
          </a:xfrm>
          <a:prstGeom prst="rect">
            <a:avLst/>
          </a:prstGeom>
          <a:noFill/>
        </p:spPr>
        <p:txBody>
          <a:bodyPr wrap="none" lIns="0" rIns="0" tIns="0" bIns="0">
            <a:spAutoFit/>
          </a:bodyPr>
          <a:lstStyle/>
          <a:p>
            <a:r>
              <a:rPr sz="1100" b="0">
                <a:solidFill>
                  <a:srgbClr val="2E2E2E"/>
                </a:solidFill>
                <a:latin typeface="Calibri"/>
              </a:rPr>
              <a:t>/10), Geographic Spread (</a:t>
            </a:r>
          </a:p>
        </p:txBody>
      </p:sp>
      <p:pic>
        <p:nvPicPr>
          <p:cNvPr id="87" name="Picture 86" descr="lock.png"/>
          <p:cNvPicPr>
            <a:picLocks noChangeAspect="1"/>
          </p:cNvPicPr>
          <p:nvPr/>
        </p:nvPicPr>
        <p:blipFill>
          <a:blip r:embed="rId4"/>
          <a:stretch>
            <a:fillRect/>
          </a:stretch>
        </p:blipFill>
        <p:spPr>
          <a:xfrm>
            <a:off x="9953599" y="1486975"/>
            <a:ext cx="128699" cy="187198"/>
          </a:xfrm>
          <a:prstGeom prst="rect">
            <a:avLst/>
          </a:prstGeom>
        </p:spPr>
      </p:pic>
      <p:sp>
        <p:nvSpPr>
          <p:cNvPr id="88" name="TextBox 87"/>
          <p:cNvSpPr txBox="1"/>
          <p:nvPr/>
        </p:nvSpPr>
        <p:spPr>
          <a:xfrm>
            <a:off x="10121095" y="1496754"/>
            <a:ext cx="1487933" cy="186689"/>
          </a:xfrm>
          <a:prstGeom prst="rect">
            <a:avLst/>
          </a:prstGeom>
          <a:noFill/>
        </p:spPr>
        <p:txBody>
          <a:bodyPr wrap="none" lIns="0" rIns="0" tIns="0" bIns="0">
            <a:spAutoFit/>
          </a:bodyPr>
          <a:lstStyle/>
          <a:p>
            <a:r>
              <a:rPr sz="1100" b="0">
                <a:solidFill>
                  <a:srgbClr val="2E2E2E"/>
                </a:solidFill>
                <a:latin typeface="Calibri"/>
              </a:rPr>
              <a:t>/10), Input Cost Pressure</a:t>
            </a:r>
          </a:p>
        </p:txBody>
      </p:sp>
      <p:sp>
        <p:nvSpPr>
          <p:cNvPr id="89" name="TextBox 88"/>
          <p:cNvSpPr txBox="1"/>
          <p:nvPr/>
        </p:nvSpPr>
        <p:spPr>
          <a:xfrm>
            <a:off x="5000625" y="1664394"/>
            <a:ext cx="118491"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0" name="Picture 89" descr="lock.png"/>
          <p:cNvPicPr>
            <a:picLocks noChangeAspect="1"/>
          </p:cNvPicPr>
          <p:nvPr/>
        </p:nvPicPr>
        <p:blipFill>
          <a:blip r:embed="rId4"/>
          <a:stretch>
            <a:fillRect/>
          </a:stretch>
        </p:blipFill>
        <p:spPr>
          <a:xfrm>
            <a:off x="5067168" y="1654615"/>
            <a:ext cx="128699" cy="187198"/>
          </a:xfrm>
          <a:prstGeom prst="rect">
            <a:avLst/>
          </a:prstGeom>
        </p:spPr>
      </p:pic>
      <p:sp>
        <p:nvSpPr>
          <p:cNvPr id="91" name="TextBox 90"/>
          <p:cNvSpPr txBox="1"/>
          <p:nvPr/>
        </p:nvSpPr>
        <p:spPr>
          <a:xfrm>
            <a:off x="5234664" y="1664394"/>
            <a:ext cx="3770064" cy="186689"/>
          </a:xfrm>
          <a:prstGeom prst="rect">
            <a:avLst/>
          </a:prstGeom>
          <a:noFill/>
        </p:spPr>
        <p:txBody>
          <a:bodyPr wrap="none" lIns="0" rIns="0" tIns="0" bIns="0">
            <a:spAutoFit/>
          </a:bodyPr>
          <a:lstStyle/>
          <a:p>
            <a:r>
              <a:rPr sz="1100" b="0">
                <a:solidFill>
                  <a:srgbClr val="2E2E2E"/>
                </a:solidFill>
                <a:latin typeface="Calibri"/>
              </a:rPr>
              <a:t>/10) on a 0-10 scale scored from the north america dataset itself.</a:t>
            </a:r>
          </a:p>
        </p:txBody>
      </p:sp>
      <p:sp>
        <p:nvSpPr>
          <p:cNvPr id="92" name="TextBox 91"/>
          <p:cNvSpPr txBox="1"/>
          <p:nvPr/>
        </p:nvSpPr>
        <p:spPr>
          <a:xfrm>
            <a:off x="5000625" y="1953097"/>
            <a:ext cx="1245914" cy="186689"/>
          </a:xfrm>
          <a:prstGeom prst="rect">
            <a:avLst/>
          </a:prstGeom>
          <a:noFill/>
        </p:spPr>
        <p:txBody>
          <a:bodyPr wrap="none" lIns="0" rIns="0" tIns="0" bIns="0">
            <a:spAutoFit/>
          </a:bodyPr>
          <a:lstStyle/>
          <a:p>
            <a:r>
              <a:rPr sz="1100" b="0">
                <a:solidFill>
                  <a:srgbClr val="2E2E2E"/>
                </a:solidFill>
                <a:latin typeface="Calibri"/>
              </a:rPr>
              <a:t>▪ Volume expands at</a:t>
            </a:r>
          </a:p>
        </p:txBody>
      </p:sp>
      <p:pic>
        <p:nvPicPr>
          <p:cNvPr id="93" name="Picture 92" descr="lock.png"/>
          <p:cNvPicPr>
            <a:picLocks noChangeAspect="1"/>
          </p:cNvPicPr>
          <p:nvPr/>
        </p:nvPicPr>
        <p:blipFill>
          <a:blip r:embed="rId4"/>
          <a:stretch>
            <a:fillRect/>
          </a:stretch>
        </p:blipFill>
        <p:spPr>
          <a:xfrm>
            <a:off x="6194591" y="1943318"/>
            <a:ext cx="128699" cy="187198"/>
          </a:xfrm>
          <a:prstGeom prst="rect">
            <a:avLst/>
          </a:prstGeom>
        </p:spPr>
      </p:pic>
      <p:sp>
        <p:nvSpPr>
          <p:cNvPr id="94" name="TextBox 93"/>
          <p:cNvSpPr txBox="1"/>
          <p:nvPr/>
        </p:nvSpPr>
        <p:spPr>
          <a:xfrm>
            <a:off x="6362087" y="1953097"/>
            <a:ext cx="3002788" cy="186689"/>
          </a:xfrm>
          <a:prstGeom prst="rect">
            <a:avLst/>
          </a:prstGeom>
          <a:noFill/>
        </p:spPr>
        <p:txBody>
          <a:bodyPr wrap="none" lIns="0" rIns="0" tIns="0" bIns="0">
            <a:spAutoFit/>
          </a:bodyPr>
          <a:lstStyle/>
          <a:p>
            <a:r>
              <a:rPr sz="1100" b="0">
                <a:solidFill>
                  <a:srgbClr val="2E2E2E"/>
                </a:solidFill>
                <a:latin typeface="Calibri"/>
              </a:rPr>
              <a:t>CAGR (2026–2036) while average realisation moves</a:t>
            </a:r>
          </a:p>
        </p:txBody>
      </p:sp>
      <p:pic>
        <p:nvPicPr>
          <p:cNvPr id="95" name="Picture 94" descr="lock.png"/>
          <p:cNvPicPr>
            <a:picLocks noChangeAspect="1"/>
          </p:cNvPicPr>
          <p:nvPr/>
        </p:nvPicPr>
        <p:blipFill>
          <a:blip r:embed="rId4"/>
          <a:stretch>
            <a:fillRect/>
          </a:stretch>
        </p:blipFill>
        <p:spPr>
          <a:xfrm>
            <a:off x="9312927" y="1943318"/>
            <a:ext cx="128699" cy="187198"/>
          </a:xfrm>
          <a:prstGeom prst="rect">
            <a:avLst/>
          </a:prstGeom>
        </p:spPr>
      </p:pic>
      <p:sp>
        <p:nvSpPr>
          <p:cNvPr id="96" name="TextBox 95"/>
          <p:cNvSpPr txBox="1"/>
          <p:nvPr/>
        </p:nvSpPr>
        <p:spPr>
          <a:xfrm>
            <a:off x="9480423" y="1953097"/>
            <a:ext cx="2346597" cy="186689"/>
          </a:xfrm>
          <a:prstGeom prst="rect">
            <a:avLst/>
          </a:prstGeom>
          <a:noFill/>
        </p:spPr>
        <p:txBody>
          <a:bodyPr wrap="none" lIns="0" rIns="0" tIns="0" bIns="0">
            <a:spAutoFit/>
          </a:bodyPr>
          <a:lstStyle/>
          <a:p>
            <a:r>
              <a:rPr sz="1100" b="0">
                <a:solidFill>
                  <a:srgbClr val="2E2E2E"/>
                </a:solidFill>
                <a:latin typeface="Calibri"/>
              </a:rPr>
              <a:t>a year the balance of those two sets the</a:t>
            </a:r>
          </a:p>
        </p:txBody>
      </p:sp>
      <p:sp>
        <p:nvSpPr>
          <p:cNvPr id="97" name="TextBox 96"/>
          <p:cNvSpPr txBox="1"/>
          <p:nvPr/>
        </p:nvSpPr>
        <p:spPr>
          <a:xfrm>
            <a:off x="5000625" y="2120737"/>
            <a:ext cx="1571426" cy="186689"/>
          </a:xfrm>
          <a:prstGeom prst="rect">
            <a:avLst/>
          </a:prstGeom>
          <a:noFill/>
        </p:spPr>
        <p:txBody>
          <a:bodyPr wrap="none" lIns="0" rIns="0" tIns="0" bIns="0">
            <a:spAutoFit/>
          </a:bodyPr>
          <a:lstStyle/>
          <a:p>
            <a:r>
              <a:rPr sz="1100" b="0">
                <a:solidFill>
                  <a:srgbClr val="2E2E2E"/>
                </a:solidFill>
                <a:latin typeface="Calibri"/>
              </a:rPr>
              <a:t>cost-pass-through picture.</a:t>
            </a:r>
          </a:p>
        </p:txBody>
      </p:sp>
      <p:sp>
        <p:nvSpPr>
          <p:cNvPr id="98" name="TextBox 97"/>
          <p:cNvSpPr txBox="1"/>
          <p:nvPr/>
        </p:nvSpPr>
        <p:spPr>
          <a:xfrm>
            <a:off x="5000625" y="2401990"/>
            <a:ext cx="2141959" cy="186689"/>
          </a:xfrm>
          <a:prstGeom prst="rect">
            <a:avLst/>
          </a:prstGeom>
          <a:noFill/>
        </p:spPr>
        <p:txBody>
          <a:bodyPr wrap="none" lIns="0" rIns="0" tIns="0" bIns="0">
            <a:spAutoFit/>
          </a:bodyPr>
          <a:lstStyle/>
          <a:p>
            <a:r>
              <a:rPr sz="1100" b="0">
                <a:solidFill>
                  <a:srgbClr val="2E2E2E"/>
                </a:solidFill>
                <a:latin typeface="Calibri"/>
              </a:rPr>
              <a:t>▪ Supply is concentrated: 'U.S.' holds</a:t>
            </a:r>
          </a:p>
        </p:txBody>
      </p:sp>
      <p:pic>
        <p:nvPicPr>
          <p:cNvPr id="99" name="Picture 98" descr="lock.png"/>
          <p:cNvPicPr>
            <a:picLocks noChangeAspect="1"/>
          </p:cNvPicPr>
          <p:nvPr/>
        </p:nvPicPr>
        <p:blipFill>
          <a:blip r:embed="rId4"/>
          <a:stretch>
            <a:fillRect/>
          </a:stretch>
        </p:blipFill>
        <p:spPr>
          <a:xfrm>
            <a:off x="7090635" y="2392211"/>
            <a:ext cx="128699" cy="187198"/>
          </a:xfrm>
          <a:prstGeom prst="rect">
            <a:avLst/>
          </a:prstGeom>
        </p:spPr>
      </p:pic>
      <p:sp>
        <p:nvSpPr>
          <p:cNvPr id="100" name="TextBox 99"/>
          <p:cNvSpPr txBox="1"/>
          <p:nvPr/>
        </p:nvSpPr>
        <p:spPr>
          <a:xfrm>
            <a:off x="7258131" y="2401990"/>
            <a:ext cx="1935137" cy="186689"/>
          </a:xfrm>
          <a:prstGeom prst="rect">
            <a:avLst/>
          </a:prstGeom>
          <a:noFill/>
        </p:spPr>
        <p:txBody>
          <a:bodyPr wrap="none" lIns="0" rIns="0" tIns="0" bIns="0">
            <a:spAutoFit/>
          </a:bodyPr>
          <a:lstStyle/>
          <a:p>
            <a:r>
              <a:rPr sz="1100" b="0">
                <a:solidFill>
                  <a:srgbClr val="2E2E2E"/>
                </a:solidFill>
                <a:latin typeface="Calibri"/>
              </a:rPr>
              <a:t>of 2036 value across 2 countries.</a:t>
            </a:r>
          </a:p>
        </p:txBody>
      </p:sp>
      <p:sp>
        <p:nvSpPr>
          <p:cNvPr id="101" name="TextBox 100"/>
          <p:cNvSpPr txBox="1"/>
          <p:nvPr/>
        </p:nvSpPr>
        <p:spPr>
          <a:xfrm>
            <a:off x="5000625" y="3132138"/>
            <a:ext cx="2931591" cy="186689"/>
          </a:xfrm>
          <a:prstGeom prst="rect">
            <a:avLst/>
          </a:prstGeom>
          <a:noFill/>
        </p:spPr>
        <p:txBody>
          <a:bodyPr wrap="none" lIns="0" rIns="0" tIns="0" bIns="0">
            <a:spAutoFit/>
          </a:bodyPr>
          <a:lstStyle/>
          <a:p>
            <a:r>
              <a:rPr sz="1100" b="0">
                <a:solidFill>
                  <a:srgbClr val="2E2E2E"/>
                </a:solidFill>
                <a:latin typeface="Calibri"/>
              </a:rPr>
              <a:t>▪ Capacity added between 2026 and 2036 is worth</a:t>
            </a:r>
          </a:p>
        </p:txBody>
      </p:sp>
      <p:pic>
        <p:nvPicPr>
          <p:cNvPr id="102" name="Picture 101" descr="lock.png"/>
          <p:cNvPicPr>
            <a:picLocks noChangeAspect="1"/>
          </p:cNvPicPr>
          <p:nvPr/>
        </p:nvPicPr>
        <p:blipFill>
          <a:blip r:embed="rId4"/>
          <a:stretch>
            <a:fillRect/>
          </a:stretch>
        </p:blipFill>
        <p:spPr>
          <a:xfrm>
            <a:off x="7880268" y="3122359"/>
            <a:ext cx="128699" cy="187198"/>
          </a:xfrm>
          <a:prstGeom prst="rect">
            <a:avLst/>
          </a:prstGeom>
        </p:spPr>
      </p:pic>
      <p:sp>
        <p:nvSpPr>
          <p:cNvPr id="103" name="TextBox 102"/>
          <p:cNvSpPr txBox="1"/>
          <p:nvPr/>
        </p:nvSpPr>
        <p:spPr>
          <a:xfrm>
            <a:off x="8047764" y="3132138"/>
            <a:ext cx="659010" cy="186689"/>
          </a:xfrm>
          <a:prstGeom prst="rect">
            <a:avLst/>
          </a:prstGeom>
          <a:noFill/>
        </p:spPr>
        <p:txBody>
          <a:bodyPr wrap="none" lIns="0" rIns="0" tIns="0" bIns="0">
            <a:spAutoFit/>
          </a:bodyPr>
          <a:lstStyle/>
          <a:p>
            <a:r>
              <a:rPr sz="1100" b="0">
                <a:solidFill>
                  <a:srgbClr val="2E2E2E"/>
                </a:solidFill>
                <a:latin typeface="Calibri"/>
              </a:rPr>
              <a:t>US$ Mn, a</a:t>
            </a:r>
          </a:p>
        </p:txBody>
      </p:sp>
      <p:pic>
        <p:nvPicPr>
          <p:cNvPr id="104" name="Picture 103" descr="lock.png"/>
          <p:cNvPicPr>
            <a:picLocks noChangeAspect="1"/>
          </p:cNvPicPr>
          <p:nvPr/>
        </p:nvPicPr>
        <p:blipFill>
          <a:blip r:embed="rId4"/>
          <a:stretch>
            <a:fillRect/>
          </a:stretch>
        </p:blipFill>
        <p:spPr>
          <a:xfrm>
            <a:off x="8654826" y="3122359"/>
            <a:ext cx="128699" cy="187198"/>
          </a:xfrm>
          <a:prstGeom prst="rect">
            <a:avLst/>
          </a:prstGeom>
        </p:spPr>
      </p:pic>
      <p:sp>
        <p:nvSpPr>
          <p:cNvPr id="105" name="TextBox 104"/>
          <p:cNvSpPr txBox="1"/>
          <p:nvPr/>
        </p:nvSpPr>
        <p:spPr>
          <a:xfrm>
            <a:off x="8822322" y="3132138"/>
            <a:ext cx="1801986" cy="186689"/>
          </a:xfrm>
          <a:prstGeom prst="rect">
            <a:avLst/>
          </a:prstGeom>
          <a:noFill/>
        </p:spPr>
        <p:txBody>
          <a:bodyPr wrap="none" lIns="0" rIns="0" tIns="0" bIns="0">
            <a:spAutoFit/>
          </a:bodyPr>
          <a:lstStyle/>
          <a:p>
            <a:r>
              <a:rPr sz="1100" b="0">
                <a:solidFill>
                  <a:srgbClr val="2E2E2E"/>
                </a:solidFill>
                <a:latin typeface="Calibri"/>
              </a:rPr>
              <a:t>× expansion on the 2026 base.</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North America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604460"/>
            <a:ext cx="1466850" cy="3094002"/>
          </a:xfrm>
          <a:custGeom>
            <a:avLst/>
            <a:gdLst/>
            <a:ahLst/>
            <a:cxnLst/>
            <a:rect l="l" t="t" r="r" b="b"/>
            <a:pathLst>
              <a:path w="154" h="339">
                <a:moveTo>
                  <a:pt x="0" y="40"/>
                </a:moveTo>
                <a:lnTo>
                  <a:pt x="68" y="0"/>
                </a:lnTo>
                <a:lnTo>
                  <a:pt x="49" y="102"/>
                </a:lnTo>
                <a:lnTo>
                  <a:pt x="81" y="123"/>
                </a:lnTo>
                <a:lnTo>
                  <a:pt x="154" y="176"/>
                </a:lnTo>
                <a:lnTo>
                  <a:pt x="79" y="204"/>
                </a:lnTo>
                <a:lnTo>
                  <a:pt x="95" y="339"/>
                </a:lnTo>
                <a:lnTo>
                  <a:pt x="0" y="27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180975" y="2157244"/>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180975" y="2431050"/>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180975" y="2887392"/>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180975" y="334373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7534275" y="1322601"/>
            <a:ext cx="943988" cy="173278"/>
          </a:xfrm>
          <a:prstGeom prst="rect">
            <a:avLst/>
          </a:prstGeom>
          <a:noFill/>
        </p:spPr>
        <p:txBody>
          <a:bodyPr wrap="none" lIns="0" rIns="0" tIns="0" bIns="0">
            <a:spAutoFit/>
          </a:bodyPr>
          <a:lstStyle/>
          <a:p>
            <a:r>
              <a:rPr sz="1011" b="0">
                <a:solidFill>
                  <a:srgbClr val="2E2E2E"/>
                </a:solidFill>
                <a:latin typeface="Calibri"/>
              </a:rPr>
              <a:t>Demand Growth</a:t>
            </a:r>
          </a:p>
        </p:txBody>
      </p:sp>
      <p:pic>
        <p:nvPicPr>
          <p:cNvPr id="69" name="Picture 68" descr="lock.png"/>
          <p:cNvPicPr>
            <a:picLocks noChangeAspect="1"/>
          </p:cNvPicPr>
          <p:nvPr/>
        </p:nvPicPr>
        <p:blipFill>
          <a:blip r:embed="rId4"/>
          <a:stretch>
            <a:fillRect/>
          </a:stretch>
        </p:blipFill>
        <p:spPr>
          <a:xfrm>
            <a:off x="8424374" y="1313604"/>
            <a:ext cx="118403" cy="172222"/>
          </a:xfrm>
          <a:prstGeom prst="rect">
            <a:avLst/>
          </a:prstGeom>
        </p:spPr>
      </p:pic>
      <p:sp>
        <p:nvSpPr>
          <p:cNvPr id="70" name="TextBox 69"/>
          <p:cNvSpPr txBox="1"/>
          <p:nvPr/>
        </p:nvSpPr>
        <p:spPr>
          <a:xfrm>
            <a:off x="8549119" y="1561215"/>
            <a:ext cx="903573" cy="173278"/>
          </a:xfrm>
          <a:prstGeom prst="rect">
            <a:avLst/>
          </a:prstGeom>
          <a:noFill/>
        </p:spPr>
        <p:txBody>
          <a:bodyPr wrap="none" lIns="0" rIns="0" tIns="0" bIns="0">
            <a:spAutoFit/>
          </a:bodyPr>
          <a:lstStyle/>
          <a:p>
            <a:r>
              <a:rPr sz="1011" b="0">
                <a:solidFill>
                  <a:srgbClr val="2E2E2E"/>
                </a:solidFill>
                <a:latin typeface="Calibri"/>
              </a:rPr>
              <a:t>Premiumisation</a:t>
            </a:r>
          </a:p>
        </p:txBody>
      </p:sp>
      <p:pic>
        <p:nvPicPr>
          <p:cNvPr id="71" name="Picture 70" descr="lock.png"/>
          <p:cNvPicPr>
            <a:picLocks noChangeAspect="1"/>
          </p:cNvPicPr>
          <p:nvPr/>
        </p:nvPicPr>
        <p:blipFill>
          <a:blip r:embed="rId4"/>
          <a:stretch>
            <a:fillRect/>
          </a:stretch>
        </p:blipFill>
        <p:spPr>
          <a:xfrm>
            <a:off x="9398803" y="1552218"/>
            <a:ext cx="118403" cy="172222"/>
          </a:xfrm>
          <a:prstGeom prst="rect">
            <a:avLst/>
          </a:prstGeom>
        </p:spPr>
      </p:pic>
      <p:sp>
        <p:nvSpPr>
          <p:cNvPr id="72" name="TextBox 71"/>
          <p:cNvSpPr txBox="1"/>
          <p:nvPr/>
        </p:nvSpPr>
        <p:spPr>
          <a:xfrm>
            <a:off x="9424068" y="2311939"/>
            <a:ext cx="765761" cy="173278"/>
          </a:xfrm>
          <a:prstGeom prst="rect">
            <a:avLst/>
          </a:prstGeom>
          <a:noFill/>
        </p:spPr>
        <p:txBody>
          <a:bodyPr wrap="none" lIns="0" rIns="0" tIns="0" bIns="0">
            <a:spAutoFit/>
          </a:bodyPr>
          <a:lstStyle/>
          <a:p>
            <a:r>
              <a:rPr sz="1011" b="0">
                <a:solidFill>
                  <a:srgbClr val="2E2E2E"/>
                </a:solidFill>
                <a:latin typeface="Calibri"/>
              </a:rPr>
              <a:t>App. Breadth</a:t>
            </a:r>
          </a:p>
        </p:txBody>
      </p:sp>
      <p:pic>
        <p:nvPicPr>
          <p:cNvPr id="73" name="Picture 72" descr="lock.png"/>
          <p:cNvPicPr>
            <a:picLocks noChangeAspect="1"/>
          </p:cNvPicPr>
          <p:nvPr/>
        </p:nvPicPr>
        <p:blipFill>
          <a:blip r:embed="rId4"/>
          <a:stretch>
            <a:fillRect/>
          </a:stretch>
        </p:blipFill>
        <p:spPr>
          <a:xfrm>
            <a:off x="10135940" y="2302942"/>
            <a:ext cx="118403" cy="172222"/>
          </a:xfrm>
          <a:prstGeom prst="rect">
            <a:avLst/>
          </a:prstGeom>
        </p:spPr>
      </p:pic>
      <p:sp>
        <p:nvSpPr>
          <p:cNvPr id="74" name="TextBox 73"/>
          <p:cNvSpPr txBox="1"/>
          <p:nvPr/>
        </p:nvSpPr>
        <p:spPr>
          <a:xfrm>
            <a:off x="9909628" y="3278069"/>
            <a:ext cx="791114" cy="173278"/>
          </a:xfrm>
          <a:prstGeom prst="rect">
            <a:avLst/>
          </a:prstGeom>
          <a:noFill/>
        </p:spPr>
        <p:txBody>
          <a:bodyPr wrap="none" lIns="0" rIns="0" tIns="0" bIns="0">
            <a:spAutoFit/>
          </a:bodyPr>
          <a:lstStyle/>
          <a:p>
            <a:r>
              <a:rPr sz="1011" b="0">
                <a:solidFill>
                  <a:srgbClr val="2E2E2E"/>
                </a:solidFill>
                <a:latin typeface="Calibri"/>
              </a:rPr>
              <a:t>Emerging Pull</a:t>
            </a:r>
          </a:p>
        </p:txBody>
      </p:sp>
      <p:pic>
        <p:nvPicPr>
          <p:cNvPr id="75" name="Picture 74" descr="lock.png"/>
          <p:cNvPicPr>
            <a:picLocks noChangeAspect="1"/>
          </p:cNvPicPr>
          <p:nvPr/>
        </p:nvPicPr>
        <p:blipFill>
          <a:blip r:embed="rId4"/>
          <a:stretch>
            <a:fillRect/>
          </a:stretch>
        </p:blipFill>
        <p:spPr>
          <a:xfrm>
            <a:off x="10646855" y="3269072"/>
            <a:ext cx="118403" cy="172222"/>
          </a:xfrm>
          <a:prstGeom prst="rect">
            <a:avLst/>
          </a:prstGeom>
        </p:spPr>
      </p:pic>
      <p:sp>
        <p:nvSpPr>
          <p:cNvPr id="76" name="TextBox 75"/>
          <p:cNvSpPr txBox="1"/>
          <p:nvPr/>
        </p:nvSpPr>
        <p:spPr>
          <a:xfrm>
            <a:off x="9909628" y="4350392"/>
            <a:ext cx="1135267" cy="173278"/>
          </a:xfrm>
          <a:prstGeom prst="rect">
            <a:avLst/>
          </a:prstGeom>
          <a:noFill/>
        </p:spPr>
        <p:txBody>
          <a:bodyPr wrap="none" lIns="0" rIns="0" tIns="0" bIns="0">
            <a:spAutoFit/>
          </a:bodyPr>
          <a:lstStyle/>
          <a:p>
            <a:r>
              <a:rPr sz="1011" b="0">
                <a:solidFill>
                  <a:srgbClr val="2E2E2E"/>
                </a:solidFill>
                <a:latin typeface="Calibri"/>
              </a:rPr>
              <a:t>Volume Momentum</a:t>
            </a:r>
          </a:p>
        </p:txBody>
      </p:sp>
      <p:pic>
        <p:nvPicPr>
          <p:cNvPr id="77" name="Picture 76" descr="lock.png"/>
          <p:cNvPicPr>
            <a:picLocks noChangeAspect="1"/>
          </p:cNvPicPr>
          <p:nvPr/>
        </p:nvPicPr>
        <p:blipFill>
          <a:blip r:embed="rId4"/>
          <a:stretch>
            <a:fillRect/>
          </a:stretch>
        </p:blipFill>
        <p:spPr>
          <a:xfrm>
            <a:off x="10991008" y="4341395"/>
            <a:ext cx="118403" cy="172222"/>
          </a:xfrm>
          <a:prstGeom prst="rect">
            <a:avLst/>
          </a:prstGeom>
        </p:spPr>
      </p:pic>
      <p:sp>
        <p:nvSpPr>
          <p:cNvPr id="78" name="TextBox 77"/>
          <p:cNvSpPr txBox="1"/>
          <p:nvPr/>
        </p:nvSpPr>
        <p:spPr>
          <a:xfrm>
            <a:off x="9424068" y="5316521"/>
            <a:ext cx="1032097" cy="173278"/>
          </a:xfrm>
          <a:prstGeom prst="rect">
            <a:avLst/>
          </a:prstGeom>
          <a:noFill/>
        </p:spPr>
        <p:txBody>
          <a:bodyPr wrap="none" lIns="0" rIns="0" tIns="0" bIns="0">
            <a:spAutoFit/>
          </a:bodyPr>
          <a:lstStyle/>
          <a:p>
            <a:r>
              <a:rPr sz="1011" b="0">
                <a:solidFill>
                  <a:srgbClr val="2E2E2E"/>
                </a:solidFill>
                <a:latin typeface="Calibri"/>
              </a:rPr>
              <a:t>Category Maturity</a:t>
            </a:r>
          </a:p>
        </p:txBody>
      </p:sp>
      <p:pic>
        <p:nvPicPr>
          <p:cNvPr id="79" name="Picture 78" descr="lock.png"/>
          <p:cNvPicPr>
            <a:picLocks noChangeAspect="1"/>
          </p:cNvPicPr>
          <p:nvPr/>
        </p:nvPicPr>
        <p:blipFill>
          <a:blip r:embed="rId4"/>
          <a:stretch>
            <a:fillRect/>
          </a:stretch>
        </p:blipFill>
        <p:spPr>
          <a:xfrm>
            <a:off x="10402276" y="5307524"/>
            <a:ext cx="118403" cy="172222"/>
          </a:xfrm>
          <a:prstGeom prst="rect">
            <a:avLst/>
          </a:prstGeom>
        </p:spPr>
      </p:pic>
      <p:sp>
        <p:nvSpPr>
          <p:cNvPr id="80" name="TextBox 79"/>
          <p:cNvSpPr txBox="1"/>
          <p:nvPr/>
        </p:nvSpPr>
        <p:spPr>
          <a:xfrm>
            <a:off x="8549119" y="6067245"/>
            <a:ext cx="911857" cy="173278"/>
          </a:xfrm>
          <a:prstGeom prst="rect">
            <a:avLst/>
          </a:prstGeom>
          <a:noFill/>
        </p:spPr>
        <p:txBody>
          <a:bodyPr wrap="none" lIns="0" rIns="0" tIns="0" bIns="0">
            <a:spAutoFit/>
          </a:bodyPr>
          <a:lstStyle/>
          <a:p>
            <a:r>
              <a:rPr sz="1011" b="0">
                <a:solidFill>
                  <a:srgbClr val="2E2E2E"/>
                </a:solidFill>
                <a:latin typeface="Calibri"/>
              </a:rPr>
              <a:t>Adoption Depth</a:t>
            </a:r>
          </a:p>
        </p:txBody>
      </p:sp>
      <p:pic>
        <p:nvPicPr>
          <p:cNvPr id="81" name="Picture 80" descr="lock.png"/>
          <p:cNvPicPr>
            <a:picLocks noChangeAspect="1"/>
          </p:cNvPicPr>
          <p:nvPr/>
        </p:nvPicPr>
        <p:blipFill>
          <a:blip r:embed="rId4"/>
          <a:stretch>
            <a:fillRect/>
          </a:stretch>
        </p:blipFill>
        <p:spPr>
          <a:xfrm>
            <a:off x="9407087" y="6058248"/>
            <a:ext cx="118403" cy="172222"/>
          </a:xfrm>
          <a:prstGeom prst="rect">
            <a:avLst/>
          </a:prstGeom>
        </p:spPr>
      </p:pic>
      <p:sp>
        <p:nvSpPr>
          <p:cNvPr id="82" name="TextBox 81"/>
          <p:cNvSpPr txBox="1"/>
          <p:nvPr/>
        </p:nvSpPr>
        <p:spPr>
          <a:xfrm>
            <a:off x="7534275" y="6305860"/>
            <a:ext cx="955786" cy="173278"/>
          </a:xfrm>
          <a:prstGeom prst="rect">
            <a:avLst/>
          </a:prstGeom>
          <a:noFill/>
        </p:spPr>
        <p:txBody>
          <a:bodyPr wrap="none" lIns="0" rIns="0" tIns="0" bIns="0">
            <a:spAutoFit/>
          </a:bodyPr>
          <a:lstStyle/>
          <a:p>
            <a:r>
              <a:rPr sz="1011" b="0">
                <a:solidFill>
                  <a:srgbClr val="2E2E2E"/>
                </a:solidFill>
                <a:latin typeface="Calibri"/>
              </a:rPr>
              <a:t>Consumer Reach</a:t>
            </a:r>
          </a:p>
        </p:txBody>
      </p:sp>
      <p:pic>
        <p:nvPicPr>
          <p:cNvPr id="83" name="Picture 82" descr="lock.png"/>
          <p:cNvPicPr>
            <a:picLocks noChangeAspect="1"/>
          </p:cNvPicPr>
          <p:nvPr/>
        </p:nvPicPr>
        <p:blipFill>
          <a:blip r:embed="rId4"/>
          <a:stretch>
            <a:fillRect/>
          </a:stretch>
        </p:blipFill>
        <p:spPr>
          <a:xfrm>
            <a:off x="8436172" y="6296863"/>
            <a:ext cx="118403" cy="172222"/>
          </a:xfrm>
          <a:prstGeom prst="rect">
            <a:avLst/>
          </a:prstGeom>
        </p:spPr>
      </p:pic>
      <p:sp>
        <p:nvSpPr>
          <p:cNvPr id="84" name="TextBox 83"/>
          <p:cNvSpPr txBox="1"/>
          <p:nvPr/>
        </p:nvSpPr>
        <p:spPr>
          <a:xfrm>
            <a:off x="209550" y="1496754"/>
            <a:ext cx="3140868" cy="186689"/>
          </a:xfrm>
          <a:prstGeom prst="rect">
            <a:avLst/>
          </a:prstGeom>
          <a:noFill/>
        </p:spPr>
        <p:txBody>
          <a:bodyPr wrap="none" lIns="0" rIns="0" tIns="0" bIns="0">
            <a:spAutoFit/>
          </a:bodyPr>
          <a:lstStyle/>
          <a:p>
            <a:r>
              <a:rPr sz="1100" b="0">
                <a:solidFill>
                  <a:srgbClr val="2E2E2E"/>
                </a:solidFill>
                <a:latin typeface="Calibri"/>
              </a:rPr>
              <a:t>▪ Demand-side conditions are led by Adoption Depth (</a:t>
            </a:r>
          </a:p>
        </p:txBody>
      </p:sp>
      <p:pic>
        <p:nvPicPr>
          <p:cNvPr id="85" name="Picture 84" descr="lock.png"/>
          <p:cNvPicPr>
            <a:picLocks noChangeAspect="1"/>
          </p:cNvPicPr>
          <p:nvPr/>
        </p:nvPicPr>
        <p:blipFill>
          <a:blip r:embed="rId4"/>
          <a:stretch>
            <a:fillRect/>
          </a:stretch>
        </p:blipFill>
        <p:spPr>
          <a:xfrm>
            <a:off x="3298470" y="1486975"/>
            <a:ext cx="128699" cy="187198"/>
          </a:xfrm>
          <a:prstGeom prst="rect">
            <a:avLst/>
          </a:prstGeom>
        </p:spPr>
      </p:pic>
      <p:sp>
        <p:nvSpPr>
          <p:cNvPr id="86" name="TextBox 85"/>
          <p:cNvSpPr txBox="1"/>
          <p:nvPr/>
        </p:nvSpPr>
        <p:spPr>
          <a:xfrm>
            <a:off x="3465966" y="1496754"/>
            <a:ext cx="1606078" cy="186689"/>
          </a:xfrm>
          <a:prstGeom prst="rect">
            <a:avLst/>
          </a:prstGeom>
          <a:noFill/>
        </p:spPr>
        <p:txBody>
          <a:bodyPr wrap="none" lIns="0" rIns="0" tIns="0" bIns="0">
            <a:spAutoFit/>
          </a:bodyPr>
          <a:lstStyle/>
          <a:p>
            <a:r>
              <a:rPr sz="1100" b="0">
                <a:solidFill>
                  <a:srgbClr val="2E2E2E"/>
                </a:solidFill>
                <a:latin typeface="Calibri"/>
              </a:rPr>
              <a:t>/10), Volume Momentum (</a:t>
            </a:r>
          </a:p>
        </p:txBody>
      </p:sp>
      <p:pic>
        <p:nvPicPr>
          <p:cNvPr id="87" name="Picture 86" descr="lock.png"/>
          <p:cNvPicPr>
            <a:picLocks noChangeAspect="1"/>
          </p:cNvPicPr>
          <p:nvPr/>
        </p:nvPicPr>
        <p:blipFill>
          <a:blip r:embed="rId4"/>
          <a:stretch>
            <a:fillRect/>
          </a:stretch>
        </p:blipFill>
        <p:spPr>
          <a:xfrm>
            <a:off x="5020096" y="1486975"/>
            <a:ext cx="128699" cy="187198"/>
          </a:xfrm>
          <a:prstGeom prst="rect">
            <a:avLst/>
          </a:prstGeom>
        </p:spPr>
      </p:pic>
      <p:sp>
        <p:nvSpPr>
          <p:cNvPr id="88" name="TextBox 87"/>
          <p:cNvSpPr txBox="1"/>
          <p:nvPr/>
        </p:nvSpPr>
        <p:spPr>
          <a:xfrm>
            <a:off x="5187592" y="1496754"/>
            <a:ext cx="1354236" cy="186689"/>
          </a:xfrm>
          <a:prstGeom prst="rect">
            <a:avLst/>
          </a:prstGeom>
          <a:noFill/>
        </p:spPr>
        <p:txBody>
          <a:bodyPr wrap="none" lIns="0" rIns="0" tIns="0" bIns="0">
            <a:spAutoFit/>
          </a:bodyPr>
          <a:lstStyle/>
          <a:p>
            <a:r>
              <a:rPr sz="1100" b="0">
                <a:solidFill>
                  <a:srgbClr val="2E2E2E"/>
                </a:solidFill>
                <a:latin typeface="Calibri"/>
              </a:rPr>
              <a:t>/10), Premiumisation (</a:t>
            </a:r>
          </a:p>
        </p:txBody>
      </p:sp>
      <p:pic>
        <p:nvPicPr>
          <p:cNvPr id="89" name="Picture 88" descr="lock.png"/>
          <p:cNvPicPr>
            <a:picLocks noChangeAspect="1"/>
          </p:cNvPicPr>
          <p:nvPr/>
        </p:nvPicPr>
        <p:blipFill>
          <a:blip r:embed="rId4"/>
          <a:stretch>
            <a:fillRect/>
          </a:stretch>
        </p:blipFill>
        <p:spPr>
          <a:xfrm>
            <a:off x="6489880" y="1486975"/>
            <a:ext cx="128699" cy="187198"/>
          </a:xfrm>
          <a:prstGeom prst="rect">
            <a:avLst/>
          </a:prstGeom>
        </p:spPr>
      </p:pic>
      <p:sp>
        <p:nvSpPr>
          <p:cNvPr id="90" name="TextBox 89"/>
          <p:cNvSpPr txBox="1"/>
          <p:nvPr/>
        </p:nvSpPr>
        <p:spPr>
          <a:xfrm>
            <a:off x="6657376" y="1496754"/>
            <a:ext cx="314399" cy="186689"/>
          </a:xfrm>
          <a:prstGeom prst="rect">
            <a:avLst/>
          </a:prstGeom>
          <a:noFill/>
        </p:spPr>
        <p:txBody>
          <a:bodyPr wrap="none" lIns="0" rIns="0" tIns="0" bIns="0">
            <a:spAutoFit/>
          </a:bodyPr>
          <a:lstStyle/>
          <a:p>
            <a:r>
              <a:rPr sz="1100" b="0">
                <a:solidFill>
                  <a:srgbClr val="2E2E2E"/>
                </a:solidFill>
                <a:latin typeface="Calibri"/>
              </a:rPr>
              <a:t>/10)</a:t>
            </a:r>
          </a:p>
        </p:txBody>
      </p:sp>
      <p:sp>
        <p:nvSpPr>
          <p:cNvPr id="91" name="TextBox 90"/>
          <p:cNvSpPr txBox="1"/>
          <p:nvPr/>
        </p:nvSpPr>
        <p:spPr>
          <a:xfrm>
            <a:off x="209550" y="1664394"/>
            <a:ext cx="3500214" cy="186689"/>
          </a:xfrm>
          <a:prstGeom prst="rect">
            <a:avLst/>
          </a:prstGeom>
          <a:noFill/>
        </p:spPr>
        <p:txBody>
          <a:bodyPr wrap="none" lIns="0" rIns="0" tIns="0" bIns="0">
            <a:spAutoFit/>
          </a:bodyPr>
          <a:lstStyle/>
          <a:p>
            <a:r>
              <a:rPr sz="1100" b="0">
                <a:solidFill>
                  <a:srgbClr val="2E2E2E"/>
                </a:solidFill>
                <a:latin typeface="Calibri"/>
              </a:rPr>
              <a:t>on a 0-10 scale scored from the north america dataset itself.</a:t>
            </a:r>
          </a:p>
        </p:txBody>
      </p:sp>
      <p:sp>
        <p:nvSpPr>
          <p:cNvPr id="92" name="TextBox 91"/>
          <p:cNvSpPr txBox="1"/>
          <p:nvPr/>
        </p:nvSpPr>
        <p:spPr>
          <a:xfrm>
            <a:off x="209550" y="1945648"/>
            <a:ext cx="998438" cy="186689"/>
          </a:xfrm>
          <a:prstGeom prst="rect">
            <a:avLst/>
          </a:prstGeom>
          <a:noFill/>
        </p:spPr>
        <p:txBody>
          <a:bodyPr wrap="none" lIns="0" rIns="0" tIns="0" bIns="0">
            <a:spAutoFit/>
          </a:bodyPr>
          <a:lstStyle/>
          <a:p>
            <a:r>
              <a:rPr sz="1100" b="0">
                <a:solidFill>
                  <a:srgbClr val="2E2E2E"/>
                </a:solidFill>
                <a:latin typeface="Calibri"/>
              </a:rPr>
              <a:t>▪ Value grows at</a:t>
            </a:r>
          </a:p>
        </p:txBody>
      </p:sp>
      <p:pic>
        <p:nvPicPr>
          <p:cNvPr id="93" name="Picture 92" descr="lock.png"/>
          <p:cNvPicPr>
            <a:picLocks noChangeAspect="1"/>
          </p:cNvPicPr>
          <p:nvPr/>
        </p:nvPicPr>
        <p:blipFill>
          <a:blip r:embed="rId4"/>
          <a:stretch>
            <a:fillRect/>
          </a:stretch>
        </p:blipFill>
        <p:spPr>
          <a:xfrm>
            <a:off x="1156039" y="1935869"/>
            <a:ext cx="128699" cy="187198"/>
          </a:xfrm>
          <a:prstGeom prst="rect">
            <a:avLst/>
          </a:prstGeom>
        </p:spPr>
      </p:pic>
      <p:sp>
        <p:nvSpPr>
          <p:cNvPr id="94" name="TextBox 93"/>
          <p:cNvSpPr txBox="1"/>
          <p:nvPr/>
        </p:nvSpPr>
        <p:spPr>
          <a:xfrm>
            <a:off x="1323535" y="1945648"/>
            <a:ext cx="1083295" cy="186689"/>
          </a:xfrm>
          <a:prstGeom prst="rect">
            <a:avLst/>
          </a:prstGeom>
          <a:noFill/>
        </p:spPr>
        <p:txBody>
          <a:bodyPr wrap="none" lIns="0" rIns="0" tIns="0" bIns="0">
            <a:spAutoFit/>
          </a:bodyPr>
          <a:lstStyle/>
          <a:p>
            <a:r>
              <a:rPr sz="1100" b="0">
                <a:solidFill>
                  <a:srgbClr val="2E2E2E"/>
                </a:solidFill>
                <a:latin typeface="Calibri"/>
              </a:rPr>
              <a:t>against volume at</a:t>
            </a:r>
          </a:p>
        </p:txBody>
      </p:sp>
      <p:pic>
        <p:nvPicPr>
          <p:cNvPr id="95" name="Picture 94" descr="lock.png"/>
          <p:cNvPicPr>
            <a:picLocks noChangeAspect="1"/>
          </p:cNvPicPr>
          <p:nvPr/>
        </p:nvPicPr>
        <p:blipFill>
          <a:blip r:embed="rId4"/>
          <a:stretch>
            <a:fillRect/>
          </a:stretch>
        </p:blipFill>
        <p:spPr>
          <a:xfrm>
            <a:off x="2354882" y="1935869"/>
            <a:ext cx="128699" cy="187198"/>
          </a:xfrm>
          <a:prstGeom prst="rect">
            <a:avLst/>
          </a:prstGeom>
        </p:spPr>
      </p:pic>
      <p:sp>
        <p:nvSpPr>
          <p:cNvPr id="96" name="TextBox 95"/>
          <p:cNvSpPr txBox="1"/>
          <p:nvPr/>
        </p:nvSpPr>
        <p:spPr>
          <a:xfrm>
            <a:off x="2522378" y="1945648"/>
            <a:ext cx="2230090" cy="186689"/>
          </a:xfrm>
          <a:prstGeom prst="rect">
            <a:avLst/>
          </a:prstGeom>
          <a:noFill/>
        </p:spPr>
        <p:txBody>
          <a:bodyPr wrap="none" lIns="0" rIns="0" tIns="0" bIns="0">
            <a:spAutoFit/>
          </a:bodyPr>
          <a:lstStyle/>
          <a:p>
            <a:r>
              <a:rPr sz="1100" b="0">
                <a:solidFill>
                  <a:srgbClr val="2E2E2E"/>
                </a:solidFill>
                <a:latin typeface="Calibri"/>
              </a:rPr>
              <a:t>a premiumising market through 2036.</a:t>
            </a:r>
          </a:p>
        </p:txBody>
      </p:sp>
      <p:sp>
        <p:nvSpPr>
          <p:cNvPr id="97" name="TextBox 96"/>
          <p:cNvSpPr txBox="1"/>
          <p:nvPr/>
        </p:nvSpPr>
        <p:spPr>
          <a:xfrm>
            <a:off x="209550" y="2219453"/>
            <a:ext cx="1442640" cy="186689"/>
          </a:xfrm>
          <a:prstGeom prst="rect">
            <a:avLst/>
          </a:prstGeom>
          <a:noFill/>
        </p:spPr>
        <p:txBody>
          <a:bodyPr wrap="none" lIns="0" rIns="0" tIns="0" bIns="0">
            <a:spAutoFit/>
          </a:bodyPr>
          <a:lstStyle/>
          <a:p>
            <a:r>
              <a:rPr sz="1100" b="0">
                <a:solidFill>
                  <a:srgbClr val="2E2E2E"/>
                </a:solidFill>
                <a:latin typeface="Calibri"/>
              </a:rPr>
              <a:t>▪ 'Sweet muffins' carries</a:t>
            </a:r>
          </a:p>
        </p:txBody>
      </p:sp>
      <p:pic>
        <p:nvPicPr>
          <p:cNvPr id="98" name="Picture 97" descr="lock.png"/>
          <p:cNvPicPr>
            <a:picLocks noChangeAspect="1"/>
          </p:cNvPicPr>
          <p:nvPr/>
        </p:nvPicPr>
        <p:blipFill>
          <a:blip r:embed="rId4"/>
          <a:stretch>
            <a:fillRect/>
          </a:stretch>
        </p:blipFill>
        <p:spPr>
          <a:xfrm>
            <a:off x="1600242" y="2209674"/>
            <a:ext cx="128699" cy="187198"/>
          </a:xfrm>
          <a:prstGeom prst="rect">
            <a:avLst/>
          </a:prstGeom>
        </p:spPr>
      </p:pic>
      <p:sp>
        <p:nvSpPr>
          <p:cNvPr id="99" name="TextBox 98"/>
          <p:cNvSpPr txBox="1"/>
          <p:nvPr/>
        </p:nvSpPr>
        <p:spPr>
          <a:xfrm>
            <a:off x="1767738" y="2219453"/>
            <a:ext cx="3958877" cy="186689"/>
          </a:xfrm>
          <a:prstGeom prst="rect">
            <a:avLst/>
          </a:prstGeom>
          <a:noFill/>
        </p:spPr>
        <p:txBody>
          <a:bodyPr wrap="none" lIns="0" rIns="0" tIns="0" bIns="0">
            <a:spAutoFit/>
          </a:bodyPr>
          <a:lstStyle/>
          <a:p>
            <a:r>
              <a:rPr sz="1100" b="0">
                <a:solidFill>
                  <a:srgbClr val="2E2E2E"/>
                </a:solidFill>
                <a:latin typeface="Calibri"/>
              </a:rPr>
              <a:t>of product type demand while 'Sweet muffins' compounds fastest at</a:t>
            </a:r>
          </a:p>
        </p:txBody>
      </p:sp>
      <p:pic>
        <p:nvPicPr>
          <p:cNvPr id="100" name="Picture 99" descr="lock.png"/>
          <p:cNvPicPr>
            <a:picLocks noChangeAspect="1"/>
          </p:cNvPicPr>
          <p:nvPr/>
        </p:nvPicPr>
        <p:blipFill>
          <a:blip r:embed="rId4"/>
          <a:stretch>
            <a:fillRect/>
          </a:stretch>
        </p:blipFill>
        <p:spPr>
          <a:xfrm>
            <a:off x="5674667" y="2209674"/>
            <a:ext cx="128699" cy="187198"/>
          </a:xfrm>
          <a:prstGeom prst="rect">
            <a:avLst/>
          </a:prstGeom>
        </p:spPr>
      </p:pic>
      <p:sp>
        <p:nvSpPr>
          <p:cNvPr id="101" name="TextBox 100"/>
          <p:cNvSpPr txBox="1"/>
          <p:nvPr/>
        </p:nvSpPr>
        <p:spPr>
          <a:xfrm>
            <a:off x="5842163" y="2219453"/>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2" name="TextBox 101"/>
          <p:cNvSpPr txBox="1"/>
          <p:nvPr/>
        </p:nvSpPr>
        <p:spPr>
          <a:xfrm>
            <a:off x="209550" y="2584528"/>
            <a:ext cx="1777975" cy="186689"/>
          </a:xfrm>
          <a:prstGeom prst="rect">
            <a:avLst/>
          </a:prstGeom>
          <a:noFill/>
        </p:spPr>
        <p:txBody>
          <a:bodyPr wrap="none" lIns="0" rIns="0" tIns="0" bIns="0">
            <a:spAutoFit/>
          </a:bodyPr>
          <a:lstStyle/>
          <a:p>
            <a:r>
              <a:rPr sz="1100" b="0">
                <a:solidFill>
                  <a:srgbClr val="2E2E2E"/>
                </a:solidFill>
                <a:latin typeface="Calibri"/>
              </a:rPr>
              <a:t>▪ Pull is strongest in 'Canada' (</a:t>
            </a:r>
          </a:p>
        </p:txBody>
      </p:sp>
      <p:pic>
        <p:nvPicPr>
          <p:cNvPr id="103" name="Picture 102" descr="lock.png"/>
          <p:cNvPicPr>
            <a:picLocks noChangeAspect="1"/>
          </p:cNvPicPr>
          <p:nvPr/>
        </p:nvPicPr>
        <p:blipFill>
          <a:blip r:embed="rId4"/>
          <a:stretch>
            <a:fillRect/>
          </a:stretch>
        </p:blipFill>
        <p:spPr>
          <a:xfrm>
            <a:off x="1935576" y="2574749"/>
            <a:ext cx="128699" cy="187198"/>
          </a:xfrm>
          <a:prstGeom prst="rect">
            <a:avLst/>
          </a:prstGeom>
        </p:spPr>
      </p:pic>
      <p:sp>
        <p:nvSpPr>
          <p:cNvPr id="104" name="TextBox 103"/>
          <p:cNvSpPr txBox="1"/>
          <p:nvPr/>
        </p:nvSpPr>
        <p:spPr>
          <a:xfrm>
            <a:off x="2103072" y="2584528"/>
            <a:ext cx="531572"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105" name="Picture 104" descr="lock.png"/>
          <p:cNvPicPr>
            <a:picLocks noChangeAspect="1"/>
          </p:cNvPicPr>
          <p:nvPr/>
        </p:nvPicPr>
        <p:blipFill>
          <a:blip r:embed="rId4"/>
          <a:stretch>
            <a:fillRect/>
          </a:stretch>
        </p:blipFill>
        <p:spPr>
          <a:xfrm>
            <a:off x="2582696" y="2574749"/>
            <a:ext cx="128699" cy="187198"/>
          </a:xfrm>
          <a:prstGeom prst="rect">
            <a:avLst/>
          </a:prstGeom>
        </p:spPr>
      </p:pic>
      <p:sp>
        <p:nvSpPr>
          <p:cNvPr id="106" name="TextBox 105"/>
          <p:cNvSpPr txBox="1"/>
          <p:nvPr/>
        </p:nvSpPr>
        <p:spPr>
          <a:xfrm>
            <a:off x="2750192" y="2584528"/>
            <a:ext cx="3636367" cy="186689"/>
          </a:xfrm>
          <a:prstGeom prst="rect">
            <a:avLst/>
          </a:prstGeom>
          <a:noFill/>
        </p:spPr>
        <p:txBody>
          <a:bodyPr wrap="none" lIns="0" rIns="0" tIns="0" bIns="0">
            <a:spAutoFit/>
          </a:bodyPr>
          <a:lstStyle/>
          <a:p>
            <a:r>
              <a:rPr sz="1100" b="0">
                <a:solidFill>
                  <a:srgbClr val="2E2E2E"/>
                </a:solidFill>
                <a:latin typeface="Calibri"/>
              </a:rPr>
              <a:t>BPS versus the market), with 1 of 2 countries at or above pace.</a:t>
            </a:r>
          </a:p>
        </p:txBody>
      </p:sp>
      <p:sp>
        <p:nvSpPr>
          <p:cNvPr id="107" name="TextBox 106"/>
          <p:cNvSpPr txBox="1"/>
          <p:nvPr/>
        </p:nvSpPr>
        <p:spPr>
          <a:xfrm>
            <a:off x="209550" y="2957050"/>
            <a:ext cx="3533775" cy="186689"/>
          </a:xfrm>
          <a:prstGeom prst="rect">
            <a:avLst/>
          </a:prstGeom>
          <a:noFill/>
        </p:spPr>
        <p:txBody>
          <a:bodyPr wrap="none" lIns="0" rIns="0" tIns="0" bIns="0">
            <a:spAutoFit/>
          </a:bodyPr>
          <a:lstStyle/>
          <a:p>
            <a:r>
              <a:rPr sz="1100" b="0">
                <a:solidFill>
                  <a:srgbClr val="2E2E2E"/>
                </a:solidFill>
                <a:latin typeface="Calibri"/>
              </a:rPr>
              <a:t>▪ Reach runs through 3 sales channel routes, led by 'Retail' at</a:t>
            </a:r>
          </a:p>
        </p:txBody>
      </p:sp>
      <p:pic>
        <p:nvPicPr>
          <p:cNvPr id="108" name="Picture 107" descr="lock.png"/>
          <p:cNvPicPr>
            <a:picLocks noChangeAspect="1"/>
          </p:cNvPicPr>
          <p:nvPr/>
        </p:nvPicPr>
        <p:blipFill>
          <a:blip r:embed="rId4"/>
          <a:stretch>
            <a:fillRect/>
          </a:stretch>
        </p:blipFill>
        <p:spPr>
          <a:xfrm>
            <a:off x="3691376" y="2947271"/>
            <a:ext cx="128699" cy="187198"/>
          </a:xfrm>
          <a:prstGeom prst="rect">
            <a:avLst/>
          </a:prstGeom>
        </p:spPr>
      </p:pic>
      <p:sp>
        <p:nvSpPr>
          <p:cNvPr id="109" name="TextBox 108"/>
          <p:cNvSpPr txBox="1"/>
          <p:nvPr/>
        </p:nvSpPr>
        <p:spPr>
          <a:xfrm>
            <a:off x="3858872" y="2957050"/>
            <a:ext cx="3215600" cy="186689"/>
          </a:xfrm>
          <a:prstGeom prst="rect">
            <a:avLst/>
          </a:prstGeom>
          <a:noFill/>
        </p:spPr>
        <p:txBody>
          <a:bodyPr wrap="none" lIns="0" rIns="0" tIns="0" bIns="0">
            <a:spAutoFit/>
          </a:bodyPr>
          <a:lstStyle/>
          <a:p>
            <a:r>
              <a:rPr sz="1100" b="0">
                <a:solidFill>
                  <a:srgbClr val="2E2E2E"/>
                </a:solidFill>
                <a:latin typeface="Calibri"/>
              </a:rPr>
              <a:t>and with 'Foodservice and institutional' growing fastest</a:t>
            </a:r>
          </a:p>
        </p:txBody>
      </p:sp>
      <p:sp>
        <p:nvSpPr>
          <p:cNvPr id="110" name="TextBox 109"/>
          <p:cNvSpPr txBox="1"/>
          <p:nvPr/>
        </p:nvSpPr>
        <p:spPr>
          <a:xfrm>
            <a:off x="209550" y="3124690"/>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111" name="Picture 110" descr="lock.png"/>
          <p:cNvPicPr>
            <a:picLocks noChangeAspect="1"/>
          </p:cNvPicPr>
          <p:nvPr/>
        </p:nvPicPr>
        <p:blipFill>
          <a:blip r:embed="rId4"/>
          <a:stretch>
            <a:fillRect/>
          </a:stretch>
        </p:blipFill>
        <p:spPr>
          <a:xfrm>
            <a:off x="347580" y="3114911"/>
            <a:ext cx="128699" cy="187198"/>
          </a:xfrm>
          <a:prstGeom prst="rect">
            <a:avLst/>
          </a:prstGeom>
        </p:spPr>
      </p:pic>
      <p:sp>
        <p:nvSpPr>
          <p:cNvPr id="112" name="TextBox 111"/>
          <p:cNvSpPr txBox="1"/>
          <p:nvPr/>
        </p:nvSpPr>
        <p:spPr>
          <a:xfrm>
            <a:off x="515076" y="3124690"/>
            <a:ext cx="111397" cy="186689"/>
          </a:xfrm>
          <a:prstGeom prst="rect">
            <a:avLst/>
          </a:prstGeom>
          <a:noFill/>
        </p:spPr>
        <p:txBody>
          <a:bodyPr wrap="none" lIns="0" rIns="0" tIns="0" bIns="0">
            <a:spAutoFit/>
          </a:bodyPr>
          <a:lstStyle/>
          <a:p>
            <a:r>
              <a:rPr sz="1100" b="0">
                <a:solidFill>
                  <a:srgbClr val="2E2E2E"/>
                </a:solidFill>
                <a:latin typeface="Calibri"/>
              </a:rPr>
              <a:t>.</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North America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Savoury muffins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Country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837332"/>
            <a:ext cx="1847006" cy="186689"/>
          </a:xfrm>
          <a:prstGeom prst="rect">
            <a:avLst/>
          </a:prstGeom>
          <a:noFill/>
        </p:spPr>
        <p:txBody>
          <a:bodyPr wrap="none" lIns="0" rIns="0" tIns="0" bIns="0">
            <a:spAutoFit/>
          </a:bodyPr>
          <a:lstStyle/>
          <a:p>
            <a:r>
              <a:rPr sz="1100" b="0">
                <a:solidFill>
                  <a:srgbClr val="2E2E2E"/>
                </a:solidFill>
                <a:latin typeface="Calibri"/>
              </a:rPr>
              <a:t>'Savoury muffins' grows at only</a:t>
            </a:r>
          </a:p>
        </p:txBody>
      </p:sp>
      <p:pic>
        <p:nvPicPr>
          <p:cNvPr id="65" name="Picture 64" descr="lock.png"/>
          <p:cNvPicPr>
            <a:picLocks noChangeAspect="1"/>
          </p:cNvPicPr>
          <p:nvPr/>
        </p:nvPicPr>
        <p:blipFill>
          <a:blip r:embed="rId4"/>
          <a:stretch>
            <a:fillRect/>
          </a:stretch>
        </p:blipFill>
        <p:spPr>
          <a:xfrm>
            <a:off x="1985558" y="1827554"/>
            <a:ext cx="128699" cy="187198"/>
          </a:xfrm>
          <a:prstGeom prst="rect">
            <a:avLst/>
          </a:prstGeom>
        </p:spPr>
      </p:pic>
      <p:sp>
        <p:nvSpPr>
          <p:cNvPr id="66" name="TextBox 65"/>
          <p:cNvSpPr txBox="1"/>
          <p:nvPr/>
        </p:nvSpPr>
        <p:spPr>
          <a:xfrm>
            <a:off x="2153054" y="1837332"/>
            <a:ext cx="4655177" cy="186689"/>
          </a:xfrm>
          <a:prstGeom prst="rect">
            <a:avLst/>
          </a:prstGeom>
          <a:noFill/>
        </p:spPr>
        <p:txBody>
          <a:bodyPr wrap="none" lIns="0" rIns="0" tIns="0" bIns="0">
            <a:spAutoFit/>
          </a:bodyPr>
          <a:lstStyle/>
          <a:p>
            <a:r>
              <a:rPr sz="1100" b="0">
                <a:solidFill>
                  <a:srgbClr val="2E2E2E"/>
                </a:solidFill>
                <a:latin typeface="Calibri"/>
              </a:rPr>
              <a:t>CAGR against the market's 4.1%, a -51 BPS gap, and 'Savoury muffins' surrenders</a:t>
            </a:r>
          </a:p>
        </p:txBody>
      </p:sp>
      <p:pic>
        <p:nvPicPr>
          <p:cNvPr id="67" name="Picture 66" descr="lock.png"/>
          <p:cNvPicPr>
            <a:picLocks noChangeAspect="1"/>
          </p:cNvPicPr>
          <p:nvPr/>
        </p:nvPicPr>
        <p:blipFill>
          <a:blip r:embed="rId4"/>
          <a:stretch>
            <a:fillRect/>
          </a:stretch>
        </p:blipFill>
        <p:spPr>
          <a:xfrm>
            <a:off x="6756283" y="1827554"/>
            <a:ext cx="128699" cy="187198"/>
          </a:xfrm>
          <a:prstGeom prst="rect">
            <a:avLst/>
          </a:prstGeom>
        </p:spPr>
      </p:pic>
      <p:sp>
        <p:nvSpPr>
          <p:cNvPr id="68" name="TextBox 67"/>
          <p:cNvSpPr txBox="1"/>
          <p:nvPr/>
        </p:nvSpPr>
        <p:spPr>
          <a:xfrm>
            <a:off x="6923779" y="1837332"/>
            <a:ext cx="2396256" cy="186689"/>
          </a:xfrm>
          <a:prstGeom prst="rect">
            <a:avLst/>
          </a:prstGeom>
          <a:noFill/>
        </p:spPr>
        <p:txBody>
          <a:bodyPr wrap="none" lIns="0" rIns="0" tIns="0" bIns="0">
            <a:spAutoFit/>
          </a:bodyPr>
          <a:lstStyle/>
          <a:p>
            <a:r>
              <a:rPr sz="1100" b="0">
                <a:solidFill>
                  <a:srgbClr val="2E2E2E"/>
                </a:solidFill>
                <a:latin typeface="Calibri"/>
              </a:rPr>
              <a:t>BPS of product type share between 2026</a:t>
            </a:r>
          </a:p>
        </p:txBody>
      </p:sp>
      <p:sp>
        <p:nvSpPr>
          <p:cNvPr id="69" name="TextBox 68"/>
          <p:cNvSpPr txBox="1"/>
          <p:nvPr/>
        </p:nvSpPr>
        <p:spPr>
          <a:xfrm>
            <a:off x="190500" y="2004972"/>
            <a:ext cx="9298309" cy="186689"/>
          </a:xfrm>
          <a:prstGeom prst="rect">
            <a:avLst/>
          </a:prstGeom>
          <a:noFill/>
        </p:spPr>
        <p:txBody>
          <a:bodyPr wrap="none" lIns="0" rIns="0" tIns="0" bIns="0">
            <a:spAutoFit/>
          </a:bodyPr>
          <a:lstStyle/>
          <a:p>
            <a:r>
              <a:rPr sz="1100" b="0">
                <a:solidFill>
                  <a:srgbClr val="2E2E2E"/>
                </a:solidFill>
                <a:latin typeface="Calibri"/>
              </a:rPr>
              <a:t>and 2036. Because these lines still carry meaningful volume, the drag is absorbed by the whole category: blended growth sits below what the leading lines achieve</a:t>
            </a:r>
          </a:p>
        </p:txBody>
      </p:sp>
      <p:sp>
        <p:nvSpPr>
          <p:cNvPr id="70" name="TextBox 69"/>
          <p:cNvSpPr txBox="1"/>
          <p:nvPr/>
        </p:nvSpPr>
        <p:spPr>
          <a:xfrm>
            <a:off x="190500" y="2172613"/>
            <a:ext cx="8093943" cy="186689"/>
          </a:xfrm>
          <a:prstGeom prst="rect">
            <a:avLst/>
          </a:prstGeom>
          <a:noFill/>
        </p:spPr>
        <p:txBody>
          <a:bodyPr wrap="none" lIns="0" rIns="0" tIns="0" bIns="0">
            <a:spAutoFit/>
          </a:bodyPr>
          <a:lstStyle/>
          <a:p>
            <a:r>
              <a:rPr sz="1100" b="0">
                <a:solidFill>
                  <a:srgbClr val="2E2E2E"/>
                </a:solidFill>
                <a:latin typeface="Calibri"/>
              </a:rPr>
              <a:t>on their own. Rationalising or repositioning the lagging end of a 2-line portfolio is therefore a precondition for realising the headline forecast.</a:t>
            </a:r>
          </a:p>
        </p:txBody>
      </p:sp>
      <p:sp>
        <p:nvSpPr>
          <p:cNvPr id="71" name="TextBox 70"/>
          <p:cNvSpPr txBox="1"/>
          <p:nvPr/>
        </p:nvSpPr>
        <p:spPr>
          <a:xfrm>
            <a:off x="190500" y="3498419"/>
            <a:ext cx="1122040" cy="186689"/>
          </a:xfrm>
          <a:prstGeom prst="rect">
            <a:avLst/>
          </a:prstGeom>
          <a:noFill/>
        </p:spPr>
        <p:txBody>
          <a:bodyPr wrap="none" lIns="0" rIns="0" tIns="0" bIns="0">
            <a:spAutoFit/>
          </a:bodyPr>
          <a:lstStyle/>
          <a:p>
            <a:r>
              <a:rPr sz="1100" b="0">
                <a:solidFill>
                  <a:srgbClr val="2E2E2E"/>
                </a:solidFill>
                <a:latin typeface="Calibri"/>
              </a:rPr>
              <a:t>'U.S.' grows at just</a:t>
            </a:r>
          </a:p>
        </p:txBody>
      </p:sp>
      <p:pic>
        <p:nvPicPr>
          <p:cNvPr id="72" name="Picture 71" descr="lock.png"/>
          <p:cNvPicPr>
            <a:picLocks noChangeAspect="1"/>
          </p:cNvPicPr>
          <p:nvPr/>
        </p:nvPicPr>
        <p:blipFill>
          <a:blip r:embed="rId4"/>
          <a:stretch>
            <a:fillRect/>
          </a:stretch>
        </p:blipFill>
        <p:spPr>
          <a:xfrm>
            <a:off x="1260591" y="3488640"/>
            <a:ext cx="128699" cy="187198"/>
          </a:xfrm>
          <a:prstGeom prst="rect">
            <a:avLst/>
          </a:prstGeom>
        </p:spPr>
      </p:pic>
      <p:sp>
        <p:nvSpPr>
          <p:cNvPr id="73" name="TextBox 72"/>
          <p:cNvSpPr txBox="1"/>
          <p:nvPr/>
        </p:nvSpPr>
        <p:spPr>
          <a:xfrm>
            <a:off x="1428087" y="3498419"/>
            <a:ext cx="469907"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74" name="Picture 73" descr="lock.png"/>
          <p:cNvPicPr>
            <a:picLocks noChangeAspect="1"/>
          </p:cNvPicPr>
          <p:nvPr/>
        </p:nvPicPr>
        <p:blipFill>
          <a:blip r:embed="rId4"/>
          <a:stretch>
            <a:fillRect/>
          </a:stretch>
        </p:blipFill>
        <p:spPr>
          <a:xfrm>
            <a:off x="1846046" y="3488640"/>
            <a:ext cx="128699" cy="187198"/>
          </a:xfrm>
          <a:prstGeom prst="rect">
            <a:avLst/>
          </a:prstGeom>
        </p:spPr>
      </p:pic>
      <p:sp>
        <p:nvSpPr>
          <p:cNvPr id="75" name="TextBox 74"/>
          <p:cNvSpPr txBox="1"/>
          <p:nvPr/>
        </p:nvSpPr>
        <p:spPr>
          <a:xfrm>
            <a:off x="2013542" y="3498419"/>
            <a:ext cx="7302946" cy="186689"/>
          </a:xfrm>
          <a:prstGeom prst="rect">
            <a:avLst/>
          </a:prstGeom>
          <a:noFill/>
        </p:spPr>
        <p:txBody>
          <a:bodyPr wrap="none" lIns="0" rIns="0" tIns="0" bIns="0">
            <a:spAutoFit/>
          </a:bodyPr>
          <a:lstStyle/>
          <a:p>
            <a:r>
              <a:rPr sz="1100" b="0">
                <a:solidFill>
                  <a:srgbClr val="2E2E2E"/>
                </a:solidFill>
                <a:latin typeface="Calibri"/>
              </a:rPr>
              <a:t>BPS against the market and 1 of 2 countries sit below the market pace altogether. Demand is therefore not uniformly available:</a:t>
            </a:r>
          </a:p>
        </p:txBody>
      </p:sp>
      <p:sp>
        <p:nvSpPr>
          <p:cNvPr id="76" name="TextBox 75"/>
          <p:cNvSpPr txBox="1"/>
          <p:nvPr/>
        </p:nvSpPr>
        <p:spPr>
          <a:xfrm>
            <a:off x="190500" y="3666059"/>
            <a:ext cx="7550150" cy="186689"/>
          </a:xfrm>
          <a:prstGeom prst="rect">
            <a:avLst/>
          </a:prstGeom>
          <a:noFill/>
        </p:spPr>
        <p:txBody>
          <a:bodyPr wrap="none" lIns="0" rIns="0" tIns="0" bIns="0">
            <a:spAutoFit/>
          </a:bodyPr>
          <a:lstStyle/>
          <a:p>
            <a:r>
              <a:rPr sz="1100" b="0">
                <a:solidFill>
                  <a:srgbClr val="2E2E2E"/>
                </a:solidFill>
                <a:latin typeface="Calibri"/>
              </a:rPr>
              <a:t>suppliers carrying a broad geographic footprint fund presence in slow countries out of returns earned in the fast ones. With 'U.S.' at</a:t>
            </a:r>
          </a:p>
        </p:txBody>
      </p:sp>
      <p:pic>
        <p:nvPicPr>
          <p:cNvPr id="77" name="Picture 76" descr="lock.png"/>
          <p:cNvPicPr>
            <a:picLocks noChangeAspect="1"/>
          </p:cNvPicPr>
          <p:nvPr/>
        </p:nvPicPr>
        <p:blipFill>
          <a:blip r:embed="rId4"/>
          <a:stretch>
            <a:fillRect/>
          </a:stretch>
        </p:blipFill>
        <p:spPr>
          <a:xfrm>
            <a:off x="7688701" y="3656280"/>
            <a:ext cx="128699" cy="187198"/>
          </a:xfrm>
          <a:prstGeom prst="rect">
            <a:avLst/>
          </a:prstGeom>
        </p:spPr>
      </p:pic>
      <p:sp>
        <p:nvSpPr>
          <p:cNvPr id="78" name="TextBox 77"/>
          <p:cNvSpPr txBox="1"/>
          <p:nvPr/>
        </p:nvSpPr>
        <p:spPr>
          <a:xfrm>
            <a:off x="7856197" y="3666059"/>
            <a:ext cx="1401167" cy="186689"/>
          </a:xfrm>
          <a:prstGeom prst="rect">
            <a:avLst/>
          </a:prstGeom>
          <a:noFill/>
        </p:spPr>
        <p:txBody>
          <a:bodyPr wrap="none" lIns="0" rIns="0" tIns="0" bIns="0">
            <a:spAutoFit/>
          </a:bodyPr>
          <a:lstStyle/>
          <a:p>
            <a:r>
              <a:rPr sz="1100" b="0">
                <a:solidFill>
                  <a:srgbClr val="2E2E2E"/>
                </a:solidFill>
                <a:latin typeface="Calibri"/>
              </a:rPr>
              <a:t>of value, a shortfall in a</a:t>
            </a:r>
          </a:p>
        </p:txBody>
      </p:sp>
      <p:sp>
        <p:nvSpPr>
          <p:cNvPr id="79" name="TextBox 78"/>
          <p:cNvSpPr txBox="1"/>
          <p:nvPr/>
        </p:nvSpPr>
        <p:spPr>
          <a:xfrm>
            <a:off x="190500" y="3833699"/>
            <a:ext cx="4408537" cy="186689"/>
          </a:xfrm>
          <a:prstGeom prst="rect">
            <a:avLst/>
          </a:prstGeom>
          <a:noFill/>
        </p:spPr>
        <p:txBody>
          <a:bodyPr wrap="none" lIns="0" rIns="0" tIns="0" bIns="0">
            <a:spAutoFit/>
          </a:bodyPr>
          <a:lstStyle/>
          <a:p>
            <a:r>
              <a:rPr sz="1100" b="0">
                <a:solidFill>
                  <a:srgbClr val="2E2E2E"/>
                </a:solidFill>
                <a:latin typeface="Calibri"/>
              </a:rPr>
              <a:t>single leading country is difficult to offset elsewhere in the forecast window.</a:t>
            </a:r>
          </a:p>
        </p:txBody>
      </p:sp>
      <p:sp>
        <p:nvSpPr>
          <p:cNvPr id="80" name="TextBox 79"/>
          <p:cNvSpPr txBox="1"/>
          <p:nvPr/>
        </p:nvSpPr>
        <p:spPr>
          <a:xfrm>
            <a:off x="190500" y="5250774"/>
            <a:ext cx="2728044" cy="186689"/>
          </a:xfrm>
          <a:prstGeom prst="rect">
            <a:avLst/>
          </a:prstGeom>
          <a:noFill/>
        </p:spPr>
        <p:txBody>
          <a:bodyPr wrap="none" lIns="0" rIns="0" tIns="0" bIns="0">
            <a:spAutoFit/>
          </a:bodyPr>
          <a:lstStyle/>
          <a:p>
            <a:r>
              <a:rPr sz="1100" b="0">
                <a:solidFill>
                  <a:srgbClr val="2E2E2E"/>
                </a:solidFill>
                <a:latin typeface="Calibri"/>
              </a:rPr>
              <a:t>The market is concentrated: 'U.S.' accounts for</a:t>
            </a:r>
          </a:p>
        </p:txBody>
      </p:sp>
      <p:pic>
        <p:nvPicPr>
          <p:cNvPr id="81" name="Picture 80" descr="lock.png"/>
          <p:cNvPicPr>
            <a:picLocks noChangeAspect="1"/>
          </p:cNvPicPr>
          <p:nvPr/>
        </p:nvPicPr>
        <p:blipFill>
          <a:blip r:embed="rId4"/>
          <a:stretch>
            <a:fillRect/>
          </a:stretch>
        </p:blipFill>
        <p:spPr>
          <a:xfrm>
            <a:off x="2866595" y="5240995"/>
            <a:ext cx="128699" cy="187198"/>
          </a:xfrm>
          <a:prstGeom prst="rect">
            <a:avLst/>
          </a:prstGeom>
        </p:spPr>
      </p:pic>
      <p:sp>
        <p:nvSpPr>
          <p:cNvPr id="82" name="TextBox 81"/>
          <p:cNvSpPr txBox="1"/>
          <p:nvPr/>
        </p:nvSpPr>
        <p:spPr>
          <a:xfrm>
            <a:off x="3034091" y="5250774"/>
            <a:ext cx="2957512" cy="186689"/>
          </a:xfrm>
          <a:prstGeom prst="rect">
            <a:avLst/>
          </a:prstGeom>
          <a:noFill/>
        </p:spPr>
        <p:txBody>
          <a:bodyPr wrap="none" lIns="0" rIns="0" tIns="0" bIns="0">
            <a:spAutoFit/>
          </a:bodyPr>
          <a:lstStyle/>
          <a:p>
            <a:r>
              <a:rPr sz="1100" b="0">
                <a:solidFill>
                  <a:srgbClr val="2E2E2E"/>
                </a:solidFill>
                <a:latin typeface="Calibri"/>
              </a:rPr>
              <a:t>of 2036 value and the leading product type line for</a:t>
            </a:r>
          </a:p>
        </p:txBody>
      </p:sp>
      <p:pic>
        <p:nvPicPr>
          <p:cNvPr id="83" name="Picture 82" descr="lock.png"/>
          <p:cNvPicPr>
            <a:picLocks noChangeAspect="1"/>
          </p:cNvPicPr>
          <p:nvPr/>
        </p:nvPicPr>
        <p:blipFill>
          <a:blip r:embed="rId4"/>
          <a:stretch>
            <a:fillRect/>
          </a:stretch>
        </p:blipFill>
        <p:spPr>
          <a:xfrm>
            <a:off x="5939655" y="5240995"/>
            <a:ext cx="128699" cy="187198"/>
          </a:xfrm>
          <a:prstGeom prst="rect">
            <a:avLst/>
          </a:prstGeom>
        </p:spPr>
      </p:pic>
      <p:sp>
        <p:nvSpPr>
          <p:cNvPr id="84" name="TextBox 83"/>
          <p:cNvSpPr txBox="1"/>
          <p:nvPr/>
        </p:nvSpPr>
        <p:spPr>
          <a:xfrm>
            <a:off x="6107151" y="5250774"/>
            <a:ext cx="2445058" cy="186689"/>
          </a:xfrm>
          <a:prstGeom prst="rect">
            <a:avLst/>
          </a:prstGeom>
          <a:noFill/>
        </p:spPr>
        <p:txBody>
          <a:bodyPr wrap="none" lIns="0" rIns="0" tIns="0" bIns="0">
            <a:spAutoFit/>
          </a:bodyPr>
          <a:lstStyle/>
          <a:p>
            <a:r>
              <a:rPr sz="1100" b="0">
                <a:solidFill>
                  <a:srgbClr val="2E2E2E"/>
                </a:solidFill>
                <a:latin typeface="Calibri"/>
              </a:rPr>
              <a:t>of its segment. Average realisation moves</a:t>
            </a:r>
          </a:p>
        </p:txBody>
      </p:sp>
      <p:pic>
        <p:nvPicPr>
          <p:cNvPr id="85" name="Picture 84" descr="lock.png"/>
          <p:cNvPicPr>
            <a:picLocks noChangeAspect="1"/>
          </p:cNvPicPr>
          <p:nvPr/>
        </p:nvPicPr>
        <p:blipFill>
          <a:blip r:embed="rId4"/>
          <a:stretch>
            <a:fillRect/>
          </a:stretch>
        </p:blipFill>
        <p:spPr>
          <a:xfrm>
            <a:off x="8500262" y="5240995"/>
            <a:ext cx="128699" cy="187198"/>
          </a:xfrm>
          <a:prstGeom prst="rect">
            <a:avLst/>
          </a:prstGeom>
        </p:spPr>
      </p:pic>
      <p:sp>
        <p:nvSpPr>
          <p:cNvPr id="86" name="TextBox 85"/>
          <p:cNvSpPr txBox="1"/>
          <p:nvPr/>
        </p:nvSpPr>
        <p:spPr>
          <a:xfrm>
            <a:off x="8667757" y="5250774"/>
            <a:ext cx="618083" cy="186689"/>
          </a:xfrm>
          <a:prstGeom prst="rect">
            <a:avLst/>
          </a:prstGeom>
          <a:noFill/>
        </p:spPr>
        <p:txBody>
          <a:bodyPr wrap="none" lIns="0" rIns="0" tIns="0" bIns="0">
            <a:spAutoFit/>
          </a:bodyPr>
          <a:lstStyle/>
          <a:p>
            <a:r>
              <a:rPr sz="1100" b="0">
                <a:solidFill>
                  <a:srgbClr val="2E2E2E"/>
                </a:solidFill>
                <a:latin typeface="Calibri"/>
              </a:rPr>
              <a:t>a year, so</a:t>
            </a:r>
          </a:p>
        </p:txBody>
      </p:sp>
      <p:sp>
        <p:nvSpPr>
          <p:cNvPr id="87" name="TextBox 86"/>
          <p:cNvSpPr txBox="1"/>
          <p:nvPr/>
        </p:nvSpPr>
        <p:spPr>
          <a:xfrm>
            <a:off x="190500" y="5418414"/>
            <a:ext cx="9296945" cy="186689"/>
          </a:xfrm>
          <a:prstGeom prst="rect">
            <a:avLst/>
          </a:prstGeom>
          <a:noFill/>
        </p:spPr>
        <p:txBody>
          <a:bodyPr wrap="none" lIns="0" rIns="0" tIns="0" bIns="0">
            <a:spAutoFit/>
          </a:bodyPr>
          <a:lstStyle/>
          <a:p>
            <a:r>
              <a:rPr sz="1100" b="0">
                <a:solidFill>
                  <a:srgbClr val="2E2E2E"/>
                </a:solidFill>
                <a:latin typeface="Calibri"/>
              </a:rPr>
              <a:t>cost movements cannot be passed on evenly across 2 countries. The practical constraint is the same in either case commercial terms set for the market as a whole</a:t>
            </a:r>
          </a:p>
        </p:txBody>
      </p:sp>
      <p:sp>
        <p:nvSpPr>
          <p:cNvPr id="88" name="TextBox 87"/>
          <p:cNvSpPr txBox="1"/>
          <p:nvPr/>
        </p:nvSpPr>
        <p:spPr>
          <a:xfrm>
            <a:off x="190500" y="5586054"/>
            <a:ext cx="5559970" cy="186689"/>
          </a:xfrm>
          <a:prstGeom prst="rect">
            <a:avLst/>
          </a:prstGeom>
          <a:noFill/>
        </p:spPr>
        <p:txBody>
          <a:bodyPr wrap="none" lIns="0" rIns="0" tIns="0" bIns="0">
            <a:spAutoFit/>
          </a:bodyPr>
          <a:lstStyle/>
          <a:p>
            <a:r>
              <a:rPr sz="1100" b="0">
                <a:solidFill>
                  <a:srgbClr val="2E2E2E"/>
                </a:solidFill>
                <a:latin typeface="Calibri"/>
              </a:rPr>
              <a:t>underserve part of it, and margin is lost in the mismatch rather than in the headline growth rate.</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North America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Canada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Foodservice and institutional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46064"/>
            <a:ext cx="662012" cy="186689"/>
          </a:xfrm>
          <a:prstGeom prst="rect">
            <a:avLst/>
          </a:prstGeom>
          <a:noFill/>
        </p:spPr>
        <p:txBody>
          <a:bodyPr wrap="none" lIns="0" rIns="0" tIns="0" bIns="0">
            <a:spAutoFit/>
          </a:bodyPr>
          <a:lstStyle/>
          <a:p>
            <a:r>
              <a:rPr sz="1100" b="0">
                <a:solidFill>
                  <a:srgbClr val="2E2E2E"/>
                </a:solidFill>
                <a:latin typeface="Calibri"/>
              </a:rPr>
              <a:t>'U.S.' adds</a:t>
            </a:r>
          </a:p>
        </p:txBody>
      </p:sp>
      <p:pic>
        <p:nvPicPr>
          <p:cNvPr id="65" name="Picture 64" descr="lock.png"/>
          <p:cNvPicPr>
            <a:picLocks noChangeAspect="1"/>
          </p:cNvPicPr>
          <p:nvPr/>
        </p:nvPicPr>
        <p:blipFill>
          <a:blip r:embed="rId4"/>
          <a:stretch>
            <a:fillRect/>
          </a:stretch>
        </p:blipFill>
        <p:spPr>
          <a:xfrm>
            <a:off x="800563" y="1736285"/>
            <a:ext cx="128699" cy="187198"/>
          </a:xfrm>
          <a:prstGeom prst="rect">
            <a:avLst/>
          </a:prstGeom>
        </p:spPr>
      </p:pic>
      <p:sp>
        <p:nvSpPr>
          <p:cNvPr id="66" name="TextBox 65"/>
          <p:cNvSpPr txBox="1"/>
          <p:nvPr/>
        </p:nvSpPr>
        <p:spPr>
          <a:xfrm>
            <a:off x="968059" y="1746064"/>
            <a:ext cx="8433097" cy="186689"/>
          </a:xfrm>
          <a:prstGeom prst="rect">
            <a:avLst/>
          </a:prstGeom>
          <a:noFill/>
        </p:spPr>
        <p:txBody>
          <a:bodyPr wrap="none" lIns="0" rIns="0" t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7" name="TextBox 66"/>
          <p:cNvSpPr txBox="1"/>
          <p:nvPr/>
        </p:nvSpPr>
        <p:spPr>
          <a:xfrm>
            <a:off x="190500" y="1913704"/>
            <a:ext cx="3769245" cy="186689"/>
          </a:xfrm>
          <a:prstGeom prst="rect">
            <a:avLst/>
          </a:prstGeom>
          <a:noFill/>
        </p:spPr>
        <p:txBody>
          <a:bodyPr wrap="none" lIns="0" rIns="0" tIns="0" bIns="0">
            <a:spAutoFit/>
          </a:bodyPr>
          <a:lstStyle/>
          <a:p>
            <a:r>
              <a:rPr sz="1100" b="0">
                <a:solidFill>
                  <a:srgbClr val="2E2E2E"/>
                </a:solidFill>
                <a:latin typeface="Calibri"/>
              </a:rPr>
              <a:t>rather than market creation: demand already exists and grows at</a:t>
            </a:r>
          </a:p>
        </p:txBody>
      </p:sp>
      <p:pic>
        <p:nvPicPr>
          <p:cNvPr id="68" name="Picture 67" descr="lock.png"/>
          <p:cNvPicPr>
            <a:picLocks noChangeAspect="1"/>
          </p:cNvPicPr>
          <p:nvPr/>
        </p:nvPicPr>
        <p:blipFill>
          <a:blip r:embed="rId4"/>
          <a:stretch>
            <a:fillRect/>
          </a:stretch>
        </p:blipFill>
        <p:spPr>
          <a:xfrm>
            <a:off x="3907797" y="1903925"/>
            <a:ext cx="128699" cy="187198"/>
          </a:xfrm>
          <a:prstGeom prst="rect">
            <a:avLst/>
          </a:prstGeom>
        </p:spPr>
      </p:pic>
      <p:sp>
        <p:nvSpPr>
          <p:cNvPr id="69" name="TextBox 68"/>
          <p:cNvSpPr txBox="1"/>
          <p:nvPr/>
        </p:nvSpPr>
        <p:spPr>
          <a:xfrm>
            <a:off x="4075293" y="1913704"/>
            <a:ext cx="5402535" cy="186689"/>
          </a:xfrm>
          <a:prstGeom prst="rect">
            <a:avLst/>
          </a:prstGeom>
          <a:noFill/>
        </p:spPr>
        <p:txBody>
          <a:bodyPr wrap="none" lIns="0" rIns="0" tIns="0" bIns="0">
            <a:spAutoFit/>
          </a:bodyPr>
          <a:lstStyle/>
          <a:p>
            <a:r>
              <a:rPr sz="1100" b="0">
                <a:solidFill>
                  <a:srgbClr val="2E2E2E"/>
                </a:solidFill>
                <a:latin typeface="Calibri"/>
              </a:rPr>
              <a:t>at the market level. Prioritising supply, channel coverage and service levels there converts the</a:t>
            </a:r>
          </a:p>
        </p:txBody>
      </p:sp>
      <p:sp>
        <p:nvSpPr>
          <p:cNvPr id="70" name="TextBox 69"/>
          <p:cNvSpPr txBox="1"/>
          <p:nvPr/>
        </p:nvSpPr>
        <p:spPr>
          <a:xfrm>
            <a:off x="190500" y="2081344"/>
            <a:ext cx="1175246" cy="186689"/>
          </a:xfrm>
          <a:prstGeom prst="rect">
            <a:avLst/>
          </a:prstGeom>
          <a:noFill/>
        </p:spPr>
        <p:txBody>
          <a:bodyPr wrap="none" lIns="0" rIns="0" tIns="0" bIns="0">
            <a:spAutoFit/>
          </a:bodyPr>
          <a:lstStyle/>
          <a:p>
            <a:r>
              <a:rPr sz="1100" b="0">
                <a:solidFill>
                  <a:srgbClr val="2E2E2E"/>
                </a:solidFill>
                <a:latin typeface="Calibri"/>
              </a:rPr>
              <a:t>largest share of the</a:t>
            </a:r>
          </a:p>
        </p:txBody>
      </p:sp>
      <p:pic>
        <p:nvPicPr>
          <p:cNvPr id="71" name="Picture 70" descr="lock.png"/>
          <p:cNvPicPr>
            <a:picLocks noChangeAspect="1"/>
          </p:cNvPicPr>
          <p:nvPr/>
        </p:nvPicPr>
        <p:blipFill>
          <a:blip r:embed="rId4"/>
          <a:stretch>
            <a:fillRect/>
          </a:stretch>
        </p:blipFill>
        <p:spPr>
          <a:xfrm>
            <a:off x="1313797" y="2071565"/>
            <a:ext cx="128699" cy="187198"/>
          </a:xfrm>
          <a:prstGeom prst="rect">
            <a:avLst/>
          </a:prstGeom>
        </p:spPr>
      </p:pic>
      <p:sp>
        <p:nvSpPr>
          <p:cNvPr id="72" name="TextBox 71"/>
          <p:cNvSpPr txBox="1"/>
          <p:nvPr/>
        </p:nvSpPr>
        <p:spPr>
          <a:xfrm>
            <a:off x="1481293" y="2081344"/>
            <a:ext cx="3306489" cy="186689"/>
          </a:xfrm>
          <a:prstGeom prst="rect">
            <a:avLst/>
          </a:prstGeom>
          <a:noFill/>
        </p:spPr>
        <p:txBody>
          <a:bodyPr wrap="none" lIns="0" rIns="0" tIns="0" bIns="0">
            <a:spAutoFit/>
          </a:bodyPr>
          <a:lstStyle/>
          <a:p>
            <a:r>
              <a:rPr sz="1100" b="0">
                <a:solidFill>
                  <a:srgbClr val="2E2E2E"/>
                </a:solidFill>
                <a:latin typeface="Calibri"/>
              </a:rPr>
              <a:t>US$ Mn the whole market adds over the forecast period.</a:t>
            </a:r>
          </a:p>
        </p:txBody>
      </p:sp>
      <p:sp>
        <p:nvSpPr>
          <p:cNvPr id="73" name="TextBox 72"/>
          <p:cNvSpPr txBox="1"/>
          <p:nvPr/>
        </p:nvSpPr>
        <p:spPr>
          <a:xfrm>
            <a:off x="190500" y="3498419"/>
            <a:ext cx="1403077" cy="186689"/>
          </a:xfrm>
          <a:prstGeom prst="rect">
            <a:avLst/>
          </a:prstGeom>
          <a:noFill/>
        </p:spPr>
        <p:txBody>
          <a:bodyPr wrap="none" lIns="0" rIns="0" tIns="0" bIns="0">
            <a:spAutoFit/>
          </a:bodyPr>
          <a:lstStyle/>
          <a:p>
            <a:r>
              <a:rPr sz="1100" b="0">
                <a:solidFill>
                  <a:srgbClr val="2E2E2E"/>
                </a:solidFill>
                <a:latin typeface="Calibri"/>
              </a:rPr>
              <a:t>'Canada' compounds at</a:t>
            </a:r>
          </a:p>
        </p:txBody>
      </p:sp>
      <p:pic>
        <p:nvPicPr>
          <p:cNvPr id="74" name="Picture 73" descr="lock.png"/>
          <p:cNvPicPr>
            <a:picLocks noChangeAspect="1"/>
          </p:cNvPicPr>
          <p:nvPr/>
        </p:nvPicPr>
        <p:blipFill>
          <a:blip r:embed="rId4"/>
          <a:stretch>
            <a:fillRect/>
          </a:stretch>
        </p:blipFill>
        <p:spPr>
          <a:xfrm>
            <a:off x="1541628" y="3488640"/>
            <a:ext cx="128699" cy="187198"/>
          </a:xfrm>
          <a:prstGeom prst="rect">
            <a:avLst/>
          </a:prstGeom>
        </p:spPr>
      </p:pic>
      <p:sp>
        <p:nvSpPr>
          <p:cNvPr id="75" name="TextBox 74"/>
          <p:cNvSpPr txBox="1"/>
          <p:nvPr/>
        </p:nvSpPr>
        <p:spPr>
          <a:xfrm>
            <a:off x="1709124" y="3498419"/>
            <a:ext cx="7602247" cy="186689"/>
          </a:xfrm>
          <a:prstGeom prst="rect">
            <a:avLst/>
          </a:prstGeom>
          <a:noFill/>
        </p:spPr>
        <p:txBody>
          <a:bodyPr wrap="none" lIns="0" rIns="0" tIns="0" bIns="0">
            <a:spAutoFit/>
          </a:bodyPr>
          <a:lstStyle/>
          <a:p>
            <a:r>
              <a:rPr sz="1100" b="0">
                <a:solidFill>
                  <a:srgbClr val="2E2E2E"/>
                </a:solidFill>
                <a:latin typeface="Calibri"/>
              </a:rPr>
              <a:t>CAGR from a below-median base one of 1 geographies in the dataset combining above-median growth with below-median size. That</a:t>
            </a:r>
          </a:p>
        </p:txBody>
      </p:sp>
      <p:sp>
        <p:nvSpPr>
          <p:cNvPr id="76" name="TextBox 75"/>
          <p:cNvSpPr txBox="1"/>
          <p:nvPr/>
        </p:nvSpPr>
        <p:spPr>
          <a:xfrm>
            <a:off x="190500" y="3666059"/>
            <a:ext cx="7138416" cy="186689"/>
          </a:xfrm>
          <a:prstGeom prst="rect">
            <a:avLst/>
          </a:prstGeom>
          <a:noFill/>
        </p:spPr>
        <p:txBody>
          <a:bodyPr wrap="none" lIns="0" rIns="0" tIns="0" bIns="0">
            <a:spAutoFit/>
          </a:bodyPr>
          <a:lstStyle/>
          <a:p>
            <a:r>
              <a:rPr sz="1100" b="0">
                <a:solidFill>
                  <a:srgbClr val="2E2E2E"/>
                </a:solidFill>
                <a:latin typeface="Calibri"/>
              </a:rPr>
              <a:t>profile is where share is cheapest to buy: competitive intensity is lower than in the 67.4%-share leaders, while growth runs +</a:t>
            </a:r>
          </a:p>
        </p:txBody>
      </p:sp>
      <p:pic>
        <p:nvPicPr>
          <p:cNvPr id="77" name="Picture 76" descr="lock.png"/>
          <p:cNvPicPr>
            <a:picLocks noChangeAspect="1"/>
          </p:cNvPicPr>
          <p:nvPr/>
        </p:nvPicPr>
        <p:blipFill>
          <a:blip r:embed="rId4"/>
          <a:stretch>
            <a:fillRect/>
          </a:stretch>
        </p:blipFill>
        <p:spPr>
          <a:xfrm>
            <a:off x="7276968" y="3656280"/>
            <a:ext cx="128699" cy="187198"/>
          </a:xfrm>
          <a:prstGeom prst="rect">
            <a:avLst/>
          </a:prstGeom>
        </p:spPr>
      </p:pic>
      <p:sp>
        <p:nvSpPr>
          <p:cNvPr id="78" name="TextBox 77"/>
          <p:cNvSpPr txBox="1"/>
          <p:nvPr/>
        </p:nvSpPr>
        <p:spPr>
          <a:xfrm>
            <a:off x="7444464" y="3666059"/>
            <a:ext cx="1825144" cy="186689"/>
          </a:xfrm>
          <a:prstGeom prst="rect">
            <a:avLst/>
          </a:prstGeom>
          <a:noFill/>
        </p:spPr>
        <p:txBody>
          <a:bodyPr wrap="none" lIns="0" rIns="0" tIns="0" bIns="0">
            <a:spAutoFit/>
          </a:bodyPr>
          <a:lstStyle/>
          <a:p>
            <a:r>
              <a:rPr sz="1100" b="0">
                <a:solidFill>
                  <a:srgbClr val="2E2E2E"/>
                </a:solidFill>
                <a:latin typeface="Calibri"/>
              </a:rPr>
              <a:t>BPS ahead of the market. Early</a:t>
            </a:r>
          </a:p>
        </p:txBody>
      </p:sp>
      <p:sp>
        <p:nvSpPr>
          <p:cNvPr id="79" name="TextBox 78"/>
          <p:cNvSpPr txBox="1"/>
          <p:nvPr/>
        </p:nvSpPr>
        <p:spPr>
          <a:xfrm>
            <a:off x="190500" y="3833699"/>
            <a:ext cx="4556695" cy="186689"/>
          </a:xfrm>
          <a:prstGeom prst="rect">
            <a:avLst/>
          </a:prstGeom>
          <a:noFill/>
        </p:spPr>
        <p:txBody>
          <a:bodyPr wrap="none" lIns="0" rIns="0" tIns="0" bIns="0">
            <a:spAutoFit/>
          </a:bodyPr>
          <a:lstStyle/>
          <a:p>
            <a:r>
              <a:rPr sz="1100" b="0">
                <a:solidFill>
                  <a:srgbClr val="2E2E2E"/>
                </a:solidFill>
                <a:latin typeface="Calibri"/>
              </a:rPr>
              <a:t>distribution and reference accounts established here compound through 2036.</a:t>
            </a:r>
          </a:p>
        </p:txBody>
      </p:sp>
      <p:sp>
        <p:nvSpPr>
          <p:cNvPr id="80" name="TextBox 79"/>
          <p:cNvSpPr txBox="1"/>
          <p:nvPr/>
        </p:nvSpPr>
        <p:spPr>
          <a:xfrm>
            <a:off x="190500" y="5250774"/>
            <a:ext cx="2301274" cy="186689"/>
          </a:xfrm>
          <a:prstGeom prst="rect">
            <a:avLst/>
          </a:prstGeom>
          <a:noFill/>
        </p:spPr>
        <p:txBody>
          <a:bodyPr wrap="none" lIns="0" rIns="0" tIns="0" bIns="0">
            <a:spAutoFit/>
          </a:bodyPr>
          <a:lstStyle/>
          <a:p>
            <a:r>
              <a:rPr sz="1100" b="0">
                <a:solidFill>
                  <a:srgbClr val="2E2E2E"/>
                </a:solidFill>
                <a:latin typeface="Calibri"/>
              </a:rPr>
              <a:t>'Foodservice and institutional' grows at</a:t>
            </a:r>
          </a:p>
        </p:txBody>
      </p:sp>
      <p:pic>
        <p:nvPicPr>
          <p:cNvPr id="81" name="Picture 80" descr="lock.png"/>
          <p:cNvPicPr>
            <a:picLocks noChangeAspect="1"/>
          </p:cNvPicPr>
          <p:nvPr/>
        </p:nvPicPr>
        <p:blipFill>
          <a:blip r:embed="rId4"/>
          <a:stretch>
            <a:fillRect/>
          </a:stretch>
        </p:blipFill>
        <p:spPr>
          <a:xfrm>
            <a:off x="2439826" y="5240995"/>
            <a:ext cx="128699" cy="187198"/>
          </a:xfrm>
          <a:prstGeom prst="rect">
            <a:avLst/>
          </a:prstGeom>
        </p:spPr>
      </p:pic>
      <p:sp>
        <p:nvSpPr>
          <p:cNvPr id="82" name="TextBox 81"/>
          <p:cNvSpPr txBox="1"/>
          <p:nvPr/>
        </p:nvSpPr>
        <p:spPr>
          <a:xfrm>
            <a:off x="2607322" y="5250774"/>
            <a:ext cx="3083825" cy="186689"/>
          </a:xfrm>
          <a:prstGeom prst="rect">
            <a:avLst/>
          </a:prstGeom>
          <a:noFill/>
        </p:spPr>
        <p:txBody>
          <a:bodyPr wrap="none" lIns="0" rIns="0" tIns="0" bIns="0">
            <a:spAutoFit/>
          </a:bodyPr>
          <a:lstStyle/>
          <a:p>
            <a:r>
              <a:rPr sz="1100" b="0">
                <a:solidFill>
                  <a:srgbClr val="2E2E2E"/>
                </a:solidFill>
                <a:latin typeface="Calibri"/>
              </a:rPr>
              <a:t>CAGR, the fastest of 3 sales channel routes, and adds</a:t>
            </a:r>
          </a:p>
        </p:txBody>
      </p:sp>
      <p:pic>
        <p:nvPicPr>
          <p:cNvPr id="83" name="Picture 82" descr="lock.png"/>
          <p:cNvPicPr>
            <a:picLocks noChangeAspect="1"/>
          </p:cNvPicPr>
          <p:nvPr/>
        </p:nvPicPr>
        <p:blipFill>
          <a:blip r:embed="rId4"/>
          <a:stretch>
            <a:fillRect/>
          </a:stretch>
        </p:blipFill>
        <p:spPr>
          <a:xfrm>
            <a:off x="5639199" y="5240995"/>
            <a:ext cx="128699" cy="187198"/>
          </a:xfrm>
          <a:prstGeom prst="rect">
            <a:avLst/>
          </a:prstGeom>
        </p:spPr>
      </p:pic>
      <p:sp>
        <p:nvSpPr>
          <p:cNvPr id="84" name="TextBox 83"/>
          <p:cNvSpPr txBox="1"/>
          <p:nvPr/>
        </p:nvSpPr>
        <p:spPr>
          <a:xfrm>
            <a:off x="5806695" y="5250774"/>
            <a:ext cx="3327772" cy="186689"/>
          </a:xfrm>
          <a:prstGeom prst="rect">
            <a:avLst/>
          </a:prstGeom>
          <a:noFill/>
        </p:spPr>
        <p:txBody>
          <a:bodyPr wrap="none" lIns="0" rIns="0" tIns="0" bIns="0">
            <a:spAutoFit/>
          </a:bodyPr>
          <a:lstStyle/>
          <a:p>
            <a:r>
              <a:rPr sz="1100" b="0">
                <a:solidFill>
                  <a:srgbClr val="2E2E2E"/>
                </a:solidFill>
                <a:latin typeface="Calibri"/>
              </a:rPr>
              <a:t>US$ Mn over the forecast period while 'Retail' still carries</a:t>
            </a:r>
          </a:p>
        </p:txBody>
      </p:sp>
      <p:pic>
        <p:nvPicPr>
          <p:cNvPr id="85" name="Picture 84" descr="lock.png"/>
          <p:cNvPicPr>
            <a:picLocks noChangeAspect="1"/>
          </p:cNvPicPr>
          <p:nvPr/>
        </p:nvPicPr>
        <p:blipFill>
          <a:blip r:embed="rId4"/>
          <a:stretch>
            <a:fillRect/>
          </a:stretch>
        </p:blipFill>
        <p:spPr>
          <a:xfrm>
            <a:off x="9082518" y="5240995"/>
            <a:ext cx="128699" cy="187198"/>
          </a:xfrm>
          <a:prstGeom prst="rect">
            <a:avLst/>
          </a:prstGeom>
        </p:spPr>
      </p:pic>
      <p:sp>
        <p:nvSpPr>
          <p:cNvPr id="86" name="TextBox 85"/>
          <p:cNvSpPr txBox="1"/>
          <p:nvPr/>
        </p:nvSpPr>
        <p:spPr>
          <a:xfrm>
            <a:off x="190500" y="5418414"/>
            <a:ext cx="7293942" cy="186689"/>
          </a:xfrm>
          <a:prstGeom prst="rect">
            <a:avLst/>
          </a:prstGeom>
          <a:noFill/>
        </p:spPr>
        <p:txBody>
          <a:bodyPr wrap="none" lIns="0" rIns="0" tIns="0" bIns="0">
            <a:spAutoFit/>
          </a:bodyPr>
          <a:lstStyle/>
          <a:p>
            <a:r>
              <a:rPr sz="1100" b="0">
                <a:solidFill>
                  <a:srgbClr val="2E2E2E"/>
                </a:solidFill>
                <a:latin typeface="Calibri"/>
              </a:rPr>
              <a:t>of demand today. Pairing the incumbent route for volume with the fastest route for growth and leading with 'Sweet muffins' at</a:t>
            </a:r>
          </a:p>
        </p:txBody>
      </p:sp>
      <p:pic>
        <p:nvPicPr>
          <p:cNvPr id="87" name="Picture 86" descr="lock.png"/>
          <p:cNvPicPr>
            <a:picLocks noChangeAspect="1"/>
          </p:cNvPicPr>
          <p:nvPr/>
        </p:nvPicPr>
        <p:blipFill>
          <a:blip r:embed="rId4"/>
          <a:stretch>
            <a:fillRect/>
          </a:stretch>
        </p:blipFill>
        <p:spPr>
          <a:xfrm>
            <a:off x="7432493" y="5408635"/>
            <a:ext cx="128699" cy="187198"/>
          </a:xfrm>
          <a:prstGeom prst="rect">
            <a:avLst/>
          </a:prstGeom>
        </p:spPr>
      </p:pic>
      <p:sp>
        <p:nvSpPr>
          <p:cNvPr id="88" name="TextBox 87"/>
          <p:cNvSpPr txBox="1"/>
          <p:nvPr/>
        </p:nvSpPr>
        <p:spPr>
          <a:xfrm>
            <a:off x="7599989" y="5418414"/>
            <a:ext cx="1893664" cy="186689"/>
          </a:xfrm>
          <a:prstGeom prst="rect">
            <a:avLst/>
          </a:prstGeom>
          <a:noFill/>
        </p:spPr>
        <p:txBody>
          <a:bodyPr wrap="none" lIns="0" rIns="0" tIns="0" bIns="0">
            <a:spAutoFit/>
          </a:bodyPr>
          <a:lstStyle/>
          <a:p>
            <a:r>
              <a:rPr sz="1100" b="0">
                <a:solidFill>
                  <a:srgbClr val="2E2E2E"/>
                </a:solidFill>
                <a:latin typeface="Calibri"/>
              </a:rPr>
              <a:t>is the highest-yield combination</a:t>
            </a:r>
          </a:p>
        </p:txBody>
      </p:sp>
      <p:sp>
        <p:nvSpPr>
          <p:cNvPr id="89" name="TextBox 88"/>
          <p:cNvSpPr txBox="1"/>
          <p:nvPr/>
        </p:nvSpPr>
        <p:spPr>
          <a:xfrm>
            <a:off x="190500" y="5586054"/>
            <a:ext cx="1288479" cy="186689"/>
          </a:xfrm>
          <a:prstGeom prst="rect">
            <a:avLst/>
          </a:prstGeom>
          <a:noFill/>
        </p:spPr>
        <p:txBody>
          <a:bodyPr wrap="none" lIns="0" rIns="0" tIns="0" bIns="0">
            <a:spAutoFit/>
          </a:bodyPr>
          <a:lstStyle/>
          <a:p>
            <a:r>
              <a:rPr sz="1100" b="0">
                <a:solidFill>
                  <a:srgbClr val="2E2E2E"/>
                </a:solidFill>
                <a:latin typeface="Calibri"/>
              </a:rPr>
              <a:t>the dataset supports.</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Packaged Muffins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North America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597199"/>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597199"/>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597199"/>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819551"/>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8" name="Rectangle 17"/>
          <p:cNvSpPr/>
          <p:nvPr/>
        </p:nvSpPr>
        <p:spPr>
          <a:xfrm>
            <a:off x="142875" y="2914773"/>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91477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91477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332091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4128643"/>
            <a:ext cx="11906250" cy="1213871"/>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412864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4" name="Connector 23"/>
          <p:cNvCxnSpPr/>
          <p:nvPr/>
        </p:nvCxnSpPr>
        <p:spPr>
          <a:xfrm>
            <a:off x="1571625" y="412864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453478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Rectangle 25"/>
          <p:cNvSpPr/>
          <p:nvPr/>
        </p:nvSpPr>
        <p:spPr>
          <a:xfrm>
            <a:off x="142875" y="5342514"/>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5342514"/>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28" name="Connector 27"/>
          <p:cNvCxnSpPr/>
          <p:nvPr/>
        </p:nvCxnSpPr>
        <p:spPr>
          <a:xfrm>
            <a:off x="1571625" y="5342514"/>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5748660"/>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1743075" y="1948533"/>
            <a:ext cx="3983980" cy="186689"/>
          </a:xfrm>
          <a:prstGeom prst="rect">
            <a:avLst/>
          </a:prstGeom>
          <a:noFill/>
        </p:spPr>
        <p:txBody>
          <a:bodyPr wrap="none" lIns="0" rIns="0" tIns="0" bIns="0">
            <a:spAutoFit/>
          </a:bodyPr>
          <a:lstStyle/>
          <a:p>
            <a:r>
              <a:rPr sz="1100" b="0">
                <a:solidFill>
                  <a:srgbClr val="2E2E2E"/>
                </a:solidFill>
                <a:latin typeface="Calibri"/>
              </a:rPr>
              <a:t>Strongest historical expansion on record: North America value rose +</a:t>
            </a:r>
          </a:p>
        </p:txBody>
      </p:sp>
      <p:pic>
        <p:nvPicPr>
          <p:cNvPr id="32" name="Picture 31" descr="lock.png"/>
          <p:cNvPicPr>
            <a:picLocks noChangeAspect="1"/>
          </p:cNvPicPr>
          <p:nvPr/>
        </p:nvPicPr>
        <p:blipFill>
          <a:blip r:embed="rId4"/>
          <a:stretch>
            <a:fillRect/>
          </a:stretch>
        </p:blipFill>
        <p:spPr>
          <a:xfrm>
            <a:off x="5675106" y="1938754"/>
            <a:ext cx="128699" cy="187198"/>
          </a:xfrm>
          <a:prstGeom prst="rect">
            <a:avLst/>
          </a:prstGeom>
        </p:spPr>
      </p:pic>
      <p:sp>
        <p:nvSpPr>
          <p:cNvPr id="33" name="TextBox 32"/>
          <p:cNvSpPr txBox="1"/>
          <p:nvPr/>
        </p:nvSpPr>
        <p:spPr>
          <a:xfrm>
            <a:off x="5842602" y="1948533"/>
            <a:ext cx="935955" cy="186689"/>
          </a:xfrm>
          <a:prstGeom prst="rect">
            <a:avLst/>
          </a:prstGeom>
          <a:noFill/>
        </p:spPr>
        <p:txBody>
          <a:bodyPr wrap="none" lIns="0" rIns="0" tIns="0" bIns="0">
            <a:spAutoFit/>
          </a:bodyPr>
          <a:lstStyle/>
          <a:p>
            <a:r>
              <a:rPr sz="1100" b="0">
                <a:solidFill>
                  <a:srgbClr val="2E2E2E"/>
                </a:solidFill>
                <a:latin typeface="Calibri"/>
              </a:rPr>
              <a:t>year on year to</a:t>
            </a:r>
          </a:p>
        </p:txBody>
      </p:sp>
      <p:pic>
        <p:nvPicPr>
          <p:cNvPr id="34" name="Picture 33" descr="lock.png"/>
          <p:cNvPicPr>
            <a:picLocks noChangeAspect="1"/>
          </p:cNvPicPr>
          <p:nvPr/>
        </p:nvPicPr>
        <p:blipFill>
          <a:blip r:embed="rId4"/>
          <a:stretch>
            <a:fillRect/>
          </a:stretch>
        </p:blipFill>
        <p:spPr>
          <a:xfrm>
            <a:off x="6726609" y="1938754"/>
            <a:ext cx="128699" cy="187198"/>
          </a:xfrm>
          <a:prstGeom prst="rect">
            <a:avLst/>
          </a:prstGeom>
        </p:spPr>
      </p:pic>
      <p:sp>
        <p:nvSpPr>
          <p:cNvPr id="35" name="TextBox 34"/>
          <p:cNvSpPr txBox="1"/>
          <p:nvPr/>
        </p:nvSpPr>
        <p:spPr>
          <a:xfrm>
            <a:off x="6894105" y="1948533"/>
            <a:ext cx="4484389" cy="186689"/>
          </a:xfrm>
          <a:prstGeom prst="rect">
            <a:avLst/>
          </a:prstGeom>
          <a:noFill/>
        </p:spPr>
        <p:txBody>
          <a:bodyPr wrap="none" lIns="0" rIns="0" tIns="0" bIns="0">
            <a:spAutoFit/>
          </a:bodyPr>
          <a:lstStyle/>
          <a:p>
            <a:r>
              <a:rPr sz="1100" b="0">
                <a:solidFill>
                  <a:srgbClr val="2E2E2E"/>
                </a:solidFill>
                <a:latin typeface="Calibri"/>
              </a:rPr>
              <a:t>US$ Mn, the steepest single-year move of the 2021–2025 period. Demand for</a:t>
            </a:r>
          </a:p>
        </p:txBody>
      </p:sp>
      <p:sp>
        <p:nvSpPr>
          <p:cNvPr id="36" name="TextBox 35"/>
          <p:cNvSpPr txBox="1"/>
          <p:nvPr/>
        </p:nvSpPr>
        <p:spPr>
          <a:xfrm>
            <a:off x="1743075" y="2116173"/>
            <a:ext cx="949870" cy="186689"/>
          </a:xfrm>
          <a:prstGeom prst="rect">
            <a:avLst/>
          </a:prstGeom>
          <a:noFill/>
        </p:spPr>
        <p:txBody>
          <a:bodyPr wrap="none" lIns="0" rIns="0" tIns="0" bIns="0">
            <a:spAutoFit/>
          </a:bodyPr>
          <a:lstStyle/>
          <a:p>
            <a:r>
              <a:rPr sz="1100" b="0">
                <a:solidFill>
                  <a:srgbClr val="2E2E2E"/>
                </a:solidFill>
                <a:latin typeface="Calibri"/>
              </a:rPr>
              <a:t>'Sweet muffins'</a:t>
            </a:r>
          </a:p>
        </p:txBody>
      </p:sp>
      <p:pic>
        <p:nvPicPr>
          <p:cNvPr id="37" name="Picture 36" descr="lock.png"/>
          <p:cNvPicPr>
            <a:picLocks noChangeAspect="1"/>
          </p:cNvPicPr>
          <p:nvPr/>
        </p:nvPicPr>
        <p:blipFill>
          <a:blip r:embed="rId4"/>
          <a:stretch>
            <a:fillRect/>
          </a:stretch>
        </p:blipFill>
        <p:spPr>
          <a:xfrm>
            <a:off x="2640997" y="2106394"/>
            <a:ext cx="128699" cy="187198"/>
          </a:xfrm>
          <a:prstGeom prst="rect">
            <a:avLst/>
          </a:prstGeom>
        </p:spPr>
      </p:pic>
      <p:sp>
        <p:nvSpPr>
          <p:cNvPr id="38" name="TextBox 37"/>
          <p:cNvSpPr txBox="1"/>
          <p:nvPr/>
        </p:nvSpPr>
        <p:spPr>
          <a:xfrm>
            <a:off x="2808493" y="2116173"/>
            <a:ext cx="7120954" cy="186689"/>
          </a:xfrm>
          <a:prstGeom prst="rect">
            <a:avLst/>
          </a:prstGeom>
          <a:noFill/>
        </p:spPr>
        <p:txBody>
          <a:bodyPr wrap="none" lIns="0" rIns="0" tIns="0" bIns="0">
            <a:spAutoFit/>
          </a:bodyPr>
          <a:lstStyle/>
          <a:p>
            <a:r>
              <a:rPr sz="1100" b="0">
                <a:solidFill>
                  <a:srgbClr val="2E2E2E"/>
                </a:solidFill>
                <a:latin typeface="Calibri"/>
              </a:rPr>
              <a:t>of product type value by 2036 set the pace, and the 3 sales channel routes tracked here all carried volume through the year.</a:t>
            </a:r>
          </a:p>
        </p:txBody>
      </p:sp>
      <p:sp>
        <p:nvSpPr>
          <p:cNvPr id="39" name="TextBox 38"/>
          <p:cNvSpPr txBox="1"/>
          <p:nvPr/>
        </p:nvSpPr>
        <p:spPr>
          <a:xfrm>
            <a:off x="1743075" y="3360774"/>
            <a:ext cx="3781044" cy="179984"/>
          </a:xfrm>
          <a:prstGeom prst="rect">
            <a:avLst/>
          </a:prstGeom>
          <a:noFill/>
        </p:spPr>
        <p:txBody>
          <a:bodyPr wrap="none" lIns="0" rIns="0" tIns="0" bIns="0">
            <a:spAutoFit/>
          </a:bodyPr>
          <a:lstStyle/>
          <a:p>
            <a:r>
              <a:rPr sz="1055" b="0">
                <a:solidFill>
                  <a:srgbClr val="2E2E2E"/>
                </a:solidFill>
                <a:latin typeface="Calibri"/>
              </a:rPr>
              <a:t>Base year for the forecast: the north america market is estimated at</a:t>
            </a:r>
          </a:p>
        </p:txBody>
      </p:sp>
      <p:pic>
        <p:nvPicPr>
          <p:cNvPr id="40" name="Picture 39" descr="lock.png"/>
          <p:cNvPicPr>
            <a:picLocks noChangeAspect="1"/>
          </p:cNvPicPr>
          <p:nvPr/>
        </p:nvPicPr>
        <p:blipFill>
          <a:blip r:embed="rId4"/>
          <a:stretch>
            <a:fillRect/>
          </a:stretch>
        </p:blipFill>
        <p:spPr>
          <a:xfrm>
            <a:off x="5471200" y="3351386"/>
            <a:ext cx="123551" cy="179710"/>
          </a:xfrm>
          <a:prstGeom prst="rect">
            <a:avLst/>
          </a:prstGeom>
        </p:spPr>
      </p:pic>
      <p:sp>
        <p:nvSpPr>
          <p:cNvPr id="41" name="TextBox 40"/>
          <p:cNvSpPr txBox="1"/>
          <p:nvPr/>
        </p:nvSpPr>
        <p:spPr>
          <a:xfrm>
            <a:off x="5631996" y="3360774"/>
            <a:ext cx="1825680" cy="179984"/>
          </a:xfrm>
          <a:prstGeom prst="rect">
            <a:avLst/>
          </a:prstGeom>
          <a:noFill/>
        </p:spPr>
        <p:txBody>
          <a:bodyPr wrap="none" lIns="0" rIns="0" tIns="0" bIns="0">
            <a:spAutoFit/>
          </a:bodyPr>
          <a:lstStyle/>
          <a:p>
            <a:r>
              <a:rPr sz="1055" b="0">
                <a:solidFill>
                  <a:srgbClr val="2E2E2E"/>
                </a:solidFill>
                <a:latin typeface="Calibri"/>
              </a:rPr>
              <a:t>US$ Mn, having compounded at</a:t>
            </a:r>
          </a:p>
        </p:txBody>
      </p:sp>
      <p:pic>
        <p:nvPicPr>
          <p:cNvPr id="42" name="Picture 41" descr="lock.png"/>
          <p:cNvPicPr>
            <a:picLocks noChangeAspect="1"/>
          </p:cNvPicPr>
          <p:nvPr/>
        </p:nvPicPr>
        <p:blipFill>
          <a:blip r:embed="rId4"/>
          <a:stretch>
            <a:fillRect/>
          </a:stretch>
        </p:blipFill>
        <p:spPr>
          <a:xfrm>
            <a:off x="7404758" y="3351386"/>
            <a:ext cx="123551" cy="179710"/>
          </a:xfrm>
          <a:prstGeom prst="rect">
            <a:avLst/>
          </a:prstGeom>
        </p:spPr>
      </p:pic>
      <p:sp>
        <p:nvSpPr>
          <p:cNvPr id="43" name="TextBox 42"/>
          <p:cNvSpPr txBox="1"/>
          <p:nvPr/>
        </p:nvSpPr>
        <p:spPr>
          <a:xfrm>
            <a:off x="7565554" y="3360774"/>
            <a:ext cx="1725620" cy="179984"/>
          </a:xfrm>
          <a:prstGeom prst="rect">
            <a:avLst/>
          </a:prstGeom>
          <a:noFill/>
        </p:spPr>
        <p:txBody>
          <a:bodyPr wrap="none" lIns="0" rIns="0" tIns="0" bIns="0">
            <a:spAutoFit/>
          </a:bodyPr>
          <a:lstStyle/>
          <a:p>
            <a:r>
              <a:rPr sz="1055" b="0">
                <a:solidFill>
                  <a:srgbClr val="2E2E2E"/>
                </a:solidFill>
                <a:latin typeface="Calibri"/>
              </a:rPr>
              <a:t>across 2021–2025. 'U.S.' holds</a:t>
            </a:r>
          </a:p>
        </p:txBody>
      </p:sp>
      <p:pic>
        <p:nvPicPr>
          <p:cNvPr id="44" name="Picture 43" descr="lock.png"/>
          <p:cNvPicPr>
            <a:picLocks noChangeAspect="1"/>
          </p:cNvPicPr>
          <p:nvPr/>
        </p:nvPicPr>
        <p:blipFill>
          <a:blip r:embed="rId4"/>
          <a:stretch>
            <a:fillRect/>
          </a:stretch>
        </p:blipFill>
        <p:spPr>
          <a:xfrm>
            <a:off x="9238256" y="3351386"/>
            <a:ext cx="123551" cy="179710"/>
          </a:xfrm>
          <a:prstGeom prst="rect">
            <a:avLst/>
          </a:prstGeom>
        </p:spPr>
      </p:pic>
      <p:sp>
        <p:nvSpPr>
          <p:cNvPr id="45" name="TextBox 44"/>
          <p:cNvSpPr txBox="1"/>
          <p:nvPr/>
        </p:nvSpPr>
        <p:spPr>
          <a:xfrm>
            <a:off x="9399052" y="3360774"/>
            <a:ext cx="2005893" cy="179984"/>
          </a:xfrm>
          <a:prstGeom prst="rect">
            <a:avLst/>
          </a:prstGeom>
          <a:noFill/>
        </p:spPr>
        <p:txBody>
          <a:bodyPr wrap="none" lIns="0" rIns="0" tIns="0" bIns="0">
            <a:spAutoFit/>
          </a:bodyPr>
          <a:lstStyle/>
          <a:p>
            <a:r>
              <a:rPr sz="1055" b="0">
                <a:solidFill>
                  <a:srgbClr val="2E2E2E"/>
                </a:solidFill>
                <a:latin typeface="Calibri"/>
              </a:rPr>
              <a:t>of value across 2 countries, and the</a:t>
            </a:r>
          </a:p>
        </p:txBody>
      </p:sp>
      <p:sp>
        <p:nvSpPr>
          <p:cNvPr id="46" name="TextBox 45"/>
          <p:cNvSpPr txBox="1"/>
          <p:nvPr/>
        </p:nvSpPr>
        <p:spPr>
          <a:xfrm>
            <a:off x="1743075" y="3521708"/>
            <a:ext cx="4221622" cy="179984"/>
          </a:xfrm>
          <a:prstGeom prst="rect">
            <a:avLst/>
          </a:prstGeom>
          <a:noFill/>
        </p:spPr>
        <p:txBody>
          <a:bodyPr wrap="none" lIns="0" rIns="0" tIns="0" bIns="0">
            <a:spAutoFit/>
          </a:bodyPr>
          <a:lstStyle/>
          <a:p>
            <a:r>
              <a:rPr sz="1055" b="0">
                <a:solidFill>
                  <a:srgbClr val="2E2E2E"/>
                </a:solidFill>
                <a:latin typeface="Calibri"/>
              </a:rPr>
              <a:t>forecast is built from 21 segment breakdowns covering 2 product type lines.</a:t>
            </a:r>
          </a:p>
        </p:txBody>
      </p:sp>
      <p:sp>
        <p:nvSpPr>
          <p:cNvPr id="47" name="TextBox 46"/>
          <p:cNvSpPr txBox="1"/>
          <p:nvPr/>
        </p:nvSpPr>
        <p:spPr>
          <a:xfrm>
            <a:off x="1743075" y="4574644"/>
            <a:ext cx="2190297" cy="179984"/>
          </a:xfrm>
          <a:prstGeom prst="rect">
            <a:avLst/>
          </a:prstGeom>
          <a:noFill/>
        </p:spPr>
        <p:txBody>
          <a:bodyPr wrap="none" lIns="0" rIns="0" tIns="0" bIns="0">
            <a:spAutoFit/>
          </a:bodyPr>
          <a:lstStyle/>
          <a:p>
            <a:r>
              <a:rPr sz="1055" b="0">
                <a:solidFill>
                  <a:srgbClr val="2E2E2E"/>
                </a:solidFill>
                <a:latin typeface="Calibri"/>
              </a:rPr>
              <a:t>Mid-horizon checkpoint: value reaches</a:t>
            </a:r>
          </a:p>
        </p:txBody>
      </p:sp>
      <p:pic>
        <p:nvPicPr>
          <p:cNvPr id="48" name="Picture 47" descr="lock.png"/>
          <p:cNvPicPr>
            <a:picLocks noChangeAspect="1"/>
          </p:cNvPicPr>
          <p:nvPr/>
        </p:nvPicPr>
        <p:blipFill>
          <a:blip r:embed="rId4"/>
          <a:stretch>
            <a:fillRect/>
          </a:stretch>
        </p:blipFill>
        <p:spPr>
          <a:xfrm>
            <a:off x="3880454" y="4565256"/>
            <a:ext cx="123551" cy="179710"/>
          </a:xfrm>
          <a:prstGeom prst="rect">
            <a:avLst/>
          </a:prstGeom>
        </p:spPr>
      </p:pic>
      <p:sp>
        <p:nvSpPr>
          <p:cNvPr id="49" name="TextBox 48"/>
          <p:cNvSpPr txBox="1"/>
          <p:nvPr/>
        </p:nvSpPr>
        <p:spPr>
          <a:xfrm>
            <a:off x="4041250" y="4574644"/>
            <a:ext cx="541139" cy="179984"/>
          </a:xfrm>
          <a:prstGeom prst="rect">
            <a:avLst/>
          </a:prstGeom>
          <a:noFill/>
        </p:spPr>
        <p:txBody>
          <a:bodyPr wrap="none" lIns="0" rIns="0" tIns="0" bIns="0">
            <a:spAutoFit/>
          </a:bodyPr>
          <a:lstStyle/>
          <a:p>
            <a:r>
              <a:rPr sz="1055" b="0">
                <a:solidFill>
                  <a:srgbClr val="2E2E2E"/>
                </a:solidFill>
                <a:latin typeface="Calibri"/>
              </a:rPr>
              <a:t>US$ Mn,</a:t>
            </a:r>
          </a:p>
        </p:txBody>
      </p:sp>
      <p:pic>
        <p:nvPicPr>
          <p:cNvPr id="50" name="Picture 49" descr="lock.png"/>
          <p:cNvPicPr>
            <a:picLocks noChangeAspect="1"/>
          </p:cNvPicPr>
          <p:nvPr/>
        </p:nvPicPr>
        <p:blipFill>
          <a:blip r:embed="rId4"/>
          <a:stretch>
            <a:fillRect/>
          </a:stretch>
        </p:blipFill>
        <p:spPr>
          <a:xfrm>
            <a:off x="4529470" y="4565256"/>
            <a:ext cx="123551" cy="179710"/>
          </a:xfrm>
          <a:prstGeom prst="rect">
            <a:avLst/>
          </a:prstGeom>
        </p:spPr>
      </p:pic>
      <p:sp>
        <p:nvSpPr>
          <p:cNvPr id="51" name="TextBox 50"/>
          <p:cNvSpPr txBox="1"/>
          <p:nvPr/>
        </p:nvSpPr>
        <p:spPr>
          <a:xfrm>
            <a:off x="4690266" y="4574644"/>
            <a:ext cx="2581333" cy="179984"/>
          </a:xfrm>
          <a:prstGeom prst="rect">
            <a:avLst/>
          </a:prstGeom>
          <a:noFill/>
        </p:spPr>
        <p:txBody>
          <a:bodyPr wrap="none" lIns="0" rIns="0" tIns="0" bIns="0">
            <a:spAutoFit/>
          </a:bodyPr>
          <a:lstStyle/>
          <a:p>
            <a:r>
              <a:rPr sz="1055" b="0">
                <a:solidFill>
                  <a:srgbClr val="2E2E2E"/>
                </a:solidFill>
                <a:latin typeface="Calibri"/>
              </a:rPr>
              <a:t>× the 2026 base. Average realisation stands at</a:t>
            </a:r>
          </a:p>
        </p:txBody>
      </p:sp>
      <p:pic>
        <p:nvPicPr>
          <p:cNvPr id="52" name="Picture 51" descr="lock.png"/>
          <p:cNvPicPr>
            <a:picLocks noChangeAspect="1"/>
          </p:cNvPicPr>
          <p:nvPr/>
        </p:nvPicPr>
        <p:blipFill>
          <a:blip r:embed="rId4"/>
          <a:stretch>
            <a:fillRect/>
          </a:stretch>
        </p:blipFill>
        <p:spPr>
          <a:xfrm>
            <a:off x="7218681" y="4565256"/>
            <a:ext cx="123551" cy="179710"/>
          </a:xfrm>
          <a:prstGeom prst="rect">
            <a:avLst/>
          </a:prstGeom>
        </p:spPr>
      </p:pic>
      <p:sp>
        <p:nvSpPr>
          <p:cNvPr id="53" name="TextBox 52"/>
          <p:cNvSpPr txBox="1"/>
          <p:nvPr/>
        </p:nvSpPr>
        <p:spPr>
          <a:xfrm>
            <a:off x="7379477" y="4574644"/>
            <a:ext cx="1740288" cy="179984"/>
          </a:xfrm>
          <a:prstGeom prst="rect">
            <a:avLst/>
          </a:prstGeom>
          <a:noFill/>
        </p:spPr>
        <p:txBody>
          <a:bodyPr wrap="none" lIns="0" rIns="0" tIns="0" bIns="0">
            <a:spAutoFit/>
          </a:bodyPr>
          <a:lstStyle/>
          <a:p>
            <a:r>
              <a:rPr sz="1055" b="0">
                <a:solidFill>
                  <a:srgbClr val="2E2E2E"/>
                </a:solidFill>
                <a:latin typeface="Calibri"/>
              </a:rPr>
              <a:t>US$/MT, and mix has moved +</a:t>
            </a:r>
          </a:p>
        </p:txBody>
      </p:sp>
      <p:pic>
        <p:nvPicPr>
          <p:cNvPr id="54" name="Picture 53" descr="lock.png"/>
          <p:cNvPicPr>
            <a:picLocks noChangeAspect="1"/>
          </p:cNvPicPr>
          <p:nvPr/>
        </p:nvPicPr>
        <p:blipFill>
          <a:blip r:embed="rId4"/>
          <a:stretch>
            <a:fillRect/>
          </a:stretch>
        </p:blipFill>
        <p:spPr>
          <a:xfrm>
            <a:off x="9066848" y="4565256"/>
            <a:ext cx="123551" cy="179710"/>
          </a:xfrm>
          <a:prstGeom prst="rect">
            <a:avLst/>
          </a:prstGeom>
        </p:spPr>
      </p:pic>
      <p:sp>
        <p:nvSpPr>
          <p:cNvPr id="55" name="TextBox 54"/>
          <p:cNvSpPr txBox="1"/>
          <p:nvPr/>
        </p:nvSpPr>
        <p:spPr>
          <a:xfrm>
            <a:off x="9227644" y="4574644"/>
            <a:ext cx="1898237" cy="179984"/>
          </a:xfrm>
          <a:prstGeom prst="rect">
            <a:avLst/>
          </a:prstGeom>
          <a:noFill/>
        </p:spPr>
        <p:txBody>
          <a:bodyPr wrap="none" lIns="0" rIns="0" tIns="0" bIns="0">
            <a:spAutoFit/>
          </a:bodyPr>
          <a:lstStyle/>
          <a:p>
            <a:r>
              <a:rPr sz="1055" b="0">
                <a:solidFill>
                  <a:srgbClr val="2E2E2E"/>
                </a:solidFill>
                <a:latin typeface="Calibri"/>
              </a:rPr>
              <a:t>BPS toward 'Sweet muffins' while</a:t>
            </a:r>
          </a:p>
        </p:txBody>
      </p:sp>
      <p:sp>
        <p:nvSpPr>
          <p:cNvPr id="56" name="TextBox 55"/>
          <p:cNvSpPr txBox="1"/>
          <p:nvPr/>
        </p:nvSpPr>
        <p:spPr>
          <a:xfrm>
            <a:off x="1743075" y="4735578"/>
            <a:ext cx="1489352" cy="179984"/>
          </a:xfrm>
          <a:prstGeom prst="rect">
            <a:avLst/>
          </a:prstGeom>
          <a:noFill/>
        </p:spPr>
        <p:txBody>
          <a:bodyPr wrap="none" lIns="0" rIns="0" tIns="0" bIns="0">
            <a:spAutoFit/>
          </a:bodyPr>
          <a:lstStyle/>
          <a:p>
            <a:r>
              <a:rPr sz="1055" b="0">
                <a:solidFill>
                  <a:srgbClr val="2E2E2E"/>
                </a:solidFill>
                <a:latin typeface="Calibri"/>
              </a:rPr>
              <a:t>'Savoury muffins' gives up</a:t>
            </a:r>
          </a:p>
        </p:txBody>
      </p:sp>
      <p:pic>
        <p:nvPicPr>
          <p:cNvPr id="57" name="Picture 56" descr="lock.png"/>
          <p:cNvPicPr>
            <a:picLocks noChangeAspect="1"/>
          </p:cNvPicPr>
          <p:nvPr/>
        </p:nvPicPr>
        <p:blipFill>
          <a:blip r:embed="rId4"/>
          <a:stretch>
            <a:fillRect/>
          </a:stretch>
        </p:blipFill>
        <p:spPr>
          <a:xfrm>
            <a:off x="3179509" y="4726190"/>
            <a:ext cx="123551" cy="179710"/>
          </a:xfrm>
          <a:prstGeom prst="rect">
            <a:avLst/>
          </a:prstGeom>
        </p:spPr>
      </p:pic>
      <p:sp>
        <p:nvSpPr>
          <p:cNvPr id="58" name="TextBox 57"/>
          <p:cNvSpPr txBox="1"/>
          <p:nvPr/>
        </p:nvSpPr>
        <p:spPr>
          <a:xfrm>
            <a:off x="3340305" y="4735578"/>
            <a:ext cx="314039" cy="179984"/>
          </a:xfrm>
          <a:prstGeom prst="rect">
            <a:avLst/>
          </a:prstGeom>
          <a:noFill/>
        </p:spPr>
        <p:txBody>
          <a:bodyPr wrap="none" lIns="0" rIns="0" tIns="0" bIns="0">
            <a:spAutoFit/>
          </a:bodyPr>
          <a:lstStyle/>
          <a:p>
            <a:r>
              <a:rPr sz="1055" b="0">
                <a:solidFill>
                  <a:srgbClr val="2E2E2E"/>
                </a:solidFill>
                <a:latin typeface="Calibri"/>
              </a:rPr>
              <a:t>BPS.</a:t>
            </a:r>
          </a:p>
        </p:txBody>
      </p:sp>
      <p:sp>
        <p:nvSpPr>
          <p:cNvPr id="59" name="TextBox 58"/>
          <p:cNvSpPr txBox="1"/>
          <p:nvPr/>
        </p:nvSpPr>
        <p:spPr>
          <a:xfrm>
            <a:off x="1743075" y="5788516"/>
            <a:ext cx="2984725" cy="179984"/>
          </a:xfrm>
          <a:prstGeom prst="rect">
            <a:avLst/>
          </a:prstGeom>
          <a:noFill/>
        </p:spPr>
        <p:txBody>
          <a:bodyPr wrap="none" lIns="0" rIns="0" tIns="0" bIns="0">
            <a:spAutoFit/>
          </a:bodyPr>
          <a:lstStyle/>
          <a:p>
            <a:r>
              <a:rPr sz="1055" b="0">
                <a:solidFill>
                  <a:srgbClr val="2E2E2E"/>
                </a:solidFill>
                <a:latin typeface="Calibri"/>
              </a:rPr>
              <a:t>Forecast outcome: the north america market reaches</a:t>
            </a:r>
          </a:p>
        </p:txBody>
      </p:sp>
      <p:pic>
        <p:nvPicPr>
          <p:cNvPr id="60" name="Picture 59" descr="lock.png"/>
          <p:cNvPicPr>
            <a:picLocks noChangeAspect="1"/>
          </p:cNvPicPr>
          <p:nvPr/>
        </p:nvPicPr>
        <p:blipFill>
          <a:blip r:embed="rId4"/>
          <a:stretch>
            <a:fillRect/>
          </a:stretch>
        </p:blipFill>
        <p:spPr>
          <a:xfrm>
            <a:off x="4674881" y="5779128"/>
            <a:ext cx="123551" cy="179710"/>
          </a:xfrm>
          <a:prstGeom prst="rect">
            <a:avLst/>
          </a:prstGeom>
        </p:spPr>
      </p:pic>
      <p:sp>
        <p:nvSpPr>
          <p:cNvPr id="61" name="TextBox 60"/>
          <p:cNvSpPr txBox="1"/>
          <p:nvPr/>
        </p:nvSpPr>
        <p:spPr>
          <a:xfrm>
            <a:off x="4835677" y="5788516"/>
            <a:ext cx="635698" cy="179984"/>
          </a:xfrm>
          <a:prstGeom prst="rect">
            <a:avLst/>
          </a:prstGeom>
          <a:noFill/>
        </p:spPr>
        <p:txBody>
          <a:bodyPr wrap="none" lIns="0" rIns="0" tIns="0" bIns="0">
            <a:spAutoFit/>
          </a:bodyPr>
          <a:lstStyle/>
          <a:p>
            <a:r>
              <a:rPr sz="1055" b="0">
                <a:solidFill>
                  <a:srgbClr val="2E2E2E"/>
                </a:solidFill>
                <a:latin typeface="Calibri"/>
              </a:rPr>
              <a:t>US$ Mn, a</a:t>
            </a:r>
          </a:p>
        </p:txBody>
      </p:sp>
      <p:pic>
        <p:nvPicPr>
          <p:cNvPr id="62" name="Picture 61" descr="lock.png"/>
          <p:cNvPicPr>
            <a:picLocks noChangeAspect="1"/>
          </p:cNvPicPr>
          <p:nvPr/>
        </p:nvPicPr>
        <p:blipFill>
          <a:blip r:embed="rId4"/>
          <a:stretch>
            <a:fillRect/>
          </a:stretch>
        </p:blipFill>
        <p:spPr>
          <a:xfrm>
            <a:off x="5418457" y="5779128"/>
            <a:ext cx="123551" cy="179710"/>
          </a:xfrm>
          <a:prstGeom prst="rect">
            <a:avLst/>
          </a:prstGeom>
        </p:spPr>
      </p:pic>
      <p:sp>
        <p:nvSpPr>
          <p:cNvPr id="63" name="TextBox 62"/>
          <p:cNvSpPr txBox="1"/>
          <p:nvPr/>
        </p:nvSpPr>
        <p:spPr>
          <a:xfrm>
            <a:off x="5579253" y="5788516"/>
            <a:ext cx="1437751" cy="179984"/>
          </a:xfrm>
          <a:prstGeom prst="rect">
            <a:avLst/>
          </a:prstGeom>
          <a:noFill/>
        </p:spPr>
        <p:txBody>
          <a:bodyPr wrap="none" lIns="0" rIns="0" tIns="0" bIns="0">
            <a:spAutoFit/>
          </a:bodyPr>
          <a:lstStyle/>
          <a:p>
            <a:r>
              <a:rPr sz="1055" b="0">
                <a:solidFill>
                  <a:srgbClr val="2E2E2E"/>
                </a:solidFill>
                <a:latin typeface="Calibri"/>
              </a:rPr>
              <a:t>× expansion on 2026 and</a:t>
            </a:r>
          </a:p>
        </p:txBody>
      </p:sp>
      <p:pic>
        <p:nvPicPr>
          <p:cNvPr id="64" name="Picture 63" descr="lock.png"/>
          <p:cNvPicPr>
            <a:picLocks noChangeAspect="1"/>
          </p:cNvPicPr>
          <p:nvPr/>
        </p:nvPicPr>
        <p:blipFill>
          <a:blip r:embed="rId4"/>
          <a:stretch>
            <a:fillRect/>
          </a:stretch>
        </p:blipFill>
        <p:spPr>
          <a:xfrm>
            <a:off x="6964086" y="5779128"/>
            <a:ext cx="123551" cy="179710"/>
          </a:xfrm>
          <a:prstGeom prst="rect">
            <a:avLst/>
          </a:prstGeom>
        </p:spPr>
      </p:pic>
      <p:sp>
        <p:nvSpPr>
          <p:cNvPr id="65" name="TextBox 64"/>
          <p:cNvSpPr txBox="1"/>
          <p:nvPr/>
        </p:nvSpPr>
        <p:spPr>
          <a:xfrm>
            <a:off x="7124882" y="5788516"/>
            <a:ext cx="1799224" cy="179984"/>
          </a:xfrm>
          <a:prstGeom prst="rect">
            <a:avLst/>
          </a:prstGeom>
          <a:noFill/>
        </p:spPr>
        <p:txBody>
          <a:bodyPr wrap="none" lIns="0" rIns="0" tIns="0" bIns="0">
            <a:spAutoFit/>
          </a:bodyPr>
          <a:lstStyle/>
          <a:p>
            <a:r>
              <a:rPr sz="1055" b="0">
                <a:solidFill>
                  <a:srgbClr val="2E2E2E"/>
                </a:solidFill>
                <a:latin typeface="Calibri"/>
              </a:rPr>
              <a:t>US$ Mn of incremental value at</a:t>
            </a:r>
          </a:p>
        </p:txBody>
      </p:sp>
      <p:pic>
        <p:nvPicPr>
          <p:cNvPr id="66" name="Picture 65" descr="lock.png"/>
          <p:cNvPicPr>
            <a:picLocks noChangeAspect="1"/>
          </p:cNvPicPr>
          <p:nvPr/>
        </p:nvPicPr>
        <p:blipFill>
          <a:blip r:embed="rId4"/>
          <a:stretch>
            <a:fillRect/>
          </a:stretch>
        </p:blipFill>
        <p:spPr>
          <a:xfrm>
            <a:off x="8871188" y="5779128"/>
            <a:ext cx="123551" cy="179710"/>
          </a:xfrm>
          <a:prstGeom prst="rect">
            <a:avLst/>
          </a:prstGeom>
        </p:spPr>
      </p:pic>
      <p:sp>
        <p:nvSpPr>
          <p:cNvPr id="67" name="TextBox 66"/>
          <p:cNvSpPr txBox="1"/>
          <p:nvPr/>
        </p:nvSpPr>
        <p:spPr>
          <a:xfrm>
            <a:off x="9031984" y="5788516"/>
            <a:ext cx="1678717" cy="179984"/>
          </a:xfrm>
          <a:prstGeom prst="rect">
            <a:avLst/>
          </a:prstGeom>
          <a:noFill/>
        </p:spPr>
        <p:txBody>
          <a:bodyPr wrap="none" lIns="0" rIns="0" tIns="0" bIns="0">
            <a:spAutoFit/>
          </a:bodyPr>
          <a:lstStyle/>
          <a:p>
            <a:r>
              <a:rPr sz="1055" b="0">
                <a:solidFill>
                  <a:srgbClr val="2E2E2E"/>
                </a:solidFill>
                <a:latin typeface="Calibri"/>
              </a:rPr>
              <a:t>CAGR. Volume compounds at</a:t>
            </a:r>
          </a:p>
        </p:txBody>
      </p:sp>
      <p:pic>
        <p:nvPicPr>
          <p:cNvPr id="68" name="Picture 67" descr="lock.png"/>
          <p:cNvPicPr>
            <a:picLocks noChangeAspect="1"/>
          </p:cNvPicPr>
          <p:nvPr/>
        </p:nvPicPr>
        <p:blipFill>
          <a:blip r:embed="rId4"/>
          <a:stretch>
            <a:fillRect/>
          </a:stretch>
        </p:blipFill>
        <p:spPr>
          <a:xfrm>
            <a:off x="10657783" y="5779128"/>
            <a:ext cx="123551" cy="179710"/>
          </a:xfrm>
          <a:prstGeom prst="rect">
            <a:avLst/>
          </a:prstGeom>
        </p:spPr>
      </p:pic>
      <p:sp>
        <p:nvSpPr>
          <p:cNvPr id="69" name="TextBox 68"/>
          <p:cNvSpPr txBox="1"/>
          <p:nvPr/>
        </p:nvSpPr>
        <p:spPr>
          <a:xfrm>
            <a:off x="10818579" y="5788516"/>
            <a:ext cx="533804" cy="179984"/>
          </a:xfrm>
          <a:prstGeom prst="rect">
            <a:avLst/>
          </a:prstGeom>
          <a:noFill/>
        </p:spPr>
        <p:txBody>
          <a:bodyPr wrap="none" lIns="0" rIns="0" tIns="0" bIns="0">
            <a:spAutoFit/>
          </a:bodyPr>
          <a:lstStyle/>
          <a:p>
            <a:r>
              <a:rPr sz="1055" b="0">
                <a:solidFill>
                  <a:srgbClr val="2E2E2E"/>
                </a:solidFill>
                <a:latin typeface="Calibri"/>
              </a:rPr>
              <a:t>over the</a:t>
            </a:r>
          </a:p>
        </p:txBody>
      </p:sp>
      <p:sp>
        <p:nvSpPr>
          <p:cNvPr id="70" name="TextBox 69"/>
          <p:cNvSpPr txBox="1"/>
          <p:nvPr/>
        </p:nvSpPr>
        <p:spPr>
          <a:xfrm>
            <a:off x="1743075" y="5949450"/>
            <a:ext cx="1885926" cy="179984"/>
          </a:xfrm>
          <a:prstGeom prst="rect">
            <a:avLst/>
          </a:prstGeom>
          <a:noFill/>
        </p:spPr>
        <p:txBody>
          <a:bodyPr wrap="none" lIns="0" rIns="0" tIns="0" bIns="0">
            <a:spAutoFit/>
          </a:bodyPr>
          <a:lstStyle/>
          <a:p>
            <a:r>
              <a:rPr sz="1055" b="0">
                <a:solidFill>
                  <a:srgbClr val="2E2E2E"/>
                </a:solidFill>
                <a:latin typeface="Calibri"/>
              </a:rPr>
              <a:t>same window, leaving realisation</a:t>
            </a:r>
          </a:p>
        </p:txBody>
      </p:sp>
      <p:pic>
        <p:nvPicPr>
          <p:cNvPr id="71" name="Picture 70" descr="lock.png"/>
          <p:cNvPicPr>
            <a:picLocks noChangeAspect="1"/>
          </p:cNvPicPr>
          <p:nvPr/>
        </p:nvPicPr>
        <p:blipFill>
          <a:blip r:embed="rId4"/>
          <a:stretch>
            <a:fillRect/>
          </a:stretch>
        </p:blipFill>
        <p:spPr>
          <a:xfrm>
            <a:off x="3576082" y="5940062"/>
            <a:ext cx="123551" cy="179710"/>
          </a:xfrm>
          <a:prstGeom prst="rect">
            <a:avLst/>
          </a:prstGeom>
        </p:spPr>
      </p:pic>
      <p:sp>
        <p:nvSpPr>
          <p:cNvPr id="72" name="TextBox 71"/>
          <p:cNvSpPr txBox="1"/>
          <p:nvPr/>
        </p:nvSpPr>
        <p:spPr>
          <a:xfrm>
            <a:off x="3736878" y="5949450"/>
            <a:ext cx="4255412" cy="179984"/>
          </a:xfrm>
          <a:prstGeom prst="rect">
            <a:avLst/>
          </a:prstGeom>
          <a:noFill/>
        </p:spPr>
        <p:txBody>
          <a:bodyPr wrap="none" lIns="0" rIns="0" t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North America Packaged Muffins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2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2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5010150" y="3480637"/>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5010150" y="4165151"/>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5" name="TextBox 54"/>
          <p:cNvSpPr txBox="1"/>
          <p:nvPr/>
        </p:nvSpPr>
        <p:spPr>
          <a:xfrm>
            <a:off x="9772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6" name="TextBox 55"/>
          <p:cNvSpPr txBox="1"/>
          <p:nvPr/>
        </p:nvSpPr>
        <p:spPr>
          <a:xfrm>
            <a:off x="9772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171450" y="1069470"/>
            <a:ext cx="10579075" cy="186689"/>
          </a:xfrm>
          <a:prstGeom prst="rect">
            <a:avLst/>
          </a:prstGeom>
          <a:noFill/>
        </p:spPr>
        <p:txBody>
          <a:bodyPr wrap="none" lIns="0" rIns="0" tIns="0" bIns="0">
            <a:spAutoFit/>
          </a:bodyPr>
          <a:lstStyle/>
          <a:p>
            <a:r>
              <a:rPr sz="1100" b="0">
                <a:solidFill>
                  <a:srgbClr val="6C7A89"/>
                </a:solidFill>
                <a:latin typeface="Calibri"/>
              </a:rPr>
              <a:t>Supplier power, buyer power, competitive intensity, substitution and entry barriers scored from the north america dataset 2 product type lines, 3 sales channel routes and 2 countries at</a:t>
            </a:r>
          </a:p>
        </p:txBody>
      </p:sp>
      <p:pic>
        <p:nvPicPr>
          <p:cNvPr id="59" name="Picture 58" descr="lock.png"/>
          <p:cNvPicPr>
            <a:picLocks noChangeAspect="1"/>
          </p:cNvPicPr>
          <p:nvPr/>
        </p:nvPicPr>
        <p:blipFill>
          <a:blip r:embed="rId4"/>
          <a:stretch>
            <a:fillRect/>
          </a:stretch>
        </p:blipFill>
        <p:spPr>
          <a:xfrm>
            <a:off x="10698576" y="1059691"/>
            <a:ext cx="128699" cy="187198"/>
          </a:xfrm>
          <a:prstGeom prst="rect">
            <a:avLst/>
          </a:prstGeom>
        </p:spPr>
      </p:pic>
      <p:sp>
        <p:nvSpPr>
          <p:cNvPr id="60" name="TextBox 59"/>
          <p:cNvSpPr txBox="1"/>
          <p:nvPr/>
        </p:nvSpPr>
        <p:spPr>
          <a:xfrm>
            <a:off x="10866072" y="1069470"/>
            <a:ext cx="430617" cy="186689"/>
          </a:xfrm>
          <a:prstGeom prst="rect">
            <a:avLst/>
          </a:prstGeom>
          <a:noFill/>
        </p:spPr>
        <p:txBody>
          <a:bodyPr wrap="none" lIns="0" rIns="0" tIns="0" bIns="0">
            <a:spAutoFit/>
          </a:bodyPr>
          <a:lstStyle/>
          <a:p>
            <a:r>
              <a:rPr sz="1100" b="0">
                <a:solidFill>
                  <a:srgbClr val="6C7A89"/>
                </a:solidFill>
                <a:latin typeface="Calibri"/>
              </a:rPr>
              <a:t>CAGR.</a:t>
            </a:r>
          </a:p>
        </p:txBody>
      </p:sp>
      <p:sp>
        <p:nvSpPr>
          <p:cNvPr id="61" name="TextBox 60"/>
          <p:cNvSpPr txBox="1"/>
          <p:nvPr/>
        </p:nvSpPr>
        <p:spPr>
          <a:xfrm>
            <a:off x="276225" y="2932554"/>
            <a:ext cx="1814537" cy="186689"/>
          </a:xfrm>
          <a:prstGeom prst="rect">
            <a:avLst/>
          </a:prstGeom>
          <a:noFill/>
        </p:spPr>
        <p:txBody>
          <a:bodyPr wrap="none" lIns="0" rIns="0" tIns="0" bIns="0">
            <a:spAutoFit/>
          </a:bodyPr>
          <a:lstStyle/>
          <a:p>
            <a:r>
              <a:rPr sz="1100" b="0">
                <a:solidFill>
                  <a:srgbClr val="2E2E2E"/>
                </a:solidFill>
                <a:latin typeface="Calibri"/>
              </a:rPr>
              <a:t>▸ Assessed high. 'U.S.' supplies</a:t>
            </a:r>
          </a:p>
        </p:txBody>
      </p:sp>
      <p:pic>
        <p:nvPicPr>
          <p:cNvPr id="62" name="Picture 61" descr="lock.png"/>
          <p:cNvPicPr>
            <a:picLocks noChangeAspect="1"/>
          </p:cNvPicPr>
          <p:nvPr/>
        </p:nvPicPr>
        <p:blipFill>
          <a:blip r:embed="rId4"/>
          <a:stretch>
            <a:fillRect/>
          </a:stretch>
        </p:blipFill>
        <p:spPr>
          <a:xfrm>
            <a:off x="2038813" y="2922775"/>
            <a:ext cx="128699" cy="187198"/>
          </a:xfrm>
          <a:prstGeom prst="rect">
            <a:avLst/>
          </a:prstGeom>
        </p:spPr>
      </p:pic>
      <p:sp>
        <p:nvSpPr>
          <p:cNvPr id="63" name="TextBox 62"/>
          <p:cNvSpPr txBox="1"/>
          <p:nvPr/>
        </p:nvSpPr>
        <p:spPr>
          <a:xfrm>
            <a:off x="276225" y="3100194"/>
            <a:ext cx="1934864" cy="186689"/>
          </a:xfrm>
          <a:prstGeom prst="rect">
            <a:avLst/>
          </a:prstGeom>
          <a:noFill/>
        </p:spPr>
        <p:txBody>
          <a:bodyPr wrap="none" lIns="0" rIns="0" tIns="0" bIns="0">
            <a:spAutoFit/>
          </a:bodyPr>
          <a:lstStyle/>
          <a:p>
            <a:r>
              <a:rPr sz="1100" b="0">
                <a:solidFill>
                  <a:srgbClr val="2E2E2E"/>
                </a:solidFill>
                <a:latin typeface="Calibri"/>
              </a:rPr>
              <a:t>of 2036 value across 2 countries,</a:t>
            </a:r>
          </a:p>
        </p:txBody>
      </p:sp>
      <p:sp>
        <p:nvSpPr>
          <p:cNvPr id="64" name="TextBox 63"/>
          <p:cNvSpPr txBox="1"/>
          <p:nvPr/>
        </p:nvSpPr>
        <p:spPr>
          <a:xfrm>
            <a:off x="276225" y="3267834"/>
            <a:ext cx="1994619" cy="186689"/>
          </a:xfrm>
          <a:prstGeom prst="rect">
            <a:avLst/>
          </a:prstGeom>
          <a:noFill/>
        </p:spPr>
        <p:txBody>
          <a:bodyPr wrap="none" lIns="0" rIns="0" tIns="0" bIns="0">
            <a:spAutoFit/>
          </a:bodyPr>
          <a:lstStyle/>
          <a:p>
            <a:r>
              <a:rPr sz="1100" b="0">
                <a:solidFill>
                  <a:srgbClr val="2E2E2E"/>
                </a:solidFill>
                <a:latin typeface="Calibri"/>
              </a:rPr>
              <a:t>concentrating upstream leverage.</a:t>
            </a:r>
          </a:p>
        </p:txBody>
      </p:sp>
      <p:sp>
        <p:nvSpPr>
          <p:cNvPr id="65" name="TextBox 64"/>
          <p:cNvSpPr txBox="1"/>
          <p:nvPr/>
        </p:nvSpPr>
        <p:spPr>
          <a:xfrm>
            <a:off x="276225" y="3799605"/>
            <a:ext cx="1676163" cy="186689"/>
          </a:xfrm>
          <a:prstGeom prst="rect">
            <a:avLst/>
          </a:prstGeom>
          <a:noFill/>
        </p:spPr>
        <p:txBody>
          <a:bodyPr wrap="none" lIns="0" rIns="0" tIns="0" bIns="0">
            <a:spAutoFit/>
          </a:bodyPr>
          <a:lstStyle/>
          <a:p>
            <a:r>
              <a:rPr sz="1100" b="0">
                <a:solidFill>
                  <a:srgbClr val="2E2E2E"/>
                </a:solidFill>
                <a:latin typeface="Calibri"/>
              </a:rPr>
              <a:t>▸ Average realisation moves</a:t>
            </a:r>
          </a:p>
        </p:txBody>
      </p:sp>
      <p:pic>
        <p:nvPicPr>
          <p:cNvPr id="66" name="Picture 65" descr="lock.png"/>
          <p:cNvPicPr>
            <a:picLocks noChangeAspect="1"/>
          </p:cNvPicPr>
          <p:nvPr/>
        </p:nvPicPr>
        <p:blipFill>
          <a:blip r:embed="rId4"/>
          <a:stretch>
            <a:fillRect/>
          </a:stretch>
        </p:blipFill>
        <p:spPr>
          <a:xfrm>
            <a:off x="1900439" y="3789826"/>
            <a:ext cx="128699" cy="187198"/>
          </a:xfrm>
          <a:prstGeom prst="rect">
            <a:avLst/>
          </a:prstGeom>
        </p:spPr>
      </p:pic>
      <p:sp>
        <p:nvSpPr>
          <p:cNvPr id="67" name="TextBox 66"/>
          <p:cNvSpPr txBox="1"/>
          <p:nvPr/>
        </p:nvSpPr>
        <p:spPr>
          <a:xfrm>
            <a:off x="2067935" y="3799605"/>
            <a:ext cx="143048" cy="186689"/>
          </a:xfrm>
          <a:prstGeom prst="rect">
            <a:avLst/>
          </a:prstGeom>
          <a:noFill/>
        </p:spPr>
        <p:txBody>
          <a:bodyPr wrap="none" lIns="0" rIns="0" tIns="0" bIns="0">
            <a:spAutoFit/>
          </a:bodyPr>
          <a:lstStyle/>
          <a:p>
            <a:r>
              <a:rPr sz="1100" b="0">
                <a:solidFill>
                  <a:srgbClr val="2E2E2E"/>
                </a:solidFill>
                <a:latin typeface="Calibri"/>
              </a:rPr>
              <a:t>a</a:t>
            </a:r>
          </a:p>
        </p:txBody>
      </p:sp>
      <p:sp>
        <p:nvSpPr>
          <p:cNvPr id="68" name="TextBox 67"/>
          <p:cNvSpPr txBox="1"/>
          <p:nvPr/>
        </p:nvSpPr>
        <p:spPr>
          <a:xfrm>
            <a:off x="276225" y="3967245"/>
            <a:ext cx="2031181" cy="186689"/>
          </a:xfrm>
          <a:prstGeom prst="rect">
            <a:avLst/>
          </a:prstGeom>
          <a:noFill/>
        </p:spPr>
        <p:txBody>
          <a:bodyPr wrap="none" lIns="0" rIns="0" tIns="0" bIns="0">
            <a:spAutoFit/>
          </a:bodyPr>
          <a:lstStyle/>
          <a:p>
            <a:r>
              <a:rPr sz="1100" b="0">
                <a:solidFill>
                  <a:srgbClr val="2E2E2E"/>
                </a:solidFill>
                <a:latin typeface="Calibri"/>
              </a:rPr>
              <a:t>year (2026–2036), indicating input</a:t>
            </a:r>
          </a:p>
        </p:txBody>
      </p:sp>
      <p:sp>
        <p:nvSpPr>
          <p:cNvPr id="69" name="TextBox 68"/>
          <p:cNvSpPr txBox="1"/>
          <p:nvPr/>
        </p:nvSpPr>
        <p:spPr>
          <a:xfrm>
            <a:off x="276225" y="4134885"/>
            <a:ext cx="1874291" cy="186689"/>
          </a:xfrm>
          <a:prstGeom prst="rect">
            <a:avLst/>
          </a:prstGeom>
          <a:noFill/>
        </p:spPr>
        <p:txBody>
          <a:bodyPr wrap="none" lIns="0" rIns="0" tIns="0" bIns="0">
            <a:spAutoFit/>
          </a:bodyPr>
          <a:lstStyle/>
          <a:p>
            <a:r>
              <a:rPr sz="1100" b="0">
                <a:solidFill>
                  <a:srgbClr val="2E2E2E"/>
                </a:solidFill>
                <a:latin typeface="Calibri"/>
              </a:rPr>
              <a:t>costs are being passed through.</a:t>
            </a:r>
          </a:p>
        </p:txBody>
      </p:sp>
      <p:sp>
        <p:nvSpPr>
          <p:cNvPr id="70" name="TextBox 69"/>
          <p:cNvSpPr txBox="1"/>
          <p:nvPr/>
        </p:nvSpPr>
        <p:spPr>
          <a:xfrm>
            <a:off x="2657475" y="2848734"/>
            <a:ext cx="1830089" cy="186689"/>
          </a:xfrm>
          <a:prstGeom prst="rect">
            <a:avLst/>
          </a:prstGeom>
          <a:noFill/>
        </p:spPr>
        <p:txBody>
          <a:bodyPr wrap="none" lIns="0" rIns="0" tIns="0" bIns="0">
            <a:spAutoFit/>
          </a:bodyPr>
          <a:lstStyle/>
          <a:p>
            <a:r>
              <a:rPr sz="1100" b="0">
                <a:solidFill>
                  <a:srgbClr val="2E2E2E"/>
                </a:solidFill>
                <a:latin typeface="Calibri"/>
              </a:rPr>
              <a:t>▸ Assessed moderate. Demand</a:t>
            </a:r>
          </a:p>
        </p:txBody>
      </p:sp>
      <p:sp>
        <p:nvSpPr>
          <p:cNvPr id="71" name="TextBox 70"/>
          <p:cNvSpPr txBox="1"/>
          <p:nvPr/>
        </p:nvSpPr>
        <p:spPr>
          <a:xfrm>
            <a:off x="2657475" y="3016374"/>
            <a:ext cx="1821904" cy="186689"/>
          </a:xfrm>
          <a:prstGeom prst="rect">
            <a:avLst/>
          </a:prstGeom>
          <a:noFill/>
        </p:spPr>
        <p:txBody>
          <a:bodyPr wrap="none" lIns="0" rIns="0" tIns="0" bIns="0">
            <a:spAutoFit/>
          </a:bodyPr>
          <a:lstStyle/>
          <a:p>
            <a:r>
              <a:rPr sz="1100" b="0">
                <a:solidFill>
                  <a:srgbClr val="2E2E2E"/>
                </a:solidFill>
                <a:latin typeface="Calibri"/>
              </a:rPr>
              <a:t>routes through 3 sales channel</a:t>
            </a:r>
          </a:p>
        </p:txBody>
      </p:sp>
      <p:sp>
        <p:nvSpPr>
          <p:cNvPr id="72" name="TextBox 71"/>
          <p:cNvSpPr txBox="1"/>
          <p:nvPr/>
        </p:nvSpPr>
        <p:spPr>
          <a:xfrm>
            <a:off x="2657475" y="3184014"/>
            <a:ext cx="1516310" cy="186689"/>
          </a:xfrm>
          <a:prstGeom prst="rect">
            <a:avLst/>
          </a:prstGeom>
          <a:noFill/>
        </p:spPr>
        <p:txBody>
          <a:bodyPr wrap="none" lIns="0" rIns="0" tIns="0" bIns="0">
            <a:spAutoFit/>
          </a:bodyPr>
          <a:lstStyle/>
          <a:p>
            <a:r>
              <a:rPr sz="1100" b="0">
                <a:solidFill>
                  <a:srgbClr val="2E2E2E"/>
                </a:solidFill>
                <a:latin typeface="Calibri"/>
              </a:rPr>
              <a:t>channels led by 'Retail' at</a:t>
            </a:r>
          </a:p>
        </p:txBody>
      </p:sp>
      <p:pic>
        <p:nvPicPr>
          <p:cNvPr id="73" name="Picture 72" descr="lock.png"/>
          <p:cNvPicPr>
            <a:picLocks noChangeAspect="1"/>
          </p:cNvPicPr>
          <p:nvPr/>
        </p:nvPicPr>
        <p:blipFill>
          <a:blip r:embed="rId4"/>
          <a:stretch>
            <a:fillRect/>
          </a:stretch>
        </p:blipFill>
        <p:spPr>
          <a:xfrm>
            <a:off x="4121837" y="3174235"/>
            <a:ext cx="128699" cy="187198"/>
          </a:xfrm>
          <a:prstGeom prst="rect">
            <a:avLst/>
          </a:prstGeom>
        </p:spPr>
      </p:pic>
      <p:sp>
        <p:nvSpPr>
          <p:cNvPr id="74" name="TextBox 73"/>
          <p:cNvSpPr txBox="1"/>
          <p:nvPr/>
        </p:nvSpPr>
        <p:spPr>
          <a:xfrm>
            <a:off x="4289332" y="3184014"/>
            <a:ext cx="475108" cy="186689"/>
          </a:xfrm>
          <a:prstGeom prst="rect">
            <a:avLst/>
          </a:prstGeom>
          <a:noFill/>
        </p:spPr>
        <p:txBody>
          <a:bodyPr wrap="none" lIns="0" rIns="0" tIns="0" bIns="0">
            <a:spAutoFit/>
          </a:bodyPr>
          <a:lstStyle/>
          <a:p>
            <a:r>
              <a:rPr sz="1100" b="0">
                <a:solidFill>
                  <a:srgbClr val="2E2E2E"/>
                </a:solidFill>
                <a:latin typeface="Calibri"/>
              </a:rPr>
              <a:t>, giving</a:t>
            </a:r>
          </a:p>
        </p:txBody>
      </p:sp>
      <p:sp>
        <p:nvSpPr>
          <p:cNvPr id="75" name="TextBox 74"/>
          <p:cNvSpPr txBox="1"/>
          <p:nvPr/>
        </p:nvSpPr>
        <p:spPr>
          <a:xfrm>
            <a:off x="2657475" y="3351654"/>
            <a:ext cx="1123404" cy="186689"/>
          </a:xfrm>
          <a:prstGeom prst="rect">
            <a:avLst/>
          </a:prstGeom>
          <a:noFill/>
        </p:spPr>
        <p:txBody>
          <a:bodyPr wrap="none" lIns="0" rIns="0" tIns="0" bIns="0">
            <a:spAutoFit/>
          </a:bodyPr>
          <a:lstStyle/>
          <a:p>
            <a:r>
              <a:rPr sz="1100" b="0">
                <a:solidFill>
                  <a:srgbClr val="2E2E2E"/>
                </a:solidFill>
                <a:latin typeface="Calibri"/>
              </a:rPr>
              <a:t>large buyers scale.</a:t>
            </a:r>
          </a:p>
        </p:txBody>
      </p:sp>
      <p:sp>
        <p:nvSpPr>
          <p:cNvPr id="76" name="TextBox 75"/>
          <p:cNvSpPr txBox="1"/>
          <p:nvPr/>
        </p:nvSpPr>
        <p:spPr>
          <a:xfrm>
            <a:off x="2657475" y="3708336"/>
            <a:ext cx="2062013" cy="186689"/>
          </a:xfrm>
          <a:prstGeom prst="rect">
            <a:avLst/>
          </a:prstGeom>
          <a:noFill/>
        </p:spPr>
        <p:txBody>
          <a:bodyPr wrap="none" lIns="0" rIns="0" tIns="0" bIns="0">
            <a:spAutoFit/>
          </a:bodyPr>
          <a:lstStyle/>
          <a:p>
            <a:r>
              <a:rPr sz="1100" b="0">
                <a:solidFill>
                  <a:srgbClr val="2E2E2E"/>
                </a:solidFill>
                <a:latin typeface="Calibri"/>
              </a:rPr>
              <a:t>▸ Price sensitivity tracks realisation</a:t>
            </a:r>
          </a:p>
        </p:txBody>
      </p:sp>
      <p:sp>
        <p:nvSpPr>
          <p:cNvPr id="77" name="TextBox 76"/>
          <p:cNvSpPr txBox="1"/>
          <p:nvPr/>
        </p:nvSpPr>
        <p:spPr>
          <a:xfrm>
            <a:off x="2657475" y="3875976"/>
            <a:ext cx="495845" cy="186689"/>
          </a:xfrm>
          <a:prstGeom prst="rect">
            <a:avLst/>
          </a:prstGeom>
          <a:noFill/>
        </p:spPr>
        <p:txBody>
          <a:bodyPr wrap="none" lIns="0" rIns="0" tIns="0" bIns="0">
            <a:spAutoFit/>
          </a:bodyPr>
          <a:lstStyle/>
          <a:p>
            <a:r>
              <a:rPr sz="1100" b="0">
                <a:solidFill>
                  <a:srgbClr val="2E2E2E"/>
                </a:solidFill>
                <a:latin typeface="Calibri"/>
              </a:rPr>
              <a:t>moving</a:t>
            </a:r>
          </a:p>
        </p:txBody>
      </p:sp>
      <p:pic>
        <p:nvPicPr>
          <p:cNvPr id="78" name="Picture 77" descr="lock.png"/>
          <p:cNvPicPr>
            <a:picLocks noChangeAspect="1"/>
          </p:cNvPicPr>
          <p:nvPr/>
        </p:nvPicPr>
        <p:blipFill>
          <a:blip r:embed="rId4"/>
          <a:stretch>
            <a:fillRect/>
          </a:stretch>
        </p:blipFill>
        <p:spPr>
          <a:xfrm>
            <a:off x="3101372" y="3866197"/>
            <a:ext cx="128699" cy="187198"/>
          </a:xfrm>
          <a:prstGeom prst="rect">
            <a:avLst/>
          </a:prstGeom>
        </p:spPr>
      </p:pic>
      <p:sp>
        <p:nvSpPr>
          <p:cNvPr id="79" name="TextBox 78"/>
          <p:cNvSpPr txBox="1"/>
          <p:nvPr/>
        </p:nvSpPr>
        <p:spPr>
          <a:xfrm>
            <a:off x="3268868" y="3875976"/>
            <a:ext cx="1316583" cy="186689"/>
          </a:xfrm>
          <a:prstGeom prst="rect">
            <a:avLst/>
          </a:prstGeom>
          <a:noFill/>
        </p:spPr>
        <p:txBody>
          <a:bodyPr wrap="none" lIns="0" rIns="0" tIns="0" bIns="0">
            <a:spAutoFit/>
          </a:bodyPr>
          <a:lstStyle/>
          <a:p>
            <a:r>
              <a:rPr sz="1100" b="0">
                <a:solidFill>
                  <a:srgbClr val="2E2E2E"/>
                </a:solidFill>
                <a:latin typeface="Calibri"/>
              </a:rPr>
              <a:t>a year against volume</a:t>
            </a:r>
          </a:p>
        </p:txBody>
      </p:sp>
      <p:sp>
        <p:nvSpPr>
          <p:cNvPr id="80" name="TextBox 79"/>
          <p:cNvSpPr txBox="1"/>
          <p:nvPr/>
        </p:nvSpPr>
        <p:spPr>
          <a:xfrm>
            <a:off x="2657475" y="4043616"/>
            <a:ext cx="632544" cy="186689"/>
          </a:xfrm>
          <a:prstGeom prst="rect">
            <a:avLst/>
          </a:prstGeom>
          <a:noFill/>
        </p:spPr>
        <p:txBody>
          <a:bodyPr wrap="none" lIns="0" rIns="0" tIns="0" bIns="0">
            <a:spAutoFit/>
          </a:bodyPr>
          <a:lstStyle/>
          <a:p>
            <a:r>
              <a:rPr sz="1100" b="0">
                <a:solidFill>
                  <a:srgbClr val="2E2E2E"/>
                </a:solidFill>
                <a:latin typeface="Calibri"/>
              </a:rPr>
              <a:t>growth of</a:t>
            </a:r>
          </a:p>
        </p:txBody>
      </p:sp>
      <p:pic>
        <p:nvPicPr>
          <p:cNvPr id="81" name="Picture 80" descr="lock.png"/>
          <p:cNvPicPr>
            <a:picLocks noChangeAspect="1"/>
          </p:cNvPicPr>
          <p:nvPr/>
        </p:nvPicPr>
        <p:blipFill>
          <a:blip r:embed="rId4"/>
          <a:stretch>
            <a:fillRect/>
          </a:stretch>
        </p:blipFill>
        <p:spPr>
          <a:xfrm>
            <a:off x="3238070" y="4033837"/>
            <a:ext cx="128699" cy="187198"/>
          </a:xfrm>
          <a:prstGeom prst="rect">
            <a:avLst/>
          </a:prstGeom>
        </p:spPr>
      </p:pic>
      <p:sp>
        <p:nvSpPr>
          <p:cNvPr id="82" name="TextBox 81"/>
          <p:cNvSpPr txBox="1"/>
          <p:nvPr/>
        </p:nvSpPr>
        <p:spPr>
          <a:xfrm>
            <a:off x="3405566" y="4043616"/>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3" name="TextBox 82"/>
          <p:cNvSpPr txBox="1"/>
          <p:nvPr/>
        </p:nvSpPr>
        <p:spPr>
          <a:xfrm>
            <a:off x="5038725" y="2841285"/>
            <a:ext cx="2114550" cy="186689"/>
          </a:xfrm>
          <a:prstGeom prst="rect">
            <a:avLst/>
          </a:prstGeom>
          <a:noFill/>
        </p:spPr>
        <p:txBody>
          <a:bodyPr wrap="none" lIns="0" rIns="0" tIns="0" bIns="0">
            <a:spAutoFit/>
          </a:bodyPr>
          <a:lstStyle/>
          <a:p>
            <a:r>
              <a:rPr sz="1100" b="0">
                <a:solidFill>
                  <a:srgbClr val="2E2E2E"/>
                </a:solidFill>
                <a:latin typeface="Calibri"/>
              </a:rPr>
              <a:t>▸ Assessed low. 2 product type lines</a:t>
            </a:r>
          </a:p>
        </p:txBody>
      </p:sp>
      <p:sp>
        <p:nvSpPr>
          <p:cNvPr id="84" name="TextBox 83"/>
          <p:cNvSpPr txBox="1"/>
          <p:nvPr/>
        </p:nvSpPr>
        <p:spPr>
          <a:xfrm>
            <a:off x="5038725" y="3008925"/>
            <a:ext cx="1950690" cy="186689"/>
          </a:xfrm>
          <a:prstGeom prst="rect">
            <a:avLst/>
          </a:prstGeom>
          <a:noFill/>
        </p:spPr>
        <p:txBody>
          <a:bodyPr wrap="none" lIns="0" rIns="0" tIns="0" bIns="0">
            <a:spAutoFit/>
          </a:bodyPr>
          <a:lstStyle/>
          <a:p>
            <a:r>
              <a:rPr sz="1100" b="0">
                <a:solidFill>
                  <a:srgbClr val="2E2E2E"/>
                </a:solidFill>
                <a:latin typeface="Calibri"/>
              </a:rPr>
              <a:t>compete inside the segment; the</a:t>
            </a:r>
          </a:p>
        </p:txBody>
      </p:sp>
      <p:sp>
        <p:nvSpPr>
          <p:cNvPr id="85" name="TextBox 84"/>
          <p:cNvSpPr txBox="1"/>
          <p:nvPr/>
        </p:nvSpPr>
        <p:spPr>
          <a:xfrm>
            <a:off x="5038725" y="3176565"/>
            <a:ext cx="775518" cy="186689"/>
          </a:xfrm>
          <a:prstGeom prst="rect">
            <a:avLst/>
          </a:prstGeom>
          <a:noFill/>
        </p:spPr>
        <p:txBody>
          <a:bodyPr wrap="none" lIns="0" rIns="0" tIns="0" bIns="0">
            <a:spAutoFit/>
          </a:bodyPr>
          <a:lstStyle/>
          <a:p>
            <a:r>
              <a:rPr sz="1100" b="0">
                <a:solidFill>
                  <a:srgbClr val="2E2E2E"/>
                </a:solidFill>
                <a:latin typeface="Calibri"/>
              </a:rPr>
              <a:t>leader holds</a:t>
            </a:r>
          </a:p>
        </p:txBody>
      </p:sp>
      <p:pic>
        <p:nvPicPr>
          <p:cNvPr id="86" name="Picture 85" descr="lock.png"/>
          <p:cNvPicPr>
            <a:picLocks noChangeAspect="1"/>
          </p:cNvPicPr>
          <p:nvPr/>
        </p:nvPicPr>
        <p:blipFill>
          <a:blip r:embed="rId4"/>
          <a:stretch>
            <a:fillRect/>
          </a:stretch>
        </p:blipFill>
        <p:spPr>
          <a:xfrm>
            <a:off x="5762295" y="3166786"/>
            <a:ext cx="128699" cy="187198"/>
          </a:xfrm>
          <a:prstGeom prst="rect">
            <a:avLst/>
          </a:prstGeom>
        </p:spPr>
      </p:pic>
      <p:sp>
        <p:nvSpPr>
          <p:cNvPr id="87" name="TextBox 86"/>
          <p:cNvSpPr txBox="1"/>
          <p:nvPr/>
        </p:nvSpPr>
        <p:spPr>
          <a:xfrm>
            <a:off x="5929790" y="317656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8" name="TextBox 87"/>
          <p:cNvSpPr txBox="1"/>
          <p:nvPr/>
        </p:nvSpPr>
        <p:spPr>
          <a:xfrm>
            <a:off x="5038725" y="3525799"/>
            <a:ext cx="1934046" cy="186689"/>
          </a:xfrm>
          <a:prstGeom prst="rect">
            <a:avLst/>
          </a:prstGeom>
          <a:noFill/>
        </p:spPr>
        <p:txBody>
          <a:bodyPr wrap="none" lIns="0" rIns="0" tIns="0" bIns="0">
            <a:spAutoFit/>
          </a:bodyPr>
          <a:lstStyle/>
          <a:p>
            <a:r>
              <a:rPr sz="1100" b="0">
                <a:solidFill>
                  <a:srgbClr val="2E2E2E"/>
                </a:solidFill>
                <a:latin typeface="Calibri"/>
              </a:rPr>
              <a:t>▸ Growth is unevenly distributed</a:t>
            </a:r>
          </a:p>
        </p:txBody>
      </p:sp>
      <p:sp>
        <p:nvSpPr>
          <p:cNvPr id="89" name="TextBox 88"/>
          <p:cNvSpPr txBox="1"/>
          <p:nvPr/>
        </p:nvSpPr>
        <p:spPr>
          <a:xfrm>
            <a:off x="5038725" y="3693439"/>
            <a:ext cx="1095300" cy="186689"/>
          </a:xfrm>
          <a:prstGeom prst="rect">
            <a:avLst/>
          </a:prstGeom>
          <a:noFill/>
        </p:spPr>
        <p:txBody>
          <a:bodyPr wrap="none" lIns="0" rIns="0" tIns="0" bIns="0">
            <a:spAutoFit/>
          </a:bodyPr>
          <a:lstStyle/>
          <a:p>
            <a:r>
              <a:rPr sz="1100" b="0">
                <a:solidFill>
                  <a:srgbClr val="2E2E2E"/>
                </a:solidFill>
                <a:latin typeface="Calibri"/>
              </a:rPr>
              <a:t>'Sweet muffins' at</a:t>
            </a:r>
          </a:p>
        </p:txBody>
      </p:sp>
      <p:pic>
        <p:nvPicPr>
          <p:cNvPr id="90" name="Picture 89" descr="lock.png"/>
          <p:cNvPicPr>
            <a:picLocks noChangeAspect="1"/>
          </p:cNvPicPr>
          <p:nvPr/>
        </p:nvPicPr>
        <p:blipFill>
          <a:blip r:embed="rId4"/>
          <a:stretch>
            <a:fillRect/>
          </a:stretch>
        </p:blipFill>
        <p:spPr>
          <a:xfrm>
            <a:off x="6082077" y="3683660"/>
            <a:ext cx="128699" cy="187198"/>
          </a:xfrm>
          <a:prstGeom prst="rect">
            <a:avLst/>
          </a:prstGeom>
        </p:spPr>
      </p:pic>
      <p:sp>
        <p:nvSpPr>
          <p:cNvPr id="91" name="TextBox 90"/>
          <p:cNvSpPr txBox="1"/>
          <p:nvPr/>
        </p:nvSpPr>
        <p:spPr>
          <a:xfrm>
            <a:off x="6249573" y="3693439"/>
            <a:ext cx="482748" cy="186689"/>
          </a:xfrm>
          <a:prstGeom prst="rect">
            <a:avLst/>
          </a:prstGeom>
          <a:noFill/>
        </p:spPr>
        <p:txBody>
          <a:bodyPr wrap="none" lIns="0" rIns="0" tIns="0" bIns="0">
            <a:spAutoFit/>
          </a:bodyPr>
          <a:lstStyle/>
          <a:p>
            <a:r>
              <a:rPr sz="1100" b="0">
                <a:solidFill>
                  <a:srgbClr val="2E2E2E"/>
                </a:solidFill>
                <a:latin typeface="Calibri"/>
              </a:rPr>
              <a:t>against</a:t>
            </a:r>
          </a:p>
        </p:txBody>
      </p:sp>
      <p:sp>
        <p:nvSpPr>
          <p:cNvPr id="92" name="TextBox 91"/>
          <p:cNvSpPr txBox="1"/>
          <p:nvPr/>
        </p:nvSpPr>
        <p:spPr>
          <a:xfrm>
            <a:off x="5038725" y="3861079"/>
            <a:ext cx="1198438" cy="186689"/>
          </a:xfrm>
          <a:prstGeom prst="rect">
            <a:avLst/>
          </a:prstGeom>
          <a:noFill/>
        </p:spPr>
        <p:txBody>
          <a:bodyPr wrap="none" lIns="0" rIns="0" tIns="0" bIns="0">
            <a:spAutoFit/>
          </a:bodyPr>
          <a:lstStyle/>
          <a:p>
            <a:r>
              <a:rPr sz="1100" b="0">
                <a:solidFill>
                  <a:srgbClr val="2E2E2E"/>
                </a:solidFill>
                <a:latin typeface="Calibri"/>
              </a:rPr>
              <a:t>'Savoury muffins' at</a:t>
            </a:r>
          </a:p>
        </p:txBody>
      </p:sp>
      <p:pic>
        <p:nvPicPr>
          <p:cNvPr id="93" name="Picture 92" descr="lock.png"/>
          <p:cNvPicPr>
            <a:picLocks noChangeAspect="1"/>
          </p:cNvPicPr>
          <p:nvPr/>
        </p:nvPicPr>
        <p:blipFill>
          <a:blip r:embed="rId4"/>
          <a:stretch>
            <a:fillRect/>
          </a:stretch>
        </p:blipFill>
        <p:spPr>
          <a:xfrm>
            <a:off x="6185215" y="3851300"/>
            <a:ext cx="128699" cy="187198"/>
          </a:xfrm>
          <a:prstGeom prst="rect">
            <a:avLst/>
          </a:prstGeom>
        </p:spPr>
      </p:pic>
      <p:sp>
        <p:nvSpPr>
          <p:cNvPr id="94" name="TextBox 93"/>
          <p:cNvSpPr txBox="1"/>
          <p:nvPr/>
        </p:nvSpPr>
        <p:spPr>
          <a:xfrm>
            <a:off x="6352710" y="3861079"/>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5" name="TextBox 94"/>
          <p:cNvSpPr txBox="1"/>
          <p:nvPr/>
        </p:nvSpPr>
        <p:spPr>
          <a:xfrm>
            <a:off x="5038725" y="4210313"/>
            <a:ext cx="2061195" cy="186689"/>
          </a:xfrm>
          <a:prstGeom prst="rect">
            <a:avLst/>
          </a:prstGeom>
          <a:noFill/>
        </p:spPr>
        <p:txBody>
          <a:bodyPr wrap="none" lIns="0" rIns="0" tIns="0" bIns="0">
            <a:spAutoFit/>
          </a:bodyPr>
          <a:lstStyle/>
          <a:p>
            <a:r>
              <a:rPr sz="1100" b="0">
                <a:solidFill>
                  <a:srgbClr val="2E2E2E"/>
                </a:solidFill>
                <a:latin typeface="Calibri"/>
              </a:rPr>
              <a:t>▸ 1 of 2 countries grow at or above</a:t>
            </a:r>
          </a:p>
        </p:txBody>
      </p:sp>
      <p:sp>
        <p:nvSpPr>
          <p:cNvPr id="96" name="TextBox 95"/>
          <p:cNvSpPr txBox="1"/>
          <p:nvPr/>
        </p:nvSpPr>
        <p:spPr>
          <a:xfrm>
            <a:off x="5038725" y="4377953"/>
            <a:ext cx="266104" cy="186689"/>
          </a:xfrm>
          <a:prstGeom prst="rect">
            <a:avLst/>
          </a:prstGeom>
          <a:noFill/>
        </p:spPr>
        <p:txBody>
          <a:bodyPr wrap="none" lIns="0" rIns="0" tIns="0" bIns="0">
            <a:spAutoFit/>
          </a:bodyPr>
          <a:lstStyle/>
          <a:p>
            <a:r>
              <a:rPr sz="1100" b="0">
                <a:solidFill>
                  <a:srgbClr val="2E2E2E"/>
                </a:solidFill>
                <a:latin typeface="Calibri"/>
              </a:rPr>
              <a:t>the</a:t>
            </a:r>
          </a:p>
        </p:txBody>
      </p:sp>
      <p:pic>
        <p:nvPicPr>
          <p:cNvPr id="97" name="Picture 96" descr="lock.png"/>
          <p:cNvPicPr>
            <a:picLocks noChangeAspect="1"/>
          </p:cNvPicPr>
          <p:nvPr/>
        </p:nvPicPr>
        <p:blipFill>
          <a:blip r:embed="rId4"/>
          <a:stretch>
            <a:fillRect/>
          </a:stretch>
        </p:blipFill>
        <p:spPr>
          <a:xfrm>
            <a:off x="5252881" y="4368174"/>
            <a:ext cx="128699" cy="187198"/>
          </a:xfrm>
          <a:prstGeom prst="rect">
            <a:avLst/>
          </a:prstGeom>
        </p:spPr>
      </p:pic>
      <p:sp>
        <p:nvSpPr>
          <p:cNvPr id="98" name="TextBox 97"/>
          <p:cNvSpPr txBox="1"/>
          <p:nvPr/>
        </p:nvSpPr>
        <p:spPr>
          <a:xfrm>
            <a:off x="5420377" y="4377953"/>
            <a:ext cx="1643186" cy="186689"/>
          </a:xfrm>
          <a:prstGeom prst="rect">
            <a:avLst/>
          </a:prstGeom>
          <a:noFill/>
        </p:spPr>
        <p:txBody>
          <a:bodyPr wrap="none" lIns="0" rIns="0" tIns="0" bIns="0">
            <a:spAutoFit/>
          </a:bodyPr>
          <a:lstStyle/>
          <a:p>
            <a:r>
              <a:rPr sz="1100" b="0">
                <a:solidFill>
                  <a:srgbClr val="2E2E2E"/>
                </a:solidFill>
                <a:latin typeface="Calibri"/>
              </a:rPr>
              <a:t>market pace, keeping share</a:t>
            </a:r>
          </a:p>
        </p:txBody>
      </p:sp>
      <p:sp>
        <p:nvSpPr>
          <p:cNvPr id="99" name="TextBox 98"/>
          <p:cNvSpPr txBox="1"/>
          <p:nvPr/>
        </p:nvSpPr>
        <p:spPr>
          <a:xfrm>
            <a:off x="5038725" y="4545593"/>
            <a:ext cx="678656" cy="186689"/>
          </a:xfrm>
          <a:prstGeom prst="rect">
            <a:avLst/>
          </a:prstGeom>
          <a:noFill/>
        </p:spPr>
        <p:txBody>
          <a:bodyPr wrap="none" lIns="0" rIns="0" tIns="0" bIns="0">
            <a:spAutoFit/>
          </a:bodyPr>
          <a:lstStyle/>
          <a:p>
            <a:r>
              <a:rPr sz="1100" b="0">
                <a:solidFill>
                  <a:srgbClr val="2E2E2E"/>
                </a:solidFill>
                <a:latin typeface="Calibri"/>
              </a:rPr>
              <a:t>contested.</a:t>
            </a:r>
          </a:p>
        </p:txBody>
      </p:sp>
      <p:sp>
        <p:nvSpPr>
          <p:cNvPr id="100" name="TextBox 99"/>
          <p:cNvSpPr txBox="1"/>
          <p:nvPr/>
        </p:nvSpPr>
        <p:spPr>
          <a:xfrm>
            <a:off x="7419975" y="2944566"/>
            <a:ext cx="1833364" cy="186689"/>
          </a:xfrm>
          <a:prstGeom prst="rect">
            <a:avLst/>
          </a:prstGeom>
          <a:noFill/>
        </p:spPr>
        <p:txBody>
          <a:bodyPr wrap="none" lIns="0" rIns="0" tIns="0" bIns="0">
            <a:spAutoFit/>
          </a:bodyPr>
          <a:lstStyle/>
          <a:p>
            <a:r>
              <a:rPr sz="1100" b="0">
                <a:solidFill>
                  <a:srgbClr val="2E2E2E"/>
                </a:solidFill>
                <a:latin typeface="Calibri"/>
              </a:rPr>
              <a:t>▸ Assessed moderate. 'Savoury</a:t>
            </a:r>
          </a:p>
        </p:txBody>
      </p:sp>
      <p:sp>
        <p:nvSpPr>
          <p:cNvPr id="101" name="TextBox 100"/>
          <p:cNvSpPr txBox="1"/>
          <p:nvPr/>
        </p:nvSpPr>
        <p:spPr>
          <a:xfrm>
            <a:off x="7419975" y="3112206"/>
            <a:ext cx="853554" cy="186689"/>
          </a:xfrm>
          <a:prstGeom prst="rect">
            <a:avLst/>
          </a:prstGeom>
          <a:noFill/>
        </p:spPr>
        <p:txBody>
          <a:bodyPr wrap="none" lIns="0" rIns="0" tIns="0" bIns="0">
            <a:spAutoFit/>
          </a:bodyPr>
          <a:lstStyle/>
          <a:p>
            <a:r>
              <a:rPr sz="1100" b="0">
                <a:solidFill>
                  <a:srgbClr val="2E2E2E"/>
                </a:solidFill>
                <a:latin typeface="Calibri"/>
              </a:rPr>
              <a:t>muffins' loses</a:t>
            </a:r>
          </a:p>
        </p:txBody>
      </p:sp>
      <p:pic>
        <p:nvPicPr>
          <p:cNvPr id="102" name="Picture 101" descr="lock.png"/>
          <p:cNvPicPr>
            <a:picLocks noChangeAspect="1"/>
          </p:cNvPicPr>
          <p:nvPr/>
        </p:nvPicPr>
        <p:blipFill>
          <a:blip r:embed="rId4"/>
          <a:stretch>
            <a:fillRect/>
          </a:stretch>
        </p:blipFill>
        <p:spPr>
          <a:xfrm>
            <a:off x="8221580" y="3102427"/>
            <a:ext cx="128699" cy="187198"/>
          </a:xfrm>
          <a:prstGeom prst="rect">
            <a:avLst/>
          </a:prstGeom>
        </p:spPr>
      </p:pic>
      <p:sp>
        <p:nvSpPr>
          <p:cNvPr id="103" name="TextBox 102"/>
          <p:cNvSpPr txBox="1"/>
          <p:nvPr/>
        </p:nvSpPr>
        <p:spPr>
          <a:xfrm>
            <a:off x="8389076" y="3112206"/>
            <a:ext cx="933772" cy="186689"/>
          </a:xfrm>
          <a:prstGeom prst="rect">
            <a:avLst/>
          </a:prstGeom>
          <a:noFill/>
        </p:spPr>
        <p:txBody>
          <a:bodyPr wrap="none" lIns="0" rIns="0" tIns="0" bIns="0">
            <a:spAutoFit/>
          </a:bodyPr>
          <a:lstStyle/>
          <a:p>
            <a:r>
              <a:rPr sz="1100" b="0">
                <a:solidFill>
                  <a:srgbClr val="2E2E2E"/>
                </a:solidFill>
                <a:latin typeface="Calibri"/>
              </a:rPr>
              <a:t>BPS of share to</a:t>
            </a:r>
          </a:p>
        </p:txBody>
      </p:sp>
      <p:sp>
        <p:nvSpPr>
          <p:cNvPr id="104" name="TextBox 103"/>
          <p:cNvSpPr txBox="1"/>
          <p:nvPr/>
        </p:nvSpPr>
        <p:spPr>
          <a:xfrm>
            <a:off x="7419975" y="3279846"/>
            <a:ext cx="1093390" cy="186689"/>
          </a:xfrm>
          <a:prstGeom prst="rect">
            <a:avLst/>
          </a:prstGeom>
          <a:noFill/>
        </p:spPr>
        <p:txBody>
          <a:bodyPr wrap="none" lIns="0" rIns="0" tIns="0" bIns="0">
            <a:spAutoFit/>
          </a:bodyPr>
          <a:lstStyle/>
          <a:p>
            <a:r>
              <a:rPr sz="1100" b="0">
                <a:solidFill>
                  <a:srgbClr val="2E2E2E"/>
                </a:solidFill>
                <a:latin typeface="Calibri"/>
              </a:rPr>
              <a:t>'Sweet muffins' (+</a:t>
            </a:r>
          </a:p>
        </p:txBody>
      </p:sp>
      <p:pic>
        <p:nvPicPr>
          <p:cNvPr id="105" name="Picture 104" descr="lock.png"/>
          <p:cNvPicPr>
            <a:picLocks noChangeAspect="1"/>
          </p:cNvPicPr>
          <p:nvPr/>
        </p:nvPicPr>
        <p:blipFill>
          <a:blip r:embed="rId4"/>
          <a:stretch>
            <a:fillRect/>
          </a:stretch>
        </p:blipFill>
        <p:spPr>
          <a:xfrm>
            <a:off x="8461417" y="3270067"/>
            <a:ext cx="128699" cy="187198"/>
          </a:xfrm>
          <a:prstGeom prst="rect">
            <a:avLst/>
          </a:prstGeom>
        </p:spPr>
      </p:pic>
      <p:sp>
        <p:nvSpPr>
          <p:cNvPr id="106" name="TextBox 105"/>
          <p:cNvSpPr txBox="1"/>
          <p:nvPr/>
        </p:nvSpPr>
        <p:spPr>
          <a:xfrm>
            <a:off x="8628913" y="3279846"/>
            <a:ext cx="814809" cy="186689"/>
          </a:xfrm>
          <a:prstGeom prst="rect">
            <a:avLst/>
          </a:prstGeom>
          <a:noFill/>
        </p:spPr>
        <p:txBody>
          <a:bodyPr wrap="none" lIns="0" rIns="0" tIns="0" bIns="0">
            <a:spAutoFit/>
          </a:bodyPr>
          <a:lstStyle/>
          <a:p>
            <a:r>
              <a:rPr sz="1100" b="0">
                <a:solidFill>
                  <a:srgbClr val="2E2E2E"/>
                </a:solidFill>
                <a:latin typeface="Calibri"/>
              </a:rPr>
              <a:t>BPS) by 2036</a:t>
            </a:r>
          </a:p>
        </p:txBody>
      </p:sp>
      <p:sp>
        <p:nvSpPr>
          <p:cNvPr id="107" name="TextBox 106"/>
          <p:cNvSpPr txBox="1"/>
          <p:nvPr/>
        </p:nvSpPr>
        <p:spPr>
          <a:xfrm>
            <a:off x="7419975" y="3447486"/>
            <a:ext cx="2114550" cy="186689"/>
          </a:xfrm>
          <a:prstGeom prst="rect">
            <a:avLst/>
          </a:prstGeom>
          <a:noFill/>
        </p:spPr>
        <p:txBody>
          <a:bodyPr wrap="none" lIns="0" rIns="0" tIns="0" bIns="0">
            <a:spAutoFit/>
          </a:bodyPr>
          <a:lstStyle/>
          <a:p>
            <a:r>
              <a:rPr sz="1100" b="0">
                <a:solidFill>
                  <a:srgbClr val="2E2E2E"/>
                </a:solidFill>
                <a:latin typeface="Calibri"/>
              </a:rPr>
              <a:t>substitution is visible inside the mix.</a:t>
            </a:r>
          </a:p>
        </p:txBody>
      </p:sp>
      <p:sp>
        <p:nvSpPr>
          <p:cNvPr id="108" name="TextBox 107"/>
          <p:cNvSpPr txBox="1"/>
          <p:nvPr/>
        </p:nvSpPr>
        <p:spPr>
          <a:xfrm>
            <a:off x="7419975" y="3894694"/>
            <a:ext cx="1550384" cy="179984"/>
          </a:xfrm>
          <a:prstGeom prst="rect">
            <a:avLst/>
          </a:prstGeom>
          <a:noFill/>
        </p:spPr>
        <p:txBody>
          <a:bodyPr wrap="none" lIns="0" rIns="0" tIns="0" bIns="0">
            <a:spAutoFit/>
          </a:bodyPr>
          <a:lstStyle/>
          <a:p>
            <a:r>
              <a:rPr sz="1055" b="0">
                <a:solidFill>
                  <a:srgbClr val="2E2E2E"/>
                </a:solidFill>
                <a:latin typeface="Calibri"/>
              </a:rPr>
              <a:t>▸ The slowest line grows at</a:t>
            </a:r>
          </a:p>
        </p:txBody>
      </p:sp>
      <p:pic>
        <p:nvPicPr>
          <p:cNvPr id="109" name="Picture 108" descr="lock.png"/>
          <p:cNvPicPr>
            <a:picLocks noChangeAspect="1"/>
          </p:cNvPicPr>
          <p:nvPr/>
        </p:nvPicPr>
        <p:blipFill>
          <a:blip r:embed="rId4"/>
          <a:stretch>
            <a:fillRect/>
          </a:stretch>
        </p:blipFill>
        <p:spPr>
          <a:xfrm>
            <a:off x="8917440" y="3885306"/>
            <a:ext cx="123551" cy="179710"/>
          </a:xfrm>
          <a:prstGeom prst="rect">
            <a:avLst/>
          </a:prstGeom>
        </p:spPr>
      </p:pic>
      <p:sp>
        <p:nvSpPr>
          <p:cNvPr id="110" name="TextBox 109"/>
          <p:cNvSpPr txBox="1"/>
          <p:nvPr/>
        </p:nvSpPr>
        <p:spPr>
          <a:xfrm>
            <a:off x="9078236" y="3894694"/>
            <a:ext cx="181236" cy="179984"/>
          </a:xfrm>
          <a:prstGeom prst="rect">
            <a:avLst/>
          </a:prstGeom>
          <a:noFill/>
        </p:spPr>
        <p:txBody>
          <a:bodyPr wrap="none" lIns="0" rIns="0" tIns="0" bIns="0">
            <a:spAutoFit/>
          </a:bodyPr>
          <a:lstStyle/>
          <a:p>
            <a:r>
              <a:rPr sz="1055" b="0">
                <a:solidFill>
                  <a:srgbClr val="2E2E2E"/>
                </a:solidFill>
                <a:latin typeface="Calibri"/>
              </a:rPr>
              <a:t>, -</a:t>
            </a:r>
          </a:p>
        </p:txBody>
      </p:sp>
      <p:pic>
        <p:nvPicPr>
          <p:cNvPr id="111" name="Picture 110" descr="lock.png"/>
          <p:cNvPicPr>
            <a:picLocks noChangeAspect="1"/>
          </p:cNvPicPr>
          <p:nvPr/>
        </p:nvPicPr>
        <p:blipFill>
          <a:blip r:embed="rId4"/>
          <a:stretch>
            <a:fillRect/>
          </a:stretch>
        </p:blipFill>
        <p:spPr>
          <a:xfrm>
            <a:off x="9206555" y="3885306"/>
            <a:ext cx="123551" cy="179710"/>
          </a:xfrm>
          <a:prstGeom prst="rect">
            <a:avLst/>
          </a:prstGeom>
        </p:spPr>
      </p:pic>
      <p:sp>
        <p:nvSpPr>
          <p:cNvPr id="112" name="TextBox 111"/>
          <p:cNvSpPr txBox="1"/>
          <p:nvPr/>
        </p:nvSpPr>
        <p:spPr>
          <a:xfrm>
            <a:off x="7419975" y="4055628"/>
            <a:ext cx="1368861" cy="179984"/>
          </a:xfrm>
          <a:prstGeom prst="rect">
            <a:avLst/>
          </a:prstGeom>
          <a:noFill/>
        </p:spPr>
        <p:txBody>
          <a:bodyPr wrap="none" lIns="0" rIns="0" tIns="0" bIns="0">
            <a:spAutoFit/>
          </a:bodyPr>
          <a:lstStyle/>
          <a:p>
            <a:r>
              <a:rPr sz="1055" b="0">
                <a:solidFill>
                  <a:srgbClr val="2E2E2E"/>
                </a:solidFill>
                <a:latin typeface="Calibri"/>
              </a:rPr>
              <a:t>BPS against the market.</a:t>
            </a:r>
          </a:p>
        </p:txBody>
      </p:sp>
      <p:sp>
        <p:nvSpPr>
          <p:cNvPr id="113" name="TextBox 112"/>
          <p:cNvSpPr txBox="1"/>
          <p:nvPr/>
        </p:nvSpPr>
        <p:spPr>
          <a:xfrm>
            <a:off x="7419975" y="4392850"/>
            <a:ext cx="1254373" cy="186689"/>
          </a:xfrm>
          <a:prstGeom prst="rect">
            <a:avLst/>
          </a:prstGeom>
          <a:noFill/>
        </p:spPr>
        <p:txBody>
          <a:bodyPr wrap="none" lIns="0" rIns="0" tIns="0" bIns="0">
            <a:spAutoFit/>
          </a:bodyPr>
          <a:lstStyle/>
          <a:p>
            <a:r>
              <a:rPr sz="1100" b="0">
                <a:solidFill>
                  <a:srgbClr val="2E2E2E"/>
                </a:solidFill>
                <a:latin typeface="Calibri"/>
              </a:rPr>
              <a:t>▸ Realisation moving</a:t>
            </a:r>
          </a:p>
        </p:txBody>
      </p:sp>
      <p:pic>
        <p:nvPicPr>
          <p:cNvPr id="114" name="Picture 113" descr="lock.png"/>
          <p:cNvPicPr>
            <a:picLocks noChangeAspect="1"/>
          </p:cNvPicPr>
          <p:nvPr/>
        </p:nvPicPr>
        <p:blipFill>
          <a:blip r:embed="rId4"/>
          <a:stretch>
            <a:fillRect/>
          </a:stretch>
        </p:blipFill>
        <p:spPr>
          <a:xfrm>
            <a:off x="8622399" y="4383071"/>
            <a:ext cx="128699" cy="187198"/>
          </a:xfrm>
          <a:prstGeom prst="rect">
            <a:avLst/>
          </a:prstGeom>
        </p:spPr>
      </p:pic>
      <p:sp>
        <p:nvSpPr>
          <p:cNvPr id="115" name="TextBox 114"/>
          <p:cNvSpPr txBox="1"/>
          <p:nvPr/>
        </p:nvSpPr>
        <p:spPr>
          <a:xfrm>
            <a:off x="8789895" y="4392850"/>
            <a:ext cx="423267" cy="186689"/>
          </a:xfrm>
          <a:prstGeom prst="rect">
            <a:avLst/>
          </a:prstGeom>
          <a:noFill/>
        </p:spPr>
        <p:txBody>
          <a:bodyPr wrap="none" lIns="0" rIns="0" tIns="0" bIns="0">
            <a:spAutoFit/>
          </a:bodyPr>
          <a:lstStyle/>
          <a:p>
            <a:r>
              <a:rPr sz="1100" b="0">
                <a:solidFill>
                  <a:srgbClr val="2E2E2E"/>
                </a:solidFill>
                <a:latin typeface="Calibri"/>
              </a:rPr>
              <a:t>a year</a:t>
            </a:r>
          </a:p>
        </p:txBody>
      </p:sp>
      <p:sp>
        <p:nvSpPr>
          <p:cNvPr id="116" name="TextBox 115"/>
          <p:cNvSpPr txBox="1"/>
          <p:nvPr/>
        </p:nvSpPr>
        <p:spPr>
          <a:xfrm>
            <a:off x="7419975" y="4560490"/>
            <a:ext cx="1911399" cy="186689"/>
          </a:xfrm>
          <a:prstGeom prst="rect">
            <a:avLst/>
          </a:prstGeom>
          <a:noFill/>
        </p:spPr>
        <p:txBody>
          <a:bodyPr wrap="none" lIns="0" rIns="0" tIns="0" bIns="0">
            <a:spAutoFit/>
          </a:bodyPr>
          <a:lstStyle/>
          <a:p>
            <a:r>
              <a:rPr sz="1100" b="0">
                <a:solidFill>
                  <a:srgbClr val="2E2E2E"/>
                </a:solidFill>
                <a:latin typeface="Calibri"/>
              </a:rPr>
              <a:t>widens the price gap substitutes</a:t>
            </a:r>
          </a:p>
        </p:txBody>
      </p:sp>
      <p:sp>
        <p:nvSpPr>
          <p:cNvPr id="117" name="TextBox 116"/>
          <p:cNvSpPr txBox="1"/>
          <p:nvPr/>
        </p:nvSpPr>
        <p:spPr>
          <a:xfrm>
            <a:off x="7419975" y="4728130"/>
            <a:ext cx="718765" cy="186689"/>
          </a:xfrm>
          <a:prstGeom prst="rect">
            <a:avLst/>
          </a:prstGeom>
          <a:noFill/>
        </p:spPr>
        <p:txBody>
          <a:bodyPr wrap="none" lIns="0" rIns="0" tIns="0" bIns="0">
            <a:spAutoFit/>
          </a:bodyPr>
          <a:lstStyle/>
          <a:p>
            <a:r>
              <a:rPr sz="1100" b="0">
                <a:solidFill>
                  <a:srgbClr val="2E2E2E"/>
                </a:solidFill>
                <a:latin typeface="Calibri"/>
              </a:rPr>
              <a:t>must close.</a:t>
            </a:r>
          </a:p>
        </p:txBody>
      </p:sp>
      <p:sp>
        <p:nvSpPr>
          <p:cNvPr id="118" name="TextBox 117"/>
          <p:cNvSpPr txBox="1"/>
          <p:nvPr/>
        </p:nvSpPr>
        <p:spPr>
          <a:xfrm>
            <a:off x="9801225" y="2932554"/>
            <a:ext cx="1999530" cy="186689"/>
          </a:xfrm>
          <a:prstGeom prst="rect">
            <a:avLst/>
          </a:prstGeom>
          <a:noFill/>
        </p:spPr>
        <p:txBody>
          <a:bodyPr wrap="none" lIns="0" rIns="0" tIns="0" bIns="0">
            <a:spAutoFit/>
          </a:bodyPr>
          <a:lstStyle/>
          <a:p>
            <a:r>
              <a:rPr sz="1100" b="0">
                <a:solidFill>
                  <a:srgbClr val="2E2E2E"/>
                </a:solidFill>
                <a:latin typeface="Calibri"/>
              </a:rPr>
              <a:t>▸ Assessed moderate. The market</a:t>
            </a:r>
          </a:p>
        </p:txBody>
      </p:sp>
      <p:sp>
        <p:nvSpPr>
          <p:cNvPr id="119" name="TextBox 118"/>
          <p:cNvSpPr txBox="1"/>
          <p:nvPr/>
        </p:nvSpPr>
        <p:spPr>
          <a:xfrm>
            <a:off x="9801225" y="3100194"/>
            <a:ext cx="564331" cy="186689"/>
          </a:xfrm>
          <a:prstGeom prst="rect">
            <a:avLst/>
          </a:prstGeom>
          <a:noFill/>
        </p:spPr>
        <p:txBody>
          <a:bodyPr wrap="none" lIns="0" rIns="0" tIns="0" bIns="0">
            <a:spAutoFit/>
          </a:bodyPr>
          <a:lstStyle/>
          <a:p>
            <a:r>
              <a:rPr sz="1100" b="0">
                <a:solidFill>
                  <a:srgbClr val="2E2E2E"/>
                </a:solidFill>
                <a:latin typeface="Calibri"/>
              </a:rPr>
              <a:t>grows at</a:t>
            </a:r>
          </a:p>
        </p:txBody>
      </p:sp>
      <p:pic>
        <p:nvPicPr>
          <p:cNvPr id="120" name="Picture 119" descr="lock.png"/>
          <p:cNvPicPr>
            <a:picLocks noChangeAspect="1"/>
          </p:cNvPicPr>
          <p:nvPr/>
        </p:nvPicPr>
        <p:blipFill>
          <a:blip r:embed="rId4"/>
          <a:stretch>
            <a:fillRect/>
          </a:stretch>
        </p:blipFill>
        <p:spPr>
          <a:xfrm>
            <a:off x="10313608" y="3090415"/>
            <a:ext cx="128699" cy="187198"/>
          </a:xfrm>
          <a:prstGeom prst="rect">
            <a:avLst/>
          </a:prstGeom>
        </p:spPr>
      </p:pic>
      <p:sp>
        <p:nvSpPr>
          <p:cNvPr id="121" name="TextBox 120"/>
          <p:cNvSpPr txBox="1"/>
          <p:nvPr/>
        </p:nvSpPr>
        <p:spPr>
          <a:xfrm>
            <a:off x="10481103" y="3100194"/>
            <a:ext cx="940576" cy="186689"/>
          </a:xfrm>
          <a:prstGeom prst="rect">
            <a:avLst/>
          </a:prstGeom>
          <a:noFill/>
        </p:spPr>
        <p:txBody>
          <a:bodyPr wrap="none" lIns="0" rIns="0" tIns="0" bIns="0">
            <a:spAutoFit/>
          </a:bodyPr>
          <a:lstStyle/>
          <a:p>
            <a:r>
              <a:rPr sz="1100" b="0">
                <a:solidFill>
                  <a:srgbClr val="2E2E2E"/>
                </a:solidFill>
                <a:latin typeface="Calibri"/>
              </a:rPr>
              <a:t>CAGR and adds</a:t>
            </a:r>
          </a:p>
        </p:txBody>
      </p:sp>
      <p:pic>
        <p:nvPicPr>
          <p:cNvPr id="122" name="Picture 121" descr="lock.png"/>
          <p:cNvPicPr>
            <a:picLocks noChangeAspect="1"/>
          </p:cNvPicPr>
          <p:nvPr/>
        </p:nvPicPr>
        <p:blipFill>
          <a:blip r:embed="rId4"/>
          <a:stretch>
            <a:fillRect/>
          </a:stretch>
        </p:blipFill>
        <p:spPr>
          <a:xfrm>
            <a:off x="11369732" y="3090415"/>
            <a:ext cx="128699" cy="187198"/>
          </a:xfrm>
          <a:prstGeom prst="rect">
            <a:avLst/>
          </a:prstGeom>
        </p:spPr>
      </p:pic>
      <p:sp>
        <p:nvSpPr>
          <p:cNvPr id="123" name="TextBox 122"/>
          <p:cNvSpPr txBox="1"/>
          <p:nvPr/>
        </p:nvSpPr>
        <p:spPr>
          <a:xfrm>
            <a:off x="9801225" y="3267834"/>
            <a:ext cx="1998712" cy="186689"/>
          </a:xfrm>
          <a:prstGeom prst="rect">
            <a:avLst/>
          </a:prstGeom>
          <a:noFill/>
        </p:spPr>
        <p:txBody>
          <a:bodyPr wrap="none" lIns="0" rIns="0" tIns="0" bIns="0">
            <a:spAutoFit/>
          </a:bodyPr>
          <a:lstStyle/>
          <a:p>
            <a:r>
              <a:rPr sz="1100" b="0">
                <a:solidFill>
                  <a:srgbClr val="2E2E2E"/>
                </a:solidFill>
                <a:latin typeface="Calibri"/>
              </a:rPr>
              <a:t>US$ Mn by 2036, attracting entry.</a:t>
            </a:r>
          </a:p>
        </p:txBody>
      </p:sp>
      <p:sp>
        <p:nvSpPr>
          <p:cNvPr id="124" name="TextBox 123"/>
          <p:cNvSpPr txBox="1"/>
          <p:nvPr/>
        </p:nvSpPr>
        <p:spPr>
          <a:xfrm>
            <a:off x="9801225" y="3799605"/>
            <a:ext cx="2085206" cy="186689"/>
          </a:xfrm>
          <a:prstGeom prst="rect">
            <a:avLst/>
          </a:prstGeom>
          <a:noFill/>
        </p:spPr>
        <p:txBody>
          <a:bodyPr wrap="none" lIns="0" rIns="0" tIns="0" bIns="0">
            <a:spAutoFit/>
          </a:bodyPr>
          <a:lstStyle/>
          <a:p>
            <a:r>
              <a:rPr sz="1100" b="0">
                <a:solidFill>
                  <a:srgbClr val="2E2E2E"/>
                </a:solidFill>
                <a:latin typeface="Calibri"/>
              </a:rPr>
              <a:t>▸ Demand spreads over 2 countries</a:t>
            </a:r>
          </a:p>
        </p:txBody>
      </p:sp>
      <p:sp>
        <p:nvSpPr>
          <p:cNvPr id="125" name="TextBox 124"/>
          <p:cNvSpPr txBox="1"/>
          <p:nvPr/>
        </p:nvSpPr>
        <p:spPr>
          <a:xfrm>
            <a:off x="9801225" y="3967245"/>
            <a:ext cx="1493118" cy="186689"/>
          </a:xfrm>
          <a:prstGeom prst="rect">
            <a:avLst/>
          </a:prstGeom>
          <a:noFill/>
        </p:spPr>
        <p:txBody>
          <a:bodyPr wrap="none" lIns="0" rIns="0" tIns="0" bIns="0">
            <a:spAutoFit/>
          </a:bodyPr>
          <a:lstStyle/>
          <a:p>
            <a:r>
              <a:rPr sz="1100" b="0">
                <a:solidFill>
                  <a:srgbClr val="2E2E2E"/>
                </a:solidFill>
                <a:latin typeface="Calibri"/>
              </a:rPr>
              <a:t>with no single one above</a:t>
            </a:r>
          </a:p>
        </p:txBody>
      </p:sp>
      <p:pic>
        <p:nvPicPr>
          <p:cNvPr id="126" name="Picture 125" descr="lock.png"/>
          <p:cNvPicPr>
            <a:picLocks noChangeAspect="1"/>
          </p:cNvPicPr>
          <p:nvPr/>
        </p:nvPicPr>
        <p:blipFill>
          <a:blip r:embed="rId4"/>
          <a:stretch>
            <a:fillRect/>
          </a:stretch>
        </p:blipFill>
        <p:spPr>
          <a:xfrm>
            <a:off x="11242394" y="3957466"/>
            <a:ext cx="128699" cy="187198"/>
          </a:xfrm>
          <a:prstGeom prst="rect">
            <a:avLst/>
          </a:prstGeom>
        </p:spPr>
      </p:pic>
      <p:sp>
        <p:nvSpPr>
          <p:cNvPr id="127" name="TextBox 126"/>
          <p:cNvSpPr txBox="1"/>
          <p:nvPr/>
        </p:nvSpPr>
        <p:spPr>
          <a:xfrm>
            <a:off x="11409890" y="3967245"/>
            <a:ext cx="271016" cy="186689"/>
          </a:xfrm>
          <a:prstGeom prst="rect">
            <a:avLst/>
          </a:prstGeom>
          <a:noFill/>
        </p:spPr>
        <p:txBody>
          <a:bodyPr wrap="none" lIns="0" rIns="0" tIns="0" bIns="0">
            <a:spAutoFit/>
          </a:bodyPr>
          <a:lstStyle/>
          <a:p>
            <a:r>
              <a:rPr sz="1100" b="0">
                <a:solidFill>
                  <a:srgbClr val="2E2E2E"/>
                </a:solidFill>
                <a:latin typeface="Calibri"/>
              </a:rPr>
              <a:t>, so</a:t>
            </a:r>
          </a:p>
        </p:txBody>
      </p:sp>
      <p:sp>
        <p:nvSpPr>
          <p:cNvPr id="128" name="TextBox 127"/>
          <p:cNvSpPr txBox="1"/>
          <p:nvPr/>
        </p:nvSpPr>
        <p:spPr>
          <a:xfrm>
            <a:off x="9801225" y="4134885"/>
            <a:ext cx="1498575" cy="186689"/>
          </a:xfrm>
          <a:prstGeom prst="rect">
            <a:avLst/>
          </a:prstGeom>
          <a:noFill/>
        </p:spPr>
        <p:txBody>
          <a:bodyPr wrap="none" lIns="0" rIns="0" tIns="0" bIns="0">
            <a:spAutoFit/>
          </a:bodyPr>
          <a:lstStyle/>
          <a:p>
            <a:r>
              <a:rPr sz="1100" b="0">
                <a:solidFill>
                  <a:srgbClr val="2E2E2E"/>
                </a:solidFill>
                <a:latin typeface="Calibri"/>
              </a:rPr>
              <a:t>regional entry is feasible.</a:t>
            </a:r>
          </a:p>
        </p:txBody>
      </p:sp>
      <p:sp>
        <p:nvSpPr>
          <p:cNvPr id="129" name="TextBox 128"/>
          <p:cNvSpPr txBox="1"/>
          <p:nvPr/>
        </p:nvSpPr>
        <p:spPr>
          <a:xfrm>
            <a:off x="9801225" y="4666656"/>
            <a:ext cx="1809080" cy="186689"/>
          </a:xfrm>
          <a:prstGeom prst="rect">
            <a:avLst/>
          </a:prstGeom>
          <a:noFill/>
        </p:spPr>
        <p:txBody>
          <a:bodyPr wrap="none" lIns="0" rIns="0" tIns="0" bIns="0">
            <a:spAutoFit/>
          </a:bodyPr>
          <a:lstStyle/>
          <a:p>
            <a:r>
              <a:rPr sz="1100" b="0">
                <a:solidFill>
                  <a:srgbClr val="2E2E2E"/>
                </a:solidFill>
                <a:latin typeface="Calibri"/>
              </a:rPr>
              <a:t>▸ Incumbent scale in 'U.S.' and</a:t>
            </a:r>
          </a:p>
        </p:txBody>
      </p:sp>
      <p:sp>
        <p:nvSpPr>
          <p:cNvPr id="130" name="TextBox 129"/>
          <p:cNvSpPr txBox="1"/>
          <p:nvPr/>
        </p:nvSpPr>
        <p:spPr>
          <a:xfrm>
            <a:off x="9801225" y="4834296"/>
            <a:ext cx="1023813" cy="186689"/>
          </a:xfrm>
          <a:prstGeom prst="rect">
            <a:avLst/>
          </a:prstGeom>
          <a:noFill/>
        </p:spPr>
        <p:txBody>
          <a:bodyPr wrap="none" lIns="0" rIns="0" tIns="0" bIns="0">
            <a:spAutoFit/>
          </a:bodyPr>
          <a:lstStyle/>
          <a:p>
            <a:r>
              <a:rPr sz="1100" b="0">
                <a:solidFill>
                  <a:srgbClr val="2E2E2E"/>
                </a:solidFill>
                <a:latin typeface="Calibri"/>
              </a:rPr>
              <a:t>'Sweet muffins' (</a:t>
            </a:r>
          </a:p>
        </p:txBody>
      </p:sp>
      <p:pic>
        <p:nvPicPr>
          <p:cNvPr id="131" name="Picture 130" descr="lock.png"/>
          <p:cNvPicPr>
            <a:picLocks noChangeAspect="1"/>
          </p:cNvPicPr>
          <p:nvPr/>
        </p:nvPicPr>
        <p:blipFill>
          <a:blip r:embed="rId4"/>
          <a:stretch>
            <a:fillRect/>
          </a:stretch>
        </p:blipFill>
        <p:spPr>
          <a:xfrm>
            <a:off x="10773090" y="4824517"/>
            <a:ext cx="128699" cy="187198"/>
          </a:xfrm>
          <a:prstGeom prst="rect">
            <a:avLst/>
          </a:prstGeom>
        </p:spPr>
      </p:pic>
      <p:sp>
        <p:nvSpPr>
          <p:cNvPr id="132" name="TextBox 131"/>
          <p:cNvSpPr txBox="1"/>
          <p:nvPr/>
        </p:nvSpPr>
        <p:spPr>
          <a:xfrm>
            <a:off x="10940585" y="4834296"/>
            <a:ext cx="757783" cy="186689"/>
          </a:xfrm>
          <a:prstGeom prst="rect">
            <a:avLst/>
          </a:prstGeom>
          <a:noFill/>
        </p:spPr>
        <p:txBody>
          <a:bodyPr wrap="none" lIns="0" rIns="0" tIns="0" bIns="0">
            <a:spAutoFit/>
          </a:bodyPr>
          <a:lstStyle/>
          <a:p>
            <a:r>
              <a:rPr sz="1100" b="0">
                <a:solidFill>
                  <a:srgbClr val="2E2E2E"/>
                </a:solidFill>
                <a:latin typeface="Calibri"/>
              </a:rPr>
              <a:t>of segment)</a:t>
            </a:r>
          </a:p>
        </p:txBody>
      </p:sp>
      <p:sp>
        <p:nvSpPr>
          <p:cNvPr id="133" name="TextBox 132"/>
          <p:cNvSpPr txBox="1"/>
          <p:nvPr/>
        </p:nvSpPr>
        <p:spPr>
          <a:xfrm>
            <a:off x="9801225" y="5001936"/>
            <a:ext cx="1733500" cy="186689"/>
          </a:xfrm>
          <a:prstGeom prst="rect">
            <a:avLst/>
          </a:prstGeom>
          <a:noFill/>
        </p:spPr>
        <p:txBody>
          <a:bodyPr wrap="none" lIns="0" rIns="0" tIns="0" bIns="0">
            <a:spAutoFit/>
          </a:bodyPr>
          <a:lstStyle/>
          <a:p>
            <a:r>
              <a:rPr sz="1100" b="0">
                <a:solidFill>
                  <a:srgbClr val="2E2E2E"/>
                </a:solidFill>
                <a:latin typeface="Calibri"/>
              </a:rPr>
              <a:t>remains the principal barrier.</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Grupo Bimbo (Bimbo, Marinela, Little Bites, Thomas')</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McKee Foods Corporation (Little Debbie, Sunbelt Bakery, Drake's, Fieldstone Bakery), Grupo Bimbo (Bimbo, Marinela, Little Bites, Thomas'), Rich Products Corporation (Rich's).</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447550" cy="186689"/>
          </a:xfrm>
          <a:prstGeom prst="rect">
            <a:avLst/>
          </a:prstGeom>
          <a:noFill/>
        </p:spPr>
        <p:txBody>
          <a:bodyPr wrap="none" lIns="0" rIns="0" tIns="0" bIns="0">
            <a:spAutoFit/>
          </a:bodyPr>
          <a:lstStyle/>
          <a:p>
            <a:r>
              <a:rPr sz="1100" b="1">
                <a:solidFill>
                  <a:srgbClr val="0F2D52"/>
                </a:solidFill>
                <a:latin typeface="Calibri"/>
              </a:rPr>
              <a:t>Retail,</a:t>
            </a:r>
          </a:p>
        </p:txBody>
      </p:sp>
      <p:pic>
        <p:nvPicPr>
          <p:cNvPr id="68" name="Picture 67" descr="lock.png"/>
          <p:cNvPicPr>
            <a:picLocks noChangeAspect="1"/>
          </p:cNvPicPr>
          <p:nvPr/>
        </p:nvPicPr>
        <p:blipFill>
          <a:blip r:embed="rId4"/>
          <a:stretch>
            <a:fillRect/>
          </a:stretch>
        </p:blipFill>
        <p:spPr>
          <a:xfrm>
            <a:off x="5100952" y="1295146"/>
            <a:ext cx="128699" cy="187198"/>
          </a:xfrm>
          <a:prstGeom prst="rect">
            <a:avLst/>
          </a:prstGeom>
        </p:spPr>
      </p:pic>
      <p:sp>
        <p:nvSpPr>
          <p:cNvPr id="69" name="TextBox 68"/>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2 companies lead the 5 sub-segments tracked; no</a:t>
            </a:r>
          </a:p>
        </p:txBody>
      </p:sp>
      <p:sp>
        <p:nvSpPr>
          <p:cNvPr id="72" name="TextBox 71"/>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3.</a:t>
            </a:r>
          </a:p>
        </p:txBody>
      </p:sp>
      <p:sp>
        <p:nvSpPr>
          <p:cNvPr id="73" name="TextBox 72"/>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8" name="TextBox 77"/>
          <p:cNvSpPr txBox="1"/>
          <p:nvPr/>
        </p:nvSpPr>
        <p:spPr>
          <a:xfrm>
            <a:off x="523875" y="4333875"/>
            <a:ext cx="4144962" cy="186689"/>
          </a:xfrm>
          <a:prstGeom prst="rect">
            <a:avLst/>
          </a:prstGeom>
          <a:noFill/>
        </p:spPr>
        <p:txBody>
          <a:bodyPr wrap="none" lIns="0" rIns="0" tIns="0" bIns="0">
            <a:spAutoFit/>
          </a:bodyPr>
          <a:lstStyle/>
          <a:p>
            <a:r>
              <a:rPr sz="1100" b="0">
                <a:solidFill>
                  <a:srgbClr val="1F2933"/>
                </a:solidFill>
                <a:latin typeface="Calibri"/>
              </a:rPr>
              <a:t>'Sweet muffins' is the largest line; 'Sweet muffins' compounds fastest at</a:t>
            </a:r>
          </a:p>
        </p:txBody>
      </p:sp>
      <p:pic>
        <p:nvPicPr>
          <p:cNvPr id="79" name="Picture 78" descr="lock.png"/>
          <p:cNvPicPr>
            <a:picLocks noChangeAspect="1"/>
          </p:cNvPicPr>
          <p:nvPr/>
        </p:nvPicPr>
        <p:blipFill>
          <a:blip r:embed="rId4"/>
          <a:stretch>
            <a:fillRect/>
          </a:stretch>
        </p:blipFill>
        <p:spPr>
          <a:xfrm>
            <a:off x="4616889" y="4324096"/>
            <a:ext cx="128699" cy="187198"/>
          </a:xfrm>
          <a:prstGeom prst="rect">
            <a:avLst/>
          </a:prstGeom>
        </p:spPr>
      </p:pic>
      <p:sp>
        <p:nvSpPr>
          <p:cNvPr id="80" name="TextBox 79"/>
          <p:cNvSpPr txBox="1"/>
          <p:nvPr/>
        </p:nvSpPr>
        <p:spPr>
          <a:xfrm>
            <a:off x="4784384" y="433387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433684"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757534" y="1257300"/>
            <a:ext cx="1459962"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3696" y="1257300"/>
            <a:ext cx="216621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Grupo Bimbo (Bimbo, Marinela, Little Bites, Thomas'), McKee Foods Corporation (Little Debbie, Sunbelt Bakery, Drake's, Fieldstone Bakery), Hostess Brands (Hostess)</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Rich Products Corporation (Rich's), ARYZTA / Aspire Bakeries (Otis Spunkmeyer, Cuisine de France, Hiestand, Delice de France)</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Europastry (Europastry, Dots), Bridor (Bridor, Evasions), Lantmännen Unibake (Schulstad, Hatting, Vaasan, Pastridor, Euro-Bake), Flowers Foods (Tastykake, Nature's Own, Wonder, Dave's Killer Bread, Canyon Bakehouse), Premier Foods (Mr Kipling)</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Sweet muffins</a:t>
            </a:r>
          </a:p>
        </p:txBody>
      </p:sp>
      <p:sp>
        <p:nvSpPr>
          <p:cNvPr id="30" name="TextBox 29"/>
          <p:cNvSpPr txBox="1"/>
          <p:nvPr/>
        </p:nvSpPr>
        <p:spPr>
          <a:xfrm>
            <a:off x="40957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Savoury muffins</a:t>
            </a:r>
          </a:p>
        </p:txBody>
      </p:sp>
      <p:sp>
        <p:nvSpPr>
          <p:cNvPr id="31" name="TextBox 30"/>
          <p:cNvSpPr txBox="1"/>
          <p:nvPr/>
        </p:nvSpPr>
        <p:spPr>
          <a:xfrm>
            <a:off x="60769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Retail</a:t>
            </a:r>
          </a:p>
        </p:txBody>
      </p:sp>
      <p:sp>
        <p:nvSpPr>
          <p:cNvPr id="32" name="TextBox 31"/>
          <p:cNvSpPr txBox="1"/>
          <p:nvPr/>
        </p:nvSpPr>
        <p:spPr>
          <a:xfrm>
            <a:off x="80581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Foodservice and institutional</a:t>
            </a:r>
          </a:p>
        </p:txBody>
      </p:sp>
      <p:sp>
        <p:nvSpPr>
          <p:cNvPr id="33" name="TextBox 32"/>
          <p:cNvSpPr txBox="1"/>
          <p:nvPr/>
        </p:nvSpPr>
        <p:spPr>
          <a:xfrm>
            <a:off x="100393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Vending</a:t>
            </a:r>
          </a:p>
        </p:txBody>
      </p:sp>
      <p:cxnSp>
        <p:nvCxnSpPr>
          <p:cNvPr id="34" name="Connector 33"/>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37" name="TextBox 36"/>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Oval 37"/>
          <p:cNvSpPr/>
          <p:nvPr/>
        </p:nvSpPr>
        <p:spPr>
          <a:xfrm>
            <a:off x="30099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3086100"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Oval 39"/>
          <p:cNvSpPr/>
          <p:nvPr/>
        </p:nvSpPr>
        <p:spPr>
          <a:xfrm>
            <a:off x="49911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69723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89535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09347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47" name="TextBox 46"/>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Oval 47"/>
          <p:cNvSpPr/>
          <p:nvPr/>
        </p:nvSpPr>
        <p:spPr>
          <a:xfrm>
            <a:off x="30099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30861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49911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50673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69723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70485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89535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109347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110109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7" name="Connector 56"/>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8" name="Rectangle 57"/>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60" name="TextBox 59"/>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1" name="Oval 60"/>
          <p:cNvSpPr/>
          <p:nvPr/>
        </p:nvSpPr>
        <p:spPr>
          <a:xfrm>
            <a:off x="3009900"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49911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69723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89535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9029700"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934700"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8" name="Rectangle 67"/>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sp>
        <p:nvSpPr>
          <p:cNvPr id="70" name="TextBox 69"/>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1" name="Oval 70"/>
          <p:cNvSpPr/>
          <p:nvPr/>
        </p:nvSpPr>
        <p:spPr>
          <a:xfrm>
            <a:off x="30099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Oval 71"/>
          <p:cNvSpPr/>
          <p:nvPr/>
        </p:nvSpPr>
        <p:spPr>
          <a:xfrm>
            <a:off x="49911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Freeform 72"/>
          <p:cNvSpPr/>
          <p:nvPr/>
        </p:nvSpPr>
        <p:spPr>
          <a:xfrm>
            <a:off x="50673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69723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70485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89535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90297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109347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9" name="Connector 78"/>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 (Otis Spunkmeyer, Cuisine de France, Hiestand, Delice de France)</a:t>
            </a:r>
          </a:p>
        </p:txBody>
      </p:sp>
      <p:sp>
        <p:nvSpPr>
          <p:cNvPr id="82" name="TextBox 81"/>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Oval 82"/>
          <p:cNvSpPr/>
          <p:nvPr/>
        </p:nvSpPr>
        <p:spPr>
          <a:xfrm>
            <a:off x="30099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Freeform 83"/>
          <p:cNvSpPr/>
          <p:nvPr/>
        </p:nvSpPr>
        <p:spPr>
          <a:xfrm>
            <a:off x="30861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49911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50673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69723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0485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9535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109347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110109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2" name="Connector 91"/>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3" name="Rectangle 92"/>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 (Europastry, Dots)</a:t>
            </a:r>
          </a:p>
        </p:txBody>
      </p:sp>
      <p:sp>
        <p:nvSpPr>
          <p:cNvPr id="95" name="TextBox 94"/>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6" name="Oval 95"/>
          <p:cNvSpPr/>
          <p:nvPr/>
        </p:nvSpPr>
        <p:spPr>
          <a:xfrm>
            <a:off x="30099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Freeform 96"/>
          <p:cNvSpPr/>
          <p:nvPr/>
        </p:nvSpPr>
        <p:spPr>
          <a:xfrm>
            <a:off x="30861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Oval 97"/>
          <p:cNvSpPr/>
          <p:nvPr/>
        </p:nvSpPr>
        <p:spPr>
          <a:xfrm>
            <a:off x="49911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Freeform 98"/>
          <p:cNvSpPr/>
          <p:nvPr/>
        </p:nvSpPr>
        <p:spPr>
          <a:xfrm>
            <a:off x="50673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Oval 99"/>
          <p:cNvSpPr/>
          <p:nvPr/>
        </p:nvSpPr>
        <p:spPr>
          <a:xfrm>
            <a:off x="69723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89535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90297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109347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110109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5" name="Connector 104"/>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6" name="Rectangle 105"/>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Bridor (Bridor, Evasions)</a:t>
            </a:r>
          </a:p>
        </p:txBody>
      </p:sp>
      <p:sp>
        <p:nvSpPr>
          <p:cNvPr id="108" name="TextBox 107"/>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9" name="Oval 108"/>
          <p:cNvSpPr/>
          <p:nvPr/>
        </p:nvSpPr>
        <p:spPr>
          <a:xfrm>
            <a:off x="30099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0861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49911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69723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reeform 112"/>
          <p:cNvSpPr/>
          <p:nvPr/>
        </p:nvSpPr>
        <p:spPr>
          <a:xfrm>
            <a:off x="70485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89535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90297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109347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7" name="Connector 116"/>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 (Schulstad, Hatting, Vaasan, Pastridor, Euro-Bake)</a:t>
            </a:r>
          </a:p>
        </p:txBody>
      </p:sp>
      <p:sp>
        <p:nvSpPr>
          <p:cNvPr id="120" name="TextBox 119"/>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1" name="Oval 120"/>
          <p:cNvSpPr/>
          <p:nvPr/>
        </p:nvSpPr>
        <p:spPr>
          <a:xfrm>
            <a:off x="30099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49911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50673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69723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70485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89535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Oval 126"/>
          <p:cNvSpPr/>
          <p:nvPr/>
        </p:nvSpPr>
        <p:spPr>
          <a:xfrm>
            <a:off x="109347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Freeform 127"/>
          <p:cNvSpPr/>
          <p:nvPr/>
        </p:nvSpPr>
        <p:spPr>
          <a:xfrm>
            <a:off x="110109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9" name="Connector 128"/>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0" name="Rectangle 129"/>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285750" y="53721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 (Tastykake, Nature's Own, Wonder, Dave's Killer Bread, Canyon Bakehouse)</a:t>
            </a:r>
          </a:p>
        </p:txBody>
      </p:sp>
      <p:sp>
        <p:nvSpPr>
          <p:cNvPr id="132" name="TextBox 131"/>
          <p:cNvSpPr txBox="1"/>
          <p:nvPr/>
        </p:nvSpPr>
        <p:spPr>
          <a:xfrm>
            <a:off x="285750" y="55340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3" name="Oval 132"/>
          <p:cNvSpPr/>
          <p:nvPr/>
        </p:nvSpPr>
        <p:spPr>
          <a:xfrm>
            <a:off x="30099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30861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49911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50673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69723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89535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Freeform 138"/>
          <p:cNvSpPr/>
          <p:nvPr/>
        </p:nvSpPr>
        <p:spPr>
          <a:xfrm>
            <a:off x="90297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Oval 139"/>
          <p:cNvSpPr/>
          <p:nvPr/>
        </p:nvSpPr>
        <p:spPr>
          <a:xfrm>
            <a:off x="109347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110109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2" name="Connector 141"/>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3" name="Rectangle 142"/>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85750" y="57150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 (Mr Kipling)</a:t>
            </a:r>
          </a:p>
        </p:txBody>
      </p:sp>
      <p:sp>
        <p:nvSpPr>
          <p:cNvPr id="145" name="TextBox 144"/>
          <p:cNvSpPr txBox="1"/>
          <p:nvPr/>
        </p:nvSpPr>
        <p:spPr>
          <a:xfrm>
            <a:off x="285750" y="58769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6" name="Oval 145"/>
          <p:cNvSpPr/>
          <p:nvPr/>
        </p:nvSpPr>
        <p:spPr>
          <a:xfrm>
            <a:off x="30099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30861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49911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50673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69723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Freeform 150"/>
          <p:cNvSpPr/>
          <p:nvPr/>
        </p:nvSpPr>
        <p:spPr>
          <a:xfrm>
            <a:off x="70485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Oval 151"/>
          <p:cNvSpPr/>
          <p:nvPr/>
        </p:nvSpPr>
        <p:spPr>
          <a:xfrm>
            <a:off x="89535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Freeform 152"/>
          <p:cNvSpPr/>
          <p:nvPr/>
        </p:nvSpPr>
        <p:spPr>
          <a:xfrm>
            <a:off x="90297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Oval 153"/>
          <p:cNvSpPr/>
          <p:nvPr/>
        </p:nvSpPr>
        <p:spPr>
          <a:xfrm>
            <a:off x="109347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5" name="Connector 154"/>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6" name="Rectangle 155"/>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31432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58" name="Rectangle 157"/>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971550"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60" name="Rectangle 159"/>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162877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62" name="TextBox 161"/>
          <p:cNvSpPr txBox="1"/>
          <p:nvPr/>
        </p:nvSpPr>
        <p:spPr>
          <a:xfrm>
            <a:off x="190500" y="6286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63" name="TextBox 162"/>
          <p:cNvSpPr txBox="1"/>
          <p:nvPr/>
        </p:nvSpPr>
        <p:spPr>
          <a:xfrm>
            <a:off x="190500" y="64008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'Sweet muffins' is the most contested column (8 players active); 'Vending' is the most open (6).</a:t>
            </a:r>
          </a:p>
        </p:txBody>
      </p:sp>
      <p:sp>
        <p:nvSpPr>
          <p:cNvPr id="164" name="TextBox 1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65" name="TextBox 164"/>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166" name="Picture 165" descr="lock.png"/>
          <p:cNvPicPr>
            <a:picLocks noChangeAspect="1"/>
          </p:cNvPicPr>
          <p:nvPr/>
        </p:nvPicPr>
        <p:blipFill>
          <a:blip r:embed="rId4"/>
          <a:stretch>
            <a:fillRect/>
          </a:stretch>
        </p:blipFill>
        <p:spPr>
          <a:xfrm>
            <a:off x="622441" y="1297051"/>
            <a:ext cx="128699" cy="187198"/>
          </a:xfrm>
          <a:prstGeom prst="rect">
            <a:avLst/>
          </a:prstGeom>
        </p:spPr>
      </p:pic>
      <p:sp>
        <p:nvSpPr>
          <p:cNvPr id="167" name="TextBox 166"/>
          <p:cNvSpPr txBox="1"/>
          <p:nvPr/>
        </p:nvSpPr>
        <p:spPr>
          <a:xfrm>
            <a:off x="4786109"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168" name="Picture 167" descr="lock.png"/>
          <p:cNvPicPr>
            <a:picLocks noChangeAspect="1"/>
          </p:cNvPicPr>
          <p:nvPr/>
        </p:nvPicPr>
        <p:blipFill>
          <a:blip r:embed="rId4"/>
          <a:stretch>
            <a:fillRect/>
          </a:stretch>
        </p:blipFill>
        <p:spPr>
          <a:xfrm>
            <a:off x="5547332" y="1297051"/>
            <a:ext cx="128699" cy="187198"/>
          </a:xfrm>
          <a:prstGeom prst="rect">
            <a:avLst/>
          </a:prstGeom>
        </p:spPr>
      </p:pic>
      <p:sp>
        <p:nvSpPr>
          <p:cNvPr id="169" name="TextBox 168"/>
          <p:cNvSpPr txBox="1"/>
          <p:nvPr/>
        </p:nvSpPr>
        <p:spPr>
          <a:xfrm>
            <a:off x="632227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170" name="Picture 169" descr="lock.png"/>
          <p:cNvPicPr>
            <a:picLocks noChangeAspect="1"/>
          </p:cNvPicPr>
          <p:nvPr/>
        </p:nvPicPr>
        <p:blipFill>
          <a:blip r:embed="rId4"/>
          <a:stretch>
            <a:fillRect/>
          </a:stretch>
        </p:blipFill>
        <p:spPr>
          <a:xfrm>
            <a:off x="6890588" y="1297051"/>
            <a:ext cx="128699" cy="187198"/>
          </a:xfrm>
          <a:prstGeom prst="rect">
            <a:avLst/>
          </a:prstGeom>
        </p:spPr>
      </p:pic>
      <p:sp>
        <p:nvSpPr>
          <p:cNvPr id="171" name="TextBox 170"/>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172" name="Picture 171"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85750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314325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320040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320040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60960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615315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Sweet muffins, share</a:t>
            </a:r>
          </a:p>
        </p:txBody>
      </p:sp>
      <p:sp>
        <p:nvSpPr>
          <p:cNvPr id="17" name="TextBox 16"/>
          <p:cNvSpPr txBox="1"/>
          <p:nvPr/>
        </p:nvSpPr>
        <p:spPr>
          <a:xfrm>
            <a:off x="615315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904875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910590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Savoury muffins, share</a:t>
            </a:r>
          </a:p>
        </p:txBody>
      </p:sp>
      <p:sp>
        <p:nvSpPr>
          <p:cNvPr id="20" name="TextBox 19"/>
          <p:cNvSpPr txBox="1"/>
          <p:nvPr/>
        </p:nvSpPr>
        <p:spPr>
          <a:xfrm>
            <a:off x="910590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Rectangle 21"/>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Sweet muffins</a:t>
            </a:r>
          </a:p>
        </p:txBody>
      </p:sp>
      <p:sp>
        <p:nvSpPr>
          <p:cNvPr id="25" name="TextBox 24"/>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6" name="TextBox 25"/>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27" name="TextBox 26"/>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28" name="TextBox 27"/>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29" name="Connector 28"/>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1" name="TextBox 30"/>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Hostess Brands (Hostess)</a:t>
            </a:r>
          </a:p>
        </p:txBody>
      </p:sp>
      <p:sp>
        <p:nvSpPr>
          <p:cNvPr id="32" name="TextBox 31"/>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3" name="TextBox 32"/>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Grupo Bimbo (Bimbo, Marinela, Little Bites, Thomas')</a:t>
            </a:r>
          </a:p>
        </p:txBody>
      </p:sp>
      <p:sp>
        <p:nvSpPr>
          <p:cNvPr id="34" name="TextBox 33"/>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McKee Foods Corporation (Little Debbie, Sunbelt Bakery, Drake's, Fieldstone Bakery)</a:t>
            </a:r>
          </a:p>
        </p:txBody>
      </p:sp>
      <p:sp>
        <p:nvSpPr>
          <p:cNvPr id="35" name="TextBox 34"/>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ARYZTA / Aspire Bakeries (Otis Spunkmeyer, Cuisine de France, Hiestand, Delice de France)</a:t>
            </a:r>
          </a:p>
        </p:txBody>
      </p:sp>
      <p:sp>
        <p:nvSpPr>
          <p:cNvPr id="36" name="TextBox 35"/>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Europastry (Europastry, Dots)</a:t>
            </a:r>
          </a:p>
        </p:txBody>
      </p:sp>
      <p:cxnSp>
        <p:nvCxnSpPr>
          <p:cNvPr id="37" name="Connector 36"/>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39" name="TextBox 38"/>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0" name="Connector 39"/>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1" name="Freeform 40"/>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Savoury muffins</a:t>
            </a:r>
          </a:p>
        </p:txBody>
      </p:sp>
      <p:sp>
        <p:nvSpPr>
          <p:cNvPr id="45" name="TextBox 44"/>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6" name="TextBox 45"/>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47" name="TextBox 46"/>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48" name="TextBox 47"/>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49" name="Connector 48"/>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1" name="TextBox 50"/>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Grupo Bimbo (Bimbo, Marinela, Little Bites, Thomas')</a:t>
            </a:r>
          </a:p>
        </p:txBody>
      </p:sp>
      <p:sp>
        <p:nvSpPr>
          <p:cNvPr id="52" name="TextBox 51"/>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3" name="TextBox 52"/>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McKee Foods Corporation (Little Debbie, Sunbelt Bakery, Drake's, Fieldstone Bakery)</a:t>
            </a:r>
          </a:p>
        </p:txBody>
      </p:sp>
      <p:sp>
        <p:nvSpPr>
          <p:cNvPr id="54" name="TextBox 53"/>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Rich Products Corporation (Rich's)</a:t>
            </a:r>
          </a:p>
        </p:txBody>
      </p:sp>
      <p:sp>
        <p:nvSpPr>
          <p:cNvPr id="55" name="TextBox 54"/>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ARYZTA / Aspire Bakeries (Otis Spunkmeyer, Cuisine de France, Hiestand, Delice de France)</a:t>
            </a:r>
          </a:p>
        </p:txBody>
      </p:sp>
      <p:sp>
        <p:nvSpPr>
          <p:cNvPr id="56" name="TextBox 55"/>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Europastry (Europastry, Dots)</a:t>
            </a:r>
          </a:p>
        </p:txBody>
      </p:sp>
      <p:cxnSp>
        <p:nvCxnSpPr>
          <p:cNvPr id="57" name="Connector 56"/>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59" name="TextBox 58"/>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0" name="Connector 59"/>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1" name="Freeform 60"/>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4. Sales Channel</a:t>
            </a:r>
          </a:p>
        </p:txBody>
      </p:sp>
      <p:sp>
        <p:nvSpPr>
          <p:cNvPr id="65" name="TextBox 64"/>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66" name="TextBox 65"/>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67" name="Connector 66"/>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a:t>
            </a:r>
          </a:p>
        </p:txBody>
      </p:sp>
      <p:sp>
        <p:nvSpPr>
          <p:cNvPr id="69" name="Rectangle 68"/>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1" name="TextBox 70"/>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a:t>
            </a:r>
          </a:p>
        </p:txBody>
      </p:sp>
      <p:sp>
        <p:nvSpPr>
          <p:cNvPr id="72" name="Rectangle 71"/>
          <p:cNvSpPr/>
          <p:nvPr/>
        </p:nvSpPr>
        <p:spPr>
          <a:xfrm>
            <a:off x="10682288" y="2847975"/>
            <a:ext cx="417326"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37713"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4" name="TextBox 73"/>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Vending</a:t>
            </a:r>
          </a:p>
        </p:txBody>
      </p:sp>
      <p:sp>
        <p:nvSpPr>
          <p:cNvPr id="75" name="Rectangle 74"/>
          <p:cNvSpPr/>
          <p:nvPr/>
        </p:nvSpPr>
        <p:spPr>
          <a:xfrm>
            <a:off x="10682288" y="3171825"/>
            <a:ext cx="5294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10773336"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7" name="Connector 76"/>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79" name="TextBox 78"/>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0" name="Rectangle 79"/>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83" name="TextBox 82"/>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Sweet muffins Compounds Fastest Across the Product Type Mix  |  South Asia &amp; Pacific Emerges as the Growth Engine Among Regions  |  Premiumisation Lifts Average Realisation</a:t>
            </a:r>
          </a:p>
        </p:txBody>
      </p:sp>
      <p:sp>
        <p:nvSpPr>
          <p:cNvPr id="84" name="Rectangle 83"/>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87" name="TextBox 86"/>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Savoury muffins Lags the Category and Dilutes Blended Growth  |  Uneven Region Performance Caps the Blended Rate  |  Concentration Risk Limits Pricing and Sourcing Flexibility</a:t>
            </a:r>
          </a:p>
        </p:txBody>
      </p:sp>
      <p:sp>
        <p:nvSpPr>
          <p:cNvPr id="88" name="TextBox 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9" name="Picture 88" descr="lock.png"/>
          <p:cNvPicPr>
            <a:picLocks noChangeAspect="1"/>
          </p:cNvPicPr>
          <p:nvPr/>
        </p:nvPicPr>
        <p:blipFill>
          <a:blip r:embed="rId4"/>
          <a:stretch>
            <a:fillRect/>
          </a:stretch>
        </p:blipFill>
        <p:spPr>
          <a:xfrm>
            <a:off x="1612050" y="1258951"/>
            <a:ext cx="128699" cy="187198"/>
          </a:xfrm>
          <a:prstGeom prst="rect">
            <a:avLst/>
          </a:prstGeom>
        </p:spPr>
      </p:pic>
      <p:pic>
        <p:nvPicPr>
          <p:cNvPr id="90" name="Picture 89" descr="lock.png"/>
          <p:cNvPicPr>
            <a:picLocks noChangeAspect="1"/>
          </p:cNvPicPr>
          <p:nvPr/>
        </p:nvPicPr>
        <p:blipFill>
          <a:blip r:embed="rId4"/>
          <a:stretch>
            <a:fillRect/>
          </a:stretch>
        </p:blipFill>
        <p:spPr>
          <a:xfrm>
            <a:off x="4564800" y="1258951"/>
            <a:ext cx="128699" cy="187198"/>
          </a:xfrm>
          <a:prstGeom prst="rect">
            <a:avLst/>
          </a:prstGeom>
        </p:spPr>
      </p:pic>
      <p:pic>
        <p:nvPicPr>
          <p:cNvPr id="91" name="Picture 90" descr="lock.png"/>
          <p:cNvPicPr>
            <a:picLocks noChangeAspect="1"/>
          </p:cNvPicPr>
          <p:nvPr/>
        </p:nvPicPr>
        <p:blipFill>
          <a:blip r:embed="rId4"/>
          <a:stretch>
            <a:fillRect/>
          </a:stretch>
        </p:blipFill>
        <p:spPr>
          <a:xfrm>
            <a:off x="7517550" y="1258951"/>
            <a:ext cx="128699" cy="187198"/>
          </a:xfrm>
          <a:prstGeom prst="rect">
            <a:avLst/>
          </a:prstGeom>
        </p:spPr>
      </p:pic>
      <p:pic>
        <p:nvPicPr>
          <p:cNvPr id="92" name="Picture 91" descr="lock.png"/>
          <p:cNvPicPr>
            <a:picLocks noChangeAspect="1"/>
          </p:cNvPicPr>
          <p:nvPr/>
        </p:nvPicPr>
        <p:blipFill>
          <a:blip r:embed="rId4"/>
          <a:stretch>
            <a:fillRect/>
          </a:stretch>
        </p:blipFill>
        <p:spPr>
          <a:xfrm>
            <a:off x="10470300" y="1258951"/>
            <a:ext cx="128699" cy="187198"/>
          </a:xfrm>
          <a:prstGeom prst="rect">
            <a:avLst/>
          </a:prstGeom>
        </p:spPr>
      </p:pic>
      <p:pic>
        <p:nvPicPr>
          <p:cNvPr id="93" name="Picture 92" descr="lock.png"/>
          <p:cNvPicPr>
            <a:picLocks noChangeAspect="1"/>
          </p:cNvPicPr>
          <p:nvPr/>
        </p:nvPicPr>
        <p:blipFill>
          <a:blip r:embed="rId4"/>
          <a:stretch>
            <a:fillRect/>
          </a:stretch>
        </p:blipFill>
        <p:spPr>
          <a:xfrm>
            <a:off x="554775" y="1925701"/>
            <a:ext cx="128699" cy="187198"/>
          </a:xfrm>
          <a:prstGeom prst="rect">
            <a:avLst/>
          </a:prstGeom>
        </p:spPr>
      </p:pic>
      <p:pic>
        <p:nvPicPr>
          <p:cNvPr id="94" name="Picture 93" descr="lock.png"/>
          <p:cNvPicPr>
            <a:picLocks noChangeAspect="1"/>
          </p:cNvPicPr>
          <p:nvPr/>
        </p:nvPicPr>
        <p:blipFill>
          <a:blip r:embed="rId4"/>
          <a:stretch>
            <a:fillRect/>
          </a:stretch>
        </p:blipFill>
        <p:spPr>
          <a:xfrm>
            <a:off x="554775" y="2135251"/>
            <a:ext cx="128699" cy="187198"/>
          </a:xfrm>
          <a:prstGeom prst="rect">
            <a:avLst/>
          </a:prstGeom>
        </p:spPr>
      </p:pic>
      <p:pic>
        <p:nvPicPr>
          <p:cNvPr id="95" name="Picture 94" descr="lock.png"/>
          <p:cNvPicPr>
            <a:picLocks noChangeAspect="1"/>
          </p:cNvPicPr>
          <p:nvPr/>
        </p:nvPicPr>
        <p:blipFill>
          <a:blip r:embed="rId4"/>
          <a:stretch>
            <a:fillRect/>
          </a:stretch>
        </p:blipFill>
        <p:spPr>
          <a:xfrm>
            <a:off x="3569437" y="1925701"/>
            <a:ext cx="128699" cy="187198"/>
          </a:xfrm>
          <a:prstGeom prst="rect">
            <a:avLst/>
          </a:prstGeom>
        </p:spPr>
      </p:pic>
      <p:pic>
        <p:nvPicPr>
          <p:cNvPr id="96" name="Picture 95" descr="lock.png"/>
          <p:cNvPicPr>
            <a:picLocks noChangeAspect="1"/>
          </p:cNvPicPr>
          <p:nvPr/>
        </p:nvPicPr>
        <p:blipFill>
          <a:blip r:embed="rId4"/>
          <a:stretch>
            <a:fillRect/>
          </a:stretch>
        </p:blipFill>
        <p:spPr>
          <a:xfrm>
            <a:off x="3569437" y="2135251"/>
            <a:ext cx="128699" cy="187198"/>
          </a:xfrm>
          <a:prstGeom prst="rect">
            <a:avLst/>
          </a:prstGeom>
        </p:spPr>
      </p:pic>
      <p:pic>
        <p:nvPicPr>
          <p:cNvPr id="97" name="Picture 96" descr="lock.png"/>
          <p:cNvPicPr>
            <a:picLocks noChangeAspect="1"/>
          </p:cNvPicPr>
          <p:nvPr/>
        </p:nvPicPr>
        <p:blipFill>
          <a:blip r:embed="rId4"/>
          <a:stretch>
            <a:fillRect/>
          </a:stretch>
        </p:blipFill>
        <p:spPr>
          <a:xfrm>
            <a:off x="11660925" y="2487676"/>
            <a:ext cx="128699" cy="187198"/>
          </a:xfrm>
          <a:prstGeom prst="rect">
            <a:avLst/>
          </a:prstGeom>
        </p:spPr>
      </p:pic>
      <p:pic>
        <p:nvPicPr>
          <p:cNvPr id="98" name="Picture 97" descr="lock.png"/>
          <p:cNvPicPr>
            <a:picLocks noChangeAspect="1"/>
          </p:cNvPicPr>
          <p:nvPr/>
        </p:nvPicPr>
        <p:blipFill>
          <a:blip r:embed="rId4"/>
          <a:stretch>
            <a:fillRect/>
          </a:stretch>
        </p:blipFill>
        <p:spPr>
          <a:xfrm>
            <a:off x="11311488" y="2811526"/>
            <a:ext cx="128699" cy="187198"/>
          </a:xfrm>
          <a:prstGeom prst="rect">
            <a:avLst/>
          </a:prstGeom>
        </p:spPr>
      </p:pic>
      <p:pic>
        <p:nvPicPr>
          <p:cNvPr id="99" name="Picture 98" descr="lock.png"/>
          <p:cNvPicPr>
            <a:picLocks noChangeAspect="1"/>
          </p:cNvPicPr>
          <p:nvPr/>
        </p:nvPicPr>
        <p:blipFill>
          <a:blip r:embed="rId4"/>
          <a:stretch>
            <a:fillRect/>
          </a:stretch>
        </p:blipFill>
        <p:spPr>
          <a:xfrm>
            <a:off x="10947111" y="3135376"/>
            <a:ext cx="128699" cy="187198"/>
          </a:xfrm>
          <a:prstGeom prst="rect">
            <a:avLst/>
          </a:prstGeom>
        </p:spPr>
      </p:pic>
      <p:sp>
        <p:nvSpPr>
          <p:cNvPr id="100" name="TextBox 99"/>
          <p:cNvSpPr txBox="1"/>
          <p:nvPr/>
        </p:nvSpPr>
        <p:spPr>
          <a:xfrm>
            <a:off x="314325" y="4676775"/>
            <a:ext cx="2292573" cy="186689"/>
          </a:xfrm>
          <a:prstGeom prst="rect">
            <a:avLst/>
          </a:prstGeom>
          <a:noFill/>
        </p:spPr>
        <p:txBody>
          <a:bodyPr wrap="none" lIns="0" rIns="0" tIns="0" bIns="0">
            <a:spAutoFit/>
          </a:bodyPr>
          <a:lstStyle/>
          <a:p>
            <a:r>
              <a:rPr sz="1100" b="0">
                <a:solidFill>
                  <a:srgbClr val="1F2933"/>
                </a:solidFill>
                <a:latin typeface="Calibri"/>
              </a:rPr>
              <a:t>5 named players compete here; 'Sweet</a:t>
            </a:r>
          </a:p>
        </p:txBody>
      </p:sp>
      <p:sp>
        <p:nvSpPr>
          <p:cNvPr id="101" name="TextBox 100"/>
          <p:cNvSpPr txBox="1"/>
          <p:nvPr/>
        </p:nvSpPr>
        <p:spPr>
          <a:xfrm>
            <a:off x="314325" y="4844415"/>
            <a:ext cx="837183" cy="186689"/>
          </a:xfrm>
          <a:prstGeom prst="rect">
            <a:avLst/>
          </a:prstGeom>
          <a:noFill/>
        </p:spPr>
        <p:txBody>
          <a:bodyPr wrap="none" lIns="0" rIns="0" tIns="0" bIns="0">
            <a:spAutoFit/>
          </a:bodyPr>
          <a:lstStyle/>
          <a:p>
            <a:r>
              <a:rPr sz="1100" b="0">
                <a:solidFill>
                  <a:srgbClr val="1F2933"/>
                </a:solidFill>
                <a:latin typeface="Calibri"/>
              </a:rPr>
              <a:t>muffins' adds</a:t>
            </a:r>
          </a:p>
        </p:txBody>
      </p:sp>
      <p:pic>
        <p:nvPicPr>
          <p:cNvPr id="102" name="Picture 101" descr="lock.png"/>
          <p:cNvPicPr>
            <a:picLocks noChangeAspect="1"/>
          </p:cNvPicPr>
          <p:nvPr/>
        </p:nvPicPr>
        <p:blipFill>
          <a:blip r:embed="rId4"/>
          <a:stretch>
            <a:fillRect/>
          </a:stretch>
        </p:blipFill>
        <p:spPr>
          <a:xfrm>
            <a:off x="1099559" y="4834636"/>
            <a:ext cx="128699" cy="187198"/>
          </a:xfrm>
          <a:prstGeom prst="rect">
            <a:avLst/>
          </a:prstGeom>
        </p:spPr>
      </p:pic>
      <p:sp>
        <p:nvSpPr>
          <p:cNvPr id="103" name="TextBox 102"/>
          <p:cNvSpPr txBox="1"/>
          <p:nvPr/>
        </p:nvSpPr>
        <p:spPr>
          <a:xfrm>
            <a:off x="1267055"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04" name="TextBox 103"/>
          <p:cNvSpPr txBox="1"/>
          <p:nvPr/>
        </p:nvSpPr>
        <p:spPr>
          <a:xfrm>
            <a:off x="3328987" y="4676775"/>
            <a:ext cx="2395711" cy="186689"/>
          </a:xfrm>
          <a:prstGeom prst="rect">
            <a:avLst/>
          </a:prstGeom>
          <a:noFill/>
        </p:spPr>
        <p:txBody>
          <a:bodyPr wrap="none" lIns="0" rIns="0" tIns="0" bIns="0">
            <a:spAutoFit/>
          </a:bodyPr>
          <a:lstStyle/>
          <a:p>
            <a:r>
              <a:rPr sz="1100" b="0">
                <a:solidFill>
                  <a:srgbClr val="1F2933"/>
                </a:solidFill>
                <a:latin typeface="Calibri"/>
              </a:rPr>
              <a:t>5 named players compete here; 'Savoury</a:t>
            </a:r>
          </a:p>
        </p:txBody>
      </p:sp>
      <p:sp>
        <p:nvSpPr>
          <p:cNvPr id="105" name="TextBox 104"/>
          <p:cNvSpPr txBox="1"/>
          <p:nvPr/>
        </p:nvSpPr>
        <p:spPr>
          <a:xfrm>
            <a:off x="3328987" y="4844415"/>
            <a:ext cx="837183" cy="186689"/>
          </a:xfrm>
          <a:prstGeom prst="rect">
            <a:avLst/>
          </a:prstGeom>
          <a:noFill/>
        </p:spPr>
        <p:txBody>
          <a:bodyPr wrap="none" lIns="0" rIns="0" tIns="0" bIns="0">
            <a:spAutoFit/>
          </a:bodyPr>
          <a:lstStyle/>
          <a:p>
            <a:r>
              <a:rPr sz="1100" b="0">
                <a:solidFill>
                  <a:srgbClr val="1F2933"/>
                </a:solidFill>
                <a:latin typeface="Calibri"/>
              </a:rPr>
              <a:t>muffins' adds</a:t>
            </a:r>
          </a:p>
        </p:txBody>
      </p:sp>
      <p:pic>
        <p:nvPicPr>
          <p:cNvPr id="106" name="Picture 105" descr="lock.png"/>
          <p:cNvPicPr>
            <a:picLocks noChangeAspect="1"/>
          </p:cNvPicPr>
          <p:nvPr/>
        </p:nvPicPr>
        <p:blipFill>
          <a:blip r:embed="rId4"/>
          <a:stretch>
            <a:fillRect/>
          </a:stretch>
        </p:blipFill>
        <p:spPr>
          <a:xfrm>
            <a:off x="4114221" y="4834636"/>
            <a:ext cx="128699" cy="187198"/>
          </a:xfrm>
          <a:prstGeom prst="rect">
            <a:avLst/>
          </a:prstGeom>
        </p:spPr>
      </p:pic>
      <p:sp>
        <p:nvSpPr>
          <p:cNvPr id="107" name="TextBox 106"/>
          <p:cNvSpPr txBox="1"/>
          <p:nvPr/>
        </p:nvSpPr>
        <p:spPr>
          <a:xfrm>
            <a:off x="4281717"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08" name="TextBox 107"/>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09" name="Picture 108" descr="lock.png"/>
          <p:cNvPicPr>
            <a:picLocks noChangeAspect="1"/>
          </p:cNvPicPr>
          <p:nvPr/>
        </p:nvPicPr>
        <p:blipFill>
          <a:blip r:embed="rId4"/>
          <a:stretch>
            <a:fillRect/>
          </a:stretch>
        </p:blipFill>
        <p:spPr>
          <a:xfrm>
            <a:off x="11035226" y="4666996"/>
            <a:ext cx="128699" cy="187198"/>
          </a:xfrm>
          <a:prstGeom prst="rect">
            <a:avLst/>
          </a:prstGeom>
        </p:spPr>
      </p:pic>
      <p:sp>
        <p:nvSpPr>
          <p:cNvPr id="110" name="TextBox 109"/>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11" name="TextBox 110"/>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12" name="TextBox 111"/>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ARYZTA / Aspire Bakeries (Otis Spunkmeyer, Cuisine de France, Hiestand, Delice de France)</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Europastry (Europastry, Dots)</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Bridor (Bridor, Evasions)</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Lantmännen Unibake (Schulstad, Hatting, Vaasan, Pastridor, Euro-Bake)</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655050" y="3876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Flowers Foods (Tastykake, Nature's Own, Wonder, Dave's Killer Bread, Canyon Bakehouse)</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655050" y="4067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Premier Foods (Mr Kipling)</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94" name="TextBox 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99" name="Picture 98" descr="lock.png"/>
          <p:cNvPicPr>
            <a:picLocks noChangeAspect="1"/>
          </p:cNvPicPr>
          <p:nvPr/>
        </p:nvPicPr>
        <p:blipFill>
          <a:blip r:embed="rId4"/>
          <a:stretch>
            <a:fillRect/>
          </a:stretch>
        </p:blipFill>
        <p:spPr>
          <a:xfrm>
            <a:off x="1343736" y="5867145"/>
            <a:ext cx="128699" cy="187198"/>
          </a:xfrm>
          <a:prstGeom prst="rect">
            <a:avLst/>
          </a:prstGeom>
        </p:spPr>
      </p:pic>
      <p:sp>
        <p:nvSpPr>
          <p:cNvPr id="100" name="TextBox 99"/>
          <p:cNvSpPr txBox="1"/>
          <p:nvPr/>
        </p:nvSpPr>
        <p:spPr>
          <a:xfrm>
            <a:off x="151123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2" name="Picture 101" descr="lock.png"/>
          <p:cNvPicPr>
            <a:picLocks noChangeAspect="1"/>
          </p:cNvPicPr>
          <p:nvPr/>
        </p:nvPicPr>
        <p:blipFill>
          <a:blip r:embed="rId4"/>
          <a:stretch>
            <a:fillRect/>
          </a:stretch>
        </p:blipFill>
        <p:spPr>
          <a:xfrm>
            <a:off x="4344111" y="5867145"/>
            <a:ext cx="128699" cy="187198"/>
          </a:xfrm>
          <a:prstGeom prst="rect">
            <a:avLst/>
          </a:prstGeom>
        </p:spPr>
      </p:pic>
      <p:sp>
        <p:nvSpPr>
          <p:cNvPr id="103" name="TextBox 102"/>
          <p:cNvSpPr txBox="1"/>
          <p:nvPr/>
        </p:nvSpPr>
        <p:spPr>
          <a:xfrm>
            <a:off x="4511607"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5" name="Picture 104" descr="lock.png"/>
          <p:cNvPicPr>
            <a:picLocks noChangeAspect="1"/>
          </p:cNvPicPr>
          <p:nvPr/>
        </p:nvPicPr>
        <p:blipFill>
          <a:blip r:embed="rId4"/>
          <a:stretch>
            <a:fillRect/>
          </a:stretch>
        </p:blipFill>
        <p:spPr>
          <a:xfrm>
            <a:off x="7344486" y="5867145"/>
            <a:ext cx="128699" cy="187198"/>
          </a:xfrm>
          <a:prstGeom prst="rect">
            <a:avLst/>
          </a:prstGeom>
        </p:spPr>
      </p:pic>
      <p:sp>
        <p:nvSpPr>
          <p:cNvPr id="106" name="TextBox 105"/>
          <p:cNvSpPr txBox="1"/>
          <p:nvPr/>
        </p:nvSpPr>
        <p:spPr>
          <a:xfrm>
            <a:off x="751198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6181725" y="2324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TextBox 39"/>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1" name="Connector 40"/>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44" name="TextBox 43"/>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5" name="TextBox 44"/>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6" name="TextBox 45"/>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7" name="Oval 46"/>
          <p:cNvSpPr/>
          <p:nvPr/>
        </p:nvSpPr>
        <p:spPr>
          <a:xfrm>
            <a:off x="6104467"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6181725" y="2667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TextBox 52"/>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4" name="Connector 5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57" name="TextBox 5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9" name="TextBox 58"/>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60" name="Oval 59"/>
          <p:cNvSpPr/>
          <p:nvPr/>
        </p:nvSpPr>
        <p:spPr>
          <a:xfrm>
            <a:off x="6104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6181725" y="30099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7" name="TextBox 66"/>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8" name="Connector 6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sp>
        <p:nvSpPr>
          <p:cNvPr id="71" name="TextBox 7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2" name="TextBox 71"/>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TextBox 72"/>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4" name="Oval 73"/>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6181725" y="33528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reeform 78"/>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TextBox 80"/>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2" name="Connector 81"/>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3" name="Rectangle 82"/>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 (Otis Spunkmeyer, Cuisine de France, Hiestand, Delice de France)</a:t>
            </a:r>
          </a:p>
        </p:txBody>
      </p:sp>
      <p:sp>
        <p:nvSpPr>
          <p:cNvPr id="85" name="TextBox 84"/>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6" name="TextBox 85"/>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7" name="TextBox 86"/>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8" name="Oval 87"/>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Freeform 94"/>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7" name="TextBox 96"/>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8" name="Connector 97"/>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9" name="Rectangle 98"/>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 (Europastry, Dots)</a:t>
            </a:r>
          </a:p>
        </p:txBody>
      </p:sp>
      <p:sp>
        <p:nvSpPr>
          <p:cNvPr id="101" name="TextBox 100"/>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2" name="TextBox 101"/>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TextBox 102"/>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4" name="Oval 103"/>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reeform 108"/>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 (Bridor, Evasions)</a:t>
            </a:r>
          </a:p>
        </p:txBody>
      </p:sp>
      <p:sp>
        <p:nvSpPr>
          <p:cNvPr id="117" name="TextBox 116"/>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TextBox 117"/>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9" name="TextBox 118"/>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20" name="Oval 119"/>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618172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9" name="TextBox 128"/>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0" name="Connector 129"/>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Rectangle 130"/>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 (Schulstad, Hatting, Vaasan, Pastridor, Euro-Bake)</a:t>
            </a:r>
          </a:p>
        </p:txBody>
      </p:sp>
      <p:sp>
        <p:nvSpPr>
          <p:cNvPr id="133" name="TextBox 132"/>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4" name="TextBox 133"/>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6" name="Oval 135"/>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618172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Freeform 138"/>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Oval 139"/>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5" name="TextBox 144"/>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6" name="Connector 145"/>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7" name="Rectangle 146"/>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 (Tastykake, Nature's Own, Wonder, Dave's Killer Bread, Canyon Bakehouse)</a:t>
            </a:r>
          </a:p>
        </p:txBody>
      </p:sp>
      <p:sp>
        <p:nvSpPr>
          <p:cNvPr id="149" name="TextBox 148"/>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0" name="TextBox 149"/>
          <p:cNvSpPr txBox="1"/>
          <p:nvPr/>
        </p:nvSpPr>
        <p:spPr>
          <a:xfrm>
            <a:off x="2000250" y="49720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51" name="TextBox 150"/>
          <p:cNvSpPr txBox="1"/>
          <p:nvPr/>
        </p:nvSpPr>
        <p:spPr>
          <a:xfrm>
            <a:off x="4419600" y="49720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52" name="Oval 151"/>
          <p:cNvSpPr/>
          <p:nvPr/>
        </p:nvSpPr>
        <p:spPr>
          <a:xfrm>
            <a:off x="6104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Freeform 152"/>
          <p:cNvSpPr/>
          <p:nvPr/>
        </p:nvSpPr>
        <p:spPr>
          <a:xfrm>
            <a:off x="618172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Oval 153"/>
          <p:cNvSpPr/>
          <p:nvPr/>
        </p:nvSpPr>
        <p:spPr>
          <a:xfrm>
            <a:off x="716280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Freeform 154"/>
          <p:cNvSpPr/>
          <p:nvPr/>
        </p:nvSpPr>
        <p:spPr>
          <a:xfrm>
            <a:off x="7239000"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Oval 155"/>
          <p:cNvSpPr/>
          <p:nvPr/>
        </p:nvSpPr>
        <p:spPr>
          <a:xfrm>
            <a:off x="8221133"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Freeform 156"/>
          <p:cNvSpPr/>
          <p:nvPr/>
        </p:nvSpPr>
        <p:spPr>
          <a:xfrm>
            <a:off x="8296275"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Oval 157"/>
          <p:cNvSpPr/>
          <p:nvPr/>
        </p:nvSpPr>
        <p:spPr>
          <a:xfrm>
            <a:off x="9279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Freeform 158"/>
          <p:cNvSpPr/>
          <p:nvPr/>
        </p:nvSpPr>
        <p:spPr>
          <a:xfrm>
            <a:off x="9353550"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9884833"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1" name="TextBox 160"/>
          <p:cNvSpPr txBox="1"/>
          <p:nvPr/>
        </p:nvSpPr>
        <p:spPr>
          <a:xfrm>
            <a:off x="10943167"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62" name="Connector 161"/>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3" name="Rectangle 162"/>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 (Mr Kipling)</a:t>
            </a:r>
          </a:p>
        </p:txBody>
      </p:sp>
      <p:sp>
        <p:nvSpPr>
          <p:cNvPr id="165" name="TextBox 164"/>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66" name="TextBox 165"/>
          <p:cNvSpPr txBox="1"/>
          <p:nvPr/>
        </p:nvSpPr>
        <p:spPr>
          <a:xfrm>
            <a:off x="2000250" y="53149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7" name="TextBox 166"/>
          <p:cNvSpPr txBox="1"/>
          <p:nvPr/>
        </p:nvSpPr>
        <p:spPr>
          <a:xfrm>
            <a:off x="4419600" y="53149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68" name="Oval 167"/>
          <p:cNvSpPr/>
          <p:nvPr/>
        </p:nvSpPr>
        <p:spPr>
          <a:xfrm>
            <a:off x="6104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8172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716280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Freeform 170"/>
          <p:cNvSpPr/>
          <p:nvPr/>
        </p:nvSpPr>
        <p:spPr>
          <a:xfrm>
            <a:off x="7239000"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Oval 171"/>
          <p:cNvSpPr/>
          <p:nvPr/>
        </p:nvSpPr>
        <p:spPr>
          <a:xfrm>
            <a:off x="8221133"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Freeform 172"/>
          <p:cNvSpPr/>
          <p:nvPr/>
        </p:nvSpPr>
        <p:spPr>
          <a:xfrm>
            <a:off x="8296275"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Oval 173"/>
          <p:cNvSpPr/>
          <p:nvPr/>
        </p:nvSpPr>
        <p:spPr>
          <a:xfrm>
            <a:off x="9279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Freeform 174"/>
          <p:cNvSpPr/>
          <p:nvPr/>
        </p:nvSpPr>
        <p:spPr>
          <a:xfrm>
            <a:off x="9353550"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9884833"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77" name="TextBox 176"/>
          <p:cNvSpPr txBox="1"/>
          <p:nvPr/>
        </p:nvSpPr>
        <p:spPr>
          <a:xfrm>
            <a:off x="10943167"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78" name="Connector 177"/>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9" name="Oval 178"/>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81" name="Oval 180"/>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Freeform 181"/>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TextBox 182"/>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84" name="Oval 183"/>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Freeform 184"/>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87" name="Oval 186"/>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89" name="TextBox 188"/>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90" name="TextBox 189"/>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91" name="TextBox 1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92" name="TextBox 191"/>
          <p:cNvSpPr txBox="1"/>
          <p:nvPr/>
        </p:nvSpPr>
        <p:spPr>
          <a:xfrm>
            <a:off x="8893175" y="1666875"/>
            <a:ext cx="398983" cy="186689"/>
          </a:xfrm>
          <a:prstGeom prst="rect">
            <a:avLst/>
          </a:prstGeom>
          <a:noFill/>
        </p:spPr>
        <p:txBody>
          <a:bodyPr wrap="none" lIns="0" rIns="0" tIns="0" bIns="0">
            <a:spAutoFit/>
          </a:bodyPr>
          <a:lstStyle/>
          <a:p>
            <a:r>
              <a:rPr sz="1100" b="0">
                <a:solidFill>
                  <a:srgbClr val="5F6B7A"/>
                </a:solidFill>
                <a:latin typeface="Calibri"/>
              </a:rPr>
              <a:t>Share</a:t>
            </a:r>
          </a:p>
        </p:txBody>
      </p:sp>
      <p:pic>
        <p:nvPicPr>
          <p:cNvPr id="193" name="Picture 192" descr="lock.png"/>
          <p:cNvPicPr>
            <a:picLocks noChangeAspect="1"/>
          </p:cNvPicPr>
          <p:nvPr/>
        </p:nvPicPr>
        <p:blipFill>
          <a:blip r:embed="rId4"/>
          <a:stretch>
            <a:fillRect/>
          </a:stretch>
        </p:blipFill>
        <p:spPr>
          <a:xfrm>
            <a:off x="9240209" y="1657096"/>
            <a:ext cx="128699" cy="187198"/>
          </a:xfrm>
          <a:prstGeom prst="rect">
            <a:avLst/>
          </a:prstGeom>
        </p:spPr>
      </p:pic>
      <p:sp>
        <p:nvSpPr>
          <p:cNvPr id="194" name="TextBox 193"/>
          <p:cNvSpPr txBox="1"/>
          <p:nvPr/>
        </p:nvSpPr>
        <p:spPr>
          <a:xfrm>
            <a:off x="9407705" y="1666875"/>
            <a:ext cx="384522" cy="186689"/>
          </a:xfrm>
          <a:prstGeom prst="rect">
            <a:avLst/>
          </a:prstGeom>
          <a:noFill/>
        </p:spPr>
        <p:txBody>
          <a:bodyPr wrap="none" lIns="0" rIns="0" tIns="0" bIns="0">
            <a:spAutoFit/>
          </a:bodyPr>
          <a:lstStyle/>
          <a:p>
            <a:r>
              <a:rPr sz="1100" b="0">
                <a:solidFill>
                  <a:srgbClr val="5F6B7A"/>
                </a:solidFill>
                <a:latin typeface="Calibri"/>
              </a:rPr>
              <a:t>+ = 3,</a:t>
            </a:r>
          </a:p>
        </p:txBody>
      </p:sp>
      <p:pic>
        <p:nvPicPr>
          <p:cNvPr id="195" name="Picture 194" descr="lock.png"/>
          <p:cNvPicPr>
            <a:picLocks noChangeAspect="1"/>
          </p:cNvPicPr>
          <p:nvPr/>
        </p:nvPicPr>
        <p:blipFill>
          <a:blip r:embed="rId4"/>
          <a:stretch>
            <a:fillRect/>
          </a:stretch>
        </p:blipFill>
        <p:spPr>
          <a:xfrm>
            <a:off x="8879707" y="1824736"/>
            <a:ext cx="128699" cy="187198"/>
          </a:xfrm>
          <a:prstGeom prst="rect">
            <a:avLst/>
          </a:prstGeom>
        </p:spPr>
      </p:pic>
      <p:sp>
        <p:nvSpPr>
          <p:cNvPr id="196" name="TextBox 195"/>
          <p:cNvSpPr txBox="1"/>
          <p:nvPr/>
        </p:nvSpPr>
        <p:spPr>
          <a:xfrm>
            <a:off x="9047203" y="1834515"/>
            <a:ext cx="643458" cy="186689"/>
          </a:xfrm>
          <a:prstGeom prst="rect">
            <a:avLst/>
          </a:prstGeom>
          <a:noFill/>
        </p:spPr>
        <p:txBody>
          <a:bodyPr wrap="none" lIns="0" rIns="0" tIns="0" bIns="0">
            <a:spAutoFit/>
          </a:bodyPr>
          <a:lstStyle/>
          <a:p>
            <a:r>
              <a:rPr sz="1100" b="0">
                <a:solidFill>
                  <a:srgbClr val="5F6B7A"/>
                </a:solidFill>
                <a:latin typeface="Calibri"/>
              </a:rPr>
              <a:t>= 2, else 1</a:t>
            </a:r>
          </a:p>
        </p:txBody>
      </p:sp>
      <p:pic>
        <p:nvPicPr>
          <p:cNvPr id="197" name="Picture 196" descr="lock.png"/>
          <p:cNvPicPr>
            <a:picLocks noChangeAspect="1"/>
          </p:cNvPicPr>
          <p:nvPr/>
        </p:nvPicPr>
        <p:blipFill>
          <a:blip r:embed="rId4"/>
          <a:stretch>
            <a:fillRect/>
          </a:stretch>
        </p:blipFill>
        <p:spPr>
          <a:xfrm>
            <a:off x="3126525" y="23067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0349650" y="2306701"/>
            <a:ext cx="128699" cy="187198"/>
          </a:xfrm>
          <a:prstGeom prst="rect">
            <a:avLst/>
          </a:prstGeom>
        </p:spPr>
      </p:pic>
      <p:pic>
        <p:nvPicPr>
          <p:cNvPr id="199" name="Picture 198" descr="lock.png"/>
          <p:cNvPicPr>
            <a:picLocks noChangeAspect="1"/>
          </p:cNvPicPr>
          <p:nvPr/>
        </p:nvPicPr>
        <p:blipFill>
          <a:blip r:embed="rId4"/>
          <a:stretch>
            <a:fillRect/>
          </a:stretch>
        </p:blipFill>
        <p:spPr>
          <a:xfrm>
            <a:off x="11407984" y="2306701"/>
            <a:ext cx="128699" cy="187198"/>
          </a:xfrm>
          <a:prstGeom prst="rect">
            <a:avLst/>
          </a:prstGeom>
        </p:spPr>
      </p:pic>
      <p:pic>
        <p:nvPicPr>
          <p:cNvPr id="200" name="Picture 199" descr="lock.png"/>
          <p:cNvPicPr>
            <a:picLocks noChangeAspect="1"/>
          </p:cNvPicPr>
          <p:nvPr/>
        </p:nvPicPr>
        <p:blipFill>
          <a:blip r:embed="rId4"/>
          <a:stretch>
            <a:fillRect/>
          </a:stretch>
        </p:blipFill>
        <p:spPr>
          <a:xfrm>
            <a:off x="3126525" y="26496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0349650" y="2649601"/>
            <a:ext cx="128699" cy="187198"/>
          </a:xfrm>
          <a:prstGeom prst="rect">
            <a:avLst/>
          </a:prstGeom>
        </p:spPr>
      </p:pic>
      <p:pic>
        <p:nvPicPr>
          <p:cNvPr id="202" name="Picture 201" descr="lock.png"/>
          <p:cNvPicPr>
            <a:picLocks noChangeAspect="1"/>
          </p:cNvPicPr>
          <p:nvPr/>
        </p:nvPicPr>
        <p:blipFill>
          <a:blip r:embed="rId4"/>
          <a:stretch>
            <a:fillRect/>
          </a:stretch>
        </p:blipFill>
        <p:spPr>
          <a:xfrm>
            <a:off x="11407984" y="2649601"/>
            <a:ext cx="128699" cy="187198"/>
          </a:xfrm>
          <a:prstGeom prst="rect">
            <a:avLst/>
          </a:prstGeom>
        </p:spPr>
      </p:pic>
      <p:pic>
        <p:nvPicPr>
          <p:cNvPr id="203" name="Picture 202" descr="lock.png"/>
          <p:cNvPicPr>
            <a:picLocks noChangeAspect="1"/>
          </p:cNvPicPr>
          <p:nvPr/>
        </p:nvPicPr>
        <p:blipFill>
          <a:blip r:embed="rId4"/>
          <a:stretch>
            <a:fillRect/>
          </a:stretch>
        </p:blipFill>
        <p:spPr>
          <a:xfrm>
            <a:off x="3126525" y="29925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0349650" y="2992501"/>
            <a:ext cx="128699" cy="187198"/>
          </a:xfrm>
          <a:prstGeom prst="rect">
            <a:avLst/>
          </a:prstGeom>
        </p:spPr>
      </p:pic>
      <p:pic>
        <p:nvPicPr>
          <p:cNvPr id="205" name="Picture 204" descr="lock.png"/>
          <p:cNvPicPr>
            <a:picLocks noChangeAspect="1"/>
          </p:cNvPicPr>
          <p:nvPr/>
        </p:nvPicPr>
        <p:blipFill>
          <a:blip r:embed="rId4"/>
          <a:stretch>
            <a:fillRect/>
          </a:stretch>
        </p:blipFill>
        <p:spPr>
          <a:xfrm>
            <a:off x="11407984" y="2992501"/>
            <a:ext cx="128699" cy="187198"/>
          </a:xfrm>
          <a:prstGeom prst="rect">
            <a:avLst/>
          </a:prstGeom>
        </p:spPr>
      </p:pic>
      <p:pic>
        <p:nvPicPr>
          <p:cNvPr id="206" name="Picture 205" descr="lock.png"/>
          <p:cNvPicPr>
            <a:picLocks noChangeAspect="1"/>
          </p:cNvPicPr>
          <p:nvPr/>
        </p:nvPicPr>
        <p:blipFill>
          <a:blip r:embed="rId4"/>
          <a:stretch>
            <a:fillRect/>
          </a:stretch>
        </p:blipFill>
        <p:spPr>
          <a:xfrm>
            <a:off x="3126525" y="33354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0349650" y="3335401"/>
            <a:ext cx="128699" cy="187198"/>
          </a:xfrm>
          <a:prstGeom prst="rect">
            <a:avLst/>
          </a:prstGeom>
        </p:spPr>
      </p:pic>
      <p:pic>
        <p:nvPicPr>
          <p:cNvPr id="208" name="Picture 207" descr="lock.png"/>
          <p:cNvPicPr>
            <a:picLocks noChangeAspect="1"/>
          </p:cNvPicPr>
          <p:nvPr/>
        </p:nvPicPr>
        <p:blipFill>
          <a:blip r:embed="rId4"/>
          <a:stretch>
            <a:fillRect/>
          </a:stretch>
        </p:blipFill>
        <p:spPr>
          <a:xfrm>
            <a:off x="11407984" y="3335401"/>
            <a:ext cx="128699" cy="187198"/>
          </a:xfrm>
          <a:prstGeom prst="rect">
            <a:avLst/>
          </a:prstGeom>
        </p:spPr>
      </p:pic>
      <p:pic>
        <p:nvPicPr>
          <p:cNvPr id="209" name="Picture 208" descr="lock.png"/>
          <p:cNvPicPr>
            <a:picLocks noChangeAspect="1"/>
          </p:cNvPicPr>
          <p:nvPr/>
        </p:nvPicPr>
        <p:blipFill>
          <a:blip r:embed="rId4"/>
          <a:stretch>
            <a:fillRect/>
          </a:stretch>
        </p:blipFill>
        <p:spPr>
          <a:xfrm>
            <a:off x="3126525" y="36783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0349650" y="3678301"/>
            <a:ext cx="128699" cy="187198"/>
          </a:xfrm>
          <a:prstGeom prst="rect">
            <a:avLst/>
          </a:prstGeom>
        </p:spPr>
      </p:pic>
      <p:pic>
        <p:nvPicPr>
          <p:cNvPr id="211" name="Picture 210" descr="lock.png"/>
          <p:cNvPicPr>
            <a:picLocks noChangeAspect="1"/>
          </p:cNvPicPr>
          <p:nvPr/>
        </p:nvPicPr>
        <p:blipFill>
          <a:blip r:embed="rId4"/>
          <a:stretch>
            <a:fillRect/>
          </a:stretch>
        </p:blipFill>
        <p:spPr>
          <a:xfrm>
            <a:off x="11407984" y="3678301"/>
            <a:ext cx="128699" cy="187198"/>
          </a:xfrm>
          <a:prstGeom prst="rect">
            <a:avLst/>
          </a:prstGeom>
        </p:spPr>
      </p:pic>
      <p:pic>
        <p:nvPicPr>
          <p:cNvPr id="212" name="Picture 211" descr="lock.png"/>
          <p:cNvPicPr>
            <a:picLocks noChangeAspect="1"/>
          </p:cNvPicPr>
          <p:nvPr/>
        </p:nvPicPr>
        <p:blipFill>
          <a:blip r:embed="rId4"/>
          <a:stretch>
            <a:fillRect/>
          </a:stretch>
        </p:blipFill>
        <p:spPr>
          <a:xfrm>
            <a:off x="3126525" y="40212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0349650" y="4021201"/>
            <a:ext cx="128699" cy="187198"/>
          </a:xfrm>
          <a:prstGeom prst="rect">
            <a:avLst/>
          </a:prstGeom>
        </p:spPr>
      </p:pic>
      <p:pic>
        <p:nvPicPr>
          <p:cNvPr id="214" name="Picture 213" descr="lock.png"/>
          <p:cNvPicPr>
            <a:picLocks noChangeAspect="1"/>
          </p:cNvPicPr>
          <p:nvPr/>
        </p:nvPicPr>
        <p:blipFill>
          <a:blip r:embed="rId4"/>
          <a:stretch>
            <a:fillRect/>
          </a:stretch>
        </p:blipFill>
        <p:spPr>
          <a:xfrm>
            <a:off x="11407984" y="4021201"/>
            <a:ext cx="128699" cy="187198"/>
          </a:xfrm>
          <a:prstGeom prst="rect">
            <a:avLst/>
          </a:prstGeom>
        </p:spPr>
      </p:pic>
      <p:pic>
        <p:nvPicPr>
          <p:cNvPr id="215" name="Picture 214" descr="lock.png"/>
          <p:cNvPicPr>
            <a:picLocks noChangeAspect="1"/>
          </p:cNvPicPr>
          <p:nvPr/>
        </p:nvPicPr>
        <p:blipFill>
          <a:blip r:embed="rId4"/>
          <a:stretch>
            <a:fillRect/>
          </a:stretch>
        </p:blipFill>
        <p:spPr>
          <a:xfrm>
            <a:off x="3126525" y="43641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0349650" y="4364101"/>
            <a:ext cx="128699" cy="187198"/>
          </a:xfrm>
          <a:prstGeom prst="rect">
            <a:avLst/>
          </a:prstGeom>
        </p:spPr>
      </p:pic>
      <p:pic>
        <p:nvPicPr>
          <p:cNvPr id="217" name="Picture 216" descr="lock.png"/>
          <p:cNvPicPr>
            <a:picLocks noChangeAspect="1"/>
          </p:cNvPicPr>
          <p:nvPr/>
        </p:nvPicPr>
        <p:blipFill>
          <a:blip r:embed="rId4"/>
          <a:stretch>
            <a:fillRect/>
          </a:stretch>
        </p:blipFill>
        <p:spPr>
          <a:xfrm>
            <a:off x="11407984" y="4364101"/>
            <a:ext cx="128699" cy="187198"/>
          </a:xfrm>
          <a:prstGeom prst="rect">
            <a:avLst/>
          </a:prstGeom>
        </p:spPr>
      </p:pic>
      <p:pic>
        <p:nvPicPr>
          <p:cNvPr id="218" name="Picture 217" descr="lock.png"/>
          <p:cNvPicPr>
            <a:picLocks noChangeAspect="1"/>
          </p:cNvPicPr>
          <p:nvPr/>
        </p:nvPicPr>
        <p:blipFill>
          <a:blip r:embed="rId4"/>
          <a:stretch>
            <a:fillRect/>
          </a:stretch>
        </p:blipFill>
        <p:spPr>
          <a:xfrm>
            <a:off x="3126525" y="47070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0349650" y="4707001"/>
            <a:ext cx="128699" cy="187198"/>
          </a:xfrm>
          <a:prstGeom prst="rect">
            <a:avLst/>
          </a:prstGeom>
        </p:spPr>
      </p:pic>
      <p:pic>
        <p:nvPicPr>
          <p:cNvPr id="220" name="Picture 219" descr="lock.png"/>
          <p:cNvPicPr>
            <a:picLocks noChangeAspect="1"/>
          </p:cNvPicPr>
          <p:nvPr/>
        </p:nvPicPr>
        <p:blipFill>
          <a:blip r:embed="rId4"/>
          <a:stretch>
            <a:fillRect/>
          </a:stretch>
        </p:blipFill>
        <p:spPr>
          <a:xfrm>
            <a:off x="11407984" y="4707001"/>
            <a:ext cx="128699" cy="187198"/>
          </a:xfrm>
          <a:prstGeom prst="rect">
            <a:avLst/>
          </a:prstGeom>
        </p:spPr>
      </p:pic>
      <p:pic>
        <p:nvPicPr>
          <p:cNvPr id="221" name="Picture 220" descr="lock.png"/>
          <p:cNvPicPr>
            <a:picLocks noChangeAspect="1"/>
          </p:cNvPicPr>
          <p:nvPr/>
        </p:nvPicPr>
        <p:blipFill>
          <a:blip r:embed="rId4"/>
          <a:stretch>
            <a:fillRect/>
          </a:stretch>
        </p:blipFill>
        <p:spPr>
          <a:xfrm>
            <a:off x="3126525" y="50499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0349650" y="504990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407984" y="5049901"/>
            <a:ext cx="128699" cy="187198"/>
          </a:xfrm>
          <a:prstGeom prst="rect">
            <a:avLst/>
          </a:prstGeom>
        </p:spPr>
      </p:pic>
      <p:pic>
        <p:nvPicPr>
          <p:cNvPr id="224" name="Picture 223" descr="lock.png"/>
          <p:cNvPicPr>
            <a:picLocks noChangeAspect="1"/>
          </p:cNvPicPr>
          <p:nvPr/>
        </p:nvPicPr>
        <p:blipFill>
          <a:blip r:embed="rId4"/>
          <a:stretch>
            <a:fillRect/>
          </a:stretch>
        </p:blipFill>
        <p:spPr>
          <a:xfrm>
            <a:off x="3126525" y="5392801"/>
            <a:ext cx="128699" cy="187198"/>
          </a:xfrm>
          <a:prstGeom prst="rect">
            <a:avLst/>
          </a:prstGeom>
        </p:spPr>
      </p:pic>
      <p:pic>
        <p:nvPicPr>
          <p:cNvPr id="225" name="Picture 224" descr="lock.png"/>
          <p:cNvPicPr>
            <a:picLocks noChangeAspect="1"/>
          </p:cNvPicPr>
          <p:nvPr/>
        </p:nvPicPr>
        <p:blipFill>
          <a:blip r:embed="rId4"/>
          <a:stretch>
            <a:fillRect/>
          </a:stretch>
        </p:blipFill>
        <p:spPr>
          <a:xfrm>
            <a:off x="10349650" y="5392801"/>
            <a:ext cx="128699" cy="187198"/>
          </a:xfrm>
          <a:prstGeom prst="rect">
            <a:avLst/>
          </a:prstGeom>
        </p:spPr>
      </p:pic>
      <p:pic>
        <p:nvPicPr>
          <p:cNvPr id="226" name="Picture 225" descr="lock.png"/>
          <p:cNvPicPr>
            <a:picLocks noChangeAspect="1"/>
          </p:cNvPicPr>
          <p:nvPr/>
        </p:nvPicPr>
        <p:blipFill>
          <a:blip r:embed="rId4"/>
          <a:stretch>
            <a:fillRect/>
          </a:stretch>
        </p:blipFill>
        <p:spPr>
          <a:xfrm>
            <a:off x="11407984" y="5392801"/>
            <a:ext cx="128699" cy="187198"/>
          </a:xfrm>
          <a:prstGeom prst="rect">
            <a:avLst/>
          </a:prstGeom>
        </p:spPr>
      </p:pic>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 (Otis Spunkmeyer, Cuisine de France, Hiestand, Delice de France)</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 (Europastry, Dots)</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 (Bridor, Evasions)</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 (Schulstad, Hatting, Vaasan, Pastridor, Euro-Bake)</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 (Tastykake, Nature's Own, Wonder, Dave's Killer Bread, Canyon Bakehouse)</a:t>
            </a:r>
          </a:p>
        </p:txBody>
      </p:sp>
      <p:sp>
        <p:nvSpPr>
          <p:cNvPr id="117" name="TextBox 116"/>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2659436"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413020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4210050"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4979894"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6744821"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123" name="TextBox 122"/>
          <p:cNvSpPr txBox="1"/>
          <p:nvPr/>
        </p:nvSpPr>
        <p:spPr>
          <a:xfrm>
            <a:off x="8471647"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4" name="TextBox 123"/>
          <p:cNvSpPr txBox="1"/>
          <p:nvPr/>
        </p:nvSpPr>
        <p:spPr>
          <a:xfrm>
            <a:off x="10236574"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 (Mr Kipling)</a:t>
            </a:r>
          </a:p>
        </p:txBody>
      </p:sp>
      <p:sp>
        <p:nvSpPr>
          <p:cNvPr id="128" name="TextBox 127"/>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9" name="Oval 128"/>
          <p:cNvSpPr/>
          <p:nvPr/>
        </p:nvSpPr>
        <p:spPr>
          <a:xfrm>
            <a:off x="2659436"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Freeform 129"/>
          <p:cNvSpPr/>
          <p:nvPr/>
        </p:nvSpPr>
        <p:spPr>
          <a:xfrm>
            <a:off x="2733675" y="5410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413020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4979894"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6744821"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134" name="TextBox 133"/>
          <p:cNvSpPr txBox="1"/>
          <p:nvPr/>
        </p:nvSpPr>
        <p:spPr>
          <a:xfrm>
            <a:off x="8471647"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10236574"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289760"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054687" y="23067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289760" y="264960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054687" y="26496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289760" y="2992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054687" y="29925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289760" y="3335401"/>
            <a:ext cx="128699" cy="187198"/>
          </a:xfrm>
          <a:prstGeom prst="rect">
            <a:avLst/>
          </a:prstGeom>
        </p:spPr>
      </p:pic>
      <p:pic>
        <p:nvPicPr>
          <p:cNvPr id="157" name="Picture 156" descr="lock.png"/>
          <p:cNvPicPr>
            <a:picLocks noChangeAspect="1"/>
          </p:cNvPicPr>
          <p:nvPr/>
        </p:nvPicPr>
        <p:blipFill>
          <a:blip r:embed="rId4"/>
          <a:stretch>
            <a:fillRect/>
          </a:stretch>
        </p:blipFill>
        <p:spPr>
          <a:xfrm>
            <a:off x="11054687" y="3335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289760" y="3678301"/>
            <a:ext cx="128699" cy="187198"/>
          </a:xfrm>
          <a:prstGeom prst="rect">
            <a:avLst/>
          </a:prstGeom>
        </p:spPr>
      </p:pic>
      <p:pic>
        <p:nvPicPr>
          <p:cNvPr id="159" name="Picture 158" descr="lock.png"/>
          <p:cNvPicPr>
            <a:picLocks noChangeAspect="1"/>
          </p:cNvPicPr>
          <p:nvPr/>
        </p:nvPicPr>
        <p:blipFill>
          <a:blip r:embed="rId4"/>
          <a:stretch>
            <a:fillRect/>
          </a:stretch>
        </p:blipFill>
        <p:spPr>
          <a:xfrm>
            <a:off x="11054687" y="3678301"/>
            <a:ext cx="128699" cy="187198"/>
          </a:xfrm>
          <a:prstGeom prst="rect">
            <a:avLst/>
          </a:prstGeom>
        </p:spPr>
      </p:pic>
      <p:pic>
        <p:nvPicPr>
          <p:cNvPr id="160" name="Picture 159" descr="lock.png"/>
          <p:cNvPicPr>
            <a:picLocks noChangeAspect="1"/>
          </p:cNvPicPr>
          <p:nvPr/>
        </p:nvPicPr>
        <p:blipFill>
          <a:blip r:embed="rId4"/>
          <a:stretch>
            <a:fillRect/>
          </a:stretch>
        </p:blipFill>
        <p:spPr>
          <a:xfrm>
            <a:off x="9289760" y="4021201"/>
            <a:ext cx="128699" cy="187198"/>
          </a:xfrm>
          <a:prstGeom prst="rect">
            <a:avLst/>
          </a:prstGeom>
        </p:spPr>
      </p:pic>
      <p:pic>
        <p:nvPicPr>
          <p:cNvPr id="161" name="Picture 160" descr="lock.png"/>
          <p:cNvPicPr>
            <a:picLocks noChangeAspect="1"/>
          </p:cNvPicPr>
          <p:nvPr/>
        </p:nvPicPr>
        <p:blipFill>
          <a:blip r:embed="rId4"/>
          <a:stretch>
            <a:fillRect/>
          </a:stretch>
        </p:blipFill>
        <p:spPr>
          <a:xfrm>
            <a:off x="11054687" y="4021201"/>
            <a:ext cx="128699" cy="187198"/>
          </a:xfrm>
          <a:prstGeom prst="rect">
            <a:avLst/>
          </a:prstGeom>
        </p:spPr>
      </p:pic>
      <p:pic>
        <p:nvPicPr>
          <p:cNvPr id="162" name="Picture 161" descr="lock.png"/>
          <p:cNvPicPr>
            <a:picLocks noChangeAspect="1"/>
          </p:cNvPicPr>
          <p:nvPr/>
        </p:nvPicPr>
        <p:blipFill>
          <a:blip r:embed="rId4"/>
          <a:stretch>
            <a:fillRect/>
          </a:stretch>
        </p:blipFill>
        <p:spPr>
          <a:xfrm>
            <a:off x="9289760" y="43641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1054687" y="4364101"/>
            <a:ext cx="128699" cy="187198"/>
          </a:xfrm>
          <a:prstGeom prst="rect">
            <a:avLst/>
          </a:prstGeom>
        </p:spPr>
      </p:pic>
      <p:pic>
        <p:nvPicPr>
          <p:cNvPr id="164" name="Picture 163" descr="lock.png"/>
          <p:cNvPicPr>
            <a:picLocks noChangeAspect="1"/>
          </p:cNvPicPr>
          <p:nvPr/>
        </p:nvPicPr>
        <p:blipFill>
          <a:blip r:embed="rId4"/>
          <a:stretch>
            <a:fillRect/>
          </a:stretch>
        </p:blipFill>
        <p:spPr>
          <a:xfrm>
            <a:off x="9289760" y="4707001"/>
            <a:ext cx="128699" cy="187198"/>
          </a:xfrm>
          <a:prstGeom prst="rect">
            <a:avLst/>
          </a:prstGeom>
        </p:spPr>
      </p:pic>
      <p:pic>
        <p:nvPicPr>
          <p:cNvPr id="165" name="Picture 164" descr="lock.png"/>
          <p:cNvPicPr>
            <a:picLocks noChangeAspect="1"/>
          </p:cNvPicPr>
          <p:nvPr/>
        </p:nvPicPr>
        <p:blipFill>
          <a:blip r:embed="rId4"/>
          <a:stretch>
            <a:fillRect/>
          </a:stretch>
        </p:blipFill>
        <p:spPr>
          <a:xfrm>
            <a:off x="11054687" y="47070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289760"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054687" y="50499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289760" y="53928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1054687" y="5392801"/>
            <a:ext cx="128699" cy="187198"/>
          </a:xfrm>
          <a:prstGeom prst="rect">
            <a:avLst/>
          </a:prstGeom>
        </p:spPr>
      </p:pic>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 (Otis Spunkmeyer, Cuisine de France, Hiestand, Delice de France)</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 (Europastry, Dots)</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 (Bridor, Evasions)</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 (Schulstad, Hatting, Vaasan, Pastridor, Euro-Bake)</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 (Tastykake, Nature's Own, Wonder, Dave's Killer Bread, Canyon Bakehouse)</a:t>
            </a:r>
          </a:p>
        </p:txBody>
      </p:sp>
      <p:sp>
        <p:nvSpPr>
          <p:cNvPr id="111" name="TextBox 110"/>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2" name="TextBox 111"/>
          <p:cNvSpPr txBox="1"/>
          <p:nvPr/>
        </p:nvSpPr>
        <p:spPr>
          <a:xfrm>
            <a:off x="2038350"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3765176"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4" name="Oval 113"/>
          <p:cNvSpPr/>
          <p:nvPr/>
        </p:nvSpPr>
        <p:spPr>
          <a:xfrm>
            <a:off x="6189289"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7000875"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8765801"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7" name="Oval 116"/>
          <p:cNvSpPr/>
          <p:nvPr/>
        </p:nvSpPr>
        <p:spPr>
          <a:xfrm>
            <a:off x="11189914"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126807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 (Mr Kipling)</a:t>
            </a:r>
          </a:p>
        </p:txBody>
      </p:sp>
      <p:sp>
        <p:nvSpPr>
          <p:cNvPr id="122" name="TextBox 12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3" name="TextBox 122"/>
          <p:cNvSpPr txBox="1"/>
          <p:nvPr/>
        </p:nvSpPr>
        <p:spPr>
          <a:xfrm>
            <a:off x="2038350"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3765176"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5" name="Oval 124"/>
          <p:cNvSpPr/>
          <p:nvPr/>
        </p:nvSpPr>
        <p:spPr>
          <a:xfrm>
            <a:off x="6189289"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7038975"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8765801"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Oval 127"/>
          <p:cNvSpPr/>
          <p:nvPr/>
        </p:nvSpPr>
        <p:spPr>
          <a:xfrm>
            <a:off x="11189914"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112680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4583289"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7818988"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583914"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4583289"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583914"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4583289"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7818988"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83914"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583289"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83914"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583289"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7818988"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83914"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583289"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83914"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4583289"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7818988"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583914"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4583289"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583914"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4583289"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7818988"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583914"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4583289"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583914" y="5392801"/>
            <a:ext cx="128699" cy="187198"/>
          </a:xfrm>
          <a:prstGeom prst="rect">
            <a:avLst/>
          </a:prstGeom>
        </p:spPr>
      </p:pic>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McKee Foods Corporation (Little Debbie, Sunbelt Bakery, Drake's, Fieldstone Bakery)</a:t>
            </a:r>
          </a:p>
        </p:txBody>
      </p:sp>
      <p:sp>
        <p:nvSpPr>
          <p:cNvPr id="30" name="Oval 29"/>
          <p:cNvSpPr/>
          <p:nvPr/>
        </p:nvSpPr>
        <p:spPr>
          <a:xfrm>
            <a:off x="2847975" y="1885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924175" y="1885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10420350" y="18954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114871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8" name="Connector 37"/>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Grupo Bimbo (Bimbo, Marinela, Little Bites, Thomas')</a:t>
            </a:r>
          </a:p>
        </p:txBody>
      </p:sp>
      <p:sp>
        <p:nvSpPr>
          <p:cNvPr id="41" name="Oval 40"/>
          <p:cNvSpPr/>
          <p:nvPr/>
        </p:nvSpPr>
        <p:spPr>
          <a:xfrm>
            <a:off x="284797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92417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0420350" y="2200275"/>
            <a:ext cx="9715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114300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50" name="Connector 49"/>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Rich Products Corporation (Rich's)</a:t>
            </a:r>
          </a:p>
        </p:txBody>
      </p:sp>
      <p:sp>
        <p:nvSpPr>
          <p:cNvPr id="53" name="Oval 52"/>
          <p:cNvSpPr/>
          <p:nvPr/>
        </p:nvSpPr>
        <p:spPr>
          <a:xfrm>
            <a:off x="284797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924175" y="2495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78200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10420350" y="2505075"/>
            <a:ext cx="9144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137285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61" name="Connector 60"/>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2" name="Rectangle 61"/>
          <p:cNvSpPr/>
          <p:nvPr/>
        </p:nvSpPr>
        <p:spPr>
          <a:xfrm>
            <a:off x="190500" y="27622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Europastry (Europastry, Dots)</a:t>
            </a:r>
          </a:p>
        </p:txBody>
      </p:sp>
      <p:sp>
        <p:nvSpPr>
          <p:cNvPr id="64" name="Oval 63"/>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450532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458152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61626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62388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Oval 69"/>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Oval 70"/>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0420350" y="28098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3347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4" name="Connector 73"/>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5" name="Rectangle 74"/>
          <p:cNvSpPr/>
          <p:nvPr/>
        </p:nvSpPr>
        <p:spPr>
          <a:xfrm>
            <a:off x="190500" y="30670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Hostess Brands (Hostess)</a:t>
            </a:r>
          </a:p>
        </p:txBody>
      </p:sp>
      <p:sp>
        <p:nvSpPr>
          <p:cNvPr id="77" name="Oval 76"/>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2924175" y="3105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45053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61626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78200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78962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0420350" y="3114675"/>
            <a:ext cx="8572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31570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6" name="Connector 85"/>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ARYZTA / Aspire Bakeries (Otis Spunkmeyer, Cuisine de France, Hiestand, Delice de France)</a:t>
            </a:r>
          </a:p>
        </p:txBody>
      </p:sp>
      <p:sp>
        <p:nvSpPr>
          <p:cNvPr id="89" name="Oval 88"/>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0" name="Connector 99"/>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1" name="Rectangle 100"/>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Premier Foods (Mr Kipling)</a:t>
            </a:r>
          </a:p>
        </p:txBody>
      </p:sp>
      <p:sp>
        <p:nvSpPr>
          <p:cNvPr id="103" name="Oval 102"/>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3" name="Connector 112"/>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4" name="Rectangle 113"/>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Flowers Foods (Tastykake, Nature's Own, Wonder, Dave's Killer Bread, Canyon Bakehouse)</a:t>
            </a:r>
          </a:p>
        </p:txBody>
      </p:sp>
      <p:sp>
        <p:nvSpPr>
          <p:cNvPr id="116" name="Oval 115"/>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Freeform 116"/>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Oval 117"/>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reeform 118"/>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Oval 119"/>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78200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789622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0420350" y="40290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1112520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7" name="Connector 126"/>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248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Lantmännen Unibake (Schulstad, Hatting, Vaasan, Pastridor, Euro-Bake)</a:t>
            </a:r>
          </a:p>
        </p:txBody>
      </p:sp>
      <p:sp>
        <p:nvSpPr>
          <p:cNvPr id="130" name="Oval 129"/>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29241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Freeform 134"/>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Oval 135"/>
          <p:cNvSpPr/>
          <p:nvPr/>
        </p:nvSpPr>
        <p:spPr>
          <a:xfrm>
            <a:off x="782002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420350" y="4333875"/>
            <a:ext cx="6096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11068050" y="4248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40" name="Connector 139"/>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1" name="Rectangle 140"/>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285750" y="4552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Bridor (Bridor, Evasions)</a:t>
            </a:r>
          </a:p>
        </p:txBody>
      </p:sp>
      <p:sp>
        <p:nvSpPr>
          <p:cNvPr id="143" name="Oval 142"/>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Freeform 143"/>
          <p:cNvSpPr/>
          <p:nvPr/>
        </p:nvSpPr>
        <p:spPr>
          <a:xfrm>
            <a:off x="29241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Oval 144"/>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Freeform 145"/>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Oval 146"/>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Freeform 147"/>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Oval 148"/>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0420350" y="4638675"/>
            <a:ext cx="5524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010900" y="4552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54" name="Connector 153"/>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5" name="Oval 154"/>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38100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57" name="Oval 156"/>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2245995"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60" name="Oval 159"/>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385953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63" name="Oval 162"/>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528447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65" name="TextBox 164"/>
          <p:cNvSpPr txBox="1"/>
          <p:nvPr/>
        </p:nvSpPr>
        <p:spPr>
          <a:xfrm>
            <a:off x="190500" y="5143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66" name="Rectangle 165"/>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TextBox 166"/>
          <p:cNvSpPr txBox="1"/>
          <p:nvPr/>
        </p:nvSpPr>
        <p:spPr>
          <a:xfrm>
            <a:off x="190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68" name="TextBox 167"/>
          <p:cNvSpPr txBox="1"/>
          <p:nvPr/>
        </p:nvSpPr>
        <p:spPr>
          <a:xfrm>
            <a:off x="190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McKee Foods Corporation (Little Debbie, Sunbelt Bakery, Drake's, Fieldstone Bakery), Grupo Bimbo (Bimbo, Marinela, Little Bites, Thomas'), Rich Products Corporation (Rich's), Hostess Brands (Hostess)</a:t>
            </a:r>
          </a:p>
        </p:txBody>
      </p:sp>
      <p:sp>
        <p:nvSpPr>
          <p:cNvPr id="169" name="TextBox 168"/>
          <p:cNvSpPr txBox="1"/>
          <p:nvPr/>
        </p:nvSpPr>
        <p:spPr>
          <a:xfrm>
            <a:off x="190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segment breadth.</a:t>
            </a:r>
          </a:p>
        </p:txBody>
      </p:sp>
      <p:sp>
        <p:nvSpPr>
          <p:cNvPr id="170" name="Rectangle 169"/>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41910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72" name="TextBox 171"/>
          <p:cNvSpPr txBox="1"/>
          <p:nvPr/>
        </p:nvSpPr>
        <p:spPr>
          <a:xfrm>
            <a:off x="41910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Europastry (Europastry, Dots), ARYZTA / Aspire Bakeries (Otis Spunkmeyer, Cuisine de France, Hiestand, Delice de France)</a:t>
            </a:r>
          </a:p>
        </p:txBody>
      </p:sp>
      <p:sp>
        <p:nvSpPr>
          <p:cNvPr id="173" name="TextBox 172"/>
          <p:cNvSpPr txBox="1"/>
          <p:nvPr/>
        </p:nvSpPr>
        <p:spPr>
          <a:xfrm>
            <a:off x="41910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4" name="Rectangle 173"/>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8191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76" name="TextBox 175"/>
          <p:cNvSpPr txBox="1"/>
          <p:nvPr/>
        </p:nvSpPr>
        <p:spPr>
          <a:xfrm>
            <a:off x="8191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Premier Foods (Mr Kipling), Flowers Foods (Tastykake, Nature's Own, Wonder, Dave's Killer Bread, Canyon Bakehouse), Lantmännen Unibake (Schulstad, Hatting, Vaasan, Pastridor, Euro-Bake), Bridor (Bridor, Evasions)</a:t>
            </a:r>
          </a:p>
        </p:txBody>
      </p:sp>
      <p:sp>
        <p:nvSpPr>
          <p:cNvPr id="177" name="TextBox 176"/>
          <p:cNvSpPr txBox="1"/>
          <p:nvPr/>
        </p:nvSpPr>
        <p:spPr>
          <a:xfrm>
            <a:off x="8191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8" name="TextBox 17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9" name="Picture 178" descr="lock.png"/>
          <p:cNvPicPr>
            <a:picLocks noChangeAspect="1"/>
          </p:cNvPicPr>
          <p:nvPr/>
        </p:nvPicPr>
        <p:blipFill>
          <a:blip r:embed="rId4"/>
          <a:stretch>
            <a:fillRect/>
          </a:stretch>
        </p:blipFill>
        <p:spPr>
          <a:xfrm>
            <a:off x="11632350" y="18685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575200" y="21733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518050" y="24781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479950" y="27829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460900" y="30877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422800" y="33925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327550" y="3697351"/>
            <a:ext cx="128699" cy="187198"/>
          </a:xfrm>
          <a:prstGeom prst="rect">
            <a:avLst/>
          </a:prstGeom>
        </p:spPr>
      </p:pic>
      <p:pic>
        <p:nvPicPr>
          <p:cNvPr id="186" name="Picture 185" descr="lock.png"/>
          <p:cNvPicPr>
            <a:picLocks noChangeAspect="1"/>
          </p:cNvPicPr>
          <p:nvPr/>
        </p:nvPicPr>
        <p:blipFill>
          <a:blip r:embed="rId4"/>
          <a:stretch>
            <a:fillRect/>
          </a:stretch>
        </p:blipFill>
        <p:spPr>
          <a:xfrm>
            <a:off x="11270400" y="4002151"/>
            <a:ext cx="128699" cy="187198"/>
          </a:xfrm>
          <a:prstGeom prst="rect">
            <a:avLst/>
          </a:prstGeom>
        </p:spPr>
      </p:pic>
      <p:pic>
        <p:nvPicPr>
          <p:cNvPr id="187" name="Picture 186" descr="lock.png"/>
          <p:cNvPicPr>
            <a:picLocks noChangeAspect="1"/>
          </p:cNvPicPr>
          <p:nvPr/>
        </p:nvPicPr>
        <p:blipFill>
          <a:blip r:embed="rId4"/>
          <a:stretch>
            <a:fillRect/>
          </a:stretch>
        </p:blipFill>
        <p:spPr>
          <a:xfrm>
            <a:off x="11213250" y="4306951"/>
            <a:ext cx="128699" cy="187198"/>
          </a:xfrm>
          <a:prstGeom prst="rect">
            <a:avLst/>
          </a:prstGeom>
        </p:spPr>
      </p:pic>
      <p:pic>
        <p:nvPicPr>
          <p:cNvPr id="188" name="Picture 187" descr="lock.png"/>
          <p:cNvPicPr>
            <a:picLocks noChangeAspect="1"/>
          </p:cNvPicPr>
          <p:nvPr/>
        </p:nvPicPr>
        <p:blipFill>
          <a:blip r:embed="rId4"/>
          <a:stretch>
            <a:fillRect/>
          </a:stretch>
        </p:blipFill>
        <p:spPr>
          <a:xfrm>
            <a:off x="11156100" y="4611751"/>
            <a:ext cx="128699" cy="187198"/>
          </a:xfrm>
          <a:prstGeom prst="rect">
            <a:avLst/>
          </a:prstGeom>
        </p:spPr>
      </p:pic>
      <p:sp>
        <p:nvSpPr>
          <p:cNvPr id="189" name="TextBox 188"/>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0" name="Picture 189" descr="lock.png"/>
          <p:cNvPicPr>
            <a:picLocks noChangeAspect="1"/>
          </p:cNvPicPr>
          <p:nvPr/>
        </p:nvPicPr>
        <p:blipFill>
          <a:blip r:embed="rId4"/>
          <a:stretch>
            <a:fillRect/>
          </a:stretch>
        </p:blipFill>
        <p:spPr>
          <a:xfrm>
            <a:off x="2482959" y="1212159"/>
            <a:ext cx="92663" cy="134782"/>
          </a:xfrm>
          <a:prstGeom prst="rect">
            <a:avLst/>
          </a:prstGeom>
        </p:spPr>
      </p:pic>
      <p:sp>
        <p:nvSpPr>
          <p:cNvPr id="191" name="TextBox 190"/>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2" name="Picture 191" descr="lock.png"/>
          <p:cNvPicPr>
            <a:picLocks noChangeAspect="1"/>
          </p:cNvPicPr>
          <p:nvPr/>
        </p:nvPicPr>
        <p:blipFill>
          <a:blip r:embed="rId4"/>
          <a:stretch>
            <a:fillRect/>
          </a:stretch>
        </p:blipFill>
        <p:spPr>
          <a:xfrm>
            <a:off x="4140309" y="1212159"/>
            <a:ext cx="92663" cy="134782"/>
          </a:xfrm>
          <a:prstGeom prst="rect">
            <a:avLst/>
          </a:prstGeom>
        </p:spPr>
      </p:pic>
      <p:sp>
        <p:nvSpPr>
          <p:cNvPr id="193" name="TextBox 192"/>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4" name="Picture 193" descr="lock.png"/>
          <p:cNvPicPr>
            <a:picLocks noChangeAspect="1"/>
          </p:cNvPicPr>
          <p:nvPr/>
        </p:nvPicPr>
        <p:blipFill>
          <a:blip r:embed="rId4"/>
          <a:stretch>
            <a:fillRect/>
          </a:stretch>
        </p:blipFill>
        <p:spPr>
          <a:xfrm>
            <a:off x="5797659" y="1212159"/>
            <a:ext cx="92663" cy="134782"/>
          </a:xfrm>
          <a:prstGeom prst="rect">
            <a:avLst/>
          </a:prstGeom>
        </p:spPr>
      </p:pic>
      <p:sp>
        <p:nvSpPr>
          <p:cNvPr id="195" name="TextBox 194"/>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6" name="Picture 195" descr="lock.png"/>
          <p:cNvPicPr>
            <a:picLocks noChangeAspect="1"/>
          </p:cNvPicPr>
          <p:nvPr/>
        </p:nvPicPr>
        <p:blipFill>
          <a:blip r:embed="rId4"/>
          <a:stretch>
            <a:fillRect/>
          </a:stretch>
        </p:blipFill>
        <p:spPr>
          <a:xfrm>
            <a:off x="7455009" y="1212159"/>
            <a:ext cx="92663" cy="134782"/>
          </a:xfrm>
          <a:prstGeom prst="rect">
            <a:avLst/>
          </a:prstGeom>
        </p:spPr>
      </p:pic>
      <p:sp>
        <p:nvSpPr>
          <p:cNvPr id="197" name="TextBox 196"/>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8" name="Picture 197"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Grupo Bimbo (Bimbo, Marinela, Little Bites, Thomas')</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U.S.</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McKee Foods Corporation (Little Debbie, Sunbelt Bakery, Drake's, Fieldstone Bakery)</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Hostess Brands (Hostess)</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U.S.</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Rich Products Corporation (Rich's)</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Savoury muffins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ARYZTA / Aspire Bakeries (Otis Spunkmeyer, Cuisine de France, Hiestand, Delice de France)</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U.S.</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Europastry (Europastry, Dots)</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Bridor (Bridor, Evasions)</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U.S.</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Lantmännen Unibake (Schulstad, Hatting, Vaasan, Pastridor, Euro-Bake)</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Savoury muffins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266700" y="52482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Flowers Foods (Tastykake, Nature's Own, Wonder, Dave's Killer Bread, Canyon Bakehouse)</a:t>
            </a:r>
          </a:p>
        </p:txBody>
      </p:sp>
      <p:sp>
        <p:nvSpPr>
          <p:cNvPr id="109" name="TextBox 108"/>
          <p:cNvSpPr txBox="1"/>
          <p:nvPr/>
        </p:nvSpPr>
        <p:spPr>
          <a:xfrm>
            <a:off x="1543050" y="52482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U.S.</a:t>
            </a:r>
          </a:p>
        </p:txBody>
      </p:sp>
      <p:sp>
        <p:nvSpPr>
          <p:cNvPr id="110" name="TextBox 109"/>
          <p:cNvSpPr txBox="1"/>
          <p:nvPr/>
        </p:nvSpPr>
        <p:spPr>
          <a:xfrm>
            <a:off x="3924300" y="52482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4514850" y="52768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66700" y="57435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Premier Foods (Mr Kipling)</a:t>
            </a:r>
          </a:p>
        </p:txBody>
      </p:sp>
      <p:sp>
        <p:nvSpPr>
          <p:cNvPr id="120" name="TextBox 119"/>
          <p:cNvSpPr txBox="1"/>
          <p:nvPr/>
        </p:nvSpPr>
        <p:spPr>
          <a:xfrm>
            <a:off x="1543050" y="57435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121" name="TextBox 120"/>
          <p:cNvSpPr txBox="1"/>
          <p:nvPr/>
        </p:nvSpPr>
        <p:spPr>
          <a:xfrm>
            <a:off x="3924300" y="57435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4514850" y="57721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9050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9239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7241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38576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54578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75247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Grupo Bimbo (Bimbo, Marinela, Little Bites, Thomas')</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McKee Foods Corporation (Little Debbie, Sunbelt Bakery, Drake's, Fieldstone Bakery)</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Hostess Brands (Hostess)</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Rich Products Corporation (Rich's)</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ARYZTA / Aspire Bakeries (Otis Spunkmeyer, Cuisine de France, Hiestand, Delice de France)</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Europastry (Europastry, Dots)</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Bridor (Bridor, Evasions)</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Lantmännen Unibake (Schulstad, Hatting, Vaasan, Pastridor, Euro-Bake)</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35814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Flowers Foods (Tastykake, Nature's Own, Wonder, Dave's Killer Bread, Canyon Bakehouse)</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38290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Premier Foods (Mr Kipling)</a:t>
            </a:r>
          </a:p>
        </p:txBody>
      </p:sp>
      <p:sp>
        <p:nvSpPr>
          <p:cNvPr id="30" name="TextBox 29"/>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714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15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3365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3915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4466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2264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815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365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466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5207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6032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6858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7683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5207000" y="38385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6858000" y="38385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16510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U.S.</a:t>
            </a:r>
          </a:p>
        </p:txBody>
      </p:sp>
      <p:sp>
        <p:nvSpPr>
          <p:cNvPr id="219" name="TextBox 218"/>
          <p:cNvSpPr txBox="1"/>
          <p:nvPr/>
        </p:nvSpPr>
        <p:spPr>
          <a:xfrm>
            <a:off x="10350500" y="1219200"/>
            <a:ext cx="16510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Canada</a:t>
            </a:r>
          </a:p>
        </p:txBody>
      </p:sp>
      <p:sp>
        <p:nvSpPr>
          <p:cNvPr id="220" name="Rectangle 219"/>
          <p:cNvSpPr/>
          <p:nvPr/>
        </p:nvSpPr>
        <p:spPr>
          <a:xfrm>
            <a:off x="8709025" y="160972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TextBox 220"/>
          <p:cNvSpPr txBox="1"/>
          <p:nvPr/>
        </p:nvSpPr>
        <p:spPr>
          <a:xfrm>
            <a:off x="8699500" y="16097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22" name="Rectangle 221"/>
          <p:cNvSpPr/>
          <p:nvPr/>
        </p:nvSpPr>
        <p:spPr>
          <a:xfrm>
            <a:off x="10360025" y="160972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TextBox 222"/>
          <p:cNvSpPr txBox="1"/>
          <p:nvPr/>
        </p:nvSpPr>
        <p:spPr>
          <a:xfrm>
            <a:off x="10350500" y="16097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24" name="Rectangle 223"/>
          <p:cNvSpPr/>
          <p:nvPr/>
        </p:nvSpPr>
        <p:spPr>
          <a:xfrm>
            <a:off x="8709025" y="185737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TextBox 224"/>
          <p:cNvSpPr txBox="1"/>
          <p:nvPr/>
        </p:nvSpPr>
        <p:spPr>
          <a:xfrm>
            <a:off x="8699500" y="18573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26" name="Rectangle 225"/>
          <p:cNvSpPr/>
          <p:nvPr/>
        </p:nvSpPr>
        <p:spPr>
          <a:xfrm>
            <a:off x="10360025" y="185737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10350500" y="18573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28" name="Rectangle 227"/>
          <p:cNvSpPr/>
          <p:nvPr/>
        </p:nvSpPr>
        <p:spPr>
          <a:xfrm>
            <a:off x="8709025" y="210502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699500" y="21050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30" name="Rectangle 229"/>
          <p:cNvSpPr/>
          <p:nvPr/>
        </p:nvSpPr>
        <p:spPr>
          <a:xfrm>
            <a:off x="10360025" y="210502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TextBox 230"/>
          <p:cNvSpPr txBox="1"/>
          <p:nvPr/>
        </p:nvSpPr>
        <p:spPr>
          <a:xfrm>
            <a:off x="10350500" y="21050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32" name="Rectangle 231"/>
          <p:cNvSpPr/>
          <p:nvPr/>
        </p:nvSpPr>
        <p:spPr>
          <a:xfrm>
            <a:off x="8709025" y="235267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TextBox 232"/>
          <p:cNvSpPr txBox="1"/>
          <p:nvPr/>
        </p:nvSpPr>
        <p:spPr>
          <a:xfrm>
            <a:off x="8699500" y="23526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34" name="Rectangle 233"/>
          <p:cNvSpPr/>
          <p:nvPr/>
        </p:nvSpPr>
        <p:spPr>
          <a:xfrm>
            <a:off x="10360025" y="235267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10350500" y="23526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36" name="Rectangle 235"/>
          <p:cNvSpPr/>
          <p:nvPr/>
        </p:nvSpPr>
        <p:spPr>
          <a:xfrm>
            <a:off x="8709025" y="260032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TextBox 236"/>
          <p:cNvSpPr txBox="1"/>
          <p:nvPr/>
        </p:nvSpPr>
        <p:spPr>
          <a:xfrm>
            <a:off x="8699500" y="26003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38" name="Rectangle 237"/>
          <p:cNvSpPr/>
          <p:nvPr/>
        </p:nvSpPr>
        <p:spPr>
          <a:xfrm>
            <a:off x="10360025" y="260032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TextBox 238"/>
          <p:cNvSpPr txBox="1"/>
          <p:nvPr/>
        </p:nvSpPr>
        <p:spPr>
          <a:xfrm>
            <a:off x="10350500" y="26003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40" name="Rectangle 239"/>
          <p:cNvSpPr/>
          <p:nvPr/>
        </p:nvSpPr>
        <p:spPr>
          <a:xfrm>
            <a:off x="8709025" y="284797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TextBox 240"/>
          <p:cNvSpPr txBox="1"/>
          <p:nvPr/>
        </p:nvSpPr>
        <p:spPr>
          <a:xfrm>
            <a:off x="8699500" y="28479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42" name="Rectangle 241"/>
          <p:cNvSpPr/>
          <p:nvPr/>
        </p:nvSpPr>
        <p:spPr>
          <a:xfrm>
            <a:off x="10360025" y="284797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TextBox 242"/>
          <p:cNvSpPr txBox="1"/>
          <p:nvPr/>
        </p:nvSpPr>
        <p:spPr>
          <a:xfrm>
            <a:off x="10350500" y="28479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44" name="Rectangle 243"/>
          <p:cNvSpPr/>
          <p:nvPr/>
        </p:nvSpPr>
        <p:spPr>
          <a:xfrm>
            <a:off x="8709025" y="309562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TextBox 244"/>
          <p:cNvSpPr txBox="1"/>
          <p:nvPr/>
        </p:nvSpPr>
        <p:spPr>
          <a:xfrm>
            <a:off x="8699500" y="30956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46" name="Rectangle 245"/>
          <p:cNvSpPr/>
          <p:nvPr/>
        </p:nvSpPr>
        <p:spPr>
          <a:xfrm>
            <a:off x="10360025" y="309562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TextBox 246"/>
          <p:cNvSpPr txBox="1"/>
          <p:nvPr/>
        </p:nvSpPr>
        <p:spPr>
          <a:xfrm>
            <a:off x="10350500" y="30956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48" name="Rectangle 247"/>
          <p:cNvSpPr/>
          <p:nvPr/>
        </p:nvSpPr>
        <p:spPr>
          <a:xfrm>
            <a:off x="8709025" y="334327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8699500" y="33432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50" name="Rectangle 249"/>
          <p:cNvSpPr/>
          <p:nvPr/>
        </p:nvSpPr>
        <p:spPr>
          <a:xfrm>
            <a:off x="10360025" y="334327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10350500" y="33432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52" name="Rectangle 251"/>
          <p:cNvSpPr/>
          <p:nvPr/>
        </p:nvSpPr>
        <p:spPr>
          <a:xfrm>
            <a:off x="8709025" y="359092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699500" y="35909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54" name="Rectangle 253"/>
          <p:cNvSpPr/>
          <p:nvPr/>
        </p:nvSpPr>
        <p:spPr>
          <a:xfrm>
            <a:off x="10360025" y="359092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TextBox 254"/>
          <p:cNvSpPr txBox="1"/>
          <p:nvPr/>
        </p:nvSpPr>
        <p:spPr>
          <a:xfrm>
            <a:off x="10350500" y="359092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56" name="Rectangle 255"/>
          <p:cNvSpPr/>
          <p:nvPr/>
        </p:nvSpPr>
        <p:spPr>
          <a:xfrm>
            <a:off x="8709025" y="3838575"/>
            <a:ext cx="16319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TextBox 256"/>
          <p:cNvSpPr txBox="1"/>
          <p:nvPr/>
        </p:nvSpPr>
        <p:spPr>
          <a:xfrm>
            <a:off x="8699500" y="38385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58" name="Rectangle 257"/>
          <p:cNvSpPr/>
          <p:nvPr/>
        </p:nvSpPr>
        <p:spPr>
          <a:xfrm>
            <a:off x="10360025" y="3838575"/>
            <a:ext cx="1631950"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0350500" y="3838575"/>
            <a:ext cx="1651000" cy="228600"/>
          </a:xfrm>
          <a:prstGeom prst="rect">
            <a:avLst/>
          </a:prstGeom>
          <a:noFill/>
        </p:spPr>
        <p:txBody>
          <a:bodyPr wrap="square" lIns="28575" rIns="28575" tIns="9525" bIns="9525" anchor="ctr">
            <a:spAutoFit/>
          </a:bodyPr>
          <a:lstStyle/>
          <a:p>
            <a:pPr algn="ctr"/>
            <a:r>
              <a:rPr sz="1100" b="1">
                <a:solidFill>
                  <a:srgbClr val="0F2D52"/>
                </a:solidFill>
                <a:latin typeface="Calibri"/>
              </a:rPr>
              <a:t>2</a:t>
            </a:r>
          </a:p>
        </p:txBody>
      </p:sp>
      <p:sp>
        <p:nvSpPr>
          <p:cNvPr id="260" name="Rectangle 259"/>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4381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262" name="Rectangle 261"/>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148590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264" name="Rectangle 263"/>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25336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266" name="TextBox 265"/>
          <p:cNvSpPr txBox="1"/>
          <p:nvPr/>
        </p:nvSpPr>
        <p:spPr>
          <a:xfrm>
            <a:off x="3524250" y="41338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267" name="Connector 266"/>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68" name="TextBox 267"/>
          <p:cNvSpPr txBox="1"/>
          <p:nvPr/>
        </p:nvSpPr>
        <p:spPr>
          <a:xfrm>
            <a:off x="190500" y="44577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269" name="Rectangle 268"/>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2667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271" name="TextBox 270"/>
          <p:cNvSpPr txBox="1"/>
          <p:nvPr/>
        </p:nvSpPr>
        <p:spPr>
          <a:xfrm>
            <a:off x="1905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272" name="Rectangle 271"/>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22542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274" name="TextBox 273"/>
          <p:cNvSpPr txBox="1"/>
          <p:nvPr/>
        </p:nvSpPr>
        <p:spPr>
          <a:xfrm>
            <a:off x="21780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275" name="Rectangle 274"/>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TextBox 275"/>
          <p:cNvSpPr txBox="1"/>
          <p:nvPr/>
        </p:nvSpPr>
        <p:spPr>
          <a:xfrm>
            <a:off x="42418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277" name="TextBox 276"/>
          <p:cNvSpPr txBox="1"/>
          <p:nvPr/>
        </p:nvSpPr>
        <p:spPr>
          <a:xfrm>
            <a:off x="41656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278" name="Rectangle 277"/>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62293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280" name="TextBox 279"/>
          <p:cNvSpPr txBox="1"/>
          <p:nvPr/>
        </p:nvSpPr>
        <p:spPr>
          <a:xfrm>
            <a:off x="61531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281" name="Rectangle 280"/>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82169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283" name="TextBox 282"/>
          <p:cNvSpPr txBox="1"/>
          <p:nvPr/>
        </p:nvSpPr>
        <p:spPr>
          <a:xfrm>
            <a:off x="81407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284" name="Rectangle 283"/>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TextBox 284"/>
          <p:cNvSpPr txBox="1"/>
          <p:nvPr/>
        </p:nvSpPr>
        <p:spPr>
          <a:xfrm>
            <a:off x="102044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286" name="TextBox 285"/>
          <p:cNvSpPr txBox="1"/>
          <p:nvPr/>
        </p:nvSpPr>
        <p:spPr>
          <a:xfrm>
            <a:off x="101282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287" name="TextBox 28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Packaged Muffins Market, North America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Grupo Bimbo (Bimbo, Marinela, Little Bites, Thomas') · McKee Foods Corporation (Little Debbie, Sunbelt Bakery, Drake's, Fieldstone Bakery) · Hostess Brands (Hostess) · Rich Products Corporation (Rich's)</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ARYZTA / Aspire Bakeries (Otis Spunkmeyer, Cuisine de France, Hiestand, Delice de France) · Europastry (Europastry, Dots)</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Bridor (Bridor, Evasions) · Lantmännen Unibake (Schulstad, Hatting, Vaasan, Pastridor, Euro-Bake) · Flowers Foods (Tastykake, Nature's Own, Wonder, Dave's Killer Bread, Canyon Bakehouse) · Premier Foods (Mr Kipling)</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11475188" y="20590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160488"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8989162"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9817838"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10646512" y="22876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160488"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8989162"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9817838"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10646512" y="25162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160487"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8989163"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9817837"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10646513" y="27448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160487"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8989163"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9817837"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0646513"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11475187" y="29734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160488"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8989163"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9817838" y="3202051"/>
            <a:ext cx="128699" cy="187198"/>
          </a:xfrm>
          <a:prstGeom prst="rect">
            <a:avLst/>
          </a:prstGeom>
        </p:spPr>
      </p:pic>
      <p:pic>
        <p:nvPicPr>
          <p:cNvPr id="266" name="Picture 265" descr="lock.png"/>
          <p:cNvPicPr>
            <a:picLocks noChangeAspect="1"/>
          </p:cNvPicPr>
          <p:nvPr/>
        </p:nvPicPr>
        <p:blipFill>
          <a:blip r:embed="rId4"/>
          <a:stretch>
            <a:fillRect/>
          </a:stretch>
        </p:blipFill>
        <p:spPr>
          <a:xfrm>
            <a:off x="8160488"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8989162"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9817838" y="3478276"/>
            <a:ext cx="128699" cy="187198"/>
          </a:xfrm>
          <a:prstGeom prst="rect">
            <a:avLst/>
          </a:prstGeom>
        </p:spPr>
      </p:pic>
      <p:pic>
        <p:nvPicPr>
          <p:cNvPr id="269" name="Picture 268" descr="lock.png"/>
          <p:cNvPicPr>
            <a:picLocks noChangeAspect="1"/>
          </p:cNvPicPr>
          <p:nvPr/>
        </p:nvPicPr>
        <p:blipFill>
          <a:blip r:embed="rId4"/>
          <a:stretch>
            <a:fillRect/>
          </a:stretch>
        </p:blipFill>
        <p:spPr>
          <a:xfrm>
            <a:off x="10646512" y="3478276"/>
            <a:ext cx="128699" cy="187198"/>
          </a:xfrm>
          <a:prstGeom prst="rect">
            <a:avLst/>
          </a:prstGeom>
        </p:spPr>
      </p:pic>
      <p:sp>
        <p:nvSpPr>
          <p:cNvPr id="270" name="TextBox 269"/>
          <p:cNvSpPr txBox="1"/>
          <p:nvPr/>
        </p:nvSpPr>
        <p:spPr>
          <a:xfrm>
            <a:off x="266700" y="1344930"/>
            <a:ext cx="491480" cy="186689"/>
          </a:xfrm>
          <a:prstGeom prst="rect">
            <a:avLst/>
          </a:prstGeom>
          <a:noFill/>
        </p:spPr>
        <p:txBody>
          <a:bodyPr wrap="none" lIns="0" rIns="0" tIns="0" bIns="0">
            <a:spAutoFit/>
          </a:bodyPr>
          <a:lstStyle/>
          <a:p>
            <a:r>
              <a:rPr sz="1100" b="0">
                <a:solidFill>
                  <a:srgbClr val="6B7280"/>
                </a:solidFill>
                <a:latin typeface="Calibri"/>
              </a:rPr>
              <a:t>Market</a:t>
            </a:r>
          </a:p>
        </p:txBody>
      </p:sp>
      <p:pic>
        <p:nvPicPr>
          <p:cNvPr id="271" name="Picture 270" descr="lock.png"/>
          <p:cNvPicPr>
            <a:picLocks noChangeAspect="1"/>
          </p:cNvPicPr>
          <p:nvPr/>
        </p:nvPicPr>
        <p:blipFill>
          <a:blip r:embed="rId4"/>
          <a:stretch>
            <a:fillRect/>
          </a:stretch>
        </p:blipFill>
        <p:spPr>
          <a:xfrm>
            <a:off x="706231" y="1335151"/>
            <a:ext cx="128699" cy="187198"/>
          </a:xfrm>
          <a:prstGeom prst="rect">
            <a:avLst/>
          </a:prstGeom>
        </p:spPr>
      </p:pic>
      <p:sp>
        <p:nvSpPr>
          <p:cNvPr id="272" name="TextBox 271"/>
          <p:cNvSpPr txBox="1"/>
          <p:nvPr/>
        </p:nvSpPr>
        <p:spPr>
          <a:xfrm>
            <a:off x="873727" y="1344930"/>
            <a:ext cx="1290389" cy="186689"/>
          </a:xfrm>
          <a:prstGeom prst="rect">
            <a:avLst/>
          </a:prstGeom>
          <a:noFill/>
        </p:spPr>
        <p:txBody>
          <a:bodyPr wrap="none" lIns="0" rIns="0" tIns="0" bIns="0">
            <a:spAutoFit/>
          </a:bodyPr>
          <a:lstStyle/>
          <a:p>
            <a:r>
              <a:rPr sz="1100" b="0">
                <a:solidFill>
                  <a:srgbClr val="6B7280"/>
                </a:solidFill>
                <a:latin typeface="Calibri"/>
              </a:rPr>
              <a:t>US$ Mn · Tier 1 share</a:t>
            </a:r>
          </a:p>
        </p:txBody>
      </p:sp>
      <p:pic>
        <p:nvPicPr>
          <p:cNvPr id="273" name="Picture 272" descr="lock.png"/>
          <p:cNvPicPr>
            <a:picLocks noChangeAspect="1"/>
          </p:cNvPicPr>
          <p:nvPr/>
        </p:nvPicPr>
        <p:blipFill>
          <a:blip r:embed="rId4"/>
          <a:stretch>
            <a:fillRect/>
          </a:stretch>
        </p:blipFill>
        <p:spPr>
          <a:xfrm>
            <a:off x="2112168" y="1335151"/>
            <a:ext cx="128699" cy="187198"/>
          </a:xfrm>
          <a:prstGeom prst="rect">
            <a:avLst/>
          </a:prstGeom>
        </p:spPr>
      </p:pic>
      <p:sp>
        <p:nvSpPr>
          <p:cNvPr id="274" name="TextBox 273"/>
          <p:cNvSpPr txBox="1"/>
          <p:nvPr/>
        </p:nvSpPr>
        <p:spPr>
          <a:xfrm>
            <a:off x="2279664"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5" name="Picture 274" descr="lock.png"/>
          <p:cNvPicPr>
            <a:picLocks noChangeAspect="1"/>
          </p:cNvPicPr>
          <p:nvPr/>
        </p:nvPicPr>
        <p:blipFill>
          <a:blip r:embed="rId4"/>
          <a:stretch>
            <a:fillRect/>
          </a:stretch>
        </p:blipFill>
        <p:spPr>
          <a:xfrm>
            <a:off x="2430519" y="1335151"/>
            <a:ext cx="128699" cy="187198"/>
          </a:xfrm>
          <a:prstGeom prst="rect">
            <a:avLst/>
          </a:prstGeom>
        </p:spPr>
      </p:pic>
      <p:sp>
        <p:nvSpPr>
          <p:cNvPr id="276" name="TextBox 275"/>
          <p:cNvSpPr txBox="1"/>
          <p:nvPr/>
        </p:nvSpPr>
        <p:spPr>
          <a:xfrm>
            <a:off x="2598014"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7" name="Picture 276" descr="lock.png"/>
          <p:cNvPicPr>
            <a:picLocks noChangeAspect="1"/>
          </p:cNvPicPr>
          <p:nvPr/>
        </p:nvPicPr>
        <p:blipFill>
          <a:blip r:embed="rId4"/>
          <a:stretch>
            <a:fillRect/>
          </a:stretch>
        </p:blipFill>
        <p:spPr>
          <a:xfrm>
            <a:off x="1377182" y="1839976"/>
            <a:ext cx="128699" cy="187198"/>
          </a:xfrm>
          <a:prstGeom prst="rect">
            <a:avLst/>
          </a:prstGeom>
        </p:spPr>
      </p:pic>
      <p:sp>
        <p:nvSpPr>
          <p:cNvPr id="278" name="TextBox 277"/>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9" name="Picture 278" descr="lock.png"/>
          <p:cNvPicPr>
            <a:picLocks noChangeAspect="1"/>
          </p:cNvPicPr>
          <p:nvPr/>
        </p:nvPicPr>
        <p:blipFill>
          <a:blip r:embed="rId4"/>
          <a:stretch>
            <a:fillRect/>
          </a:stretch>
        </p:blipFill>
        <p:spPr>
          <a:xfrm>
            <a:off x="2922273" y="1839976"/>
            <a:ext cx="128699" cy="187198"/>
          </a:xfrm>
          <a:prstGeom prst="rect">
            <a:avLst/>
          </a:prstGeom>
        </p:spPr>
      </p:pic>
      <p:sp>
        <p:nvSpPr>
          <p:cNvPr id="280" name="TextBox 279"/>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1" name="Picture 280" descr="lock.png"/>
          <p:cNvPicPr>
            <a:picLocks noChangeAspect="1"/>
          </p:cNvPicPr>
          <p:nvPr/>
        </p:nvPicPr>
        <p:blipFill>
          <a:blip r:embed="rId4"/>
          <a:stretch>
            <a:fillRect/>
          </a:stretch>
        </p:blipFill>
        <p:spPr>
          <a:xfrm>
            <a:off x="1377182" y="2697226"/>
            <a:ext cx="128699" cy="187198"/>
          </a:xfrm>
          <a:prstGeom prst="rect">
            <a:avLst/>
          </a:prstGeom>
        </p:spPr>
      </p:pic>
      <p:sp>
        <p:nvSpPr>
          <p:cNvPr id="282" name="TextBox 281"/>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3" name="Picture 282" descr="lock.png"/>
          <p:cNvPicPr>
            <a:picLocks noChangeAspect="1"/>
          </p:cNvPicPr>
          <p:nvPr/>
        </p:nvPicPr>
        <p:blipFill>
          <a:blip r:embed="rId4"/>
          <a:stretch>
            <a:fillRect/>
          </a:stretch>
        </p:blipFill>
        <p:spPr>
          <a:xfrm>
            <a:off x="2922273" y="2697226"/>
            <a:ext cx="128699" cy="187198"/>
          </a:xfrm>
          <a:prstGeom prst="rect">
            <a:avLst/>
          </a:prstGeom>
        </p:spPr>
      </p:pic>
      <p:sp>
        <p:nvSpPr>
          <p:cNvPr id="284" name="TextBox 283"/>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5" name="Picture 284" descr="lock.png"/>
          <p:cNvPicPr>
            <a:picLocks noChangeAspect="1"/>
          </p:cNvPicPr>
          <p:nvPr/>
        </p:nvPicPr>
        <p:blipFill>
          <a:blip r:embed="rId4"/>
          <a:stretch>
            <a:fillRect/>
          </a:stretch>
        </p:blipFill>
        <p:spPr>
          <a:xfrm>
            <a:off x="1377182" y="3554476"/>
            <a:ext cx="128699" cy="187198"/>
          </a:xfrm>
          <a:prstGeom prst="rect">
            <a:avLst/>
          </a:prstGeom>
        </p:spPr>
      </p:pic>
      <p:sp>
        <p:nvSpPr>
          <p:cNvPr id="286" name="TextBox 285"/>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87" name="Picture 286" descr="lock.png"/>
          <p:cNvPicPr>
            <a:picLocks noChangeAspect="1"/>
          </p:cNvPicPr>
          <p:nvPr/>
        </p:nvPicPr>
        <p:blipFill>
          <a:blip r:embed="rId4"/>
          <a:stretch>
            <a:fillRect/>
          </a:stretch>
        </p:blipFill>
        <p:spPr>
          <a:xfrm>
            <a:off x="2922273" y="3554476"/>
            <a:ext cx="128699" cy="187198"/>
          </a:xfrm>
          <a:prstGeom prst="rect">
            <a:avLst/>
          </a:prstGeom>
        </p:spPr>
      </p:pic>
      <p:sp>
        <p:nvSpPr>
          <p:cNvPr id="288" name="TextBox 287"/>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9" name="Picture 288" descr="lock.png"/>
          <p:cNvPicPr>
            <a:picLocks noChangeAspect="1"/>
          </p:cNvPicPr>
          <p:nvPr/>
        </p:nvPicPr>
        <p:blipFill>
          <a:blip r:embed="rId4"/>
          <a:stretch>
            <a:fillRect/>
          </a:stretch>
        </p:blipFill>
        <p:spPr>
          <a:xfrm>
            <a:off x="1377182" y="4411726"/>
            <a:ext cx="128699" cy="187198"/>
          </a:xfrm>
          <a:prstGeom prst="rect">
            <a:avLst/>
          </a:prstGeom>
        </p:spPr>
      </p:pic>
      <p:sp>
        <p:nvSpPr>
          <p:cNvPr id="290" name="TextBox 289"/>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91" name="TextBox 290"/>
          <p:cNvSpPr txBox="1"/>
          <p:nvPr/>
        </p:nvSpPr>
        <p:spPr>
          <a:xfrm>
            <a:off x="1241169"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92" name="Picture 291" descr="lock.png"/>
          <p:cNvPicPr>
            <a:picLocks noChangeAspect="1"/>
          </p:cNvPicPr>
          <p:nvPr/>
        </p:nvPicPr>
        <p:blipFill>
          <a:blip r:embed="rId4"/>
          <a:stretch>
            <a:fillRect/>
          </a:stretch>
        </p:blipFill>
        <p:spPr>
          <a:xfrm>
            <a:off x="1682883" y="5792851"/>
            <a:ext cx="128699" cy="187198"/>
          </a:xfrm>
          <a:prstGeom prst="rect">
            <a:avLst/>
          </a:prstGeom>
        </p:spPr>
      </p:pic>
      <p:sp>
        <p:nvSpPr>
          <p:cNvPr id="293" name="TextBox 292"/>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4" name="Picture 293" descr="lock.png"/>
          <p:cNvPicPr>
            <a:picLocks noChangeAspect="1"/>
          </p:cNvPicPr>
          <p:nvPr/>
        </p:nvPicPr>
        <p:blipFill>
          <a:blip r:embed="rId4"/>
          <a:stretch>
            <a:fillRect/>
          </a:stretch>
        </p:blipFill>
        <p:spPr>
          <a:xfrm>
            <a:off x="1225147" y="6097651"/>
            <a:ext cx="128699" cy="187198"/>
          </a:xfrm>
          <a:prstGeom prst="rect">
            <a:avLst/>
          </a:prstGeom>
        </p:spPr>
      </p:pic>
      <p:sp>
        <p:nvSpPr>
          <p:cNvPr id="295" name="TextBox 294"/>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6" name="Picture 295" descr="lock.png"/>
          <p:cNvPicPr>
            <a:picLocks noChangeAspect="1"/>
          </p:cNvPicPr>
          <p:nvPr/>
        </p:nvPicPr>
        <p:blipFill>
          <a:blip r:embed="rId4"/>
          <a:stretch>
            <a:fillRect/>
          </a:stretch>
        </p:blipFill>
        <p:spPr>
          <a:xfrm>
            <a:off x="2408983" y="6097651"/>
            <a:ext cx="128699" cy="187198"/>
          </a:xfrm>
          <a:prstGeom prst="rect">
            <a:avLst/>
          </a:prstGeom>
        </p:spPr>
      </p:pic>
      <p:sp>
        <p:nvSpPr>
          <p:cNvPr id="297" name="TextBox 296"/>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8" name="Picture 297" descr="lock.png"/>
          <p:cNvPicPr>
            <a:picLocks noChangeAspect="1"/>
          </p:cNvPicPr>
          <p:nvPr/>
        </p:nvPicPr>
        <p:blipFill>
          <a:blip r:embed="rId4"/>
          <a:stretch>
            <a:fillRect/>
          </a:stretch>
        </p:blipFill>
        <p:spPr>
          <a:xfrm>
            <a:off x="3922150" y="6097651"/>
            <a:ext cx="128699" cy="187198"/>
          </a:xfrm>
          <a:prstGeom prst="rect">
            <a:avLst/>
          </a:prstGeom>
        </p:spPr>
      </p:pic>
      <p:sp>
        <p:nvSpPr>
          <p:cNvPr id="299" name="TextBox 298"/>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300" name="TextBox 299"/>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301" name="Picture 300" descr="lock.png"/>
          <p:cNvPicPr>
            <a:picLocks noChangeAspect="1"/>
          </p:cNvPicPr>
          <p:nvPr/>
        </p:nvPicPr>
        <p:blipFill>
          <a:blip r:embed="rId4"/>
          <a:stretch>
            <a:fillRect/>
          </a:stretch>
        </p:blipFill>
        <p:spPr>
          <a:xfrm>
            <a:off x="6791838" y="5467095"/>
            <a:ext cx="128699" cy="187198"/>
          </a:xfrm>
          <a:prstGeom prst="rect">
            <a:avLst/>
          </a:prstGeom>
        </p:spPr>
      </p:pic>
      <p:sp>
        <p:nvSpPr>
          <p:cNvPr id="302" name="TextBox 301"/>
          <p:cNvSpPr txBox="1"/>
          <p:nvPr/>
        </p:nvSpPr>
        <p:spPr>
          <a:xfrm>
            <a:off x="6959334" y="5476875"/>
            <a:ext cx="2550145"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a:t>
            </a:r>
          </a:p>
        </p:txBody>
      </p:sp>
      <p:pic>
        <p:nvPicPr>
          <p:cNvPr id="303" name="Picture 302" descr="lock.png"/>
          <p:cNvPicPr>
            <a:picLocks noChangeAspect="1"/>
          </p:cNvPicPr>
          <p:nvPr/>
        </p:nvPicPr>
        <p:blipFill>
          <a:blip r:embed="rId4"/>
          <a:stretch>
            <a:fillRect/>
          </a:stretch>
        </p:blipFill>
        <p:spPr>
          <a:xfrm>
            <a:off x="9457531" y="5467095"/>
            <a:ext cx="128699" cy="187198"/>
          </a:xfrm>
          <a:prstGeom prst="rect">
            <a:avLst/>
          </a:prstGeom>
        </p:spPr>
      </p:pic>
      <p:sp>
        <p:nvSpPr>
          <p:cNvPr id="304" name="TextBox 303"/>
          <p:cNvSpPr txBox="1"/>
          <p:nvPr/>
        </p:nvSpPr>
        <p:spPr>
          <a:xfrm>
            <a:off x="9625026" y="5476875"/>
            <a:ext cx="1259830" cy="186689"/>
          </a:xfrm>
          <a:prstGeom prst="rect">
            <a:avLst/>
          </a:prstGeom>
          <a:noFill/>
        </p:spPr>
        <p:txBody>
          <a:bodyPr wrap="none" lIns="0" rIns="0" tIns="0" bIns="0">
            <a:spAutoFit/>
          </a:bodyPr>
          <a:lstStyle/>
          <a:p>
            <a:r>
              <a:rPr sz="1100" b="0">
                <a:solidFill>
                  <a:srgbClr val="14213D"/>
                </a:solidFill>
                <a:latin typeface="Calibri"/>
              </a:rPr>
              <a:t>US$ Mn base; CR4 of</a:t>
            </a:r>
          </a:p>
        </p:txBody>
      </p:sp>
      <p:pic>
        <p:nvPicPr>
          <p:cNvPr id="305" name="Picture 304" descr="lock.png"/>
          <p:cNvPicPr>
            <a:picLocks noChangeAspect="1"/>
          </p:cNvPicPr>
          <p:nvPr/>
        </p:nvPicPr>
        <p:blipFill>
          <a:blip r:embed="rId4"/>
          <a:stretch>
            <a:fillRect/>
          </a:stretch>
        </p:blipFill>
        <p:spPr>
          <a:xfrm>
            <a:off x="10832908" y="5467095"/>
            <a:ext cx="128699" cy="187198"/>
          </a:xfrm>
          <a:prstGeom prst="rect">
            <a:avLst/>
          </a:prstGeom>
        </p:spPr>
      </p:pic>
      <p:sp>
        <p:nvSpPr>
          <p:cNvPr id="306" name="TextBox 305"/>
          <p:cNvSpPr txBox="1"/>
          <p:nvPr/>
        </p:nvSpPr>
        <p:spPr>
          <a:xfrm>
            <a:off x="11000404" y="5476875"/>
            <a:ext cx="678656" cy="186689"/>
          </a:xfrm>
          <a:prstGeom prst="rect">
            <a:avLst/>
          </a:prstGeom>
          <a:noFill/>
        </p:spPr>
        <p:txBody>
          <a:bodyPr wrap="none" lIns="0" rIns="0" tIns="0" bIns="0">
            <a:spAutoFit/>
          </a:bodyPr>
          <a:lstStyle/>
          <a:p>
            <a:r>
              <a:rPr sz="1100" b="0">
                <a:solidFill>
                  <a:srgbClr val="14213D"/>
                </a:solidFill>
                <a:latin typeface="Calibri"/>
              </a:rPr>
              <a:t>and HHI of</a:t>
            </a:r>
          </a:p>
        </p:txBody>
      </p:sp>
      <p:pic>
        <p:nvPicPr>
          <p:cNvPr id="307" name="Picture 306" descr="lock.png"/>
          <p:cNvPicPr>
            <a:picLocks noChangeAspect="1"/>
          </p:cNvPicPr>
          <p:nvPr/>
        </p:nvPicPr>
        <p:blipFill>
          <a:blip r:embed="rId4"/>
          <a:stretch>
            <a:fillRect/>
          </a:stretch>
        </p:blipFill>
        <p:spPr>
          <a:xfrm>
            <a:off x="6358757" y="5634735"/>
            <a:ext cx="128699" cy="187198"/>
          </a:xfrm>
          <a:prstGeom prst="rect">
            <a:avLst/>
          </a:prstGeom>
        </p:spPr>
      </p:pic>
      <p:sp>
        <p:nvSpPr>
          <p:cNvPr id="308" name="TextBox 307"/>
          <p:cNvSpPr txBox="1"/>
          <p:nvPr/>
        </p:nvSpPr>
        <p:spPr>
          <a:xfrm>
            <a:off x="6526253"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9" name="TextBox 308"/>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10" name="Picture 309" descr="lock.png"/>
          <p:cNvPicPr>
            <a:picLocks noChangeAspect="1"/>
          </p:cNvPicPr>
          <p:nvPr/>
        </p:nvPicPr>
        <p:blipFill>
          <a:blip r:embed="rId4"/>
          <a:stretch>
            <a:fillRect/>
          </a:stretch>
        </p:blipFill>
        <p:spPr>
          <a:xfrm>
            <a:off x="7651320" y="5848095"/>
            <a:ext cx="128699" cy="187198"/>
          </a:xfrm>
          <a:prstGeom prst="rect">
            <a:avLst/>
          </a:prstGeom>
        </p:spPr>
      </p:pic>
      <p:sp>
        <p:nvSpPr>
          <p:cNvPr id="311" name="TextBox 310"/>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12" name="Picture 311" descr="lock.png"/>
          <p:cNvPicPr>
            <a:picLocks noChangeAspect="1"/>
          </p:cNvPicPr>
          <p:nvPr/>
        </p:nvPicPr>
        <p:blipFill>
          <a:blip r:embed="rId4"/>
          <a:stretch>
            <a:fillRect/>
          </a:stretch>
        </p:blipFill>
        <p:spPr>
          <a:xfrm>
            <a:off x="8749737" y="5848095"/>
            <a:ext cx="128699" cy="187198"/>
          </a:xfrm>
          <a:prstGeom prst="rect">
            <a:avLst/>
          </a:prstGeom>
        </p:spPr>
      </p:pic>
      <p:sp>
        <p:nvSpPr>
          <p:cNvPr id="313" name="TextBox 312"/>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4" name="TextBox 313"/>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5" name="Picture 314" descr="lock.png"/>
          <p:cNvPicPr>
            <a:picLocks noChangeAspect="1"/>
          </p:cNvPicPr>
          <p:nvPr/>
        </p:nvPicPr>
        <p:blipFill>
          <a:blip r:embed="rId4"/>
          <a:stretch>
            <a:fillRect/>
          </a:stretch>
        </p:blipFill>
        <p:spPr>
          <a:xfrm>
            <a:off x="8481881" y="6067170"/>
            <a:ext cx="128699" cy="187198"/>
          </a:xfrm>
          <a:prstGeom prst="rect">
            <a:avLst/>
          </a:prstGeom>
        </p:spPr>
      </p:pic>
      <p:sp>
        <p:nvSpPr>
          <p:cNvPr id="316" name="TextBox 315"/>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7" name="Picture 316" descr="lock.png"/>
          <p:cNvPicPr>
            <a:picLocks noChangeAspect="1"/>
          </p:cNvPicPr>
          <p:nvPr/>
        </p:nvPicPr>
        <p:blipFill>
          <a:blip r:embed="rId4"/>
          <a:stretch>
            <a:fillRect/>
          </a:stretch>
        </p:blipFill>
        <p:spPr>
          <a:xfrm>
            <a:off x="10724926" y="6067170"/>
            <a:ext cx="128699" cy="187198"/>
          </a:xfrm>
          <a:prstGeom prst="rect">
            <a:avLst/>
          </a:prstGeom>
        </p:spPr>
      </p:pic>
      <p:sp>
        <p:nvSpPr>
          <p:cNvPr id="318" name="TextBox 317"/>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9" name="TextBox 318"/>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Packaged Muffins Market, North America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3.0 / 5</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Consolidation towards Tier 1–2</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Switching costs (4 / 5) and buyer power (3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sp>
        <p:nvSpPr>
          <p:cNvPr id="135" name="TextBox 134"/>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36" name="Picture 135" descr="lock.png"/>
          <p:cNvPicPr>
            <a:picLocks noChangeAspect="1"/>
          </p:cNvPicPr>
          <p:nvPr/>
        </p:nvPicPr>
        <p:blipFill>
          <a:blip r:embed="rId4"/>
          <a:stretch>
            <a:fillRect/>
          </a:stretch>
        </p:blipFill>
        <p:spPr>
          <a:xfrm>
            <a:off x="1424204" y="1860931"/>
            <a:ext cx="128699" cy="187198"/>
          </a:xfrm>
          <a:prstGeom prst="rect">
            <a:avLst/>
          </a:prstGeom>
        </p:spPr>
      </p:pic>
      <p:sp>
        <p:nvSpPr>
          <p:cNvPr id="137" name="TextBox 136"/>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38" name="Picture 137" descr="lock.png"/>
          <p:cNvPicPr>
            <a:picLocks noChangeAspect="1"/>
          </p:cNvPicPr>
          <p:nvPr/>
        </p:nvPicPr>
        <p:blipFill>
          <a:blip r:embed="rId4"/>
          <a:stretch>
            <a:fillRect/>
          </a:stretch>
        </p:blipFill>
        <p:spPr>
          <a:xfrm>
            <a:off x="1742554" y="1860931"/>
            <a:ext cx="128699" cy="187198"/>
          </a:xfrm>
          <a:prstGeom prst="rect">
            <a:avLst/>
          </a:prstGeom>
        </p:spPr>
      </p:pic>
      <p:sp>
        <p:nvSpPr>
          <p:cNvPr id="139" name="TextBox 138"/>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0" name="TextBox 139"/>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1" name="Picture 140" descr="lock.png"/>
          <p:cNvPicPr>
            <a:picLocks noChangeAspect="1"/>
          </p:cNvPicPr>
          <p:nvPr/>
        </p:nvPicPr>
        <p:blipFill>
          <a:blip r:embed="rId4"/>
          <a:stretch>
            <a:fillRect/>
          </a:stretch>
        </p:blipFill>
        <p:spPr>
          <a:xfrm>
            <a:off x="4681754" y="1860931"/>
            <a:ext cx="128699" cy="187198"/>
          </a:xfrm>
          <a:prstGeom prst="rect">
            <a:avLst/>
          </a:prstGeom>
        </p:spPr>
      </p:pic>
      <p:sp>
        <p:nvSpPr>
          <p:cNvPr id="142" name="TextBox 141"/>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3" name="Picture 142" descr="lock.png"/>
          <p:cNvPicPr>
            <a:picLocks noChangeAspect="1"/>
          </p:cNvPicPr>
          <p:nvPr/>
        </p:nvPicPr>
        <p:blipFill>
          <a:blip r:embed="rId4"/>
          <a:stretch>
            <a:fillRect/>
          </a:stretch>
        </p:blipFill>
        <p:spPr>
          <a:xfrm>
            <a:off x="5000104" y="1860931"/>
            <a:ext cx="128699" cy="187198"/>
          </a:xfrm>
          <a:prstGeom prst="rect">
            <a:avLst/>
          </a:prstGeom>
        </p:spPr>
      </p:pic>
      <p:sp>
        <p:nvSpPr>
          <p:cNvPr id="144" name="TextBox 143"/>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5" name="TextBox 144"/>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4 → 4 players ·</a:t>
            </a:r>
          </a:p>
        </p:txBody>
      </p:sp>
      <p:pic>
        <p:nvPicPr>
          <p:cNvPr id="146" name="Picture 145" descr="lock.png"/>
          <p:cNvPicPr>
            <a:picLocks noChangeAspect="1"/>
          </p:cNvPicPr>
          <p:nvPr/>
        </p:nvPicPr>
        <p:blipFill>
          <a:blip r:embed="rId4"/>
          <a:stretch>
            <a:fillRect/>
          </a:stretch>
        </p:blipFill>
        <p:spPr>
          <a:xfrm>
            <a:off x="7939304" y="1860931"/>
            <a:ext cx="128699" cy="187198"/>
          </a:xfrm>
          <a:prstGeom prst="rect">
            <a:avLst/>
          </a:prstGeom>
        </p:spPr>
      </p:pic>
      <p:sp>
        <p:nvSpPr>
          <p:cNvPr id="147" name="TextBox 146"/>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8" name="Picture 147" descr="lock.png"/>
          <p:cNvPicPr>
            <a:picLocks noChangeAspect="1"/>
          </p:cNvPicPr>
          <p:nvPr/>
        </p:nvPicPr>
        <p:blipFill>
          <a:blip r:embed="rId4"/>
          <a:stretch>
            <a:fillRect/>
          </a:stretch>
        </p:blipFill>
        <p:spPr>
          <a:xfrm>
            <a:off x="8257654" y="1860931"/>
            <a:ext cx="128699" cy="187198"/>
          </a:xfrm>
          <a:prstGeom prst="rect">
            <a:avLst/>
          </a:prstGeom>
        </p:spPr>
      </p:pic>
      <p:sp>
        <p:nvSpPr>
          <p:cNvPr id="149" name="TextBox 148"/>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0" name="TextBox 149"/>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1" name="Picture 150" descr="lock.png"/>
          <p:cNvPicPr>
            <a:picLocks noChangeAspect="1"/>
          </p:cNvPicPr>
          <p:nvPr/>
        </p:nvPicPr>
        <p:blipFill>
          <a:blip r:embed="rId4"/>
          <a:stretch>
            <a:fillRect/>
          </a:stretch>
        </p:blipFill>
        <p:spPr>
          <a:xfrm>
            <a:off x="10872946" y="1944751"/>
            <a:ext cx="128699" cy="187198"/>
          </a:xfrm>
          <a:prstGeom prst="rect">
            <a:avLst/>
          </a:prstGeom>
        </p:spPr>
      </p:pic>
      <p:sp>
        <p:nvSpPr>
          <p:cNvPr id="152" name="TextBox 151"/>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3" name="Picture 152" descr="lock.png"/>
          <p:cNvPicPr>
            <a:picLocks noChangeAspect="1"/>
          </p:cNvPicPr>
          <p:nvPr/>
        </p:nvPicPr>
        <p:blipFill>
          <a:blip r:embed="rId4"/>
          <a:stretch>
            <a:fillRect/>
          </a:stretch>
        </p:blipFill>
        <p:spPr>
          <a:xfrm>
            <a:off x="11191297" y="1944751"/>
            <a:ext cx="128699" cy="187198"/>
          </a:xfrm>
          <a:prstGeom prst="rect">
            <a:avLst/>
          </a:prstGeom>
        </p:spPr>
      </p:pic>
      <p:sp>
        <p:nvSpPr>
          <p:cNvPr id="154" name="TextBox 153"/>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55" name="TextBox 154"/>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56" name="Picture 155" descr="lock.png"/>
          <p:cNvPicPr>
            <a:picLocks noChangeAspect="1"/>
          </p:cNvPicPr>
          <p:nvPr/>
        </p:nvPicPr>
        <p:blipFill>
          <a:blip r:embed="rId4"/>
          <a:stretch>
            <a:fillRect/>
          </a:stretch>
        </p:blipFill>
        <p:spPr>
          <a:xfrm>
            <a:off x="9434331" y="3847846"/>
            <a:ext cx="128699" cy="187198"/>
          </a:xfrm>
          <a:prstGeom prst="rect">
            <a:avLst/>
          </a:prstGeom>
        </p:spPr>
      </p:pic>
      <p:sp>
        <p:nvSpPr>
          <p:cNvPr id="157" name="TextBox 156"/>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58" name="TextBox 157"/>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59" name="Picture 158" descr="lock.png"/>
          <p:cNvPicPr>
            <a:picLocks noChangeAspect="1"/>
          </p:cNvPicPr>
          <p:nvPr/>
        </p:nvPicPr>
        <p:blipFill>
          <a:blip r:embed="rId4"/>
          <a:stretch>
            <a:fillRect/>
          </a:stretch>
        </p:blipFill>
        <p:spPr>
          <a:xfrm>
            <a:off x="9730921" y="4015486"/>
            <a:ext cx="128699" cy="187198"/>
          </a:xfrm>
          <a:prstGeom prst="rect">
            <a:avLst/>
          </a:prstGeom>
        </p:spPr>
      </p:pic>
      <p:sp>
        <p:nvSpPr>
          <p:cNvPr id="160" name="TextBox 159"/>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1" name="TextBox 160"/>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2" name="Picture 161" descr="lock.png"/>
          <p:cNvPicPr>
            <a:picLocks noChangeAspect="1"/>
          </p:cNvPicPr>
          <p:nvPr/>
        </p:nvPicPr>
        <p:blipFill>
          <a:blip r:embed="rId4"/>
          <a:stretch>
            <a:fillRect/>
          </a:stretch>
        </p:blipFill>
        <p:spPr>
          <a:xfrm>
            <a:off x="11077170" y="5009895"/>
            <a:ext cx="128699" cy="187198"/>
          </a:xfrm>
          <a:prstGeom prst="rect">
            <a:avLst/>
          </a:prstGeom>
        </p:spPr>
      </p:pic>
      <p:sp>
        <p:nvSpPr>
          <p:cNvPr id="163" name="TextBox 162"/>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64" name="TextBox 163"/>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Grupo Bimbo (Bimbo, Marinela, Little Bites, Thomas')</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6" name="TextBox 45"/>
          <p:cNvSpPr txBox="1"/>
          <p:nvPr/>
        </p:nvSpPr>
        <p:spPr>
          <a:xfrm>
            <a:off x="13144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13239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585912"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U.S.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Canada  </a:t>
            </a:r>
            <a:r>
              <a:rPr sz="1100" b="1">
                <a:solidFill>
                  <a:srgbClr val="A86F00"/>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4287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6383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8478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057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5335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17430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9526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McKee Foods Corporation (Little Debbie, Sunbelt Bakery, Drake's, Fieldstone Bakery)</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4003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662238"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Canada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U.S.  </a:t>
            </a:r>
            <a:r>
              <a:rPr sz="1100" b="1">
                <a:solidFill>
                  <a:srgbClr val="A86F00"/>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5050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7146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9241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133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6098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194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30289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Hostess Brands (Hostess)</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4766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7385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U.S.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Canada  </a:t>
            </a:r>
            <a:r>
              <a:rPr sz="1100" b="1">
                <a:solidFill>
                  <a:srgbClr val="A86F00"/>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581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7909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0005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210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36861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957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41052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Rich Products Corporation (Rich's)</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3" name="TextBox 132"/>
          <p:cNvSpPr txBox="1"/>
          <p:nvPr/>
        </p:nvSpPr>
        <p:spPr>
          <a:xfrm>
            <a:off x="45434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45529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48148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Canada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U.S.  </a:t>
            </a:r>
            <a:r>
              <a:rPr sz="1100" b="1">
                <a:solidFill>
                  <a:srgbClr val="A86F00"/>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4657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48672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50768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86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47625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49720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51816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ARYZTA / Aspire Bakeries (Otis Spunkmeyer, Cuisine de France, Hiestand, Delice de France)</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56292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58912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U.S.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Canada  </a:t>
            </a:r>
            <a:r>
              <a:rPr sz="1100" b="1">
                <a:solidFill>
                  <a:srgbClr val="A86F00"/>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5734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9436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1531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362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58388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60483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62579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Europastry (Europastry, Dots)</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TextBox 194"/>
          <p:cNvSpPr txBox="1"/>
          <p:nvPr/>
        </p:nvSpPr>
        <p:spPr>
          <a:xfrm>
            <a:off x="67056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69675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Canada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U.S.  </a:t>
            </a:r>
            <a:r>
              <a:rPr sz="1100" b="1">
                <a:solidFill>
                  <a:srgbClr val="A86F00"/>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6810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70199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72294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7439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69151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71247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73342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Bridor (Bridor, Evasions)</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20" name="TextBox 219"/>
          <p:cNvSpPr txBox="1"/>
          <p:nvPr/>
        </p:nvSpPr>
        <p:spPr>
          <a:xfrm>
            <a:off x="777240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77819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0438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U.S.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Canada  </a:t>
            </a:r>
            <a:r>
              <a:rPr sz="1100" b="1">
                <a:solidFill>
                  <a:srgbClr val="A86F00"/>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7886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80962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83058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8515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79914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82010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84105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Lantmännen Unibake (Schulstad, Hatting, Vaasan, Pastridor, Euro-Bake)</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8582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91201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Canada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U.S.  </a:t>
            </a:r>
            <a:r>
              <a:rPr sz="1100" b="1">
                <a:solidFill>
                  <a:srgbClr val="A86F00"/>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963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91725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93821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9591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90678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92773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94869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Flowers Foods (Tastykake, Nature's Own, Wonder, Dave's Killer Bread, Canyon Bakehouse)</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99345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TextBox 286"/>
          <p:cNvSpPr txBox="1"/>
          <p:nvPr/>
        </p:nvSpPr>
        <p:spPr>
          <a:xfrm>
            <a:off x="101965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U.S.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Canada  </a:t>
            </a:r>
            <a:r>
              <a:rPr sz="1100" b="1">
                <a:solidFill>
                  <a:srgbClr val="A86F00"/>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TextBox 289"/>
          <p:cNvSpPr txBox="1"/>
          <p:nvPr/>
        </p:nvSpPr>
        <p:spPr>
          <a:xfrm>
            <a:off x="10039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02489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TextBox 293"/>
          <p:cNvSpPr txBox="1"/>
          <p:nvPr/>
        </p:nvSpPr>
        <p:spPr>
          <a:xfrm>
            <a:off x="104584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06680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TextBox 297"/>
          <p:cNvSpPr txBox="1"/>
          <p:nvPr/>
        </p:nvSpPr>
        <p:spPr>
          <a:xfrm>
            <a:off x="101441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TextBox 299"/>
          <p:cNvSpPr txBox="1"/>
          <p:nvPr/>
        </p:nvSpPr>
        <p:spPr>
          <a:xfrm>
            <a:off x="103536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105632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Premier Foods (Mr Kipling)</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307" name="TextBox 306"/>
          <p:cNvSpPr txBox="1"/>
          <p:nvPr/>
        </p:nvSpPr>
        <p:spPr>
          <a:xfrm>
            <a:off x="110013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10109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TextBox 315"/>
          <p:cNvSpPr txBox="1"/>
          <p:nvPr/>
        </p:nvSpPr>
        <p:spPr>
          <a:xfrm>
            <a:off x="112728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Canada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U.S.  </a:t>
            </a:r>
            <a:r>
              <a:rPr sz="1100" b="1">
                <a:solidFill>
                  <a:srgbClr val="A86F00"/>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11115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TextBox 320"/>
          <p:cNvSpPr txBox="1"/>
          <p:nvPr/>
        </p:nvSpPr>
        <p:spPr>
          <a:xfrm>
            <a:off x="113252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TextBox 322"/>
          <p:cNvSpPr txBox="1"/>
          <p:nvPr/>
        </p:nvSpPr>
        <p:spPr>
          <a:xfrm>
            <a:off x="115347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TextBox 324"/>
          <p:cNvSpPr txBox="1"/>
          <p:nvPr/>
        </p:nvSpPr>
        <p:spPr>
          <a:xfrm>
            <a:off x="117443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112204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TextBox 328"/>
          <p:cNvSpPr txBox="1"/>
          <p:nvPr/>
        </p:nvSpPr>
        <p:spPr>
          <a:xfrm>
            <a:off x="114300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116395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TextBox 333"/>
          <p:cNvSpPr txBox="1"/>
          <p:nvPr/>
        </p:nvSpPr>
        <p:spPr>
          <a:xfrm>
            <a:off x="1535906" y="5716715"/>
            <a:ext cx="890588" cy="164283"/>
          </a:xfrm>
          <a:prstGeom prst="rect">
            <a:avLst/>
          </a:prstGeom>
          <a:noFill/>
        </p:spPr>
        <p:txBody>
          <a:bodyPr wrap="square" lIns="0" rIns="0" tIns="0" bIns="0" anchor="ctr">
            <a:spAutoFit/>
          </a:bodyPr>
          <a:lstStyle/>
          <a:p>
            <a:pPr algn="l"/>
            <a:r>
              <a:rPr sz="1100" b="0">
                <a:solidFill>
                  <a:srgbClr val="2E2E2E"/>
                </a:solidFill>
                <a:latin typeface="Calibri"/>
              </a:rPr>
              <a:t>Sweet muffins</a:t>
            </a:r>
          </a:p>
        </p:txBody>
      </p:sp>
      <p:sp>
        <p:nvSpPr>
          <p:cNvPr id="335" name="Rectangle 334"/>
          <p:cNvSpPr/>
          <p:nvPr/>
        </p:nvSpPr>
        <p:spPr>
          <a:xfrm>
            <a:off x="2483644"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2636044" y="5716715"/>
            <a:ext cx="997744" cy="164283"/>
          </a:xfrm>
          <a:prstGeom prst="rect">
            <a:avLst/>
          </a:prstGeom>
          <a:noFill/>
        </p:spPr>
        <p:txBody>
          <a:bodyPr wrap="square" lIns="0" rIns="0" tIns="0" bIns="0" anchor="ctr">
            <a:spAutoFit/>
          </a:bodyPr>
          <a:lstStyle/>
          <a:p>
            <a:pPr algn="l"/>
            <a:r>
              <a:rPr sz="1100" b="0">
                <a:solidFill>
                  <a:srgbClr val="2E2E2E"/>
                </a:solidFill>
                <a:latin typeface="Calibri"/>
              </a:rPr>
              <a:t>Savoury muffins</a:t>
            </a:r>
          </a:p>
        </p:txBody>
      </p:sp>
      <p:sp>
        <p:nvSpPr>
          <p:cNvPr id="337" name="Rectangle 336"/>
          <p:cNvSpPr/>
          <p:nvPr/>
        </p:nvSpPr>
        <p:spPr>
          <a:xfrm>
            <a:off x="3690938"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TextBox 337"/>
          <p:cNvSpPr txBox="1"/>
          <p:nvPr/>
        </p:nvSpPr>
        <p:spPr>
          <a:xfrm>
            <a:off x="3843338"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339" name="TextBox 338"/>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340" name="TextBox 339"/>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341" name="TextBox 340"/>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342" name="TextBox 341"/>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343" name="TextBox 342"/>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344" name="TextBox 343"/>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345" name="TextBox 344"/>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346" name="TextBox 345"/>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347" name="TextBox 346"/>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348" name="TextBox 347"/>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349" name="TextBox 348"/>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350" name="Oval 349"/>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TextBox 350"/>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52" name="TextBox 351"/>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353" name="Oval 352"/>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TextBox 353"/>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55" name="TextBox 354"/>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356" name="Oval 355"/>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TextBox 356"/>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58" name="TextBox 357"/>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59" name="Oval 358"/>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TextBox 359"/>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61" name="TextBox 360"/>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62" name="Oval 361"/>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TextBox 362"/>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64" name="TextBox 363"/>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65" name="Oval 364"/>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TextBox 365"/>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67" name="TextBox 366"/>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68" name="Oval 367"/>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TextBox 368"/>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70" name="TextBox 369"/>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71" name="TextBox 370"/>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72" name="TextBox 371"/>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73" name="TextBox 37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4" name="Picture 373" descr="lock.png"/>
          <p:cNvPicPr>
            <a:picLocks noChangeAspect="1"/>
          </p:cNvPicPr>
          <p:nvPr/>
        </p:nvPicPr>
        <p:blipFill>
          <a:blip r:embed="rId4"/>
          <a:stretch>
            <a:fillRect/>
          </a:stretch>
        </p:blipFill>
        <p:spPr>
          <a:xfrm>
            <a:off x="1769213" y="2702524"/>
            <a:ext cx="128699" cy="187198"/>
          </a:xfrm>
          <a:prstGeom prst="rect">
            <a:avLst/>
          </a:prstGeom>
        </p:spPr>
      </p:pic>
      <p:pic>
        <p:nvPicPr>
          <p:cNvPr id="375" name="Picture 374" descr="lock.png"/>
          <p:cNvPicPr>
            <a:picLocks noChangeAspect="1"/>
          </p:cNvPicPr>
          <p:nvPr/>
        </p:nvPicPr>
        <p:blipFill>
          <a:blip r:embed="rId4"/>
          <a:stretch>
            <a:fillRect/>
          </a:stretch>
        </p:blipFill>
        <p:spPr>
          <a:xfrm>
            <a:off x="1769213" y="3031091"/>
            <a:ext cx="128699" cy="187198"/>
          </a:xfrm>
          <a:prstGeom prst="rect">
            <a:avLst/>
          </a:prstGeom>
        </p:spPr>
      </p:pic>
      <p:pic>
        <p:nvPicPr>
          <p:cNvPr id="376" name="Picture 375" descr="lock.png"/>
          <p:cNvPicPr>
            <a:picLocks noChangeAspect="1"/>
          </p:cNvPicPr>
          <p:nvPr/>
        </p:nvPicPr>
        <p:blipFill>
          <a:blip r:embed="rId4"/>
          <a:stretch>
            <a:fillRect/>
          </a:stretch>
        </p:blipFill>
        <p:spPr>
          <a:xfrm>
            <a:off x="1769212" y="3560448"/>
            <a:ext cx="128699" cy="187198"/>
          </a:xfrm>
          <a:prstGeom prst="rect">
            <a:avLst/>
          </a:prstGeom>
        </p:spPr>
      </p:pic>
      <p:pic>
        <p:nvPicPr>
          <p:cNvPr id="377" name="Picture 376" descr="lock.png"/>
          <p:cNvPicPr>
            <a:picLocks noChangeAspect="1"/>
          </p:cNvPicPr>
          <p:nvPr/>
        </p:nvPicPr>
        <p:blipFill>
          <a:blip r:embed="rId4"/>
          <a:stretch>
            <a:fillRect/>
          </a:stretch>
        </p:blipFill>
        <p:spPr>
          <a:xfrm>
            <a:off x="2845538" y="2702524"/>
            <a:ext cx="128699" cy="187198"/>
          </a:xfrm>
          <a:prstGeom prst="rect">
            <a:avLst/>
          </a:prstGeom>
        </p:spPr>
      </p:pic>
      <p:pic>
        <p:nvPicPr>
          <p:cNvPr id="378" name="Picture 377" descr="lock.png"/>
          <p:cNvPicPr>
            <a:picLocks noChangeAspect="1"/>
          </p:cNvPicPr>
          <p:nvPr/>
        </p:nvPicPr>
        <p:blipFill>
          <a:blip r:embed="rId4"/>
          <a:stretch>
            <a:fillRect/>
          </a:stretch>
        </p:blipFill>
        <p:spPr>
          <a:xfrm>
            <a:off x="2845538" y="3031091"/>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3560448"/>
            <a:ext cx="128699" cy="187198"/>
          </a:xfrm>
          <a:prstGeom prst="rect">
            <a:avLst/>
          </a:prstGeom>
        </p:spPr>
      </p:pic>
      <p:pic>
        <p:nvPicPr>
          <p:cNvPr id="380" name="Picture 379" descr="lock.png"/>
          <p:cNvPicPr>
            <a:picLocks noChangeAspect="1"/>
          </p:cNvPicPr>
          <p:nvPr/>
        </p:nvPicPr>
        <p:blipFill>
          <a:blip r:embed="rId4"/>
          <a:stretch>
            <a:fillRect/>
          </a:stretch>
        </p:blipFill>
        <p:spPr>
          <a:xfrm>
            <a:off x="3921863" y="2702524"/>
            <a:ext cx="128699" cy="187198"/>
          </a:xfrm>
          <a:prstGeom prst="rect">
            <a:avLst/>
          </a:prstGeom>
        </p:spPr>
      </p:pic>
      <p:pic>
        <p:nvPicPr>
          <p:cNvPr id="381" name="Picture 380" descr="lock.png"/>
          <p:cNvPicPr>
            <a:picLocks noChangeAspect="1"/>
          </p:cNvPicPr>
          <p:nvPr/>
        </p:nvPicPr>
        <p:blipFill>
          <a:blip r:embed="rId4"/>
          <a:stretch>
            <a:fillRect/>
          </a:stretch>
        </p:blipFill>
        <p:spPr>
          <a:xfrm>
            <a:off x="3921863" y="3031091"/>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2" y="3560448"/>
            <a:ext cx="128699" cy="187198"/>
          </a:xfrm>
          <a:prstGeom prst="rect">
            <a:avLst/>
          </a:prstGeom>
        </p:spPr>
      </p:pic>
      <p:pic>
        <p:nvPicPr>
          <p:cNvPr id="383" name="Picture 382" descr="lock.png"/>
          <p:cNvPicPr>
            <a:picLocks noChangeAspect="1"/>
          </p:cNvPicPr>
          <p:nvPr/>
        </p:nvPicPr>
        <p:blipFill>
          <a:blip r:embed="rId4"/>
          <a:stretch>
            <a:fillRect/>
          </a:stretch>
        </p:blipFill>
        <p:spPr>
          <a:xfrm>
            <a:off x="4998188" y="2702524"/>
            <a:ext cx="128699" cy="187198"/>
          </a:xfrm>
          <a:prstGeom prst="rect">
            <a:avLst/>
          </a:prstGeom>
        </p:spPr>
      </p:pic>
      <p:pic>
        <p:nvPicPr>
          <p:cNvPr id="384" name="Picture 383" descr="lock.png"/>
          <p:cNvPicPr>
            <a:picLocks noChangeAspect="1"/>
          </p:cNvPicPr>
          <p:nvPr/>
        </p:nvPicPr>
        <p:blipFill>
          <a:blip r:embed="rId4"/>
          <a:stretch>
            <a:fillRect/>
          </a:stretch>
        </p:blipFill>
        <p:spPr>
          <a:xfrm>
            <a:off x="4998188" y="3031091"/>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3560448"/>
            <a:ext cx="128699" cy="187198"/>
          </a:xfrm>
          <a:prstGeom prst="rect">
            <a:avLst/>
          </a:prstGeom>
        </p:spPr>
      </p:pic>
      <p:pic>
        <p:nvPicPr>
          <p:cNvPr id="386" name="Picture 385" descr="lock.png"/>
          <p:cNvPicPr>
            <a:picLocks noChangeAspect="1"/>
          </p:cNvPicPr>
          <p:nvPr/>
        </p:nvPicPr>
        <p:blipFill>
          <a:blip r:embed="rId4"/>
          <a:stretch>
            <a:fillRect/>
          </a:stretch>
        </p:blipFill>
        <p:spPr>
          <a:xfrm>
            <a:off x="6074513" y="2702524"/>
            <a:ext cx="128699" cy="187198"/>
          </a:xfrm>
          <a:prstGeom prst="rect">
            <a:avLst/>
          </a:prstGeom>
        </p:spPr>
      </p:pic>
      <p:pic>
        <p:nvPicPr>
          <p:cNvPr id="387" name="Picture 386" descr="lock.png"/>
          <p:cNvPicPr>
            <a:picLocks noChangeAspect="1"/>
          </p:cNvPicPr>
          <p:nvPr/>
        </p:nvPicPr>
        <p:blipFill>
          <a:blip r:embed="rId4"/>
          <a:stretch>
            <a:fillRect/>
          </a:stretch>
        </p:blipFill>
        <p:spPr>
          <a:xfrm>
            <a:off x="6074513" y="3031091"/>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2" y="3560448"/>
            <a:ext cx="128699" cy="187198"/>
          </a:xfrm>
          <a:prstGeom prst="rect">
            <a:avLst/>
          </a:prstGeom>
        </p:spPr>
      </p:pic>
      <p:pic>
        <p:nvPicPr>
          <p:cNvPr id="389" name="Picture 388" descr="lock.png"/>
          <p:cNvPicPr>
            <a:picLocks noChangeAspect="1"/>
          </p:cNvPicPr>
          <p:nvPr/>
        </p:nvPicPr>
        <p:blipFill>
          <a:blip r:embed="rId4"/>
          <a:stretch>
            <a:fillRect/>
          </a:stretch>
        </p:blipFill>
        <p:spPr>
          <a:xfrm>
            <a:off x="7150838" y="2702524"/>
            <a:ext cx="128699" cy="187198"/>
          </a:xfrm>
          <a:prstGeom prst="rect">
            <a:avLst/>
          </a:prstGeom>
        </p:spPr>
      </p:pic>
      <p:pic>
        <p:nvPicPr>
          <p:cNvPr id="390" name="Picture 389" descr="lock.png"/>
          <p:cNvPicPr>
            <a:picLocks noChangeAspect="1"/>
          </p:cNvPicPr>
          <p:nvPr/>
        </p:nvPicPr>
        <p:blipFill>
          <a:blip r:embed="rId4"/>
          <a:stretch>
            <a:fillRect/>
          </a:stretch>
        </p:blipFill>
        <p:spPr>
          <a:xfrm>
            <a:off x="7150838" y="3031091"/>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3560448"/>
            <a:ext cx="128699" cy="187198"/>
          </a:xfrm>
          <a:prstGeom prst="rect">
            <a:avLst/>
          </a:prstGeom>
        </p:spPr>
      </p:pic>
      <p:pic>
        <p:nvPicPr>
          <p:cNvPr id="392" name="Picture 391" descr="lock.png"/>
          <p:cNvPicPr>
            <a:picLocks noChangeAspect="1"/>
          </p:cNvPicPr>
          <p:nvPr/>
        </p:nvPicPr>
        <p:blipFill>
          <a:blip r:embed="rId4"/>
          <a:stretch>
            <a:fillRect/>
          </a:stretch>
        </p:blipFill>
        <p:spPr>
          <a:xfrm>
            <a:off x="8227163" y="2702524"/>
            <a:ext cx="128699" cy="187198"/>
          </a:xfrm>
          <a:prstGeom prst="rect">
            <a:avLst/>
          </a:prstGeom>
        </p:spPr>
      </p:pic>
      <p:pic>
        <p:nvPicPr>
          <p:cNvPr id="393" name="Picture 392" descr="lock.png"/>
          <p:cNvPicPr>
            <a:picLocks noChangeAspect="1"/>
          </p:cNvPicPr>
          <p:nvPr/>
        </p:nvPicPr>
        <p:blipFill>
          <a:blip r:embed="rId4"/>
          <a:stretch>
            <a:fillRect/>
          </a:stretch>
        </p:blipFill>
        <p:spPr>
          <a:xfrm>
            <a:off x="8227163" y="3031091"/>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2" y="3560448"/>
            <a:ext cx="128699" cy="187198"/>
          </a:xfrm>
          <a:prstGeom prst="rect">
            <a:avLst/>
          </a:prstGeom>
        </p:spPr>
      </p:pic>
      <p:pic>
        <p:nvPicPr>
          <p:cNvPr id="395" name="Picture 394" descr="lock.png"/>
          <p:cNvPicPr>
            <a:picLocks noChangeAspect="1"/>
          </p:cNvPicPr>
          <p:nvPr/>
        </p:nvPicPr>
        <p:blipFill>
          <a:blip r:embed="rId4"/>
          <a:stretch>
            <a:fillRect/>
          </a:stretch>
        </p:blipFill>
        <p:spPr>
          <a:xfrm>
            <a:off x="9303488" y="2702524"/>
            <a:ext cx="128699" cy="187198"/>
          </a:xfrm>
          <a:prstGeom prst="rect">
            <a:avLst/>
          </a:prstGeom>
        </p:spPr>
      </p:pic>
      <p:pic>
        <p:nvPicPr>
          <p:cNvPr id="396" name="Picture 395" descr="lock.png"/>
          <p:cNvPicPr>
            <a:picLocks noChangeAspect="1"/>
          </p:cNvPicPr>
          <p:nvPr/>
        </p:nvPicPr>
        <p:blipFill>
          <a:blip r:embed="rId4"/>
          <a:stretch>
            <a:fillRect/>
          </a:stretch>
        </p:blipFill>
        <p:spPr>
          <a:xfrm>
            <a:off x="9303488" y="3031091"/>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3560448"/>
            <a:ext cx="128699" cy="187198"/>
          </a:xfrm>
          <a:prstGeom prst="rect">
            <a:avLst/>
          </a:prstGeom>
        </p:spPr>
      </p:pic>
      <p:pic>
        <p:nvPicPr>
          <p:cNvPr id="398" name="Picture 397" descr="lock.png"/>
          <p:cNvPicPr>
            <a:picLocks noChangeAspect="1"/>
          </p:cNvPicPr>
          <p:nvPr/>
        </p:nvPicPr>
        <p:blipFill>
          <a:blip r:embed="rId4"/>
          <a:stretch>
            <a:fillRect/>
          </a:stretch>
        </p:blipFill>
        <p:spPr>
          <a:xfrm>
            <a:off x="10379813" y="2702524"/>
            <a:ext cx="128699" cy="187198"/>
          </a:xfrm>
          <a:prstGeom prst="rect">
            <a:avLst/>
          </a:prstGeom>
        </p:spPr>
      </p:pic>
      <p:pic>
        <p:nvPicPr>
          <p:cNvPr id="399" name="Picture 398" descr="lock.png"/>
          <p:cNvPicPr>
            <a:picLocks noChangeAspect="1"/>
          </p:cNvPicPr>
          <p:nvPr/>
        </p:nvPicPr>
        <p:blipFill>
          <a:blip r:embed="rId4"/>
          <a:stretch>
            <a:fillRect/>
          </a:stretch>
        </p:blipFill>
        <p:spPr>
          <a:xfrm>
            <a:off x="10379813" y="3031091"/>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2" y="3560448"/>
            <a:ext cx="128699" cy="187198"/>
          </a:xfrm>
          <a:prstGeom prst="rect">
            <a:avLst/>
          </a:prstGeom>
        </p:spPr>
      </p:pic>
      <p:pic>
        <p:nvPicPr>
          <p:cNvPr id="401" name="Picture 400" descr="lock.png"/>
          <p:cNvPicPr>
            <a:picLocks noChangeAspect="1"/>
          </p:cNvPicPr>
          <p:nvPr/>
        </p:nvPicPr>
        <p:blipFill>
          <a:blip r:embed="rId4"/>
          <a:stretch>
            <a:fillRect/>
          </a:stretch>
        </p:blipFill>
        <p:spPr>
          <a:xfrm>
            <a:off x="11456138" y="2702524"/>
            <a:ext cx="128699" cy="187198"/>
          </a:xfrm>
          <a:prstGeom prst="rect">
            <a:avLst/>
          </a:prstGeom>
        </p:spPr>
      </p:pic>
      <p:pic>
        <p:nvPicPr>
          <p:cNvPr id="402" name="Picture 401" descr="lock.png"/>
          <p:cNvPicPr>
            <a:picLocks noChangeAspect="1"/>
          </p:cNvPicPr>
          <p:nvPr/>
        </p:nvPicPr>
        <p:blipFill>
          <a:blip r:embed="rId4"/>
          <a:stretch>
            <a:fillRect/>
          </a:stretch>
        </p:blipFill>
        <p:spPr>
          <a:xfrm>
            <a:off x="11456138" y="3031091"/>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Packaged Muffins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572125"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'Sweet muffins') to lift blended ASP and</a:t>
            </a:r>
          </a:p>
        </p:txBody>
      </p:sp>
      <p:sp>
        <p:nvSpPr>
          <p:cNvPr id="33" name="TextBox 32"/>
          <p:cNvSpPr txBox="1"/>
          <p:nvPr/>
        </p:nvSpPr>
        <p:spPr>
          <a:xfrm>
            <a:off x="276225" y="2351539"/>
            <a:ext cx="2189646" cy="194310"/>
          </a:xfrm>
          <a:prstGeom prst="rect">
            <a:avLst/>
          </a:prstGeom>
          <a:noFill/>
        </p:spPr>
        <p:txBody>
          <a:bodyPr wrap="none" lIns="0" rIns="0" tIns="0" bIns="0">
            <a:spAutoFit/>
          </a:bodyPr>
          <a:lstStyle/>
          <a:p>
            <a:r>
              <a:rPr sz="1150" b="0">
                <a:solidFill>
                  <a:srgbClr val="2E2E2E"/>
                </a:solidFill>
                <a:latin typeface="Calibri"/>
              </a:rPr>
              <a:t>defend 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5260404" cy="194310"/>
          </a:xfrm>
          <a:prstGeom prst="rect">
            <a:avLst/>
          </a:prstGeom>
          <a:noFill/>
        </p:spPr>
        <p:txBody>
          <a:bodyPr wrap="none" lIns="0" rIns="0" tIns="0" bIns="0">
            <a:spAutoFit/>
          </a:bodyPr>
          <a:lstStyle/>
          <a:p>
            <a:r>
              <a:rPr sz="1150" b="0">
                <a:solidFill>
                  <a:srgbClr val="2E2E2E"/>
                </a:solidFill>
                <a:latin typeface="Calibri"/>
              </a:rPr>
              <a:t>▪ Benchmark relentlessly against 'Grupo Bimbo (Bimbo, Marinela, Little Bites, Thomas')'</a:t>
            </a:r>
          </a:p>
        </p:txBody>
      </p:sp>
      <p:sp>
        <p:nvSpPr>
          <p:cNvPr id="43" name="TextBox 42"/>
          <p:cNvSpPr txBox="1"/>
          <p:nvPr/>
        </p:nvSpPr>
        <p:spPr>
          <a:xfrm>
            <a:off x="6324600" y="4640861"/>
            <a:ext cx="19315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4" name="Picture 43" descr="lock.png"/>
          <p:cNvPicPr>
            <a:picLocks noChangeAspect="1"/>
          </p:cNvPicPr>
          <p:nvPr/>
        </p:nvPicPr>
        <p:blipFill>
          <a:blip r:embed="rId4"/>
          <a:stretch>
            <a:fillRect/>
          </a:stretch>
        </p:blipFill>
        <p:spPr>
          <a:xfrm>
            <a:off x="6466908" y="4630638"/>
            <a:ext cx="134549" cy="195707"/>
          </a:xfrm>
          <a:prstGeom prst="rect">
            <a:avLst/>
          </a:prstGeom>
        </p:spPr>
      </p:pic>
      <p:sp>
        <p:nvSpPr>
          <p:cNvPr id="45" name="TextBox 44"/>
          <p:cNvSpPr txBox="1"/>
          <p:nvPr/>
        </p:nvSpPr>
        <p:spPr>
          <a:xfrm>
            <a:off x="6642017" y="4640861"/>
            <a:ext cx="3736863" cy="194310"/>
          </a:xfrm>
          <a:prstGeom prst="rect">
            <a:avLst/>
          </a:prstGeom>
          <a:noFill/>
        </p:spPr>
        <p:txBody>
          <a:bodyPr wrap="none" lIns="0" rIns="0" tIns="0" bIns="0">
            <a:spAutoFit/>
          </a:bodyPr>
          <a:lstStyle/>
          <a:p>
            <a:r>
              <a:rPr sz="1150" b="0">
                <a:solidFill>
                  <a:srgbClr val="2E2E2E"/>
                </a:solidFill>
                <a:latin typeface="Calibri"/>
              </a:rPr>
              <a:t>share) match on service and lead on 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Value Share (North America)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North America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
            </a:r>
          </a:p>
          <a:p>
            <a:pPr algn="ctr"/>
            <a:r>
              <a:rPr sz="1300" b="1">
                <a:solidFill>
                  <a:srgbClr val="2E2E2E"/>
                </a:solidFill>
                <a:latin typeface="Calibri"/>
              </a:rPr>
              <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rIns="0" t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rIns="0" tIns="0" bIns="0">
            <a:spAutoFit/>
          </a:bodyPr>
          <a:lstStyle/>
          <a:p>
            <a:r>
              <a:rPr sz="935" b="1">
                <a:solidFill>
                  <a:srgbClr val="2E2E2E"/>
                </a:solidFill>
                <a:latin typeface="Calibri"/>
              </a:rPr>
              <a:t>US$ Mn</a:t>
            </a:r>
          </a:p>
        </p:txBody>
      </p:sp>
      <p:sp>
        <p:nvSpPr>
          <p:cNvPr id="25" name="TextBox 24"/>
          <p:cNvSpPr txBox="1"/>
          <p:nvPr/>
        </p:nvSpPr>
        <p:spPr>
          <a:xfrm>
            <a:off x="7934325" y="1773181"/>
            <a:ext cx="3716610" cy="194310"/>
          </a:xfrm>
          <a:prstGeom prst="rect">
            <a:avLst/>
          </a:prstGeom>
          <a:noFill/>
        </p:spPr>
        <p:txBody>
          <a:bodyPr wrap="none" lIns="0" rIns="0" tIns="0" bIns="0">
            <a:spAutoFit/>
          </a:bodyPr>
          <a:lstStyle/>
          <a:p>
            <a:r>
              <a:rPr sz="1150" b="0">
                <a:solidFill>
                  <a:srgbClr val="2E2E2E"/>
                </a:solidFill>
                <a:latin typeface="Calibri"/>
              </a:rPr>
              <a:t>▪ The Packaged Muffins Market is moderately consolidated in</a:t>
            </a:r>
          </a:p>
        </p:txBody>
      </p:sp>
      <p:sp>
        <p:nvSpPr>
          <p:cNvPr id="26" name="TextBox 25"/>
          <p:cNvSpPr txBox="1"/>
          <p:nvPr/>
        </p:nvSpPr>
        <p:spPr>
          <a:xfrm>
            <a:off x="7934325" y="1948441"/>
            <a:ext cx="2673436" cy="194310"/>
          </a:xfrm>
          <a:prstGeom prst="rect">
            <a:avLst/>
          </a:prstGeom>
          <a:noFill/>
        </p:spPr>
        <p:txBody>
          <a:bodyPr wrap="none" lIns="0" rIns="0" tIns="0" bIns="0">
            <a:spAutoFit/>
          </a:bodyPr>
          <a:lstStyle/>
          <a:p>
            <a:r>
              <a:rPr sz="1150" b="0">
                <a:solidFill>
                  <a:srgbClr val="2E2E2E"/>
                </a:solidFill>
                <a:latin typeface="Calibri"/>
              </a:rPr>
              <a:t>North America: the top three players hold ~</a:t>
            </a:r>
          </a:p>
        </p:txBody>
      </p:sp>
      <p:pic>
        <p:nvPicPr>
          <p:cNvPr id="27" name="Picture 26" descr="lock.png"/>
          <p:cNvPicPr>
            <a:picLocks noChangeAspect="1"/>
          </p:cNvPicPr>
          <p:nvPr/>
        </p:nvPicPr>
        <p:blipFill>
          <a:blip r:embed="rId5"/>
          <a:stretch>
            <a:fillRect/>
          </a:stretch>
        </p:blipFill>
        <p:spPr>
          <a:xfrm>
            <a:off x="10556915" y="1938217"/>
            <a:ext cx="134549" cy="195707"/>
          </a:xfrm>
          <a:prstGeom prst="rect">
            <a:avLst/>
          </a:prstGeom>
        </p:spPr>
      </p:pic>
      <p:sp>
        <p:nvSpPr>
          <p:cNvPr id="28" name="TextBox 27"/>
          <p:cNvSpPr txBox="1"/>
          <p:nvPr/>
        </p:nvSpPr>
        <p:spPr>
          <a:xfrm>
            <a:off x="10732025" y="1948441"/>
            <a:ext cx="1043495" cy="194310"/>
          </a:xfrm>
          <a:prstGeom prst="rect">
            <a:avLst/>
          </a:prstGeom>
          <a:noFill/>
        </p:spPr>
        <p:txBody>
          <a:bodyPr wrap="none" lIns="0" rIns="0" tIns="0" bIns="0">
            <a:spAutoFit/>
          </a:bodyPr>
          <a:lstStyle/>
          <a:p>
            <a:r>
              <a:rPr sz="1150" b="0">
                <a:solidFill>
                  <a:srgbClr val="2E2E2E"/>
                </a:solidFill>
                <a:latin typeface="Calibri"/>
              </a:rPr>
              <a:t>of value, while a</a:t>
            </a:r>
          </a:p>
        </p:txBody>
      </p:sp>
      <p:sp>
        <p:nvSpPr>
          <p:cNvPr id="29" name="TextBox 28"/>
          <p:cNvSpPr txBox="1"/>
          <p:nvPr/>
        </p:nvSpPr>
        <p:spPr>
          <a:xfrm>
            <a:off x="7934325" y="2123701"/>
            <a:ext cx="2015926" cy="194310"/>
          </a:xfrm>
          <a:prstGeom prst="rect">
            <a:avLst/>
          </a:prstGeom>
          <a:noFill/>
        </p:spPr>
        <p:txBody>
          <a:bodyPr wrap="none" lIns="0" rIns="0" tIns="0" bIns="0">
            <a:spAutoFit/>
          </a:bodyPr>
          <a:lstStyle/>
          <a:p>
            <a:r>
              <a:rPr sz="1150" b="0">
                <a:solidFill>
                  <a:srgbClr val="2E2E2E"/>
                </a:solidFill>
                <a:latin typeface="Calibri"/>
              </a:rPr>
              <a:t>long tail ('Others') accounts for ~</a:t>
            </a:r>
          </a:p>
        </p:txBody>
      </p:sp>
      <p:pic>
        <p:nvPicPr>
          <p:cNvPr id="30" name="Picture 29" descr="lock.png"/>
          <p:cNvPicPr>
            <a:picLocks noChangeAspect="1"/>
          </p:cNvPicPr>
          <p:nvPr/>
        </p:nvPicPr>
        <p:blipFill>
          <a:blip r:embed="rId5"/>
          <a:stretch>
            <a:fillRect/>
          </a:stretch>
        </p:blipFill>
        <p:spPr>
          <a:xfrm>
            <a:off x="9899405" y="2113477"/>
            <a:ext cx="134549" cy="195707"/>
          </a:xfrm>
          <a:prstGeom prst="rect">
            <a:avLst/>
          </a:prstGeom>
        </p:spPr>
      </p:pic>
      <p:sp>
        <p:nvSpPr>
          <p:cNvPr id="31" name="TextBox 30"/>
          <p:cNvSpPr txBox="1"/>
          <p:nvPr/>
        </p:nvSpPr>
        <p:spPr>
          <a:xfrm>
            <a:off x="10074514" y="2123701"/>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2" name="TextBox 31"/>
          <p:cNvSpPr txBox="1"/>
          <p:nvPr/>
        </p:nvSpPr>
        <p:spPr>
          <a:xfrm>
            <a:off x="7934325" y="2351539"/>
            <a:ext cx="3962400" cy="194310"/>
          </a:xfrm>
          <a:prstGeom prst="rect">
            <a:avLst/>
          </a:prstGeom>
          <a:noFill/>
        </p:spPr>
        <p:txBody>
          <a:bodyPr wrap="none" lIns="0" rIns="0" tIns="0" bIns="0">
            <a:spAutoFit/>
          </a:bodyPr>
          <a:lstStyle/>
          <a:p>
            <a:r>
              <a:rPr sz="1150" b="0">
                <a:solidFill>
                  <a:srgbClr val="2E2E2E"/>
                </a:solidFill>
                <a:latin typeface="Calibri"/>
              </a:rPr>
              <a:t>▪ 'Grupo Bimbo (Bimbo, Marinela, Little Bites, Thomas')' leads with</a:t>
            </a:r>
          </a:p>
        </p:txBody>
      </p:sp>
      <p:sp>
        <p:nvSpPr>
          <p:cNvPr id="33" name="TextBox 32"/>
          <p:cNvSpPr txBox="1"/>
          <p:nvPr/>
        </p:nvSpPr>
        <p:spPr>
          <a:xfrm>
            <a:off x="7934325" y="2526799"/>
            <a:ext cx="3943886" cy="194310"/>
          </a:xfrm>
          <a:prstGeom prst="rect">
            <a:avLst/>
          </a:prstGeom>
          <a:noFill/>
        </p:spPr>
        <p:txBody>
          <a:bodyPr wrap="none" lIns="0" rIns="0" tIns="0" bIns="0">
            <a:spAutoFit/>
          </a:bodyPr>
          <a:lstStyle/>
          <a:p>
            <a:r>
              <a:rPr sz="1150" b="0">
                <a:solidFill>
                  <a:srgbClr val="2E2E2E"/>
                </a:solidFill>
                <a:latin typeface="Calibri"/>
              </a:rPr>
              <a:t>~17.1% share, ahead of 'McKee Foods Corporation (Little Debbie,</a:t>
            </a:r>
          </a:p>
        </p:txBody>
      </p:sp>
      <p:sp>
        <p:nvSpPr>
          <p:cNvPr id="34" name="TextBox 33"/>
          <p:cNvSpPr txBox="1"/>
          <p:nvPr/>
        </p:nvSpPr>
        <p:spPr>
          <a:xfrm>
            <a:off x="7934325" y="2702058"/>
            <a:ext cx="2936155" cy="194310"/>
          </a:xfrm>
          <a:prstGeom prst="rect">
            <a:avLst/>
          </a:prstGeom>
          <a:noFill/>
        </p:spPr>
        <p:txBody>
          <a:bodyPr wrap="none" lIns="0" rIns="0" tIns="0" bIns="0">
            <a:spAutoFit/>
          </a:bodyPr>
          <a:lstStyle/>
          <a:p>
            <a:r>
              <a:rPr sz="1150" b="0">
                <a:solidFill>
                  <a:srgbClr val="2E2E2E"/>
                </a:solidFill>
                <a:latin typeface="Calibri"/>
              </a:rPr>
              <a:t>Sunbelt Bakery, Drake's, Fieldstone Bakery)' at ~</a:t>
            </a:r>
          </a:p>
        </p:txBody>
      </p:sp>
      <p:pic>
        <p:nvPicPr>
          <p:cNvPr id="35" name="Picture 34" descr="lock.png"/>
          <p:cNvPicPr>
            <a:picLocks noChangeAspect="1"/>
          </p:cNvPicPr>
          <p:nvPr/>
        </p:nvPicPr>
        <p:blipFill>
          <a:blip r:embed="rId5"/>
          <a:stretch>
            <a:fillRect/>
          </a:stretch>
        </p:blipFill>
        <p:spPr>
          <a:xfrm>
            <a:off x="10819634" y="2691835"/>
            <a:ext cx="134549" cy="195707"/>
          </a:xfrm>
          <a:prstGeom prst="rect">
            <a:avLst/>
          </a:prstGeom>
        </p:spPr>
      </p:pic>
      <p:sp>
        <p:nvSpPr>
          <p:cNvPr id="36" name="TextBox 35"/>
          <p:cNvSpPr txBox="1"/>
          <p:nvPr/>
        </p:nvSpPr>
        <p:spPr>
          <a:xfrm>
            <a:off x="10994743" y="2702058"/>
            <a:ext cx="750254" cy="194310"/>
          </a:xfrm>
          <a:prstGeom prst="rect">
            <a:avLst/>
          </a:prstGeom>
          <a:noFill/>
        </p:spPr>
        <p:txBody>
          <a:bodyPr wrap="none" lIns="0" rIns="0" tIns="0" bIns="0">
            <a:spAutoFit/>
          </a:bodyPr>
          <a:lstStyle/>
          <a:p>
            <a:r>
              <a:rPr sz="1150" b="0">
                <a:solidFill>
                  <a:srgbClr val="2E2E2E"/>
                </a:solidFill>
                <a:latin typeface="Calibri"/>
              </a:rPr>
              <a:t>the two set</a:t>
            </a:r>
          </a:p>
        </p:txBody>
      </p:sp>
      <p:sp>
        <p:nvSpPr>
          <p:cNvPr id="37" name="TextBox 36"/>
          <p:cNvSpPr txBox="1"/>
          <p:nvPr/>
        </p:nvSpPr>
        <p:spPr>
          <a:xfrm>
            <a:off x="7934325" y="2877318"/>
            <a:ext cx="3322959" cy="194310"/>
          </a:xfrm>
          <a:prstGeom prst="rect">
            <a:avLst/>
          </a:prstGeom>
          <a:noFill/>
        </p:spPr>
        <p:txBody>
          <a:bodyPr wrap="none" lIns="0" rIns="0" tIns="0" bIns="0">
            <a:spAutoFit/>
          </a:bodyPr>
          <a:lstStyle/>
          <a:p>
            <a:r>
              <a:rPr sz="1150" b="0">
                <a:solidFill>
                  <a:srgbClr val="2E2E2E"/>
                </a:solidFill>
                <a:latin typeface="Calibri"/>
              </a:rPr>
              <a:t>the competitive benchmark for pricing and innovation.</a:t>
            </a:r>
          </a:p>
        </p:txBody>
      </p:sp>
      <p:sp>
        <p:nvSpPr>
          <p:cNvPr id="38" name="TextBox 37"/>
          <p:cNvSpPr txBox="1"/>
          <p:nvPr/>
        </p:nvSpPr>
        <p:spPr>
          <a:xfrm>
            <a:off x="7934325" y="3105156"/>
            <a:ext cx="2387041" cy="194310"/>
          </a:xfrm>
          <a:prstGeom prst="rect">
            <a:avLst/>
          </a:prstGeom>
          <a:noFill/>
        </p:spPr>
        <p:txBody>
          <a:bodyPr wrap="none" lIns="0" rIns="0" tIns="0" bIns="0">
            <a:spAutoFit/>
          </a:bodyPr>
          <a:lstStyle/>
          <a:p>
            <a:r>
              <a:rPr sz="1150" b="0">
                <a:solidFill>
                  <a:srgbClr val="2E2E2E"/>
                </a:solidFill>
                <a:latin typeface="Calibri"/>
              </a:rPr>
              <a:t>▪ Tier 1 players collectively command ~</a:t>
            </a:r>
          </a:p>
        </p:txBody>
      </p:sp>
      <p:pic>
        <p:nvPicPr>
          <p:cNvPr id="39" name="Picture 38" descr="lock.png"/>
          <p:cNvPicPr>
            <a:picLocks noChangeAspect="1"/>
          </p:cNvPicPr>
          <p:nvPr/>
        </p:nvPicPr>
        <p:blipFill>
          <a:blip r:embed="rId5"/>
          <a:stretch>
            <a:fillRect/>
          </a:stretch>
        </p:blipFill>
        <p:spPr>
          <a:xfrm>
            <a:off x="10270520" y="3094933"/>
            <a:ext cx="134549" cy="195707"/>
          </a:xfrm>
          <a:prstGeom prst="rect">
            <a:avLst/>
          </a:prstGeom>
        </p:spPr>
      </p:pic>
      <p:sp>
        <p:nvSpPr>
          <p:cNvPr id="40" name="TextBox 39"/>
          <p:cNvSpPr txBox="1"/>
          <p:nvPr/>
        </p:nvSpPr>
        <p:spPr>
          <a:xfrm>
            <a:off x="10445630" y="3105156"/>
            <a:ext cx="924830" cy="194310"/>
          </a:xfrm>
          <a:prstGeom prst="rect">
            <a:avLst/>
          </a:prstGeom>
          <a:noFill/>
        </p:spPr>
        <p:txBody>
          <a:bodyPr wrap="none" lIns="0" rIns="0" tIns="0" bIns="0">
            <a:spAutoFit/>
          </a:bodyPr>
          <a:lstStyle/>
          <a:p>
            <a:r>
              <a:rPr sz="1150" b="0">
                <a:solidFill>
                  <a:srgbClr val="2E2E2E"/>
                </a:solidFill>
                <a:latin typeface="Calibri"/>
              </a:rPr>
              <a:t>of the market,</a:t>
            </a:r>
          </a:p>
        </p:txBody>
      </p:sp>
      <p:sp>
        <p:nvSpPr>
          <p:cNvPr id="41" name="TextBox 40"/>
          <p:cNvSpPr txBox="1"/>
          <p:nvPr/>
        </p:nvSpPr>
        <p:spPr>
          <a:xfrm>
            <a:off x="7934325" y="3280416"/>
            <a:ext cx="2497720" cy="194310"/>
          </a:xfrm>
          <a:prstGeom prst="rect">
            <a:avLst/>
          </a:prstGeom>
          <a:noFill/>
        </p:spPr>
        <p:txBody>
          <a:bodyPr wrap="none" lIns="0" rIns="0" tIns="0" bIns="0">
            <a:spAutoFit/>
          </a:bodyPr>
          <a:lstStyle/>
          <a:p>
            <a:r>
              <a:rPr sz="1150" b="0">
                <a:solidFill>
                  <a:srgbClr val="2E2E2E"/>
                </a:solidFill>
                <a:latin typeface="Calibri"/>
              </a:rPr>
              <a:t>underlining meaningful barriers to entry.</a:t>
            </a:r>
          </a:p>
        </p:txBody>
      </p:sp>
      <p:sp>
        <p:nvSpPr>
          <p:cNvPr id="42" name="TextBox 41"/>
          <p:cNvSpPr txBox="1"/>
          <p:nvPr/>
        </p:nvSpPr>
        <p:spPr>
          <a:xfrm>
            <a:off x="7934325" y="3508254"/>
            <a:ext cx="3776798" cy="194310"/>
          </a:xfrm>
          <a:prstGeom prst="rect">
            <a:avLst/>
          </a:prstGeom>
          <a:noFill/>
        </p:spPr>
        <p:txBody>
          <a:bodyPr wrap="none" lIns="0" rIns="0" tIns="0" bIns="0">
            <a:spAutoFit/>
          </a:bodyPr>
          <a:lstStyle/>
          <a:p>
            <a:r>
              <a:rPr sz="1150" b="0">
                <a:solidFill>
                  <a:srgbClr val="2E2E2E"/>
                </a:solidFill>
                <a:latin typeface="Calibri"/>
              </a:rPr>
              <a:t>▪ Regional share differs from the overall picture use the region</a:t>
            </a:r>
          </a:p>
        </p:txBody>
      </p:sp>
      <p:sp>
        <p:nvSpPr>
          <p:cNvPr id="43" name="TextBox 42"/>
          <p:cNvSpPr txBox="1"/>
          <p:nvPr/>
        </p:nvSpPr>
        <p:spPr>
          <a:xfrm>
            <a:off x="7934325" y="3683514"/>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44" name="TextBox 43"/>
          <p:cNvSpPr txBox="1"/>
          <p:nvPr/>
        </p:nvSpPr>
        <p:spPr>
          <a:xfrm>
            <a:off x="7934325" y="3911352"/>
            <a:ext cx="3582541" cy="194310"/>
          </a:xfrm>
          <a:prstGeom prst="rect">
            <a:avLst/>
          </a:prstGeom>
          <a:noFill/>
        </p:spPr>
        <p:txBody>
          <a:bodyPr wrap="none" lIns="0" rIns="0" tIns="0" bIns="0">
            <a:spAutoFit/>
          </a:bodyPr>
          <a:lstStyle/>
          <a:p>
            <a:r>
              <a:rPr sz="1150" b="0">
                <a:solidFill>
                  <a:srgbClr val="2E2E2E"/>
                </a:solidFill>
                <a:latin typeface="Calibri"/>
              </a:rPr>
              <a:t>▪ Share gains in North America are being driven by capacity</a:t>
            </a:r>
          </a:p>
        </p:txBody>
      </p:sp>
      <p:sp>
        <p:nvSpPr>
          <p:cNvPr id="45" name="TextBox 44"/>
          <p:cNvSpPr txBox="1"/>
          <p:nvPr/>
        </p:nvSpPr>
        <p:spPr>
          <a:xfrm>
            <a:off x="7934325" y="4086612"/>
            <a:ext cx="3867509" cy="194310"/>
          </a:xfrm>
          <a:prstGeom prst="rect">
            <a:avLst/>
          </a:prstGeom>
          <a:noFill/>
        </p:spPr>
        <p:txBody>
          <a:bodyPr wrap="none" lIns="0" rIns="0" tIns="0" bIns="0">
            <a:spAutoFit/>
          </a:bodyPr>
          <a:lstStyle/>
          <a:p>
            <a:r>
              <a:rPr sz="1150" b="0">
                <a:solidFill>
                  <a:srgbClr val="2E2E2E"/>
                </a:solidFill>
                <a:latin typeface="Calibri"/>
              </a:rPr>
              <a:t>expansion, product development and selective M&amp;A among the</a:t>
            </a:r>
          </a:p>
        </p:txBody>
      </p:sp>
      <p:sp>
        <p:nvSpPr>
          <p:cNvPr id="46" name="TextBox 45"/>
          <p:cNvSpPr txBox="1"/>
          <p:nvPr/>
        </p:nvSpPr>
        <p:spPr>
          <a:xfrm>
            <a:off x="7934325" y="4261872"/>
            <a:ext cx="1005557" cy="194310"/>
          </a:xfrm>
          <a:prstGeom prst="rect">
            <a:avLst/>
          </a:prstGeom>
          <a:noFill/>
        </p:spPr>
        <p:txBody>
          <a:bodyPr wrap="none" lIns="0" rIns="0" tIns="0" bIns="0">
            <a:spAutoFit/>
          </a:bodyPr>
          <a:lstStyle/>
          <a:p>
            <a:r>
              <a:rPr sz="1150" b="0">
                <a:solidFill>
                  <a:srgbClr val="2E2E2E"/>
                </a:solidFill>
                <a:latin typeface="Calibri"/>
              </a:rPr>
              <a:t>leading players.</a:t>
            </a:r>
          </a:p>
        </p:txBody>
      </p:sp>
      <p:sp>
        <p:nvSpPr>
          <p:cNvPr id="47"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Share by Product Type (Top 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Sweet muffins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Savoury muffins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19" name="Rectangle 18"/>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6"/>
          <a:stretch>
            <a:fillRect/>
          </a:stretch>
        </p:blipFill>
        <p:spPr>
          <a:xfrm>
            <a:off x="1233011" y="2619895"/>
            <a:ext cx="523875" cy="762000"/>
          </a:xfrm>
          <a:prstGeom prst="rect">
            <a:avLst/>
          </a:prstGeom>
        </p:spPr>
      </p:pic>
      <p:pic>
        <p:nvPicPr>
          <p:cNvPr id="23" name="Picture 22" descr="lock.png"/>
          <p:cNvPicPr>
            <a:picLocks noChangeAspect="1"/>
          </p:cNvPicPr>
          <p:nvPr/>
        </p:nvPicPr>
        <p:blipFill>
          <a:blip r:embed="rId6"/>
          <a:stretch>
            <a:fillRect/>
          </a:stretch>
        </p:blipFill>
        <p:spPr>
          <a:xfrm>
            <a:off x="5214461" y="2619895"/>
            <a:ext cx="523875" cy="762000"/>
          </a:xfrm>
          <a:prstGeom prst="rect">
            <a:avLst/>
          </a:prstGeom>
        </p:spPr>
      </p:pic>
      <p:sp>
        <p:nvSpPr>
          <p:cNvPr id="24" name="TextBox 23"/>
          <p:cNvSpPr txBox="1"/>
          <p:nvPr/>
        </p:nvSpPr>
        <p:spPr>
          <a:xfrm>
            <a:off x="276225" y="5022340"/>
            <a:ext cx="8134052" cy="194310"/>
          </a:xfrm>
          <a:prstGeom prst="rect">
            <a:avLst/>
          </a:prstGeom>
          <a:noFill/>
        </p:spPr>
        <p:txBody>
          <a:bodyPr wrap="none" lIns="0" rIns="0" tIns="0" bIns="0">
            <a:spAutoFit/>
          </a:bodyPr>
          <a:lstStyle/>
          <a:p>
            <a:r>
              <a:rPr sz="1150" b="0">
                <a:solidFill>
                  <a:srgbClr val="2E2E2E"/>
                </a:solidFill>
                <a:latin typeface="Calibri"/>
              </a:rPr>
              <a:t>▪ Sweet muffins: 'Grupo Bimbo (Bimbo, Marinela, Little Bites, Thomas')' leads at ~11.7%, ahead of 'Rich Products Corporation (Rich's)' (~</a:t>
            </a:r>
          </a:p>
        </p:txBody>
      </p:sp>
      <p:pic>
        <p:nvPicPr>
          <p:cNvPr id="25" name="Picture 24" descr="lock.png"/>
          <p:cNvPicPr>
            <a:picLocks noChangeAspect="1"/>
          </p:cNvPicPr>
          <p:nvPr/>
        </p:nvPicPr>
        <p:blipFill>
          <a:blip r:embed="rId6"/>
          <a:stretch>
            <a:fillRect/>
          </a:stretch>
        </p:blipFill>
        <p:spPr>
          <a:xfrm>
            <a:off x="8359431" y="5012116"/>
            <a:ext cx="134549" cy="195707"/>
          </a:xfrm>
          <a:prstGeom prst="rect">
            <a:avLst/>
          </a:prstGeom>
        </p:spPr>
      </p:pic>
      <p:sp>
        <p:nvSpPr>
          <p:cNvPr id="26" name="TextBox 25"/>
          <p:cNvSpPr txBox="1"/>
          <p:nvPr/>
        </p:nvSpPr>
        <p:spPr>
          <a:xfrm>
            <a:off x="8534540"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27" name="Picture 26" descr="lock.png"/>
          <p:cNvPicPr>
            <a:picLocks noChangeAspect="1"/>
          </p:cNvPicPr>
          <p:nvPr/>
        </p:nvPicPr>
        <p:blipFill>
          <a:blip r:embed="rId6"/>
          <a:stretch>
            <a:fillRect/>
          </a:stretch>
        </p:blipFill>
        <p:spPr>
          <a:xfrm>
            <a:off x="9869209" y="5012116"/>
            <a:ext cx="134549" cy="195707"/>
          </a:xfrm>
          <a:prstGeom prst="rect">
            <a:avLst/>
          </a:prstGeom>
        </p:spPr>
      </p:pic>
      <p:sp>
        <p:nvSpPr>
          <p:cNvPr id="28" name="TextBox 27"/>
          <p:cNvSpPr txBox="1"/>
          <p:nvPr/>
        </p:nvSpPr>
        <p:spPr>
          <a:xfrm>
            <a:off x="10044319" y="5022340"/>
            <a:ext cx="1500472" cy="194310"/>
          </a:xfrm>
          <a:prstGeom prst="rect">
            <a:avLst/>
          </a:prstGeom>
          <a:noFill/>
        </p:spPr>
        <p:txBody>
          <a:bodyPr wrap="none" lIns="0" rIns="0" tIns="0" bIns="0">
            <a:spAutoFit/>
          </a:bodyPr>
          <a:lstStyle/>
          <a:p>
            <a:r>
              <a:rPr sz="1150" b="0">
                <a:solidFill>
                  <a:srgbClr val="2E2E2E"/>
                </a:solidFill>
                <a:latin typeface="Calibri"/>
              </a:rPr>
              <a:t>and a long tail ('Others')</a:t>
            </a:r>
          </a:p>
        </p:txBody>
      </p:sp>
      <p:sp>
        <p:nvSpPr>
          <p:cNvPr id="29" name="TextBox 28"/>
          <p:cNvSpPr txBox="1"/>
          <p:nvPr/>
        </p:nvSpPr>
        <p:spPr>
          <a:xfrm>
            <a:off x="276225" y="5197600"/>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6"/>
          <a:stretch>
            <a:fillRect/>
          </a:stretch>
        </p:blipFill>
        <p:spPr>
          <a:xfrm>
            <a:off x="374318" y="5187376"/>
            <a:ext cx="134549" cy="195707"/>
          </a:xfrm>
          <a:prstGeom prst="rect">
            <a:avLst/>
          </a:prstGeom>
        </p:spPr>
      </p:pic>
      <p:sp>
        <p:nvSpPr>
          <p:cNvPr id="31" name="TextBox 30"/>
          <p:cNvSpPr txBox="1"/>
          <p:nvPr/>
        </p:nvSpPr>
        <p:spPr>
          <a:xfrm>
            <a:off x="549427" y="519760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2" name="TextBox 31"/>
          <p:cNvSpPr txBox="1"/>
          <p:nvPr/>
        </p:nvSpPr>
        <p:spPr>
          <a:xfrm>
            <a:off x="276225" y="5425437"/>
            <a:ext cx="3342927" cy="194310"/>
          </a:xfrm>
          <a:prstGeom prst="rect">
            <a:avLst/>
          </a:prstGeom>
          <a:noFill/>
        </p:spPr>
        <p:txBody>
          <a:bodyPr wrap="none" lIns="0" rIns="0" tIns="0" bIns="0">
            <a:spAutoFit/>
          </a:bodyPr>
          <a:lstStyle/>
          <a:p>
            <a:r>
              <a:rPr sz="1150" b="0">
                <a:solidFill>
                  <a:srgbClr val="2E2E2E"/>
                </a:solidFill>
                <a:latin typeface="Calibri"/>
              </a:rPr>
              <a:t>▪ Savoury muffins: 'Hostess Brands (Hostess)' leads at ~</a:t>
            </a:r>
          </a:p>
        </p:txBody>
      </p:sp>
      <p:pic>
        <p:nvPicPr>
          <p:cNvPr id="33" name="Picture 32" descr="lock.png"/>
          <p:cNvPicPr>
            <a:picLocks noChangeAspect="1"/>
          </p:cNvPicPr>
          <p:nvPr/>
        </p:nvPicPr>
        <p:blipFill>
          <a:blip r:embed="rId6"/>
          <a:stretch>
            <a:fillRect/>
          </a:stretch>
        </p:blipFill>
        <p:spPr>
          <a:xfrm>
            <a:off x="3568306" y="5415214"/>
            <a:ext cx="134549" cy="195707"/>
          </a:xfrm>
          <a:prstGeom prst="rect">
            <a:avLst/>
          </a:prstGeom>
        </p:spPr>
      </p:pic>
      <p:sp>
        <p:nvSpPr>
          <p:cNvPr id="34" name="TextBox 33"/>
          <p:cNvSpPr txBox="1"/>
          <p:nvPr/>
        </p:nvSpPr>
        <p:spPr>
          <a:xfrm>
            <a:off x="3743415" y="5425437"/>
            <a:ext cx="8114298" cy="194310"/>
          </a:xfrm>
          <a:prstGeom prst="rect">
            <a:avLst/>
          </a:prstGeom>
          <a:noFill/>
        </p:spPr>
        <p:txBody>
          <a:bodyPr wrap="none" lIns="0" rIns="0" tIns="0" bIns="0">
            <a:spAutoFit/>
          </a:bodyPr>
          <a:lstStyle/>
          <a:p>
            <a:r>
              <a:rPr sz="1150" b="0">
                <a:solidFill>
                  <a:srgbClr val="2E2E2E"/>
                </a:solidFill>
                <a:latin typeface="Calibri"/>
              </a:rPr>
              <a:t>, ahead of 'McKee Foods Corporation (Little Debbie, Sunbelt Bakery, Drake's, Fieldstone Bakery)' (~13.5%); the top three hold ~39% and</a:t>
            </a:r>
          </a:p>
        </p:txBody>
      </p:sp>
      <p:sp>
        <p:nvSpPr>
          <p:cNvPr id="35" name="TextBox 34"/>
          <p:cNvSpPr txBox="1"/>
          <p:nvPr/>
        </p:nvSpPr>
        <p:spPr>
          <a:xfrm>
            <a:off x="276225" y="5600697"/>
            <a:ext cx="1349858" cy="194310"/>
          </a:xfrm>
          <a:prstGeom prst="rect">
            <a:avLst/>
          </a:prstGeom>
          <a:noFill/>
        </p:spPr>
        <p:txBody>
          <a:bodyPr wrap="none" lIns="0" rIns="0" tIns="0" bIns="0">
            <a:spAutoFit/>
          </a:bodyPr>
          <a:lstStyle/>
          <a:p>
            <a:r>
              <a:rPr sz="1150" b="0">
                <a:solidFill>
                  <a:srgbClr val="2E2E2E"/>
                </a:solidFill>
                <a:latin typeface="Calibri"/>
              </a:rPr>
              <a:t>a long tail ('Others') ~</a:t>
            </a:r>
          </a:p>
        </p:txBody>
      </p:sp>
      <p:pic>
        <p:nvPicPr>
          <p:cNvPr id="36" name="Picture 35" descr="lock.png"/>
          <p:cNvPicPr>
            <a:picLocks noChangeAspect="1"/>
          </p:cNvPicPr>
          <p:nvPr/>
        </p:nvPicPr>
        <p:blipFill>
          <a:blip r:embed="rId6"/>
          <a:stretch>
            <a:fillRect/>
          </a:stretch>
        </p:blipFill>
        <p:spPr>
          <a:xfrm>
            <a:off x="1575237" y="5590474"/>
            <a:ext cx="134549" cy="195707"/>
          </a:xfrm>
          <a:prstGeom prst="rect">
            <a:avLst/>
          </a:prstGeom>
        </p:spPr>
      </p:pic>
      <p:sp>
        <p:nvSpPr>
          <p:cNvPr id="37" name="TextBox 36"/>
          <p:cNvSpPr txBox="1"/>
          <p:nvPr/>
        </p:nvSpPr>
        <p:spPr>
          <a:xfrm>
            <a:off x="1750346" y="560069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8" name="TextBox 37"/>
          <p:cNvSpPr txBox="1"/>
          <p:nvPr/>
        </p:nvSpPr>
        <p:spPr>
          <a:xfrm>
            <a:off x="276225" y="5828535"/>
            <a:ext cx="8908516" cy="194310"/>
          </a:xfrm>
          <a:prstGeom prst="rect">
            <a:avLst/>
          </a:prstGeom>
          <a:noFill/>
        </p:spPr>
        <p:txBody>
          <a:bodyPr wrap="none" lIns="0" rIns="0" tIns="0" bIns="0">
            <a:spAutoFit/>
          </a:bodyPr>
          <a:lstStyle/>
          <a:p>
            <a:r>
              <a:rPr sz="1150" b="0">
                <a:solidFill>
                  <a:srgbClr val="2E2E2E"/>
                </a:solidFill>
                <a:latin typeface="Calibri"/>
              </a:rPr>
              <a:t>▪ Leadership shifts across formulations a strong position in one product type does not carry over to the others, so product-level targeting is essential.</a:t>
            </a:r>
          </a:p>
        </p:txBody>
      </p:sp>
      <p:sp>
        <p:nvSpPr>
          <p:cNvPr id="39" name="TextBox 38"/>
          <p:cNvSpPr txBox="1"/>
          <p:nvPr/>
        </p:nvSpPr>
        <p:spPr>
          <a:xfrm>
            <a:off x="276225" y="6056373"/>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40"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Share by Country (Top 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countries,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countries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Canada</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19" name="Rectangle 18"/>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6"/>
          <a:stretch>
            <a:fillRect/>
          </a:stretch>
        </p:blipFill>
        <p:spPr>
          <a:xfrm>
            <a:off x="1233011" y="2619895"/>
            <a:ext cx="523875" cy="762000"/>
          </a:xfrm>
          <a:prstGeom prst="rect">
            <a:avLst/>
          </a:prstGeom>
        </p:spPr>
      </p:pic>
      <p:pic>
        <p:nvPicPr>
          <p:cNvPr id="23" name="Picture 22" descr="lock.png"/>
          <p:cNvPicPr>
            <a:picLocks noChangeAspect="1"/>
          </p:cNvPicPr>
          <p:nvPr/>
        </p:nvPicPr>
        <p:blipFill>
          <a:blip r:embed="rId6"/>
          <a:stretch>
            <a:fillRect/>
          </a:stretch>
        </p:blipFill>
        <p:spPr>
          <a:xfrm>
            <a:off x="5214461" y="2619895"/>
            <a:ext cx="523875" cy="762000"/>
          </a:xfrm>
          <a:prstGeom prst="rect">
            <a:avLst/>
          </a:prstGeom>
        </p:spPr>
      </p:pic>
      <p:sp>
        <p:nvSpPr>
          <p:cNvPr id="24" name="TextBox 23"/>
          <p:cNvSpPr txBox="1"/>
          <p:nvPr/>
        </p:nvSpPr>
        <p:spPr>
          <a:xfrm>
            <a:off x="276225" y="5022340"/>
            <a:ext cx="10515280" cy="194310"/>
          </a:xfrm>
          <a:prstGeom prst="rect">
            <a:avLst/>
          </a:prstGeom>
          <a:noFill/>
        </p:spPr>
        <p:txBody>
          <a:bodyPr wrap="none" lIns="0" rIns="0" tIns="0" bIns="0">
            <a:spAutoFit/>
          </a:bodyPr>
          <a:lstStyle/>
          <a:p>
            <a:r>
              <a:rPr sz="1150" b="0">
                <a:solidFill>
                  <a:srgbClr val="2E2E2E"/>
                </a:solidFill>
                <a:latin typeface="Calibri"/>
              </a:rPr>
              <a:t>▪ U.S.: 'Grupo Bimbo (Bimbo, Marinela, Little Bites, Thomas')' leads at ~17.1%, ahead of 'McKee Foods Corporation (Little Debbie, Sunbelt Bakery, Drake's, Fieldstone Bakery)' (~</a:t>
            </a:r>
          </a:p>
        </p:txBody>
      </p:sp>
      <p:pic>
        <p:nvPicPr>
          <p:cNvPr id="25" name="Picture 24" descr="lock.png"/>
          <p:cNvPicPr>
            <a:picLocks noChangeAspect="1"/>
          </p:cNvPicPr>
          <p:nvPr/>
        </p:nvPicPr>
        <p:blipFill>
          <a:blip r:embed="rId6"/>
          <a:stretch>
            <a:fillRect/>
          </a:stretch>
        </p:blipFill>
        <p:spPr>
          <a:xfrm>
            <a:off x="10740659" y="5012116"/>
            <a:ext cx="134549" cy="195707"/>
          </a:xfrm>
          <a:prstGeom prst="rect">
            <a:avLst/>
          </a:prstGeom>
        </p:spPr>
      </p:pic>
      <p:sp>
        <p:nvSpPr>
          <p:cNvPr id="26" name="TextBox 25"/>
          <p:cNvSpPr txBox="1"/>
          <p:nvPr/>
        </p:nvSpPr>
        <p:spPr>
          <a:xfrm>
            <a:off x="10915768" y="5022340"/>
            <a:ext cx="980956" cy="194310"/>
          </a:xfrm>
          <a:prstGeom prst="rect">
            <a:avLst/>
          </a:prstGeom>
          <a:noFill/>
        </p:spPr>
        <p:txBody>
          <a:bodyPr wrap="none" lIns="0" rIns="0" tIns="0" bIns="0">
            <a:spAutoFit/>
          </a:bodyPr>
          <a:lstStyle/>
          <a:p>
            <a:r>
              <a:rPr sz="1150" b="0">
                <a:solidFill>
                  <a:srgbClr val="2E2E2E"/>
                </a:solidFill>
                <a:latin typeface="Calibri"/>
              </a:rPr>
              <a:t>); the top three</a:t>
            </a:r>
          </a:p>
        </p:txBody>
      </p:sp>
      <p:sp>
        <p:nvSpPr>
          <p:cNvPr id="27" name="TextBox 26"/>
          <p:cNvSpPr txBox="1"/>
          <p:nvPr/>
        </p:nvSpPr>
        <p:spPr>
          <a:xfrm>
            <a:off x="276225" y="5197600"/>
            <a:ext cx="446174" cy="194310"/>
          </a:xfrm>
          <a:prstGeom prst="rect">
            <a:avLst/>
          </a:prstGeom>
          <a:noFill/>
        </p:spPr>
        <p:txBody>
          <a:bodyPr wrap="none" lIns="0" rIns="0" tIns="0" bIns="0">
            <a:spAutoFit/>
          </a:bodyPr>
          <a:lstStyle/>
          <a:p>
            <a:r>
              <a:rPr sz="1150" b="0">
                <a:solidFill>
                  <a:srgbClr val="2E2E2E"/>
                </a:solidFill>
                <a:latin typeface="Calibri"/>
              </a:rPr>
              <a:t>hold ~</a:t>
            </a:r>
          </a:p>
        </p:txBody>
      </p:sp>
      <p:pic>
        <p:nvPicPr>
          <p:cNvPr id="28" name="Picture 27" descr="lock.png"/>
          <p:cNvPicPr>
            <a:picLocks noChangeAspect="1"/>
          </p:cNvPicPr>
          <p:nvPr/>
        </p:nvPicPr>
        <p:blipFill>
          <a:blip r:embed="rId6"/>
          <a:stretch>
            <a:fillRect/>
          </a:stretch>
        </p:blipFill>
        <p:spPr>
          <a:xfrm>
            <a:off x="671553" y="5187376"/>
            <a:ext cx="134549" cy="195707"/>
          </a:xfrm>
          <a:prstGeom prst="rect">
            <a:avLst/>
          </a:prstGeom>
        </p:spPr>
      </p:pic>
      <p:sp>
        <p:nvSpPr>
          <p:cNvPr id="29" name="TextBox 28"/>
          <p:cNvSpPr txBox="1"/>
          <p:nvPr/>
        </p:nvSpPr>
        <p:spPr>
          <a:xfrm>
            <a:off x="846662" y="519760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0" name="Picture 29" descr="lock.png"/>
          <p:cNvPicPr>
            <a:picLocks noChangeAspect="1"/>
          </p:cNvPicPr>
          <p:nvPr/>
        </p:nvPicPr>
        <p:blipFill>
          <a:blip r:embed="rId6"/>
          <a:stretch>
            <a:fillRect/>
          </a:stretch>
        </p:blipFill>
        <p:spPr>
          <a:xfrm>
            <a:off x="2402118" y="5187376"/>
            <a:ext cx="134549" cy="195707"/>
          </a:xfrm>
          <a:prstGeom prst="rect">
            <a:avLst/>
          </a:prstGeom>
        </p:spPr>
      </p:pic>
      <p:sp>
        <p:nvSpPr>
          <p:cNvPr id="31" name="TextBox 30"/>
          <p:cNvSpPr txBox="1"/>
          <p:nvPr/>
        </p:nvSpPr>
        <p:spPr>
          <a:xfrm>
            <a:off x="2577227" y="519760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2" name="TextBox 31"/>
          <p:cNvSpPr txBox="1"/>
          <p:nvPr/>
        </p:nvSpPr>
        <p:spPr>
          <a:xfrm>
            <a:off x="276225" y="5425437"/>
            <a:ext cx="10680228" cy="194310"/>
          </a:xfrm>
          <a:prstGeom prst="rect">
            <a:avLst/>
          </a:prstGeom>
          <a:noFill/>
        </p:spPr>
        <p:txBody>
          <a:bodyPr wrap="none" lIns="0" rIns="0" tIns="0" bIns="0">
            <a:spAutoFit/>
          </a:bodyPr>
          <a:lstStyle/>
          <a:p>
            <a:r>
              <a:rPr sz="1150" b="0">
                <a:solidFill>
                  <a:srgbClr val="2E2E2E"/>
                </a:solidFill>
                <a:latin typeface="Calibri"/>
              </a:rPr>
              <a:t>▪ Canada: 'Grupo Bimbo (Bimbo, Marinela, Little Bites, Thomas')' leads at ~13.3%, ahead of 'Hostess Brands (Hostess)' (~12.6%); the top three hold ~38% and a long tail ('Others') ~</a:t>
            </a:r>
          </a:p>
        </p:txBody>
      </p:sp>
      <p:pic>
        <p:nvPicPr>
          <p:cNvPr id="33" name="Picture 32" descr="lock.png"/>
          <p:cNvPicPr>
            <a:picLocks noChangeAspect="1"/>
          </p:cNvPicPr>
          <p:nvPr/>
        </p:nvPicPr>
        <p:blipFill>
          <a:blip r:embed="rId6"/>
          <a:stretch>
            <a:fillRect/>
          </a:stretch>
        </p:blipFill>
        <p:spPr>
          <a:xfrm>
            <a:off x="10905607" y="5415214"/>
            <a:ext cx="134549" cy="195707"/>
          </a:xfrm>
          <a:prstGeom prst="rect">
            <a:avLst/>
          </a:prstGeom>
        </p:spPr>
      </p:pic>
      <p:sp>
        <p:nvSpPr>
          <p:cNvPr id="34" name="TextBox 33"/>
          <p:cNvSpPr txBox="1"/>
          <p:nvPr/>
        </p:nvSpPr>
        <p:spPr>
          <a:xfrm>
            <a:off x="11080716" y="542543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5" name="TextBox 34"/>
          <p:cNvSpPr txBox="1"/>
          <p:nvPr/>
        </p:nvSpPr>
        <p:spPr>
          <a:xfrm>
            <a:off x="276225" y="5653275"/>
            <a:ext cx="9705801" cy="194310"/>
          </a:xfrm>
          <a:prstGeom prst="rect">
            <a:avLst/>
          </a:prstGeom>
          <a:noFill/>
        </p:spPr>
        <p:txBody>
          <a:bodyPr wrap="none" lIns="0" rIns="0" tIns="0" bIns="0">
            <a:spAutoFit/>
          </a:bodyPr>
          <a:lstStyle/>
          <a:p>
            <a:r>
              <a:rPr sz="1150" b="0">
                <a:solidFill>
                  <a:srgbClr val="2E2E2E"/>
                </a:solidFill>
                <a:latin typeface="Calibri"/>
              </a:rPr>
              <a:t>▪ Leadership is not uniform across geographies a strong position in one region does not carry over to the others, so region-level go-to-market planning is essential.</a:t>
            </a:r>
          </a:p>
        </p:txBody>
      </p:sp>
      <p:sp>
        <p:nvSpPr>
          <p:cNvPr id="36" name="TextBox 35"/>
          <p:cNvSpPr txBox="1"/>
          <p:nvPr/>
        </p:nvSpPr>
        <p:spPr>
          <a:xfrm>
            <a:off x="276225" y="5881113"/>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3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Packaged Muffins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Grupo Bimbo (Bimbo, Marinela, Little Bites, Thomas')</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McKee Foods Corporation (Little Debbie, Sunbelt Bakery, Drake's, Fieldstone Bakery)</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Hostess Brands (Hostess)</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Rich Products Corporation (Rich's)</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ARYZTA / Aspire Bakeries (Otis Spunkmeyer, Cuisine de France, Hiestand, Delice de France)</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Grupo Bimbo (Bimbo, Marinela, Little Bites, Thomas'):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Country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9278088" y="3145920"/>
            <a:ext cx="444576" cy="646656"/>
          </a:xfrm>
          <a:prstGeom prst="rect">
            <a:avLst/>
          </a:prstGeom>
        </p:spPr>
      </p:pic>
      <p:sp>
        <p:nvSpPr>
          <p:cNvPr id="35" name="TextBox 34"/>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6" name="Picture 35" descr="lock.png"/>
          <p:cNvPicPr>
            <a:picLocks noChangeAspect="1"/>
          </p:cNvPicPr>
          <p:nvPr/>
        </p:nvPicPr>
        <p:blipFill>
          <a:blip r:embed="rId7"/>
          <a:stretch>
            <a:fillRect/>
          </a:stretch>
        </p:blipFill>
        <p:spPr>
          <a:xfrm>
            <a:off x="6017010" y="1533061"/>
            <a:ext cx="133378" cy="194005"/>
          </a:xfrm>
          <a:prstGeom prst="rect">
            <a:avLst/>
          </a:prstGeom>
        </p:spPr>
      </p:pic>
      <p:pic>
        <p:nvPicPr>
          <p:cNvPr id="37" name="Picture 36" descr="lock.png"/>
          <p:cNvPicPr>
            <a:picLocks noChangeAspect="1"/>
          </p:cNvPicPr>
          <p:nvPr/>
        </p:nvPicPr>
        <p:blipFill>
          <a:blip r:embed="rId7"/>
          <a:stretch>
            <a:fillRect/>
          </a:stretch>
        </p:blipFill>
        <p:spPr>
          <a:xfrm>
            <a:off x="5865805" y="1761621"/>
            <a:ext cx="97811" cy="142270"/>
          </a:xfrm>
          <a:prstGeom prst="rect">
            <a:avLst/>
          </a:prstGeom>
        </p:spPr>
      </p:pic>
      <p:sp>
        <p:nvSpPr>
          <p:cNvPr id="38" name="TextBox 37"/>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39" name="TextBox 38"/>
          <p:cNvSpPr txBox="1"/>
          <p:nvPr/>
        </p:nvSpPr>
        <p:spPr>
          <a:xfrm>
            <a:off x="276225" y="5204877"/>
            <a:ext cx="8763607" cy="194310"/>
          </a:xfrm>
          <a:prstGeom prst="rect">
            <a:avLst/>
          </a:prstGeom>
          <a:noFill/>
        </p:spPr>
        <p:txBody>
          <a:bodyPr wrap="none" lIns="0" rIns="0" tIns="0" bIns="0">
            <a:spAutoFit/>
          </a:bodyPr>
          <a:lstStyle/>
          <a:p>
            <a:r>
              <a:rPr sz="1150" b="0">
                <a:solidFill>
                  <a:srgbClr val="2E2E2E"/>
                </a:solidFill>
                <a:latin typeface="Calibri"/>
              </a:rPr>
              <a:t>▪ Market Position: Grupo Bimbo (Bimbo, Marinela, Little Bites, Thomas') captures ~30% of a US$ Mn SAM, with its strongest end-market in 'Retail'.</a:t>
            </a:r>
          </a:p>
        </p:txBody>
      </p:sp>
      <p:sp>
        <p:nvSpPr>
          <p:cNvPr id="40" name="TextBox 39"/>
          <p:cNvSpPr txBox="1"/>
          <p:nvPr/>
        </p:nvSpPr>
        <p:spPr>
          <a:xfrm>
            <a:off x="276225" y="5432715"/>
            <a:ext cx="5909642" cy="194310"/>
          </a:xfrm>
          <a:prstGeom prst="rect">
            <a:avLst/>
          </a:prstGeom>
          <a:noFill/>
        </p:spPr>
        <p:txBody>
          <a:bodyPr wrap="none" lIns="0" rIns="0" tIns="0" bIns="0">
            <a:spAutoFit/>
          </a:bodyPr>
          <a:lstStyle/>
          <a:p>
            <a:r>
              <a:rPr sz="1150" b="0">
                <a:solidFill>
                  <a:srgbClr val="2E2E2E"/>
                </a:solidFill>
                <a:latin typeface="Calibri"/>
              </a:rPr>
              <a:t>▪ Geographic Balance: 'U.S.' is the largest SOM region; 'U.S.' shows the highest SAM penetration (~</a:t>
            </a:r>
          </a:p>
        </p:txBody>
      </p:sp>
      <p:pic>
        <p:nvPicPr>
          <p:cNvPr id="41" name="Picture 40" descr="lock.png"/>
          <p:cNvPicPr>
            <a:picLocks noChangeAspect="1"/>
          </p:cNvPicPr>
          <p:nvPr/>
        </p:nvPicPr>
        <p:blipFill>
          <a:blip r:embed="rId7"/>
          <a:stretch>
            <a:fillRect/>
          </a:stretch>
        </p:blipFill>
        <p:spPr>
          <a:xfrm>
            <a:off x="6135021" y="5422491"/>
            <a:ext cx="134549" cy="195707"/>
          </a:xfrm>
          <a:prstGeom prst="rect">
            <a:avLst/>
          </a:prstGeom>
        </p:spPr>
      </p:pic>
      <p:sp>
        <p:nvSpPr>
          <p:cNvPr id="42" name="TextBox 41"/>
          <p:cNvSpPr txBox="1"/>
          <p:nvPr/>
        </p:nvSpPr>
        <p:spPr>
          <a:xfrm>
            <a:off x="6310130"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3" name="TextBox 42"/>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4" name="Picture 43" descr="lock.png"/>
          <p:cNvPicPr>
            <a:picLocks noChangeAspect="1"/>
          </p:cNvPicPr>
          <p:nvPr/>
        </p:nvPicPr>
        <p:blipFill>
          <a:blip r:embed="rId7"/>
          <a:stretch>
            <a:fillRect/>
          </a:stretch>
        </p:blipFill>
        <p:spPr>
          <a:xfrm>
            <a:off x="1617169" y="5650329"/>
            <a:ext cx="134549" cy="195707"/>
          </a:xfrm>
          <a:prstGeom prst="rect">
            <a:avLst/>
          </a:prstGeom>
        </p:spPr>
      </p:pic>
      <p:sp>
        <p:nvSpPr>
          <p:cNvPr id="45" name="TextBox 44"/>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6" name="Picture 45" descr="lock.png"/>
          <p:cNvPicPr>
            <a:picLocks noChangeAspect="1"/>
          </p:cNvPicPr>
          <p:nvPr/>
        </p:nvPicPr>
        <p:blipFill>
          <a:blip r:embed="rId7"/>
          <a:stretch>
            <a:fillRect/>
          </a:stretch>
        </p:blipFill>
        <p:spPr>
          <a:xfrm>
            <a:off x="2870505" y="5650329"/>
            <a:ext cx="134549" cy="195707"/>
          </a:xfrm>
          <a:prstGeom prst="rect">
            <a:avLst/>
          </a:prstGeom>
        </p:spPr>
      </p:pic>
      <p:sp>
        <p:nvSpPr>
          <p:cNvPr id="47" name="TextBox 46"/>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48" name="TextBox 47"/>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49" name="Picture 48" descr="lock.png"/>
          <p:cNvPicPr>
            <a:picLocks noChangeAspect="1"/>
          </p:cNvPicPr>
          <p:nvPr/>
        </p:nvPicPr>
        <p:blipFill>
          <a:blip r:embed="rId7"/>
          <a:stretch>
            <a:fillRect/>
          </a:stretch>
        </p:blipFill>
        <p:spPr>
          <a:xfrm>
            <a:off x="1578914" y="5878167"/>
            <a:ext cx="134549" cy="195707"/>
          </a:xfrm>
          <a:prstGeom prst="rect">
            <a:avLst/>
          </a:prstGeom>
        </p:spPr>
      </p:pic>
      <p:sp>
        <p:nvSpPr>
          <p:cNvPr id="50" name="TextBox 49"/>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1" name="Picture 50" descr="lock.png"/>
          <p:cNvPicPr>
            <a:picLocks noChangeAspect="1"/>
          </p:cNvPicPr>
          <p:nvPr/>
        </p:nvPicPr>
        <p:blipFill>
          <a:blip r:embed="rId7"/>
          <a:stretch>
            <a:fillRect/>
          </a:stretch>
        </p:blipFill>
        <p:spPr>
          <a:xfrm>
            <a:off x="2775769" y="5878167"/>
            <a:ext cx="134549" cy="195707"/>
          </a:xfrm>
          <a:prstGeom prst="rect">
            <a:avLst/>
          </a:prstGeom>
        </p:spPr>
      </p:pic>
      <p:sp>
        <p:nvSpPr>
          <p:cNvPr id="52" name="TextBox 51"/>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3" name="Picture 52" descr="lock.png"/>
          <p:cNvPicPr>
            <a:picLocks noChangeAspect="1"/>
          </p:cNvPicPr>
          <p:nvPr/>
        </p:nvPicPr>
        <p:blipFill>
          <a:blip r:embed="rId7"/>
          <a:stretch>
            <a:fillRect/>
          </a:stretch>
        </p:blipFill>
        <p:spPr>
          <a:xfrm>
            <a:off x="4037092" y="5878167"/>
            <a:ext cx="134549" cy="195707"/>
          </a:xfrm>
          <a:prstGeom prst="rect">
            <a:avLst/>
          </a:prstGeom>
        </p:spPr>
      </p:pic>
      <p:sp>
        <p:nvSpPr>
          <p:cNvPr id="54" name="TextBox 53"/>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5"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Grupo Bimbo (Bimbo, Marinela, Little Bites, Thomas'):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Country</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Grupo Bimbo (Bimbo, Marinela, Little Bites, Thomas')</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6887393" cy="186689"/>
          </a:xfrm>
          <a:prstGeom prst="rect">
            <a:avLst/>
          </a:prstGeom>
          <a:noFill/>
        </p:spPr>
        <p:txBody>
          <a:bodyPr wrap="none" lIns="0" rIns="0" tIns="0" bIns="0">
            <a:spAutoFit/>
          </a:bodyPr>
          <a:lstStyle/>
          <a:p>
            <a:r>
              <a:rPr sz="1100" b="0">
                <a:solidFill>
                  <a:srgbClr val="2E2E2E"/>
                </a:solidFill>
                <a:latin typeface="Calibri"/>
              </a:rPr>
              <a:t>▪ Regional Opportunity: 'U.S.'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Grupo Bimbo (Bimbo, Marinela, Little Bites, Thomas'): strengths, weaknesses, opportunities and threats…</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Grupo Bimbo (Bimbo, Marinela, Little Bites, Thomas'):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'U.S.'.</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'U.S.',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Grupo Bimbo (Bimbo, Marinela, Little Bites, Thomas')'s financial performance, key ratios and pricing…</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Grupo Bimbo (Bimbo, Marinela, Little Bites, Thomas')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(Bimbo, Marinela, Little Bites, Thomas')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(Bimbo, Marinela, Little Bites, Thomas') Key Ratios</a:t>
            </a:r>
          </a:p>
        </p:txBody>
      </p:sp>
      <p:graphicFrame>
        <p:nvGraphicFramePr>
          <p:cNvPr id="17" name="Table 16"/>
          <p:cNvGraphicFramePr>
            <a:graphicFrameLocks noGrp="1"/>
          </p:cNvGraphicFramePr>
          <p:nvPr/>
        </p:nvGraphicFramePr>
        <p:xfrm>
          <a:off x="152400" y="3655670"/>
          <a:ext cx="5886449" cy="2727671"/>
        </p:xfrm>
        <a:graphic>
          <a:graphicData uri="http://schemas.openxmlformats.org/drawingml/2006/table">
            <a:tbl>
              <a:tblPr>
                <a:tableStyleId>{5C22544A-7EE6-4342-B048-85BDC9FD1C3A}</a:tableStyleId>
              </a:tblPr>
              <a:tblGrid>
                <a:gridCol w="2099174"/>
                <a:gridCol w="757455"/>
                <a:gridCol w="757455"/>
                <a:gridCol w="757455"/>
                <a:gridCol w="757455"/>
                <a:gridCol w="757455"/>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(Bimbo, Marinela, Little Bites, Thomas') Pricing Analysis (US$/MT)</a:t>
            </a:r>
          </a:p>
        </p:txBody>
      </p:sp>
      <p:graphicFrame>
        <p:nvGraphicFramePr>
          <p:cNvPr id="21" name="Table 20"/>
          <p:cNvGraphicFramePr>
            <a:graphicFrameLocks noGrp="1"/>
          </p:cNvGraphicFramePr>
          <p:nvPr/>
        </p:nvGraphicFramePr>
        <p:xfrm>
          <a:off x="6210300" y="1611256"/>
          <a:ext cx="5829300" cy="477208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26298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26298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958521"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853662"/>
            <a:ext cx="366712" cy="533400"/>
          </a:xfrm>
          <a:prstGeom prst="rect">
            <a:avLst/>
          </a:prstGeom>
        </p:spPr>
      </p:pic>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Grupo Bimbo (Bimbo, Marinela, Little Bites, Thomas')'s strategic priorities and the competitive moves that…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Grupo Bimbo (Bimbo, Marinela, Little Bites, Thomas'):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market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146017" cy="194310"/>
          </a:xfrm>
          <a:prstGeom prst="rect">
            <a:avLst/>
          </a:prstGeom>
          <a:noFill/>
        </p:spPr>
        <p:txBody>
          <a:bodyPr wrap="none" lIns="0" rIns="0" tIns="0" bIns="0">
            <a:spAutoFit/>
          </a:bodyPr>
          <a:lstStyle/>
          <a:p>
            <a:r>
              <a:rPr sz="1150" b="0">
                <a:solidFill>
                  <a:srgbClr val="2E2E2E"/>
                </a:solidFill>
                <a:latin typeface="Calibri"/>
              </a:rPr>
              <a:t>▪ Defend and extend leadership in 'Retail' Grupo Bimbo (Bimbo, Marinela, Little Bites,</a:t>
            </a:r>
          </a:p>
        </p:txBody>
      </p:sp>
      <p:sp>
        <p:nvSpPr>
          <p:cNvPr id="31" name="TextBox 30"/>
          <p:cNvSpPr txBox="1"/>
          <p:nvPr/>
        </p:nvSpPr>
        <p:spPr>
          <a:xfrm>
            <a:off x="276225" y="2678589"/>
            <a:ext cx="4434023" cy="194310"/>
          </a:xfrm>
          <a:prstGeom prst="rect">
            <a:avLst/>
          </a:prstGeom>
          <a:noFill/>
        </p:spPr>
        <p:txBody>
          <a:bodyPr wrap="none" lIns="0" rIns="0" tIns="0" bIns="0">
            <a:spAutoFit/>
          </a:bodyPr>
          <a:lstStyle/>
          <a:p>
            <a:r>
              <a:rPr sz="1150" b="0">
                <a:solidFill>
                  <a:srgbClr val="2E2E2E"/>
                </a:solidFill>
                <a:latin typeface="Calibri"/>
              </a:rPr>
              <a:t>Thomas')'s 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2482887" cy="194310"/>
          </a:xfrm>
          <a:prstGeom prst="rect">
            <a:avLst/>
          </a:prstGeom>
          <a:noFill/>
        </p:spPr>
        <p:txBody>
          <a:bodyPr wrap="none" lIns="0" rIns="0" tIns="0" bIns="0">
            <a:spAutoFit/>
          </a:bodyPr>
          <a:lstStyle/>
          <a:p>
            <a:r>
              <a:rPr sz="1150" b="0">
                <a:solidFill>
                  <a:srgbClr val="2E2E2E"/>
                </a:solidFill>
                <a:latin typeface="Calibri"/>
              </a:rPr>
              <a:t>▪ Raise SAM penetration beyond 'U.S.' (~</a:t>
            </a:r>
          </a:p>
        </p:txBody>
      </p:sp>
      <p:pic>
        <p:nvPicPr>
          <p:cNvPr id="39" name="Picture 38" descr="lock.png"/>
          <p:cNvPicPr>
            <a:picLocks noChangeAspect="1"/>
          </p:cNvPicPr>
          <p:nvPr/>
        </p:nvPicPr>
        <p:blipFill>
          <a:blip r:embed="rId4"/>
          <a:stretch>
            <a:fillRect/>
          </a:stretch>
        </p:blipFill>
        <p:spPr>
          <a:xfrm>
            <a:off x="2708266" y="3299301"/>
            <a:ext cx="134549" cy="195707"/>
          </a:xfrm>
          <a:prstGeom prst="rect">
            <a:avLst/>
          </a:prstGeom>
        </p:spPr>
      </p:pic>
      <p:sp>
        <p:nvSpPr>
          <p:cNvPr id="40" name="TextBox 39"/>
          <p:cNvSpPr txBox="1"/>
          <p:nvPr/>
        </p:nvSpPr>
        <p:spPr>
          <a:xfrm>
            <a:off x="2883375"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6" name="TextBox 45"/>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7" name="TextBox 46"/>
          <p:cNvSpPr txBox="1"/>
          <p:nvPr/>
        </p:nvSpPr>
        <p:spPr>
          <a:xfrm>
            <a:off x="6334125" y="2906426"/>
            <a:ext cx="5377358" cy="194310"/>
          </a:xfrm>
          <a:prstGeom prst="rect">
            <a:avLst/>
          </a:prstGeom>
          <a:noFill/>
        </p:spPr>
        <p:txBody>
          <a:bodyPr wrap="none" lIns="0" rIns="0" tIns="0" bIns="0">
            <a:spAutoFit/>
          </a:bodyPr>
          <a:lstStyle/>
          <a:p>
            <a:r>
              <a:rPr sz="1150" b="0">
                <a:solidFill>
                  <a:srgbClr val="2E2E2E"/>
                </a:solidFill>
                <a:latin typeface="Calibri"/>
              </a:rPr>
              <a:t>▪ Deepen presence in 'U.S.' (largest SOM region) and build out under-served geographies.</a:t>
            </a:r>
          </a:p>
        </p:txBody>
      </p:sp>
      <p:sp>
        <p:nvSpPr>
          <p:cNvPr id="48" name="TextBox 47"/>
          <p:cNvSpPr txBox="1"/>
          <p:nvPr/>
        </p:nvSpPr>
        <p:spPr>
          <a:xfrm>
            <a:off x="6334125" y="313426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49" name="TextBox 48"/>
          <p:cNvSpPr txBox="1"/>
          <p:nvPr/>
        </p:nvSpPr>
        <p:spPr>
          <a:xfrm>
            <a:off x="6334125" y="330952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0" name="TextBox 49"/>
          <p:cNvSpPr txBox="1"/>
          <p:nvPr/>
        </p:nvSpPr>
        <p:spPr>
          <a:xfrm>
            <a:off x="6334125" y="353736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1" name="TextBox 50"/>
          <p:cNvSpPr txBox="1"/>
          <p:nvPr/>
        </p:nvSpPr>
        <p:spPr>
          <a:xfrm>
            <a:off x="6334125" y="371262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2" name="TextBox 51"/>
          <p:cNvSpPr txBox="1"/>
          <p:nvPr/>
        </p:nvSpPr>
        <p:spPr>
          <a:xfrm>
            <a:off x="6334125" y="394046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3" name="Picture 52" descr="lock.png"/>
          <p:cNvPicPr>
            <a:picLocks noChangeAspect="1"/>
          </p:cNvPicPr>
          <p:nvPr/>
        </p:nvPicPr>
        <p:blipFill>
          <a:blip r:embed="rId4"/>
          <a:stretch>
            <a:fillRect/>
          </a:stretch>
        </p:blipFill>
        <p:spPr>
          <a:xfrm>
            <a:off x="9385452" y="3930237"/>
            <a:ext cx="134549" cy="195707"/>
          </a:xfrm>
          <a:prstGeom prst="rect">
            <a:avLst/>
          </a:prstGeom>
        </p:spPr>
      </p:pic>
      <p:sp>
        <p:nvSpPr>
          <p:cNvPr id="54" name="TextBox 53"/>
          <p:cNvSpPr txBox="1"/>
          <p:nvPr/>
        </p:nvSpPr>
        <p:spPr>
          <a:xfrm>
            <a:off x="9560561" y="394046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McKee Foods Corporation (Little Debbie, Sunbelt Bakery, Drake's, Fieldstone Bakery):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Country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9278088" y="3145920"/>
            <a:ext cx="444576" cy="646656"/>
          </a:xfrm>
          <a:prstGeom prst="rect">
            <a:avLst/>
          </a:prstGeom>
        </p:spPr>
      </p:pic>
      <p:sp>
        <p:nvSpPr>
          <p:cNvPr id="35" name="TextBox 34"/>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6" name="Picture 35" descr="lock.png"/>
          <p:cNvPicPr>
            <a:picLocks noChangeAspect="1"/>
          </p:cNvPicPr>
          <p:nvPr/>
        </p:nvPicPr>
        <p:blipFill>
          <a:blip r:embed="rId7"/>
          <a:stretch>
            <a:fillRect/>
          </a:stretch>
        </p:blipFill>
        <p:spPr>
          <a:xfrm>
            <a:off x="6017010" y="1533061"/>
            <a:ext cx="133378" cy="194005"/>
          </a:xfrm>
          <a:prstGeom prst="rect">
            <a:avLst/>
          </a:prstGeom>
        </p:spPr>
      </p:pic>
      <p:pic>
        <p:nvPicPr>
          <p:cNvPr id="37" name="Picture 36" descr="lock.png"/>
          <p:cNvPicPr>
            <a:picLocks noChangeAspect="1"/>
          </p:cNvPicPr>
          <p:nvPr/>
        </p:nvPicPr>
        <p:blipFill>
          <a:blip r:embed="rId7"/>
          <a:stretch>
            <a:fillRect/>
          </a:stretch>
        </p:blipFill>
        <p:spPr>
          <a:xfrm>
            <a:off x="5865805" y="1761621"/>
            <a:ext cx="97811" cy="142270"/>
          </a:xfrm>
          <a:prstGeom prst="rect">
            <a:avLst/>
          </a:prstGeom>
        </p:spPr>
      </p:pic>
      <p:sp>
        <p:nvSpPr>
          <p:cNvPr id="38" name="TextBox 37"/>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39" name="TextBox 38"/>
          <p:cNvSpPr txBox="1"/>
          <p:nvPr/>
        </p:nvSpPr>
        <p:spPr>
          <a:xfrm>
            <a:off x="276225" y="5204877"/>
            <a:ext cx="10769156" cy="194310"/>
          </a:xfrm>
          <a:prstGeom prst="rect">
            <a:avLst/>
          </a:prstGeom>
          <a:noFill/>
        </p:spPr>
        <p:txBody>
          <a:bodyPr wrap="none" lIns="0" rIns="0" tIns="0" bIns="0">
            <a:spAutoFit/>
          </a:bodyPr>
          <a:lstStyle/>
          <a:p>
            <a:r>
              <a:rPr sz="1150" b="0">
                <a:solidFill>
                  <a:srgbClr val="2E2E2E"/>
                </a:solidFill>
                <a:latin typeface="Calibri"/>
              </a:rPr>
              <a:t>▪ Market Position: McKee Foods Corporation (Little Debbie, Sunbelt Bakery, Drake's, Fieldstone Bakery) captures ~25% of a US$ Mn SAM, with its strongest end-market in 'Vending'.</a:t>
            </a:r>
          </a:p>
        </p:txBody>
      </p:sp>
      <p:sp>
        <p:nvSpPr>
          <p:cNvPr id="40" name="TextBox 39"/>
          <p:cNvSpPr txBox="1"/>
          <p:nvPr/>
        </p:nvSpPr>
        <p:spPr>
          <a:xfrm>
            <a:off x="276225" y="5432715"/>
            <a:ext cx="5909642" cy="194310"/>
          </a:xfrm>
          <a:prstGeom prst="rect">
            <a:avLst/>
          </a:prstGeom>
          <a:noFill/>
        </p:spPr>
        <p:txBody>
          <a:bodyPr wrap="none" lIns="0" rIns="0" tIns="0" bIns="0">
            <a:spAutoFit/>
          </a:bodyPr>
          <a:lstStyle/>
          <a:p>
            <a:r>
              <a:rPr sz="1150" b="0">
                <a:solidFill>
                  <a:srgbClr val="2E2E2E"/>
                </a:solidFill>
                <a:latin typeface="Calibri"/>
              </a:rPr>
              <a:t>▪ Geographic Balance: 'U.S.' is the largest SOM region; 'U.S.' shows the highest SAM penetration (~</a:t>
            </a:r>
          </a:p>
        </p:txBody>
      </p:sp>
      <p:pic>
        <p:nvPicPr>
          <p:cNvPr id="41" name="Picture 40" descr="lock.png"/>
          <p:cNvPicPr>
            <a:picLocks noChangeAspect="1"/>
          </p:cNvPicPr>
          <p:nvPr/>
        </p:nvPicPr>
        <p:blipFill>
          <a:blip r:embed="rId7"/>
          <a:stretch>
            <a:fillRect/>
          </a:stretch>
        </p:blipFill>
        <p:spPr>
          <a:xfrm>
            <a:off x="6135021" y="5422491"/>
            <a:ext cx="134549" cy="195707"/>
          </a:xfrm>
          <a:prstGeom prst="rect">
            <a:avLst/>
          </a:prstGeom>
        </p:spPr>
      </p:pic>
      <p:sp>
        <p:nvSpPr>
          <p:cNvPr id="42" name="TextBox 41"/>
          <p:cNvSpPr txBox="1"/>
          <p:nvPr/>
        </p:nvSpPr>
        <p:spPr>
          <a:xfrm>
            <a:off x="6310130"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3" name="TextBox 42"/>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4" name="Picture 43" descr="lock.png"/>
          <p:cNvPicPr>
            <a:picLocks noChangeAspect="1"/>
          </p:cNvPicPr>
          <p:nvPr/>
        </p:nvPicPr>
        <p:blipFill>
          <a:blip r:embed="rId7"/>
          <a:stretch>
            <a:fillRect/>
          </a:stretch>
        </p:blipFill>
        <p:spPr>
          <a:xfrm>
            <a:off x="1617169" y="5650329"/>
            <a:ext cx="134549" cy="195707"/>
          </a:xfrm>
          <a:prstGeom prst="rect">
            <a:avLst/>
          </a:prstGeom>
        </p:spPr>
      </p:pic>
      <p:sp>
        <p:nvSpPr>
          <p:cNvPr id="45" name="TextBox 44"/>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6" name="Picture 45" descr="lock.png"/>
          <p:cNvPicPr>
            <a:picLocks noChangeAspect="1"/>
          </p:cNvPicPr>
          <p:nvPr/>
        </p:nvPicPr>
        <p:blipFill>
          <a:blip r:embed="rId7"/>
          <a:stretch>
            <a:fillRect/>
          </a:stretch>
        </p:blipFill>
        <p:spPr>
          <a:xfrm>
            <a:off x="2870505" y="5650329"/>
            <a:ext cx="134549" cy="195707"/>
          </a:xfrm>
          <a:prstGeom prst="rect">
            <a:avLst/>
          </a:prstGeom>
        </p:spPr>
      </p:pic>
      <p:sp>
        <p:nvSpPr>
          <p:cNvPr id="47" name="TextBox 46"/>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48" name="TextBox 47"/>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49" name="Picture 48" descr="lock.png"/>
          <p:cNvPicPr>
            <a:picLocks noChangeAspect="1"/>
          </p:cNvPicPr>
          <p:nvPr/>
        </p:nvPicPr>
        <p:blipFill>
          <a:blip r:embed="rId7"/>
          <a:stretch>
            <a:fillRect/>
          </a:stretch>
        </p:blipFill>
        <p:spPr>
          <a:xfrm>
            <a:off x="1578914" y="5878167"/>
            <a:ext cx="134549" cy="195707"/>
          </a:xfrm>
          <a:prstGeom prst="rect">
            <a:avLst/>
          </a:prstGeom>
        </p:spPr>
      </p:pic>
      <p:sp>
        <p:nvSpPr>
          <p:cNvPr id="50" name="TextBox 49"/>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1" name="Picture 50" descr="lock.png"/>
          <p:cNvPicPr>
            <a:picLocks noChangeAspect="1"/>
          </p:cNvPicPr>
          <p:nvPr/>
        </p:nvPicPr>
        <p:blipFill>
          <a:blip r:embed="rId7"/>
          <a:stretch>
            <a:fillRect/>
          </a:stretch>
        </p:blipFill>
        <p:spPr>
          <a:xfrm>
            <a:off x="2775769" y="5878167"/>
            <a:ext cx="134549" cy="195707"/>
          </a:xfrm>
          <a:prstGeom prst="rect">
            <a:avLst/>
          </a:prstGeom>
        </p:spPr>
      </p:pic>
      <p:sp>
        <p:nvSpPr>
          <p:cNvPr id="52" name="TextBox 51"/>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3" name="Picture 52" descr="lock.png"/>
          <p:cNvPicPr>
            <a:picLocks noChangeAspect="1"/>
          </p:cNvPicPr>
          <p:nvPr/>
        </p:nvPicPr>
        <p:blipFill>
          <a:blip r:embed="rId7"/>
          <a:stretch>
            <a:fillRect/>
          </a:stretch>
        </p:blipFill>
        <p:spPr>
          <a:xfrm>
            <a:off x="4037092" y="5878167"/>
            <a:ext cx="134549" cy="195707"/>
          </a:xfrm>
          <a:prstGeom prst="rect">
            <a:avLst/>
          </a:prstGeom>
        </p:spPr>
      </p:pic>
      <p:sp>
        <p:nvSpPr>
          <p:cNvPr id="54" name="TextBox 53"/>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5"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McKee Foods Corporation (Little Debbie, Sunbelt Bakery, Drake's, Fieldstone Bakery):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Country</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McKee Foods Corporation (Little Debbie, Sunbelt Bakery, Drake's, Fieldstone Bakery)</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6887393" cy="186689"/>
          </a:xfrm>
          <a:prstGeom prst="rect">
            <a:avLst/>
          </a:prstGeom>
          <a:noFill/>
        </p:spPr>
        <p:txBody>
          <a:bodyPr wrap="none" lIns="0" rIns="0" tIns="0" bIns="0">
            <a:spAutoFit/>
          </a:bodyPr>
          <a:lstStyle/>
          <a:p>
            <a:r>
              <a:rPr sz="1100" b="0">
                <a:solidFill>
                  <a:srgbClr val="2E2E2E"/>
                </a:solidFill>
                <a:latin typeface="Calibri"/>
              </a:rPr>
              <a:t>▪ Regional Opportunity: 'U.S.'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McKee Foods Corporation (Little Debbie, Sunbelt Bakery, Drake's, Fieldstone Bakery): strengths…</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McKee Foods Corporation (Little Debbie, Sunbelt Bakery, Drake's, Fieldstone Bakery):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'U.S.'.</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'U.S.',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McKee Foods Corporation (Little Debbie, Sunbelt Bakery, Drake's, Fieldstone Bakery)'s financial performance…</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McKee Foods Corporation (Little Debbie, Sunbelt Bakery, Drake's, Fieldstone Bakery)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(Little Debbie, Sunbelt Bakery, Drake's, Fieldstone Bakery) Financial Performance</a:t>
            </a:r>
          </a:p>
        </p:txBody>
      </p:sp>
      <p:graphicFrame>
        <p:nvGraphicFramePr>
          <p:cNvPr id="13" name="Table 12"/>
          <p:cNvGraphicFramePr>
            <a:graphicFrameLocks noGrp="1"/>
          </p:cNvGraphicFramePr>
          <p:nvPr/>
        </p:nvGraphicFramePr>
        <p:xfrm>
          <a:off x="152400" y="1782706"/>
          <a:ext cx="5886449" cy="1278462"/>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58084">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8084">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8084">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8084">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(Little Debbie, Sunbelt Bakery, Drake's, Fieldstone Bakery) Key Ratios</a:t>
            </a:r>
          </a:p>
        </p:txBody>
      </p:sp>
      <p:graphicFrame>
        <p:nvGraphicFramePr>
          <p:cNvPr id="17" name="Table 16"/>
          <p:cNvGraphicFramePr>
            <a:graphicFrameLocks noGrp="1"/>
          </p:cNvGraphicFramePr>
          <p:nvPr/>
        </p:nvGraphicFramePr>
        <p:xfrm>
          <a:off x="152400" y="3827120"/>
          <a:ext cx="5886449" cy="2556221"/>
        </p:xfrm>
        <a:graphic>
          <a:graphicData uri="http://schemas.openxmlformats.org/drawingml/2006/table">
            <a:tbl>
              <a:tblPr>
                <a:tableStyleId>{5C22544A-7EE6-4342-B048-85BDC9FD1C3A}</a:tableStyleId>
              </a:tblPr>
              <a:tblGrid>
                <a:gridCol w="2099174"/>
                <a:gridCol w="757455"/>
                <a:gridCol w="757455"/>
                <a:gridCol w="757455"/>
                <a:gridCol w="757455"/>
                <a:gridCol w="757455"/>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62019">
                <a:tc>
                  <a:txBody>
                    <a:bodyPr wrap="none"/>
                    <a:lstStyle/>
                    <a:p>
                      <a:pPr algn="l"/>
                      <a:r>
                        <a:rPr sz="1100" b="1">
                          <a:solidFill>
                            <a:srgbClr val="2E2E2E"/>
                          </a:solidFill>
                          <a:latin typeface="Calibri"/>
                        </a:rPr>
                        <a:t>Gross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62019">
                <a:tc>
                  <a:txBody>
                    <a:bodyPr wrap="none"/>
                    <a:lstStyle/>
                    <a:p>
                      <a:pPr algn="l"/>
                      <a:r>
                        <a:rPr sz="1100" b="1">
                          <a:solidFill>
                            <a:srgbClr val="2E2E2E"/>
                          </a:solidFill>
                          <a:latin typeface="Calibri"/>
                        </a:rPr>
                        <a:t>Pre-Tax Margin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62019">
                <a:tc>
                  <a:txBody>
                    <a:bodyPr wrap="none"/>
                    <a:lstStyle/>
                    <a:p>
                      <a:pPr algn="l"/>
                      <a:r>
                        <a:rPr sz="1100" b="1">
                          <a:solidFill>
                            <a:srgbClr val="2E2E2E"/>
                          </a:solidFill>
                          <a:latin typeface="Calibri"/>
                        </a:rPr>
                        <a:t>Net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62019">
                <a:tc>
                  <a:txBody>
                    <a:bodyPr wrap="none"/>
                    <a:lstStyle/>
                    <a:p>
                      <a:pPr algn="l"/>
                      <a:r>
                        <a:rPr sz="1100" b="1">
                          <a:solidFill>
                            <a:srgbClr val="2E2E2E"/>
                          </a:solidFill>
                          <a:latin typeface="Calibri"/>
                        </a:rPr>
                        <a:t>Return on Equity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62019">
                <a:tc>
                  <a:txBody>
                    <a:bodyPr wrap="none"/>
                    <a:lstStyle/>
                    <a:p>
                      <a:pPr algn="l"/>
                      <a:r>
                        <a:rPr sz="1100" b="1">
                          <a:solidFill>
                            <a:srgbClr val="2E2E2E"/>
                          </a:solidFill>
                          <a:latin typeface="Calibri"/>
                        </a:rPr>
                        <a:t>Return on Assets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(Little Debbie, Sunbelt Bakery, Drake's, Fieldstone Bakery) Pricing Analysis (US$/MT)</a:t>
            </a:r>
          </a:p>
        </p:txBody>
      </p:sp>
      <p:graphicFrame>
        <p:nvGraphicFramePr>
          <p:cNvPr id="21" name="Table 20"/>
          <p:cNvGraphicFramePr>
            <a:graphicFrameLocks noGrp="1"/>
          </p:cNvGraphicFramePr>
          <p:nvPr/>
        </p:nvGraphicFramePr>
        <p:xfrm>
          <a:off x="6210300" y="1782706"/>
          <a:ext cx="5829300" cy="460063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177255">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177255">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304970"/>
            <a:ext cx="330041" cy="480060"/>
          </a:xfrm>
          <a:prstGeom prst="rect">
            <a:avLst/>
          </a:prstGeom>
        </p:spPr>
      </p:pic>
      <p:pic>
        <p:nvPicPr>
          <p:cNvPr id="25" name="Picture 24" descr="lock.png"/>
          <p:cNvPicPr>
            <a:picLocks noChangeAspect="1"/>
          </p:cNvPicPr>
          <p:nvPr/>
        </p:nvPicPr>
        <p:blipFill>
          <a:blip r:embed="rId4"/>
          <a:stretch>
            <a:fillRect/>
          </a:stretch>
        </p:blipFill>
        <p:spPr>
          <a:xfrm>
            <a:off x="3958521" y="4961593"/>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939387"/>
            <a:ext cx="366712" cy="533399"/>
          </a:xfrm>
          <a:prstGeom prst="rect">
            <a:avLst/>
          </a:prstGeom>
        </p:spPr>
      </p:pic>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McKee Foods Corporation (Little Debbie, Sunbelt Bakery, Drake's, Fieldstone Bakery)'s strategic priorities and…</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McKee Foods Corporation (Little Debbie, Sunbelt Bakery, Drake's, Fieldstone Bakery):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market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612621" cy="194310"/>
          </a:xfrm>
          <a:prstGeom prst="rect">
            <a:avLst/>
          </a:prstGeom>
          <a:noFill/>
        </p:spPr>
        <p:txBody>
          <a:bodyPr wrap="none" lIns="0" rIns="0" tIns="0" bIns="0">
            <a:spAutoFit/>
          </a:bodyPr>
          <a:lstStyle/>
          <a:p>
            <a:r>
              <a:rPr sz="1150" b="0">
                <a:solidFill>
                  <a:srgbClr val="2E2E2E"/>
                </a:solidFill>
                <a:latin typeface="Calibri"/>
              </a:rPr>
              <a:t>▪ Defend and extend leadership in 'Vending' McKee Foods Corporation (Little Debbie, Sunbelt</a:t>
            </a:r>
          </a:p>
        </p:txBody>
      </p:sp>
      <p:sp>
        <p:nvSpPr>
          <p:cNvPr id="31" name="TextBox 30"/>
          <p:cNvSpPr txBox="1"/>
          <p:nvPr/>
        </p:nvSpPr>
        <p:spPr>
          <a:xfrm>
            <a:off x="276225" y="2678589"/>
            <a:ext cx="5187094" cy="194310"/>
          </a:xfrm>
          <a:prstGeom prst="rect">
            <a:avLst/>
          </a:prstGeom>
          <a:noFill/>
        </p:spPr>
        <p:txBody>
          <a:bodyPr wrap="none" lIns="0" rIns="0" tIns="0" bIns="0">
            <a:spAutoFit/>
          </a:bodyPr>
          <a:lstStyle/>
          <a:p>
            <a:r>
              <a:rPr sz="1150" b="0">
                <a:solidFill>
                  <a:srgbClr val="2E2E2E"/>
                </a:solidFill>
                <a:latin typeface="Calibri"/>
              </a:rPr>
              <a:t>Bakery, Drake's, Fieldstone Bakery)'s strongest end-market while scaling the next-best</a:t>
            </a:r>
          </a:p>
        </p:txBody>
      </p:sp>
      <p:sp>
        <p:nvSpPr>
          <p:cNvPr id="32" name="TextBox 31"/>
          <p:cNvSpPr txBox="1"/>
          <p:nvPr/>
        </p:nvSpPr>
        <p:spPr>
          <a:xfrm>
            <a:off x="276225" y="2853849"/>
            <a:ext cx="828985" cy="194310"/>
          </a:xfrm>
          <a:prstGeom prst="rect">
            <a:avLst/>
          </a:prstGeom>
          <a:noFill/>
        </p:spPr>
        <p:txBody>
          <a:bodyPr wrap="none" lIns="0" rIns="0" tIns="0" bIns="0">
            <a:spAutoFit/>
          </a:bodyPr>
          <a:lstStyle/>
          <a:p>
            <a:r>
              <a:rPr sz="1150" b="0">
                <a:solidFill>
                  <a:srgbClr val="2E2E2E"/>
                </a:solidFill>
                <a:latin typeface="Calibri"/>
              </a:rPr>
              <a:t>applications.</a:t>
            </a:r>
          </a:p>
        </p:txBody>
      </p:sp>
      <p:sp>
        <p:nvSpPr>
          <p:cNvPr id="33" name="TextBox 32"/>
          <p:cNvSpPr txBox="1"/>
          <p:nvPr/>
        </p:nvSpPr>
        <p:spPr>
          <a:xfrm>
            <a:off x="276225" y="308168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4" name="Picture 33" descr="lock.png"/>
          <p:cNvPicPr>
            <a:picLocks noChangeAspect="1"/>
          </p:cNvPicPr>
          <p:nvPr/>
        </p:nvPicPr>
        <p:blipFill>
          <a:blip r:embed="rId4"/>
          <a:stretch>
            <a:fillRect/>
          </a:stretch>
        </p:blipFill>
        <p:spPr>
          <a:xfrm>
            <a:off x="1135376" y="3071463"/>
            <a:ext cx="134549" cy="195707"/>
          </a:xfrm>
          <a:prstGeom prst="rect">
            <a:avLst/>
          </a:prstGeom>
        </p:spPr>
      </p:pic>
      <p:sp>
        <p:nvSpPr>
          <p:cNvPr id="35" name="TextBox 34"/>
          <p:cNvSpPr txBox="1"/>
          <p:nvPr/>
        </p:nvSpPr>
        <p:spPr>
          <a:xfrm>
            <a:off x="1310485" y="308168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6" name="Picture 35" descr="lock.png"/>
          <p:cNvPicPr>
            <a:picLocks noChangeAspect="1"/>
          </p:cNvPicPr>
          <p:nvPr/>
        </p:nvPicPr>
        <p:blipFill>
          <a:blip r:embed="rId4"/>
          <a:stretch>
            <a:fillRect/>
          </a:stretch>
        </p:blipFill>
        <p:spPr>
          <a:xfrm>
            <a:off x="2188748" y="3071463"/>
            <a:ext cx="134549" cy="195707"/>
          </a:xfrm>
          <a:prstGeom prst="rect">
            <a:avLst/>
          </a:prstGeom>
        </p:spPr>
      </p:pic>
      <p:sp>
        <p:nvSpPr>
          <p:cNvPr id="37" name="TextBox 36"/>
          <p:cNvSpPr txBox="1"/>
          <p:nvPr/>
        </p:nvSpPr>
        <p:spPr>
          <a:xfrm>
            <a:off x="2363857" y="308168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8" name="TextBox 37"/>
          <p:cNvSpPr txBox="1"/>
          <p:nvPr/>
        </p:nvSpPr>
        <p:spPr>
          <a:xfrm>
            <a:off x="276225" y="325694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9" name="TextBox 38"/>
          <p:cNvSpPr txBox="1"/>
          <p:nvPr/>
        </p:nvSpPr>
        <p:spPr>
          <a:xfrm>
            <a:off x="276225" y="3484784"/>
            <a:ext cx="2482887" cy="194310"/>
          </a:xfrm>
          <a:prstGeom prst="rect">
            <a:avLst/>
          </a:prstGeom>
          <a:noFill/>
        </p:spPr>
        <p:txBody>
          <a:bodyPr wrap="none" lIns="0" rIns="0" tIns="0" bIns="0">
            <a:spAutoFit/>
          </a:bodyPr>
          <a:lstStyle/>
          <a:p>
            <a:r>
              <a:rPr sz="1150" b="0">
                <a:solidFill>
                  <a:srgbClr val="2E2E2E"/>
                </a:solidFill>
                <a:latin typeface="Calibri"/>
              </a:rPr>
              <a:t>▪ Raise SAM penetration beyond 'U.S.' (~</a:t>
            </a:r>
          </a:p>
        </p:txBody>
      </p:sp>
      <p:pic>
        <p:nvPicPr>
          <p:cNvPr id="40" name="Picture 39" descr="lock.png"/>
          <p:cNvPicPr>
            <a:picLocks noChangeAspect="1"/>
          </p:cNvPicPr>
          <p:nvPr/>
        </p:nvPicPr>
        <p:blipFill>
          <a:blip r:embed="rId4"/>
          <a:stretch>
            <a:fillRect/>
          </a:stretch>
        </p:blipFill>
        <p:spPr>
          <a:xfrm>
            <a:off x="2708266" y="3474561"/>
            <a:ext cx="134549" cy="195707"/>
          </a:xfrm>
          <a:prstGeom prst="rect">
            <a:avLst/>
          </a:prstGeom>
        </p:spPr>
      </p:pic>
      <p:sp>
        <p:nvSpPr>
          <p:cNvPr id="41" name="TextBox 40"/>
          <p:cNvSpPr txBox="1"/>
          <p:nvPr/>
        </p:nvSpPr>
        <p:spPr>
          <a:xfrm>
            <a:off x="2883375" y="348478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2" name="TextBox 41"/>
          <p:cNvSpPr txBox="1"/>
          <p:nvPr/>
        </p:nvSpPr>
        <p:spPr>
          <a:xfrm>
            <a:off x="276225" y="371262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3" name="Picture 42" descr="lock.png"/>
          <p:cNvPicPr>
            <a:picLocks noChangeAspect="1"/>
          </p:cNvPicPr>
          <p:nvPr/>
        </p:nvPicPr>
        <p:blipFill>
          <a:blip r:embed="rId4"/>
          <a:stretch>
            <a:fillRect/>
          </a:stretch>
        </p:blipFill>
        <p:spPr>
          <a:xfrm>
            <a:off x="919438" y="3702399"/>
            <a:ext cx="134549" cy="195707"/>
          </a:xfrm>
          <a:prstGeom prst="rect">
            <a:avLst/>
          </a:prstGeom>
        </p:spPr>
      </p:pic>
      <p:sp>
        <p:nvSpPr>
          <p:cNvPr id="44" name="TextBox 43"/>
          <p:cNvSpPr txBox="1"/>
          <p:nvPr/>
        </p:nvSpPr>
        <p:spPr>
          <a:xfrm>
            <a:off x="1094548" y="371262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5" name="TextBox 44"/>
          <p:cNvSpPr txBox="1"/>
          <p:nvPr/>
        </p:nvSpPr>
        <p:spPr>
          <a:xfrm>
            <a:off x="276225" y="394046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6" name="TextBox 45"/>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7" name="TextBox 46"/>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8" name="TextBox 47"/>
          <p:cNvSpPr txBox="1"/>
          <p:nvPr/>
        </p:nvSpPr>
        <p:spPr>
          <a:xfrm>
            <a:off x="6334125" y="2906426"/>
            <a:ext cx="5377358" cy="194310"/>
          </a:xfrm>
          <a:prstGeom prst="rect">
            <a:avLst/>
          </a:prstGeom>
          <a:noFill/>
        </p:spPr>
        <p:txBody>
          <a:bodyPr wrap="none" lIns="0" rIns="0" tIns="0" bIns="0">
            <a:spAutoFit/>
          </a:bodyPr>
          <a:lstStyle/>
          <a:p>
            <a:r>
              <a:rPr sz="1150" b="0">
                <a:solidFill>
                  <a:srgbClr val="2E2E2E"/>
                </a:solidFill>
                <a:latin typeface="Calibri"/>
              </a:rPr>
              <a:t>▪ Deepen presence in 'U.S.' (largest SOM region) and build out under-served geographies.</a:t>
            </a:r>
          </a:p>
        </p:txBody>
      </p:sp>
      <p:sp>
        <p:nvSpPr>
          <p:cNvPr id="49" name="TextBox 48"/>
          <p:cNvSpPr txBox="1"/>
          <p:nvPr/>
        </p:nvSpPr>
        <p:spPr>
          <a:xfrm>
            <a:off x="6334125" y="313426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30952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53736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71262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3940460"/>
            <a:ext cx="3102173" cy="194310"/>
          </a:xfrm>
          <a:prstGeom prst="rect">
            <a:avLst/>
          </a:prstGeom>
          <a:noFill/>
        </p:spPr>
        <p:txBody>
          <a:bodyPr wrap="none" lIns="0" rIns="0" tIns="0" bIns="0">
            <a:spAutoFit/>
          </a:bodyPr>
          <a:lstStyle/>
          <a:p>
            <a:r>
              <a:rPr sz="1150" b="0">
                <a:solidFill>
                  <a:srgbClr val="2E2E2E"/>
                </a:solidFill>
                <a:latin typeface="Calibri"/>
              </a:rPr>
              <a:t>▪ Sharpen go-to-market a ~90-day sales cycle and ~</a:t>
            </a:r>
          </a:p>
        </p:txBody>
      </p:sp>
      <p:pic>
        <p:nvPicPr>
          <p:cNvPr id="54" name="Picture 53" descr="lock.png"/>
          <p:cNvPicPr>
            <a:picLocks noChangeAspect="1"/>
          </p:cNvPicPr>
          <p:nvPr/>
        </p:nvPicPr>
        <p:blipFill>
          <a:blip r:embed="rId4"/>
          <a:stretch>
            <a:fillRect/>
          </a:stretch>
        </p:blipFill>
        <p:spPr>
          <a:xfrm>
            <a:off x="9385452" y="3930237"/>
            <a:ext cx="134549" cy="195707"/>
          </a:xfrm>
          <a:prstGeom prst="rect">
            <a:avLst/>
          </a:prstGeom>
        </p:spPr>
      </p:pic>
      <p:sp>
        <p:nvSpPr>
          <p:cNvPr id="55" name="TextBox 54"/>
          <p:cNvSpPr txBox="1"/>
          <p:nvPr/>
        </p:nvSpPr>
        <p:spPr>
          <a:xfrm>
            <a:off x="9560561" y="394046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Hostess Brands (Hostess):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Country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9278088" y="3145920"/>
            <a:ext cx="444576" cy="646656"/>
          </a:xfrm>
          <a:prstGeom prst="rect">
            <a:avLst/>
          </a:prstGeom>
        </p:spPr>
      </p:pic>
      <p:sp>
        <p:nvSpPr>
          <p:cNvPr id="35" name="TextBox 34"/>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6" name="Picture 35" descr="lock.png"/>
          <p:cNvPicPr>
            <a:picLocks noChangeAspect="1"/>
          </p:cNvPicPr>
          <p:nvPr/>
        </p:nvPicPr>
        <p:blipFill>
          <a:blip r:embed="rId7"/>
          <a:stretch>
            <a:fillRect/>
          </a:stretch>
        </p:blipFill>
        <p:spPr>
          <a:xfrm>
            <a:off x="6017010" y="1533061"/>
            <a:ext cx="133378" cy="194005"/>
          </a:xfrm>
          <a:prstGeom prst="rect">
            <a:avLst/>
          </a:prstGeom>
        </p:spPr>
      </p:pic>
      <p:pic>
        <p:nvPicPr>
          <p:cNvPr id="37" name="Picture 36" descr="lock.png"/>
          <p:cNvPicPr>
            <a:picLocks noChangeAspect="1"/>
          </p:cNvPicPr>
          <p:nvPr/>
        </p:nvPicPr>
        <p:blipFill>
          <a:blip r:embed="rId7"/>
          <a:stretch>
            <a:fillRect/>
          </a:stretch>
        </p:blipFill>
        <p:spPr>
          <a:xfrm>
            <a:off x="5865805" y="1761621"/>
            <a:ext cx="97811" cy="142270"/>
          </a:xfrm>
          <a:prstGeom prst="rect">
            <a:avLst/>
          </a:prstGeom>
        </p:spPr>
      </p:pic>
      <p:sp>
        <p:nvSpPr>
          <p:cNvPr id="38" name="TextBox 37"/>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39" name="TextBox 38"/>
          <p:cNvSpPr txBox="1"/>
          <p:nvPr/>
        </p:nvSpPr>
        <p:spPr>
          <a:xfrm>
            <a:off x="276225" y="5204877"/>
            <a:ext cx="3321818" cy="194310"/>
          </a:xfrm>
          <a:prstGeom prst="rect">
            <a:avLst/>
          </a:prstGeom>
          <a:noFill/>
        </p:spPr>
        <p:txBody>
          <a:bodyPr wrap="none" lIns="0" rIns="0" tIns="0" bIns="0">
            <a:spAutoFit/>
          </a:bodyPr>
          <a:lstStyle/>
          <a:p>
            <a:r>
              <a:rPr sz="1150" b="0">
                <a:solidFill>
                  <a:srgbClr val="2E2E2E"/>
                </a:solidFill>
                <a:latin typeface="Calibri"/>
              </a:rPr>
              <a:t>▪ Market Position: Hostess Brands (Hostess) captures ~</a:t>
            </a:r>
          </a:p>
        </p:txBody>
      </p:sp>
      <p:pic>
        <p:nvPicPr>
          <p:cNvPr id="40" name="Picture 39" descr="lock.png"/>
          <p:cNvPicPr>
            <a:picLocks noChangeAspect="1"/>
          </p:cNvPicPr>
          <p:nvPr/>
        </p:nvPicPr>
        <p:blipFill>
          <a:blip r:embed="rId7"/>
          <a:stretch>
            <a:fillRect/>
          </a:stretch>
        </p:blipFill>
        <p:spPr>
          <a:xfrm>
            <a:off x="3547197" y="5194653"/>
            <a:ext cx="134549" cy="195707"/>
          </a:xfrm>
          <a:prstGeom prst="rect">
            <a:avLst/>
          </a:prstGeom>
        </p:spPr>
      </p:pic>
      <p:sp>
        <p:nvSpPr>
          <p:cNvPr id="41" name="TextBox 40"/>
          <p:cNvSpPr txBox="1"/>
          <p:nvPr/>
        </p:nvSpPr>
        <p:spPr>
          <a:xfrm>
            <a:off x="3722307" y="5204877"/>
            <a:ext cx="3707196"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'Vending'.</a:t>
            </a:r>
          </a:p>
        </p:txBody>
      </p:sp>
      <p:sp>
        <p:nvSpPr>
          <p:cNvPr id="42" name="TextBox 41"/>
          <p:cNvSpPr txBox="1"/>
          <p:nvPr/>
        </p:nvSpPr>
        <p:spPr>
          <a:xfrm>
            <a:off x="276225" y="5432715"/>
            <a:ext cx="6322690" cy="194310"/>
          </a:xfrm>
          <a:prstGeom prst="rect">
            <a:avLst/>
          </a:prstGeom>
          <a:noFill/>
        </p:spPr>
        <p:txBody>
          <a:bodyPr wrap="none" lIns="0" rIns="0" tIns="0" bIns="0">
            <a:spAutoFit/>
          </a:bodyPr>
          <a:lstStyle/>
          <a:p>
            <a:r>
              <a:rPr sz="1150" b="0">
                <a:solidFill>
                  <a:srgbClr val="2E2E2E"/>
                </a:solidFill>
                <a:latin typeface="Calibri"/>
              </a:rPr>
              <a:t>▪ Geographic Balance: 'Canada' is the largest SOM region; 'Canada' shows the highest SAM penetration (~</a:t>
            </a:r>
          </a:p>
        </p:txBody>
      </p:sp>
      <p:pic>
        <p:nvPicPr>
          <p:cNvPr id="43" name="Picture 42" descr="lock.png"/>
          <p:cNvPicPr>
            <a:picLocks noChangeAspect="1"/>
          </p:cNvPicPr>
          <p:nvPr/>
        </p:nvPicPr>
        <p:blipFill>
          <a:blip r:embed="rId7"/>
          <a:stretch>
            <a:fillRect/>
          </a:stretch>
        </p:blipFill>
        <p:spPr>
          <a:xfrm>
            <a:off x="6548068" y="5422491"/>
            <a:ext cx="134549" cy="195707"/>
          </a:xfrm>
          <a:prstGeom prst="rect">
            <a:avLst/>
          </a:prstGeom>
        </p:spPr>
      </p:pic>
      <p:sp>
        <p:nvSpPr>
          <p:cNvPr id="44" name="TextBox 43"/>
          <p:cNvSpPr txBox="1"/>
          <p:nvPr/>
        </p:nvSpPr>
        <p:spPr>
          <a:xfrm>
            <a:off x="6723178"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5" name="TextBox 44"/>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6" name="Picture 45" descr="lock.png"/>
          <p:cNvPicPr>
            <a:picLocks noChangeAspect="1"/>
          </p:cNvPicPr>
          <p:nvPr/>
        </p:nvPicPr>
        <p:blipFill>
          <a:blip r:embed="rId7"/>
          <a:stretch>
            <a:fillRect/>
          </a:stretch>
        </p:blipFill>
        <p:spPr>
          <a:xfrm>
            <a:off x="1617169" y="5650329"/>
            <a:ext cx="134549" cy="195707"/>
          </a:xfrm>
          <a:prstGeom prst="rect">
            <a:avLst/>
          </a:prstGeom>
        </p:spPr>
      </p:pic>
      <p:sp>
        <p:nvSpPr>
          <p:cNvPr id="47" name="TextBox 46"/>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8" name="Picture 47" descr="lock.png"/>
          <p:cNvPicPr>
            <a:picLocks noChangeAspect="1"/>
          </p:cNvPicPr>
          <p:nvPr/>
        </p:nvPicPr>
        <p:blipFill>
          <a:blip r:embed="rId7"/>
          <a:stretch>
            <a:fillRect/>
          </a:stretch>
        </p:blipFill>
        <p:spPr>
          <a:xfrm>
            <a:off x="2870505" y="5650329"/>
            <a:ext cx="134549" cy="195707"/>
          </a:xfrm>
          <a:prstGeom prst="rect">
            <a:avLst/>
          </a:prstGeom>
        </p:spPr>
      </p:pic>
      <p:sp>
        <p:nvSpPr>
          <p:cNvPr id="49" name="TextBox 48"/>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0" name="TextBox 49"/>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1" name="Picture 50" descr="lock.png"/>
          <p:cNvPicPr>
            <a:picLocks noChangeAspect="1"/>
          </p:cNvPicPr>
          <p:nvPr/>
        </p:nvPicPr>
        <p:blipFill>
          <a:blip r:embed="rId7"/>
          <a:stretch>
            <a:fillRect/>
          </a:stretch>
        </p:blipFill>
        <p:spPr>
          <a:xfrm>
            <a:off x="1578914" y="5878167"/>
            <a:ext cx="134549" cy="195707"/>
          </a:xfrm>
          <a:prstGeom prst="rect">
            <a:avLst/>
          </a:prstGeom>
        </p:spPr>
      </p:pic>
      <p:sp>
        <p:nvSpPr>
          <p:cNvPr id="52" name="TextBox 51"/>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3" name="Picture 52" descr="lock.png"/>
          <p:cNvPicPr>
            <a:picLocks noChangeAspect="1"/>
          </p:cNvPicPr>
          <p:nvPr/>
        </p:nvPicPr>
        <p:blipFill>
          <a:blip r:embed="rId7"/>
          <a:stretch>
            <a:fillRect/>
          </a:stretch>
        </p:blipFill>
        <p:spPr>
          <a:xfrm>
            <a:off x="2775769" y="5878167"/>
            <a:ext cx="134549" cy="195707"/>
          </a:xfrm>
          <a:prstGeom prst="rect">
            <a:avLst/>
          </a:prstGeom>
        </p:spPr>
      </p:pic>
      <p:sp>
        <p:nvSpPr>
          <p:cNvPr id="54" name="TextBox 53"/>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5" name="Picture 54" descr="lock.png"/>
          <p:cNvPicPr>
            <a:picLocks noChangeAspect="1"/>
          </p:cNvPicPr>
          <p:nvPr/>
        </p:nvPicPr>
        <p:blipFill>
          <a:blip r:embed="rId7"/>
          <a:stretch>
            <a:fillRect/>
          </a:stretch>
        </p:blipFill>
        <p:spPr>
          <a:xfrm>
            <a:off x="4037092" y="5878167"/>
            <a:ext cx="134549" cy="195707"/>
          </a:xfrm>
          <a:prstGeom prst="rect">
            <a:avLst/>
          </a:prstGeom>
        </p:spPr>
      </p:pic>
      <p:sp>
        <p:nvSpPr>
          <p:cNvPr id="56" name="TextBox 55"/>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7"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Hostess Brands (Hostess):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Country</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Hostess Brands (Hostess)</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084938" cy="186689"/>
          </a:xfrm>
          <a:prstGeom prst="rect">
            <a:avLst/>
          </a:prstGeom>
          <a:noFill/>
        </p:spPr>
        <p:txBody>
          <a:bodyPr wrap="none" lIns="0" rIns="0" tIns="0" bIns="0">
            <a:spAutoFit/>
          </a:bodyPr>
          <a:lstStyle/>
          <a:p>
            <a:r>
              <a:rPr sz="1100" b="0">
                <a:solidFill>
                  <a:srgbClr val="2E2E2E"/>
                </a:solidFill>
                <a:latin typeface="Calibri"/>
              </a:rPr>
              <a:t>▪ Regional Opportunity: 'Canada'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Hostess Brands (Hostess): strengths, weaknesses, opportunities and threats shaping its competitive…</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Hostess Brands (Hostess):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'Canada'.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'Canada',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Hostess Brands (Hostess)'s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Hostess Brands (Hostess)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(Hostess)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(Hostess) Key Ratios</a:t>
            </a:r>
          </a:p>
        </p:txBody>
      </p:sp>
      <p:graphicFrame>
        <p:nvGraphicFramePr>
          <p:cNvPr id="17" name="Table 16"/>
          <p:cNvGraphicFramePr>
            <a:graphicFrameLocks noGrp="1"/>
          </p:cNvGraphicFramePr>
          <p:nvPr/>
        </p:nvGraphicFramePr>
        <p:xfrm>
          <a:off x="152400" y="3655670"/>
          <a:ext cx="5886449" cy="2727671"/>
        </p:xfrm>
        <a:graphic>
          <a:graphicData uri="http://schemas.openxmlformats.org/drawingml/2006/table">
            <a:tbl>
              <a:tblPr>
                <a:tableStyleId>{5C22544A-7EE6-4342-B048-85BDC9FD1C3A}</a:tableStyleId>
              </a:tblPr>
              <a:tblGrid>
                <a:gridCol w="2099174"/>
                <a:gridCol w="757455"/>
                <a:gridCol w="757455"/>
                <a:gridCol w="757455"/>
                <a:gridCol w="757455"/>
                <a:gridCol w="757455"/>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(Hostess) Pricing Analysis (US$/MT)</a:t>
            </a:r>
          </a:p>
        </p:txBody>
      </p:sp>
      <p:graphicFrame>
        <p:nvGraphicFramePr>
          <p:cNvPr id="21" name="Table 20"/>
          <p:cNvGraphicFramePr>
            <a:graphicFrameLocks noGrp="1"/>
          </p:cNvGraphicFramePr>
          <p:nvPr/>
        </p:nvGraphicFramePr>
        <p:xfrm>
          <a:off x="6210300" y="1611256"/>
          <a:ext cx="5829300" cy="477208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26298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26298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958521"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853662"/>
            <a:ext cx="366712" cy="533400"/>
          </a:xfrm>
          <a:prstGeom prst="rect">
            <a:avLst/>
          </a:prstGeom>
        </p:spPr>
      </p:pic>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Hostess Brands (Hostess)'s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Hostess Brands (Hostess):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market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610125" cy="194310"/>
          </a:xfrm>
          <a:prstGeom prst="rect">
            <a:avLst/>
          </a:prstGeom>
          <a:noFill/>
        </p:spPr>
        <p:txBody>
          <a:bodyPr wrap="none" lIns="0" rIns="0" tIns="0" bIns="0">
            <a:spAutoFit/>
          </a:bodyPr>
          <a:lstStyle/>
          <a:p>
            <a:r>
              <a:rPr sz="1150" b="0">
                <a:solidFill>
                  <a:srgbClr val="2E2E2E"/>
                </a:solidFill>
                <a:latin typeface="Calibri"/>
              </a:rPr>
              <a:t>▪ Defend and extend leadership in 'Vending' Hostess Brands (Hostess)'s strongest end-market</a:t>
            </a:r>
          </a:p>
        </p:txBody>
      </p:sp>
      <p:sp>
        <p:nvSpPr>
          <p:cNvPr id="31" name="TextBox 30"/>
          <p:cNvSpPr txBox="1"/>
          <p:nvPr/>
        </p:nvSpPr>
        <p:spPr>
          <a:xfrm>
            <a:off x="276225" y="2678589"/>
            <a:ext cx="2444948" cy="194310"/>
          </a:xfrm>
          <a:prstGeom prst="rect">
            <a:avLst/>
          </a:prstGeom>
          <a:noFill/>
        </p:spPr>
        <p:txBody>
          <a:bodyPr wrap="none" lIns="0" rIns="0" tIns="0" bIns="0">
            <a:spAutoFit/>
          </a:bodyPr>
          <a:lstStyle/>
          <a:p>
            <a:r>
              <a:rPr sz="1150" b="0">
                <a:solidFill>
                  <a:srgbClr val="2E2E2E"/>
                </a:solidFill>
                <a:latin typeface="Calibri"/>
              </a:rPr>
              <a:t>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2689411" cy="194310"/>
          </a:xfrm>
          <a:prstGeom prst="rect">
            <a:avLst/>
          </a:prstGeom>
          <a:noFill/>
        </p:spPr>
        <p:txBody>
          <a:bodyPr wrap="none" lIns="0" rIns="0" tIns="0" bIns="0">
            <a:spAutoFit/>
          </a:bodyPr>
          <a:lstStyle/>
          <a:p>
            <a:r>
              <a:rPr sz="1150" b="0">
                <a:solidFill>
                  <a:srgbClr val="2E2E2E"/>
                </a:solidFill>
                <a:latin typeface="Calibri"/>
              </a:rPr>
              <a:t>▪ Raise SAM penetration beyond 'Canada' (~</a:t>
            </a:r>
          </a:p>
        </p:txBody>
      </p:sp>
      <p:pic>
        <p:nvPicPr>
          <p:cNvPr id="39" name="Picture 38" descr="lock.png"/>
          <p:cNvPicPr>
            <a:picLocks noChangeAspect="1"/>
          </p:cNvPicPr>
          <p:nvPr/>
        </p:nvPicPr>
        <p:blipFill>
          <a:blip r:embed="rId4"/>
          <a:stretch>
            <a:fillRect/>
          </a:stretch>
        </p:blipFill>
        <p:spPr>
          <a:xfrm>
            <a:off x="2914789" y="3299301"/>
            <a:ext cx="134549" cy="195707"/>
          </a:xfrm>
          <a:prstGeom prst="rect">
            <a:avLst/>
          </a:prstGeom>
        </p:spPr>
      </p:pic>
      <p:sp>
        <p:nvSpPr>
          <p:cNvPr id="40" name="TextBox 39"/>
          <p:cNvSpPr txBox="1"/>
          <p:nvPr/>
        </p:nvSpPr>
        <p:spPr>
          <a:xfrm>
            <a:off x="3089899"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6" name="TextBox 45"/>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7" name="TextBox 46"/>
          <p:cNvSpPr txBox="1"/>
          <p:nvPr/>
        </p:nvSpPr>
        <p:spPr>
          <a:xfrm>
            <a:off x="6334125" y="2906426"/>
            <a:ext cx="5562600" cy="194310"/>
          </a:xfrm>
          <a:prstGeom prst="rect">
            <a:avLst/>
          </a:prstGeom>
          <a:noFill/>
        </p:spPr>
        <p:txBody>
          <a:bodyPr wrap="none" lIns="0" rIns="0" tIns="0" bIns="0">
            <a:spAutoFit/>
          </a:bodyPr>
          <a:lstStyle/>
          <a:p>
            <a:r>
              <a:rPr sz="1150" b="0">
                <a:solidFill>
                  <a:srgbClr val="2E2E2E"/>
                </a:solidFill>
                <a:latin typeface="Calibri"/>
              </a:rPr>
              <a:t>▪ Deepen presence in 'Canada' (largest SOM region) and build out under-served geographies.</a:t>
            </a:r>
          </a:p>
        </p:txBody>
      </p:sp>
      <p:sp>
        <p:nvSpPr>
          <p:cNvPr id="48" name="TextBox 47"/>
          <p:cNvSpPr txBox="1"/>
          <p:nvPr/>
        </p:nvSpPr>
        <p:spPr>
          <a:xfrm>
            <a:off x="6334125" y="313426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49" name="TextBox 48"/>
          <p:cNvSpPr txBox="1"/>
          <p:nvPr/>
        </p:nvSpPr>
        <p:spPr>
          <a:xfrm>
            <a:off x="6334125" y="330952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0" name="TextBox 49"/>
          <p:cNvSpPr txBox="1"/>
          <p:nvPr/>
        </p:nvSpPr>
        <p:spPr>
          <a:xfrm>
            <a:off x="6334125" y="353736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1" name="TextBox 50"/>
          <p:cNvSpPr txBox="1"/>
          <p:nvPr/>
        </p:nvSpPr>
        <p:spPr>
          <a:xfrm>
            <a:off x="6334125" y="371262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2" name="TextBox 51"/>
          <p:cNvSpPr txBox="1"/>
          <p:nvPr/>
        </p:nvSpPr>
        <p:spPr>
          <a:xfrm>
            <a:off x="6334125" y="3940460"/>
            <a:ext cx="3102173" cy="194310"/>
          </a:xfrm>
          <a:prstGeom prst="rect">
            <a:avLst/>
          </a:prstGeom>
          <a:noFill/>
        </p:spPr>
        <p:txBody>
          <a:bodyPr wrap="none" lIns="0" rIns="0" tIns="0" bIns="0">
            <a:spAutoFit/>
          </a:bodyPr>
          <a:lstStyle/>
          <a:p>
            <a:r>
              <a:rPr sz="1150" b="0">
                <a:solidFill>
                  <a:srgbClr val="2E2E2E"/>
                </a:solidFill>
                <a:latin typeface="Calibri"/>
              </a:rPr>
              <a:t>▪ Sharpen go-to-market a ~85-day sales cycle and ~</a:t>
            </a:r>
          </a:p>
        </p:txBody>
      </p:sp>
      <p:pic>
        <p:nvPicPr>
          <p:cNvPr id="53" name="Picture 52" descr="lock.png"/>
          <p:cNvPicPr>
            <a:picLocks noChangeAspect="1"/>
          </p:cNvPicPr>
          <p:nvPr/>
        </p:nvPicPr>
        <p:blipFill>
          <a:blip r:embed="rId4"/>
          <a:stretch>
            <a:fillRect/>
          </a:stretch>
        </p:blipFill>
        <p:spPr>
          <a:xfrm>
            <a:off x="9385452" y="3930237"/>
            <a:ext cx="134549" cy="195707"/>
          </a:xfrm>
          <a:prstGeom prst="rect">
            <a:avLst/>
          </a:prstGeom>
        </p:spPr>
      </p:pic>
      <p:sp>
        <p:nvSpPr>
          <p:cNvPr id="54" name="TextBox 53"/>
          <p:cNvSpPr txBox="1"/>
          <p:nvPr/>
        </p:nvSpPr>
        <p:spPr>
          <a:xfrm>
            <a:off x="9560561" y="394046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