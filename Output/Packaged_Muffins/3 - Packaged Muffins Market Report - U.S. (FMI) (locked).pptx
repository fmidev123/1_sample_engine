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charts/chart15.xml" ContentType="application/vnd.openxmlformats-officedocument.drawingml.chart+xml"/>
  <Override PartName="/ppt/charts/chart16.xml" ContentType="application/vnd.openxmlformats-officedocument.drawingml.chart+xml"/>
  <Override PartName="/ppt/charts/chart17.xml" ContentType="application/vnd.openxmlformats-officedocument.drawingml.chart+xml"/>
  <Override PartName="/ppt/charts/chart18.xml" ContentType="application/vnd.openxmlformats-officedocument.drawingml.chart+xml"/>
  <Override PartName="/ppt/charts/chart19.xml" ContentType="application/vnd.openxmlformats-officedocument.drawingml.chart+xml"/>
  <Override PartName="/ppt/charts/chart2.xml" ContentType="application/vnd.openxmlformats-officedocument.drawingml.chart+xml"/>
  <Override PartName="/ppt/charts/chart20.xml" ContentType="application/vnd.openxmlformats-officedocument.drawingml.chart+xml"/>
  <Override PartName="/ppt/charts/chart21.xml" ContentType="application/vnd.openxmlformats-officedocument.drawingml.chart+xml"/>
  <Override PartName="/ppt/charts/chart22.xml" ContentType="application/vnd.openxmlformats-officedocument.drawingml.chart+xml"/>
  <Override PartName="/ppt/charts/chart23.xml" ContentType="application/vnd.openxmlformats-officedocument.drawingml.chart+xml"/>
  <Override PartName="/ppt/charts/chart24.xml" ContentType="application/vnd.openxmlformats-officedocument.drawingml.chart+xml"/>
  <Override PartName="/ppt/charts/chart25.xml" ContentType="application/vnd.openxmlformats-officedocument.drawingml.chart+xml"/>
  <Override PartName="/ppt/charts/chart26.xml" ContentType="application/vnd.openxmlformats-officedocument.drawingml.chart+xml"/>
  <Override PartName="/ppt/charts/chart27.xml" ContentType="application/vnd.openxmlformats-officedocument.drawingml.chart+xml"/>
  <Override PartName="/ppt/charts/chart28.xml" ContentType="application/vnd.openxmlformats-officedocument.drawingml.chart+xml"/>
  <Override PartName="/ppt/charts/chart29.xml" ContentType="application/vnd.openxmlformats-officedocument.drawingml.chart+xml"/>
  <Override PartName="/ppt/charts/chart3.xml" ContentType="application/vnd.openxmlformats-officedocument.drawingml.chart+xml"/>
  <Override PartName="/ppt/charts/chart30.xml" ContentType="application/vnd.openxmlformats-officedocument.drawingml.chart+xml"/>
  <Override PartName="/ppt/charts/chart31.xml" ContentType="application/vnd.openxmlformats-officedocument.drawingml.chart+xml"/>
  <Override PartName="/ppt/charts/chart32.xml" ContentType="application/vnd.openxmlformats-officedocument.drawingml.chart+xml"/>
  <Override PartName="/ppt/charts/chart33.xml" ContentType="application/vnd.openxmlformats-officedocument.drawingml.chart+xml"/>
  <Override PartName="/ppt/charts/chart34.xml" ContentType="application/vnd.openxmlformats-officedocument.drawingml.chart+xml"/>
  <Override PartName="/ppt/charts/chart35.xml" ContentType="application/vnd.openxmlformats-officedocument.drawingml.chart+xml"/>
  <Override PartName="/ppt/charts/chart36.xml" ContentType="application/vnd.openxmlformats-officedocument.drawingml.chart+xml"/>
  <Override PartName="/ppt/charts/chart37.xml" ContentType="application/vnd.openxmlformats-officedocument.drawingml.chart+xml"/>
  <Override PartName="/ppt/charts/chart38.xml" ContentType="application/vnd.openxmlformats-officedocument.drawingml.chart+xml"/>
  <Override PartName="/ppt/charts/chart39.xml" ContentType="application/vnd.openxmlformats-officedocument.drawingml.chart+xml"/>
  <Override PartName="/ppt/charts/chart4.xml" ContentType="application/vnd.openxmlformats-officedocument.drawingml.chart+xml"/>
  <Override PartName="/ppt/charts/chart40.xml" ContentType="application/vnd.openxmlformats-officedocument.drawingml.chart+xml"/>
  <Override PartName="/ppt/charts/chart41.xml" ContentType="application/vnd.openxmlformats-officedocument.drawingml.chart+xml"/>
  <Override PartName="/ppt/charts/chart42.xml" ContentType="application/vnd.openxmlformats-officedocument.drawingml.chart+xml"/>
  <Override PartName="/ppt/charts/chart43.xml" ContentType="application/vnd.openxmlformats-officedocument.drawingml.chart+xml"/>
  <Override PartName="/ppt/charts/chart44.xml" ContentType="application/vnd.openxmlformats-officedocument.drawingml.chart+xml"/>
  <Override PartName="/ppt/charts/chart45.xml" ContentType="application/vnd.openxmlformats-officedocument.drawingml.chart+xml"/>
  <Override PartName="/ppt/charts/chart46.xml" ContentType="application/vnd.openxmlformats-officedocument.drawingml.chart+xml"/>
  <Override PartName="/ppt/charts/chart47.xml" ContentType="application/vnd.openxmlformats-officedocument.drawingml.chart+xml"/>
  <Override PartName="/ppt/charts/chart48.xml" ContentType="application/vnd.openxmlformats-officedocument.drawingml.chart+xml"/>
  <Override PartName="/ppt/charts/chart49.xml" ContentType="application/vnd.openxmlformats-officedocument.drawingml.chart+xml"/>
  <Override PartName="/ppt/charts/chart5.xml" ContentType="application/vnd.openxmlformats-officedocument.drawingml.chart+xml"/>
  <Override PartName="/ppt/charts/chart50.xml" ContentType="application/vnd.openxmlformats-officedocument.drawingml.chart+xml"/>
  <Override PartName="/ppt/charts/chart51.xml" ContentType="application/vnd.openxmlformats-officedocument.drawingml.chart+xml"/>
  <Override PartName="/ppt/charts/chart52.xml" ContentType="application/vnd.openxmlformats-officedocument.drawingml.chart+xml"/>
  <Override PartName="/ppt/charts/chart53.xml" ContentType="application/vnd.openxmlformats-officedocument.drawingml.chart+xml"/>
  <Override PartName="/ppt/charts/chart54.xml" ContentType="application/vnd.openxmlformats-officedocument.drawingml.chart+xml"/>
  <Override PartName="/ppt/charts/chart55.xml" ContentType="application/vnd.openxmlformats-officedocument.drawingml.chart+xml"/>
  <Override PartName="/ppt/charts/chart56.xml" ContentType="application/vnd.openxmlformats-officedocument.drawingml.chart+xml"/>
  <Override PartName="/ppt/charts/chart57.xml" ContentType="application/vnd.openxmlformats-officedocument.drawingml.chart+xml"/>
  <Override PartName="/ppt/charts/chart58.xml" ContentType="application/vnd.openxmlformats-officedocument.drawingml.chart+xml"/>
  <Override PartName="/ppt/charts/chart59.xml" ContentType="application/vnd.openxmlformats-officedocument.drawingml.chart+xml"/>
  <Override PartName="/ppt/charts/chart6.xml" ContentType="application/vnd.openxmlformats-officedocument.drawingml.chart+xml"/>
  <Override PartName="/ppt/charts/chart60.xml" ContentType="application/vnd.openxmlformats-officedocument.drawingml.chart+xml"/>
  <Override PartName="/ppt/charts/chart61.xml" ContentType="application/vnd.openxmlformats-officedocument.drawingml.chart+xml"/>
  <Override PartName="/ppt/charts/chart62.xml" ContentType="application/vnd.openxmlformats-officedocument.drawingml.chart+xml"/>
  <Override PartName="/ppt/charts/chart63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  <p:sldId id="327" r:id="rId79"/>
    <p:sldId id="328" r:id="rId80"/>
    <p:sldId id="329" r:id="rId81"/>
    <p:sldId id="330" r:id="rId82"/>
    <p:sldId id="331" r:id="rId83"/>
    <p:sldId id="332" r:id="rId84"/>
    <p:sldId id="333" r:id="rId85"/>
    <p:sldId id="334" r:id="rId8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notesMaster" Target="notesMasters/notesMaster1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Relationship Id="rId74" Type="http://schemas.openxmlformats.org/officeDocument/2006/relationships/slide" Target="slides/slide67.xml"/><Relationship Id="rId75" Type="http://schemas.openxmlformats.org/officeDocument/2006/relationships/slide" Target="slides/slide68.xml"/><Relationship Id="rId76" Type="http://schemas.openxmlformats.org/officeDocument/2006/relationships/slide" Target="slides/slide69.xml"/><Relationship Id="rId77" Type="http://schemas.openxmlformats.org/officeDocument/2006/relationships/slide" Target="slides/slide70.xml"/><Relationship Id="rId78" Type="http://schemas.openxmlformats.org/officeDocument/2006/relationships/slide" Target="slides/slide71.xml"/><Relationship Id="rId79" Type="http://schemas.openxmlformats.org/officeDocument/2006/relationships/slide" Target="slides/slide72.xml"/><Relationship Id="rId80" Type="http://schemas.openxmlformats.org/officeDocument/2006/relationships/slide" Target="slides/slide73.xml"/><Relationship Id="rId81" Type="http://schemas.openxmlformats.org/officeDocument/2006/relationships/slide" Target="slides/slide74.xml"/><Relationship Id="rId82" Type="http://schemas.openxmlformats.org/officeDocument/2006/relationships/slide" Target="slides/slide75.xml"/><Relationship Id="rId83" Type="http://schemas.openxmlformats.org/officeDocument/2006/relationships/slide" Target="slides/slide76.xml"/><Relationship Id="rId84" Type="http://schemas.openxmlformats.org/officeDocument/2006/relationships/slide" Target="slides/slide77.xml"/><Relationship Id="rId85" Type="http://schemas.openxmlformats.org/officeDocument/2006/relationships/slide" Target="slides/slide78.xml"/><Relationship Id="rId86" Type="http://schemas.openxmlformats.org/officeDocument/2006/relationships/slide" Target="slides/slide79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varyColors val="0"/>
        <c:ser>
          <c:idx val="0"/>
          <c:order val="0"/>
          <c:tx>
            <c:strRef>
              <c:strCache>
                <c:ptCount val="1"/>
                <c:pt idx="0">
                  <c:v>Volume (MT)</c:v>
                </c:pt>
              </c:strCache>
            </c:strRef>
          </c:tx>
          <c:spPr>
            <a:solidFill>
              <a:srgbClr val="3D85C6"/>
            </a:solidFill>
            <a:ln>
              <a:noFill/>
            </a:ln>
          </c:spPr>
          <c:dLbls>
            <c:dLbl>
              <c:idx val="0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delete val="1"/>
              <c:numFmt formatCode="&quot;&quot;" sourceLinked="0"/>
            </c:dLbl>
            <c:dLbl>
              <c:idx val="2"/>
              <c:delete val="1"/>
              <c:numFmt formatCode="&quot;&quot;" sourceLinked="0"/>
            </c:dLbl>
            <c:dLbl>
              <c:idx val="3"/>
              <c:delete val="1"/>
              <c:numFmt formatCode="&quot;&quot;" sourceLinked="0"/>
            </c:dLbl>
            <c:dLbl>
              <c:idx val="4"/>
              <c:delete val="1"/>
              <c:numFmt formatCode="&quot;&quot;" sourceLinked="0"/>
            </c:dLbl>
            <c:dLbl>
              <c:idx val="5"/>
              <c:delete val="1"/>
              <c:numFmt formatCode="&quot;&quot;" sourceLinked="0"/>
            </c:dLbl>
            <c:dLbl>
              <c:idx val="6"/>
              <c:delete val="1"/>
              <c:numFmt formatCode="&quot;&quot;" sourceLinked="0"/>
            </c:dLbl>
            <c:dLbl>
              <c:idx val="7"/>
              <c:delete val="1"/>
              <c:numFmt formatCode="&quot;&quot;" sourceLinked="0"/>
            </c:dLbl>
            <c:dLbl>
              <c:idx val="8"/>
              <c:delete val="1"/>
              <c:numFmt formatCode="&quot;&quot;" sourceLinked="0"/>
            </c:dLbl>
            <c:dLbl>
              <c:idx val="9"/>
              <c:delete val="1"/>
              <c:numFmt formatCode="&quot;&quot;" sourceLinked="0"/>
            </c:dLbl>
            <c:dLbl>
              <c:idx val="10"/>
              <c:delete val="1"/>
              <c:numFmt formatCode="&quot;&quot;" sourceLinked="0"/>
            </c:dLbl>
            <c:dLbl>
              <c:idx val="11"/>
              <c:delete val="1"/>
              <c:numFmt formatCode="&quot;&quot;" sourceLinked="0"/>
            </c:dLbl>
            <c:dLbl>
              <c:idx val="12"/>
              <c:delete val="1"/>
              <c:numFmt formatCode="&quot;&quot;" sourceLinked="0"/>
            </c:dLbl>
            <c:dLbl>
              <c:idx val="13"/>
              <c:delete val="1"/>
              <c:numFmt formatCode="&quot;&quot;" sourceLinked="0"/>
            </c:dLbl>
            <c:dLbl>
              <c:idx val="14"/>
              <c:delete val="1"/>
              <c:numFmt formatCode="&quot;&quot;" sourceLinked="0"/>
            </c:dLbl>
            <c:dLbl>
              <c:idx val="15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#,##0" sourceLinked="0"/>
            <c:txPr>
              <a:bodyPr rot="0" vert="horz"/>
              <a:lstStyle/>
              <a:p>
                <a:pPr>
                  <a:defRPr sz="1100">
                    <a:solidFill>
                      <a:srgbClr val="6C7A89"/>
                    </a:solidFill>
                    <a:latin typeface="Calibri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16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  <c:pt idx="5">
                  <c:v>2026</c:v>
                </c:pt>
                <c:pt idx="6">
                  <c:v>2027</c:v>
                </c:pt>
                <c:pt idx="7">
                  <c:v>2028</c:v>
                </c:pt>
                <c:pt idx="8">
                  <c:v>2029</c:v>
                </c:pt>
                <c:pt idx="9">
                  <c:v>2030</c:v>
                </c:pt>
                <c:pt idx="10">
                  <c:v>2031</c:v>
                </c:pt>
                <c:pt idx="11">
                  <c:v>2032</c:v>
                </c:pt>
                <c:pt idx="12">
                  <c:v>2033</c:v>
                </c:pt>
                <c:pt idx="13">
                  <c:v>2034</c:v>
                </c:pt>
                <c:pt idx="14">
                  <c:v>2035</c:v>
                </c:pt>
                <c:pt idx="15">
                  <c:v>2036</c:v>
                </c:pt>
              </c:strCache>
            </c:strRef>
          </c:cat>
          <c:val>
            <c:numRef>
              <c:numCache>
                <c:formatCode>General</c:formatCode>
                <c:ptCount val="16"/>
                <c:pt idx="0">
                  <c:v>607424.963</c:v>
                </c:pt>
                <c:pt idx="1">
                  <c:v>621454.454</c:v>
                </c:pt>
                <c:pt idx="2">
                  <c:v>635807.98</c:v>
                </c:pt>
                <c:pt idx="3">
                  <c:v>650493.023</c:v>
                </c:pt>
                <c:pt idx="4">
                  <c:v>665517.243</c:v>
                </c:pt>
                <c:pt idx="5">
                  <c:v>680888.4720000001</c:v>
                </c:pt>
                <c:pt idx="6">
                  <c:v>702023.9680000001</c:v>
                </c:pt>
                <c:pt idx="7">
                  <c:v>723815.532</c:v>
                </c:pt>
                <c:pt idx="8">
                  <c:v>746283.5289999999</c:v>
                </c:pt>
                <c:pt idx="9">
                  <c:v>769448.957</c:v>
                </c:pt>
                <c:pt idx="10">
                  <c:v>793333.4639999999</c:v>
                </c:pt>
                <c:pt idx="11">
                  <c:v>817959.371</c:v>
                </c:pt>
                <c:pt idx="12">
                  <c:v>843349.692</c:v>
                </c:pt>
                <c:pt idx="13">
                  <c:v>869528.156</c:v>
                </c:pt>
                <c:pt idx="14">
                  <c:v>896519.227</c:v>
                </c:pt>
                <c:pt idx="15">
                  <c:v>924348.129</c:v>
                </c:pt>
              </c:numCache>
            </c:numRef>
          </c:val>
        </c:ser>
        <c:gapWidth val="4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6D5E1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TickMark val="out"/>
        <c:minorTickMark val="none"/>
        <c:tickLblPos val="none"/>
        <c:spPr>
          <a:ln>
            <a:solidFill>
              <a:srgbClr val="C6D5E1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latin typeface="Calibri"/>
        </a:defRPr>
      </a:pPr>
      <a:endParaRPr lang="en-US"/>
    </a:p>
  </c:txPr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varyColors val="0"/>
        <c:ser>
          <c:idx val="0"/>
          <c:order val="0"/>
          <c:tx>
            <c:strRef>
              <c:strCache>
                <c:ptCount val="1"/>
                <c:pt idx="0">
                  <c:v>CAGR</c:v>
                </c:pt>
              </c:strCache>
            </c:strRef>
          </c:tx>
          <c:spPr>
            <a:solidFill>
              <a:srgbClr val="3D85C6"/>
            </a:solidFill>
            <a:ln>
              <a:noFill/>
            </a:ln>
          </c:spPr>
          <c:dPt>
            <c:idx val="0"/>
            <c:spPr>
              <a:solidFill>
                <a:srgbClr val="9E7E0A"/>
              </a:solidFill>
            </c:spPr>
          </c:dPt>
          <c:dPt>
            <c:idx val="1"/>
            <c:spPr>
              <a:solidFill>
                <a:srgbClr val="3D85C6"/>
              </a:solidFill>
            </c:spPr>
          </c:dPt>
          <c:dLbls>
            <c:dLbl>
              <c:idx val="0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.0%" sourceLinked="0"/>
            <c:txPr>
              <a:bodyPr rot="0" vert="horz"/>
              <a:lstStyle/>
              <a:p>
                <a:pPr>
                  <a:defRPr sz="1100">
                    <a:solidFill>
                      <a:srgbClr val="2E2E2E"/>
                    </a:solidFill>
                    <a:latin typeface="Calibri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2"/>
                <c:pt idx="0">
                  <c:v>North America</c:v>
                </c:pt>
                <c:pt idx="1">
                  <c:v>U.S.</c:v>
                </c:pt>
              </c:strCache>
            </c:strRef>
          </c:cat>
          <c:val>
            <c:numRef>
              <c:numCache>
                <c:formatCode>General</c:formatCode>
                <c:ptCount val="2"/>
                <c:pt idx="0">
                  <c:v>0.03306572273902586</c:v>
                </c:pt>
                <c:pt idx="1">
                  <c:v>0.031041054362116016</c:v>
                </c:pt>
              </c:numCache>
            </c:numRef>
          </c:val>
        </c:ser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6D5E1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  <c:tickLblSkip val="1"/>
        <c:tickMarkSkip val="1"/>
      </c:catAx>
      <c:valAx>
        <c:axId val="-2113994440"/>
        <c:scaling>
          <c:max val="0.044638725697684914"/>
          <c:min val="0.0"/>
        </c:scaling>
        <c:delete/>
        <c:axPos val="b"/>
        <c:majorTickMark val="out"/>
        <c:minorTickMark val="none"/>
        <c:tickLblPos val="none"/>
        <c:spPr>
          <a:ln>
            <a:solidFill>
              <a:srgbClr val="C6D5E1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latin typeface="Calibri"/>
        </a:defRPr>
      </a:pPr>
      <a:endParaRPr lang="en-US"/>
    </a:p>
  </c:txPr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stacked"/>
        <c:varyColors val="0"/>
        <c:ser>
          <c:idx val="0"/>
          <c:order val="0"/>
          <c:tx>
            <c:strRef>
              <c:strCache>
                <c:ptCount val="1"/>
                <c:pt idx="0">
                  <c:v>base</c:v>
                </c:pt>
              </c:strCache>
            </c:strRef>
          </c:tx>
          <c:spPr>
            <a:noFill/>
            <a:ln>
              <a:noFill/>
            </a:ln>
          </c:spPr>
          <c:cat>
            <c:strRef>
              <c:strCache>
                <c:ptCount val="12"/>
                <c:pt idx="0">
                  <c:v>2026</c:v>
                </c:pt>
                <c:pt idx="1">
                  <c:v>2027</c:v>
                </c:pt>
                <c:pt idx="2">
                  <c:v>2028</c:v>
                </c:pt>
                <c:pt idx="3">
                  <c:v>2029</c:v>
                </c:pt>
                <c:pt idx="4">
                  <c:v>2030</c:v>
                </c:pt>
                <c:pt idx="5">
                  <c:v>2031</c:v>
                </c:pt>
                <c:pt idx="6">
                  <c:v>2032</c:v>
                </c:pt>
                <c:pt idx="7">
                  <c:v>2033</c:v>
                </c:pt>
                <c:pt idx="8">
                  <c:v>2034</c:v>
                </c:pt>
                <c:pt idx="9">
                  <c:v>2035</c:v>
                </c:pt>
                <c:pt idx="10">
                  <c:v>2036</c:v>
                </c:pt>
                <c:pt idx="11">
                  <c:v>2036 Total</c:v>
                </c:pt>
              </c:strCache>
            </c:strRef>
          </c:cat>
          <c:val>
            <c:numRef>
              <c:numCache>
                <c:formatCode>General</c:formatCode>
                <c:ptCount val="12"/>
                <c:pt idx="0">
                  <c:v>0.0</c:v>
                </c:pt>
                <c:pt idx="1">
                  <c:v>680888.4720000001</c:v>
                </c:pt>
                <c:pt idx="2">
                  <c:v>702023.9680000001</c:v>
                </c:pt>
                <c:pt idx="3">
                  <c:v>723815.532</c:v>
                </c:pt>
                <c:pt idx="4">
                  <c:v>746283.5289999999</c:v>
                </c:pt>
                <c:pt idx="5">
                  <c:v>769448.957</c:v>
                </c:pt>
                <c:pt idx="6">
                  <c:v>793333.4639999999</c:v>
                </c:pt>
                <c:pt idx="7">
                  <c:v>817959.371</c:v>
                </c:pt>
                <c:pt idx="8">
                  <c:v>843349.692</c:v>
                </c:pt>
                <c:pt idx="9">
                  <c:v>869528.156</c:v>
                </c:pt>
                <c:pt idx="10">
                  <c:v>896519.227</c:v>
                </c:pt>
                <c:pt idx="11">
                  <c:v>0.0</c:v>
                </c:pt>
              </c:numCache>
            </c:numRef>
          </c:val>
        </c:ser>
        <c:ser>
          <c:idx val="1"/>
          <c:order val="1"/>
          <c:tx>
            <c:strRef>
              <c:strCache>
                <c:ptCount val="1"/>
                <c:pt idx="0">
                  <c:v>value</c:v>
                </c:pt>
              </c:strCache>
            </c:strRef>
          </c:tx>
          <c:spPr/>
          <c:dPt>
            <c:idx val="0"/>
            <c:spPr>
              <a:solidFill>
                <a:srgbClr val="0E72AE"/>
              </a:solidFill>
            </c:spPr>
          </c:dPt>
          <c:dPt>
            <c:idx val="1"/>
            <c:spPr>
              <a:solidFill>
                <a:srgbClr val="008189"/>
              </a:solidFill>
            </c:spPr>
          </c:dPt>
          <c:dPt>
            <c:idx val="2"/>
            <c:spPr>
              <a:solidFill>
                <a:srgbClr val="008189"/>
              </a:solidFill>
            </c:spPr>
          </c:dPt>
          <c:dPt>
            <c:idx val="3"/>
            <c:spPr>
              <a:solidFill>
                <a:srgbClr val="008189"/>
              </a:solidFill>
            </c:spPr>
          </c:dPt>
          <c:dPt>
            <c:idx val="4"/>
            <c:spPr>
              <a:solidFill>
                <a:srgbClr val="008189"/>
              </a:solidFill>
            </c:spPr>
          </c:dPt>
          <c:dPt>
            <c:idx val="5"/>
            <c:spPr>
              <a:solidFill>
                <a:srgbClr val="008189"/>
              </a:solidFill>
            </c:spPr>
          </c:dPt>
          <c:dPt>
            <c:idx val="6"/>
            <c:spPr>
              <a:solidFill>
                <a:srgbClr val="008189"/>
              </a:solidFill>
            </c:spPr>
          </c:dPt>
          <c:dPt>
            <c:idx val="7"/>
            <c:spPr>
              <a:solidFill>
                <a:srgbClr val="008189"/>
              </a:solidFill>
            </c:spPr>
          </c:dPt>
          <c:dPt>
            <c:idx val="8"/>
            <c:spPr>
              <a:solidFill>
                <a:srgbClr val="008189"/>
              </a:solidFill>
            </c:spPr>
          </c:dPt>
          <c:dPt>
            <c:idx val="9"/>
            <c:spPr>
              <a:solidFill>
                <a:srgbClr val="008189"/>
              </a:solidFill>
            </c:spPr>
          </c:dPt>
          <c:dPt>
            <c:idx val="10"/>
            <c:spPr>
              <a:solidFill>
                <a:srgbClr val="008189"/>
              </a:solidFill>
            </c:spPr>
          </c:dPt>
          <c:dPt>
            <c:idx val="11"/>
            <c:spPr>
              <a:solidFill>
                <a:srgbClr val="0E72AE"/>
              </a:solidFill>
            </c:spPr>
          </c:dPt>
          <c:dLbls>
            <c:dLbl>
              <c:idx val="0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8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9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0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1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#,##0" sourceLinked="0"/>
            <c:txPr>
              <a:bodyPr/>
              <a:lstStyle/>
              <a:p>
                <a:pPr>
                  <a:defRPr sz="1100">
                    <a:latin typeface="Calibri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12"/>
                <c:pt idx="0">
                  <c:v>2026</c:v>
                </c:pt>
                <c:pt idx="1">
                  <c:v>2027</c:v>
                </c:pt>
                <c:pt idx="2">
                  <c:v>2028</c:v>
                </c:pt>
                <c:pt idx="3">
                  <c:v>2029</c:v>
                </c:pt>
                <c:pt idx="4">
                  <c:v>2030</c:v>
                </c:pt>
                <c:pt idx="5">
                  <c:v>2031</c:v>
                </c:pt>
                <c:pt idx="6">
                  <c:v>2032</c:v>
                </c:pt>
                <c:pt idx="7">
                  <c:v>2033</c:v>
                </c:pt>
                <c:pt idx="8">
                  <c:v>2034</c:v>
                </c:pt>
                <c:pt idx="9">
                  <c:v>2035</c:v>
                </c:pt>
                <c:pt idx="10">
                  <c:v>2036</c:v>
                </c:pt>
                <c:pt idx="11">
                  <c:v>2036 Total</c:v>
                </c:pt>
              </c:strCache>
            </c:strRef>
          </c:cat>
          <c:val>
            <c:numRef>
              <c:numCache>
                <c:formatCode>General</c:formatCode>
                <c:ptCount val="12"/>
                <c:pt idx="0">
                  <c:v>680888.4720000001</c:v>
                </c:pt>
                <c:pt idx="1">
                  <c:v>21135.496000000043</c:v>
                </c:pt>
                <c:pt idx="2">
                  <c:v>21791.563999999897</c:v>
                </c:pt>
                <c:pt idx="3">
                  <c:v>22467.996999999858</c:v>
                </c:pt>
                <c:pt idx="4">
                  <c:v>23165.42800000019</c:v>
                </c:pt>
                <c:pt idx="5">
                  <c:v>23884.506999999867</c:v>
                </c:pt>
                <c:pt idx="6">
                  <c:v>24625.907000000123</c:v>
                </c:pt>
                <c:pt idx="7">
                  <c:v>25390.320999999996</c:v>
                </c:pt>
                <c:pt idx="8">
                  <c:v>26178.46399999992</c:v>
                </c:pt>
                <c:pt idx="9">
                  <c:v>26991.070999999996</c:v>
                </c:pt>
                <c:pt idx="10">
                  <c:v>27828.902000000002</c:v>
                </c:pt>
                <c:pt idx="11">
                  <c:v>924348.129</c:v>
                </c:pt>
              </c:numCache>
            </c:numRef>
          </c:val>
        </c:ser>
        <c:gapWidth val="5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6D5E1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numFmt formatCode="#,##0" sourceLinked="0"/>
        <c:majorTickMark val="out"/>
        <c:minorTickMark val="none"/>
        <c:tickLblPos val="none"/>
        <c:spPr>
          <a:ln>
            <a:solidFill>
              <a:srgbClr val="C6D5E1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latin typeface="Calibri"/>
        </a:defRPr>
      </a:pPr>
      <a:endParaRPr lang="en-US"/>
    </a:p>
  </c:txPr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stacked"/>
        <c:varyColors val="0"/>
        <c:ser>
          <c:idx val="0"/>
          <c:order val="0"/>
          <c:tx>
            <c:strRef>
              <c:strCache>
                <c:ptCount val="1"/>
                <c:pt idx="0">
                  <c:v>U.S.</c:v>
                </c:pt>
              </c:strCache>
            </c:strRef>
          </c:tx>
          <c:spPr>
            <a:solidFill>
              <a:srgbClr val="3D85C6"/>
            </a:solidFill>
            <a:ln>
              <a:noFill/>
            </a:ln>
          </c:spPr>
          <c:dLbls>
            <c:dLbl>
              <c:idx val="0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.0&quot;%&quot;" sourceLinked="0"/>
            <c:txPr>
              <a:bodyPr rot="0" vert="horz"/>
              <a:lstStyle/>
              <a:p>
                <a:pPr>
                  <a:defRPr sz="1100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1"/>
                <c:pt idx="0">
                  <c:v>Share of North America</c:v>
                </c:pt>
              </c:strCache>
            </c:strRef>
          </c:cat>
          <c:val>
            <c:numRef>
              <c:numCache>
                <c:formatCode>General</c:formatCode>
                <c:ptCount val="1"/>
                <c:pt idx="0">
                  <c:v>72.52736212960798</c:v>
                </c:pt>
              </c:numCache>
            </c:numRef>
          </c:val>
        </c:ser>
        <c:ser>
          <c:idx val="1"/>
          <c:order val="1"/>
          <c:tx>
            <c:strRef>
              <c:strCache>
                <c:ptCount val="1"/>
                <c:pt idx="0">
                  <c:v>Rest of North America</c:v>
                </c:pt>
              </c:strCache>
            </c:strRef>
          </c:tx>
          <c:spPr>
            <a:solidFill>
              <a:srgbClr val="9E7E0A"/>
            </a:solidFill>
            <a:ln>
              <a:noFill/>
            </a:ln>
          </c:spPr>
          <c:dLbls>
            <c:dLbl>
              <c:idx val="0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.0&quot;%&quot;" sourceLinked="0"/>
            <c:txPr>
              <a:bodyPr rot="0" vert="horz"/>
              <a:lstStyle/>
              <a:p>
                <a:pPr>
                  <a:defRPr sz="1100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1"/>
                <c:pt idx="0">
                  <c:v>Share of North America</c:v>
                </c:pt>
              </c:strCache>
            </c:strRef>
          </c:cat>
          <c:val>
            <c:numRef>
              <c:numCache>
                <c:formatCode>General</c:formatCode>
                <c:ptCount val="1"/>
                <c:pt idx="0">
                  <c:v>27.47263787039202</c:v>
                </c:pt>
              </c:numCache>
            </c:numRef>
          </c:val>
        </c:ser>
        <c:gapWidth val="5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6D5E1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  <c:tickLblSkip val="1"/>
        <c:tickMarkSkip val="1"/>
      </c:catAx>
      <c:valAx>
        <c:axId val="-2113994440"/>
        <c:scaling>
          <c:max val="100.0"/>
          <c:min val="0.0"/>
        </c:scaling>
        <c:delete val="0"/>
        <c:axPos val="b"/>
        <c:numFmt formatCode="0&quot;%&quot;" sourceLinked="0"/>
        <c:majorTickMark val="out"/>
        <c:minorTickMark val="none"/>
        <c:tickLblPos val="nextTo"/>
        <c:spPr>
          <a:ln>
            <a:solidFill>
              <a:srgbClr val="C6D5E1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100"/>
          </a:pPr>
        </a:p>
      </c:txPr>
    </c:legend>
    <c:dispBlanksAs val="gap"/>
  </c:chart>
  <c:txPr>
    <a:bodyPr/>
    <a:lstStyle/>
    <a:p>
      <a:pPr>
        <a:defRPr sz="1100">
          <a:latin typeface="Calibri"/>
        </a:defRPr>
      </a:pPr>
      <a:endParaRPr lang="en-US"/>
    </a:p>
  </c:txPr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varyColors val="0"/>
        <c:ser>
          <c:idx val="0"/>
          <c:order val="0"/>
          <c:tx>
            <c:strRef>
              <c:strCache>
                <c:ptCount val="1"/>
                <c:pt idx="0">
                  <c:v>Value (US$ Mn)</c:v>
                </c:pt>
              </c:strCache>
            </c:strRef>
          </c:tx>
          <c:spPr>
            <a:solidFill>
              <a:srgbClr val="3D85C6"/>
            </a:solidFill>
            <a:ln>
              <a:noFill/>
            </a:ln>
          </c:spPr>
          <c:dLbls>
            <c:dLbl>
              <c:idx val="0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delete val="1"/>
              <c:numFmt formatCode="&quot;&quot;" sourceLinked="0"/>
            </c:dLbl>
            <c:dLbl>
              <c:idx val="2"/>
              <c:delete val="1"/>
              <c:numFmt formatCode="&quot;&quot;" sourceLinked="0"/>
            </c:dLbl>
            <c:dLbl>
              <c:idx val="3"/>
              <c:delete val="1"/>
              <c:numFmt formatCode="&quot;&quot;" sourceLinked="0"/>
            </c:dLbl>
            <c:dLbl>
              <c:idx val="4"/>
              <c:delete val="1"/>
              <c:numFmt formatCode="&quot;&quot;" sourceLinked="0"/>
            </c:dLbl>
            <c:dLbl>
              <c:idx val="5"/>
              <c:delete val="1"/>
              <c:numFmt formatCode="&quot;&quot;" sourceLinked="0"/>
            </c:dLbl>
            <c:dLbl>
              <c:idx val="6"/>
              <c:delete val="1"/>
              <c:numFmt formatCode="&quot;&quot;" sourceLinked="0"/>
            </c:dLbl>
            <c:dLbl>
              <c:idx val="7"/>
              <c:delete val="1"/>
              <c:numFmt formatCode="&quot;&quot;" sourceLinked="0"/>
            </c:dLbl>
            <c:dLbl>
              <c:idx val="8"/>
              <c:delete val="1"/>
              <c:numFmt formatCode="&quot;&quot;" sourceLinked="0"/>
            </c:dLbl>
            <c:dLbl>
              <c:idx val="9"/>
              <c:delete val="1"/>
              <c:numFmt formatCode="&quot;&quot;" sourceLinked="0"/>
            </c:dLbl>
            <c:dLbl>
              <c:idx val="10"/>
              <c:delete val="1"/>
              <c:numFmt formatCode="&quot;&quot;" sourceLinked="0"/>
            </c:dLbl>
            <c:dLbl>
              <c:idx val="11"/>
              <c:delete val="1"/>
              <c:numFmt formatCode="&quot;&quot;" sourceLinked="0"/>
            </c:dLbl>
            <c:dLbl>
              <c:idx val="12"/>
              <c:delete val="1"/>
              <c:numFmt formatCode="&quot;&quot;" sourceLinked="0"/>
            </c:dLbl>
            <c:dLbl>
              <c:idx val="13"/>
              <c:delete val="1"/>
              <c:numFmt formatCode="&quot;&quot;" sourceLinked="0"/>
            </c:dLbl>
            <c:dLbl>
              <c:idx val="14"/>
              <c:delete val="1"/>
              <c:numFmt formatCode="&quot;&quot;" sourceLinked="0"/>
            </c:dLbl>
            <c:dLbl>
              <c:idx val="15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#,##0" sourceLinked="0"/>
            <c:txPr>
              <a:bodyPr rot="0" vert="horz"/>
              <a:lstStyle/>
              <a:p>
                <a:pPr>
                  <a:defRPr sz="1100">
                    <a:solidFill>
                      <a:srgbClr val="6C7A89"/>
                    </a:solidFill>
                    <a:latin typeface="Calibri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16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  <c:pt idx="5">
                  <c:v>2026</c:v>
                </c:pt>
                <c:pt idx="6">
                  <c:v>2027</c:v>
                </c:pt>
                <c:pt idx="7">
                  <c:v>2028</c:v>
                </c:pt>
                <c:pt idx="8">
                  <c:v>2029</c:v>
                </c:pt>
                <c:pt idx="9">
                  <c:v>2030</c:v>
                </c:pt>
                <c:pt idx="10">
                  <c:v>2031</c:v>
                </c:pt>
                <c:pt idx="11">
                  <c:v>2032</c:v>
                </c:pt>
                <c:pt idx="12">
                  <c:v>2033</c:v>
                </c:pt>
                <c:pt idx="13">
                  <c:v>2034</c:v>
                </c:pt>
                <c:pt idx="14">
                  <c:v>2035</c:v>
                </c:pt>
                <c:pt idx="15">
                  <c:v>2036</c:v>
                </c:pt>
              </c:strCache>
            </c:strRef>
          </c:cat>
          <c:val>
            <c:numRef>
              <c:numCache>
                <c:formatCode>General</c:formatCode>
                <c:ptCount val="16"/>
                <c:pt idx="0">
                  <c:v>2136.262</c:v>
                </c:pt>
                <c:pt idx="1">
                  <c:v>2200.902</c:v>
                </c:pt>
                <c:pt idx="2">
                  <c:v>2267.497</c:v>
                </c:pt>
                <c:pt idx="3">
                  <c:v>2336.108</c:v>
                </c:pt>
                <c:pt idx="4">
                  <c:v>2406.795</c:v>
                </c:pt>
                <c:pt idx="5">
                  <c:v>2479.62</c:v>
                </c:pt>
                <c:pt idx="6">
                  <c:v>2574.4869999999996</c:v>
                </c:pt>
                <c:pt idx="7">
                  <c:v>2672.982</c:v>
                </c:pt>
                <c:pt idx="8">
                  <c:v>2775.246</c:v>
                </c:pt>
                <c:pt idx="9">
                  <c:v>2881.4219999999996</c:v>
                </c:pt>
                <c:pt idx="10">
                  <c:v>2991.661</c:v>
                </c:pt>
                <c:pt idx="11">
                  <c:v>3106.117</c:v>
                </c:pt>
                <c:pt idx="12">
                  <c:v>3224.952</c:v>
                </c:pt>
                <c:pt idx="13">
                  <c:v>3348.333</c:v>
                </c:pt>
                <c:pt idx="14">
                  <c:v>3476.435</c:v>
                </c:pt>
                <c:pt idx="15">
                  <c:v>3609.437</c:v>
                </c:pt>
              </c:numCache>
            </c:numRef>
          </c:val>
        </c:ser>
        <c:gapWidth val="4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6D5E1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TickMark val="out"/>
        <c:minorTickMark val="none"/>
        <c:tickLblPos val="none"/>
        <c:spPr>
          <a:ln>
            <a:solidFill>
              <a:srgbClr val="C6D5E1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latin typeface="Calibri"/>
        </a:defRPr>
      </a:pPr>
      <a:endParaRPr lang="en-US"/>
    </a:p>
  </c:txPr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varyColors val="0"/>
        <c:ser>
          <c:idx val="0"/>
          <c:order val="0"/>
          <c:tx>
            <c:strRef>
              <c:strCache>
                <c:ptCount val="1"/>
                <c:pt idx="0">
                  <c:v>CAGR</c:v>
                </c:pt>
              </c:strCache>
            </c:strRef>
          </c:tx>
          <c:spPr>
            <a:solidFill>
              <a:srgbClr val="3D85C6"/>
            </a:solidFill>
            <a:ln>
              <a:noFill/>
            </a:ln>
          </c:spPr>
          <c:dPt>
            <c:idx val="0"/>
            <c:spPr>
              <a:solidFill>
                <a:srgbClr val="9E7E0A"/>
              </a:solidFill>
            </c:spPr>
          </c:dPt>
          <c:dPt>
            <c:idx val="1"/>
            <c:spPr>
              <a:solidFill>
                <a:srgbClr val="3D85C6"/>
              </a:solidFill>
            </c:spPr>
          </c:dPt>
          <c:dLbls>
            <c:dLbl>
              <c:idx val="0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.0%" sourceLinked="0"/>
            <c:txPr>
              <a:bodyPr rot="0" vert="horz"/>
              <a:lstStyle/>
              <a:p>
                <a:pPr>
                  <a:defRPr sz="1100">
                    <a:solidFill>
                      <a:srgbClr val="2E2E2E"/>
                    </a:solidFill>
                    <a:latin typeface="Calibri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2"/>
                <c:pt idx="0">
                  <c:v>North America</c:v>
                </c:pt>
                <c:pt idx="1">
                  <c:v>U.S.</c:v>
                </c:pt>
              </c:strCache>
            </c:strRef>
          </c:cat>
          <c:val>
            <c:numRef>
              <c:numCache>
                <c:formatCode>General</c:formatCode>
                <c:ptCount val="2"/>
                <c:pt idx="0">
                  <c:v>0.04056108237174105</c:v>
                </c:pt>
                <c:pt idx="1">
                  <c:v>0.03825835240042319</c:v>
                </c:pt>
              </c:numCache>
            </c:numRef>
          </c:val>
        </c:ser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6D5E1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  <c:tickLblSkip val="1"/>
        <c:tickMarkSkip val="1"/>
      </c:catAx>
      <c:valAx>
        <c:axId val="-2113994440"/>
        <c:scaling>
          <c:max val="0.054757461201850426"/>
          <c:min val="0.0"/>
        </c:scaling>
        <c:delete/>
        <c:axPos val="b"/>
        <c:majorTickMark val="out"/>
        <c:minorTickMark val="none"/>
        <c:tickLblPos val="none"/>
        <c:spPr>
          <a:ln>
            <a:solidFill>
              <a:srgbClr val="C6D5E1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latin typeface="Calibri"/>
        </a:defRPr>
      </a:pPr>
      <a:endParaRPr lang="en-US"/>
    </a:p>
  </c:txPr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stacked"/>
        <c:varyColors val="0"/>
        <c:ser>
          <c:idx val="0"/>
          <c:order val="0"/>
          <c:tx>
            <c:strRef>
              <c:strCache>
                <c:ptCount val="1"/>
                <c:pt idx="0">
                  <c:v>base</c:v>
                </c:pt>
              </c:strCache>
            </c:strRef>
          </c:tx>
          <c:spPr>
            <a:noFill/>
            <a:ln>
              <a:noFill/>
            </a:ln>
          </c:spPr>
          <c:cat>
            <c:strRef>
              <c:strCache>
                <c:ptCount val="12"/>
                <c:pt idx="0">
                  <c:v>2026</c:v>
                </c:pt>
                <c:pt idx="1">
                  <c:v>2027</c:v>
                </c:pt>
                <c:pt idx="2">
                  <c:v>2028</c:v>
                </c:pt>
                <c:pt idx="3">
                  <c:v>2029</c:v>
                </c:pt>
                <c:pt idx="4">
                  <c:v>2030</c:v>
                </c:pt>
                <c:pt idx="5">
                  <c:v>2031</c:v>
                </c:pt>
                <c:pt idx="6">
                  <c:v>2032</c:v>
                </c:pt>
                <c:pt idx="7">
                  <c:v>2033</c:v>
                </c:pt>
                <c:pt idx="8">
                  <c:v>2034</c:v>
                </c:pt>
                <c:pt idx="9">
                  <c:v>2035</c:v>
                </c:pt>
                <c:pt idx="10">
                  <c:v>2036</c:v>
                </c:pt>
                <c:pt idx="11">
                  <c:v>2036 Total</c:v>
                </c:pt>
              </c:strCache>
            </c:strRef>
          </c:cat>
          <c:val>
            <c:numRef>
              <c:numCache>
                <c:formatCode>General</c:formatCode>
                <c:ptCount val="12"/>
                <c:pt idx="0">
                  <c:v>0.0</c:v>
                </c:pt>
                <c:pt idx="1">
                  <c:v>2479.62</c:v>
                </c:pt>
                <c:pt idx="2">
                  <c:v>2574.4869999999996</c:v>
                </c:pt>
                <c:pt idx="3">
                  <c:v>2672.982</c:v>
                </c:pt>
                <c:pt idx="4">
                  <c:v>2775.246</c:v>
                </c:pt>
                <c:pt idx="5">
                  <c:v>2881.4219999999996</c:v>
                </c:pt>
                <c:pt idx="6">
                  <c:v>2991.661</c:v>
                </c:pt>
                <c:pt idx="7">
                  <c:v>3106.117</c:v>
                </c:pt>
                <c:pt idx="8">
                  <c:v>3224.952</c:v>
                </c:pt>
                <c:pt idx="9">
                  <c:v>3348.333</c:v>
                </c:pt>
                <c:pt idx="10">
                  <c:v>3476.435</c:v>
                </c:pt>
                <c:pt idx="11">
                  <c:v>0.0</c:v>
                </c:pt>
              </c:numCache>
            </c:numRef>
          </c:val>
        </c:ser>
        <c:ser>
          <c:idx val="1"/>
          <c:order val="1"/>
          <c:tx>
            <c:strRef>
              <c:strCache>
                <c:ptCount val="1"/>
                <c:pt idx="0">
                  <c:v>value</c:v>
                </c:pt>
              </c:strCache>
            </c:strRef>
          </c:tx>
          <c:spPr/>
          <c:dPt>
            <c:idx val="0"/>
            <c:spPr>
              <a:solidFill>
                <a:srgbClr val="0E72AE"/>
              </a:solidFill>
            </c:spPr>
          </c:dPt>
          <c:dPt>
            <c:idx val="1"/>
            <c:spPr>
              <a:solidFill>
                <a:srgbClr val="008189"/>
              </a:solidFill>
            </c:spPr>
          </c:dPt>
          <c:dPt>
            <c:idx val="2"/>
            <c:spPr>
              <a:solidFill>
                <a:srgbClr val="008189"/>
              </a:solidFill>
            </c:spPr>
          </c:dPt>
          <c:dPt>
            <c:idx val="3"/>
            <c:spPr>
              <a:solidFill>
                <a:srgbClr val="008189"/>
              </a:solidFill>
            </c:spPr>
          </c:dPt>
          <c:dPt>
            <c:idx val="4"/>
            <c:spPr>
              <a:solidFill>
                <a:srgbClr val="008189"/>
              </a:solidFill>
            </c:spPr>
          </c:dPt>
          <c:dPt>
            <c:idx val="5"/>
            <c:spPr>
              <a:solidFill>
                <a:srgbClr val="008189"/>
              </a:solidFill>
            </c:spPr>
          </c:dPt>
          <c:dPt>
            <c:idx val="6"/>
            <c:spPr>
              <a:solidFill>
                <a:srgbClr val="008189"/>
              </a:solidFill>
            </c:spPr>
          </c:dPt>
          <c:dPt>
            <c:idx val="7"/>
            <c:spPr>
              <a:solidFill>
                <a:srgbClr val="008189"/>
              </a:solidFill>
            </c:spPr>
          </c:dPt>
          <c:dPt>
            <c:idx val="8"/>
            <c:spPr>
              <a:solidFill>
                <a:srgbClr val="008189"/>
              </a:solidFill>
            </c:spPr>
          </c:dPt>
          <c:dPt>
            <c:idx val="9"/>
            <c:spPr>
              <a:solidFill>
                <a:srgbClr val="008189"/>
              </a:solidFill>
            </c:spPr>
          </c:dPt>
          <c:dPt>
            <c:idx val="10"/>
            <c:spPr>
              <a:solidFill>
                <a:srgbClr val="008189"/>
              </a:solidFill>
            </c:spPr>
          </c:dPt>
          <c:dPt>
            <c:idx val="11"/>
            <c:spPr>
              <a:solidFill>
                <a:srgbClr val="0E72AE"/>
              </a:solidFill>
            </c:spPr>
          </c:dPt>
          <c:dLbls>
            <c:dLbl>
              <c:idx val="0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8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9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0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1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#,##0" sourceLinked="0"/>
            <c:txPr>
              <a:bodyPr/>
              <a:lstStyle/>
              <a:p>
                <a:pPr>
                  <a:defRPr sz="1100">
                    <a:latin typeface="Calibri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12"/>
                <c:pt idx="0">
                  <c:v>2026</c:v>
                </c:pt>
                <c:pt idx="1">
                  <c:v>2027</c:v>
                </c:pt>
                <c:pt idx="2">
                  <c:v>2028</c:v>
                </c:pt>
                <c:pt idx="3">
                  <c:v>2029</c:v>
                </c:pt>
                <c:pt idx="4">
                  <c:v>2030</c:v>
                </c:pt>
                <c:pt idx="5">
                  <c:v>2031</c:v>
                </c:pt>
                <c:pt idx="6">
                  <c:v>2032</c:v>
                </c:pt>
                <c:pt idx="7">
                  <c:v>2033</c:v>
                </c:pt>
                <c:pt idx="8">
                  <c:v>2034</c:v>
                </c:pt>
                <c:pt idx="9">
                  <c:v>2035</c:v>
                </c:pt>
                <c:pt idx="10">
                  <c:v>2036</c:v>
                </c:pt>
                <c:pt idx="11">
                  <c:v>2036 Total</c:v>
                </c:pt>
              </c:strCache>
            </c:strRef>
          </c:cat>
          <c:val>
            <c:numRef>
              <c:numCache>
                <c:formatCode>General</c:formatCode>
                <c:ptCount val="12"/>
                <c:pt idx="0">
                  <c:v>2479.62</c:v>
                </c:pt>
                <c:pt idx="1">
                  <c:v>94.86699999999973</c:v>
                </c:pt>
                <c:pt idx="2">
                  <c:v>98.49500000000035</c:v>
                </c:pt>
                <c:pt idx="3">
                  <c:v>102.26400000000012</c:v>
                </c:pt>
                <c:pt idx="4">
                  <c:v>106.17599999999948</c:v>
                </c:pt>
                <c:pt idx="5">
                  <c:v>110.23900000000049</c:v>
                </c:pt>
                <c:pt idx="6">
                  <c:v>114.45600000000013</c:v>
                </c:pt>
                <c:pt idx="7">
                  <c:v>118.83500000000004</c:v>
                </c:pt>
                <c:pt idx="8">
                  <c:v>123.38099999999986</c:v>
                </c:pt>
                <c:pt idx="9">
                  <c:v>128.10199999999986</c:v>
                </c:pt>
                <c:pt idx="10">
                  <c:v>133.00199999999995</c:v>
                </c:pt>
                <c:pt idx="11">
                  <c:v>3609.437</c:v>
                </c:pt>
              </c:numCache>
            </c:numRef>
          </c:val>
        </c:ser>
        <c:gapWidth val="5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6D5E1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numFmt formatCode="#,##0" sourceLinked="0"/>
        <c:majorTickMark val="out"/>
        <c:minorTickMark val="none"/>
        <c:tickLblPos val="none"/>
        <c:spPr>
          <a:ln>
            <a:solidFill>
              <a:srgbClr val="C6D5E1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latin typeface="Calibri"/>
        </a:defRPr>
      </a:pPr>
      <a:endParaRPr lang="en-US"/>
    </a:p>
  </c:txPr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stacked"/>
        <c:varyColors val="0"/>
        <c:ser>
          <c:idx val="0"/>
          <c:order val="0"/>
          <c:tx>
            <c:strRef>
              <c:strCache>
                <c:ptCount val="1"/>
                <c:pt idx="0">
                  <c:v>U.S.</c:v>
                </c:pt>
              </c:strCache>
            </c:strRef>
          </c:tx>
          <c:spPr>
            <a:solidFill>
              <a:srgbClr val="3D85C6"/>
            </a:solidFill>
            <a:ln>
              <a:noFill/>
            </a:ln>
          </c:spPr>
          <c:dLbls>
            <c:dLbl>
              <c:idx val="0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.0&quot;%&quot;" sourceLinked="0"/>
            <c:txPr>
              <a:bodyPr rot="0" vert="horz"/>
              <a:lstStyle/>
              <a:p>
                <a:pPr>
                  <a:defRPr sz="1100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1"/>
                <c:pt idx="0">
                  <c:v>Share of North America</c:v>
                </c:pt>
              </c:strCache>
            </c:strRef>
          </c:cat>
          <c:val>
            <c:numRef>
              <c:numCache>
                <c:formatCode>General</c:formatCode>
                <c:ptCount val="1"/>
                <c:pt idx="0">
                  <c:v>68.93577981651376</c:v>
                </c:pt>
              </c:numCache>
            </c:numRef>
          </c:val>
        </c:ser>
        <c:ser>
          <c:idx val="1"/>
          <c:order val="1"/>
          <c:tx>
            <c:strRef>
              <c:strCache>
                <c:ptCount val="1"/>
                <c:pt idx="0">
                  <c:v>Rest of North America</c:v>
                </c:pt>
              </c:strCache>
            </c:strRef>
          </c:tx>
          <c:spPr>
            <a:solidFill>
              <a:srgbClr val="9E7E0A"/>
            </a:solidFill>
            <a:ln>
              <a:noFill/>
            </a:ln>
          </c:spPr>
          <c:dLbls>
            <c:dLbl>
              <c:idx val="0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.0&quot;%&quot;" sourceLinked="0"/>
            <c:txPr>
              <a:bodyPr rot="0" vert="horz"/>
              <a:lstStyle/>
              <a:p>
                <a:pPr>
                  <a:defRPr sz="1100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1"/>
                <c:pt idx="0">
                  <c:v>Share of North America</c:v>
                </c:pt>
              </c:strCache>
            </c:strRef>
          </c:cat>
          <c:val>
            <c:numRef>
              <c:numCache>
                <c:formatCode>General</c:formatCode>
                <c:ptCount val="1"/>
                <c:pt idx="0">
                  <c:v>31.064220183486242</c:v>
                </c:pt>
              </c:numCache>
            </c:numRef>
          </c:val>
        </c:ser>
        <c:gapWidth val="5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6D5E1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  <c:tickLblSkip val="1"/>
        <c:tickMarkSkip val="1"/>
      </c:catAx>
      <c:valAx>
        <c:axId val="-2113994440"/>
        <c:scaling>
          <c:max val="100.0"/>
          <c:min val="0.0"/>
        </c:scaling>
        <c:delete val="0"/>
        <c:axPos val="b"/>
        <c:numFmt formatCode="0&quot;%&quot;" sourceLinked="0"/>
        <c:majorTickMark val="out"/>
        <c:minorTickMark val="none"/>
        <c:tickLblPos val="nextTo"/>
        <c:spPr>
          <a:ln>
            <a:solidFill>
              <a:srgbClr val="C6D5E1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100"/>
          </a:pPr>
        </a:p>
      </c:txPr>
    </c:legend>
    <c:dispBlanksAs val="gap"/>
  </c:chart>
  <c:txPr>
    <a:bodyPr/>
    <a:lstStyle/>
    <a:p>
      <a:pPr>
        <a:defRPr sz="1100">
          <a:latin typeface="Calibri"/>
        </a:defRPr>
      </a:pPr>
      <a:endParaRPr lang="en-US"/>
    </a:p>
  </c:txPr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varyColors val="0"/>
        <c:ser>
          <c:idx val="0"/>
          <c:order val="0"/>
          <c:tx>
            <c:strRef>
              <c:strCache>
                <c:ptCount val="1"/>
                <c:pt idx="0">
                  <c:v>Series</c:v>
                </c:pt>
              </c:strCache>
            </c:strRef>
          </c:tx>
          <c:spPr>
            <a:solidFill>
              <a:srgbClr val="3D85C6"/>
            </a:solidFill>
            <a:ln>
              <a:noFill/>
            </a:ln>
          </c:spPr>
          <c:dPt>
            <c:idx val="0"/>
            <c:spPr>
              <a:solidFill>
                <a:srgbClr val="FFFFFF"/>
              </a:solidFill>
            </c:spPr>
          </c:dPt>
          <c:dPt>
            <c:idx val="1"/>
            <c:spPr>
              <a:solidFill>
                <a:srgbClr val="FFFFFF"/>
              </a:solidFill>
            </c:spPr>
          </c:dPt>
          <c:dPt>
            <c:idx val="2"/>
            <c:spPr>
              <a:solidFill>
                <a:srgbClr val="FFFFFF"/>
              </a:solidFill>
            </c:spPr>
          </c:dPt>
          <c:dPt>
            <c:idx val="3"/>
            <c:spPr>
              <a:solidFill>
                <a:srgbClr val="FFFFFF"/>
              </a:solidFill>
            </c:spPr>
          </c:dPt>
          <c:dPt>
            <c:idx val="4"/>
            <c:spPr>
              <a:solidFill>
                <a:srgbClr val="FFFFFF"/>
              </a:solidFill>
            </c:spPr>
          </c:dPt>
          <c:dPt>
            <c:idx val="5"/>
            <c:spPr>
              <a:solidFill>
                <a:srgbClr val="FFFFFF"/>
              </a:solidFill>
            </c:spPr>
          </c:dPt>
          <c:dPt>
            <c:idx val="6"/>
            <c:spPr>
              <a:solidFill>
                <a:srgbClr val="9EC6DE"/>
              </a:solidFill>
            </c:spPr>
          </c:dPt>
          <c:dPt>
            <c:idx val="7"/>
            <c:spPr>
              <a:solidFill>
                <a:srgbClr val="0E72AE"/>
              </a:solidFill>
            </c:spPr>
          </c:dPt>
          <c:dLbls>
            <c:dLbl>
              <c:idx val="6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#,##0" sourceLinked="0"/>
            <c:txPr>
              <a:bodyPr rot="0" vert="horz"/>
              <a:lstStyle/>
              <a:p>
                <a:pPr>
                  <a:defRPr sz="1100">
                    <a:latin typeface="Calibri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8"/>
                <c:pt idx="0">
                  <c:v> </c:v>
                </c:pt>
                <c:pt idx="1">
                  <c:v>  </c:v>
                </c:pt>
                <c:pt idx="2">
                  <c:v>   </c:v>
                </c:pt>
                <c:pt idx="3">
                  <c:v>    </c:v>
                </c:pt>
                <c:pt idx="4">
                  <c:v>     </c:v>
                </c:pt>
                <c:pt idx="5">
                  <c:v>      </c:v>
                </c:pt>
                <c:pt idx="6">
                  <c:v>Savoury muffins</c:v>
                </c:pt>
                <c:pt idx="7">
                  <c:v>Sweet muffins</c:v>
                </c:pt>
              </c:strCache>
            </c:strRef>
          </c:cat>
          <c:val>
            <c:numRef>
              <c:numCache>
                <c:formatCode>General</c:formatCode>
                <c:ptCount val="8"/>
                <c:pt idx="6">
                  <c:v>1128.777</c:v>
                </c:pt>
                <c:pt idx="7">
                  <c:v>1350.843</c:v>
                </c:pt>
              </c:numCache>
            </c:numRef>
          </c:val>
        </c:ser>
        <c:dLbls>
          <c:numFmt formatCode="#,##0" sourceLinked="0"/>
          <c:txPr>
            <a:bodyPr rot="0" vert="horz"/>
            <a:lstStyle/>
            <a:p>
              <a:pPr>
                <a:defRPr sz="1100">
                  <a:latin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  <c:tickLblSkip val="1"/>
        <c:tickMarkSkip val="1"/>
      </c:catAx>
      <c:valAx>
        <c:axId val="-2113994440"/>
        <c:scaling>
          <c:max val="1810.1296200000002"/>
          <c:min val="0.0"/>
        </c:scaling>
        <c:delete val="0"/>
        <c:axPos val="b"/>
        <c:numFmt formatCode="#,##0" sourceLinked="0"/>
        <c:majorTickMark val="none"/>
        <c:minorTickMark val="none"/>
        <c:tickLblPos val="none"/>
        <c:spPr>
          <a:ln>
            <a:noFill/>
          </a:ln>
        </c:spPr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latin typeface="Calibri"/>
        </a:defRPr>
      </a:pPr>
      <a:endParaRPr lang="en-US"/>
    </a:p>
  </c:txPr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varyColors val="0"/>
        <c:ser>
          <c:idx val="0"/>
          <c:order val="0"/>
          <c:tx>
            <c:strRef>
              <c:strCache>
                <c:ptCount val="1"/>
                <c:pt idx="0">
                  <c:v>Series</c:v>
                </c:pt>
              </c:strCache>
            </c:strRef>
          </c:tx>
          <c:spPr>
            <a:solidFill>
              <a:srgbClr val="3D85C6"/>
            </a:solidFill>
            <a:ln>
              <a:noFill/>
            </a:ln>
          </c:spPr>
          <c:dPt>
            <c:idx val="0"/>
            <c:spPr>
              <a:solidFill>
                <a:srgbClr val="FFFFFF"/>
              </a:solidFill>
            </c:spPr>
          </c:dPt>
          <c:dPt>
            <c:idx val="1"/>
            <c:spPr>
              <a:solidFill>
                <a:srgbClr val="FFFFFF"/>
              </a:solidFill>
            </c:spPr>
          </c:dPt>
          <c:dPt>
            <c:idx val="2"/>
            <c:spPr>
              <a:solidFill>
                <a:srgbClr val="FFFFFF"/>
              </a:solidFill>
            </c:spPr>
          </c:dPt>
          <c:dPt>
            <c:idx val="3"/>
            <c:spPr>
              <a:solidFill>
                <a:srgbClr val="FFFFFF"/>
              </a:solidFill>
            </c:spPr>
          </c:dPt>
          <c:dPt>
            <c:idx val="4"/>
            <c:spPr>
              <a:solidFill>
                <a:srgbClr val="FFFFFF"/>
              </a:solidFill>
            </c:spPr>
          </c:dPt>
          <c:dPt>
            <c:idx val="5"/>
            <c:spPr>
              <a:solidFill>
                <a:srgbClr val="FFFFFF"/>
              </a:solidFill>
            </c:spPr>
          </c:dPt>
          <c:dPt>
            <c:idx val="6"/>
            <c:spPr>
              <a:solidFill>
                <a:srgbClr val="9DABB6"/>
              </a:solidFill>
            </c:spPr>
          </c:dPt>
          <c:dPt>
            <c:idx val="7"/>
            <c:spPr>
              <a:solidFill>
                <a:srgbClr val="0B2E4A"/>
              </a:solidFill>
            </c:spPr>
          </c:dPt>
          <c:dLbls>
            <c:dLbl>
              <c:idx val="6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#,##0" sourceLinked="0"/>
            <c:txPr>
              <a:bodyPr rot="0" vert="horz"/>
              <a:lstStyle/>
              <a:p>
                <a:pPr>
                  <a:defRPr sz="1100">
                    <a:latin typeface="Calibri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8"/>
                <c:pt idx="0">
                  <c:v> </c:v>
                </c:pt>
                <c:pt idx="1">
                  <c:v>  </c:v>
                </c:pt>
                <c:pt idx="2">
                  <c:v>   </c:v>
                </c:pt>
                <c:pt idx="3">
                  <c:v>    </c:v>
                </c:pt>
                <c:pt idx="4">
                  <c:v>     </c:v>
                </c:pt>
                <c:pt idx="5">
                  <c:v>      </c:v>
                </c:pt>
                <c:pt idx="6">
                  <c:v>Savoury Muffins Flavo…</c:v>
                </c:pt>
                <c:pt idx="7">
                  <c:v>Sweet Muffins Flavours</c:v>
                </c:pt>
              </c:strCache>
            </c:strRef>
          </c:cat>
          <c:val>
            <c:numRef>
              <c:numCache>
                <c:formatCode>General</c:formatCode>
                <c:ptCount val="8"/>
                <c:pt idx="6">
                  <c:v>1023.264</c:v>
                </c:pt>
                <c:pt idx="7">
                  <c:v>1456.356</c:v>
                </c:pt>
              </c:numCache>
            </c:numRef>
          </c:val>
        </c:ser>
        <c:dLbls>
          <c:numFmt formatCode="#,##0" sourceLinked="0"/>
          <c:txPr>
            <a:bodyPr rot="0" vert="horz"/>
            <a:lstStyle/>
            <a:p>
              <a:pPr>
                <a:defRPr sz="1100">
                  <a:latin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  <c:tickLblSkip val="1"/>
        <c:tickMarkSkip val="1"/>
      </c:catAx>
      <c:valAx>
        <c:axId val="-2113994440"/>
        <c:scaling>
          <c:max val="1951.5170400000002"/>
          <c:min val="0.0"/>
        </c:scaling>
        <c:delete val="0"/>
        <c:axPos val="b"/>
        <c:numFmt formatCode="#,##0" sourceLinked="0"/>
        <c:majorTickMark val="none"/>
        <c:minorTickMark val="none"/>
        <c:tickLblPos val="none"/>
        <c:spPr>
          <a:ln>
            <a:noFill/>
          </a:ln>
        </c:spPr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latin typeface="Calibri"/>
        </a:defRPr>
      </a:pPr>
      <a:endParaRPr lang="en-US"/>
    </a:p>
  </c:txPr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varyColors val="0"/>
        <c:ser>
          <c:idx val="0"/>
          <c:order val="0"/>
          <c:tx>
            <c:strRef>
              <c:strCache>
                <c:ptCount val="1"/>
                <c:pt idx="0">
                  <c:v>Series</c:v>
                </c:pt>
              </c:strCache>
            </c:strRef>
          </c:tx>
          <c:spPr>
            <a:solidFill>
              <a:srgbClr val="3D85C6"/>
            </a:solidFill>
            <a:ln>
              <a:noFill/>
            </a:ln>
          </c:spPr>
          <c:dPt>
            <c:idx val="0"/>
            <c:spPr>
              <a:solidFill>
                <a:srgbClr val="C5B1E6"/>
              </a:solidFill>
            </c:spPr>
          </c:dPt>
          <c:dPt>
            <c:idx val="1"/>
            <c:spPr>
              <a:solidFill>
                <a:srgbClr val="B9A0E1"/>
              </a:solidFill>
            </c:spPr>
          </c:dPt>
          <c:dPt>
            <c:idx val="2"/>
            <c:spPr>
              <a:solidFill>
                <a:srgbClr val="AC8FDC"/>
              </a:solidFill>
            </c:spPr>
          </c:dPt>
          <c:dPt>
            <c:idx val="3"/>
            <c:spPr>
              <a:solidFill>
                <a:srgbClr val="A07ED6"/>
              </a:solidFill>
            </c:spPr>
          </c:dPt>
          <c:dPt>
            <c:idx val="4"/>
            <c:spPr>
              <a:solidFill>
                <a:srgbClr val="946ED1"/>
              </a:solidFill>
            </c:spPr>
          </c:dPt>
          <c:dPt>
            <c:idx val="5"/>
            <c:spPr>
              <a:solidFill>
                <a:srgbClr val="875DCC"/>
              </a:solidFill>
            </c:spPr>
          </c:dPt>
          <c:dPt>
            <c:idx val="6"/>
            <c:spPr>
              <a:solidFill>
                <a:srgbClr val="7B4CC7"/>
              </a:solidFill>
            </c:spPr>
          </c:dPt>
          <c:dPt>
            <c:idx val="7"/>
            <c:spPr>
              <a:solidFill>
                <a:srgbClr val="6F3CC2"/>
              </a:solidFill>
            </c:spPr>
          </c:dPt>
          <c:dLbls>
            <c:dLbl>
              <c:idx val="0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#,##0" sourceLinked="0"/>
            <c:txPr>
              <a:bodyPr rot="0" vert="horz"/>
              <a:lstStyle/>
              <a:p>
                <a:pPr>
                  <a:defRPr sz="1100">
                    <a:latin typeface="Calibri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8"/>
                <c:pt idx="0">
                  <c:v>Almond and other nut…</c:v>
                </c:pt>
                <c:pt idx="1">
                  <c:v>Millet-based</c:v>
                </c:pt>
                <c:pt idx="2">
                  <c:v>Multigrain and blende…</c:v>
                </c:pt>
                <c:pt idx="3">
                  <c:v>Other single-flour ba…</c:v>
                </c:pt>
                <c:pt idx="4">
                  <c:v>Corn-based</c:v>
                </c:pt>
                <c:pt idx="5">
                  <c:v>Rice-based</c:v>
                </c:pt>
                <c:pt idx="6">
                  <c:v>Wheat-based</c:v>
                </c:pt>
                <c:pt idx="7">
                  <c:v>Oat-based</c:v>
                </c:pt>
              </c:strCache>
            </c:strRef>
          </c:cat>
          <c:val>
            <c:numRef>
              <c:numCache>
                <c:formatCode>General</c:formatCode>
                <c:ptCount val="8"/>
                <c:pt idx="0">
                  <c:v>82.645</c:v>
                </c:pt>
                <c:pt idx="1">
                  <c:v>170.703</c:v>
                </c:pt>
                <c:pt idx="2">
                  <c:v>192.052</c:v>
                </c:pt>
                <c:pt idx="3">
                  <c:v>320.454</c:v>
                </c:pt>
                <c:pt idx="4">
                  <c:v>351.552</c:v>
                </c:pt>
                <c:pt idx="5">
                  <c:v>395.679</c:v>
                </c:pt>
                <c:pt idx="6">
                  <c:v>433.775</c:v>
                </c:pt>
                <c:pt idx="7">
                  <c:v>532.76</c:v>
                </c:pt>
              </c:numCache>
            </c:numRef>
          </c:val>
        </c:ser>
        <c:dLbls>
          <c:numFmt formatCode="#,##0" sourceLinked="0"/>
          <c:txPr>
            <a:bodyPr rot="0" vert="horz"/>
            <a:lstStyle/>
            <a:p>
              <a:pPr>
                <a:defRPr sz="1100">
                  <a:latin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  <c:tickLblSkip val="1"/>
        <c:tickMarkSkip val="1"/>
      </c:catAx>
      <c:valAx>
        <c:axId val="-2113994440"/>
        <c:scaling>
          <c:max val="713.8984"/>
          <c:min val="0.0"/>
        </c:scaling>
        <c:delete val="0"/>
        <c:axPos val="b"/>
        <c:majorTickMark val="none"/>
        <c:minorTickMark val="none"/>
        <c:tickLblPos val="none"/>
        <c:spPr>
          <a:ln>
            <a:noFill/>
          </a:ln>
        </c:spPr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latin typeface="Calibri"/>
        </a:defRPr>
      </a:pPr>
      <a:endParaRPr lang="en-US"/>
    </a:p>
  </c:txPr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varyColors val="0"/>
        <c:ser>
          <c:idx val="0"/>
          <c:order val="0"/>
          <c:tx>
            <c:strRef>
              <c:strCache>
                <c:ptCount val="1"/>
                <c:pt idx="0">
                  <c:v>Series</c:v>
                </c:pt>
              </c:strCache>
            </c:strRef>
          </c:tx>
          <c:spPr>
            <a:solidFill>
              <a:srgbClr val="3D85C6"/>
            </a:solidFill>
            <a:ln>
              <a:noFill/>
            </a:ln>
          </c:spPr>
          <c:dPt>
            <c:idx val="0"/>
            <c:spPr>
              <a:solidFill>
                <a:srgbClr val="FFFFFF"/>
              </a:solidFill>
            </c:spPr>
          </c:dPt>
          <c:dPt>
            <c:idx val="1"/>
            <c:spPr>
              <a:solidFill>
                <a:srgbClr val="FFFFFF"/>
              </a:solidFill>
            </c:spPr>
          </c:dPt>
          <c:dPt>
            <c:idx val="2"/>
            <c:spPr>
              <a:solidFill>
                <a:srgbClr val="FFFFFF"/>
              </a:solidFill>
            </c:spPr>
          </c:dPt>
          <c:dPt>
            <c:idx val="3"/>
            <c:spPr>
              <a:solidFill>
                <a:srgbClr val="FFFFFF"/>
              </a:solidFill>
            </c:spPr>
          </c:dPt>
          <c:dPt>
            <c:idx val="4"/>
            <c:spPr>
              <a:solidFill>
                <a:srgbClr val="DABAA0"/>
              </a:solidFill>
            </c:spPr>
          </c:dPt>
          <c:dPt>
            <c:idx val="5"/>
            <c:spPr>
              <a:solidFill>
                <a:srgbClr val="C79771"/>
              </a:solidFill>
            </c:spPr>
          </c:dPt>
          <c:dPt>
            <c:idx val="6"/>
            <c:spPr>
              <a:solidFill>
                <a:srgbClr val="B57542"/>
              </a:solidFill>
            </c:spPr>
          </c:dPt>
          <c:dPt>
            <c:idx val="7"/>
            <c:spPr>
              <a:solidFill>
                <a:srgbClr val="A35313"/>
              </a:solidFill>
            </c:spPr>
          </c:dPt>
          <c:dLbls>
            <c:dLbl>
              <c:idx val="4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#,##0" sourceLinked="0"/>
            <c:txPr>
              <a:bodyPr rot="0" vert="horz"/>
              <a:lstStyle/>
              <a:p>
                <a:pPr>
                  <a:defRPr sz="1100">
                    <a:latin typeface="Calibri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8"/>
                <c:pt idx="0">
                  <c:v> </c:v>
                </c:pt>
                <c:pt idx="1">
                  <c:v>  </c:v>
                </c:pt>
                <c:pt idx="2">
                  <c:v>   </c:v>
                </c:pt>
                <c:pt idx="3">
                  <c:v>    </c:v>
                </c:pt>
                <c:pt idx="4">
                  <c:v>Vegan</c:v>
                </c:pt>
                <c:pt idx="5">
                  <c:v>Conventional</c:v>
                </c:pt>
                <c:pt idx="6">
                  <c:v>and vegan</c:v>
                </c:pt>
                <c:pt idx="7">
                  <c:v>(base)</c:v>
                </c:pt>
              </c:strCache>
            </c:strRef>
          </c:cat>
          <c:val>
            <c:numRef>
              <c:numCache>
                <c:formatCode>General</c:formatCode>
                <c:ptCount val="8"/>
                <c:pt idx="4">
                  <c:v>182.44</c:v>
                </c:pt>
                <c:pt idx="5">
                  <c:v>416.113</c:v>
                </c:pt>
                <c:pt idx="6">
                  <c:v>764.555</c:v>
                </c:pt>
                <c:pt idx="7">
                  <c:v>1116.512</c:v>
                </c:pt>
              </c:numCache>
            </c:numRef>
          </c:val>
        </c:ser>
        <c:dLbls>
          <c:numFmt formatCode="#,##0" sourceLinked="0"/>
          <c:txPr>
            <a:bodyPr rot="0" vert="horz"/>
            <a:lstStyle/>
            <a:p>
              <a:pPr>
                <a:defRPr sz="1100">
                  <a:latin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  <c:tickLblSkip val="1"/>
        <c:tickMarkSkip val="1"/>
      </c:catAx>
      <c:valAx>
        <c:axId val="-2113994440"/>
        <c:scaling>
          <c:max val="1496.12608"/>
          <c:min val="0.0"/>
        </c:scaling>
        <c:delete val="0"/>
        <c:axPos val="b"/>
        <c:numFmt formatCode="#,##0" sourceLinked="0"/>
        <c:majorTickMark val="none"/>
        <c:minorTickMark val="none"/>
        <c:tickLblPos val="none"/>
        <c:spPr>
          <a:ln>
            <a:noFill/>
          </a:ln>
        </c:spPr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latin typeface="Calibri"/>
        </a:defRPr>
      </a:pPr>
      <a:endParaRPr lang="en-US"/>
    </a:p>
  </c:txPr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varyColors val="0"/>
        <c:ser>
          <c:idx val="0"/>
          <c:order val="0"/>
          <c:tx>
            <c:strRef>
              <c:strCache>
                <c:ptCount val="1"/>
                <c:pt idx="0">
                  <c:v>Series</c:v>
                </c:pt>
              </c:strCache>
            </c:strRef>
          </c:tx>
          <c:spPr>
            <a:solidFill>
              <a:srgbClr val="3D85C6"/>
            </a:solidFill>
            <a:ln>
              <a:noFill/>
            </a:ln>
          </c:spPr>
          <c:dPt>
            <c:idx val="0"/>
            <c:spPr>
              <a:solidFill>
                <a:srgbClr val="FFFFFF"/>
              </a:solidFill>
            </c:spPr>
          </c:dPt>
          <c:dPt>
            <c:idx val="1"/>
            <c:spPr>
              <a:solidFill>
                <a:srgbClr val="DCC599"/>
              </a:solidFill>
            </c:spPr>
          </c:dPt>
          <c:dPt>
            <c:idx val="2"/>
            <c:spPr>
              <a:solidFill>
                <a:srgbClr val="D3B77F"/>
              </a:solidFill>
            </c:spPr>
          </c:dPt>
          <c:dPt>
            <c:idx val="3"/>
            <c:spPr>
              <a:solidFill>
                <a:srgbClr val="CAA865"/>
              </a:solidFill>
            </c:spPr>
          </c:dPt>
          <c:dPt>
            <c:idx val="4"/>
            <c:spPr>
              <a:solidFill>
                <a:srgbClr val="C29A4C"/>
              </a:solidFill>
            </c:spPr>
          </c:dPt>
          <c:dPt>
            <c:idx val="5"/>
            <c:spPr>
              <a:solidFill>
                <a:srgbClr val="B98B32"/>
              </a:solidFill>
            </c:spPr>
          </c:dPt>
          <c:dPt>
            <c:idx val="6"/>
            <c:spPr>
              <a:solidFill>
                <a:srgbClr val="B07D19"/>
              </a:solidFill>
            </c:spPr>
          </c:dPt>
          <c:dPt>
            <c:idx val="7"/>
            <c:spPr>
              <a:solidFill>
                <a:srgbClr val="A86F00"/>
              </a:solidFill>
            </c:spPr>
          </c:dPt>
          <c:dLbls>
            <c:dLbl>
              <c:idx val="1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#,##0" sourceLinked="0"/>
            <c:txPr>
              <a:bodyPr rot="0" vert="horz"/>
              <a:lstStyle/>
              <a:p>
                <a:pPr>
                  <a:defRPr sz="1100">
                    <a:latin typeface="Calibri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8"/>
                <c:pt idx="0">
                  <c:v> </c:v>
                </c:pt>
                <c:pt idx="1">
                  <c:v>Fibre-enriched</c:v>
                </c:pt>
                <c:pt idx="2">
                  <c:v>No-added-sugar</c:v>
                </c:pt>
                <c:pt idx="3">
                  <c:v>Reduced-fat</c:v>
                </c:pt>
                <c:pt idx="4">
                  <c:v>Other nutrition-focus…</c:v>
                </c:pt>
                <c:pt idx="5">
                  <c:v>Reduced-sugar</c:v>
                </c:pt>
                <c:pt idx="6">
                  <c:v>Standard / indulgent</c:v>
                </c:pt>
                <c:pt idx="7">
                  <c:v>Protein-enriched</c:v>
                </c:pt>
              </c:strCache>
            </c:strRef>
          </c:cat>
          <c:val>
            <c:numRef>
              <c:numCache>
                <c:formatCode>General</c:formatCode>
                <c:ptCount val="8"/>
                <c:pt idx="1">
                  <c:v>71.611</c:v>
                </c:pt>
                <c:pt idx="2">
                  <c:v>204.547</c:v>
                </c:pt>
                <c:pt idx="3">
                  <c:v>345.455</c:v>
                </c:pt>
                <c:pt idx="4">
                  <c:v>379.075</c:v>
                </c:pt>
                <c:pt idx="5">
                  <c:v>439.16</c:v>
                </c:pt>
                <c:pt idx="6">
                  <c:v>446.073</c:v>
                </c:pt>
                <c:pt idx="7">
                  <c:v>593.699</c:v>
                </c:pt>
              </c:numCache>
            </c:numRef>
          </c:val>
        </c:ser>
        <c:dLbls>
          <c:numFmt formatCode="#,##0" sourceLinked="0"/>
          <c:txPr>
            <a:bodyPr rot="0" vert="horz"/>
            <a:lstStyle/>
            <a:p>
              <a:pPr>
                <a:defRPr sz="1100">
                  <a:latin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  <c:tickLblSkip val="1"/>
        <c:tickMarkSkip val="1"/>
      </c:catAx>
      <c:valAx>
        <c:axId val="-2113994440"/>
        <c:scaling>
          <c:max val="795.55666"/>
          <c:min val="0.0"/>
        </c:scaling>
        <c:delete val="0"/>
        <c:axPos val="b"/>
        <c:majorTickMark val="none"/>
        <c:minorTickMark val="none"/>
        <c:tickLblPos val="none"/>
        <c:spPr>
          <a:ln>
            <a:noFill/>
          </a:ln>
        </c:spPr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latin typeface="Calibri"/>
        </a:defRPr>
      </a:pPr>
      <a:endParaRPr lang="en-US"/>
    </a:p>
  </c:txPr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varyColors val="0"/>
        <c:ser>
          <c:idx val="0"/>
          <c:order val="0"/>
          <c:tx>
            <c:strRef>
              <c:strCache>
                <c:ptCount val="1"/>
                <c:pt idx="0">
                  <c:v>Series</c:v>
                </c:pt>
              </c:strCache>
            </c:strRef>
          </c:tx>
          <c:spPr>
            <a:solidFill>
              <a:srgbClr val="3D85C6"/>
            </a:solidFill>
            <a:ln>
              <a:noFill/>
            </a:ln>
          </c:spPr>
          <c:dPt>
            <c:idx val="0"/>
            <c:spPr>
              <a:solidFill>
                <a:srgbClr val="FFFFFF"/>
              </a:solidFill>
            </c:spPr>
          </c:dPt>
          <c:dPt>
            <c:idx val="1"/>
            <c:spPr>
              <a:solidFill>
                <a:srgbClr val="FFFFFF"/>
              </a:solidFill>
            </c:spPr>
          </c:dPt>
          <c:dPt>
            <c:idx val="2"/>
            <c:spPr>
              <a:solidFill>
                <a:srgbClr val="FFFFFF"/>
              </a:solidFill>
            </c:spPr>
          </c:dPt>
          <c:dPt>
            <c:idx val="3"/>
            <c:spPr>
              <a:solidFill>
                <a:srgbClr val="FFFFFF"/>
              </a:solidFill>
            </c:spPr>
          </c:dPt>
          <c:dPt>
            <c:idx val="4"/>
            <c:spPr>
              <a:solidFill>
                <a:srgbClr val="FFFFFF"/>
              </a:solidFill>
            </c:spPr>
          </c:dPt>
          <c:dPt>
            <c:idx val="5"/>
            <c:spPr>
              <a:solidFill>
                <a:srgbClr val="E59999"/>
              </a:solidFill>
            </c:spPr>
          </c:dPt>
          <c:dPt>
            <c:idx val="6"/>
            <c:spPr>
              <a:solidFill>
                <a:srgbClr val="D24C4C"/>
              </a:solidFill>
            </c:spPr>
          </c:dPt>
          <c:dPt>
            <c:idx val="7"/>
            <c:spPr>
              <a:solidFill>
                <a:srgbClr val="C00000"/>
              </a:solidFill>
            </c:spPr>
          </c:dPt>
          <c:dLbls>
            <c:dLbl>
              <c:idx val="5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#,##0" sourceLinked="0"/>
            <c:txPr>
              <a:bodyPr rot="0" vert="horz"/>
              <a:lstStyle/>
              <a:p>
                <a:pPr>
                  <a:defRPr sz="1100">
                    <a:latin typeface="Calibri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8"/>
                <c:pt idx="0">
                  <c:v> </c:v>
                </c:pt>
                <c:pt idx="1">
                  <c:v>  </c:v>
                </c:pt>
                <c:pt idx="2">
                  <c:v>   </c:v>
                </c:pt>
                <c:pt idx="3">
                  <c:v>    </c:v>
                </c:pt>
                <c:pt idx="4">
                  <c:v>     </c:v>
                </c:pt>
                <c:pt idx="5">
                  <c:v>Conventional / non-or…</c:v>
                </c:pt>
                <c:pt idx="6">
                  <c:v>Organic-certified</c:v>
                </c:pt>
                <c:pt idx="7">
                  <c:v>Additional claim mapp…</c:v>
                </c:pt>
              </c:strCache>
            </c:strRef>
          </c:cat>
          <c:val>
            <c:numRef>
              <c:numCache>
                <c:formatCode>General</c:formatCode>
                <c:ptCount val="8"/>
                <c:pt idx="5">
                  <c:v>44.658</c:v>
                </c:pt>
                <c:pt idx="6">
                  <c:v>381.398</c:v>
                </c:pt>
                <c:pt idx="7">
                  <c:v>2053.564</c:v>
                </c:pt>
              </c:numCache>
            </c:numRef>
          </c:val>
        </c:ser>
        <c:dLbls>
          <c:numFmt formatCode="#,##0" sourceLinked="0"/>
          <c:txPr>
            <a:bodyPr rot="0" vert="horz"/>
            <a:lstStyle/>
            <a:p>
              <a:pPr>
                <a:defRPr sz="1100">
                  <a:latin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  <c:tickLblSkip val="1"/>
        <c:tickMarkSkip val="1"/>
      </c:catAx>
      <c:valAx>
        <c:axId val="-2113994440"/>
        <c:scaling>
          <c:max val="2751.77576"/>
          <c:min val="0.0"/>
        </c:scaling>
        <c:delete val="0"/>
        <c:axPos val="b"/>
        <c:numFmt formatCode="#,##0" sourceLinked="0"/>
        <c:majorTickMark val="none"/>
        <c:minorTickMark val="none"/>
        <c:tickLblPos val="none"/>
        <c:spPr>
          <a:ln>
            <a:noFill/>
          </a:ln>
        </c:spPr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latin typeface="Calibri"/>
        </a:defRPr>
      </a:pPr>
      <a:endParaRPr lang="en-US"/>
    </a:p>
  </c:txPr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varyColors val="0"/>
        <c:ser>
          <c:idx val="0"/>
          <c:order val="0"/>
          <c:tx>
            <c:strRef>
              <c:strCache>
                <c:ptCount val="1"/>
                <c:pt idx="0">
                  <c:v>Series</c:v>
                </c:pt>
              </c:strCache>
            </c:strRef>
          </c:tx>
          <c:spPr>
            <a:solidFill>
              <a:srgbClr val="3D85C6"/>
            </a:solidFill>
            <a:ln>
              <a:noFill/>
            </a:ln>
          </c:spPr>
          <c:dPt>
            <c:idx val="0"/>
            <c:spPr>
              <a:solidFill>
                <a:srgbClr val="FFFFFF"/>
              </a:solidFill>
            </c:spPr>
          </c:dPt>
          <c:dPt>
            <c:idx val="1"/>
            <c:spPr>
              <a:solidFill>
                <a:srgbClr val="FFFFFF"/>
              </a:solidFill>
            </c:spPr>
          </c:dPt>
          <c:dPt>
            <c:idx val="2"/>
            <c:spPr>
              <a:solidFill>
                <a:srgbClr val="FFFFFF"/>
              </a:solidFill>
            </c:spPr>
          </c:dPt>
          <c:dPt>
            <c:idx val="3"/>
            <c:spPr>
              <a:solidFill>
                <a:srgbClr val="FFFFFF"/>
              </a:solidFill>
            </c:spPr>
          </c:dPt>
          <c:dPt>
            <c:idx val="4"/>
            <c:spPr>
              <a:solidFill>
                <a:srgbClr val="FFFFFF"/>
              </a:solidFill>
            </c:spPr>
          </c:dPt>
          <c:dPt>
            <c:idx val="5"/>
            <c:spPr>
              <a:solidFill>
                <a:srgbClr val="FFFFFF"/>
              </a:solidFill>
            </c:spPr>
          </c:dPt>
          <c:dPt>
            <c:idx val="6"/>
            <c:spPr>
              <a:solidFill>
                <a:srgbClr val="C4C9CF"/>
              </a:solidFill>
            </c:spPr>
          </c:dPt>
          <c:dPt>
            <c:idx val="7"/>
            <c:spPr>
              <a:solidFill>
                <a:srgbClr val="6C7A89"/>
              </a:solidFill>
            </c:spPr>
          </c:dPt>
          <c:dLbls>
            <c:dLbl>
              <c:idx val="6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#,##0" sourceLinked="0"/>
            <c:txPr>
              <a:bodyPr rot="0" vert="horz"/>
              <a:lstStyle/>
              <a:p>
                <a:pPr>
                  <a:defRPr sz="1100">
                    <a:latin typeface="Calibri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8"/>
                <c:pt idx="0">
                  <c:v> </c:v>
                </c:pt>
                <c:pt idx="1">
                  <c:v>  </c:v>
                </c:pt>
                <c:pt idx="2">
                  <c:v>   </c:v>
                </c:pt>
                <c:pt idx="3">
                  <c:v>    </c:v>
                </c:pt>
                <c:pt idx="4">
                  <c:v>     </c:v>
                </c:pt>
                <c:pt idx="5">
                  <c:v>      </c:v>
                </c:pt>
                <c:pt idx="6">
                  <c:v>Unfilled muffins</c:v>
                </c:pt>
                <c:pt idx="7">
                  <c:v>Filled muffins</c:v>
                </c:pt>
              </c:strCache>
            </c:strRef>
          </c:cat>
          <c:val>
            <c:numRef>
              <c:numCache>
                <c:formatCode>General</c:formatCode>
                <c:ptCount val="8"/>
                <c:pt idx="6">
                  <c:v>901.825</c:v>
                </c:pt>
                <c:pt idx="7">
                  <c:v>1577.795</c:v>
                </c:pt>
              </c:numCache>
            </c:numRef>
          </c:val>
        </c:ser>
        <c:dLbls>
          <c:numFmt formatCode="#,##0" sourceLinked="0"/>
          <c:txPr>
            <a:bodyPr rot="0" vert="horz"/>
            <a:lstStyle/>
            <a:p>
              <a:pPr>
                <a:defRPr sz="1100">
                  <a:latin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  <c:tickLblSkip val="1"/>
        <c:tickMarkSkip val="1"/>
      </c:catAx>
      <c:valAx>
        <c:axId val="-2113994440"/>
        <c:scaling>
          <c:max val="2114.2453"/>
          <c:min val="0.0"/>
        </c:scaling>
        <c:delete val="0"/>
        <c:axPos val="b"/>
        <c:numFmt formatCode="#,##0" sourceLinked="0"/>
        <c:majorTickMark val="none"/>
        <c:minorTickMark val="none"/>
        <c:tickLblPos val="none"/>
        <c:spPr>
          <a:ln>
            <a:noFill/>
          </a:ln>
        </c:spPr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latin typeface="Calibri"/>
        </a:defRPr>
      </a:pPr>
      <a:endParaRPr lang="en-US"/>
    </a:p>
  </c:txPr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varyColors val="0"/>
        <c:ser>
          <c:idx val="0"/>
          <c:order val="0"/>
          <c:tx>
            <c:strRef>
              <c:strCache>
                <c:ptCount val="1"/>
                <c:pt idx="0">
                  <c:v>Series</c:v>
                </c:pt>
              </c:strCache>
            </c:strRef>
          </c:tx>
          <c:spPr>
            <a:solidFill>
              <a:srgbClr val="3D85C6"/>
            </a:solidFill>
            <a:ln>
              <a:noFill/>
            </a:ln>
          </c:spPr>
          <c:dPt>
            <c:idx val="0"/>
            <c:spPr>
              <a:solidFill>
                <a:srgbClr val="FFFFFF"/>
              </a:solidFill>
            </c:spPr>
          </c:dPt>
          <c:dPt>
            <c:idx val="1"/>
            <c:spPr>
              <a:solidFill>
                <a:srgbClr val="FFFFFF"/>
              </a:solidFill>
            </c:spPr>
          </c:dPt>
          <c:dPt>
            <c:idx val="2"/>
            <c:spPr>
              <a:solidFill>
                <a:srgbClr val="9EC6DE"/>
              </a:solidFill>
            </c:spPr>
          </c:dPt>
          <c:dPt>
            <c:idx val="3"/>
            <c:spPr>
              <a:solidFill>
                <a:srgbClr val="81B5D4"/>
              </a:solidFill>
            </c:spPr>
          </c:dPt>
          <c:dPt>
            <c:idx val="4"/>
            <c:spPr>
              <a:solidFill>
                <a:srgbClr val="64A4CB"/>
              </a:solidFill>
            </c:spPr>
          </c:dPt>
          <c:dPt>
            <c:idx val="5"/>
            <c:spPr>
              <a:solidFill>
                <a:srgbClr val="4793C1"/>
              </a:solidFill>
            </c:spPr>
          </c:dPt>
          <c:dPt>
            <c:idx val="6"/>
            <c:spPr>
              <a:solidFill>
                <a:srgbClr val="2A82B7"/>
              </a:solidFill>
            </c:spPr>
          </c:dPt>
          <c:dPt>
            <c:idx val="7"/>
            <c:spPr>
              <a:solidFill>
                <a:srgbClr val="0E72AE"/>
              </a:solidFill>
            </c:spPr>
          </c:dPt>
          <c:dLbls>
            <c:dLbl>
              <c:idx val="2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#,##0" sourceLinked="0"/>
            <c:txPr>
              <a:bodyPr rot="0" vert="horz"/>
              <a:lstStyle/>
              <a:p>
                <a:pPr>
                  <a:defRPr sz="1100">
                    <a:latin typeface="Calibri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8"/>
                <c:pt idx="0">
                  <c:v> </c:v>
                </c:pt>
                <c:pt idx="1">
                  <c:v>  </c:v>
                </c:pt>
                <c:pt idx="2">
                  <c:v>Crumb / streusel-topp…</c:v>
                </c:pt>
                <c:pt idx="3">
                  <c:v>Other toppings</c:v>
                </c:pt>
                <c:pt idx="4">
                  <c:v>Untopped</c:v>
                </c:pt>
                <c:pt idx="5">
                  <c:v>Sugar-topped</c:v>
                </c:pt>
                <c:pt idx="6">
                  <c:v>Nut and seed-topped</c:v>
                </c:pt>
                <c:pt idx="7">
                  <c:v>Glazed / drizzled</c:v>
                </c:pt>
              </c:strCache>
            </c:strRef>
          </c:cat>
          <c:val>
            <c:numRef>
              <c:numCache>
                <c:formatCode>General</c:formatCode>
                <c:ptCount val="8"/>
                <c:pt idx="2">
                  <c:v>182.667</c:v>
                </c:pt>
                <c:pt idx="3">
                  <c:v>214.067</c:v>
                </c:pt>
                <c:pt idx="4">
                  <c:v>228.007</c:v>
                </c:pt>
                <c:pt idx="5">
                  <c:v>318.565</c:v>
                </c:pt>
                <c:pt idx="6">
                  <c:v>747.831</c:v>
                </c:pt>
                <c:pt idx="7">
                  <c:v>788.483</c:v>
                </c:pt>
              </c:numCache>
            </c:numRef>
          </c:val>
        </c:ser>
        <c:dLbls>
          <c:numFmt formatCode="#,##0" sourceLinked="0"/>
          <c:txPr>
            <a:bodyPr rot="0" vert="horz"/>
            <a:lstStyle/>
            <a:p>
              <a:pPr>
                <a:defRPr sz="1100">
                  <a:latin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  <c:tickLblSkip val="1"/>
        <c:tickMarkSkip val="1"/>
      </c:catAx>
      <c:valAx>
        <c:axId val="-2113994440"/>
        <c:scaling>
          <c:max val="1056.56722"/>
          <c:min val="0.0"/>
        </c:scaling>
        <c:delete val="0"/>
        <c:axPos val="b"/>
        <c:majorTickMark val="none"/>
        <c:minorTickMark val="none"/>
        <c:tickLblPos val="none"/>
        <c:spPr>
          <a:ln>
            <a:noFill/>
          </a:ln>
        </c:spPr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latin typeface="Calibri"/>
        </a:defRPr>
      </a:pPr>
      <a:endParaRPr lang="en-US"/>
    </a:p>
  </c:txPr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varyColors val="0"/>
        <c:ser>
          <c:idx val="0"/>
          <c:order val="0"/>
          <c:tx>
            <c:strRef>
              <c:strCache>
                <c:ptCount val="1"/>
                <c:pt idx="0">
                  <c:v>Series</c:v>
                </c:pt>
              </c:strCache>
            </c:strRef>
          </c:tx>
          <c:spPr>
            <a:solidFill>
              <a:srgbClr val="3D85C6"/>
            </a:solidFill>
            <a:ln>
              <a:noFill/>
            </a:ln>
          </c:spPr>
          <c:dPt>
            <c:idx val="0"/>
            <c:spPr>
              <a:solidFill>
                <a:srgbClr val="FFFFFF"/>
              </a:solidFill>
            </c:spPr>
          </c:dPt>
          <c:dPt>
            <c:idx val="1"/>
            <c:spPr>
              <a:solidFill>
                <a:srgbClr val="FFFFFF"/>
              </a:solidFill>
            </c:spPr>
          </c:dPt>
          <c:dPt>
            <c:idx val="2"/>
            <c:spPr>
              <a:solidFill>
                <a:srgbClr val="FFFFFF"/>
              </a:solidFill>
            </c:spPr>
          </c:dPt>
          <c:dPt>
            <c:idx val="3"/>
            <c:spPr>
              <a:solidFill>
                <a:srgbClr val="FFFFFF"/>
              </a:solidFill>
            </c:spPr>
          </c:dPt>
          <c:dPt>
            <c:idx val="4"/>
            <c:spPr>
              <a:solidFill>
                <a:srgbClr val="9DABB6"/>
              </a:solidFill>
            </c:spPr>
          </c:dPt>
          <c:dPt>
            <c:idx val="5"/>
            <c:spPr>
              <a:solidFill>
                <a:srgbClr val="6C8192"/>
              </a:solidFill>
            </c:spPr>
          </c:dPt>
          <c:dPt>
            <c:idx val="6"/>
            <c:spPr>
              <a:solidFill>
                <a:srgbClr val="3B576E"/>
              </a:solidFill>
            </c:spPr>
          </c:dPt>
          <c:dPt>
            <c:idx val="7"/>
            <c:spPr>
              <a:solidFill>
                <a:srgbClr val="0B2E4A"/>
              </a:solidFill>
            </c:spPr>
          </c:dPt>
          <c:dLbls>
            <c:dLbl>
              <c:idx val="4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#,##0" sourceLinked="0"/>
            <c:txPr>
              <a:bodyPr rot="0" vert="horz"/>
              <a:lstStyle/>
              <a:p>
                <a:pPr>
                  <a:defRPr sz="1100">
                    <a:latin typeface="Calibri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8"/>
                <c:pt idx="0">
                  <c:v> </c:v>
                </c:pt>
                <c:pt idx="1">
                  <c:v>  </c:v>
                </c:pt>
                <c:pt idx="2">
                  <c:v>   </c:v>
                </c:pt>
                <c:pt idx="3">
                  <c:v>    </c:v>
                </c:pt>
                <c:pt idx="4">
                  <c:v>Mini / bite-sized - b…</c:v>
                </c:pt>
                <c:pt idx="5">
                  <c:v>Large / jumbog…</c:v>
                </c:pt>
                <c:pt idx="6">
                  <c:v>Smallg to below…</c:v>
                </c:pt>
                <c:pt idx="7">
                  <c:v>Standardg to be…</c:v>
                </c:pt>
              </c:strCache>
            </c:strRef>
          </c:cat>
          <c:val>
            <c:numRef>
              <c:numCache>
                <c:formatCode>General</c:formatCode>
                <c:ptCount val="8"/>
                <c:pt idx="4">
                  <c:v>109.1</c:v>
                </c:pt>
                <c:pt idx="5">
                  <c:v>553.93</c:v>
                </c:pt>
                <c:pt idx="6">
                  <c:v>751.29</c:v>
                </c:pt>
                <c:pt idx="7">
                  <c:v>1065.3</c:v>
                </c:pt>
              </c:numCache>
            </c:numRef>
          </c:val>
        </c:ser>
        <c:dLbls>
          <c:numFmt formatCode="#,##0" sourceLinked="0"/>
          <c:txPr>
            <a:bodyPr rot="0" vert="horz"/>
            <a:lstStyle/>
            <a:p>
              <a:pPr>
                <a:defRPr sz="1100">
                  <a:latin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  <c:tickLblSkip val="1"/>
        <c:tickMarkSkip val="1"/>
      </c:catAx>
      <c:valAx>
        <c:axId val="-2113994440"/>
        <c:scaling>
          <c:max val="1427.502"/>
          <c:min val="0.0"/>
        </c:scaling>
        <c:delete val="0"/>
        <c:axPos val="b"/>
        <c:numFmt formatCode="#,##0" sourceLinked="0"/>
        <c:majorTickMark val="none"/>
        <c:minorTickMark val="none"/>
        <c:tickLblPos val="none"/>
        <c:spPr>
          <a:ln>
            <a:noFill/>
          </a:ln>
        </c:spPr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latin typeface="Calibri"/>
        </a:defRPr>
      </a:pPr>
      <a:endParaRPr lang="en-US"/>
    </a:p>
  </c:txPr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varyColors val="0"/>
        <c:ser>
          <c:idx val="0"/>
          <c:order val="0"/>
          <c:tx>
            <c:strRef>
              <c:strCache>
                <c:ptCount val="1"/>
                <c:pt idx="0">
                  <c:v>Series</c:v>
                </c:pt>
              </c:strCache>
            </c:strRef>
          </c:tx>
          <c:spPr>
            <a:solidFill>
              <a:srgbClr val="3D85C6"/>
            </a:solidFill>
            <a:ln>
              <a:noFill/>
            </a:ln>
          </c:spPr>
          <c:dPt>
            <c:idx val="0"/>
            <c:spPr>
              <a:solidFill>
                <a:srgbClr val="FFFFFF"/>
              </a:solidFill>
            </c:spPr>
          </c:dPt>
          <c:dPt>
            <c:idx val="1"/>
            <c:spPr>
              <a:solidFill>
                <a:srgbClr val="FFFFFF"/>
              </a:solidFill>
            </c:spPr>
          </c:dPt>
          <c:dPt>
            <c:idx val="2"/>
            <c:spPr>
              <a:solidFill>
                <a:srgbClr val="FFFFFF"/>
              </a:solidFill>
            </c:spPr>
          </c:dPt>
          <c:dPt>
            <c:idx val="3"/>
            <c:spPr>
              <a:solidFill>
                <a:srgbClr val="FFFFFF"/>
              </a:solidFill>
            </c:spPr>
          </c:dPt>
          <c:dPt>
            <c:idx val="4"/>
            <c:spPr>
              <a:solidFill>
                <a:srgbClr val="FFFFFF"/>
              </a:solidFill>
            </c:spPr>
          </c:dPt>
          <c:dPt>
            <c:idx val="5"/>
            <c:spPr>
              <a:solidFill>
                <a:srgbClr val="C5B1E6"/>
              </a:solidFill>
            </c:spPr>
          </c:dPt>
          <c:dPt>
            <c:idx val="6"/>
            <c:spPr>
              <a:solidFill>
                <a:srgbClr val="9A76D4"/>
              </a:solidFill>
            </c:spPr>
          </c:dPt>
          <c:dPt>
            <c:idx val="7"/>
            <c:spPr>
              <a:solidFill>
                <a:srgbClr val="6F3CC2"/>
              </a:solidFill>
            </c:spPr>
          </c:dPt>
          <c:dLbls>
            <c:dLbl>
              <c:idx val="5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#,##0" sourceLinked="0"/>
            <c:txPr>
              <a:bodyPr rot="0" vert="horz"/>
              <a:lstStyle/>
              <a:p>
                <a:pPr>
                  <a:defRPr sz="1100">
                    <a:latin typeface="Calibri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8"/>
                <c:pt idx="0">
                  <c:v> </c:v>
                </c:pt>
                <c:pt idx="1">
                  <c:v>  </c:v>
                </c:pt>
                <c:pt idx="2">
                  <c:v>   </c:v>
                </c:pt>
                <c:pt idx="3">
                  <c:v>    </c:v>
                </c:pt>
                <c:pt idx="4">
                  <c:v>     </c:v>
                </c:pt>
                <c:pt idx="5">
                  <c:v>Ambient</c:v>
                </c:pt>
                <c:pt idx="6">
                  <c:v>Chilled</c:v>
                </c:pt>
                <c:pt idx="7">
                  <c:v>Frozen</c:v>
                </c:pt>
              </c:strCache>
            </c:strRef>
          </c:cat>
          <c:val>
            <c:numRef>
              <c:numCache>
                <c:formatCode>General</c:formatCode>
                <c:ptCount val="8"/>
                <c:pt idx="5">
                  <c:v>247.371</c:v>
                </c:pt>
                <c:pt idx="6">
                  <c:v>794.599</c:v>
                </c:pt>
                <c:pt idx="7">
                  <c:v>1437.65</c:v>
                </c:pt>
              </c:numCache>
            </c:numRef>
          </c:val>
        </c:ser>
        <c:dLbls>
          <c:numFmt formatCode="#,##0" sourceLinked="0"/>
          <c:txPr>
            <a:bodyPr rot="0" vert="horz"/>
            <a:lstStyle/>
            <a:p>
              <a:pPr>
                <a:defRPr sz="1100">
                  <a:latin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  <c:tickLblSkip val="1"/>
        <c:tickMarkSkip val="1"/>
      </c:catAx>
      <c:valAx>
        <c:axId val="-2113994440"/>
        <c:scaling>
          <c:max val="1926.4510000000002"/>
          <c:min val="0.0"/>
        </c:scaling>
        <c:delete val="0"/>
        <c:axPos val="b"/>
        <c:numFmt formatCode="#,##0" sourceLinked="0"/>
        <c:majorTickMark val="none"/>
        <c:minorTickMark val="none"/>
        <c:tickLblPos val="none"/>
        <c:spPr>
          <a:ln>
            <a:noFill/>
          </a:ln>
        </c:spPr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latin typeface="Calibri"/>
        </a:defRPr>
      </a:pPr>
      <a:endParaRPr lang="en-US"/>
    </a:p>
  </c:txPr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varyColors val="0"/>
        <c:ser>
          <c:idx val="0"/>
          <c:order val="0"/>
          <c:tx>
            <c:strRef>
              <c:strCache>
                <c:ptCount val="1"/>
                <c:pt idx="0">
                  <c:v>Series</c:v>
                </c:pt>
              </c:strCache>
            </c:strRef>
          </c:tx>
          <c:spPr>
            <a:solidFill>
              <a:srgbClr val="3D85C6"/>
            </a:solidFill>
            <a:ln>
              <a:noFill/>
            </a:ln>
          </c:spPr>
          <c:dPt>
            <c:idx val="0"/>
            <c:spPr>
              <a:solidFill>
                <a:srgbClr val="FFFFFF"/>
              </a:solidFill>
            </c:spPr>
          </c:dPt>
          <c:dPt>
            <c:idx val="1"/>
            <c:spPr>
              <a:solidFill>
                <a:srgbClr val="FFFFFF"/>
              </a:solidFill>
            </c:spPr>
          </c:dPt>
          <c:dPt>
            <c:idx val="2"/>
            <c:spPr>
              <a:solidFill>
                <a:srgbClr val="FFFFFF"/>
              </a:solidFill>
            </c:spPr>
          </c:dPt>
          <c:dPt>
            <c:idx val="3"/>
            <c:spPr>
              <a:solidFill>
                <a:srgbClr val="FFFFFF"/>
              </a:solidFill>
            </c:spPr>
          </c:dPt>
          <c:dPt>
            <c:idx val="4"/>
            <c:spPr>
              <a:solidFill>
                <a:srgbClr val="DABAA0"/>
              </a:solidFill>
            </c:spPr>
          </c:dPt>
          <c:dPt>
            <c:idx val="5"/>
            <c:spPr>
              <a:solidFill>
                <a:srgbClr val="C79771"/>
              </a:solidFill>
            </c:spPr>
          </c:dPt>
          <c:dPt>
            <c:idx val="6"/>
            <c:spPr>
              <a:solidFill>
                <a:srgbClr val="B57542"/>
              </a:solidFill>
            </c:spPr>
          </c:dPt>
          <c:dPt>
            <c:idx val="7"/>
            <c:spPr>
              <a:solidFill>
                <a:srgbClr val="A35313"/>
              </a:solidFill>
            </c:spPr>
          </c:dPt>
          <c:dLbls>
            <c:dLbl>
              <c:idx val="4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#,##0" sourceLinked="0"/>
            <c:txPr>
              <a:bodyPr rot="0" vert="horz"/>
              <a:lstStyle/>
              <a:p>
                <a:pPr>
                  <a:defRPr sz="1100">
                    <a:latin typeface="Calibri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8"/>
                <c:pt idx="0">
                  <c:v> </c:v>
                </c:pt>
                <c:pt idx="1">
                  <c:v>  </c:v>
                </c:pt>
                <c:pt idx="2">
                  <c:v>   </c:v>
                </c:pt>
                <c:pt idx="3">
                  <c:v>    </c:v>
                </c:pt>
                <c:pt idx="4">
                  <c:v>More than 90 days</c:v>
                </c:pt>
                <c:pt idx="5">
                  <c:v>31-90 days</c:v>
                </c:pt>
                <c:pt idx="6">
                  <c:v>8-30 days</c:v>
                </c:pt>
                <c:pt idx="7">
                  <c:v>Up to 7 days</c:v>
                </c:pt>
              </c:strCache>
            </c:strRef>
          </c:cat>
          <c:val>
            <c:numRef>
              <c:numCache>
                <c:formatCode>General</c:formatCode>
                <c:ptCount val="8"/>
                <c:pt idx="4">
                  <c:v>314.013</c:v>
                </c:pt>
                <c:pt idx="5">
                  <c:v>322.06</c:v>
                </c:pt>
                <c:pt idx="6">
                  <c:v>487.247</c:v>
                </c:pt>
                <c:pt idx="7">
                  <c:v>1356.3</c:v>
                </c:pt>
              </c:numCache>
            </c:numRef>
          </c:val>
        </c:ser>
        <c:dLbls>
          <c:numFmt formatCode="#,##0" sourceLinked="0"/>
          <c:txPr>
            <a:bodyPr rot="0" vert="horz"/>
            <a:lstStyle/>
            <a:p>
              <a:pPr>
                <a:defRPr sz="1100">
                  <a:latin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  <c:tickLblSkip val="1"/>
        <c:tickMarkSkip val="1"/>
      </c:catAx>
      <c:valAx>
        <c:axId val="-2113994440"/>
        <c:scaling>
          <c:max val="1817.442"/>
          <c:min val="0.0"/>
        </c:scaling>
        <c:delete val="0"/>
        <c:axPos val="b"/>
        <c:numFmt formatCode="#,##0" sourceLinked="0"/>
        <c:majorTickMark val="none"/>
        <c:minorTickMark val="none"/>
        <c:tickLblPos val="none"/>
        <c:spPr>
          <a:ln>
            <a:noFill/>
          </a:ln>
        </c:spPr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latin typeface="Calibri"/>
        </a:defRPr>
      </a:pPr>
      <a:endParaRPr lang="en-US"/>
    </a:p>
  </c:txPr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varyColors val="0"/>
        <c:ser>
          <c:idx val="0"/>
          <c:order val="0"/>
          <c:tx>
            <c:strRef>
              <c:strCache>
                <c:ptCount val="1"/>
                <c:pt idx="0">
                  <c:v>Series</c:v>
                </c:pt>
              </c:strCache>
            </c:strRef>
          </c:tx>
          <c:spPr>
            <a:solidFill>
              <a:srgbClr val="3D85C6"/>
            </a:solidFill>
            <a:ln>
              <a:noFill/>
            </a:ln>
          </c:spPr>
          <c:dPt>
            <c:idx val="0"/>
            <c:spPr>
              <a:solidFill>
                <a:srgbClr val="FFFFFF"/>
              </a:solidFill>
            </c:spPr>
          </c:dPt>
          <c:dPt>
            <c:idx val="1"/>
            <c:spPr>
              <a:solidFill>
                <a:srgbClr val="FFFFFF"/>
              </a:solidFill>
            </c:spPr>
          </c:dPt>
          <c:dPt>
            <c:idx val="2"/>
            <c:spPr>
              <a:solidFill>
                <a:srgbClr val="FFFFFF"/>
              </a:solidFill>
            </c:spPr>
          </c:dPt>
          <c:dPt>
            <c:idx val="3"/>
            <c:spPr>
              <a:solidFill>
                <a:srgbClr val="FFFFFF"/>
              </a:solidFill>
            </c:spPr>
          </c:dPt>
          <c:dPt>
            <c:idx val="4"/>
            <c:spPr>
              <a:solidFill>
                <a:srgbClr val="DCC599"/>
              </a:solidFill>
            </c:spPr>
          </c:dPt>
          <c:dPt>
            <c:idx val="5"/>
            <c:spPr>
              <a:solidFill>
                <a:srgbClr val="CAA865"/>
              </a:solidFill>
            </c:spPr>
          </c:dPt>
          <c:dPt>
            <c:idx val="6"/>
            <c:spPr>
              <a:solidFill>
                <a:srgbClr val="B98B32"/>
              </a:solidFill>
            </c:spPr>
          </c:dPt>
          <c:dPt>
            <c:idx val="7"/>
            <c:spPr>
              <a:solidFill>
                <a:srgbClr val="A86F00"/>
              </a:solidFill>
            </c:spPr>
          </c:dPt>
          <c:dLbls>
            <c:dLbl>
              <c:idx val="4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#,##0" sourceLinked="0"/>
            <c:txPr>
              <a:bodyPr rot="0" vert="horz"/>
              <a:lstStyle/>
              <a:p>
                <a:pPr>
                  <a:defRPr sz="1100">
                    <a:latin typeface="Calibri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8"/>
                <c:pt idx="0">
                  <c:v> </c:v>
                </c:pt>
                <c:pt idx="1">
                  <c:v>  </c:v>
                </c:pt>
                <c:pt idx="2">
                  <c:v>   </c:v>
                </c:pt>
                <c:pt idx="3">
                  <c:v>    </c:v>
                </c:pt>
                <c:pt idx="4">
                  <c:v>Other packaging forma…</c:v>
                </c:pt>
                <c:pt idx="5">
                  <c:v>Flexible packs</c:v>
                </c:pt>
                <c:pt idx="6">
                  <c:v>Paperboard packs</c:v>
                </c:pt>
                <c:pt idx="7">
                  <c:v>Rigid plastic packs</c:v>
                </c:pt>
              </c:strCache>
            </c:strRef>
          </c:cat>
          <c:val>
            <c:numRef>
              <c:numCache>
                <c:formatCode>General</c:formatCode>
                <c:ptCount val="8"/>
                <c:pt idx="4">
                  <c:v>109.09</c:v>
                </c:pt>
                <c:pt idx="5">
                  <c:v>286.822</c:v>
                </c:pt>
                <c:pt idx="6">
                  <c:v>845.916</c:v>
                </c:pt>
                <c:pt idx="7">
                  <c:v>1237.792</c:v>
                </c:pt>
              </c:numCache>
            </c:numRef>
          </c:val>
        </c:ser>
        <c:dLbls>
          <c:numFmt formatCode="#,##0" sourceLinked="0"/>
          <c:txPr>
            <a:bodyPr rot="0" vert="horz"/>
            <a:lstStyle/>
            <a:p>
              <a:pPr>
                <a:defRPr sz="1100">
                  <a:latin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  <c:tickLblSkip val="1"/>
        <c:tickMarkSkip val="1"/>
      </c:catAx>
      <c:valAx>
        <c:axId val="-2113994440"/>
        <c:scaling>
          <c:max val="1658.64128"/>
          <c:min val="0.0"/>
        </c:scaling>
        <c:delete val="0"/>
        <c:axPos val="b"/>
        <c:numFmt formatCode="#,##0" sourceLinked="0"/>
        <c:majorTickMark val="none"/>
        <c:minorTickMark val="none"/>
        <c:tickLblPos val="none"/>
        <c:spPr>
          <a:ln>
            <a:noFill/>
          </a:ln>
        </c:spPr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latin typeface="Calibri"/>
        </a:defRPr>
      </a:pPr>
      <a:endParaRPr lang="en-US"/>
    </a:p>
  </c:txPr>
</c:chartSpace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varyColors val="0"/>
        <c:ser>
          <c:idx val="0"/>
          <c:order val="0"/>
          <c:tx>
            <c:strRef>
              <c:strCache>
                <c:ptCount val="1"/>
                <c:pt idx="0">
                  <c:v>Series</c:v>
                </c:pt>
              </c:strCache>
            </c:strRef>
          </c:tx>
          <c:spPr>
            <a:solidFill>
              <a:srgbClr val="3D85C6"/>
            </a:solidFill>
            <a:ln>
              <a:noFill/>
            </a:ln>
          </c:spPr>
          <c:dPt>
            <c:idx val="0"/>
            <c:spPr>
              <a:solidFill>
                <a:srgbClr val="FFFFFF"/>
              </a:solidFill>
            </c:spPr>
          </c:dPt>
          <c:dPt>
            <c:idx val="1"/>
            <c:spPr>
              <a:solidFill>
                <a:srgbClr val="FFFFFF"/>
              </a:solidFill>
            </c:spPr>
          </c:dPt>
          <c:dPt>
            <c:idx val="2"/>
            <c:spPr>
              <a:solidFill>
                <a:srgbClr val="FFFFFF"/>
              </a:solidFill>
            </c:spPr>
          </c:dPt>
          <c:dPt>
            <c:idx val="3"/>
            <c:spPr>
              <a:solidFill>
                <a:srgbClr val="FFFFFF"/>
              </a:solidFill>
            </c:spPr>
          </c:dPt>
          <c:dPt>
            <c:idx val="4"/>
            <c:spPr>
              <a:solidFill>
                <a:srgbClr val="FFFFFF"/>
              </a:solidFill>
            </c:spPr>
          </c:dPt>
          <c:dPt>
            <c:idx val="5"/>
            <c:spPr>
              <a:solidFill>
                <a:srgbClr val="E59999"/>
              </a:solidFill>
            </c:spPr>
          </c:dPt>
          <c:dPt>
            <c:idx val="6"/>
            <c:spPr>
              <a:solidFill>
                <a:srgbClr val="D24C4C"/>
              </a:solidFill>
            </c:spPr>
          </c:dPt>
          <c:dPt>
            <c:idx val="7"/>
            <c:spPr>
              <a:solidFill>
                <a:srgbClr val="C00000"/>
              </a:solidFill>
            </c:spPr>
          </c:dPt>
          <c:dLbls>
            <c:dLbl>
              <c:idx val="5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#,##0" sourceLinked="0"/>
            <c:txPr>
              <a:bodyPr rot="0" vert="horz"/>
              <a:lstStyle/>
              <a:p>
                <a:pPr>
                  <a:defRPr sz="1100">
                    <a:latin typeface="Calibri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8"/>
                <c:pt idx="0">
                  <c:v> </c:v>
                </c:pt>
                <c:pt idx="1">
                  <c:v>  </c:v>
                </c:pt>
                <c:pt idx="2">
                  <c:v>   </c:v>
                </c:pt>
                <c:pt idx="3">
                  <c:v>    </c:v>
                </c:pt>
                <c:pt idx="4">
                  <c:v>     </c:v>
                </c:pt>
                <c:pt idx="5">
                  <c:v>Bulk foodservice packs</c:v>
                </c:pt>
                <c:pt idx="6">
                  <c:v>Single-muffin packs</c:v>
                </c:pt>
                <c:pt idx="7">
                  <c:v>Multipacks</c:v>
                </c:pt>
              </c:strCache>
            </c:strRef>
          </c:cat>
          <c:val>
            <c:numRef>
              <c:numCache>
                <c:formatCode>General</c:formatCode>
                <c:ptCount val="8"/>
                <c:pt idx="5">
                  <c:v>387.777</c:v>
                </c:pt>
                <c:pt idx="6">
                  <c:v>787.058</c:v>
                </c:pt>
                <c:pt idx="7">
                  <c:v>1304.785</c:v>
                </c:pt>
              </c:numCache>
            </c:numRef>
          </c:val>
        </c:ser>
        <c:dLbls>
          <c:numFmt formatCode="#,##0" sourceLinked="0"/>
          <c:txPr>
            <a:bodyPr rot="0" vert="horz"/>
            <a:lstStyle/>
            <a:p>
              <a:pPr>
                <a:defRPr sz="1100">
                  <a:latin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  <c:tickLblSkip val="1"/>
        <c:tickMarkSkip val="1"/>
      </c:catAx>
      <c:valAx>
        <c:axId val="-2113994440"/>
        <c:scaling>
          <c:max val="1748.4119000000003"/>
          <c:min val="0.0"/>
        </c:scaling>
        <c:delete val="0"/>
        <c:axPos val="b"/>
        <c:numFmt formatCode="#,##0" sourceLinked="0"/>
        <c:majorTickMark val="none"/>
        <c:minorTickMark val="none"/>
        <c:tickLblPos val="none"/>
        <c:spPr>
          <a:ln>
            <a:noFill/>
          </a:ln>
        </c:spPr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latin typeface="Calibri"/>
        </a:defRPr>
      </a:pPr>
      <a:endParaRPr lang="en-US"/>
    </a:p>
  </c:txPr>
</c:chartSpace>
</file>

<file path=ppt/charts/chart2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varyColors val="0"/>
        <c:ser>
          <c:idx val="0"/>
          <c:order val="0"/>
          <c:tx>
            <c:strRef>
              <c:strCache>
                <c:ptCount val="1"/>
                <c:pt idx="0">
                  <c:v>Series</c:v>
                </c:pt>
              </c:strCache>
            </c:strRef>
          </c:tx>
          <c:spPr>
            <a:solidFill>
              <a:srgbClr val="3D85C6"/>
            </a:solidFill>
            <a:ln>
              <a:noFill/>
            </a:ln>
          </c:spPr>
          <c:dPt>
            <c:idx val="0"/>
            <c:spPr>
              <a:solidFill>
                <a:srgbClr val="FFFFFF"/>
              </a:solidFill>
            </c:spPr>
          </c:dPt>
          <c:dPt>
            <c:idx val="1"/>
            <c:spPr>
              <a:solidFill>
                <a:srgbClr val="FFFFFF"/>
              </a:solidFill>
            </c:spPr>
          </c:dPt>
          <c:dPt>
            <c:idx val="2"/>
            <c:spPr>
              <a:solidFill>
                <a:srgbClr val="FFFFFF"/>
              </a:solidFill>
            </c:spPr>
          </c:dPt>
          <c:dPt>
            <c:idx val="3"/>
            <c:spPr>
              <a:solidFill>
                <a:srgbClr val="FFFFFF"/>
              </a:solidFill>
            </c:spPr>
          </c:dPt>
          <c:dPt>
            <c:idx val="4"/>
            <c:spPr>
              <a:solidFill>
                <a:srgbClr val="FFFFFF"/>
              </a:solidFill>
            </c:spPr>
          </c:dPt>
          <c:dPt>
            <c:idx val="5"/>
            <c:spPr>
              <a:solidFill>
                <a:srgbClr val="FFFFFF"/>
              </a:solidFill>
            </c:spPr>
          </c:dPt>
          <c:dPt>
            <c:idx val="6"/>
            <c:spPr>
              <a:solidFill>
                <a:srgbClr val="C4C9CF"/>
              </a:solidFill>
            </c:spPr>
          </c:dPt>
          <c:dPt>
            <c:idx val="7"/>
            <c:spPr>
              <a:solidFill>
                <a:srgbClr val="6C7A89"/>
              </a:solidFill>
            </c:spPr>
          </c:dPt>
          <c:dLbls>
            <c:dLbl>
              <c:idx val="6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#,##0" sourceLinked="0"/>
            <c:txPr>
              <a:bodyPr rot="0" vert="horz"/>
              <a:lstStyle/>
              <a:p>
                <a:pPr>
                  <a:defRPr sz="1100">
                    <a:latin typeface="Calibri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8"/>
                <c:pt idx="0">
                  <c:v> </c:v>
                </c:pt>
                <c:pt idx="1">
                  <c:v>  </c:v>
                </c:pt>
                <c:pt idx="2">
                  <c:v>   </c:v>
                </c:pt>
                <c:pt idx="3">
                  <c:v>    </c:v>
                </c:pt>
                <c:pt idx="4">
                  <c:v>     </c:v>
                </c:pt>
                <c:pt idx="5">
                  <c:v>      </c:v>
                </c:pt>
                <c:pt idx="6">
                  <c:v>Shared pack without i…</c:v>
                </c:pt>
                <c:pt idx="7">
                  <c:v>Individually wrapped…</c:v>
                </c:pt>
              </c:strCache>
            </c:strRef>
          </c:cat>
          <c:val>
            <c:numRef>
              <c:numCache>
                <c:formatCode>General</c:formatCode>
                <c:ptCount val="8"/>
                <c:pt idx="6">
                  <c:v>1075.221</c:v>
                </c:pt>
                <c:pt idx="7">
                  <c:v>1404.399</c:v>
                </c:pt>
              </c:numCache>
            </c:numRef>
          </c:val>
        </c:ser>
        <c:dLbls>
          <c:numFmt formatCode="#,##0" sourceLinked="0"/>
          <c:txPr>
            <a:bodyPr rot="0" vert="horz"/>
            <a:lstStyle/>
            <a:p>
              <a:pPr>
                <a:defRPr sz="1100">
                  <a:latin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  <c:tickLblSkip val="1"/>
        <c:tickMarkSkip val="1"/>
      </c:catAx>
      <c:valAx>
        <c:axId val="-2113994440"/>
        <c:scaling>
          <c:max val="1881.89466"/>
          <c:min val="0.0"/>
        </c:scaling>
        <c:delete val="0"/>
        <c:axPos val="b"/>
        <c:numFmt formatCode="#,##0" sourceLinked="0"/>
        <c:majorTickMark val="none"/>
        <c:minorTickMark val="none"/>
        <c:tickLblPos val="none"/>
        <c:spPr>
          <a:ln>
            <a:noFill/>
          </a:ln>
        </c:spPr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latin typeface="Calibri"/>
        </a:defRPr>
      </a:pPr>
      <a:endParaRPr lang="en-US"/>
    </a:p>
  </c:txPr>
</c:chartSpace>
</file>

<file path=ppt/charts/chart2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varyColors val="0"/>
        <c:ser>
          <c:idx val="0"/>
          <c:order val="0"/>
          <c:tx>
            <c:strRef>
              <c:strCache>
                <c:ptCount val="1"/>
                <c:pt idx="0">
                  <c:v>Series</c:v>
                </c:pt>
              </c:strCache>
            </c:strRef>
          </c:tx>
          <c:spPr>
            <a:solidFill>
              <a:srgbClr val="3D85C6"/>
            </a:solidFill>
            <a:ln>
              <a:noFill/>
            </a:ln>
          </c:spPr>
          <c:dPt>
            <c:idx val="0"/>
            <c:spPr>
              <a:solidFill>
                <a:srgbClr val="FFFFFF"/>
              </a:solidFill>
            </c:spPr>
          </c:dPt>
          <c:dPt>
            <c:idx val="1"/>
            <c:spPr>
              <a:solidFill>
                <a:srgbClr val="FFFFFF"/>
              </a:solidFill>
            </c:spPr>
          </c:dPt>
          <c:dPt>
            <c:idx val="2"/>
            <c:spPr>
              <a:solidFill>
                <a:srgbClr val="FFFFFF"/>
              </a:solidFill>
            </c:spPr>
          </c:dPt>
          <c:dPt>
            <c:idx val="3"/>
            <c:spPr>
              <a:solidFill>
                <a:srgbClr val="FFFFFF"/>
              </a:solidFill>
            </c:spPr>
          </c:dPt>
          <c:dPt>
            <c:idx val="4"/>
            <c:spPr>
              <a:solidFill>
                <a:srgbClr val="9EC6DE"/>
              </a:solidFill>
            </c:spPr>
          </c:dPt>
          <c:dPt>
            <c:idx val="5"/>
            <c:spPr>
              <a:solidFill>
                <a:srgbClr val="6EAACE"/>
              </a:solidFill>
            </c:spPr>
          </c:dPt>
          <c:dPt>
            <c:idx val="6"/>
            <c:spPr>
              <a:solidFill>
                <a:srgbClr val="3E8EBE"/>
              </a:solidFill>
            </c:spPr>
          </c:dPt>
          <c:dPt>
            <c:idx val="7"/>
            <c:spPr>
              <a:solidFill>
                <a:srgbClr val="0E72AE"/>
              </a:solidFill>
            </c:spPr>
          </c:dPt>
          <c:dLbls>
            <c:dLbl>
              <c:idx val="4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#,##0" sourceLinked="0"/>
            <c:txPr>
              <a:bodyPr rot="0" vert="horz"/>
              <a:lstStyle/>
              <a:p>
                <a:pPr>
                  <a:defRPr sz="1100">
                    <a:latin typeface="Calibri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8"/>
                <c:pt idx="0">
                  <c:v> </c:v>
                </c:pt>
                <c:pt idx="1">
                  <c:v>  </c:v>
                </c:pt>
                <c:pt idx="2">
                  <c:v>   </c:v>
                </c:pt>
                <c:pt idx="3">
                  <c:v>    </c:v>
                </c:pt>
                <c:pt idx="4">
                  <c:v>Super-premium / speci…</c:v>
                </c:pt>
                <c:pt idx="5">
                  <c:v>Economy / value</c:v>
                </c:pt>
                <c:pt idx="6">
                  <c:v>Mid-range</c:v>
                </c:pt>
                <c:pt idx="7">
                  <c:v>Premium</c:v>
                </c:pt>
              </c:strCache>
            </c:strRef>
          </c:cat>
          <c:val>
            <c:numRef>
              <c:numCache>
                <c:formatCode>General</c:formatCode>
                <c:ptCount val="8"/>
                <c:pt idx="4">
                  <c:v>357.083</c:v>
                </c:pt>
                <c:pt idx="5">
                  <c:v>564.426</c:v>
                </c:pt>
                <c:pt idx="6">
                  <c:v>618.212</c:v>
                </c:pt>
                <c:pt idx="7">
                  <c:v>939.899</c:v>
                </c:pt>
              </c:numCache>
            </c:numRef>
          </c:val>
        </c:ser>
        <c:dLbls>
          <c:numFmt formatCode="#,##0" sourceLinked="0"/>
          <c:txPr>
            <a:bodyPr rot="0" vert="horz"/>
            <a:lstStyle/>
            <a:p>
              <a:pPr>
                <a:defRPr sz="1100">
                  <a:latin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  <c:tickLblSkip val="1"/>
        <c:tickMarkSkip val="1"/>
      </c:catAx>
      <c:valAx>
        <c:axId val="-2113994440"/>
        <c:scaling>
          <c:max val="1259.46466"/>
          <c:min val="0.0"/>
        </c:scaling>
        <c:delete val="0"/>
        <c:axPos val="b"/>
        <c:majorTickMark val="none"/>
        <c:minorTickMark val="none"/>
        <c:tickLblPos val="none"/>
        <c:spPr>
          <a:ln>
            <a:noFill/>
          </a:ln>
        </c:spPr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latin typeface="Calibri"/>
        </a:defRPr>
      </a:pPr>
      <a:endParaRPr lang="en-US"/>
    </a:p>
  </c:txPr>
</c:chartSpace>
</file>

<file path=ppt/charts/chart2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varyColors val="0"/>
        <c:ser>
          <c:idx val="0"/>
          <c:order val="0"/>
          <c:tx>
            <c:strRef>
              <c:strCache>
                <c:ptCount val="1"/>
                <c:pt idx="0">
                  <c:v>Series</c:v>
                </c:pt>
              </c:strCache>
            </c:strRef>
          </c:tx>
          <c:spPr>
            <a:solidFill>
              <a:srgbClr val="3D85C6"/>
            </a:solidFill>
            <a:ln>
              <a:noFill/>
            </a:ln>
          </c:spPr>
          <c:dPt>
            <c:idx val="0"/>
            <c:spPr>
              <a:solidFill>
                <a:srgbClr val="FFFFFF"/>
              </a:solidFill>
            </c:spPr>
          </c:dPt>
          <c:dPt>
            <c:idx val="1"/>
            <c:spPr>
              <a:solidFill>
                <a:srgbClr val="FFFFFF"/>
              </a:solidFill>
            </c:spPr>
          </c:dPt>
          <c:dPt>
            <c:idx val="2"/>
            <c:spPr>
              <a:solidFill>
                <a:srgbClr val="FFFFFF"/>
              </a:solidFill>
            </c:spPr>
          </c:dPt>
          <c:dPt>
            <c:idx val="3"/>
            <c:spPr>
              <a:solidFill>
                <a:srgbClr val="FFFFFF"/>
              </a:solidFill>
            </c:spPr>
          </c:dPt>
          <c:dPt>
            <c:idx val="4"/>
            <c:spPr>
              <a:solidFill>
                <a:srgbClr val="FFFFFF"/>
              </a:solidFill>
            </c:spPr>
          </c:dPt>
          <c:dPt>
            <c:idx val="5"/>
            <c:spPr>
              <a:solidFill>
                <a:srgbClr val="9DABB6"/>
              </a:solidFill>
            </c:spPr>
          </c:dPt>
          <c:dPt>
            <c:idx val="6"/>
            <c:spPr>
              <a:solidFill>
                <a:srgbClr val="546C80"/>
              </a:solidFill>
            </c:spPr>
          </c:dPt>
          <c:dPt>
            <c:idx val="7"/>
            <c:spPr>
              <a:solidFill>
                <a:srgbClr val="0B2E4A"/>
              </a:solidFill>
            </c:spPr>
          </c:dPt>
          <c:dLbls>
            <c:dLbl>
              <c:idx val="5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#,##0" sourceLinked="0"/>
            <c:txPr>
              <a:bodyPr rot="0" vert="horz"/>
              <a:lstStyle/>
              <a:p>
                <a:pPr>
                  <a:defRPr sz="1100">
                    <a:latin typeface="Calibri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8"/>
                <c:pt idx="0">
                  <c:v> </c:v>
                </c:pt>
                <c:pt idx="1">
                  <c:v>  </c:v>
                </c:pt>
                <c:pt idx="2">
                  <c:v>   </c:v>
                </c:pt>
                <c:pt idx="3">
                  <c:v>    </c:v>
                </c:pt>
                <c:pt idx="4">
                  <c:v>     </c:v>
                </c:pt>
                <c:pt idx="5">
                  <c:v>Foodservice / operato…</c:v>
                </c:pt>
                <c:pt idx="6">
                  <c:v>Manufacturer brands</c:v>
                </c:pt>
                <c:pt idx="7">
                  <c:v>Retailer private labe…</c:v>
                </c:pt>
              </c:strCache>
            </c:strRef>
          </c:cat>
          <c:val>
            <c:numRef>
              <c:numCache>
                <c:formatCode>General</c:formatCode>
                <c:ptCount val="8"/>
                <c:pt idx="5">
                  <c:v>459.926</c:v>
                </c:pt>
                <c:pt idx="6">
                  <c:v>965.595</c:v>
                </c:pt>
                <c:pt idx="7">
                  <c:v>1054.0990000000002</c:v>
                </c:pt>
              </c:numCache>
            </c:numRef>
          </c:val>
        </c:ser>
        <c:dLbls>
          <c:numFmt formatCode="#,##0" sourceLinked="0"/>
          <c:txPr>
            <a:bodyPr rot="0" vert="horz"/>
            <a:lstStyle/>
            <a:p>
              <a:pPr>
                <a:defRPr sz="1100">
                  <a:latin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  <c:tickLblSkip val="1"/>
        <c:tickMarkSkip val="1"/>
      </c:catAx>
      <c:valAx>
        <c:axId val="-2113994440"/>
        <c:scaling>
          <c:max val="1412.4926600000003"/>
          <c:min val="0.0"/>
        </c:scaling>
        <c:delete val="0"/>
        <c:axPos val="b"/>
        <c:numFmt formatCode="#,##0" sourceLinked="0"/>
        <c:majorTickMark val="none"/>
        <c:minorTickMark val="none"/>
        <c:tickLblPos val="none"/>
        <c:spPr>
          <a:ln>
            <a:noFill/>
          </a:ln>
        </c:spPr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latin typeface="Calibri"/>
        </a:defRPr>
      </a:pPr>
      <a:endParaRPr lang="en-US"/>
    </a:p>
  </c:txPr>
</c:chartSpace>
</file>

<file path=ppt/charts/chart2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varyColors val="0"/>
        <c:ser>
          <c:idx val="0"/>
          <c:order val="0"/>
          <c:tx>
            <c:strRef>
              <c:strCache>
                <c:ptCount val="1"/>
                <c:pt idx="0">
                  <c:v>Series</c:v>
                </c:pt>
              </c:strCache>
            </c:strRef>
          </c:tx>
          <c:spPr>
            <a:solidFill>
              <a:srgbClr val="3D85C6"/>
            </a:solidFill>
            <a:ln>
              <a:noFill/>
            </a:ln>
          </c:spPr>
          <c:dPt>
            <c:idx val="0"/>
            <c:spPr>
              <a:solidFill>
                <a:srgbClr val="FFFFFF"/>
              </a:solidFill>
            </c:spPr>
          </c:dPt>
          <c:dPt>
            <c:idx val="1"/>
            <c:spPr>
              <a:solidFill>
                <a:srgbClr val="FFFFFF"/>
              </a:solidFill>
            </c:spPr>
          </c:dPt>
          <c:dPt>
            <c:idx val="2"/>
            <c:spPr>
              <a:solidFill>
                <a:srgbClr val="FFFFFF"/>
              </a:solidFill>
            </c:spPr>
          </c:dPt>
          <c:dPt>
            <c:idx val="3"/>
            <c:spPr>
              <a:solidFill>
                <a:srgbClr val="FFFFFF"/>
              </a:solidFill>
            </c:spPr>
          </c:dPt>
          <c:dPt>
            <c:idx val="4"/>
            <c:spPr>
              <a:solidFill>
                <a:srgbClr val="FFFFFF"/>
              </a:solidFill>
            </c:spPr>
          </c:dPt>
          <c:dPt>
            <c:idx val="5"/>
            <c:spPr>
              <a:solidFill>
                <a:srgbClr val="C5B1E6"/>
              </a:solidFill>
            </c:spPr>
          </c:dPt>
          <c:dPt>
            <c:idx val="6"/>
            <c:spPr>
              <a:solidFill>
                <a:srgbClr val="9A76D4"/>
              </a:solidFill>
            </c:spPr>
          </c:dPt>
          <c:dPt>
            <c:idx val="7"/>
            <c:spPr>
              <a:solidFill>
                <a:srgbClr val="6F3CC2"/>
              </a:solidFill>
            </c:spPr>
          </c:dPt>
          <c:dLbls>
            <c:dLbl>
              <c:idx val="5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#,##0" sourceLinked="0"/>
            <c:txPr>
              <a:bodyPr rot="0" vert="horz"/>
              <a:lstStyle/>
              <a:p>
                <a:pPr>
                  <a:defRPr sz="1100">
                    <a:latin typeface="Calibri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8"/>
                <c:pt idx="0">
                  <c:v> </c:v>
                </c:pt>
                <c:pt idx="1">
                  <c:v>  </c:v>
                </c:pt>
                <c:pt idx="2">
                  <c:v>   </c:v>
                </c:pt>
                <c:pt idx="3">
                  <c:v>    </c:v>
                </c:pt>
                <c:pt idx="4">
                  <c:v>     </c:v>
                </c:pt>
                <c:pt idx="5">
                  <c:v>Vending</c:v>
                </c:pt>
                <c:pt idx="6">
                  <c:v>Foodservice and insti…</c:v>
                </c:pt>
                <c:pt idx="7">
                  <c:v>Retail</c:v>
                </c:pt>
              </c:strCache>
            </c:strRef>
          </c:cat>
          <c:val>
            <c:numRef>
              <c:numCache>
                <c:formatCode>General</c:formatCode>
                <c:ptCount val="8"/>
                <c:pt idx="5">
                  <c:v>106.428</c:v>
                </c:pt>
                <c:pt idx="6">
                  <c:v>827.254</c:v>
                </c:pt>
                <c:pt idx="7">
                  <c:v>1545.938</c:v>
                </c:pt>
              </c:numCache>
            </c:numRef>
          </c:val>
        </c:ser>
        <c:dLbls>
          <c:numFmt formatCode="#,##0" sourceLinked="0"/>
          <c:txPr>
            <a:bodyPr rot="0" vert="horz"/>
            <a:lstStyle/>
            <a:p>
              <a:pPr>
                <a:defRPr sz="1100">
                  <a:latin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  <c:tickLblSkip val="1"/>
        <c:tickMarkSkip val="1"/>
      </c:catAx>
      <c:valAx>
        <c:axId val="-2113994440"/>
        <c:scaling>
          <c:max val="2071.5569200000004"/>
          <c:min val="0.0"/>
        </c:scaling>
        <c:delete val="0"/>
        <c:axPos val="b"/>
        <c:numFmt formatCode="#,##0" sourceLinked="0"/>
        <c:majorTickMark val="none"/>
        <c:minorTickMark val="none"/>
        <c:tickLblPos val="none"/>
        <c:spPr>
          <a:ln>
            <a:noFill/>
          </a:ln>
        </c:spPr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latin typeface="Calibri"/>
        </a:defRPr>
      </a:pPr>
      <a:endParaRPr lang="en-US"/>
    </a:p>
  </c:txPr>
</c:chartSpace>
</file>

<file path=ppt/charts/chart2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varyColors val="0"/>
        <c:ser>
          <c:idx val="0"/>
          <c:order val="0"/>
          <c:tx>
            <c:strRef>
              <c:strCache>
                <c:ptCount val="1"/>
                <c:pt idx="0">
                  <c:v>Series</c:v>
                </c:pt>
              </c:strCache>
            </c:strRef>
          </c:tx>
          <c:spPr>
            <a:solidFill>
              <a:srgbClr val="3D85C6"/>
            </a:solidFill>
            <a:ln>
              <a:noFill/>
            </a:ln>
          </c:spPr>
          <c:dPt>
            <c:idx val="0"/>
            <c:spPr>
              <a:solidFill>
                <a:srgbClr val="FFFFFF"/>
              </a:solidFill>
            </c:spPr>
          </c:dPt>
          <c:dPt>
            <c:idx val="1"/>
            <c:spPr>
              <a:solidFill>
                <a:srgbClr val="FFFFFF"/>
              </a:solidFill>
            </c:spPr>
          </c:dPt>
          <c:dPt>
            <c:idx val="2"/>
            <c:spPr>
              <a:solidFill>
                <a:srgbClr val="FFFFFF"/>
              </a:solidFill>
            </c:spPr>
          </c:dPt>
          <c:dPt>
            <c:idx val="3"/>
            <c:spPr>
              <a:solidFill>
                <a:srgbClr val="FFFFFF"/>
              </a:solidFill>
            </c:spPr>
          </c:dPt>
          <c:dPt>
            <c:idx val="4"/>
            <c:spPr>
              <a:solidFill>
                <a:srgbClr val="FFFFFF"/>
              </a:solidFill>
            </c:spPr>
          </c:dPt>
          <c:dPt>
            <c:idx val="5"/>
            <c:spPr>
              <a:solidFill>
                <a:srgbClr val="FFFFFF"/>
              </a:solidFill>
            </c:spPr>
          </c:dPt>
          <c:dPt>
            <c:idx val="6"/>
            <c:spPr>
              <a:solidFill>
                <a:srgbClr val="FFFFFF"/>
              </a:solidFill>
            </c:spPr>
          </c:dPt>
          <c:dPt>
            <c:idx val="7"/>
            <c:spPr>
              <a:solidFill>
                <a:srgbClr val="FFFFFF"/>
              </a:solidFill>
            </c:spPr>
          </c:dPt>
          <c:cat>
            <c:strRef>
              <c:strCache>
                <c:ptCount val="8"/>
                <c:pt idx="0">
                  <c:v> </c:v>
                </c:pt>
                <c:pt idx="1">
                  <c:v>  </c:v>
                </c:pt>
                <c:pt idx="2">
                  <c:v>   </c:v>
                </c:pt>
                <c:pt idx="3">
                  <c:v>    </c:v>
                </c:pt>
                <c:pt idx="4">
                  <c:v>     </c:v>
                </c:pt>
                <c:pt idx="5">
                  <c:v>      </c:v>
                </c:pt>
                <c:pt idx="6">
                  <c:v>       </c:v>
                </c:pt>
                <c:pt idx="7">
                  <c:v>        </c:v>
                </c:pt>
              </c:strCache>
            </c:strRef>
          </c:cat>
          <c:val>
            <c:numRef>
              <c:numCache>
                <c:formatCode>General</c:formatCode>
                <c:ptCount val="8"/>
              </c:numCache>
            </c:numRef>
          </c:val>
        </c:ser>
        <c:dLbls>
          <c:numFmt formatCode="0" sourceLinked="0"/>
          <c:txPr>
            <a:bodyPr rot="0" vert="horz"/>
            <a:lstStyle/>
            <a:p>
              <a:pPr>
                <a:defRPr sz="1100">
                  <a:latin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  <c:tickLblSkip val="1"/>
        <c:tickMarkSkip val="1"/>
      </c:catAx>
      <c:valAx>
        <c:axId val="-2113994440"/>
        <c:scaling>
          <c:max val="1.34"/>
          <c:min val="0.0"/>
        </c:scaling>
        <c:delete val="0"/>
        <c:axPos val="b"/>
        <c:majorTickMark val="none"/>
        <c:minorTickMark val="none"/>
        <c:tickLblPos val="none"/>
        <c:spPr>
          <a:ln>
            <a:noFill/>
          </a:ln>
        </c:spPr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latin typeface="Calibri"/>
        </a:defRPr>
      </a:pPr>
      <a:endParaRPr lang="en-US"/>
    </a:p>
  </c:txPr>
</c:chartSpace>
</file>

<file path=ppt/charts/chart2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varyColors val="0"/>
        <c:ser>
          <c:idx val="0"/>
          <c:order val="0"/>
          <c:tx>
            <c:strRef>
              <c:strCache>
                <c:ptCount val="1"/>
                <c:pt idx="0">
                  <c:v>Series</c:v>
                </c:pt>
              </c:strCache>
            </c:strRef>
          </c:tx>
          <c:spPr>
            <a:solidFill>
              <a:srgbClr val="3D85C6"/>
            </a:solidFill>
            <a:ln>
              <a:noFill/>
            </a:ln>
          </c:spPr>
          <c:dPt>
            <c:idx val="0"/>
            <c:spPr>
              <a:solidFill>
                <a:srgbClr val="FFFFFF"/>
              </a:solidFill>
            </c:spPr>
          </c:dPt>
          <c:dPt>
            <c:idx val="1"/>
            <c:spPr>
              <a:solidFill>
                <a:srgbClr val="FFFFFF"/>
              </a:solidFill>
            </c:spPr>
          </c:dPt>
          <c:dPt>
            <c:idx val="2"/>
            <c:spPr>
              <a:solidFill>
                <a:srgbClr val="FFFFFF"/>
              </a:solidFill>
            </c:spPr>
          </c:dPt>
          <c:dPt>
            <c:idx val="3"/>
            <c:spPr>
              <a:solidFill>
                <a:srgbClr val="FFFFFF"/>
              </a:solidFill>
            </c:spPr>
          </c:dPt>
          <c:dPt>
            <c:idx val="4"/>
            <c:spPr>
              <a:solidFill>
                <a:srgbClr val="FFFFFF"/>
              </a:solidFill>
            </c:spPr>
          </c:dPt>
          <c:dPt>
            <c:idx val="5"/>
            <c:spPr>
              <a:solidFill>
                <a:srgbClr val="FFFFFF"/>
              </a:solidFill>
            </c:spPr>
          </c:dPt>
          <c:dPt>
            <c:idx val="6"/>
            <c:spPr>
              <a:solidFill>
                <a:srgbClr val="FFFFFF"/>
              </a:solidFill>
            </c:spPr>
          </c:dPt>
          <c:dPt>
            <c:idx val="7"/>
            <c:spPr>
              <a:solidFill>
                <a:srgbClr val="FFFFFF"/>
              </a:solidFill>
            </c:spPr>
          </c:dPt>
          <c:cat>
            <c:strRef>
              <c:strCache>
                <c:ptCount val="8"/>
                <c:pt idx="0">
                  <c:v> </c:v>
                </c:pt>
                <c:pt idx="1">
                  <c:v>  </c:v>
                </c:pt>
                <c:pt idx="2">
                  <c:v>   </c:v>
                </c:pt>
                <c:pt idx="3">
                  <c:v>    </c:v>
                </c:pt>
                <c:pt idx="4">
                  <c:v>     </c:v>
                </c:pt>
                <c:pt idx="5">
                  <c:v>      </c:v>
                </c:pt>
                <c:pt idx="6">
                  <c:v>       </c:v>
                </c:pt>
                <c:pt idx="7">
                  <c:v>        </c:v>
                </c:pt>
              </c:strCache>
            </c:strRef>
          </c:cat>
          <c:val>
            <c:numRef>
              <c:numCache>
                <c:formatCode>General</c:formatCode>
                <c:ptCount val="8"/>
              </c:numCache>
            </c:numRef>
          </c:val>
        </c:ser>
        <c:dLbls>
          <c:numFmt formatCode="0" sourceLinked="0"/>
          <c:txPr>
            <a:bodyPr rot="0" vert="horz"/>
            <a:lstStyle/>
            <a:p>
              <a:pPr>
                <a:defRPr sz="1100">
                  <a:latin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  <c:tickLblSkip val="1"/>
        <c:tickMarkSkip val="1"/>
      </c:catAx>
      <c:valAx>
        <c:axId val="-2113994440"/>
        <c:scaling>
          <c:max val="1.34"/>
          <c:min val="0.0"/>
        </c:scaling>
        <c:delete val="0"/>
        <c:axPos val="b"/>
        <c:majorTickMark val="none"/>
        <c:minorTickMark val="none"/>
        <c:tickLblPos val="none"/>
        <c:spPr>
          <a:ln>
            <a:noFill/>
          </a:ln>
        </c:spPr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latin typeface="Calibri"/>
        </a:defRPr>
      </a:pPr>
      <a:endParaRPr lang="en-US"/>
    </a:p>
  </c:txPr>
</c:chartSpace>
</file>

<file path=ppt/charts/chart2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varyColors val="0"/>
        <c:ser>
          <c:idx val="0"/>
          <c:order val="0"/>
          <c:tx>
            <c:strRef>
              <c:strCache>
                <c:ptCount val="1"/>
                <c:pt idx="0">
                  <c:v>Series</c:v>
                </c:pt>
              </c:strCache>
            </c:strRef>
          </c:tx>
          <c:spPr>
            <a:solidFill>
              <a:srgbClr val="3D85C6"/>
            </a:solidFill>
            <a:ln>
              <a:noFill/>
            </a:ln>
          </c:spPr>
          <c:dPt>
            <c:idx val="0"/>
            <c:spPr>
              <a:solidFill>
                <a:srgbClr val="FFFFFF"/>
              </a:solidFill>
            </c:spPr>
          </c:dPt>
          <c:dPt>
            <c:idx val="1"/>
            <c:spPr>
              <a:solidFill>
                <a:srgbClr val="FFFFFF"/>
              </a:solidFill>
            </c:spPr>
          </c:dPt>
          <c:dPt>
            <c:idx val="2"/>
            <c:spPr>
              <a:solidFill>
                <a:srgbClr val="FFFFFF"/>
              </a:solidFill>
            </c:spPr>
          </c:dPt>
          <c:dPt>
            <c:idx val="3"/>
            <c:spPr>
              <a:solidFill>
                <a:srgbClr val="FFFFFF"/>
              </a:solidFill>
            </c:spPr>
          </c:dPt>
          <c:dPt>
            <c:idx val="4"/>
            <c:spPr>
              <a:solidFill>
                <a:srgbClr val="FFFFFF"/>
              </a:solidFill>
            </c:spPr>
          </c:dPt>
          <c:dPt>
            <c:idx val="5"/>
            <c:spPr>
              <a:solidFill>
                <a:srgbClr val="FFFFFF"/>
              </a:solidFill>
            </c:spPr>
          </c:dPt>
          <c:dPt>
            <c:idx val="6"/>
            <c:spPr>
              <a:solidFill>
                <a:srgbClr val="FFFFFF"/>
              </a:solidFill>
            </c:spPr>
          </c:dPt>
          <c:dPt>
            <c:idx val="7"/>
            <c:spPr>
              <a:solidFill>
                <a:srgbClr val="FFFFFF"/>
              </a:solidFill>
            </c:spPr>
          </c:dPt>
          <c:cat>
            <c:strRef>
              <c:strCache>
                <c:ptCount val="8"/>
                <c:pt idx="0">
                  <c:v> </c:v>
                </c:pt>
                <c:pt idx="1">
                  <c:v>  </c:v>
                </c:pt>
                <c:pt idx="2">
                  <c:v>   </c:v>
                </c:pt>
                <c:pt idx="3">
                  <c:v>    </c:v>
                </c:pt>
                <c:pt idx="4">
                  <c:v>     </c:v>
                </c:pt>
                <c:pt idx="5">
                  <c:v>      </c:v>
                </c:pt>
                <c:pt idx="6">
                  <c:v>       </c:v>
                </c:pt>
                <c:pt idx="7">
                  <c:v>        </c:v>
                </c:pt>
              </c:strCache>
            </c:strRef>
          </c:cat>
          <c:val>
            <c:numRef>
              <c:numCache>
                <c:formatCode>General</c:formatCode>
                <c:ptCount val="8"/>
              </c:numCache>
            </c:numRef>
          </c:val>
        </c:ser>
        <c:dLbls>
          <c:numFmt formatCode="0" sourceLinked="0"/>
          <c:txPr>
            <a:bodyPr rot="0" vert="horz"/>
            <a:lstStyle/>
            <a:p>
              <a:pPr>
                <a:defRPr sz="1100">
                  <a:latin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  <c:tickLblSkip val="1"/>
        <c:tickMarkSkip val="1"/>
      </c:catAx>
      <c:valAx>
        <c:axId val="-2113994440"/>
        <c:scaling>
          <c:max val="1.34"/>
          <c:min val="0.0"/>
        </c:scaling>
        <c:delete val="0"/>
        <c:axPos val="b"/>
        <c:majorTickMark val="none"/>
        <c:minorTickMark val="none"/>
        <c:tickLblPos val="none"/>
        <c:spPr>
          <a:ln>
            <a:noFill/>
          </a:ln>
        </c:spPr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latin typeface="Calibri"/>
        </a:defRPr>
      </a:pPr>
      <a:endParaRPr lang="en-US"/>
    </a:p>
  </c:txPr>
</c:chartSpace>
</file>

<file path=ppt/charts/chart2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varyColors val="0"/>
        <c:ser>
          <c:idx val="0"/>
          <c:order val="0"/>
          <c:tx>
            <c:strRef>
              <c:strCache>
                <c:ptCount val="1"/>
                <c:pt idx="0">
                  <c:v>Series</c:v>
                </c:pt>
              </c:strCache>
            </c:strRef>
          </c:tx>
          <c:spPr>
            <a:solidFill>
              <a:srgbClr val="3D85C6"/>
            </a:solidFill>
            <a:ln>
              <a:noFill/>
            </a:ln>
          </c:spPr>
          <c:dPt>
            <c:idx val="0"/>
            <c:spPr>
              <a:solidFill>
                <a:srgbClr val="FFFFFF"/>
              </a:solidFill>
            </c:spPr>
          </c:dPt>
          <c:dPt>
            <c:idx val="1"/>
            <c:spPr>
              <a:solidFill>
                <a:srgbClr val="FFFFFF"/>
              </a:solidFill>
            </c:spPr>
          </c:dPt>
          <c:dPt>
            <c:idx val="2"/>
            <c:spPr>
              <a:solidFill>
                <a:srgbClr val="FFFFFF"/>
              </a:solidFill>
            </c:spPr>
          </c:dPt>
          <c:dPt>
            <c:idx val="3"/>
            <c:spPr>
              <a:solidFill>
                <a:srgbClr val="FFFFFF"/>
              </a:solidFill>
            </c:spPr>
          </c:dPt>
          <c:dPt>
            <c:idx val="4"/>
            <c:spPr>
              <a:solidFill>
                <a:srgbClr val="FFFFFF"/>
              </a:solidFill>
            </c:spPr>
          </c:dPt>
          <c:dPt>
            <c:idx val="5"/>
            <c:spPr>
              <a:solidFill>
                <a:srgbClr val="FFFFFF"/>
              </a:solidFill>
            </c:spPr>
          </c:dPt>
          <c:dPt>
            <c:idx val="6"/>
            <c:spPr>
              <a:solidFill>
                <a:srgbClr val="FFFFFF"/>
              </a:solidFill>
            </c:spPr>
          </c:dPt>
          <c:dPt>
            <c:idx val="7"/>
            <c:spPr>
              <a:solidFill>
                <a:srgbClr val="FFFFFF"/>
              </a:solidFill>
            </c:spPr>
          </c:dPt>
          <c:cat>
            <c:strRef>
              <c:strCache>
                <c:ptCount val="8"/>
                <c:pt idx="0">
                  <c:v> </c:v>
                </c:pt>
                <c:pt idx="1">
                  <c:v>  </c:v>
                </c:pt>
                <c:pt idx="2">
                  <c:v>   </c:v>
                </c:pt>
                <c:pt idx="3">
                  <c:v>    </c:v>
                </c:pt>
                <c:pt idx="4">
                  <c:v>     </c:v>
                </c:pt>
                <c:pt idx="5">
                  <c:v>      </c:v>
                </c:pt>
                <c:pt idx="6">
                  <c:v>       </c:v>
                </c:pt>
                <c:pt idx="7">
                  <c:v>        </c:v>
                </c:pt>
              </c:strCache>
            </c:strRef>
          </c:cat>
          <c:val>
            <c:numRef>
              <c:numCache>
                <c:formatCode>General</c:formatCode>
                <c:ptCount val="8"/>
              </c:numCache>
            </c:numRef>
          </c:val>
        </c:ser>
        <c:dLbls>
          <c:numFmt formatCode="0" sourceLinked="0"/>
          <c:txPr>
            <a:bodyPr rot="0" vert="horz"/>
            <a:lstStyle/>
            <a:p>
              <a:pPr>
                <a:defRPr sz="1100">
                  <a:latin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  <c:tickLblSkip val="1"/>
        <c:tickMarkSkip val="1"/>
      </c:catAx>
      <c:valAx>
        <c:axId val="-2113994440"/>
        <c:scaling>
          <c:max val="1.34"/>
          <c:min val="0.0"/>
        </c:scaling>
        <c:delete val="0"/>
        <c:axPos val="b"/>
        <c:majorTickMark val="none"/>
        <c:minorTickMark val="none"/>
        <c:tickLblPos val="none"/>
        <c:spPr>
          <a:ln>
            <a:noFill/>
          </a:ln>
        </c:spPr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latin typeface="Calibri"/>
        </a:defRPr>
      </a:pPr>
      <a:endParaRPr lang="en-US"/>
    </a:p>
  </c:txPr>
</c:chartSpace>
</file>

<file path=ppt/charts/chart3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stacked"/>
        <c:varyColors val="0"/>
        <c:ser>
          <c:idx val="0"/>
          <c:order val="0"/>
          <c:tx>
            <c:strRef>
              <c:strCache>
                <c:ptCount val="1"/>
                <c:pt idx="0">
                  <c:v>base</c:v>
                </c:pt>
              </c:strCache>
            </c:strRef>
          </c:tx>
          <c:spPr>
            <a:noFill/>
            <a:ln>
              <a:noFill/>
            </a:ln>
          </c:spPr>
          <c:cat>
            <c:strRef>
              <c:strCache>
                <c:ptCount val="4"/>
                <c:pt idx="0">
                  <c:v>2026</c:v>
                </c:pt>
                <c:pt idx="1">
                  <c:v>Sweet muffins</c:v>
                </c:pt>
                <c:pt idx="2">
                  <c:v>Savoury muffins</c:v>
                </c:pt>
                <c:pt idx="3">
                  <c:v>2036 Total</c:v>
                </c:pt>
              </c:strCache>
            </c:strRef>
          </c:cat>
          <c:val>
            <c:numRef>
              <c:numCache>
                <c:formatCode>General</c:formatCode>
                <c:ptCount val="4"/>
                <c:pt idx="0">
                  <c:v>0.0</c:v>
                </c:pt>
                <c:pt idx="1">
                  <c:v>2479.62</c:v>
                </c:pt>
                <c:pt idx="2">
                  <c:v>3169.219</c:v>
                </c:pt>
                <c:pt idx="3">
                  <c:v>0.0</c:v>
                </c:pt>
              </c:numCache>
            </c:numRef>
          </c:val>
        </c:ser>
        <c:ser>
          <c:idx val="1"/>
          <c:order val="1"/>
          <c:tx>
            <c:strRef>
              <c:strCache>
                <c:ptCount val="1"/>
                <c:pt idx="0">
                  <c:v>value</c:v>
                </c:pt>
              </c:strCache>
            </c:strRef>
          </c:tx>
          <c:spPr/>
          <c:dPt>
            <c:idx val="0"/>
            <c:spPr>
              <a:solidFill>
                <a:srgbClr val="0E72AE"/>
              </a:solidFill>
            </c:spPr>
          </c:dPt>
          <c:dPt>
            <c:idx val="1"/>
            <c:spPr>
              <a:solidFill>
                <a:srgbClr val="008189"/>
              </a:solidFill>
            </c:spPr>
          </c:dPt>
          <c:dPt>
            <c:idx val="2"/>
            <c:spPr>
              <a:solidFill>
                <a:srgbClr val="008189"/>
              </a:solidFill>
            </c:spPr>
          </c:dPt>
          <c:dPt>
            <c:idx val="3"/>
            <c:spPr>
              <a:solidFill>
                <a:srgbClr val="0E72AE"/>
              </a:solidFill>
            </c:spPr>
          </c:dPt>
          <c:dLbls>
            <c:dLbl>
              <c:idx val="0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#,##0" sourceLinked="0"/>
            <c:txPr>
              <a:bodyPr/>
              <a:lstStyle/>
              <a:p>
                <a:pPr>
                  <a:defRPr sz="1100">
                    <a:latin typeface="Calibri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4"/>
                <c:pt idx="0">
                  <c:v>2026</c:v>
                </c:pt>
                <c:pt idx="1">
                  <c:v>Sweet muffins</c:v>
                </c:pt>
                <c:pt idx="2">
                  <c:v>Savoury muffins</c:v>
                </c:pt>
                <c:pt idx="3">
                  <c:v>2036 Total</c:v>
                </c:pt>
              </c:strCache>
            </c:strRef>
          </c:cat>
          <c:val>
            <c:numRef>
              <c:numCache>
                <c:formatCode>General</c:formatCode>
                <c:ptCount val="4"/>
                <c:pt idx="0">
                  <c:v>2479.62</c:v>
                </c:pt>
                <c:pt idx="1">
                  <c:v>689.5989999999999</c:v>
                </c:pt>
                <c:pt idx="2">
                  <c:v>440.21799999999985</c:v>
                </c:pt>
                <c:pt idx="3">
                  <c:v>3609.437</c:v>
                </c:pt>
              </c:numCache>
            </c:numRef>
          </c:val>
        </c:ser>
        <c:gapWidth val="5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6D5E1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numFmt formatCode="#,##0" sourceLinked="0"/>
        <c:majorTickMark val="out"/>
        <c:minorTickMark val="none"/>
        <c:tickLblPos val="none"/>
        <c:spPr>
          <a:ln>
            <a:solidFill>
              <a:srgbClr val="C6D5E1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latin typeface="Calibri"/>
        </a:defRPr>
      </a:pPr>
      <a:endParaRPr lang="en-US"/>
    </a:p>
  </c:txPr>
</c:chartSpace>
</file>

<file path=ppt/charts/chart3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stacked"/>
        <c:varyColors val="0"/>
        <c:ser>
          <c:idx val="0"/>
          <c:order val="0"/>
          <c:tx>
            <c:strRef>
              <c:strCache>
                <c:ptCount val="1"/>
                <c:pt idx="0">
                  <c:v>base</c:v>
                </c:pt>
              </c:strCache>
            </c:strRef>
          </c:tx>
          <c:spPr>
            <a:noFill/>
            <a:ln>
              <a:noFill/>
            </a:ln>
          </c:spPr>
          <c:cat>
            <c:strRef>
              <c:strCache>
                <c:ptCount val="3"/>
                <c:pt idx="0">
                  <c:v>Sweet muffins</c:v>
                </c:pt>
                <c:pt idx="1">
                  <c:v>Savoury muffins</c:v>
                </c:pt>
                <c:pt idx="2">
                  <c:v>Total Absolute $ Opportunity</c:v>
                </c:pt>
              </c:strCache>
            </c:strRef>
          </c:cat>
          <c:val>
            <c:numRef>
              <c:numCache>
                <c:formatCode>General</c:formatCode>
                <c:ptCount val="3"/>
                <c:pt idx="0">
                  <c:v>0.0</c:v>
                </c:pt>
                <c:pt idx="1">
                  <c:v>689.5989999999999</c:v>
                </c:pt>
                <c:pt idx="2">
                  <c:v>0.0</c:v>
                </c:pt>
              </c:numCache>
            </c:numRef>
          </c:val>
        </c:ser>
        <c:ser>
          <c:idx val="1"/>
          <c:order val="1"/>
          <c:tx>
            <c:strRef>
              <c:strCache>
                <c:ptCount val="1"/>
                <c:pt idx="0">
                  <c:v>value</c:v>
                </c:pt>
              </c:strCache>
            </c:strRef>
          </c:tx>
          <c:spPr/>
          <c:dPt>
            <c:idx val="0"/>
            <c:spPr>
              <a:solidFill>
                <a:srgbClr val="008189"/>
              </a:solidFill>
            </c:spPr>
          </c:dPt>
          <c:dPt>
            <c:idx val="1"/>
            <c:spPr>
              <a:solidFill>
                <a:srgbClr val="008189"/>
              </a:solidFill>
            </c:spPr>
          </c:dPt>
          <c:dPt>
            <c:idx val="2"/>
            <c:spPr>
              <a:solidFill>
                <a:srgbClr val="0E72AE"/>
              </a:solidFill>
            </c:spPr>
          </c:dPt>
          <c:dLbls>
            <c:dLbl>
              <c:idx val="0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#,##0" sourceLinked="0"/>
            <c:txPr>
              <a:bodyPr/>
              <a:lstStyle/>
              <a:p>
                <a:pPr>
                  <a:defRPr sz="1100">
                    <a:latin typeface="Calibri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3"/>
                <c:pt idx="0">
                  <c:v>Sweet muffins</c:v>
                </c:pt>
                <c:pt idx="1">
                  <c:v>Savoury muffins</c:v>
                </c:pt>
                <c:pt idx="2">
                  <c:v>Total Absolute $ Opportunity</c:v>
                </c:pt>
              </c:strCache>
            </c:strRef>
          </c:cat>
          <c:val>
            <c:numRef>
              <c:numCache>
                <c:formatCode>General</c:formatCode>
                <c:ptCount val="3"/>
                <c:pt idx="0">
                  <c:v>689.5989999999999</c:v>
                </c:pt>
                <c:pt idx="1">
                  <c:v>440.21799999999985</c:v>
                </c:pt>
                <c:pt idx="2">
                  <c:v>1129.8169999999998</c:v>
                </c:pt>
              </c:numCache>
            </c:numRef>
          </c:val>
        </c:ser>
        <c:gapWidth val="5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6D5E1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numFmt formatCode="#,##0" sourceLinked="0"/>
        <c:majorTickMark val="out"/>
        <c:minorTickMark val="none"/>
        <c:tickLblPos val="none"/>
        <c:spPr>
          <a:ln>
            <a:solidFill>
              <a:srgbClr val="C6D5E1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latin typeface="Calibri"/>
        </a:defRPr>
      </a:pPr>
      <a:endParaRPr lang="en-US"/>
    </a:p>
  </c:txPr>
</c:chartSpace>
</file>

<file path=ppt/charts/chart3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stacked"/>
        <c:varyColors val="0"/>
        <c:ser>
          <c:idx val="0"/>
          <c:order val="0"/>
          <c:tx>
            <c:strRef>
              <c:strCache>
                <c:ptCount val="1"/>
                <c:pt idx="0">
                  <c:v>base</c:v>
                </c:pt>
              </c:strCache>
            </c:strRef>
          </c:tx>
          <c:spPr>
            <a:noFill/>
            <a:ln>
              <a:noFill/>
            </a:ln>
          </c:spPr>
          <c:cat>
            <c:strRef>
              <c:strCache>
                <c:ptCount val="4"/>
                <c:pt idx="0">
                  <c:v>2026</c:v>
                </c:pt>
                <c:pt idx="1">
                  <c:v>Sweet Muffins Flavours</c:v>
                </c:pt>
                <c:pt idx="2">
                  <c:v>Savoury Muffins Flavours</c:v>
                </c:pt>
                <c:pt idx="3">
                  <c:v>2036 Total</c:v>
                </c:pt>
              </c:strCache>
            </c:strRef>
          </c:cat>
          <c:val>
            <c:numRef>
              <c:numCache>
                <c:formatCode>General</c:formatCode>
                <c:ptCount val="4"/>
                <c:pt idx="0">
                  <c:v>0.0</c:v>
                </c:pt>
                <c:pt idx="1">
                  <c:v>2479.62</c:v>
                </c:pt>
                <c:pt idx="2">
                  <c:v>3027.939</c:v>
                </c:pt>
                <c:pt idx="3">
                  <c:v>0.0</c:v>
                </c:pt>
              </c:numCache>
            </c:numRef>
          </c:val>
        </c:ser>
        <c:ser>
          <c:idx val="1"/>
          <c:order val="1"/>
          <c:tx>
            <c:strRef>
              <c:strCache>
                <c:ptCount val="1"/>
                <c:pt idx="0">
                  <c:v>value</c:v>
                </c:pt>
              </c:strCache>
            </c:strRef>
          </c:tx>
          <c:spPr/>
          <c:dPt>
            <c:idx val="0"/>
            <c:spPr>
              <a:solidFill>
                <a:srgbClr val="0E72AE"/>
              </a:solidFill>
            </c:spPr>
          </c:dPt>
          <c:dPt>
            <c:idx val="1"/>
            <c:spPr>
              <a:solidFill>
                <a:srgbClr val="008189"/>
              </a:solidFill>
            </c:spPr>
          </c:dPt>
          <c:dPt>
            <c:idx val="2"/>
            <c:spPr>
              <a:solidFill>
                <a:srgbClr val="008189"/>
              </a:solidFill>
            </c:spPr>
          </c:dPt>
          <c:dPt>
            <c:idx val="3"/>
            <c:spPr>
              <a:solidFill>
                <a:srgbClr val="0E72AE"/>
              </a:solidFill>
            </c:spPr>
          </c:dPt>
          <c:dLbls>
            <c:dLbl>
              <c:idx val="0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#,##0" sourceLinked="0"/>
            <c:txPr>
              <a:bodyPr/>
              <a:lstStyle/>
              <a:p>
                <a:pPr>
                  <a:defRPr sz="1100">
                    <a:latin typeface="Calibri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4"/>
                <c:pt idx="0">
                  <c:v>2026</c:v>
                </c:pt>
                <c:pt idx="1">
                  <c:v>Sweet Muffins Flavours</c:v>
                </c:pt>
                <c:pt idx="2">
                  <c:v>Savoury Muffins Flavours</c:v>
                </c:pt>
                <c:pt idx="3">
                  <c:v>2036 Total</c:v>
                </c:pt>
              </c:strCache>
            </c:strRef>
          </c:cat>
          <c:val>
            <c:numRef>
              <c:numCache>
                <c:formatCode>General</c:formatCode>
                <c:ptCount val="4"/>
                <c:pt idx="0">
                  <c:v>2479.62</c:v>
                </c:pt>
                <c:pt idx="1">
                  <c:v>548.319</c:v>
                </c:pt>
                <c:pt idx="2">
                  <c:v>581.4979999999999</c:v>
                </c:pt>
                <c:pt idx="3">
                  <c:v>3609.437</c:v>
                </c:pt>
              </c:numCache>
            </c:numRef>
          </c:val>
        </c:ser>
        <c:gapWidth val="5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6D5E1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numFmt formatCode="#,##0" sourceLinked="0"/>
        <c:majorTickMark val="out"/>
        <c:minorTickMark val="none"/>
        <c:tickLblPos val="none"/>
        <c:spPr>
          <a:ln>
            <a:solidFill>
              <a:srgbClr val="C6D5E1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latin typeface="Calibri"/>
        </a:defRPr>
      </a:pPr>
      <a:endParaRPr lang="en-US"/>
    </a:p>
  </c:txPr>
</c:chartSpace>
</file>

<file path=ppt/charts/chart3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stacked"/>
        <c:varyColors val="0"/>
        <c:ser>
          <c:idx val="0"/>
          <c:order val="0"/>
          <c:tx>
            <c:strRef>
              <c:strCache>
                <c:ptCount val="1"/>
                <c:pt idx="0">
                  <c:v>base</c:v>
                </c:pt>
              </c:strCache>
            </c:strRef>
          </c:tx>
          <c:spPr>
            <a:noFill/>
            <a:ln>
              <a:noFill/>
            </a:ln>
          </c:spPr>
          <c:cat>
            <c:strRef>
              <c:strCache>
                <c:ptCount val="3"/>
                <c:pt idx="0">
                  <c:v>Sweet Muffins Flavours</c:v>
                </c:pt>
                <c:pt idx="1">
                  <c:v>Savoury Muffins Flavours</c:v>
                </c:pt>
                <c:pt idx="2">
                  <c:v>Total Absolute $ Opportunity</c:v>
                </c:pt>
              </c:strCache>
            </c:strRef>
          </c:cat>
          <c:val>
            <c:numRef>
              <c:numCache>
                <c:formatCode>General</c:formatCode>
                <c:ptCount val="3"/>
                <c:pt idx="0">
                  <c:v>0.0</c:v>
                </c:pt>
                <c:pt idx="1">
                  <c:v>548.319</c:v>
                </c:pt>
                <c:pt idx="2">
                  <c:v>0.0</c:v>
                </c:pt>
              </c:numCache>
            </c:numRef>
          </c:val>
        </c:ser>
        <c:ser>
          <c:idx val="1"/>
          <c:order val="1"/>
          <c:tx>
            <c:strRef>
              <c:strCache>
                <c:ptCount val="1"/>
                <c:pt idx="0">
                  <c:v>value</c:v>
                </c:pt>
              </c:strCache>
            </c:strRef>
          </c:tx>
          <c:spPr/>
          <c:dPt>
            <c:idx val="0"/>
            <c:spPr>
              <a:solidFill>
                <a:srgbClr val="008189"/>
              </a:solidFill>
            </c:spPr>
          </c:dPt>
          <c:dPt>
            <c:idx val="1"/>
            <c:spPr>
              <a:solidFill>
                <a:srgbClr val="008189"/>
              </a:solidFill>
            </c:spPr>
          </c:dPt>
          <c:dPt>
            <c:idx val="2"/>
            <c:spPr>
              <a:solidFill>
                <a:srgbClr val="0E72AE"/>
              </a:solidFill>
            </c:spPr>
          </c:dPt>
          <c:dLbls>
            <c:dLbl>
              <c:idx val="0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#,##0" sourceLinked="0"/>
            <c:txPr>
              <a:bodyPr/>
              <a:lstStyle/>
              <a:p>
                <a:pPr>
                  <a:defRPr sz="1100">
                    <a:latin typeface="Calibri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3"/>
                <c:pt idx="0">
                  <c:v>Sweet Muffins Flavours</c:v>
                </c:pt>
                <c:pt idx="1">
                  <c:v>Savoury Muffins Flavours</c:v>
                </c:pt>
                <c:pt idx="2">
                  <c:v>Total Absolute $ Opportunity</c:v>
                </c:pt>
              </c:strCache>
            </c:strRef>
          </c:cat>
          <c:val>
            <c:numRef>
              <c:numCache>
                <c:formatCode>General</c:formatCode>
                <c:ptCount val="3"/>
                <c:pt idx="0">
                  <c:v>548.319</c:v>
                </c:pt>
                <c:pt idx="1">
                  <c:v>581.4979999999999</c:v>
                </c:pt>
                <c:pt idx="2">
                  <c:v>1129.817</c:v>
                </c:pt>
              </c:numCache>
            </c:numRef>
          </c:val>
        </c:ser>
        <c:gapWidth val="5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6D5E1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numFmt formatCode="#,##0" sourceLinked="0"/>
        <c:majorTickMark val="out"/>
        <c:minorTickMark val="none"/>
        <c:tickLblPos val="none"/>
        <c:spPr>
          <a:ln>
            <a:solidFill>
              <a:srgbClr val="C6D5E1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latin typeface="Calibri"/>
        </a:defRPr>
      </a:pPr>
      <a:endParaRPr lang="en-US"/>
    </a:p>
  </c:txPr>
</c:chartSpace>
</file>

<file path=ppt/charts/chart3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stacked"/>
        <c:varyColors val="0"/>
        <c:ser>
          <c:idx val="0"/>
          <c:order val="0"/>
          <c:tx>
            <c:strRef>
              <c:strCache>
                <c:ptCount val="1"/>
                <c:pt idx="0">
                  <c:v>base</c:v>
                </c:pt>
              </c:strCache>
            </c:strRef>
          </c:tx>
          <c:spPr>
            <a:noFill/>
            <a:ln>
              <a:noFill/>
            </a:ln>
          </c:spPr>
          <c:cat>
            <c:strRef>
              <c:strCache>
                <c:ptCount val="10"/>
                <c:pt idx="0">
                  <c:v>2026</c:v>
                </c:pt>
                <c:pt idx="1">
                  <c:v>Wheat-based</c:v>
                </c:pt>
                <c:pt idx="2">
                  <c:v>Oat-based</c:v>
                </c:pt>
                <c:pt idx="3">
                  <c:v>Rice-based</c:v>
                </c:pt>
                <c:pt idx="4">
                  <c:v>Corn-based</c:v>
                </c:pt>
                <c:pt idx="5">
                  <c:v>Millet-based</c:v>
                </c:pt>
                <c:pt idx="6">
                  <c:v>Almond and other nut flour-based</c:v>
                </c:pt>
                <c:pt idx="7">
                  <c:v>Other single-flour bases</c:v>
                </c:pt>
                <c:pt idx="8">
                  <c:v>Multigrain and blended flour bases</c:v>
                </c:pt>
                <c:pt idx="9">
                  <c:v>2036 Total</c:v>
                </c:pt>
              </c:strCache>
            </c:strRef>
          </c:cat>
          <c:val>
            <c:numRef>
              <c:numCache>
                <c:formatCode>General</c:formatCode>
                <c:ptCount val="10"/>
                <c:pt idx="0">
                  <c:v>0.0</c:v>
                </c:pt>
                <c:pt idx="1">
                  <c:v>2479.62</c:v>
                </c:pt>
                <c:pt idx="2">
                  <c:v>2678.8729999999996</c:v>
                </c:pt>
                <c:pt idx="3">
                  <c:v>3052.7169999999996</c:v>
                </c:pt>
                <c:pt idx="4">
                  <c:v>3155.0249999999996</c:v>
                </c:pt>
                <c:pt idx="5">
                  <c:v>3268.5299999999997</c:v>
                </c:pt>
                <c:pt idx="6">
                  <c:v>3388.647</c:v>
                </c:pt>
                <c:pt idx="7">
                  <c:v>3427.686</c:v>
                </c:pt>
                <c:pt idx="8">
                  <c:v>3601.043</c:v>
                </c:pt>
                <c:pt idx="9">
                  <c:v>0.0</c:v>
                </c:pt>
              </c:numCache>
            </c:numRef>
          </c:val>
        </c:ser>
        <c:ser>
          <c:idx val="1"/>
          <c:order val="1"/>
          <c:tx>
            <c:strRef>
              <c:strCache>
                <c:ptCount val="1"/>
                <c:pt idx="0">
                  <c:v>value</c:v>
                </c:pt>
              </c:strCache>
            </c:strRef>
          </c:tx>
          <c:spPr/>
          <c:dPt>
            <c:idx val="0"/>
            <c:spPr>
              <a:solidFill>
                <a:srgbClr val="0E72AE"/>
              </a:solidFill>
            </c:spPr>
          </c:dPt>
          <c:dPt>
            <c:idx val="1"/>
            <c:spPr>
              <a:solidFill>
                <a:srgbClr val="008189"/>
              </a:solidFill>
            </c:spPr>
          </c:dPt>
          <c:dPt>
            <c:idx val="2"/>
            <c:spPr>
              <a:solidFill>
                <a:srgbClr val="008189"/>
              </a:solidFill>
            </c:spPr>
          </c:dPt>
          <c:dPt>
            <c:idx val="3"/>
            <c:spPr>
              <a:solidFill>
                <a:srgbClr val="008189"/>
              </a:solidFill>
            </c:spPr>
          </c:dPt>
          <c:dPt>
            <c:idx val="4"/>
            <c:spPr>
              <a:solidFill>
                <a:srgbClr val="008189"/>
              </a:solidFill>
            </c:spPr>
          </c:dPt>
          <c:dPt>
            <c:idx val="5"/>
            <c:spPr>
              <a:solidFill>
                <a:srgbClr val="008189"/>
              </a:solidFill>
            </c:spPr>
          </c:dPt>
          <c:dPt>
            <c:idx val="6"/>
            <c:spPr>
              <a:solidFill>
                <a:srgbClr val="008189"/>
              </a:solidFill>
            </c:spPr>
          </c:dPt>
          <c:dPt>
            <c:idx val="7"/>
            <c:spPr>
              <a:solidFill>
                <a:srgbClr val="008189"/>
              </a:solidFill>
            </c:spPr>
          </c:dPt>
          <c:dPt>
            <c:idx val="8"/>
            <c:spPr>
              <a:solidFill>
                <a:srgbClr val="008189"/>
              </a:solidFill>
            </c:spPr>
          </c:dPt>
          <c:dPt>
            <c:idx val="9"/>
            <c:spPr>
              <a:solidFill>
                <a:srgbClr val="0E72AE"/>
              </a:solidFill>
            </c:spPr>
          </c:dPt>
          <c:dLbls>
            <c:dLbl>
              <c:idx val="0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8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9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#,##0" sourceLinked="0"/>
            <c:txPr>
              <a:bodyPr/>
              <a:lstStyle/>
              <a:p>
                <a:pPr>
                  <a:defRPr sz="1100">
                    <a:latin typeface="Calibri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10"/>
                <c:pt idx="0">
                  <c:v>2026</c:v>
                </c:pt>
                <c:pt idx="1">
                  <c:v>Wheat-based</c:v>
                </c:pt>
                <c:pt idx="2">
                  <c:v>Oat-based</c:v>
                </c:pt>
                <c:pt idx="3">
                  <c:v>Rice-based</c:v>
                </c:pt>
                <c:pt idx="4">
                  <c:v>Corn-based</c:v>
                </c:pt>
                <c:pt idx="5">
                  <c:v>Millet-based</c:v>
                </c:pt>
                <c:pt idx="6">
                  <c:v>Almond and other nut flour-based</c:v>
                </c:pt>
                <c:pt idx="7">
                  <c:v>Other single-flour bases</c:v>
                </c:pt>
                <c:pt idx="8">
                  <c:v>Multigrain and blended flour bases</c:v>
                </c:pt>
                <c:pt idx="9">
                  <c:v>2036 Total</c:v>
                </c:pt>
              </c:strCache>
            </c:strRef>
          </c:cat>
          <c:val>
            <c:numRef>
              <c:numCache>
                <c:formatCode>General</c:formatCode>
                <c:ptCount val="10"/>
                <c:pt idx="0">
                  <c:v>2479.62</c:v>
                </c:pt>
                <c:pt idx="1">
                  <c:v>199.25299999999993</c:v>
                </c:pt>
                <c:pt idx="2">
                  <c:v>373.84400000000005</c:v>
                </c:pt>
                <c:pt idx="3">
                  <c:v>102.30800000000005</c:v>
                </c:pt>
                <c:pt idx="4">
                  <c:v>113.505</c:v>
                </c:pt>
                <c:pt idx="5">
                  <c:v>120.11699999999999</c:v>
                </c:pt>
                <c:pt idx="6">
                  <c:v>39.039</c:v>
                </c:pt>
                <c:pt idx="7">
                  <c:v>173.35699999999997</c:v>
                </c:pt>
                <c:pt idx="8">
                  <c:v>8.394000000000005</c:v>
                </c:pt>
                <c:pt idx="9">
                  <c:v>3609.4370000000004</c:v>
                </c:pt>
              </c:numCache>
            </c:numRef>
          </c:val>
        </c:ser>
        <c:gapWidth val="5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6D5E1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numFmt formatCode="#,##0" sourceLinked="0"/>
        <c:majorTickMark val="out"/>
        <c:minorTickMark val="none"/>
        <c:tickLblPos val="none"/>
        <c:spPr>
          <a:ln>
            <a:solidFill>
              <a:srgbClr val="C6D5E1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latin typeface="Calibri"/>
        </a:defRPr>
      </a:pPr>
      <a:endParaRPr lang="en-US"/>
    </a:p>
  </c:txPr>
</c:chartSpace>
</file>

<file path=ppt/charts/chart3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stacked"/>
        <c:varyColors val="0"/>
        <c:ser>
          <c:idx val="0"/>
          <c:order val="0"/>
          <c:tx>
            <c:strRef>
              <c:strCache>
                <c:ptCount val="1"/>
                <c:pt idx="0">
                  <c:v>base</c:v>
                </c:pt>
              </c:strCache>
            </c:strRef>
          </c:tx>
          <c:spPr>
            <a:noFill/>
            <a:ln>
              <a:noFill/>
            </a:ln>
          </c:spPr>
          <c:cat>
            <c:strRef>
              <c:strCache>
                <c:ptCount val="9"/>
                <c:pt idx="0">
                  <c:v>Wheat-based</c:v>
                </c:pt>
                <c:pt idx="1">
                  <c:v>Oat-based</c:v>
                </c:pt>
                <c:pt idx="2">
                  <c:v>Rice-based</c:v>
                </c:pt>
                <c:pt idx="3">
                  <c:v>Corn-based</c:v>
                </c:pt>
                <c:pt idx="4">
                  <c:v>Millet-based</c:v>
                </c:pt>
                <c:pt idx="5">
                  <c:v>Almond and other nut flour-based</c:v>
                </c:pt>
                <c:pt idx="6">
                  <c:v>Other single-flour bases</c:v>
                </c:pt>
                <c:pt idx="7">
                  <c:v>Multigrain and blended flour bases</c:v>
                </c:pt>
                <c:pt idx="8">
                  <c:v>Total Absolute $ Opportunity</c:v>
                </c:pt>
              </c:strCache>
            </c:strRef>
          </c:cat>
          <c:val>
            <c:numRef>
              <c:numCache>
                <c:formatCode>General</c:formatCode>
                <c:ptCount val="9"/>
                <c:pt idx="0">
                  <c:v>0.0</c:v>
                </c:pt>
                <c:pt idx="1">
                  <c:v>199.25299999999993</c:v>
                </c:pt>
                <c:pt idx="2">
                  <c:v>573.097</c:v>
                </c:pt>
                <c:pt idx="3">
                  <c:v>675.405</c:v>
                </c:pt>
                <c:pt idx="4">
                  <c:v>788.91</c:v>
                </c:pt>
                <c:pt idx="5">
                  <c:v>909.0269999999999</c:v>
                </c:pt>
                <c:pt idx="6">
                  <c:v>948.0659999999999</c:v>
                </c:pt>
                <c:pt idx="7">
                  <c:v>1121.4229999999998</c:v>
                </c:pt>
                <c:pt idx="8">
                  <c:v>0.0</c:v>
                </c:pt>
              </c:numCache>
            </c:numRef>
          </c:val>
        </c:ser>
        <c:ser>
          <c:idx val="1"/>
          <c:order val="1"/>
          <c:tx>
            <c:strRef>
              <c:strCache>
                <c:ptCount val="1"/>
                <c:pt idx="0">
                  <c:v>value</c:v>
                </c:pt>
              </c:strCache>
            </c:strRef>
          </c:tx>
          <c:spPr/>
          <c:dPt>
            <c:idx val="0"/>
            <c:spPr>
              <a:solidFill>
                <a:srgbClr val="008189"/>
              </a:solidFill>
            </c:spPr>
          </c:dPt>
          <c:dPt>
            <c:idx val="1"/>
            <c:spPr>
              <a:solidFill>
                <a:srgbClr val="008189"/>
              </a:solidFill>
            </c:spPr>
          </c:dPt>
          <c:dPt>
            <c:idx val="2"/>
            <c:spPr>
              <a:solidFill>
                <a:srgbClr val="008189"/>
              </a:solidFill>
            </c:spPr>
          </c:dPt>
          <c:dPt>
            <c:idx val="3"/>
            <c:spPr>
              <a:solidFill>
                <a:srgbClr val="008189"/>
              </a:solidFill>
            </c:spPr>
          </c:dPt>
          <c:dPt>
            <c:idx val="4"/>
            <c:spPr>
              <a:solidFill>
                <a:srgbClr val="008189"/>
              </a:solidFill>
            </c:spPr>
          </c:dPt>
          <c:dPt>
            <c:idx val="5"/>
            <c:spPr>
              <a:solidFill>
                <a:srgbClr val="008189"/>
              </a:solidFill>
            </c:spPr>
          </c:dPt>
          <c:dPt>
            <c:idx val="6"/>
            <c:spPr>
              <a:solidFill>
                <a:srgbClr val="008189"/>
              </a:solidFill>
            </c:spPr>
          </c:dPt>
          <c:dPt>
            <c:idx val="7"/>
            <c:spPr>
              <a:solidFill>
                <a:srgbClr val="008189"/>
              </a:solidFill>
            </c:spPr>
          </c:dPt>
          <c:dPt>
            <c:idx val="8"/>
            <c:spPr>
              <a:solidFill>
                <a:srgbClr val="0E72AE"/>
              </a:solidFill>
            </c:spPr>
          </c:dPt>
          <c:dLbls>
            <c:dLbl>
              <c:idx val="0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8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#,##0" sourceLinked="0"/>
            <c:txPr>
              <a:bodyPr/>
              <a:lstStyle/>
              <a:p>
                <a:pPr>
                  <a:defRPr sz="1100">
                    <a:latin typeface="Calibri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9"/>
                <c:pt idx="0">
                  <c:v>Wheat-based</c:v>
                </c:pt>
                <c:pt idx="1">
                  <c:v>Oat-based</c:v>
                </c:pt>
                <c:pt idx="2">
                  <c:v>Rice-based</c:v>
                </c:pt>
                <c:pt idx="3">
                  <c:v>Corn-based</c:v>
                </c:pt>
                <c:pt idx="4">
                  <c:v>Millet-based</c:v>
                </c:pt>
                <c:pt idx="5">
                  <c:v>Almond and other nut flour-based</c:v>
                </c:pt>
                <c:pt idx="6">
                  <c:v>Other single-flour bases</c:v>
                </c:pt>
                <c:pt idx="7">
                  <c:v>Multigrain and blended flour bases</c:v>
                </c:pt>
                <c:pt idx="8">
                  <c:v>Total Absolute $ Opportunity</c:v>
                </c:pt>
              </c:strCache>
            </c:strRef>
          </c:cat>
          <c:val>
            <c:numRef>
              <c:numCache>
                <c:formatCode>General</c:formatCode>
                <c:ptCount val="9"/>
                <c:pt idx="0">
                  <c:v>199.25299999999993</c:v>
                </c:pt>
                <c:pt idx="1">
                  <c:v>373.84400000000005</c:v>
                </c:pt>
                <c:pt idx="2">
                  <c:v>102.30800000000005</c:v>
                </c:pt>
                <c:pt idx="3">
                  <c:v>113.505</c:v>
                </c:pt>
                <c:pt idx="4">
                  <c:v>120.11699999999999</c:v>
                </c:pt>
                <c:pt idx="5">
                  <c:v>39.039</c:v>
                </c:pt>
                <c:pt idx="6">
                  <c:v>173.35699999999997</c:v>
                </c:pt>
                <c:pt idx="7">
                  <c:v>8.394000000000005</c:v>
                </c:pt>
                <c:pt idx="8">
                  <c:v>1129.817</c:v>
                </c:pt>
              </c:numCache>
            </c:numRef>
          </c:val>
        </c:ser>
        <c:gapWidth val="5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6D5E1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numFmt formatCode="#,##0" sourceLinked="0"/>
        <c:majorTickMark val="out"/>
        <c:minorTickMark val="none"/>
        <c:tickLblPos val="none"/>
        <c:spPr>
          <a:ln>
            <a:solidFill>
              <a:srgbClr val="C6D5E1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latin typeface="Calibri"/>
        </a:defRPr>
      </a:pPr>
      <a:endParaRPr lang="en-US"/>
    </a:p>
  </c:txPr>
</c:chartSpace>
</file>

<file path=ppt/charts/chart3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stacked"/>
        <c:varyColors val="0"/>
        <c:ser>
          <c:idx val="0"/>
          <c:order val="0"/>
          <c:tx>
            <c:strRef>
              <c:strCache>
                <c:ptCount val="1"/>
                <c:pt idx="0">
                  <c:v>base</c:v>
                </c:pt>
              </c:strCache>
            </c:strRef>
          </c:tx>
          <c:spPr>
            <a:noFill/>
            <a:ln>
              <a:noFill/>
            </a:ln>
          </c:spPr>
          <c:cat>
            <c:strRef>
              <c:strCache>
                <c:ptCount val="6"/>
                <c:pt idx="0">
                  <c:v>2026</c:v>
                </c:pt>
                <c:pt idx="1">
                  <c:v>Conventional</c:v>
                </c:pt>
                <c:pt idx="2">
                  <c:v>Gluten-free</c:v>
                </c:pt>
                <c:pt idx="3">
                  <c:v>Vegan</c:v>
                </c:pt>
                <c:pt idx="4">
                  <c:v>Gluten-free and vegan</c:v>
                </c:pt>
                <c:pt idx="5">
                  <c:v>2036 Total</c:v>
                </c:pt>
              </c:strCache>
            </c:strRef>
          </c:cat>
          <c:val>
            <c:numRef>
              <c:numCache>
                <c:formatCode>General</c:formatCode>
                <c:ptCount val="6"/>
                <c:pt idx="0">
                  <c:v>0.0</c:v>
                </c:pt>
                <c:pt idx="1">
                  <c:v>2479.62</c:v>
                </c:pt>
                <c:pt idx="2">
                  <c:v>2739.9269999999997</c:v>
                </c:pt>
                <c:pt idx="3">
                  <c:v>3325.8009999999995</c:v>
                </c:pt>
                <c:pt idx="4">
                  <c:v>3346.3799999999997</c:v>
                </c:pt>
                <c:pt idx="5">
                  <c:v>0.0</c:v>
                </c:pt>
              </c:numCache>
            </c:numRef>
          </c:val>
        </c:ser>
        <c:ser>
          <c:idx val="1"/>
          <c:order val="1"/>
          <c:tx>
            <c:strRef>
              <c:strCache>
                <c:ptCount val="1"/>
                <c:pt idx="0">
                  <c:v>value</c:v>
                </c:pt>
              </c:strCache>
            </c:strRef>
          </c:tx>
          <c:spPr/>
          <c:dPt>
            <c:idx val="0"/>
            <c:spPr>
              <a:solidFill>
                <a:srgbClr val="0E72AE"/>
              </a:solidFill>
            </c:spPr>
          </c:dPt>
          <c:dPt>
            <c:idx val="1"/>
            <c:spPr>
              <a:solidFill>
                <a:srgbClr val="008189"/>
              </a:solidFill>
            </c:spPr>
          </c:dPt>
          <c:dPt>
            <c:idx val="2"/>
            <c:spPr>
              <a:solidFill>
                <a:srgbClr val="008189"/>
              </a:solidFill>
            </c:spPr>
          </c:dPt>
          <c:dPt>
            <c:idx val="3"/>
            <c:spPr>
              <a:solidFill>
                <a:srgbClr val="008189"/>
              </a:solidFill>
            </c:spPr>
          </c:dPt>
          <c:dPt>
            <c:idx val="4"/>
            <c:spPr>
              <a:solidFill>
                <a:srgbClr val="008189"/>
              </a:solidFill>
            </c:spPr>
          </c:dPt>
          <c:dPt>
            <c:idx val="5"/>
            <c:spPr>
              <a:solidFill>
                <a:srgbClr val="0E72AE"/>
              </a:solidFill>
            </c:spPr>
          </c:dPt>
          <c:dLbls>
            <c:dLbl>
              <c:idx val="0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#,##0" sourceLinked="0"/>
            <c:txPr>
              <a:bodyPr/>
              <a:lstStyle/>
              <a:p>
                <a:pPr>
                  <a:defRPr sz="1100">
                    <a:latin typeface="Calibri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6"/>
                <c:pt idx="0">
                  <c:v>2026</c:v>
                </c:pt>
                <c:pt idx="1">
                  <c:v>Conventional</c:v>
                </c:pt>
                <c:pt idx="2">
                  <c:v>Gluten-free</c:v>
                </c:pt>
                <c:pt idx="3">
                  <c:v>Vegan</c:v>
                </c:pt>
                <c:pt idx="4">
                  <c:v>Gluten-free and vegan</c:v>
                </c:pt>
                <c:pt idx="5">
                  <c:v>2036 Total</c:v>
                </c:pt>
              </c:strCache>
            </c:strRef>
          </c:cat>
          <c:val>
            <c:numRef>
              <c:numCache>
                <c:formatCode>General</c:formatCode>
                <c:ptCount val="6"/>
                <c:pt idx="0">
                  <c:v>2479.62</c:v>
                </c:pt>
                <c:pt idx="1">
                  <c:v>260.30699999999996</c:v>
                </c:pt>
                <c:pt idx="2">
                  <c:v>585.874</c:v>
                </c:pt>
                <c:pt idx="3">
                  <c:v>20.579000000000008</c:v>
                </c:pt>
                <c:pt idx="4">
                  <c:v>263.05700000000013</c:v>
                </c:pt>
                <c:pt idx="5">
                  <c:v>3609.437</c:v>
                </c:pt>
              </c:numCache>
            </c:numRef>
          </c:val>
        </c:ser>
        <c:gapWidth val="5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6D5E1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numFmt formatCode="#,##0" sourceLinked="0"/>
        <c:majorTickMark val="out"/>
        <c:minorTickMark val="none"/>
        <c:tickLblPos val="none"/>
        <c:spPr>
          <a:ln>
            <a:solidFill>
              <a:srgbClr val="C6D5E1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latin typeface="Calibri"/>
        </a:defRPr>
      </a:pPr>
      <a:endParaRPr lang="en-US"/>
    </a:p>
  </c:txPr>
</c:chartSpace>
</file>

<file path=ppt/charts/chart3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stacked"/>
        <c:varyColors val="0"/>
        <c:ser>
          <c:idx val="0"/>
          <c:order val="0"/>
          <c:tx>
            <c:strRef>
              <c:strCache>
                <c:ptCount val="1"/>
                <c:pt idx="0">
                  <c:v>base</c:v>
                </c:pt>
              </c:strCache>
            </c:strRef>
          </c:tx>
          <c:spPr>
            <a:noFill/>
            <a:ln>
              <a:noFill/>
            </a:ln>
          </c:spPr>
          <c:cat>
            <c:strRef>
              <c:strCache>
                <c:ptCount val="5"/>
                <c:pt idx="0">
                  <c:v>Conventional</c:v>
                </c:pt>
                <c:pt idx="1">
                  <c:v>Gluten-free</c:v>
                </c:pt>
                <c:pt idx="2">
                  <c:v>Vegan</c:v>
                </c:pt>
                <c:pt idx="3">
                  <c:v>Gluten-free and vegan</c:v>
                </c:pt>
                <c:pt idx="4">
                  <c:v>Total Absolute $ Opportunity</c:v>
                </c:pt>
              </c:strCache>
            </c:strRef>
          </c:cat>
          <c:val>
            <c:numRef>
              <c:numCache>
                <c:formatCode>General</c:formatCode>
                <c:ptCount val="5"/>
                <c:pt idx="0">
                  <c:v>0.0</c:v>
                </c:pt>
                <c:pt idx="1">
                  <c:v>260.30699999999996</c:v>
                </c:pt>
                <c:pt idx="2">
                  <c:v>846.181</c:v>
                </c:pt>
                <c:pt idx="3">
                  <c:v>866.76</c:v>
                </c:pt>
                <c:pt idx="4">
                  <c:v>0.0</c:v>
                </c:pt>
              </c:numCache>
            </c:numRef>
          </c:val>
        </c:ser>
        <c:ser>
          <c:idx val="1"/>
          <c:order val="1"/>
          <c:tx>
            <c:strRef>
              <c:strCache>
                <c:ptCount val="1"/>
                <c:pt idx="0">
                  <c:v>value</c:v>
                </c:pt>
              </c:strCache>
            </c:strRef>
          </c:tx>
          <c:spPr/>
          <c:dPt>
            <c:idx val="0"/>
            <c:spPr>
              <a:solidFill>
                <a:srgbClr val="008189"/>
              </a:solidFill>
            </c:spPr>
          </c:dPt>
          <c:dPt>
            <c:idx val="1"/>
            <c:spPr>
              <a:solidFill>
                <a:srgbClr val="008189"/>
              </a:solidFill>
            </c:spPr>
          </c:dPt>
          <c:dPt>
            <c:idx val="2"/>
            <c:spPr>
              <a:solidFill>
                <a:srgbClr val="008189"/>
              </a:solidFill>
            </c:spPr>
          </c:dPt>
          <c:dPt>
            <c:idx val="3"/>
            <c:spPr>
              <a:solidFill>
                <a:srgbClr val="008189"/>
              </a:solidFill>
            </c:spPr>
          </c:dPt>
          <c:dPt>
            <c:idx val="4"/>
            <c:spPr>
              <a:solidFill>
                <a:srgbClr val="0E72AE"/>
              </a:solidFill>
            </c:spPr>
          </c:dPt>
          <c:dLbls>
            <c:dLbl>
              <c:idx val="0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#,##0" sourceLinked="0"/>
            <c:txPr>
              <a:bodyPr/>
              <a:lstStyle/>
              <a:p>
                <a:pPr>
                  <a:defRPr sz="1100">
                    <a:latin typeface="Calibri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5"/>
                <c:pt idx="0">
                  <c:v>Conventional</c:v>
                </c:pt>
                <c:pt idx="1">
                  <c:v>Gluten-free</c:v>
                </c:pt>
                <c:pt idx="2">
                  <c:v>Vegan</c:v>
                </c:pt>
                <c:pt idx="3">
                  <c:v>Gluten-free and vegan</c:v>
                </c:pt>
                <c:pt idx="4">
                  <c:v>Total Absolute $ Opportunity</c:v>
                </c:pt>
              </c:strCache>
            </c:strRef>
          </c:cat>
          <c:val>
            <c:numRef>
              <c:numCache>
                <c:formatCode>General</c:formatCode>
                <c:ptCount val="5"/>
                <c:pt idx="0">
                  <c:v>260.30699999999996</c:v>
                </c:pt>
                <c:pt idx="1">
                  <c:v>585.874</c:v>
                </c:pt>
                <c:pt idx="2">
                  <c:v>20.579000000000008</c:v>
                </c:pt>
                <c:pt idx="3">
                  <c:v>263.05700000000013</c:v>
                </c:pt>
                <c:pt idx="4">
                  <c:v>1129.817</c:v>
                </c:pt>
              </c:numCache>
            </c:numRef>
          </c:val>
        </c:ser>
        <c:gapWidth val="5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6D5E1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numFmt formatCode="#,##0" sourceLinked="0"/>
        <c:majorTickMark val="out"/>
        <c:minorTickMark val="none"/>
        <c:tickLblPos val="none"/>
        <c:spPr>
          <a:ln>
            <a:solidFill>
              <a:srgbClr val="C6D5E1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latin typeface="Calibri"/>
        </a:defRPr>
      </a:pPr>
      <a:endParaRPr lang="en-US"/>
    </a:p>
  </c:txPr>
</c:chartSpace>
</file>

<file path=ppt/charts/chart3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stacked"/>
        <c:varyColors val="0"/>
        <c:ser>
          <c:idx val="0"/>
          <c:order val="0"/>
          <c:tx>
            <c:strRef>
              <c:strCache>
                <c:ptCount val="1"/>
                <c:pt idx="0">
                  <c:v>base</c:v>
                </c:pt>
              </c:strCache>
            </c:strRef>
          </c:tx>
          <c:spPr>
            <a:noFill/>
            <a:ln>
              <a:noFill/>
            </a:ln>
          </c:spPr>
          <c:cat>
            <c:strRef>
              <c:strCache>
                <c:ptCount val="9"/>
                <c:pt idx="0">
                  <c:v>2026</c:v>
                </c:pt>
                <c:pt idx="1">
                  <c:v>Standard / indulgent</c:v>
                </c:pt>
                <c:pt idx="2">
                  <c:v>Protein-enriched</c:v>
                </c:pt>
                <c:pt idx="3">
                  <c:v>Fibre-enriched</c:v>
                </c:pt>
                <c:pt idx="4">
                  <c:v>Reduced-sugar</c:v>
                </c:pt>
                <c:pt idx="5">
                  <c:v>No-added-sugar</c:v>
                </c:pt>
                <c:pt idx="6">
                  <c:v>Reduced-fat</c:v>
                </c:pt>
                <c:pt idx="7">
                  <c:v>Other nutrition-focused formulations</c:v>
                </c:pt>
                <c:pt idx="8">
                  <c:v>2036 Total</c:v>
                </c:pt>
              </c:strCache>
            </c:strRef>
          </c:cat>
          <c:val>
            <c:numRef>
              <c:numCache>
                <c:formatCode>General</c:formatCode>
                <c:ptCount val="9"/>
                <c:pt idx="0">
                  <c:v>0.0</c:v>
                </c:pt>
                <c:pt idx="1">
                  <c:v>2479.62</c:v>
                </c:pt>
                <c:pt idx="2">
                  <c:v>2655.573</c:v>
                </c:pt>
                <c:pt idx="3">
                  <c:v>3029.701</c:v>
                </c:pt>
                <c:pt idx="4">
                  <c:v>3088.167</c:v>
                </c:pt>
                <c:pt idx="5">
                  <c:v>3344.863</c:v>
                </c:pt>
                <c:pt idx="6">
                  <c:v>3418.546</c:v>
                </c:pt>
                <c:pt idx="7">
                  <c:v>3558.528</c:v>
                </c:pt>
                <c:pt idx="8">
                  <c:v>0.0</c:v>
                </c:pt>
              </c:numCache>
            </c:numRef>
          </c:val>
        </c:ser>
        <c:ser>
          <c:idx val="1"/>
          <c:order val="1"/>
          <c:tx>
            <c:strRef>
              <c:strCache>
                <c:ptCount val="1"/>
                <c:pt idx="0">
                  <c:v>value</c:v>
                </c:pt>
              </c:strCache>
            </c:strRef>
          </c:tx>
          <c:spPr/>
          <c:dPt>
            <c:idx val="0"/>
            <c:spPr>
              <a:solidFill>
                <a:srgbClr val="0E72AE"/>
              </a:solidFill>
            </c:spPr>
          </c:dPt>
          <c:dPt>
            <c:idx val="1"/>
            <c:spPr>
              <a:solidFill>
                <a:srgbClr val="008189"/>
              </a:solidFill>
            </c:spPr>
          </c:dPt>
          <c:dPt>
            <c:idx val="2"/>
            <c:spPr>
              <a:solidFill>
                <a:srgbClr val="008189"/>
              </a:solidFill>
            </c:spPr>
          </c:dPt>
          <c:dPt>
            <c:idx val="3"/>
            <c:spPr>
              <a:solidFill>
                <a:srgbClr val="008189"/>
              </a:solidFill>
            </c:spPr>
          </c:dPt>
          <c:dPt>
            <c:idx val="4"/>
            <c:spPr>
              <a:solidFill>
                <a:srgbClr val="008189"/>
              </a:solidFill>
            </c:spPr>
          </c:dPt>
          <c:dPt>
            <c:idx val="5"/>
            <c:spPr>
              <a:solidFill>
                <a:srgbClr val="008189"/>
              </a:solidFill>
            </c:spPr>
          </c:dPt>
          <c:dPt>
            <c:idx val="6"/>
            <c:spPr>
              <a:solidFill>
                <a:srgbClr val="008189"/>
              </a:solidFill>
            </c:spPr>
          </c:dPt>
          <c:dPt>
            <c:idx val="7"/>
            <c:spPr>
              <a:solidFill>
                <a:srgbClr val="008189"/>
              </a:solidFill>
            </c:spPr>
          </c:dPt>
          <c:dPt>
            <c:idx val="8"/>
            <c:spPr>
              <a:solidFill>
                <a:srgbClr val="0E72AE"/>
              </a:solidFill>
            </c:spPr>
          </c:dPt>
          <c:dLbls>
            <c:dLbl>
              <c:idx val="0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8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#,##0" sourceLinked="0"/>
            <c:txPr>
              <a:bodyPr/>
              <a:lstStyle/>
              <a:p>
                <a:pPr>
                  <a:defRPr sz="1100">
                    <a:latin typeface="Calibri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9"/>
                <c:pt idx="0">
                  <c:v>2026</c:v>
                </c:pt>
                <c:pt idx="1">
                  <c:v>Standard / indulgent</c:v>
                </c:pt>
                <c:pt idx="2">
                  <c:v>Protein-enriched</c:v>
                </c:pt>
                <c:pt idx="3">
                  <c:v>Fibre-enriched</c:v>
                </c:pt>
                <c:pt idx="4">
                  <c:v>Reduced-sugar</c:v>
                </c:pt>
                <c:pt idx="5">
                  <c:v>No-added-sugar</c:v>
                </c:pt>
                <c:pt idx="6">
                  <c:v>Reduced-fat</c:v>
                </c:pt>
                <c:pt idx="7">
                  <c:v>Other nutrition-focused formulations</c:v>
                </c:pt>
                <c:pt idx="8">
                  <c:v>2036 Total</c:v>
                </c:pt>
              </c:strCache>
            </c:strRef>
          </c:cat>
          <c:val>
            <c:numRef>
              <c:numCache>
                <c:formatCode>General</c:formatCode>
                <c:ptCount val="9"/>
                <c:pt idx="0">
                  <c:v>2479.62</c:v>
                </c:pt>
                <c:pt idx="1">
                  <c:v>175.95299999999997</c:v>
                </c:pt>
                <c:pt idx="2">
                  <c:v>374.12800000000004</c:v>
                </c:pt>
                <c:pt idx="3">
                  <c:v>58.465999999999994</c:v>
                </c:pt>
                <c:pt idx="4">
                  <c:v>256.69599999999997</c:v>
                </c:pt>
                <c:pt idx="5">
                  <c:v>73.68300000000002</c:v>
                </c:pt>
                <c:pt idx="6">
                  <c:v>139.98200000000003</c:v>
                </c:pt>
                <c:pt idx="7">
                  <c:v>50.90899999999999</c:v>
                </c:pt>
                <c:pt idx="8">
                  <c:v>3609.437</c:v>
                </c:pt>
              </c:numCache>
            </c:numRef>
          </c:val>
        </c:ser>
        <c:gapWidth val="5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6D5E1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numFmt formatCode="#,##0" sourceLinked="0"/>
        <c:majorTickMark val="out"/>
        <c:minorTickMark val="none"/>
        <c:tickLblPos val="none"/>
        <c:spPr>
          <a:ln>
            <a:solidFill>
              <a:srgbClr val="C6D5E1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latin typeface="Calibri"/>
        </a:defRPr>
      </a:pPr>
      <a:endParaRPr lang="en-US"/>
    </a:p>
  </c:txPr>
</c:chartSpace>
</file>

<file path=ppt/charts/chart3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stacked"/>
        <c:varyColors val="0"/>
        <c:ser>
          <c:idx val="0"/>
          <c:order val="0"/>
          <c:tx>
            <c:strRef>
              <c:strCache>
                <c:ptCount val="1"/>
                <c:pt idx="0">
                  <c:v>base</c:v>
                </c:pt>
              </c:strCache>
            </c:strRef>
          </c:tx>
          <c:spPr>
            <a:noFill/>
            <a:ln>
              <a:noFill/>
            </a:ln>
          </c:spPr>
          <c:cat>
            <c:strRef>
              <c:strCache>
                <c:ptCount val="8"/>
                <c:pt idx="0">
                  <c:v>Standard / indulgent</c:v>
                </c:pt>
                <c:pt idx="1">
                  <c:v>Protein-enriched</c:v>
                </c:pt>
                <c:pt idx="2">
                  <c:v>Fibre-enriched</c:v>
                </c:pt>
                <c:pt idx="3">
                  <c:v>Reduced-sugar</c:v>
                </c:pt>
                <c:pt idx="4">
                  <c:v>No-added-sugar</c:v>
                </c:pt>
                <c:pt idx="5">
                  <c:v>Reduced-fat</c:v>
                </c:pt>
                <c:pt idx="6">
                  <c:v>Other nutrition-focused formulations</c:v>
                </c:pt>
                <c:pt idx="7">
                  <c:v>Total Absolute $ Opportunity</c:v>
                </c:pt>
              </c:strCache>
            </c:strRef>
          </c:cat>
          <c:val>
            <c:numRef>
              <c:numCache>
                <c:formatCode>General</c:formatCode>
                <c:ptCount val="8"/>
                <c:pt idx="0">
                  <c:v>0.0</c:v>
                </c:pt>
                <c:pt idx="1">
                  <c:v>175.95299999999997</c:v>
                </c:pt>
                <c:pt idx="2">
                  <c:v>550.081</c:v>
                </c:pt>
                <c:pt idx="3">
                  <c:v>608.547</c:v>
                </c:pt>
                <c:pt idx="4">
                  <c:v>865.2429999999999</c:v>
                </c:pt>
                <c:pt idx="5">
                  <c:v>938.9259999999999</c:v>
                </c:pt>
                <c:pt idx="6">
                  <c:v>1078.908</c:v>
                </c:pt>
                <c:pt idx="7">
                  <c:v>0.0</c:v>
                </c:pt>
              </c:numCache>
            </c:numRef>
          </c:val>
        </c:ser>
        <c:ser>
          <c:idx val="1"/>
          <c:order val="1"/>
          <c:tx>
            <c:strRef>
              <c:strCache>
                <c:ptCount val="1"/>
                <c:pt idx="0">
                  <c:v>value</c:v>
                </c:pt>
              </c:strCache>
            </c:strRef>
          </c:tx>
          <c:spPr/>
          <c:dPt>
            <c:idx val="0"/>
            <c:spPr>
              <a:solidFill>
                <a:srgbClr val="008189"/>
              </a:solidFill>
            </c:spPr>
          </c:dPt>
          <c:dPt>
            <c:idx val="1"/>
            <c:spPr>
              <a:solidFill>
                <a:srgbClr val="008189"/>
              </a:solidFill>
            </c:spPr>
          </c:dPt>
          <c:dPt>
            <c:idx val="2"/>
            <c:spPr>
              <a:solidFill>
                <a:srgbClr val="008189"/>
              </a:solidFill>
            </c:spPr>
          </c:dPt>
          <c:dPt>
            <c:idx val="3"/>
            <c:spPr>
              <a:solidFill>
                <a:srgbClr val="008189"/>
              </a:solidFill>
            </c:spPr>
          </c:dPt>
          <c:dPt>
            <c:idx val="4"/>
            <c:spPr>
              <a:solidFill>
                <a:srgbClr val="008189"/>
              </a:solidFill>
            </c:spPr>
          </c:dPt>
          <c:dPt>
            <c:idx val="5"/>
            <c:spPr>
              <a:solidFill>
                <a:srgbClr val="008189"/>
              </a:solidFill>
            </c:spPr>
          </c:dPt>
          <c:dPt>
            <c:idx val="6"/>
            <c:spPr>
              <a:solidFill>
                <a:srgbClr val="008189"/>
              </a:solidFill>
            </c:spPr>
          </c:dPt>
          <c:dPt>
            <c:idx val="7"/>
            <c:spPr>
              <a:solidFill>
                <a:srgbClr val="0E72AE"/>
              </a:solidFill>
            </c:spPr>
          </c:dPt>
          <c:dLbls>
            <c:dLbl>
              <c:idx val="0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#,##0" sourceLinked="0"/>
            <c:txPr>
              <a:bodyPr/>
              <a:lstStyle/>
              <a:p>
                <a:pPr>
                  <a:defRPr sz="1100">
                    <a:latin typeface="Calibri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8"/>
                <c:pt idx="0">
                  <c:v>Standard / indulgent</c:v>
                </c:pt>
                <c:pt idx="1">
                  <c:v>Protein-enriched</c:v>
                </c:pt>
                <c:pt idx="2">
                  <c:v>Fibre-enriched</c:v>
                </c:pt>
                <c:pt idx="3">
                  <c:v>Reduced-sugar</c:v>
                </c:pt>
                <c:pt idx="4">
                  <c:v>No-added-sugar</c:v>
                </c:pt>
                <c:pt idx="5">
                  <c:v>Reduced-fat</c:v>
                </c:pt>
                <c:pt idx="6">
                  <c:v>Other nutrition-focused formulations</c:v>
                </c:pt>
                <c:pt idx="7">
                  <c:v>Total Absolute $ Opportunity</c:v>
                </c:pt>
              </c:strCache>
            </c:strRef>
          </c:cat>
          <c:val>
            <c:numRef>
              <c:numCache>
                <c:formatCode>General</c:formatCode>
                <c:ptCount val="8"/>
                <c:pt idx="0">
                  <c:v>175.95299999999997</c:v>
                </c:pt>
                <c:pt idx="1">
                  <c:v>374.12800000000004</c:v>
                </c:pt>
                <c:pt idx="2">
                  <c:v>58.465999999999994</c:v>
                </c:pt>
                <c:pt idx="3">
                  <c:v>256.69599999999997</c:v>
                </c:pt>
                <c:pt idx="4">
                  <c:v>73.68300000000002</c:v>
                </c:pt>
                <c:pt idx="5">
                  <c:v>139.98200000000003</c:v>
                </c:pt>
                <c:pt idx="6">
                  <c:v>50.90899999999999</c:v>
                </c:pt>
                <c:pt idx="7">
                  <c:v>1129.817</c:v>
                </c:pt>
              </c:numCache>
            </c:numRef>
          </c:val>
        </c:ser>
        <c:gapWidth val="5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6D5E1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numFmt formatCode="#,##0" sourceLinked="0"/>
        <c:majorTickMark val="out"/>
        <c:minorTickMark val="none"/>
        <c:tickLblPos val="none"/>
        <c:spPr>
          <a:ln>
            <a:solidFill>
              <a:srgbClr val="C6D5E1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latin typeface="Calibri"/>
        </a:defRPr>
      </a:pPr>
      <a:endParaRPr lang="en-US"/>
    </a:p>
  </c:txPr>
</c:chartSpace>
</file>

<file path=ppt/charts/chart4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stacked"/>
        <c:varyColors val="0"/>
        <c:ser>
          <c:idx val="0"/>
          <c:order val="0"/>
          <c:tx>
            <c:strRef>
              <c:strCache>
                <c:ptCount val="1"/>
                <c:pt idx="0">
                  <c:v>base</c:v>
                </c:pt>
              </c:strCache>
            </c:strRef>
          </c:tx>
          <c:spPr>
            <a:noFill/>
            <a:ln>
              <a:noFill/>
            </a:ln>
          </c:spPr>
          <c:cat>
            <c:strRef>
              <c:strCache>
                <c:ptCount val="5"/>
                <c:pt idx="0">
                  <c:v>2026</c:v>
                </c:pt>
                <c:pt idx="1">
                  <c:v>Organic-certified</c:v>
                </c:pt>
                <c:pt idx="2">
                  <c:v>Conventional / non-organic</c:v>
                </c:pt>
                <c:pt idx="3">
                  <c:v>Additional claim mapping</c:v>
                </c:pt>
                <c:pt idx="4">
                  <c:v>2036 Total</c:v>
                </c:pt>
              </c:strCache>
            </c:strRef>
          </c:cat>
          <c:val>
            <c:numRef>
              <c:numCache>
                <c:formatCode>General</c:formatCode>
                <c:ptCount val="5"/>
                <c:pt idx="0">
                  <c:v>0.0</c:v>
                </c:pt>
                <c:pt idx="1">
                  <c:v>2479.62</c:v>
                </c:pt>
                <c:pt idx="2">
                  <c:v>2568.31</c:v>
                </c:pt>
                <c:pt idx="3">
                  <c:v>2576.819</c:v>
                </c:pt>
                <c:pt idx="4">
                  <c:v>0.0</c:v>
                </c:pt>
              </c:numCache>
            </c:numRef>
          </c:val>
        </c:ser>
        <c:ser>
          <c:idx val="1"/>
          <c:order val="1"/>
          <c:tx>
            <c:strRef>
              <c:strCache>
                <c:ptCount val="1"/>
                <c:pt idx="0">
                  <c:v>value</c:v>
                </c:pt>
              </c:strCache>
            </c:strRef>
          </c:tx>
          <c:spPr/>
          <c:dPt>
            <c:idx val="0"/>
            <c:spPr>
              <a:solidFill>
                <a:srgbClr val="0E72AE"/>
              </a:solidFill>
            </c:spPr>
          </c:dPt>
          <c:dPt>
            <c:idx val="1"/>
            <c:spPr>
              <a:solidFill>
                <a:srgbClr val="008189"/>
              </a:solidFill>
            </c:spPr>
          </c:dPt>
          <c:dPt>
            <c:idx val="2"/>
            <c:spPr>
              <a:solidFill>
                <a:srgbClr val="008189"/>
              </a:solidFill>
            </c:spPr>
          </c:dPt>
          <c:dPt>
            <c:idx val="3"/>
            <c:spPr>
              <a:solidFill>
                <a:srgbClr val="008189"/>
              </a:solidFill>
            </c:spPr>
          </c:dPt>
          <c:dPt>
            <c:idx val="4"/>
            <c:spPr>
              <a:solidFill>
                <a:srgbClr val="0E72AE"/>
              </a:solidFill>
            </c:spPr>
          </c:dPt>
          <c:dLbls>
            <c:dLbl>
              <c:idx val="0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#,##0" sourceLinked="0"/>
            <c:txPr>
              <a:bodyPr/>
              <a:lstStyle/>
              <a:p>
                <a:pPr>
                  <a:defRPr sz="1100">
                    <a:latin typeface="Calibri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5"/>
                <c:pt idx="0">
                  <c:v>2026</c:v>
                </c:pt>
                <c:pt idx="1">
                  <c:v>Organic-certified</c:v>
                </c:pt>
                <c:pt idx="2">
                  <c:v>Conventional / non-organic</c:v>
                </c:pt>
                <c:pt idx="3">
                  <c:v>Additional claim mapping</c:v>
                </c:pt>
                <c:pt idx="4">
                  <c:v>2036 Total</c:v>
                </c:pt>
              </c:strCache>
            </c:strRef>
          </c:cat>
          <c:val>
            <c:numRef>
              <c:numCache>
                <c:formatCode>General</c:formatCode>
                <c:ptCount val="5"/>
                <c:pt idx="0">
                  <c:v>2479.62</c:v>
                </c:pt>
                <c:pt idx="1">
                  <c:v>88.69</c:v>
                </c:pt>
                <c:pt idx="2">
                  <c:v>8.509</c:v>
                </c:pt>
                <c:pt idx="3">
                  <c:v>1032.618</c:v>
                </c:pt>
                <c:pt idx="4">
                  <c:v>3609.437</c:v>
                </c:pt>
              </c:numCache>
            </c:numRef>
          </c:val>
        </c:ser>
        <c:gapWidth val="5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6D5E1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numFmt formatCode="#,##0" sourceLinked="0"/>
        <c:majorTickMark val="out"/>
        <c:minorTickMark val="none"/>
        <c:tickLblPos val="none"/>
        <c:spPr>
          <a:ln>
            <a:solidFill>
              <a:srgbClr val="C6D5E1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latin typeface="Calibri"/>
        </a:defRPr>
      </a:pPr>
      <a:endParaRPr lang="en-US"/>
    </a:p>
  </c:txPr>
</c:chartSpace>
</file>

<file path=ppt/charts/chart4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stacked"/>
        <c:varyColors val="0"/>
        <c:ser>
          <c:idx val="0"/>
          <c:order val="0"/>
          <c:tx>
            <c:strRef>
              <c:strCache>
                <c:ptCount val="1"/>
                <c:pt idx="0">
                  <c:v>base</c:v>
                </c:pt>
              </c:strCache>
            </c:strRef>
          </c:tx>
          <c:spPr>
            <a:noFill/>
            <a:ln>
              <a:noFill/>
            </a:ln>
          </c:spPr>
          <c:cat>
            <c:strRef>
              <c:strCache>
                <c:ptCount val="4"/>
                <c:pt idx="0">
                  <c:v>Organic-certified</c:v>
                </c:pt>
                <c:pt idx="1">
                  <c:v>Conventional / non-organic</c:v>
                </c:pt>
                <c:pt idx="2">
                  <c:v>Additional claim mapping</c:v>
                </c:pt>
                <c:pt idx="3">
                  <c:v>Total Absolute $ Opportunity</c:v>
                </c:pt>
              </c:strCache>
            </c:strRef>
          </c:cat>
          <c:val>
            <c:numRef>
              <c:numCache>
                <c:formatCode>General</c:formatCode>
                <c:ptCount val="4"/>
                <c:pt idx="0">
                  <c:v>0.0</c:v>
                </c:pt>
                <c:pt idx="1">
                  <c:v>88.69</c:v>
                </c:pt>
                <c:pt idx="2">
                  <c:v>97.199</c:v>
                </c:pt>
                <c:pt idx="3">
                  <c:v>0.0</c:v>
                </c:pt>
              </c:numCache>
            </c:numRef>
          </c:val>
        </c:ser>
        <c:ser>
          <c:idx val="1"/>
          <c:order val="1"/>
          <c:tx>
            <c:strRef>
              <c:strCache>
                <c:ptCount val="1"/>
                <c:pt idx="0">
                  <c:v>value</c:v>
                </c:pt>
              </c:strCache>
            </c:strRef>
          </c:tx>
          <c:spPr/>
          <c:dPt>
            <c:idx val="0"/>
            <c:spPr>
              <a:solidFill>
                <a:srgbClr val="008189"/>
              </a:solidFill>
            </c:spPr>
          </c:dPt>
          <c:dPt>
            <c:idx val="1"/>
            <c:spPr>
              <a:solidFill>
                <a:srgbClr val="008189"/>
              </a:solidFill>
            </c:spPr>
          </c:dPt>
          <c:dPt>
            <c:idx val="2"/>
            <c:spPr>
              <a:solidFill>
                <a:srgbClr val="008189"/>
              </a:solidFill>
            </c:spPr>
          </c:dPt>
          <c:dPt>
            <c:idx val="3"/>
            <c:spPr>
              <a:solidFill>
                <a:srgbClr val="0E72AE"/>
              </a:solidFill>
            </c:spPr>
          </c:dPt>
          <c:dLbls>
            <c:dLbl>
              <c:idx val="0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#,##0" sourceLinked="0"/>
            <c:txPr>
              <a:bodyPr/>
              <a:lstStyle/>
              <a:p>
                <a:pPr>
                  <a:defRPr sz="1100">
                    <a:latin typeface="Calibri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4"/>
                <c:pt idx="0">
                  <c:v>Organic-certified</c:v>
                </c:pt>
                <c:pt idx="1">
                  <c:v>Conventional / non-organic</c:v>
                </c:pt>
                <c:pt idx="2">
                  <c:v>Additional claim mapping</c:v>
                </c:pt>
                <c:pt idx="3">
                  <c:v>Total Absolute $ Opportunity</c:v>
                </c:pt>
              </c:strCache>
            </c:strRef>
          </c:cat>
          <c:val>
            <c:numRef>
              <c:numCache>
                <c:formatCode>General</c:formatCode>
                <c:ptCount val="4"/>
                <c:pt idx="0">
                  <c:v>88.69</c:v>
                </c:pt>
                <c:pt idx="1">
                  <c:v>8.509</c:v>
                </c:pt>
                <c:pt idx="2">
                  <c:v>1032.618</c:v>
                </c:pt>
                <c:pt idx="3">
                  <c:v>1129.817</c:v>
                </c:pt>
              </c:numCache>
            </c:numRef>
          </c:val>
        </c:ser>
        <c:gapWidth val="5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6D5E1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numFmt formatCode="#,##0" sourceLinked="0"/>
        <c:majorTickMark val="out"/>
        <c:minorTickMark val="none"/>
        <c:tickLblPos val="none"/>
        <c:spPr>
          <a:ln>
            <a:solidFill>
              <a:srgbClr val="C6D5E1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latin typeface="Calibri"/>
        </a:defRPr>
      </a:pPr>
      <a:endParaRPr lang="en-US"/>
    </a:p>
  </c:txPr>
</c:chartSpace>
</file>

<file path=ppt/charts/chart4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stacked"/>
        <c:varyColors val="0"/>
        <c:ser>
          <c:idx val="0"/>
          <c:order val="0"/>
          <c:tx>
            <c:strRef>
              <c:strCache>
                <c:ptCount val="1"/>
                <c:pt idx="0">
                  <c:v>base</c:v>
                </c:pt>
              </c:strCache>
            </c:strRef>
          </c:tx>
          <c:spPr>
            <a:noFill/>
            <a:ln>
              <a:noFill/>
            </a:ln>
          </c:spPr>
          <c:cat>
            <c:strRef>
              <c:strCache>
                <c:ptCount val="4"/>
                <c:pt idx="0">
                  <c:v>2026</c:v>
                </c:pt>
                <c:pt idx="1">
                  <c:v>Unfilled muffins</c:v>
                </c:pt>
                <c:pt idx="2">
                  <c:v>Filled muffins</c:v>
                </c:pt>
                <c:pt idx="3">
                  <c:v>2036 Total</c:v>
                </c:pt>
              </c:strCache>
            </c:strRef>
          </c:cat>
          <c:val>
            <c:numRef>
              <c:numCache>
                <c:formatCode>General</c:formatCode>
                <c:ptCount val="4"/>
                <c:pt idx="0">
                  <c:v>0.0</c:v>
                </c:pt>
                <c:pt idx="1">
                  <c:v>2479.62</c:v>
                </c:pt>
                <c:pt idx="2">
                  <c:v>2887.674</c:v>
                </c:pt>
                <c:pt idx="3">
                  <c:v>0.0</c:v>
                </c:pt>
              </c:numCache>
            </c:numRef>
          </c:val>
        </c:ser>
        <c:ser>
          <c:idx val="1"/>
          <c:order val="1"/>
          <c:tx>
            <c:strRef>
              <c:strCache>
                <c:ptCount val="1"/>
                <c:pt idx="0">
                  <c:v>value</c:v>
                </c:pt>
              </c:strCache>
            </c:strRef>
          </c:tx>
          <c:spPr/>
          <c:dPt>
            <c:idx val="0"/>
            <c:spPr>
              <a:solidFill>
                <a:srgbClr val="0E72AE"/>
              </a:solidFill>
            </c:spPr>
          </c:dPt>
          <c:dPt>
            <c:idx val="1"/>
            <c:spPr>
              <a:solidFill>
                <a:srgbClr val="008189"/>
              </a:solidFill>
            </c:spPr>
          </c:dPt>
          <c:dPt>
            <c:idx val="2"/>
            <c:spPr>
              <a:solidFill>
                <a:srgbClr val="008189"/>
              </a:solidFill>
            </c:spPr>
          </c:dPt>
          <c:dPt>
            <c:idx val="3"/>
            <c:spPr>
              <a:solidFill>
                <a:srgbClr val="0E72AE"/>
              </a:solidFill>
            </c:spPr>
          </c:dPt>
          <c:dLbls>
            <c:dLbl>
              <c:idx val="0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#,##0" sourceLinked="0"/>
            <c:txPr>
              <a:bodyPr/>
              <a:lstStyle/>
              <a:p>
                <a:pPr>
                  <a:defRPr sz="1100">
                    <a:latin typeface="Calibri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4"/>
                <c:pt idx="0">
                  <c:v>2026</c:v>
                </c:pt>
                <c:pt idx="1">
                  <c:v>Unfilled muffins</c:v>
                </c:pt>
                <c:pt idx="2">
                  <c:v>Filled muffins</c:v>
                </c:pt>
                <c:pt idx="3">
                  <c:v>2036 Total</c:v>
                </c:pt>
              </c:strCache>
            </c:strRef>
          </c:cat>
          <c:val>
            <c:numRef>
              <c:numCache>
                <c:formatCode>General</c:formatCode>
                <c:ptCount val="4"/>
                <c:pt idx="0">
                  <c:v>2479.62</c:v>
                </c:pt>
                <c:pt idx="1">
                  <c:v>408.05399999999986</c:v>
                </c:pt>
                <c:pt idx="2">
                  <c:v>721.7629999999999</c:v>
                </c:pt>
                <c:pt idx="3">
                  <c:v>3609.437</c:v>
                </c:pt>
              </c:numCache>
            </c:numRef>
          </c:val>
        </c:ser>
        <c:gapWidth val="5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6D5E1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numFmt formatCode="#,##0" sourceLinked="0"/>
        <c:majorTickMark val="out"/>
        <c:minorTickMark val="none"/>
        <c:tickLblPos val="none"/>
        <c:spPr>
          <a:ln>
            <a:solidFill>
              <a:srgbClr val="C6D5E1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latin typeface="Calibri"/>
        </a:defRPr>
      </a:pPr>
      <a:endParaRPr lang="en-US"/>
    </a:p>
  </c:txPr>
</c:chartSpace>
</file>

<file path=ppt/charts/chart4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stacked"/>
        <c:varyColors val="0"/>
        <c:ser>
          <c:idx val="0"/>
          <c:order val="0"/>
          <c:tx>
            <c:strRef>
              <c:strCache>
                <c:ptCount val="1"/>
                <c:pt idx="0">
                  <c:v>base</c:v>
                </c:pt>
              </c:strCache>
            </c:strRef>
          </c:tx>
          <c:spPr>
            <a:noFill/>
            <a:ln>
              <a:noFill/>
            </a:ln>
          </c:spPr>
          <c:cat>
            <c:strRef>
              <c:strCache>
                <c:ptCount val="3"/>
                <c:pt idx="0">
                  <c:v>Unfilled muffins</c:v>
                </c:pt>
                <c:pt idx="1">
                  <c:v>Filled muffins</c:v>
                </c:pt>
                <c:pt idx="2">
                  <c:v>Total Absolute $ Opportunity</c:v>
                </c:pt>
              </c:strCache>
            </c:strRef>
          </c:cat>
          <c:val>
            <c:numRef>
              <c:numCache>
                <c:formatCode>General</c:formatCode>
                <c:ptCount val="3"/>
                <c:pt idx="0">
                  <c:v>0.0</c:v>
                </c:pt>
                <c:pt idx="1">
                  <c:v>408.05399999999986</c:v>
                </c:pt>
                <c:pt idx="2">
                  <c:v>0.0</c:v>
                </c:pt>
              </c:numCache>
            </c:numRef>
          </c:val>
        </c:ser>
        <c:ser>
          <c:idx val="1"/>
          <c:order val="1"/>
          <c:tx>
            <c:strRef>
              <c:strCache>
                <c:ptCount val="1"/>
                <c:pt idx="0">
                  <c:v>value</c:v>
                </c:pt>
              </c:strCache>
            </c:strRef>
          </c:tx>
          <c:spPr/>
          <c:dPt>
            <c:idx val="0"/>
            <c:spPr>
              <a:solidFill>
                <a:srgbClr val="008189"/>
              </a:solidFill>
            </c:spPr>
          </c:dPt>
          <c:dPt>
            <c:idx val="1"/>
            <c:spPr>
              <a:solidFill>
                <a:srgbClr val="008189"/>
              </a:solidFill>
            </c:spPr>
          </c:dPt>
          <c:dPt>
            <c:idx val="2"/>
            <c:spPr>
              <a:solidFill>
                <a:srgbClr val="0E72AE"/>
              </a:solidFill>
            </c:spPr>
          </c:dPt>
          <c:dLbls>
            <c:dLbl>
              <c:idx val="0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#,##0" sourceLinked="0"/>
            <c:txPr>
              <a:bodyPr/>
              <a:lstStyle/>
              <a:p>
                <a:pPr>
                  <a:defRPr sz="1100">
                    <a:latin typeface="Calibri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3"/>
                <c:pt idx="0">
                  <c:v>Unfilled muffins</c:v>
                </c:pt>
                <c:pt idx="1">
                  <c:v>Filled muffins</c:v>
                </c:pt>
                <c:pt idx="2">
                  <c:v>Total Absolute $ Opportunity</c:v>
                </c:pt>
              </c:strCache>
            </c:strRef>
          </c:cat>
          <c:val>
            <c:numRef>
              <c:numCache>
                <c:formatCode>General</c:formatCode>
                <c:ptCount val="3"/>
                <c:pt idx="0">
                  <c:v>408.05399999999986</c:v>
                </c:pt>
                <c:pt idx="1">
                  <c:v>721.7629999999999</c:v>
                </c:pt>
                <c:pt idx="2">
                  <c:v>1129.8169999999998</c:v>
                </c:pt>
              </c:numCache>
            </c:numRef>
          </c:val>
        </c:ser>
        <c:gapWidth val="5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6D5E1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numFmt formatCode="#,##0" sourceLinked="0"/>
        <c:majorTickMark val="out"/>
        <c:minorTickMark val="none"/>
        <c:tickLblPos val="none"/>
        <c:spPr>
          <a:ln>
            <a:solidFill>
              <a:srgbClr val="C6D5E1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latin typeface="Calibri"/>
        </a:defRPr>
      </a:pPr>
      <a:endParaRPr lang="en-US"/>
    </a:p>
  </c:txPr>
</c:chartSpace>
</file>

<file path=ppt/charts/chart4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stacked"/>
        <c:varyColors val="0"/>
        <c:ser>
          <c:idx val="0"/>
          <c:order val="0"/>
          <c:tx>
            <c:strRef>
              <c:strCache>
                <c:ptCount val="1"/>
                <c:pt idx="0">
                  <c:v>base</c:v>
                </c:pt>
              </c:strCache>
            </c:strRef>
          </c:tx>
          <c:spPr>
            <a:noFill/>
            <a:ln>
              <a:noFill/>
            </a:ln>
          </c:spPr>
          <c:cat>
            <c:strRef>
              <c:strCache>
                <c:ptCount val="8"/>
                <c:pt idx="0">
                  <c:v>2026</c:v>
                </c:pt>
                <c:pt idx="1">
                  <c:v>Untopped</c:v>
                </c:pt>
                <c:pt idx="2">
                  <c:v>Crumb / streusel-topped</c:v>
                </c:pt>
                <c:pt idx="3">
                  <c:v>Sugar-topped</c:v>
                </c:pt>
                <c:pt idx="4">
                  <c:v>Nut and seed-topped</c:v>
                </c:pt>
                <c:pt idx="5">
                  <c:v>Glazed / drizzled</c:v>
                </c:pt>
                <c:pt idx="6">
                  <c:v>Other toppings</c:v>
                </c:pt>
                <c:pt idx="7">
                  <c:v>2036 Total</c:v>
                </c:pt>
              </c:strCache>
            </c:strRef>
          </c:cat>
          <c:val>
            <c:numRef>
              <c:numCache>
                <c:formatCode>General</c:formatCode>
                <c:ptCount val="8"/>
                <c:pt idx="0">
                  <c:v>0.0</c:v>
                </c:pt>
                <c:pt idx="1">
                  <c:v>2479.62</c:v>
                </c:pt>
                <c:pt idx="2">
                  <c:v>2502.783</c:v>
                </c:pt>
                <c:pt idx="3">
                  <c:v>2528.6099999999997</c:v>
                </c:pt>
                <c:pt idx="4">
                  <c:v>2578.593</c:v>
                </c:pt>
                <c:pt idx="5">
                  <c:v>3073.0719999999997</c:v>
                </c:pt>
                <c:pt idx="6">
                  <c:v>3468.035</c:v>
                </c:pt>
                <c:pt idx="7">
                  <c:v>0.0</c:v>
                </c:pt>
              </c:numCache>
            </c:numRef>
          </c:val>
        </c:ser>
        <c:ser>
          <c:idx val="1"/>
          <c:order val="1"/>
          <c:tx>
            <c:strRef>
              <c:strCache>
                <c:ptCount val="1"/>
                <c:pt idx="0">
                  <c:v>value</c:v>
                </c:pt>
              </c:strCache>
            </c:strRef>
          </c:tx>
          <c:spPr/>
          <c:dPt>
            <c:idx val="0"/>
            <c:spPr>
              <a:solidFill>
                <a:srgbClr val="0E72AE"/>
              </a:solidFill>
            </c:spPr>
          </c:dPt>
          <c:dPt>
            <c:idx val="1"/>
            <c:spPr>
              <a:solidFill>
                <a:srgbClr val="008189"/>
              </a:solidFill>
            </c:spPr>
          </c:dPt>
          <c:dPt>
            <c:idx val="2"/>
            <c:spPr>
              <a:solidFill>
                <a:srgbClr val="008189"/>
              </a:solidFill>
            </c:spPr>
          </c:dPt>
          <c:dPt>
            <c:idx val="3"/>
            <c:spPr>
              <a:solidFill>
                <a:srgbClr val="008189"/>
              </a:solidFill>
            </c:spPr>
          </c:dPt>
          <c:dPt>
            <c:idx val="4"/>
            <c:spPr>
              <a:solidFill>
                <a:srgbClr val="008189"/>
              </a:solidFill>
            </c:spPr>
          </c:dPt>
          <c:dPt>
            <c:idx val="5"/>
            <c:spPr>
              <a:solidFill>
                <a:srgbClr val="008189"/>
              </a:solidFill>
            </c:spPr>
          </c:dPt>
          <c:dPt>
            <c:idx val="6"/>
            <c:spPr>
              <a:solidFill>
                <a:srgbClr val="008189"/>
              </a:solidFill>
            </c:spPr>
          </c:dPt>
          <c:dPt>
            <c:idx val="7"/>
            <c:spPr>
              <a:solidFill>
                <a:srgbClr val="0E72AE"/>
              </a:solidFill>
            </c:spPr>
          </c:dPt>
          <c:dLbls>
            <c:dLbl>
              <c:idx val="0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#,##0" sourceLinked="0"/>
            <c:txPr>
              <a:bodyPr/>
              <a:lstStyle/>
              <a:p>
                <a:pPr>
                  <a:defRPr sz="1100">
                    <a:latin typeface="Calibri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8"/>
                <c:pt idx="0">
                  <c:v>2026</c:v>
                </c:pt>
                <c:pt idx="1">
                  <c:v>Untopped</c:v>
                </c:pt>
                <c:pt idx="2">
                  <c:v>Crumb / streusel-topped</c:v>
                </c:pt>
                <c:pt idx="3">
                  <c:v>Sugar-topped</c:v>
                </c:pt>
                <c:pt idx="4">
                  <c:v>Nut and seed-topped</c:v>
                </c:pt>
                <c:pt idx="5">
                  <c:v>Glazed / drizzled</c:v>
                </c:pt>
                <c:pt idx="6">
                  <c:v>Other toppings</c:v>
                </c:pt>
                <c:pt idx="7">
                  <c:v>2036 Total</c:v>
                </c:pt>
              </c:strCache>
            </c:strRef>
          </c:cat>
          <c:val>
            <c:numRef>
              <c:numCache>
                <c:formatCode>General</c:formatCode>
                <c:ptCount val="8"/>
                <c:pt idx="0">
                  <c:v>2479.62</c:v>
                </c:pt>
                <c:pt idx="1">
                  <c:v>23.162999999999982</c:v>
                </c:pt>
                <c:pt idx="2">
                  <c:v>25.826999999999998</c:v>
                </c:pt>
                <c:pt idx="3">
                  <c:v>49.983000000000004</c:v>
                </c:pt>
                <c:pt idx="4">
                  <c:v>494.4789999999999</c:v>
                </c:pt>
                <c:pt idx="5">
                  <c:v>394.96299999999997</c:v>
                </c:pt>
                <c:pt idx="6">
                  <c:v>141.402</c:v>
                </c:pt>
                <c:pt idx="7">
                  <c:v>3609.437</c:v>
                </c:pt>
              </c:numCache>
            </c:numRef>
          </c:val>
        </c:ser>
        <c:gapWidth val="5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6D5E1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numFmt formatCode="#,##0" sourceLinked="0"/>
        <c:majorTickMark val="out"/>
        <c:minorTickMark val="none"/>
        <c:tickLblPos val="none"/>
        <c:spPr>
          <a:ln>
            <a:solidFill>
              <a:srgbClr val="C6D5E1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latin typeface="Calibri"/>
        </a:defRPr>
      </a:pPr>
      <a:endParaRPr lang="en-US"/>
    </a:p>
  </c:txPr>
</c:chartSpace>
</file>

<file path=ppt/charts/chart4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stacked"/>
        <c:varyColors val="0"/>
        <c:ser>
          <c:idx val="0"/>
          <c:order val="0"/>
          <c:tx>
            <c:strRef>
              <c:strCache>
                <c:ptCount val="1"/>
                <c:pt idx="0">
                  <c:v>base</c:v>
                </c:pt>
              </c:strCache>
            </c:strRef>
          </c:tx>
          <c:spPr>
            <a:noFill/>
            <a:ln>
              <a:noFill/>
            </a:ln>
          </c:spPr>
          <c:cat>
            <c:strRef>
              <c:strCache>
                <c:ptCount val="7"/>
                <c:pt idx="0">
                  <c:v>Untopped</c:v>
                </c:pt>
                <c:pt idx="1">
                  <c:v>Crumb / streusel-topped</c:v>
                </c:pt>
                <c:pt idx="2">
                  <c:v>Sugar-topped</c:v>
                </c:pt>
                <c:pt idx="3">
                  <c:v>Nut and seed-topped</c:v>
                </c:pt>
                <c:pt idx="4">
                  <c:v>Glazed / drizzled</c:v>
                </c:pt>
                <c:pt idx="5">
                  <c:v>Other toppings</c:v>
                </c:pt>
                <c:pt idx="6">
                  <c:v>Total Absolute $ Opportunity</c:v>
                </c:pt>
              </c:strCache>
            </c:strRef>
          </c:cat>
          <c:val>
            <c:numRef>
              <c:numCache>
                <c:formatCode>General</c:formatCode>
                <c:ptCount val="7"/>
                <c:pt idx="0">
                  <c:v>0.0</c:v>
                </c:pt>
                <c:pt idx="1">
                  <c:v>23.162999999999982</c:v>
                </c:pt>
                <c:pt idx="2">
                  <c:v>48.98999999999998</c:v>
                </c:pt>
                <c:pt idx="3">
                  <c:v>98.97299999999998</c:v>
                </c:pt>
                <c:pt idx="4">
                  <c:v>593.4519999999999</c:v>
                </c:pt>
                <c:pt idx="5">
                  <c:v>988.4149999999998</c:v>
                </c:pt>
                <c:pt idx="6">
                  <c:v>0.0</c:v>
                </c:pt>
              </c:numCache>
            </c:numRef>
          </c:val>
        </c:ser>
        <c:ser>
          <c:idx val="1"/>
          <c:order val="1"/>
          <c:tx>
            <c:strRef>
              <c:strCache>
                <c:ptCount val="1"/>
                <c:pt idx="0">
                  <c:v>value</c:v>
                </c:pt>
              </c:strCache>
            </c:strRef>
          </c:tx>
          <c:spPr/>
          <c:dPt>
            <c:idx val="0"/>
            <c:spPr>
              <a:solidFill>
                <a:srgbClr val="008189"/>
              </a:solidFill>
            </c:spPr>
          </c:dPt>
          <c:dPt>
            <c:idx val="1"/>
            <c:spPr>
              <a:solidFill>
                <a:srgbClr val="008189"/>
              </a:solidFill>
            </c:spPr>
          </c:dPt>
          <c:dPt>
            <c:idx val="2"/>
            <c:spPr>
              <a:solidFill>
                <a:srgbClr val="008189"/>
              </a:solidFill>
            </c:spPr>
          </c:dPt>
          <c:dPt>
            <c:idx val="3"/>
            <c:spPr>
              <a:solidFill>
                <a:srgbClr val="008189"/>
              </a:solidFill>
            </c:spPr>
          </c:dPt>
          <c:dPt>
            <c:idx val="4"/>
            <c:spPr>
              <a:solidFill>
                <a:srgbClr val="008189"/>
              </a:solidFill>
            </c:spPr>
          </c:dPt>
          <c:dPt>
            <c:idx val="5"/>
            <c:spPr>
              <a:solidFill>
                <a:srgbClr val="008189"/>
              </a:solidFill>
            </c:spPr>
          </c:dPt>
          <c:dPt>
            <c:idx val="6"/>
            <c:spPr>
              <a:solidFill>
                <a:srgbClr val="0E72AE"/>
              </a:solidFill>
            </c:spPr>
          </c:dPt>
          <c:dLbls>
            <c:dLbl>
              <c:idx val="0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#,##0" sourceLinked="0"/>
            <c:txPr>
              <a:bodyPr/>
              <a:lstStyle/>
              <a:p>
                <a:pPr>
                  <a:defRPr sz="1100">
                    <a:latin typeface="Calibri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7"/>
                <c:pt idx="0">
                  <c:v>Untopped</c:v>
                </c:pt>
                <c:pt idx="1">
                  <c:v>Crumb / streusel-topped</c:v>
                </c:pt>
                <c:pt idx="2">
                  <c:v>Sugar-topped</c:v>
                </c:pt>
                <c:pt idx="3">
                  <c:v>Nut and seed-topped</c:v>
                </c:pt>
                <c:pt idx="4">
                  <c:v>Glazed / drizzled</c:v>
                </c:pt>
                <c:pt idx="5">
                  <c:v>Other toppings</c:v>
                </c:pt>
                <c:pt idx="6">
                  <c:v>Total Absolute $ Opportunity</c:v>
                </c:pt>
              </c:strCache>
            </c:strRef>
          </c:cat>
          <c:val>
            <c:numRef>
              <c:numCache>
                <c:formatCode>General</c:formatCode>
                <c:ptCount val="7"/>
                <c:pt idx="0">
                  <c:v>23.162999999999982</c:v>
                </c:pt>
                <c:pt idx="1">
                  <c:v>25.826999999999998</c:v>
                </c:pt>
                <c:pt idx="2">
                  <c:v>49.983000000000004</c:v>
                </c:pt>
                <c:pt idx="3">
                  <c:v>494.4789999999999</c:v>
                </c:pt>
                <c:pt idx="4">
                  <c:v>394.96299999999997</c:v>
                </c:pt>
                <c:pt idx="5">
                  <c:v>141.402</c:v>
                </c:pt>
                <c:pt idx="6">
                  <c:v>1129.8169999999998</c:v>
                </c:pt>
              </c:numCache>
            </c:numRef>
          </c:val>
        </c:ser>
        <c:gapWidth val="5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6D5E1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numFmt formatCode="#,##0" sourceLinked="0"/>
        <c:majorTickMark val="out"/>
        <c:minorTickMark val="none"/>
        <c:tickLblPos val="none"/>
        <c:spPr>
          <a:ln>
            <a:solidFill>
              <a:srgbClr val="C6D5E1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latin typeface="Calibri"/>
        </a:defRPr>
      </a:pPr>
      <a:endParaRPr lang="en-US"/>
    </a:p>
  </c:txPr>
</c:chartSpace>
</file>

<file path=ppt/charts/chart4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stacked"/>
        <c:varyColors val="0"/>
        <c:ser>
          <c:idx val="0"/>
          <c:order val="0"/>
          <c:tx>
            <c:strRef>
              <c:strCache>
                <c:ptCount val="1"/>
                <c:pt idx="0">
                  <c:v>base</c:v>
                </c:pt>
              </c:strCache>
            </c:strRef>
          </c:tx>
          <c:spPr>
            <a:noFill/>
            <a:ln>
              <a:noFill/>
            </a:ln>
          </c:spPr>
          <c:cat>
            <c:strRef>
              <c:strCache>
                <c:ptCount val="6"/>
                <c:pt idx="0">
                  <c:v>2026</c:v>
                </c:pt>
                <c:pt idx="1">
                  <c:v>Mini / bite-sized - below 30 g</c:v>
                </c:pt>
                <c:pt idx="2">
                  <c:v>Smallg to below 60 g</c:v>
                </c:pt>
                <c:pt idx="3">
                  <c:v>Standardg to below 100 g</c:v>
                </c:pt>
                <c:pt idx="4">
                  <c:v>Large / jumbog and above</c:v>
                </c:pt>
                <c:pt idx="5">
                  <c:v>2036 Total</c:v>
                </c:pt>
              </c:strCache>
            </c:strRef>
          </c:cat>
          <c:val>
            <c:numRef>
              <c:numCache>
                <c:formatCode>General</c:formatCode>
                <c:ptCount val="6"/>
                <c:pt idx="0">
                  <c:v>0.0</c:v>
                </c:pt>
                <c:pt idx="1">
                  <c:v>2479.62</c:v>
                </c:pt>
                <c:pt idx="2">
                  <c:v>2559.0499999999997</c:v>
                </c:pt>
                <c:pt idx="3">
                  <c:v>2711.9619999999995</c:v>
                </c:pt>
                <c:pt idx="4">
                  <c:v>3208.6459999999997</c:v>
                </c:pt>
                <c:pt idx="5">
                  <c:v>0.0</c:v>
                </c:pt>
              </c:numCache>
            </c:numRef>
          </c:val>
        </c:ser>
        <c:ser>
          <c:idx val="1"/>
          <c:order val="1"/>
          <c:tx>
            <c:strRef>
              <c:strCache>
                <c:ptCount val="1"/>
                <c:pt idx="0">
                  <c:v>value</c:v>
                </c:pt>
              </c:strCache>
            </c:strRef>
          </c:tx>
          <c:spPr/>
          <c:dPt>
            <c:idx val="0"/>
            <c:spPr>
              <a:solidFill>
                <a:srgbClr val="0E72AE"/>
              </a:solidFill>
            </c:spPr>
          </c:dPt>
          <c:dPt>
            <c:idx val="1"/>
            <c:spPr>
              <a:solidFill>
                <a:srgbClr val="008189"/>
              </a:solidFill>
            </c:spPr>
          </c:dPt>
          <c:dPt>
            <c:idx val="2"/>
            <c:spPr>
              <a:solidFill>
                <a:srgbClr val="008189"/>
              </a:solidFill>
            </c:spPr>
          </c:dPt>
          <c:dPt>
            <c:idx val="3"/>
            <c:spPr>
              <a:solidFill>
                <a:srgbClr val="008189"/>
              </a:solidFill>
            </c:spPr>
          </c:dPt>
          <c:dPt>
            <c:idx val="4"/>
            <c:spPr>
              <a:solidFill>
                <a:srgbClr val="008189"/>
              </a:solidFill>
            </c:spPr>
          </c:dPt>
          <c:dPt>
            <c:idx val="5"/>
            <c:spPr>
              <a:solidFill>
                <a:srgbClr val="0E72AE"/>
              </a:solidFill>
            </c:spPr>
          </c:dPt>
          <c:dLbls>
            <c:dLbl>
              <c:idx val="0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#,##0" sourceLinked="0"/>
            <c:txPr>
              <a:bodyPr/>
              <a:lstStyle/>
              <a:p>
                <a:pPr>
                  <a:defRPr sz="1100">
                    <a:latin typeface="Calibri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6"/>
                <c:pt idx="0">
                  <c:v>2026</c:v>
                </c:pt>
                <c:pt idx="1">
                  <c:v>Mini / bite-sized - below 30 g</c:v>
                </c:pt>
                <c:pt idx="2">
                  <c:v>Smallg to below 60 g</c:v>
                </c:pt>
                <c:pt idx="3">
                  <c:v>Standardg to below 100 g</c:v>
                </c:pt>
                <c:pt idx="4">
                  <c:v>Large / jumbog and above</c:v>
                </c:pt>
                <c:pt idx="5">
                  <c:v>2036 Total</c:v>
                </c:pt>
              </c:strCache>
            </c:strRef>
          </c:cat>
          <c:val>
            <c:numRef>
              <c:numCache>
                <c:formatCode>General</c:formatCode>
                <c:ptCount val="6"/>
                <c:pt idx="0">
                  <c:v>2479.62</c:v>
                </c:pt>
                <c:pt idx="1">
                  <c:v>79.43</c:v>
                </c:pt>
                <c:pt idx="2">
                  <c:v>152.91200000000003</c:v>
                </c:pt>
                <c:pt idx="3">
                  <c:v>496.68399999999997</c:v>
                </c:pt>
                <c:pt idx="4">
                  <c:v>400.79100000000005</c:v>
                </c:pt>
                <c:pt idx="5">
                  <c:v>3609.437</c:v>
                </c:pt>
              </c:numCache>
            </c:numRef>
          </c:val>
        </c:ser>
        <c:gapWidth val="5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6D5E1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numFmt formatCode="#,##0" sourceLinked="0"/>
        <c:majorTickMark val="out"/>
        <c:minorTickMark val="none"/>
        <c:tickLblPos val="none"/>
        <c:spPr>
          <a:ln>
            <a:solidFill>
              <a:srgbClr val="C6D5E1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latin typeface="Calibri"/>
        </a:defRPr>
      </a:pPr>
      <a:endParaRPr lang="en-US"/>
    </a:p>
  </c:txPr>
</c:chartSpace>
</file>

<file path=ppt/charts/chart4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stacked"/>
        <c:varyColors val="0"/>
        <c:ser>
          <c:idx val="0"/>
          <c:order val="0"/>
          <c:tx>
            <c:strRef>
              <c:strCache>
                <c:ptCount val="1"/>
                <c:pt idx="0">
                  <c:v>base</c:v>
                </c:pt>
              </c:strCache>
            </c:strRef>
          </c:tx>
          <c:spPr>
            <a:noFill/>
            <a:ln>
              <a:noFill/>
            </a:ln>
          </c:spPr>
          <c:cat>
            <c:strRef>
              <c:strCache>
                <c:ptCount val="5"/>
                <c:pt idx="0">
                  <c:v>Mini / bite-sized - below 30 g</c:v>
                </c:pt>
                <c:pt idx="1">
                  <c:v>Smallg to below 60 g</c:v>
                </c:pt>
                <c:pt idx="2">
                  <c:v>Standardg to below 100 g</c:v>
                </c:pt>
                <c:pt idx="3">
                  <c:v>Large / jumbog and above</c:v>
                </c:pt>
                <c:pt idx="4">
                  <c:v>Total Absolute $ Opportunity</c:v>
                </c:pt>
              </c:strCache>
            </c:strRef>
          </c:cat>
          <c:val>
            <c:numRef>
              <c:numCache>
                <c:formatCode>General</c:formatCode>
                <c:ptCount val="5"/>
                <c:pt idx="0">
                  <c:v>0.0</c:v>
                </c:pt>
                <c:pt idx="1">
                  <c:v>79.43</c:v>
                </c:pt>
                <c:pt idx="2">
                  <c:v>232.34200000000004</c:v>
                </c:pt>
                <c:pt idx="3">
                  <c:v>729.0260000000001</c:v>
                </c:pt>
                <c:pt idx="4">
                  <c:v>0.0</c:v>
                </c:pt>
              </c:numCache>
            </c:numRef>
          </c:val>
        </c:ser>
        <c:ser>
          <c:idx val="1"/>
          <c:order val="1"/>
          <c:tx>
            <c:strRef>
              <c:strCache>
                <c:ptCount val="1"/>
                <c:pt idx="0">
                  <c:v>value</c:v>
                </c:pt>
              </c:strCache>
            </c:strRef>
          </c:tx>
          <c:spPr/>
          <c:dPt>
            <c:idx val="0"/>
            <c:spPr>
              <a:solidFill>
                <a:srgbClr val="008189"/>
              </a:solidFill>
            </c:spPr>
          </c:dPt>
          <c:dPt>
            <c:idx val="1"/>
            <c:spPr>
              <a:solidFill>
                <a:srgbClr val="008189"/>
              </a:solidFill>
            </c:spPr>
          </c:dPt>
          <c:dPt>
            <c:idx val="2"/>
            <c:spPr>
              <a:solidFill>
                <a:srgbClr val="008189"/>
              </a:solidFill>
            </c:spPr>
          </c:dPt>
          <c:dPt>
            <c:idx val="3"/>
            <c:spPr>
              <a:solidFill>
                <a:srgbClr val="008189"/>
              </a:solidFill>
            </c:spPr>
          </c:dPt>
          <c:dPt>
            <c:idx val="4"/>
            <c:spPr>
              <a:solidFill>
                <a:srgbClr val="0E72AE"/>
              </a:solidFill>
            </c:spPr>
          </c:dPt>
          <c:dLbls>
            <c:dLbl>
              <c:idx val="0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#,##0" sourceLinked="0"/>
            <c:txPr>
              <a:bodyPr/>
              <a:lstStyle/>
              <a:p>
                <a:pPr>
                  <a:defRPr sz="1100">
                    <a:latin typeface="Calibri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5"/>
                <c:pt idx="0">
                  <c:v>Mini / bite-sized - below 30 g</c:v>
                </c:pt>
                <c:pt idx="1">
                  <c:v>Smallg to below 60 g</c:v>
                </c:pt>
                <c:pt idx="2">
                  <c:v>Standardg to below 100 g</c:v>
                </c:pt>
                <c:pt idx="3">
                  <c:v>Large / jumbog and above</c:v>
                </c:pt>
                <c:pt idx="4">
                  <c:v>Total Absolute $ Opportunity</c:v>
                </c:pt>
              </c:strCache>
            </c:strRef>
          </c:cat>
          <c:val>
            <c:numRef>
              <c:numCache>
                <c:formatCode>General</c:formatCode>
                <c:ptCount val="5"/>
                <c:pt idx="0">
                  <c:v>79.43</c:v>
                </c:pt>
                <c:pt idx="1">
                  <c:v>152.91200000000003</c:v>
                </c:pt>
                <c:pt idx="2">
                  <c:v>496.68399999999997</c:v>
                </c:pt>
                <c:pt idx="3">
                  <c:v>400.79100000000005</c:v>
                </c:pt>
                <c:pt idx="4">
                  <c:v>1129.817</c:v>
                </c:pt>
              </c:numCache>
            </c:numRef>
          </c:val>
        </c:ser>
        <c:gapWidth val="5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6D5E1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numFmt formatCode="#,##0" sourceLinked="0"/>
        <c:majorTickMark val="out"/>
        <c:minorTickMark val="none"/>
        <c:tickLblPos val="none"/>
        <c:spPr>
          <a:ln>
            <a:solidFill>
              <a:srgbClr val="C6D5E1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latin typeface="Calibri"/>
        </a:defRPr>
      </a:pPr>
      <a:endParaRPr lang="en-US"/>
    </a:p>
  </c:txPr>
</c:chartSpace>
</file>

<file path=ppt/charts/chart4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stacked"/>
        <c:varyColors val="0"/>
        <c:ser>
          <c:idx val="0"/>
          <c:order val="0"/>
          <c:tx>
            <c:strRef>
              <c:strCache>
                <c:ptCount val="1"/>
                <c:pt idx="0">
                  <c:v>base</c:v>
                </c:pt>
              </c:strCache>
            </c:strRef>
          </c:tx>
          <c:spPr>
            <a:noFill/>
            <a:ln>
              <a:noFill/>
            </a:ln>
          </c:spPr>
          <c:cat>
            <c:strRef>
              <c:strCache>
                <c:ptCount val="5"/>
                <c:pt idx="0">
                  <c:v>2026</c:v>
                </c:pt>
                <c:pt idx="1">
                  <c:v>Ambient</c:v>
                </c:pt>
                <c:pt idx="2">
                  <c:v>Chilled</c:v>
                </c:pt>
                <c:pt idx="3">
                  <c:v>Frozen</c:v>
                </c:pt>
                <c:pt idx="4">
                  <c:v>2036 Total</c:v>
                </c:pt>
              </c:strCache>
            </c:strRef>
          </c:cat>
          <c:val>
            <c:numRef>
              <c:numCache>
                <c:formatCode>General</c:formatCode>
                <c:ptCount val="5"/>
                <c:pt idx="0">
                  <c:v>0.0</c:v>
                </c:pt>
                <c:pt idx="1">
                  <c:v>2479.62</c:v>
                </c:pt>
                <c:pt idx="2">
                  <c:v>2648.013</c:v>
                </c:pt>
                <c:pt idx="3">
                  <c:v>3167.624</c:v>
                </c:pt>
                <c:pt idx="4">
                  <c:v>0.0</c:v>
                </c:pt>
              </c:numCache>
            </c:numRef>
          </c:val>
        </c:ser>
        <c:ser>
          <c:idx val="1"/>
          <c:order val="1"/>
          <c:tx>
            <c:strRef>
              <c:strCache>
                <c:ptCount val="1"/>
                <c:pt idx="0">
                  <c:v>value</c:v>
                </c:pt>
              </c:strCache>
            </c:strRef>
          </c:tx>
          <c:spPr/>
          <c:dPt>
            <c:idx val="0"/>
            <c:spPr>
              <a:solidFill>
                <a:srgbClr val="0E72AE"/>
              </a:solidFill>
            </c:spPr>
          </c:dPt>
          <c:dPt>
            <c:idx val="1"/>
            <c:spPr>
              <a:solidFill>
                <a:srgbClr val="008189"/>
              </a:solidFill>
            </c:spPr>
          </c:dPt>
          <c:dPt>
            <c:idx val="2"/>
            <c:spPr>
              <a:solidFill>
                <a:srgbClr val="008189"/>
              </a:solidFill>
            </c:spPr>
          </c:dPt>
          <c:dPt>
            <c:idx val="3"/>
            <c:spPr>
              <a:solidFill>
                <a:srgbClr val="008189"/>
              </a:solidFill>
            </c:spPr>
          </c:dPt>
          <c:dPt>
            <c:idx val="4"/>
            <c:spPr>
              <a:solidFill>
                <a:srgbClr val="0E72AE"/>
              </a:solidFill>
            </c:spPr>
          </c:dPt>
          <c:dLbls>
            <c:dLbl>
              <c:idx val="0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#,##0" sourceLinked="0"/>
            <c:txPr>
              <a:bodyPr/>
              <a:lstStyle/>
              <a:p>
                <a:pPr>
                  <a:defRPr sz="1100">
                    <a:latin typeface="Calibri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5"/>
                <c:pt idx="0">
                  <c:v>2026</c:v>
                </c:pt>
                <c:pt idx="1">
                  <c:v>Ambient</c:v>
                </c:pt>
                <c:pt idx="2">
                  <c:v>Chilled</c:v>
                </c:pt>
                <c:pt idx="3">
                  <c:v>Frozen</c:v>
                </c:pt>
                <c:pt idx="4">
                  <c:v>2036 Total</c:v>
                </c:pt>
              </c:strCache>
            </c:strRef>
          </c:cat>
          <c:val>
            <c:numRef>
              <c:numCache>
                <c:formatCode>General</c:formatCode>
                <c:ptCount val="5"/>
                <c:pt idx="0">
                  <c:v>2479.62</c:v>
                </c:pt>
                <c:pt idx="1">
                  <c:v>168.393</c:v>
                </c:pt>
                <c:pt idx="2">
                  <c:v>519.611</c:v>
                </c:pt>
                <c:pt idx="3">
                  <c:v>441.8129999999999</c:v>
                </c:pt>
                <c:pt idx="4">
                  <c:v>3609.437</c:v>
                </c:pt>
              </c:numCache>
            </c:numRef>
          </c:val>
        </c:ser>
        <c:gapWidth val="5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6D5E1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numFmt formatCode="#,##0" sourceLinked="0"/>
        <c:majorTickMark val="out"/>
        <c:minorTickMark val="none"/>
        <c:tickLblPos val="none"/>
        <c:spPr>
          <a:ln>
            <a:solidFill>
              <a:srgbClr val="C6D5E1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latin typeface="Calibri"/>
        </a:defRPr>
      </a:pPr>
      <a:endParaRPr lang="en-US"/>
    </a:p>
  </c:txPr>
</c:chartSpace>
</file>

<file path=ppt/charts/chart4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stacked"/>
        <c:varyColors val="0"/>
        <c:ser>
          <c:idx val="0"/>
          <c:order val="0"/>
          <c:tx>
            <c:strRef>
              <c:strCache>
                <c:ptCount val="1"/>
                <c:pt idx="0">
                  <c:v>base</c:v>
                </c:pt>
              </c:strCache>
            </c:strRef>
          </c:tx>
          <c:spPr>
            <a:noFill/>
            <a:ln>
              <a:noFill/>
            </a:ln>
          </c:spPr>
          <c:cat>
            <c:strRef>
              <c:strCache>
                <c:ptCount val="4"/>
                <c:pt idx="0">
                  <c:v>Ambient</c:v>
                </c:pt>
                <c:pt idx="1">
                  <c:v>Chilled</c:v>
                </c:pt>
                <c:pt idx="2">
                  <c:v>Frozen</c:v>
                </c:pt>
                <c:pt idx="3">
                  <c:v>Total Absolute $ Opportunity</c:v>
                </c:pt>
              </c:strCache>
            </c:strRef>
          </c:cat>
          <c:val>
            <c:numRef>
              <c:numCache>
                <c:formatCode>General</c:formatCode>
                <c:ptCount val="4"/>
                <c:pt idx="0">
                  <c:v>0.0</c:v>
                </c:pt>
                <c:pt idx="1">
                  <c:v>168.393</c:v>
                </c:pt>
                <c:pt idx="2">
                  <c:v>688.004</c:v>
                </c:pt>
                <c:pt idx="3">
                  <c:v>0.0</c:v>
                </c:pt>
              </c:numCache>
            </c:numRef>
          </c:val>
        </c:ser>
        <c:ser>
          <c:idx val="1"/>
          <c:order val="1"/>
          <c:tx>
            <c:strRef>
              <c:strCache>
                <c:ptCount val="1"/>
                <c:pt idx="0">
                  <c:v>value</c:v>
                </c:pt>
              </c:strCache>
            </c:strRef>
          </c:tx>
          <c:spPr/>
          <c:dPt>
            <c:idx val="0"/>
            <c:spPr>
              <a:solidFill>
                <a:srgbClr val="008189"/>
              </a:solidFill>
            </c:spPr>
          </c:dPt>
          <c:dPt>
            <c:idx val="1"/>
            <c:spPr>
              <a:solidFill>
                <a:srgbClr val="008189"/>
              </a:solidFill>
            </c:spPr>
          </c:dPt>
          <c:dPt>
            <c:idx val="2"/>
            <c:spPr>
              <a:solidFill>
                <a:srgbClr val="008189"/>
              </a:solidFill>
            </c:spPr>
          </c:dPt>
          <c:dPt>
            <c:idx val="3"/>
            <c:spPr>
              <a:solidFill>
                <a:srgbClr val="0E72AE"/>
              </a:solidFill>
            </c:spPr>
          </c:dPt>
          <c:dLbls>
            <c:dLbl>
              <c:idx val="0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#,##0" sourceLinked="0"/>
            <c:txPr>
              <a:bodyPr/>
              <a:lstStyle/>
              <a:p>
                <a:pPr>
                  <a:defRPr sz="1100">
                    <a:latin typeface="Calibri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4"/>
                <c:pt idx="0">
                  <c:v>Ambient</c:v>
                </c:pt>
                <c:pt idx="1">
                  <c:v>Chilled</c:v>
                </c:pt>
                <c:pt idx="2">
                  <c:v>Frozen</c:v>
                </c:pt>
                <c:pt idx="3">
                  <c:v>Total Absolute $ Opportunity</c:v>
                </c:pt>
              </c:strCache>
            </c:strRef>
          </c:cat>
          <c:val>
            <c:numRef>
              <c:numCache>
                <c:formatCode>General</c:formatCode>
                <c:ptCount val="4"/>
                <c:pt idx="0">
                  <c:v>168.393</c:v>
                </c:pt>
                <c:pt idx="1">
                  <c:v>519.611</c:v>
                </c:pt>
                <c:pt idx="2">
                  <c:v>441.8129999999999</c:v>
                </c:pt>
                <c:pt idx="3">
                  <c:v>1129.817</c:v>
                </c:pt>
              </c:numCache>
            </c:numRef>
          </c:val>
        </c:ser>
        <c:gapWidth val="5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6D5E1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numFmt formatCode="#,##0" sourceLinked="0"/>
        <c:majorTickMark val="out"/>
        <c:minorTickMark val="none"/>
        <c:tickLblPos val="none"/>
        <c:spPr>
          <a:ln>
            <a:solidFill>
              <a:srgbClr val="C6D5E1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latin typeface="Calibri"/>
        </a:defRPr>
      </a:pPr>
      <a:endParaRPr lang="en-US"/>
    </a:p>
  </c:txPr>
</c:chartSpace>
</file>

<file path=ppt/charts/chart5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stacked"/>
        <c:varyColors val="0"/>
        <c:ser>
          <c:idx val="0"/>
          <c:order val="0"/>
          <c:tx>
            <c:strRef>
              <c:strCache>
                <c:ptCount val="1"/>
                <c:pt idx="0">
                  <c:v>base</c:v>
                </c:pt>
              </c:strCache>
            </c:strRef>
          </c:tx>
          <c:spPr>
            <a:noFill/>
            <a:ln>
              <a:noFill/>
            </a:ln>
          </c:spPr>
          <c:cat>
            <c:strRef>
              <c:strCache>
                <c:ptCount val="6"/>
                <c:pt idx="0">
                  <c:v>2026</c:v>
                </c:pt>
                <c:pt idx="1">
                  <c:v>Up to 7 days</c:v>
                </c:pt>
                <c:pt idx="2">
                  <c:v>8-30 days</c:v>
                </c:pt>
                <c:pt idx="3">
                  <c:v>31-90 days</c:v>
                </c:pt>
                <c:pt idx="4">
                  <c:v>More than 90 days</c:v>
                </c:pt>
                <c:pt idx="5">
                  <c:v>2036 Total</c:v>
                </c:pt>
              </c:strCache>
            </c:strRef>
          </c:cat>
          <c:val>
            <c:numRef>
              <c:numCache>
                <c:formatCode>General</c:formatCode>
                <c:ptCount val="6"/>
                <c:pt idx="0">
                  <c:v>0.0</c:v>
                </c:pt>
                <c:pt idx="1">
                  <c:v>2479.62</c:v>
                </c:pt>
                <c:pt idx="2">
                  <c:v>3172.798</c:v>
                </c:pt>
                <c:pt idx="3">
                  <c:v>3259.5319999999997</c:v>
                </c:pt>
                <c:pt idx="4">
                  <c:v>3474.008</c:v>
                </c:pt>
                <c:pt idx="5">
                  <c:v>0.0</c:v>
                </c:pt>
              </c:numCache>
            </c:numRef>
          </c:val>
        </c:ser>
        <c:ser>
          <c:idx val="1"/>
          <c:order val="1"/>
          <c:tx>
            <c:strRef>
              <c:strCache>
                <c:ptCount val="1"/>
                <c:pt idx="0">
                  <c:v>value</c:v>
                </c:pt>
              </c:strCache>
            </c:strRef>
          </c:tx>
          <c:spPr/>
          <c:dPt>
            <c:idx val="0"/>
            <c:spPr>
              <a:solidFill>
                <a:srgbClr val="0E72AE"/>
              </a:solidFill>
            </c:spPr>
          </c:dPt>
          <c:dPt>
            <c:idx val="1"/>
            <c:spPr>
              <a:solidFill>
                <a:srgbClr val="008189"/>
              </a:solidFill>
            </c:spPr>
          </c:dPt>
          <c:dPt>
            <c:idx val="2"/>
            <c:spPr>
              <a:solidFill>
                <a:srgbClr val="008189"/>
              </a:solidFill>
            </c:spPr>
          </c:dPt>
          <c:dPt>
            <c:idx val="3"/>
            <c:spPr>
              <a:solidFill>
                <a:srgbClr val="008189"/>
              </a:solidFill>
            </c:spPr>
          </c:dPt>
          <c:dPt>
            <c:idx val="4"/>
            <c:spPr>
              <a:solidFill>
                <a:srgbClr val="008189"/>
              </a:solidFill>
            </c:spPr>
          </c:dPt>
          <c:dPt>
            <c:idx val="5"/>
            <c:spPr>
              <a:solidFill>
                <a:srgbClr val="0E72AE"/>
              </a:solidFill>
            </c:spPr>
          </c:dPt>
          <c:dLbls>
            <c:dLbl>
              <c:idx val="0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#,##0" sourceLinked="0"/>
            <c:txPr>
              <a:bodyPr/>
              <a:lstStyle/>
              <a:p>
                <a:pPr>
                  <a:defRPr sz="1100">
                    <a:latin typeface="Calibri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6"/>
                <c:pt idx="0">
                  <c:v>2026</c:v>
                </c:pt>
                <c:pt idx="1">
                  <c:v>Up to 7 days</c:v>
                </c:pt>
                <c:pt idx="2">
                  <c:v>8-30 days</c:v>
                </c:pt>
                <c:pt idx="3">
                  <c:v>31-90 days</c:v>
                </c:pt>
                <c:pt idx="4">
                  <c:v>More than 90 days</c:v>
                </c:pt>
                <c:pt idx="5">
                  <c:v>2036 Total</c:v>
                </c:pt>
              </c:strCache>
            </c:strRef>
          </c:cat>
          <c:val>
            <c:numRef>
              <c:numCache>
                <c:formatCode>General</c:formatCode>
                <c:ptCount val="6"/>
                <c:pt idx="0">
                  <c:v>2479.62</c:v>
                </c:pt>
                <c:pt idx="1">
                  <c:v>693.1780000000001</c:v>
                </c:pt>
                <c:pt idx="2">
                  <c:v>86.73399999999998</c:v>
                </c:pt>
                <c:pt idx="3">
                  <c:v>214.47599999999994</c:v>
                </c:pt>
                <c:pt idx="4">
                  <c:v>135.42900000000003</c:v>
                </c:pt>
                <c:pt idx="5">
                  <c:v>3609.437</c:v>
                </c:pt>
              </c:numCache>
            </c:numRef>
          </c:val>
        </c:ser>
        <c:gapWidth val="5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6D5E1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numFmt formatCode="#,##0" sourceLinked="0"/>
        <c:majorTickMark val="out"/>
        <c:minorTickMark val="none"/>
        <c:tickLblPos val="none"/>
        <c:spPr>
          <a:ln>
            <a:solidFill>
              <a:srgbClr val="C6D5E1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latin typeface="Calibri"/>
        </a:defRPr>
      </a:pPr>
      <a:endParaRPr lang="en-US"/>
    </a:p>
  </c:txPr>
</c:chartSpace>
</file>

<file path=ppt/charts/chart5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stacked"/>
        <c:varyColors val="0"/>
        <c:ser>
          <c:idx val="0"/>
          <c:order val="0"/>
          <c:tx>
            <c:strRef>
              <c:strCache>
                <c:ptCount val="1"/>
                <c:pt idx="0">
                  <c:v>base</c:v>
                </c:pt>
              </c:strCache>
            </c:strRef>
          </c:tx>
          <c:spPr>
            <a:noFill/>
            <a:ln>
              <a:noFill/>
            </a:ln>
          </c:spPr>
          <c:cat>
            <c:strRef>
              <c:strCache>
                <c:ptCount val="5"/>
                <c:pt idx="0">
                  <c:v>Up to 7 days</c:v>
                </c:pt>
                <c:pt idx="1">
                  <c:v>8-30 days</c:v>
                </c:pt>
                <c:pt idx="2">
                  <c:v>31-90 days</c:v>
                </c:pt>
                <c:pt idx="3">
                  <c:v>More than 90 days</c:v>
                </c:pt>
                <c:pt idx="4">
                  <c:v>Total Absolute $ Opportunity</c:v>
                </c:pt>
              </c:strCache>
            </c:strRef>
          </c:cat>
          <c:val>
            <c:numRef>
              <c:numCache>
                <c:formatCode>General</c:formatCode>
                <c:ptCount val="5"/>
                <c:pt idx="0">
                  <c:v>0.0</c:v>
                </c:pt>
                <c:pt idx="1">
                  <c:v>693.1780000000001</c:v>
                </c:pt>
                <c:pt idx="2">
                  <c:v>779.912</c:v>
                </c:pt>
                <c:pt idx="3">
                  <c:v>994.3879999999999</c:v>
                </c:pt>
                <c:pt idx="4">
                  <c:v>0.0</c:v>
                </c:pt>
              </c:numCache>
            </c:numRef>
          </c:val>
        </c:ser>
        <c:ser>
          <c:idx val="1"/>
          <c:order val="1"/>
          <c:tx>
            <c:strRef>
              <c:strCache>
                <c:ptCount val="1"/>
                <c:pt idx="0">
                  <c:v>value</c:v>
                </c:pt>
              </c:strCache>
            </c:strRef>
          </c:tx>
          <c:spPr/>
          <c:dPt>
            <c:idx val="0"/>
            <c:spPr>
              <a:solidFill>
                <a:srgbClr val="008189"/>
              </a:solidFill>
            </c:spPr>
          </c:dPt>
          <c:dPt>
            <c:idx val="1"/>
            <c:spPr>
              <a:solidFill>
                <a:srgbClr val="008189"/>
              </a:solidFill>
            </c:spPr>
          </c:dPt>
          <c:dPt>
            <c:idx val="2"/>
            <c:spPr>
              <a:solidFill>
                <a:srgbClr val="008189"/>
              </a:solidFill>
            </c:spPr>
          </c:dPt>
          <c:dPt>
            <c:idx val="3"/>
            <c:spPr>
              <a:solidFill>
                <a:srgbClr val="008189"/>
              </a:solidFill>
            </c:spPr>
          </c:dPt>
          <c:dPt>
            <c:idx val="4"/>
            <c:spPr>
              <a:solidFill>
                <a:srgbClr val="0E72AE"/>
              </a:solidFill>
            </c:spPr>
          </c:dPt>
          <c:dLbls>
            <c:dLbl>
              <c:idx val="0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#,##0" sourceLinked="0"/>
            <c:txPr>
              <a:bodyPr/>
              <a:lstStyle/>
              <a:p>
                <a:pPr>
                  <a:defRPr sz="1100">
                    <a:latin typeface="Calibri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5"/>
                <c:pt idx="0">
                  <c:v>Up to 7 days</c:v>
                </c:pt>
                <c:pt idx="1">
                  <c:v>8-30 days</c:v>
                </c:pt>
                <c:pt idx="2">
                  <c:v>31-90 days</c:v>
                </c:pt>
                <c:pt idx="3">
                  <c:v>More than 90 days</c:v>
                </c:pt>
                <c:pt idx="4">
                  <c:v>Total Absolute $ Opportunity</c:v>
                </c:pt>
              </c:strCache>
            </c:strRef>
          </c:cat>
          <c:val>
            <c:numRef>
              <c:numCache>
                <c:formatCode>General</c:formatCode>
                <c:ptCount val="5"/>
                <c:pt idx="0">
                  <c:v>693.1780000000001</c:v>
                </c:pt>
                <c:pt idx="1">
                  <c:v>86.73399999999998</c:v>
                </c:pt>
                <c:pt idx="2">
                  <c:v>214.47599999999994</c:v>
                </c:pt>
                <c:pt idx="3">
                  <c:v>135.42900000000003</c:v>
                </c:pt>
                <c:pt idx="4">
                  <c:v>1129.817</c:v>
                </c:pt>
              </c:numCache>
            </c:numRef>
          </c:val>
        </c:ser>
        <c:gapWidth val="5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6D5E1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numFmt formatCode="#,##0" sourceLinked="0"/>
        <c:majorTickMark val="out"/>
        <c:minorTickMark val="none"/>
        <c:tickLblPos val="none"/>
        <c:spPr>
          <a:ln>
            <a:solidFill>
              <a:srgbClr val="C6D5E1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latin typeface="Calibri"/>
        </a:defRPr>
      </a:pPr>
      <a:endParaRPr lang="en-US"/>
    </a:p>
  </c:txPr>
</c:chartSpace>
</file>

<file path=ppt/charts/chart5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stacked"/>
        <c:varyColors val="0"/>
        <c:ser>
          <c:idx val="0"/>
          <c:order val="0"/>
          <c:tx>
            <c:strRef>
              <c:strCache>
                <c:ptCount val="1"/>
                <c:pt idx="0">
                  <c:v>base</c:v>
                </c:pt>
              </c:strCache>
            </c:strRef>
          </c:tx>
          <c:spPr>
            <a:noFill/>
            <a:ln>
              <a:noFill/>
            </a:ln>
          </c:spPr>
          <c:cat>
            <c:strRef>
              <c:strCache>
                <c:ptCount val="6"/>
                <c:pt idx="0">
                  <c:v>2026</c:v>
                </c:pt>
                <c:pt idx="1">
                  <c:v>Flexible packs</c:v>
                </c:pt>
                <c:pt idx="2">
                  <c:v>Rigid plastic packs</c:v>
                </c:pt>
                <c:pt idx="3">
                  <c:v>Paperboard packs</c:v>
                </c:pt>
                <c:pt idx="4">
                  <c:v>Other packaging formats</c:v>
                </c:pt>
                <c:pt idx="5">
                  <c:v>2036 Total</c:v>
                </c:pt>
              </c:strCache>
            </c:strRef>
          </c:cat>
          <c:val>
            <c:numRef>
              <c:numCache>
                <c:formatCode>General</c:formatCode>
                <c:ptCount val="6"/>
                <c:pt idx="0">
                  <c:v>0.0</c:v>
                </c:pt>
                <c:pt idx="1">
                  <c:v>2479.6200000000003</c:v>
                </c:pt>
                <c:pt idx="2">
                  <c:v>2659.0470000000005</c:v>
                </c:pt>
                <c:pt idx="3">
                  <c:v>3273.2320000000004</c:v>
                </c:pt>
                <c:pt idx="4">
                  <c:v>3501.5550000000003</c:v>
                </c:pt>
                <c:pt idx="5">
                  <c:v>0.0</c:v>
                </c:pt>
              </c:numCache>
            </c:numRef>
          </c:val>
        </c:ser>
        <c:ser>
          <c:idx val="1"/>
          <c:order val="1"/>
          <c:tx>
            <c:strRef>
              <c:strCache>
                <c:ptCount val="1"/>
                <c:pt idx="0">
                  <c:v>value</c:v>
                </c:pt>
              </c:strCache>
            </c:strRef>
          </c:tx>
          <c:spPr/>
          <c:dPt>
            <c:idx val="0"/>
            <c:spPr>
              <a:solidFill>
                <a:srgbClr val="0E72AE"/>
              </a:solidFill>
            </c:spPr>
          </c:dPt>
          <c:dPt>
            <c:idx val="1"/>
            <c:spPr>
              <a:solidFill>
                <a:srgbClr val="008189"/>
              </a:solidFill>
            </c:spPr>
          </c:dPt>
          <c:dPt>
            <c:idx val="2"/>
            <c:spPr>
              <a:solidFill>
                <a:srgbClr val="008189"/>
              </a:solidFill>
            </c:spPr>
          </c:dPt>
          <c:dPt>
            <c:idx val="3"/>
            <c:spPr>
              <a:solidFill>
                <a:srgbClr val="008189"/>
              </a:solidFill>
            </c:spPr>
          </c:dPt>
          <c:dPt>
            <c:idx val="4"/>
            <c:spPr>
              <a:solidFill>
                <a:srgbClr val="008189"/>
              </a:solidFill>
            </c:spPr>
          </c:dPt>
          <c:dPt>
            <c:idx val="5"/>
            <c:spPr>
              <a:solidFill>
                <a:srgbClr val="0E72AE"/>
              </a:solidFill>
            </c:spPr>
          </c:dPt>
          <c:dLbls>
            <c:dLbl>
              <c:idx val="0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#,##0" sourceLinked="0"/>
            <c:txPr>
              <a:bodyPr/>
              <a:lstStyle/>
              <a:p>
                <a:pPr>
                  <a:defRPr sz="1100">
                    <a:latin typeface="Calibri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6"/>
                <c:pt idx="0">
                  <c:v>2026</c:v>
                </c:pt>
                <c:pt idx="1">
                  <c:v>Flexible packs</c:v>
                </c:pt>
                <c:pt idx="2">
                  <c:v>Rigid plastic packs</c:v>
                </c:pt>
                <c:pt idx="3">
                  <c:v>Paperboard packs</c:v>
                </c:pt>
                <c:pt idx="4">
                  <c:v>Other packaging formats</c:v>
                </c:pt>
                <c:pt idx="5">
                  <c:v>2036 Total</c:v>
                </c:pt>
              </c:strCache>
            </c:strRef>
          </c:cat>
          <c:val>
            <c:numRef>
              <c:numCache>
                <c:formatCode>General</c:formatCode>
                <c:ptCount val="6"/>
                <c:pt idx="0">
                  <c:v>2479.6200000000003</c:v>
                </c:pt>
                <c:pt idx="1">
                  <c:v>179.42699999999996</c:v>
                </c:pt>
                <c:pt idx="2">
                  <c:v>614.185</c:v>
                </c:pt>
                <c:pt idx="3">
                  <c:v>228.32299999999998</c:v>
                </c:pt>
                <c:pt idx="4">
                  <c:v>107.882</c:v>
                </c:pt>
                <c:pt idx="5">
                  <c:v>3609.437</c:v>
                </c:pt>
              </c:numCache>
            </c:numRef>
          </c:val>
        </c:ser>
        <c:gapWidth val="5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6D5E1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numFmt formatCode="#,##0" sourceLinked="0"/>
        <c:majorTickMark val="out"/>
        <c:minorTickMark val="none"/>
        <c:tickLblPos val="none"/>
        <c:spPr>
          <a:ln>
            <a:solidFill>
              <a:srgbClr val="C6D5E1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latin typeface="Calibri"/>
        </a:defRPr>
      </a:pPr>
      <a:endParaRPr lang="en-US"/>
    </a:p>
  </c:txPr>
</c:chartSpace>
</file>

<file path=ppt/charts/chart5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stacked"/>
        <c:varyColors val="0"/>
        <c:ser>
          <c:idx val="0"/>
          <c:order val="0"/>
          <c:tx>
            <c:strRef>
              <c:strCache>
                <c:ptCount val="1"/>
                <c:pt idx="0">
                  <c:v>base</c:v>
                </c:pt>
              </c:strCache>
            </c:strRef>
          </c:tx>
          <c:spPr>
            <a:noFill/>
            <a:ln>
              <a:noFill/>
            </a:ln>
          </c:spPr>
          <c:cat>
            <c:strRef>
              <c:strCache>
                <c:ptCount val="5"/>
                <c:pt idx="0">
                  <c:v>Flexible packs</c:v>
                </c:pt>
                <c:pt idx="1">
                  <c:v>Rigid plastic packs</c:v>
                </c:pt>
                <c:pt idx="2">
                  <c:v>Paperboard packs</c:v>
                </c:pt>
                <c:pt idx="3">
                  <c:v>Other packaging formats</c:v>
                </c:pt>
                <c:pt idx="4">
                  <c:v>Total Absolute $ Opportunity</c:v>
                </c:pt>
              </c:strCache>
            </c:strRef>
          </c:cat>
          <c:val>
            <c:numRef>
              <c:numCache>
                <c:formatCode>General</c:formatCode>
                <c:ptCount val="5"/>
                <c:pt idx="0">
                  <c:v>0.0</c:v>
                </c:pt>
                <c:pt idx="1">
                  <c:v>179.42699999999996</c:v>
                </c:pt>
                <c:pt idx="2">
                  <c:v>793.6119999999999</c:v>
                </c:pt>
                <c:pt idx="3">
                  <c:v>1021.9349999999998</c:v>
                </c:pt>
                <c:pt idx="4">
                  <c:v>0.0</c:v>
                </c:pt>
              </c:numCache>
            </c:numRef>
          </c:val>
        </c:ser>
        <c:ser>
          <c:idx val="1"/>
          <c:order val="1"/>
          <c:tx>
            <c:strRef>
              <c:strCache>
                <c:ptCount val="1"/>
                <c:pt idx="0">
                  <c:v>value</c:v>
                </c:pt>
              </c:strCache>
            </c:strRef>
          </c:tx>
          <c:spPr/>
          <c:dPt>
            <c:idx val="0"/>
            <c:spPr>
              <a:solidFill>
                <a:srgbClr val="008189"/>
              </a:solidFill>
            </c:spPr>
          </c:dPt>
          <c:dPt>
            <c:idx val="1"/>
            <c:spPr>
              <a:solidFill>
                <a:srgbClr val="008189"/>
              </a:solidFill>
            </c:spPr>
          </c:dPt>
          <c:dPt>
            <c:idx val="2"/>
            <c:spPr>
              <a:solidFill>
                <a:srgbClr val="008189"/>
              </a:solidFill>
            </c:spPr>
          </c:dPt>
          <c:dPt>
            <c:idx val="3"/>
            <c:spPr>
              <a:solidFill>
                <a:srgbClr val="008189"/>
              </a:solidFill>
            </c:spPr>
          </c:dPt>
          <c:dPt>
            <c:idx val="4"/>
            <c:spPr>
              <a:solidFill>
                <a:srgbClr val="0E72AE"/>
              </a:solidFill>
            </c:spPr>
          </c:dPt>
          <c:dLbls>
            <c:dLbl>
              <c:idx val="0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#,##0" sourceLinked="0"/>
            <c:txPr>
              <a:bodyPr/>
              <a:lstStyle/>
              <a:p>
                <a:pPr>
                  <a:defRPr sz="1100">
                    <a:latin typeface="Calibri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5"/>
                <c:pt idx="0">
                  <c:v>Flexible packs</c:v>
                </c:pt>
                <c:pt idx="1">
                  <c:v>Rigid plastic packs</c:v>
                </c:pt>
                <c:pt idx="2">
                  <c:v>Paperboard packs</c:v>
                </c:pt>
                <c:pt idx="3">
                  <c:v>Other packaging formats</c:v>
                </c:pt>
                <c:pt idx="4">
                  <c:v>Total Absolute $ Opportunity</c:v>
                </c:pt>
              </c:strCache>
            </c:strRef>
          </c:cat>
          <c:val>
            <c:numRef>
              <c:numCache>
                <c:formatCode>General</c:formatCode>
                <c:ptCount val="5"/>
                <c:pt idx="0">
                  <c:v>179.42699999999996</c:v>
                </c:pt>
                <c:pt idx="1">
                  <c:v>614.185</c:v>
                </c:pt>
                <c:pt idx="2">
                  <c:v>228.32299999999998</c:v>
                </c:pt>
                <c:pt idx="3">
                  <c:v>107.882</c:v>
                </c:pt>
                <c:pt idx="4">
                  <c:v>1129.8169999999998</c:v>
                </c:pt>
              </c:numCache>
            </c:numRef>
          </c:val>
        </c:ser>
        <c:gapWidth val="5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6D5E1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numFmt formatCode="#,##0" sourceLinked="0"/>
        <c:majorTickMark val="out"/>
        <c:minorTickMark val="none"/>
        <c:tickLblPos val="none"/>
        <c:spPr>
          <a:ln>
            <a:solidFill>
              <a:srgbClr val="C6D5E1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latin typeface="Calibri"/>
        </a:defRPr>
      </a:pPr>
      <a:endParaRPr lang="en-US"/>
    </a:p>
  </c:txPr>
</c:chartSpace>
</file>

<file path=ppt/charts/chart5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stacked"/>
        <c:varyColors val="0"/>
        <c:ser>
          <c:idx val="0"/>
          <c:order val="0"/>
          <c:tx>
            <c:strRef>
              <c:strCache>
                <c:ptCount val="1"/>
                <c:pt idx="0">
                  <c:v>base</c:v>
                </c:pt>
              </c:strCache>
            </c:strRef>
          </c:tx>
          <c:spPr>
            <a:noFill/>
            <a:ln>
              <a:noFill/>
            </a:ln>
          </c:spPr>
          <c:cat>
            <c:strRef>
              <c:strCache>
                <c:ptCount val="5"/>
                <c:pt idx="0">
                  <c:v>2026</c:v>
                </c:pt>
                <c:pt idx="1">
                  <c:v>Single-muffin packs</c:v>
                </c:pt>
                <c:pt idx="2">
                  <c:v>Multipacks</c:v>
                </c:pt>
                <c:pt idx="3">
                  <c:v>Bulk foodservice packs</c:v>
                </c:pt>
                <c:pt idx="4">
                  <c:v>2036 Total</c:v>
                </c:pt>
              </c:strCache>
            </c:strRef>
          </c:cat>
          <c:val>
            <c:numRef>
              <c:numCache>
                <c:formatCode>General</c:formatCode>
                <c:ptCount val="5"/>
                <c:pt idx="0">
                  <c:v>0.0</c:v>
                </c:pt>
                <c:pt idx="1">
                  <c:v>2479.62</c:v>
                </c:pt>
                <c:pt idx="2">
                  <c:v>2771.4889999999996</c:v>
                </c:pt>
                <c:pt idx="3">
                  <c:v>3538.9749999999995</c:v>
                </c:pt>
                <c:pt idx="4">
                  <c:v>0.0</c:v>
                </c:pt>
              </c:numCache>
            </c:numRef>
          </c:val>
        </c:ser>
        <c:ser>
          <c:idx val="1"/>
          <c:order val="1"/>
          <c:tx>
            <c:strRef>
              <c:strCache>
                <c:ptCount val="1"/>
                <c:pt idx="0">
                  <c:v>value</c:v>
                </c:pt>
              </c:strCache>
            </c:strRef>
          </c:tx>
          <c:spPr/>
          <c:dPt>
            <c:idx val="0"/>
            <c:spPr>
              <a:solidFill>
                <a:srgbClr val="0E72AE"/>
              </a:solidFill>
            </c:spPr>
          </c:dPt>
          <c:dPt>
            <c:idx val="1"/>
            <c:spPr>
              <a:solidFill>
                <a:srgbClr val="008189"/>
              </a:solidFill>
            </c:spPr>
          </c:dPt>
          <c:dPt>
            <c:idx val="2"/>
            <c:spPr>
              <a:solidFill>
                <a:srgbClr val="008189"/>
              </a:solidFill>
            </c:spPr>
          </c:dPt>
          <c:dPt>
            <c:idx val="3"/>
            <c:spPr>
              <a:solidFill>
                <a:srgbClr val="008189"/>
              </a:solidFill>
            </c:spPr>
          </c:dPt>
          <c:dPt>
            <c:idx val="4"/>
            <c:spPr>
              <a:solidFill>
                <a:srgbClr val="0E72AE"/>
              </a:solidFill>
            </c:spPr>
          </c:dPt>
          <c:dLbls>
            <c:dLbl>
              <c:idx val="0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#,##0" sourceLinked="0"/>
            <c:txPr>
              <a:bodyPr/>
              <a:lstStyle/>
              <a:p>
                <a:pPr>
                  <a:defRPr sz="1100">
                    <a:latin typeface="Calibri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5"/>
                <c:pt idx="0">
                  <c:v>2026</c:v>
                </c:pt>
                <c:pt idx="1">
                  <c:v>Single-muffin packs</c:v>
                </c:pt>
                <c:pt idx="2">
                  <c:v>Multipacks</c:v>
                </c:pt>
                <c:pt idx="3">
                  <c:v>Bulk foodservice packs</c:v>
                </c:pt>
                <c:pt idx="4">
                  <c:v>2036 Total</c:v>
                </c:pt>
              </c:strCache>
            </c:strRef>
          </c:cat>
          <c:val>
            <c:numRef>
              <c:numCache>
                <c:formatCode>General</c:formatCode>
                <c:ptCount val="5"/>
                <c:pt idx="0">
                  <c:v>2479.62</c:v>
                </c:pt>
                <c:pt idx="1">
                  <c:v>291.8689999999999</c:v>
                </c:pt>
                <c:pt idx="2">
                  <c:v>767.4859999999996</c:v>
                </c:pt>
                <c:pt idx="3">
                  <c:v>70.46199999999999</c:v>
                </c:pt>
                <c:pt idx="4">
                  <c:v>3609.4369999999994</c:v>
                </c:pt>
              </c:numCache>
            </c:numRef>
          </c:val>
        </c:ser>
        <c:gapWidth val="5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6D5E1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numFmt formatCode="#,##0" sourceLinked="0"/>
        <c:majorTickMark val="out"/>
        <c:minorTickMark val="none"/>
        <c:tickLblPos val="none"/>
        <c:spPr>
          <a:ln>
            <a:solidFill>
              <a:srgbClr val="C6D5E1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latin typeface="Calibri"/>
        </a:defRPr>
      </a:pPr>
      <a:endParaRPr lang="en-US"/>
    </a:p>
  </c:txPr>
</c:chartSpace>
</file>

<file path=ppt/charts/chart5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stacked"/>
        <c:varyColors val="0"/>
        <c:ser>
          <c:idx val="0"/>
          <c:order val="0"/>
          <c:tx>
            <c:strRef>
              <c:strCache>
                <c:ptCount val="1"/>
                <c:pt idx="0">
                  <c:v>base</c:v>
                </c:pt>
              </c:strCache>
            </c:strRef>
          </c:tx>
          <c:spPr>
            <a:noFill/>
            <a:ln>
              <a:noFill/>
            </a:ln>
          </c:spPr>
          <c:cat>
            <c:strRef>
              <c:strCache>
                <c:ptCount val="4"/>
                <c:pt idx="0">
                  <c:v>Single-muffin packs</c:v>
                </c:pt>
                <c:pt idx="1">
                  <c:v>Multipacks</c:v>
                </c:pt>
                <c:pt idx="2">
                  <c:v>Bulk foodservice packs</c:v>
                </c:pt>
                <c:pt idx="3">
                  <c:v>Total Absolute $ Opportunity</c:v>
                </c:pt>
              </c:strCache>
            </c:strRef>
          </c:cat>
          <c:val>
            <c:numRef>
              <c:numCache>
                <c:formatCode>General</c:formatCode>
                <c:ptCount val="4"/>
                <c:pt idx="0">
                  <c:v>0.0</c:v>
                </c:pt>
                <c:pt idx="1">
                  <c:v>291.8689999999999</c:v>
                </c:pt>
                <c:pt idx="2">
                  <c:v>1059.3549999999996</c:v>
                </c:pt>
                <c:pt idx="3">
                  <c:v>0.0</c:v>
                </c:pt>
              </c:numCache>
            </c:numRef>
          </c:val>
        </c:ser>
        <c:ser>
          <c:idx val="1"/>
          <c:order val="1"/>
          <c:tx>
            <c:strRef>
              <c:strCache>
                <c:ptCount val="1"/>
                <c:pt idx="0">
                  <c:v>value</c:v>
                </c:pt>
              </c:strCache>
            </c:strRef>
          </c:tx>
          <c:spPr/>
          <c:dPt>
            <c:idx val="0"/>
            <c:spPr>
              <a:solidFill>
                <a:srgbClr val="008189"/>
              </a:solidFill>
            </c:spPr>
          </c:dPt>
          <c:dPt>
            <c:idx val="1"/>
            <c:spPr>
              <a:solidFill>
                <a:srgbClr val="008189"/>
              </a:solidFill>
            </c:spPr>
          </c:dPt>
          <c:dPt>
            <c:idx val="2"/>
            <c:spPr>
              <a:solidFill>
                <a:srgbClr val="008189"/>
              </a:solidFill>
            </c:spPr>
          </c:dPt>
          <c:dPt>
            <c:idx val="3"/>
            <c:spPr>
              <a:solidFill>
                <a:srgbClr val="0E72AE"/>
              </a:solidFill>
            </c:spPr>
          </c:dPt>
          <c:dLbls>
            <c:dLbl>
              <c:idx val="0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#,##0" sourceLinked="0"/>
            <c:txPr>
              <a:bodyPr/>
              <a:lstStyle/>
              <a:p>
                <a:pPr>
                  <a:defRPr sz="1100">
                    <a:latin typeface="Calibri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4"/>
                <c:pt idx="0">
                  <c:v>Single-muffin packs</c:v>
                </c:pt>
                <c:pt idx="1">
                  <c:v>Multipacks</c:v>
                </c:pt>
                <c:pt idx="2">
                  <c:v>Bulk foodservice packs</c:v>
                </c:pt>
                <c:pt idx="3">
                  <c:v>Total Absolute $ Opportunity</c:v>
                </c:pt>
              </c:strCache>
            </c:strRef>
          </c:cat>
          <c:val>
            <c:numRef>
              <c:numCache>
                <c:formatCode>General</c:formatCode>
                <c:ptCount val="4"/>
                <c:pt idx="0">
                  <c:v>291.8689999999999</c:v>
                </c:pt>
                <c:pt idx="1">
                  <c:v>767.4859999999996</c:v>
                </c:pt>
                <c:pt idx="2">
                  <c:v>70.46199999999999</c:v>
                </c:pt>
                <c:pt idx="3">
                  <c:v>1129.8169999999996</c:v>
                </c:pt>
              </c:numCache>
            </c:numRef>
          </c:val>
        </c:ser>
        <c:gapWidth val="5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6D5E1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numFmt formatCode="#,##0" sourceLinked="0"/>
        <c:majorTickMark val="out"/>
        <c:minorTickMark val="none"/>
        <c:tickLblPos val="none"/>
        <c:spPr>
          <a:ln>
            <a:solidFill>
              <a:srgbClr val="C6D5E1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latin typeface="Calibri"/>
        </a:defRPr>
      </a:pPr>
      <a:endParaRPr lang="en-US"/>
    </a:p>
  </c:txPr>
</c:chartSpace>
</file>

<file path=ppt/charts/chart5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stacked"/>
        <c:varyColors val="0"/>
        <c:ser>
          <c:idx val="0"/>
          <c:order val="0"/>
          <c:tx>
            <c:strRef>
              <c:strCache>
                <c:ptCount val="1"/>
                <c:pt idx="0">
                  <c:v>base</c:v>
                </c:pt>
              </c:strCache>
            </c:strRef>
          </c:tx>
          <c:spPr>
            <a:noFill/>
            <a:ln>
              <a:noFill/>
            </a:ln>
          </c:spPr>
          <c:cat>
            <c:strRef>
              <c:strCache>
                <c:ptCount val="4"/>
                <c:pt idx="0">
                  <c:v>2026</c:v>
                </c:pt>
                <c:pt idx="1">
                  <c:v>Individually wrapped muffins within an outer pack</c:v>
                </c:pt>
                <c:pt idx="2">
                  <c:v>Shared pack without individual wrapping</c:v>
                </c:pt>
                <c:pt idx="3">
                  <c:v>2036 Total</c:v>
                </c:pt>
              </c:strCache>
            </c:strRef>
          </c:cat>
          <c:val>
            <c:numRef>
              <c:numCache>
                <c:formatCode>General</c:formatCode>
                <c:ptCount val="4"/>
                <c:pt idx="0">
                  <c:v>0.0</c:v>
                </c:pt>
                <c:pt idx="1">
                  <c:v>2479.62</c:v>
                </c:pt>
                <c:pt idx="2">
                  <c:v>3159.898</c:v>
                </c:pt>
                <c:pt idx="3">
                  <c:v>0.0</c:v>
                </c:pt>
              </c:numCache>
            </c:numRef>
          </c:val>
        </c:ser>
        <c:ser>
          <c:idx val="1"/>
          <c:order val="1"/>
          <c:tx>
            <c:strRef>
              <c:strCache>
                <c:ptCount val="1"/>
                <c:pt idx="0">
                  <c:v>value</c:v>
                </c:pt>
              </c:strCache>
            </c:strRef>
          </c:tx>
          <c:spPr/>
          <c:dPt>
            <c:idx val="0"/>
            <c:spPr>
              <a:solidFill>
                <a:srgbClr val="0E72AE"/>
              </a:solidFill>
            </c:spPr>
          </c:dPt>
          <c:dPt>
            <c:idx val="1"/>
            <c:spPr>
              <a:solidFill>
                <a:srgbClr val="008189"/>
              </a:solidFill>
            </c:spPr>
          </c:dPt>
          <c:dPt>
            <c:idx val="2"/>
            <c:spPr>
              <a:solidFill>
                <a:srgbClr val="008189"/>
              </a:solidFill>
            </c:spPr>
          </c:dPt>
          <c:dPt>
            <c:idx val="3"/>
            <c:spPr>
              <a:solidFill>
                <a:srgbClr val="0E72AE"/>
              </a:solidFill>
            </c:spPr>
          </c:dPt>
          <c:dLbls>
            <c:dLbl>
              <c:idx val="0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#,##0" sourceLinked="0"/>
            <c:txPr>
              <a:bodyPr/>
              <a:lstStyle/>
              <a:p>
                <a:pPr>
                  <a:defRPr sz="1100">
                    <a:latin typeface="Calibri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4"/>
                <c:pt idx="0">
                  <c:v>2026</c:v>
                </c:pt>
                <c:pt idx="1">
                  <c:v>Individually wrapped muffins within an outer pack</c:v>
                </c:pt>
                <c:pt idx="2">
                  <c:v>Shared pack without individual wrapping</c:v>
                </c:pt>
                <c:pt idx="3">
                  <c:v>2036 Total</c:v>
                </c:pt>
              </c:strCache>
            </c:strRef>
          </c:cat>
          <c:val>
            <c:numRef>
              <c:numCache>
                <c:formatCode>General</c:formatCode>
                <c:ptCount val="4"/>
                <c:pt idx="0">
                  <c:v>2479.62</c:v>
                </c:pt>
                <c:pt idx="1">
                  <c:v>680.2780000000002</c:v>
                </c:pt>
                <c:pt idx="2">
                  <c:v>449.539</c:v>
                </c:pt>
                <c:pt idx="3">
                  <c:v>3609.437</c:v>
                </c:pt>
              </c:numCache>
            </c:numRef>
          </c:val>
        </c:ser>
        <c:gapWidth val="5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6D5E1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numFmt formatCode="#,##0" sourceLinked="0"/>
        <c:majorTickMark val="out"/>
        <c:minorTickMark val="none"/>
        <c:tickLblPos val="none"/>
        <c:spPr>
          <a:ln>
            <a:solidFill>
              <a:srgbClr val="C6D5E1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latin typeface="Calibri"/>
        </a:defRPr>
      </a:pPr>
      <a:endParaRPr lang="en-US"/>
    </a:p>
  </c:txPr>
</c:chartSpace>
</file>

<file path=ppt/charts/chart5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stacked"/>
        <c:varyColors val="0"/>
        <c:ser>
          <c:idx val="0"/>
          <c:order val="0"/>
          <c:tx>
            <c:strRef>
              <c:strCache>
                <c:ptCount val="1"/>
                <c:pt idx="0">
                  <c:v>base</c:v>
                </c:pt>
              </c:strCache>
            </c:strRef>
          </c:tx>
          <c:spPr>
            <a:noFill/>
            <a:ln>
              <a:noFill/>
            </a:ln>
          </c:spPr>
          <c:cat>
            <c:strRef>
              <c:strCache>
                <c:ptCount val="3"/>
                <c:pt idx="0">
                  <c:v>Individually wrapped muffins within an outer pack</c:v>
                </c:pt>
                <c:pt idx="1">
                  <c:v>Shared pack without individual wrapping</c:v>
                </c:pt>
                <c:pt idx="2">
                  <c:v>Total Absolute $ Opportunity</c:v>
                </c:pt>
              </c:strCache>
            </c:strRef>
          </c:cat>
          <c:val>
            <c:numRef>
              <c:numCache>
                <c:formatCode>General</c:formatCode>
                <c:ptCount val="3"/>
                <c:pt idx="0">
                  <c:v>0.0</c:v>
                </c:pt>
                <c:pt idx="1">
                  <c:v>680.2780000000002</c:v>
                </c:pt>
                <c:pt idx="2">
                  <c:v>0.0</c:v>
                </c:pt>
              </c:numCache>
            </c:numRef>
          </c:val>
        </c:ser>
        <c:ser>
          <c:idx val="1"/>
          <c:order val="1"/>
          <c:tx>
            <c:strRef>
              <c:strCache>
                <c:ptCount val="1"/>
                <c:pt idx="0">
                  <c:v>value</c:v>
                </c:pt>
              </c:strCache>
            </c:strRef>
          </c:tx>
          <c:spPr/>
          <c:dPt>
            <c:idx val="0"/>
            <c:spPr>
              <a:solidFill>
                <a:srgbClr val="008189"/>
              </a:solidFill>
            </c:spPr>
          </c:dPt>
          <c:dPt>
            <c:idx val="1"/>
            <c:spPr>
              <a:solidFill>
                <a:srgbClr val="008189"/>
              </a:solidFill>
            </c:spPr>
          </c:dPt>
          <c:dPt>
            <c:idx val="2"/>
            <c:spPr>
              <a:solidFill>
                <a:srgbClr val="0E72AE"/>
              </a:solidFill>
            </c:spPr>
          </c:dPt>
          <c:dLbls>
            <c:dLbl>
              <c:idx val="0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#,##0" sourceLinked="0"/>
            <c:txPr>
              <a:bodyPr/>
              <a:lstStyle/>
              <a:p>
                <a:pPr>
                  <a:defRPr sz="1100">
                    <a:latin typeface="Calibri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3"/>
                <c:pt idx="0">
                  <c:v>Individually wrapped muffins within an outer pack</c:v>
                </c:pt>
                <c:pt idx="1">
                  <c:v>Shared pack without individual wrapping</c:v>
                </c:pt>
                <c:pt idx="2">
                  <c:v>Total Absolute $ Opportunity</c:v>
                </c:pt>
              </c:strCache>
            </c:strRef>
          </c:cat>
          <c:val>
            <c:numRef>
              <c:numCache>
                <c:formatCode>General</c:formatCode>
                <c:ptCount val="3"/>
                <c:pt idx="0">
                  <c:v>680.2780000000002</c:v>
                </c:pt>
                <c:pt idx="1">
                  <c:v>449.539</c:v>
                </c:pt>
                <c:pt idx="2">
                  <c:v>1129.8170000000002</c:v>
                </c:pt>
              </c:numCache>
            </c:numRef>
          </c:val>
        </c:ser>
        <c:gapWidth val="5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6D5E1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numFmt formatCode="#,##0" sourceLinked="0"/>
        <c:majorTickMark val="out"/>
        <c:minorTickMark val="none"/>
        <c:tickLblPos val="none"/>
        <c:spPr>
          <a:ln>
            <a:solidFill>
              <a:srgbClr val="C6D5E1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latin typeface="Calibri"/>
        </a:defRPr>
      </a:pPr>
      <a:endParaRPr lang="en-US"/>
    </a:p>
  </c:txPr>
</c:chartSpace>
</file>

<file path=ppt/charts/chart5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stacked"/>
        <c:varyColors val="0"/>
        <c:ser>
          <c:idx val="0"/>
          <c:order val="0"/>
          <c:tx>
            <c:strRef>
              <c:strCache>
                <c:ptCount val="1"/>
                <c:pt idx="0">
                  <c:v>base</c:v>
                </c:pt>
              </c:strCache>
            </c:strRef>
          </c:tx>
          <c:spPr>
            <a:noFill/>
            <a:ln>
              <a:noFill/>
            </a:ln>
          </c:spPr>
          <c:cat>
            <c:strRef>
              <c:strCache>
                <c:ptCount val="6"/>
                <c:pt idx="0">
                  <c:v>2026</c:v>
                </c:pt>
                <c:pt idx="1">
                  <c:v>Economy / value</c:v>
                </c:pt>
                <c:pt idx="2">
                  <c:v>Mid-range</c:v>
                </c:pt>
                <c:pt idx="3">
                  <c:v>Premium</c:v>
                </c:pt>
                <c:pt idx="4">
                  <c:v>Super-premium / speciality</c:v>
                </c:pt>
                <c:pt idx="5">
                  <c:v>2036 Total</c:v>
                </c:pt>
              </c:strCache>
            </c:strRef>
          </c:cat>
          <c:val>
            <c:numRef>
              <c:numCache>
                <c:formatCode>General</c:formatCode>
                <c:ptCount val="6"/>
                <c:pt idx="0">
                  <c:v>0.0</c:v>
                </c:pt>
                <c:pt idx="1">
                  <c:v>2479.62</c:v>
                </c:pt>
                <c:pt idx="2">
                  <c:v>2538.075</c:v>
                </c:pt>
                <c:pt idx="3">
                  <c:v>3075.323</c:v>
                </c:pt>
                <c:pt idx="4">
                  <c:v>3278.835</c:v>
                </c:pt>
                <c:pt idx="5">
                  <c:v>0.0</c:v>
                </c:pt>
              </c:numCache>
            </c:numRef>
          </c:val>
        </c:ser>
        <c:ser>
          <c:idx val="1"/>
          <c:order val="1"/>
          <c:tx>
            <c:strRef>
              <c:strCache>
                <c:ptCount val="1"/>
                <c:pt idx="0">
                  <c:v>value</c:v>
                </c:pt>
              </c:strCache>
            </c:strRef>
          </c:tx>
          <c:spPr/>
          <c:dPt>
            <c:idx val="0"/>
            <c:spPr>
              <a:solidFill>
                <a:srgbClr val="0E72AE"/>
              </a:solidFill>
            </c:spPr>
          </c:dPt>
          <c:dPt>
            <c:idx val="1"/>
            <c:spPr>
              <a:solidFill>
                <a:srgbClr val="008189"/>
              </a:solidFill>
            </c:spPr>
          </c:dPt>
          <c:dPt>
            <c:idx val="2"/>
            <c:spPr>
              <a:solidFill>
                <a:srgbClr val="008189"/>
              </a:solidFill>
            </c:spPr>
          </c:dPt>
          <c:dPt>
            <c:idx val="3"/>
            <c:spPr>
              <a:solidFill>
                <a:srgbClr val="008189"/>
              </a:solidFill>
            </c:spPr>
          </c:dPt>
          <c:dPt>
            <c:idx val="4"/>
            <c:spPr>
              <a:solidFill>
                <a:srgbClr val="008189"/>
              </a:solidFill>
            </c:spPr>
          </c:dPt>
          <c:dPt>
            <c:idx val="5"/>
            <c:spPr>
              <a:solidFill>
                <a:srgbClr val="0E72AE"/>
              </a:solidFill>
            </c:spPr>
          </c:dPt>
          <c:dLbls>
            <c:dLbl>
              <c:idx val="0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#,##0" sourceLinked="0"/>
            <c:txPr>
              <a:bodyPr/>
              <a:lstStyle/>
              <a:p>
                <a:pPr>
                  <a:defRPr sz="1100">
                    <a:latin typeface="Calibri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6"/>
                <c:pt idx="0">
                  <c:v>2026</c:v>
                </c:pt>
                <c:pt idx="1">
                  <c:v>Economy / value</c:v>
                </c:pt>
                <c:pt idx="2">
                  <c:v>Mid-range</c:v>
                </c:pt>
                <c:pt idx="3">
                  <c:v>Premium</c:v>
                </c:pt>
                <c:pt idx="4">
                  <c:v>Super-premium / speciality</c:v>
                </c:pt>
                <c:pt idx="5">
                  <c:v>2036 Total</c:v>
                </c:pt>
              </c:strCache>
            </c:strRef>
          </c:cat>
          <c:val>
            <c:numRef>
              <c:numCache>
                <c:formatCode>General</c:formatCode>
                <c:ptCount val="6"/>
                <c:pt idx="0">
                  <c:v>2479.62</c:v>
                </c:pt>
                <c:pt idx="1">
                  <c:v>58.45499999999993</c:v>
                </c:pt>
                <c:pt idx="2">
                  <c:v>537.248</c:v>
                </c:pt>
                <c:pt idx="3">
                  <c:v>203.51200000000006</c:v>
                </c:pt>
                <c:pt idx="4">
                  <c:v>330.6019999999999</c:v>
                </c:pt>
                <c:pt idx="5">
                  <c:v>3609.437</c:v>
                </c:pt>
              </c:numCache>
            </c:numRef>
          </c:val>
        </c:ser>
        <c:gapWidth val="5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6D5E1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numFmt formatCode="#,##0" sourceLinked="0"/>
        <c:majorTickMark val="out"/>
        <c:minorTickMark val="none"/>
        <c:tickLblPos val="none"/>
        <c:spPr>
          <a:ln>
            <a:solidFill>
              <a:srgbClr val="C6D5E1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latin typeface="Calibri"/>
        </a:defRPr>
      </a:pPr>
      <a:endParaRPr lang="en-US"/>
    </a:p>
  </c:txPr>
</c:chartSpace>
</file>

<file path=ppt/charts/chart5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stacked"/>
        <c:varyColors val="0"/>
        <c:ser>
          <c:idx val="0"/>
          <c:order val="0"/>
          <c:tx>
            <c:strRef>
              <c:strCache>
                <c:ptCount val="1"/>
                <c:pt idx="0">
                  <c:v>base</c:v>
                </c:pt>
              </c:strCache>
            </c:strRef>
          </c:tx>
          <c:spPr>
            <a:noFill/>
            <a:ln>
              <a:noFill/>
            </a:ln>
          </c:spPr>
          <c:cat>
            <c:strRef>
              <c:strCache>
                <c:ptCount val="5"/>
                <c:pt idx="0">
                  <c:v>Economy / value</c:v>
                </c:pt>
                <c:pt idx="1">
                  <c:v>Mid-range</c:v>
                </c:pt>
                <c:pt idx="2">
                  <c:v>Premium</c:v>
                </c:pt>
                <c:pt idx="3">
                  <c:v>Super-premium / speciality</c:v>
                </c:pt>
                <c:pt idx="4">
                  <c:v>Total Absolute $ Opportunity</c:v>
                </c:pt>
              </c:strCache>
            </c:strRef>
          </c:cat>
          <c:val>
            <c:numRef>
              <c:numCache>
                <c:formatCode>General</c:formatCode>
                <c:ptCount val="5"/>
                <c:pt idx="0">
                  <c:v>0.0</c:v>
                </c:pt>
                <c:pt idx="1">
                  <c:v>58.45499999999993</c:v>
                </c:pt>
                <c:pt idx="2">
                  <c:v>595.703</c:v>
                </c:pt>
                <c:pt idx="3">
                  <c:v>799.215</c:v>
                </c:pt>
                <c:pt idx="4">
                  <c:v>0.0</c:v>
                </c:pt>
              </c:numCache>
            </c:numRef>
          </c:val>
        </c:ser>
        <c:ser>
          <c:idx val="1"/>
          <c:order val="1"/>
          <c:tx>
            <c:strRef>
              <c:strCache>
                <c:ptCount val="1"/>
                <c:pt idx="0">
                  <c:v>value</c:v>
                </c:pt>
              </c:strCache>
            </c:strRef>
          </c:tx>
          <c:spPr/>
          <c:dPt>
            <c:idx val="0"/>
            <c:spPr>
              <a:solidFill>
                <a:srgbClr val="008189"/>
              </a:solidFill>
            </c:spPr>
          </c:dPt>
          <c:dPt>
            <c:idx val="1"/>
            <c:spPr>
              <a:solidFill>
                <a:srgbClr val="008189"/>
              </a:solidFill>
            </c:spPr>
          </c:dPt>
          <c:dPt>
            <c:idx val="2"/>
            <c:spPr>
              <a:solidFill>
                <a:srgbClr val="008189"/>
              </a:solidFill>
            </c:spPr>
          </c:dPt>
          <c:dPt>
            <c:idx val="3"/>
            <c:spPr>
              <a:solidFill>
                <a:srgbClr val="008189"/>
              </a:solidFill>
            </c:spPr>
          </c:dPt>
          <c:dPt>
            <c:idx val="4"/>
            <c:spPr>
              <a:solidFill>
                <a:srgbClr val="0E72AE"/>
              </a:solidFill>
            </c:spPr>
          </c:dPt>
          <c:dLbls>
            <c:dLbl>
              <c:idx val="0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#,##0" sourceLinked="0"/>
            <c:txPr>
              <a:bodyPr/>
              <a:lstStyle/>
              <a:p>
                <a:pPr>
                  <a:defRPr sz="1100">
                    <a:latin typeface="Calibri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5"/>
                <c:pt idx="0">
                  <c:v>Economy / value</c:v>
                </c:pt>
                <c:pt idx="1">
                  <c:v>Mid-range</c:v>
                </c:pt>
                <c:pt idx="2">
                  <c:v>Premium</c:v>
                </c:pt>
                <c:pt idx="3">
                  <c:v>Super-premium / speciality</c:v>
                </c:pt>
                <c:pt idx="4">
                  <c:v>Total Absolute $ Opportunity</c:v>
                </c:pt>
              </c:strCache>
            </c:strRef>
          </c:cat>
          <c:val>
            <c:numRef>
              <c:numCache>
                <c:formatCode>General</c:formatCode>
                <c:ptCount val="5"/>
                <c:pt idx="0">
                  <c:v>58.45499999999993</c:v>
                </c:pt>
                <c:pt idx="1">
                  <c:v>537.248</c:v>
                </c:pt>
                <c:pt idx="2">
                  <c:v>203.51200000000006</c:v>
                </c:pt>
                <c:pt idx="3">
                  <c:v>330.6019999999999</c:v>
                </c:pt>
                <c:pt idx="4">
                  <c:v>1129.817</c:v>
                </c:pt>
              </c:numCache>
            </c:numRef>
          </c:val>
        </c:ser>
        <c:gapWidth val="5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6D5E1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numFmt formatCode="#,##0" sourceLinked="0"/>
        <c:majorTickMark val="out"/>
        <c:minorTickMark val="none"/>
        <c:tickLblPos val="none"/>
        <c:spPr>
          <a:ln>
            <a:solidFill>
              <a:srgbClr val="C6D5E1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latin typeface="Calibri"/>
        </a:defRPr>
      </a:pPr>
      <a:endParaRPr lang="en-US"/>
    </a:p>
  </c:txPr>
</c:chartSpace>
</file>

<file path=ppt/charts/chart6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stacked"/>
        <c:varyColors val="0"/>
        <c:ser>
          <c:idx val="0"/>
          <c:order val="0"/>
          <c:tx>
            <c:strRef>
              <c:strCache>
                <c:ptCount val="1"/>
                <c:pt idx="0">
                  <c:v>base</c:v>
                </c:pt>
              </c:strCache>
            </c:strRef>
          </c:tx>
          <c:spPr>
            <a:noFill/>
            <a:ln>
              <a:noFill/>
            </a:ln>
          </c:spPr>
          <c:cat>
            <c:strRef>
              <c:strCache>
                <c:ptCount val="5"/>
                <c:pt idx="0">
                  <c:v>2026</c:v>
                </c:pt>
                <c:pt idx="1">
                  <c:v>Manufacturer brands</c:v>
                </c:pt>
                <c:pt idx="2">
                  <c:v>Retailer private labels</c:v>
                </c:pt>
                <c:pt idx="3">
                  <c:v>Foodservice / operator brands</c:v>
                </c:pt>
                <c:pt idx="4">
                  <c:v>2036 Total</c:v>
                </c:pt>
              </c:strCache>
            </c:strRef>
          </c:cat>
          <c:val>
            <c:numRef>
              <c:numCache>
                <c:formatCode>General</c:formatCode>
                <c:ptCount val="5"/>
                <c:pt idx="0">
                  <c:v>0.0</c:v>
                </c:pt>
                <c:pt idx="1">
                  <c:v>2479.6200000000003</c:v>
                </c:pt>
                <c:pt idx="2">
                  <c:v>2875.6290000000004</c:v>
                </c:pt>
                <c:pt idx="3">
                  <c:v>3402.8360000000002</c:v>
                </c:pt>
                <c:pt idx="4">
                  <c:v>0.0</c:v>
                </c:pt>
              </c:numCache>
            </c:numRef>
          </c:val>
        </c:ser>
        <c:ser>
          <c:idx val="1"/>
          <c:order val="1"/>
          <c:tx>
            <c:strRef>
              <c:strCache>
                <c:ptCount val="1"/>
                <c:pt idx="0">
                  <c:v>value</c:v>
                </c:pt>
              </c:strCache>
            </c:strRef>
          </c:tx>
          <c:spPr/>
          <c:dPt>
            <c:idx val="0"/>
            <c:spPr>
              <a:solidFill>
                <a:srgbClr val="0E72AE"/>
              </a:solidFill>
            </c:spPr>
          </c:dPt>
          <c:dPt>
            <c:idx val="1"/>
            <c:spPr>
              <a:solidFill>
                <a:srgbClr val="008189"/>
              </a:solidFill>
            </c:spPr>
          </c:dPt>
          <c:dPt>
            <c:idx val="2"/>
            <c:spPr>
              <a:solidFill>
                <a:srgbClr val="008189"/>
              </a:solidFill>
            </c:spPr>
          </c:dPt>
          <c:dPt>
            <c:idx val="3"/>
            <c:spPr>
              <a:solidFill>
                <a:srgbClr val="008189"/>
              </a:solidFill>
            </c:spPr>
          </c:dPt>
          <c:dPt>
            <c:idx val="4"/>
            <c:spPr>
              <a:solidFill>
                <a:srgbClr val="0E72AE"/>
              </a:solidFill>
            </c:spPr>
          </c:dPt>
          <c:dLbls>
            <c:dLbl>
              <c:idx val="0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#,##0" sourceLinked="0"/>
            <c:txPr>
              <a:bodyPr/>
              <a:lstStyle/>
              <a:p>
                <a:pPr>
                  <a:defRPr sz="1100">
                    <a:latin typeface="Calibri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5"/>
                <c:pt idx="0">
                  <c:v>2026</c:v>
                </c:pt>
                <c:pt idx="1">
                  <c:v>Manufacturer brands</c:v>
                </c:pt>
                <c:pt idx="2">
                  <c:v>Retailer private labels</c:v>
                </c:pt>
                <c:pt idx="3">
                  <c:v>Foodservice / operator brands</c:v>
                </c:pt>
                <c:pt idx="4">
                  <c:v>2036 Total</c:v>
                </c:pt>
              </c:strCache>
            </c:strRef>
          </c:cat>
          <c:val>
            <c:numRef>
              <c:numCache>
                <c:formatCode>General</c:formatCode>
                <c:ptCount val="5"/>
                <c:pt idx="0">
                  <c:v>2479.6200000000003</c:v>
                </c:pt>
                <c:pt idx="1">
                  <c:v>396.009</c:v>
                </c:pt>
                <c:pt idx="2">
                  <c:v>527.2069999999999</c:v>
                </c:pt>
                <c:pt idx="3">
                  <c:v>206.60100000000006</c:v>
                </c:pt>
                <c:pt idx="4">
                  <c:v>3609.437</c:v>
                </c:pt>
              </c:numCache>
            </c:numRef>
          </c:val>
        </c:ser>
        <c:gapWidth val="5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6D5E1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numFmt formatCode="#,##0" sourceLinked="0"/>
        <c:majorTickMark val="out"/>
        <c:minorTickMark val="none"/>
        <c:tickLblPos val="none"/>
        <c:spPr>
          <a:ln>
            <a:solidFill>
              <a:srgbClr val="C6D5E1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latin typeface="Calibri"/>
        </a:defRPr>
      </a:pPr>
      <a:endParaRPr lang="en-US"/>
    </a:p>
  </c:txPr>
</c:chartSpace>
</file>

<file path=ppt/charts/chart6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stacked"/>
        <c:varyColors val="0"/>
        <c:ser>
          <c:idx val="0"/>
          <c:order val="0"/>
          <c:tx>
            <c:strRef>
              <c:strCache>
                <c:ptCount val="1"/>
                <c:pt idx="0">
                  <c:v>base</c:v>
                </c:pt>
              </c:strCache>
            </c:strRef>
          </c:tx>
          <c:spPr>
            <a:noFill/>
            <a:ln>
              <a:noFill/>
            </a:ln>
          </c:spPr>
          <c:cat>
            <c:strRef>
              <c:strCache>
                <c:ptCount val="4"/>
                <c:pt idx="0">
                  <c:v>Manufacturer brands</c:v>
                </c:pt>
                <c:pt idx="1">
                  <c:v>Retailer private labels</c:v>
                </c:pt>
                <c:pt idx="2">
                  <c:v>Foodservice / operator brands</c:v>
                </c:pt>
                <c:pt idx="3">
                  <c:v>Total Absolute $ Opportunity</c:v>
                </c:pt>
              </c:strCache>
            </c:strRef>
          </c:cat>
          <c:val>
            <c:numRef>
              <c:numCache>
                <c:formatCode>General</c:formatCode>
                <c:ptCount val="4"/>
                <c:pt idx="0">
                  <c:v>0.0</c:v>
                </c:pt>
                <c:pt idx="1">
                  <c:v>396.009</c:v>
                </c:pt>
                <c:pt idx="2">
                  <c:v>923.2159999999999</c:v>
                </c:pt>
                <c:pt idx="3">
                  <c:v>0.0</c:v>
                </c:pt>
              </c:numCache>
            </c:numRef>
          </c:val>
        </c:ser>
        <c:ser>
          <c:idx val="1"/>
          <c:order val="1"/>
          <c:tx>
            <c:strRef>
              <c:strCache>
                <c:ptCount val="1"/>
                <c:pt idx="0">
                  <c:v>value</c:v>
                </c:pt>
              </c:strCache>
            </c:strRef>
          </c:tx>
          <c:spPr/>
          <c:dPt>
            <c:idx val="0"/>
            <c:spPr>
              <a:solidFill>
                <a:srgbClr val="008189"/>
              </a:solidFill>
            </c:spPr>
          </c:dPt>
          <c:dPt>
            <c:idx val="1"/>
            <c:spPr>
              <a:solidFill>
                <a:srgbClr val="008189"/>
              </a:solidFill>
            </c:spPr>
          </c:dPt>
          <c:dPt>
            <c:idx val="2"/>
            <c:spPr>
              <a:solidFill>
                <a:srgbClr val="008189"/>
              </a:solidFill>
            </c:spPr>
          </c:dPt>
          <c:dPt>
            <c:idx val="3"/>
            <c:spPr>
              <a:solidFill>
                <a:srgbClr val="0E72AE"/>
              </a:solidFill>
            </c:spPr>
          </c:dPt>
          <c:dLbls>
            <c:dLbl>
              <c:idx val="0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#,##0" sourceLinked="0"/>
            <c:txPr>
              <a:bodyPr/>
              <a:lstStyle/>
              <a:p>
                <a:pPr>
                  <a:defRPr sz="1100">
                    <a:latin typeface="Calibri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4"/>
                <c:pt idx="0">
                  <c:v>Manufacturer brands</c:v>
                </c:pt>
                <c:pt idx="1">
                  <c:v>Retailer private labels</c:v>
                </c:pt>
                <c:pt idx="2">
                  <c:v>Foodservice / operator brands</c:v>
                </c:pt>
                <c:pt idx="3">
                  <c:v>Total Absolute $ Opportunity</c:v>
                </c:pt>
              </c:strCache>
            </c:strRef>
          </c:cat>
          <c:val>
            <c:numRef>
              <c:numCache>
                <c:formatCode>General</c:formatCode>
                <c:ptCount val="4"/>
                <c:pt idx="0">
                  <c:v>396.009</c:v>
                </c:pt>
                <c:pt idx="1">
                  <c:v>527.2069999999999</c:v>
                </c:pt>
                <c:pt idx="2">
                  <c:v>206.60100000000006</c:v>
                </c:pt>
                <c:pt idx="3">
                  <c:v>1129.817</c:v>
                </c:pt>
              </c:numCache>
            </c:numRef>
          </c:val>
        </c:ser>
        <c:gapWidth val="5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6D5E1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numFmt formatCode="#,##0" sourceLinked="0"/>
        <c:majorTickMark val="out"/>
        <c:minorTickMark val="none"/>
        <c:tickLblPos val="none"/>
        <c:spPr>
          <a:ln>
            <a:solidFill>
              <a:srgbClr val="C6D5E1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latin typeface="Calibri"/>
        </a:defRPr>
      </a:pPr>
      <a:endParaRPr lang="en-US"/>
    </a:p>
  </c:txPr>
</c:chartSpace>
</file>

<file path=ppt/charts/chart6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stacked"/>
        <c:varyColors val="0"/>
        <c:ser>
          <c:idx val="0"/>
          <c:order val="0"/>
          <c:tx>
            <c:strRef>
              <c:strCache>
                <c:ptCount val="1"/>
                <c:pt idx="0">
                  <c:v>base</c:v>
                </c:pt>
              </c:strCache>
            </c:strRef>
          </c:tx>
          <c:spPr>
            <a:noFill/>
            <a:ln>
              <a:noFill/>
            </a:ln>
          </c:spPr>
          <c:cat>
            <c:strRef>
              <c:strCache>
                <c:ptCount val="5"/>
                <c:pt idx="0">
                  <c:v>2026</c:v>
                </c:pt>
                <c:pt idx="1">
                  <c:v>Retail</c:v>
                </c:pt>
                <c:pt idx="2">
                  <c:v>Foodservice and institutional</c:v>
                </c:pt>
                <c:pt idx="3">
                  <c:v>Vending</c:v>
                </c:pt>
                <c:pt idx="4">
                  <c:v>2036 Total</c:v>
                </c:pt>
              </c:strCache>
            </c:strRef>
          </c:cat>
          <c:val>
            <c:numRef>
              <c:numCache>
                <c:formatCode>General</c:formatCode>
                <c:ptCount val="5"/>
                <c:pt idx="0">
                  <c:v>0.0</c:v>
                </c:pt>
                <c:pt idx="1">
                  <c:v>2479.62</c:v>
                </c:pt>
                <c:pt idx="2">
                  <c:v>3053.2639999999997</c:v>
                </c:pt>
                <c:pt idx="3">
                  <c:v>3563.3999999999996</c:v>
                </c:pt>
                <c:pt idx="4">
                  <c:v>0.0</c:v>
                </c:pt>
              </c:numCache>
            </c:numRef>
          </c:val>
        </c:ser>
        <c:ser>
          <c:idx val="1"/>
          <c:order val="1"/>
          <c:tx>
            <c:strRef>
              <c:strCache>
                <c:ptCount val="1"/>
                <c:pt idx="0">
                  <c:v>value</c:v>
                </c:pt>
              </c:strCache>
            </c:strRef>
          </c:tx>
          <c:spPr/>
          <c:dPt>
            <c:idx val="0"/>
            <c:spPr>
              <a:solidFill>
                <a:srgbClr val="0E72AE"/>
              </a:solidFill>
            </c:spPr>
          </c:dPt>
          <c:dPt>
            <c:idx val="1"/>
            <c:spPr>
              <a:solidFill>
                <a:srgbClr val="008189"/>
              </a:solidFill>
            </c:spPr>
          </c:dPt>
          <c:dPt>
            <c:idx val="2"/>
            <c:spPr>
              <a:solidFill>
                <a:srgbClr val="008189"/>
              </a:solidFill>
            </c:spPr>
          </c:dPt>
          <c:dPt>
            <c:idx val="3"/>
            <c:spPr>
              <a:solidFill>
                <a:srgbClr val="008189"/>
              </a:solidFill>
            </c:spPr>
          </c:dPt>
          <c:dPt>
            <c:idx val="4"/>
            <c:spPr>
              <a:solidFill>
                <a:srgbClr val="0E72AE"/>
              </a:solidFill>
            </c:spPr>
          </c:dPt>
          <c:dLbls>
            <c:dLbl>
              <c:idx val="0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#,##0" sourceLinked="0"/>
            <c:txPr>
              <a:bodyPr/>
              <a:lstStyle/>
              <a:p>
                <a:pPr>
                  <a:defRPr sz="1100">
                    <a:latin typeface="Calibri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5"/>
                <c:pt idx="0">
                  <c:v>2026</c:v>
                </c:pt>
                <c:pt idx="1">
                  <c:v>Retail</c:v>
                </c:pt>
                <c:pt idx="2">
                  <c:v>Foodservice and institutional</c:v>
                </c:pt>
                <c:pt idx="3">
                  <c:v>Vending</c:v>
                </c:pt>
                <c:pt idx="4">
                  <c:v>2036 Total</c:v>
                </c:pt>
              </c:strCache>
            </c:strRef>
          </c:cat>
          <c:val>
            <c:numRef>
              <c:numCache>
                <c:formatCode>General</c:formatCode>
                <c:ptCount val="5"/>
                <c:pt idx="0">
                  <c:v>2479.62</c:v>
                </c:pt>
                <c:pt idx="1">
                  <c:v>573.6439999999998</c:v>
                </c:pt>
                <c:pt idx="2">
                  <c:v>510.13599999999985</c:v>
                </c:pt>
                <c:pt idx="3">
                  <c:v>46.037000000000006</c:v>
                </c:pt>
                <c:pt idx="4">
                  <c:v>3609.437</c:v>
                </c:pt>
              </c:numCache>
            </c:numRef>
          </c:val>
        </c:ser>
        <c:gapWidth val="5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6D5E1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numFmt formatCode="#,##0" sourceLinked="0"/>
        <c:majorTickMark val="out"/>
        <c:minorTickMark val="none"/>
        <c:tickLblPos val="none"/>
        <c:spPr>
          <a:ln>
            <a:solidFill>
              <a:srgbClr val="C6D5E1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latin typeface="Calibri"/>
        </a:defRPr>
      </a:pPr>
      <a:endParaRPr lang="en-US"/>
    </a:p>
  </c:txPr>
</c:chartSpace>
</file>

<file path=ppt/charts/chart6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stacked"/>
        <c:varyColors val="0"/>
        <c:ser>
          <c:idx val="0"/>
          <c:order val="0"/>
          <c:tx>
            <c:strRef>
              <c:strCache>
                <c:ptCount val="1"/>
                <c:pt idx="0">
                  <c:v>base</c:v>
                </c:pt>
              </c:strCache>
            </c:strRef>
          </c:tx>
          <c:spPr>
            <a:noFill/>
            <a:ln>
              <a:noFill/>
            </a:ln>
          </c:spPr>
          <c:cat>
            <c:strRef>
              <c:strCache>
                <c:ptCount val="4"/>
                <c:pt idx="0">
                  <c:v>Retail</c:v>
                </c:pt>
                <c:pt idx="1">
                  <c:v>Foodservice and institutional</c:v>
                </c:pt>
                <c:pt idx="2">
                  <c:v>Vending</c:v>
                </c:pt>
                <c:pt idx="3">
                  <c:v>Total Absolute $ Opportunity</c:v>
                </c:pt>
              </c:strCache>
            </c:strRef>
          </c:cat>
          <c:val>
            <c:numRef>
              <c:numCache>
                <c:formatCode>General</c:formatCode>
                <c:ptCount val="4"/>
                <c:pt idx="0">
                  <c:v>0.0</c:v>
                </c:pt>
                <c:pt idx="1">
                  <c:v>573.6439999999998</c:v>
                </c:pt>
                <c:pt idx="2">
                  <c:v>1083.7799999999997</c:v>
                </c:pt>
                <c:pt idx="3">
                  <c:v>0.0</c:v>
                </c:pt>
              </c:numCache>
            </c:numRef>
          </c:val>
        </c:ser>
        <c:ser>
          <c:idx val="1"/>
          <c:order val="1"/>
          <c:tx>
            <c:strRef>
              <c:strCache>
                <c:ptCount val="1"/>
                <c:pt idx="0">
                  <c:v>value</c:v>
                </c:pt>
              </c:strCache>
            </c:strRef>
          </c:tx>
          <c:spPr/>
          <c:dPt>
            <c:idx val="0"/>
            <c:spPr>
              <a:solidFill>
                <a:srgbClr val="008189"/>
              </a:solidFill>
            </c:spPr>
          </c:dPt>
          <c:dPt>
            <c:idx val="1"/>
            <c:spPr>
              <a:solidFill>
                <a:srgbClr val="008189"/>
              </a:solidFill>
            </c:spPr>
          </c:dPt>
          <c:dPt>
            <c:idx val="2"/>
            <c:spPr>
              <a:solidFill>
                <a:srgbClr val="008189"/>
              </a:solidFill>
            </c:spPr>
          </c:dPt>
          <c:dPt>
            <c:idx val="3"/>
            <c:spPr>
              <a:solidFill>
                <a:srgbClr val="0E72AE"/>
              </a:solidFill>
            </c:spPr>
          </c:dPt>
          <c:dLbls>
            <c:dLbl>
              <c:idx val="0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#,##0" sourceLinked="0"/>
            <c:txPr>
              <a:bodyPr/>
              <a:lstStyle/>
              <a:p>
                <a:pPr>
                  <a:defRPr sz="1100">
                    <a:latin typeface="Calibri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4"/>
                <c:pt idx="0">
                  <c:v>Retail</c:v>
                </c:pt>
                <c:pt idx="1">
                  <c:v>Foodservice and institutional</c:v>
                </c:pt>
                <c:pt idx="2">
                  <c:v>Vending</c:v>
                </c:pt>
                <c:pt idx="3">
                  <c:v>Total Absolute $ Opportunity</c:v>
                </c:pt>
              </c:strCache>
            </c:strRef>
          </c:cat>
          <c:val>
            <c:numRef>
              <c:numCache>
                <c:formatCode>General</c:formatCode>
                <c:ptCount val="4"/>
                <c:pt idx="0">
                  <c:v>573.6439999999998</c:v>
                </c:pt>
                <c:pt idx="1">
                  <c:v>510.13599999999985</c:v>
                </c:pt>
                <c:pt idx="2">
                  <c:v>46.037000000000006</c:v>
                </c:pt>
                <c:pt idx="3">
                  <c:v>1129.8169999999998</c:v>
                </c:pt>
              </c:numCache>
            </c:numRef>
          </c:val>
        </c:ser>
        <c:gapWidth val="5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6D5E1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numFmt formatCode="#,##0" sourceLinked="0"/>
        <c:majorTickMark val="out"/>
        <c:minorTickMark val="none"/>
        <c:tickLblPos val="none"/>
        <c:spPr>
          <a:ln>
            <a:solidFill>
              <a:srgbClr val="C6D5E1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latin typeface="Calibri"/>
        </a:defRPr>
      </a:pPr>
      <a:endParaRPr lang="en-US"/>
    </a:p>
  </c:txPr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4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5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7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8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Country Market Outlook (section breaker)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Packaged Muffins Market Country Overview Volume Overview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Packaged Muffins Market Country Overview Value Overview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Packaged Muffins Market Country Overview Key Segments (Value)  (1/3)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Packaged Muffins Market Country Overview Key Segments (Value)  (2/3)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Packaged Muffins Market Country Overview Key Segments (Value)  (3/3)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Packaged Muffins Market Country Product Type Segmental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Packaged Muffins Market Country Product Type Table (Volume &amp; Value)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Packaged Muffins Market Country Product Type YoY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Packaged Muffins Market Country Flavour Segmental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Packaged Muffins Market Country Flavour Table (Volume &amp; Value)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Packaged Muffins Market Country Flavour YoY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Packaged Muffins Market Country Primary Flour Base Segmental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Packaged Muffins Market Country Primary Flour Base Table (Volume &amp; Value)  (1/2)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Packaged Muffins Market Country Primary Flour Base Table (Volume &amp; Value)  (2/2)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Packaged Muffins Market Country Primary Flour Base YoY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Packaged Muffins Market Country Dietary Formulation Segmental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Packaged Muffins Market Country Dietary Formulation Table (Volume &amp; Value)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Packaged Muffins Market Country Dietary Formulation YoY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Packaged Muffins Market Country Nutritional Positioning Segmental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Packaged Muffins Market Country Nutritional Positioning Table (Volume &amp; Value)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Packaged Muffins Market Country Nutritional Positioning YoY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Packaged Muffins Market Country Recipe and Ingredient Claims Segmental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Packaged Muffins Market Country Recipe and Ingredient Claims Table (Volume &amp; Value)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Packaged Muffins Market Country Recipe and Ingredient Claims YoY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Packaged Muffins Market Country Product Structure Segmental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Packaged Muffins Market Country Product Structure Table (Volume &amp; Value)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Packaged Muffins Market Country Product Structure YoY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Packaged Muffins Market Country Surface Finish Segmental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Packaged Muffins Market Country Surface Finish Table (Volume &amp; Value)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Packaged Muffins Market Country Surface Finish YoY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Packaged Muffins Market Country Individual Muffin Size Segmental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Packaged Muffins Market Country Individual Muffin Size Table (Volume &amp; Value)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Packaged Muffins Market Country Individual Muffin Size YoY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Packaged Muffins Market Country Storage Format Segmental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Packaged Muffins Market Country Storage Format Table (Volume &amp; Value)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Packaged Muffins Market Country Storage Format YoY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Packaged Muffins Market Country Shelf Life Segmental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Packaged Muffins Market Country Shelf Life Table (Volume &amp; Value)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Packaged Muffins Market Country Shelf Life YoY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Packaged Muffins Market Country Packaging Format Segmental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Packaged Muffins Market Country Packaging Format Table (Volume &amp; Value)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Packaged Muffins Market Country Packaging Format YoY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Packaged Muffins Market Country Pack Configuration Segmental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Packaged Muffins Market Country Pack Configuration Table (Volume &amp; Value)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Packaged Muffins Market Country Pack Configuration YoY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Packaged Muffins Market Country Multipack Wrapping Segmental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Packaged Muffins Market Country Multipack Wrapping Table (Volume &amp; Value)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Packaged Muffins Market Country Multipack Wrapping YoY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Packaged Muffins Market Country Price Positioning Segmental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Packaged Muffins Market Country Price Positioning Table (Volume &amp; Value)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Packaged Muffins Market Country Price Positioning YoY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Packaged Muffins Market Country Brand Ownership Segmental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Packaged Muffins Market Country Brand Ownership Table (Volume &amp; Value)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Packaged Muffins Market Country Brand Ownership YoY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Packaged Muffins Market Country Sales Channel Segmental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Packaged Muffins Market Country Sales Channel Table (Volume &amp; Value)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Packaged Muffins Market Country Sales Channel YoY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slide" Target="slide3.xml"/><Relationship Id="rId4" Type="http://schemas.openxmlformats.org/officeDocument/2006/relationships/slide" Target="slide4.xml"/><Relationship Id="rId5" Type="http://schemas.openxmlformats.org/officeDocument/2006/relationships/slide" Target="slide10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1.xml"/><Relationship Id="rId4" Type="http://schemas.openxmlformats.org/officeDocument/2006/relationships/chart" Target="../charts/chart2.xml"/><Relationship Id="rId5" Type="http://schemas.openxmlformats.org/officeDocument/2006/relationships/chart" Target="../charts/chart3.xml"/><Relationship Id="rId6" Type="http://schemas.openxmlformats.org/officeDocument/2006/relationships/chart" Target="../charts/chart4.xml"/><Relationship Id="rId7" Type="http://schemas.openxmlformats.org/officeDocument/2006/relationships/notesSlide" Target="../notesSlides/notesSlide2.xml"/><Relationship Id="rId8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5.xml"/><Relationship Id="rId4" Type="http://schemas.openxmlformats.org/officeDocument/2006/relationships/chart" Target="../charts/chart6.xml"/><Relationship Id="rId5" Type="http://schemas.openxmlformats.org/officeDocument/2006/relationships/chart" Target="../charts/chart7.xml"/><Relationship Id="rId6" Type="http://schemas.openxmlformats.org/officeDocument/2006/relationships/chart" Target="../charts/chart8.xml"/><Relationship Id="rId7" Type="http://schemas.openxmlformats.org/officeDocument/2006/relationships/notesSlide" Target="../notesSlides/notesSlide3.xml"/><Relationship Id="rId8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9.xml"/><Relationship Id="rId4" Type="http://schemas.openxmlformats.org/officeDocument/2006/relationships/chart" Target="../charts/chart10.xml"/><Relationship Id="rId5" Type="http://schemas.openxmlformats.org/officeDocument/2006/relationships/chart" Target="../charts/chart11.xml"/><Relationship Id="rId6" Type="http://schemas.openxmlformats.org/officeDocument/2006/relationships/chart" Target="../charts/chart12.xml"/><Relationship Id="rId7" Type="http://schemas.openxmlformats.org/officeDocument/2006/relationships/chart" Target="../charts/chart13.xml"/><Relationship Id="rId8" Type="http://schemas.openxmlformats.org/officeDocument/2006/relationships/chart" Target="../charts/chart14.xml"/><Relationship Id="rId9" Type="http://schemas.openxmlformats.org/officeDocument/2006/relationships/chart" Target="../charts/chart15.xml"/><Relationship Id="rId10" Type="http://schemas.openxmlformats.org/officeDocument/2006/relationships/chart" Target="../charts/chart16.xml"/><Relationship Id="rId11" Type="http://schemas.openxmlformats.org/officeDocument/2006/relationships/chart" Target="../charts/chart17.xml"/><Relationship Id="rId12" Type="http://schemas.openxmlformats.org/officeDocument/2006/relationships/chart" Target="../charts/chart18.xml"/><Relationship Id="rId13" Type="http://schemas.openxmlformats.org/officeDocument/2006/relationships/chart" Target="../charts/chart19.xml"/><Relationship Id="rId14" Type="http://schemas.openxmlformats.org/officeDocument/2006/relationships/chart" Target="../charts/chart20.xml"/><Relationship Id="rId15" Type="http://schemas.openxmlformats.org/officeDocument/2006/relationships/notesSlide" Target="../notesSlides/notesSlide4.xml"/><Relationship Id="rId16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21.xml"/><Relationship Id="rId4" Type="http://schemas.openxmlformats.org/officeDocument/2006/relationships/chart" Target="../charts/chart22.xml"/><Relationship Id="rId5" Type="http://schemas.openxmlformats.org/officeDocument/2006/relationships/chart" Target="../charts/chart23.xml"/><Relationship Id="rId6" Type="http://schemas.openxmlformats.org/officeDocument/2006/relationships/chart" Target="../charts/chart24.xml"/><Relationship Id="rId7" Type="http://schemas.openxmlformats.org/officeDocument/2006/relationships/chart" Target="../charts/chart25.xml"/><Relationship Id="rId8" Type="http://schemas.openxmlformats.org/officeDocument/2006/relationships/chart" Target="../charts/chart26.xml"/><Relationship Id="rId9" Type="http://schemas.openxmlformats.org/officeDocument/2006/relationships/chart" Target="../charts/chart27.xml"/><Relationship Id="rId10" Type="http://schemas.openxmlformats.org/officeDocument/2006/relationships/chart" Target="../charts/chart28.xml"/><Relationship Id="rId11" Type="http://schemas.openxmlformats.org/officeDocument/2006/relationships/chart" Target="../charts/chart29.xml"/><Relationship Id="rId12" Type="http://schemas.openxmlformats.org/officeDocument/2006/relationships/notesSlide" Target="../notesSlides/notesSlide5.xml"/><Relationship Id="rId13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6.xml"/><Relationship Id="rId4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30.xml"/><Relationship Id="rId4" Type="http://schemas.openxmlformats.org/officeDocument/2006/relationships/chart" Target="../charts/chart31.xml"/><Relationship Id="rId5" Type="http://schemas.openxmlformats.org/officeDocument/2006/relationships/notesSlide" Target="../notesSlides/notesSlide7.xml"/><Relationship Id="rId6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8.xml"/><Relationship Id="rId4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9.xml"/><Relationship Id="rId4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32.xml"/><Relationship Id="rId4" Type="http://schemas.openxmlformats.org/officeDocument/2006/relationships/chart" Target="../charts/chart33.xml"/><Relationship Id="rId5" Type="http://schemas.openxmlformats.org/officeDocument/2006/relationships/notesSlide" Target="../notesSlides/notesSlide10.xml"/><Relationship Id="rId6" Type="http://schemas.openxmlformats.org/officeDocument/2006/relationships/image" Target="../media/image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1.xml"/><Relationship Id="rId4" Type="http://schemas.openxmlformats.org/officeDocument/2006/relationships/image" Target="../media/image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2.xml"/><Relationship Id="rId4" Type="http://schemas.openxmlformats.org/officeDocument/2006/relationships/image" Target="../media/image2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34.xml"/><Relationship Id="rId4" Type="http://schemas.openxmlformats.org/officeDocument/2006/relationships/chart" Target="../charts/chart35.xml"/><Relationship Id="rId5" Type="http://schemas.openxmlformats.org/officeDocument/2006/relationships/notesSlide" Target="../notesSlides/notesSlide13.xml"/><Relationship Id="rId6" Type="http://schemas.openxmlformats.org/officeDocument/2006/relationships/image" Target="../media/image2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4.xml"/><Relationship Id="rId4" Type="http://schemas.openxmlformats.org/officeDocument/2006/relationships/image" Target="../media/image2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5.xml"/><Relationship Id="rId4" Type="http://schemas.openxmlformats.org/officeDocument/2006/relationships/image" Target="../media/image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6.xml"/><Relationship Id="rId4" Type="http://schemas.openxmlformats.org/officeDocument/2006/relationships/image" Target="../media/image2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36.xml"/><Relationship Id="rId4" Type="http://schemas.openxmlformats.org/officeDocument/2006/relationships/chart" Target="../charts/chart37.xml"/><Relationship Id="rId5" Type="http://schemas.openxmlformats.org/officeDocument/2006/relationships/notesSlide" Target="../notesSlides/notesSlide17.xml"/><Relationship Id="rId6" Type="http://schemas.openxmlformats.org/officeDocument/2006/relationships/image" Target="../media/image2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8.xml"/><Relationship Id="rId4" Type="http://schemas.openxmlformats.org/officeDocument/2006/relationships/image" Target="../media/image2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9.xml"/><Relationship Id="rId4" Type="http://schemas.openxmlformats.org/officeDocument/2006/relationships/image" Target="../media/image2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38.xml"/><Relationship Id="rId4" Type="http://schemas.openxmlformats.org/officeDocument/2006/relationships/chart" Target="../charts/chart39.xml"/><Relationship Id="rId5" Type="http://schemas.openxmlformats.org/officeDocument/2006/relationships/notesSlide" Target="../notesSlides/notesSlide20.xml"/><Relationship Id="rId6" Type="http://schemas.openxmlformats.org/officeDocument/2006/relationships/image" Target="../media/image2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1.xml"/><Relationship Id="rId4" Type="http://schemas.openxmlformats.org/officeDocument/2006/relationships/image" Target="../media/image2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2.xml"/><Relationship Id="rId4" Type="http://schemas.openxmlformats.org/officeDocument/2006/relationships/image" Target="../media/image2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40.xml"/><Relationship Id="rId4" Type="http://schemas.openxmlformats.org/officeDocument/2006/relationships/chart" Target="../charts/chart41.xml"/><Relationship Id="rId5" Type="http://schemas.openxmlformats.org/officeDocument/2006/relationships/notesSlide" Target="../notesSlides/notesSlide23.xml"/><Relationship Id="rId6" Type="http://schemas.openxmlformats.org/officeDocument/2006/relationships/image" Target="../media/image2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4.xml"/><Relationship Id="rId4" Type="http://schemas.openxmlformats.org/officeDocument/2006/relationships/image" Target="../media/image2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5.xml"/><Relationship Id="rId4" Type="http://schemas.openxmlformats.org/officeDocument/2006/relationships/image" Target="../media/image2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42.xml"/><Relationship Id="rId4" Type="http://schemas.openxmlformats.org/officeDocument/2006/relationships/chart" Target="../charts/chart43.xml"/><Relationship Id="rId5" Type="http://schemas.openxmlformats.org/officeDocument/2006/relationships/notesSlide" Target="../notesSlides/notesSlide26.xml"/><Relationship Id="rId6" Type="http://schemas.openxmlformats.org/officeDocument/2006/relationships/image" Target="../media/image2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7.xml"/><Relationship Id="rId4" Type="http://schemas.openxmlformats.org/officeDocument/2006/relationships/image" Target="../media/image2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8.xml"/><Relationship Id="rId4" Type="http://schemas.openxmlformats.org/officeDocument/2006/relationships/image" Target="../media/image2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44.xml"/><Relationship Id="rId4" Type="http://schemas.openxmlformats.org/officeDocument/2006/relationships/chart" Target="../charts/chart45.xml"/><Relationship Id="rId5" Type="http://schemas.openxmlformats.org/officeDocument/2006/relationships/notesSlide" Target="../notesSlides/notesSlide29.xml"/><Relationship Id="rId6" Type="http://schemas.openxmlformats.org/officeDocument/2006/relationships/image" Target="../media/image2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0.xml"/><Relationship Id="rId4" Type="http://schemas.openxmlformats.org/officeDocument/2006/relationships/image" Target="../media/image2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1.xml"/><Relationship Id="rId4" Type="http://schemas.openxmlformats.org/officeDocument/2006/relationships/image" Target="../media/image2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46.xml"/><Relationship Id="rId4" Type="http://schemas.openxmlformats.org/officeDocument/2006/relationships/chart" Target="../charts/chart47.xml"/><Relationship Id="rId5" Type="http://schemas.openxmlformats.org/officeDocument/2006/relationships/notesSlide" Target="../notesSlides/notesSlide32.xml"/><Relationship Id="rId6" Type="http://schemas.openxmlformats.org/officeDocument/2006/relationships/image" Target="../media/image2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3.xml"/><Relationship Id="rId4" Type="http://schemas.openxmlformats.org/officeDocument/2006/relationships/image" Target="../media/image2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4.xml"/><Relationship Id="rId4" Type="http://schemas.openxmlformats.org/officeDocument/2006/relationships/image" Target="../media/image2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48.xml"/><Relationship Id="rId4" Type="http://schemas.openxmlformats.org/officeDocument/2006/relationships/chart" Target="../charts/chart49.xml"/><Relationship Id="rId5" Type="http://schemas.openxmlformats.org/officeDocument/2006/relationships/notesSlide" Target="../notesSlides/notesSlide35.xml"/><Relationship Id="rId6" Type="http://schemas.openxmlformats.org/officeDocument/2006/relationships/image" Target="../media/image2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6.xml"/><Relationship Id="rId4" Type="http://schemas.openxmlformats.org/officeDocument/2006/relationships/image" Target="../media/image2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7.xml"/><Relationship Id="rId4" Type="http://schemas.openxmlformats.org/officeDocument/2006/relationships/image" Target="../media/image2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50.xml"/><Relationship Id="rId4" Type="http://schemas.openxmlformats.org/officeDocument/2006/relationships/chart" Target="../charts/chart51.xml"/><Relationship Id="rId5" Type="http://schemas.openxmlformats.org/officeDocument/2006/relationships/notesSlide" Target="../notesSlides/notesSlide38.xml"/><Relationship Id="rId6" Type="http://schemas.openxmlformats.org/officeDocument/2006/relationships/image" Target="../media/image2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9.xml"/><Relationship Id="rId4" Type="http://schemas.openxmlformats.org/officeDocument/2006/relationships/image" Target="../media/image2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0.xml"/><Relationship Id="rId4" Type="http://schemas.openxmlformats.org/officeDocument/2006/relationships/image" Target="../media/image2.pn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52.xml"/><Relationship Id="rId4" Type="http://schemas.openxmlformats.org/officeDocument/2006/relationships/chart" Target="../charts/chart53.xml"/><Relationship Id="rId5" Type="http://schemas.openxmlformats.org/officeDocument/2006/relationships/notesSlide" Target="../notesSlides/notesSlide41.xml"/><Relationship Id="rId6" Type="http://schemas.openxmlformats.org/officeDocument/2006/relationships/image" Target="../media/image2.pn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2.xml"/><Relationship Id="rId4" Type="http://schemas.openxmlformats.org/officeDocument/2006/relationships/image" Target="../media/image2.pn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3.xml"/><Relationship Id="rId4" Type="http://schemas.openxmlformats.org/officeDocument/2006/relationships/image" Target="../media/image2.pn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54.xml"/><Relationship Id="rId4" Type="http://schemas.openxmlformats.org/officeDocument/2006/relationships/chart" Target="../charts/chart55.xml"/><Relationship Id="rId5" Type="http://schemas.openxmlformats.org/officeDocument/2006/relationships/notesSlide" Target="../notesSlides/notesSlide44.xml"/><Relationship Id="rId6" Type="http://schemas.openxmlformats.org/officeDocument/2006/relationships/image" Target="../media/image2.pn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5.xml"/><Relationship Id="rId4" Type="http://schemas.openxmlformats.org/officeDocument/2006/relationships/image" Target="../media/image2.pn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6.xml"/><Relationship Id="rId4" Type="http://schemas.openxmlformats.org/officeDocument/2006/relationships/image" Target="../media/image2.pn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56.xml"/><Relationship Id="rId4" Type="http://schemas.openxmlformats.org/officeDocument/2006/relationships/chart" Target="../charts/chart57.xml"/><Relationship Id="rId5" Type="http://schemas.openxmlformats.org/officeDocument/2006/relationships/notesSlide" Target="../notesSlides/notesSlide47.xml"/><Relationship Id="rId6" Type="http://schemas.openxmlformats.org/officeDocument/2006/relationships/image" Target="../media/image2.pn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8.xml"/><Relationship Id="rId4" Type="http://schemas.openxmlformats.org/officeDocument/2006/relationships/image" Target="../media/image2.pn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9.xml"/><Relationship Id="rId4" Type="http://schemas.openxmlformats.org/officeDocument/2006/relationships/image" Target="../media/image2.pn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58.xml"/><Relationship Id="rId4" Type="http://schemas.openxmlformats.org/officeDocument/2006/relationships/chart" Target="../charts/chart59.xml"/><Relationship Id="rId5" Type="http://schemas.openxmlformats.org/officeDocument/2006/relationships/notesSlide" Target="../notesSlides/notesSlide50.xml"/><Relationship Id="rId6" Type="http://schemas.openxmlformats.org/officeDocument/2006/relationships/image" Target="../media/image2.png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1.xml"/><Relationship Id="rId4" Type="http://schemas.openxmlformats.org/officeDocument/2006/relationships/image" Target="../media/image2.png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2.xml"/><Relationship Id="rId4" Type="http://schemas.openxmlformats.org/officeDocument/2006/relationships/image" Target="../media/image2.png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60.xml"/><Relationship Id="rId4" Type="http://schemas.openxmlformats.org/officeDocument/2006/relationships/chart" Target="../charts/chart61.xml"/><Relationship Id="rId5" Type="http://schemas.openxmlformats.org/officeDocument/2006/relationships/notesSlide" Target="../notesSlides/notesSlide53.xml"/><Relationship Id="rId6" Type="http://schemas.openxmlformats.org/officeDocument/2006/relationships/image" Target="../media/image2.png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4.xml"/><Relationship Id="rId4" Type="http://schemas.openxmlformats.org/officeDocument/2006/relationships/image" Target="../media/image2.png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5.xml"/><Relationship Id="rId4" Type="http://schemas.openxmlformats.org/officeDocument/2006/relationships/image" Target="../media/image2.png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62.xml"/><Relationship Id="rId4" Type="http://schemas.openxmlformats.org/officeDocument/2006/relationships/chart" Target="../charts/chart63.xml"/><Relationship Id="rId5" Type="http://schemas.openxmlformats.org/officeDocument/2006/relationships/notesSlide" Target="../notesSlides/notesSlide56.xml"/><Relationship Id="rId6" Type="http://schemas.openxmlformats.org/officeDocument/2006/relationships/image" Target="../media/image2.png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7.xml"/><Relationship Id="rId4" Type="http://schemas.openxmlformats.org/officeDocument/2006/relationships/image" Target="../media/image2.png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8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905000" y="4476750"/>
            <a:ext cx="5334000" cy="5334000"/>
          </a:xfrm>
          <a:prstGeom prst="ellipse">
            <a:avLst/>
          </a:prstGeom>
          <a:solidFill>
            <a:srgbClr val="EAF6FB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001000" y="-2000250"/>
            <a:ext cx="5334000" cy="5334000"/>
          </a:xfrm>
          <a:prstGeom prst="ellipse">
            <a:avLst/>
          </a:prstGeom>
          <a:noFill/>
          <a:ln w="19050">
            <a:solidFill>
              <a:srgbClr val="B2B2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715375" y="-1285875"/>
            <a:ext cx="3905250" cy="3905250"/>
          </a:xfrm>
          <a:prstGeom prst="ellipse">
            <a:avLst/>
          </a:prstGeom>
          <a:noFill/>
          <a:ln w="19050">
            <a:solidFill>
              <a:srgbClr val="B2B2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382125" y="-619125"/>
            <a:ext cx="2571750" cy="2571750"/>
          </a:xfrm>
          <a:prstGeom prst="ellipse">
            <a:avLst/>
          </a:prstGeom>
          <a:noFill/>
          <a:ln w="19050">
            <a:solidFill>
              <a:srgbClr val="B2B2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096500" y="95250"/>
            <a:ext cx="1143000" cy="1143000"/>
          </a:xfrm>
          <a:prstGeom prst="ellipse">
            <a:avLst/>
          </a:prstGeom>
          <a:solidFill>
            <a:srgbClr val="EAF6FB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010650" y="5848350"/>
            <a:ext cx="228600" cy="247650"/>
          </a:xfrm>
          <a:prstGeom prst="roundRect">
            <a:avLst/>
          </a:prstGeom>
          <a:solidFill>
            <a:srgbClr val="3D85C6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391650" y="5676900"/>
            <a:ext cx="228600" cy="419100"/>
          </a:xfrm>
          <a:prstGeom prst="roundRect">
            <a:avLst/>
          </a:prstGeom>
          <a:solidFill>
            <a:srgbClr val="3D85C6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772650" y="5772150"/>
            <a:ext cx="228600" cy="323850"/>
          </a:xfrm>
          <a:prstGeom prst="roundRect">
            <a:avLst/>
          </a:prstGeom>
          <a:solidFill>
            <a:srgbClr val="3D85C6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0153650" y="5524500"/>
            <a:ext cx="228600" cy="571500"/>
          </a:xfrm>
          <a:prstGeom prst="roundRect">
            <a:avLst/>
          </a:prstGeom>
          <a:solidFill>
            <a:srgbClr val="3D85C6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0534650" y="5314950"/>
            <a:ext cx="228600" cy="781050"/>
          </a:xfrm>
          <a:prstGeom prst="roundRect">
            <a:avLst/>
          </a:prstGeom>
          <a:solidFill>
            <a:srgbClr val="3D85C6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915650" y="5600700"/>
            <a:ext cx="228600" cy="495300"/>
          </a:xfrm>
          <a:prstGeom prst="roundRect">
            <a:avLst/>
          </a:prstGeom>
          <a:solidFill>
            <a:srgbClr val="3D85C6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1296650" y="5181600"/>
            <a:ext cx="228600" cy="914400"/>
          </a:xfrm>
          <a:prstGeom prst="roundRect">
            <a:avLst/>
          </a:prstGeom>
          <a:solidFill>
            <a:srgbClr val="3D85C6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fmi_logo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381000"/>
            <a:ext cx="1307592" cy="132588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143000" y="2667000"/>
            <a:ext cx="9334500" cy="18097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3400" b="1">
                <a:solidFill>
                  <a:srgbClr val="0B2E4A"/>
                </a:solidFill>
                <a:latin typeface="Calibri"/>
              </a:rPr>
              <a:t>North America Packaged Muffins Market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62050" y="4686300"/>
            <a:ext cx="9334500" cy="857250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l"/>
            <a:r>
              <a:rPr sz="1600" b="0">
                <a:solidFill>
                  <a:srgbClr val="6C7A89"/>
                </a:solidFill>
                <a:latin typeface="Calibri"/>
              </a:rPr>
              <a:t>Value (US$ Mn) and Volume (MT) Analysis and Forecast, 2021–2036</a:t>
            </a:r>
          </a:p>
          <a:p>
            <a:pPr algn="l"/>
            <a:r>
              <a:rPr sz="1100" b="0">
                <a:solidFill>
                  <a:srgbClr val="8FCBE6"/>
                </a:solidFill>
                <a:latin typeface="Calibri"/>
              </a:rPr>
              <a:t>Region focus: North America   ·   Country focus: U.S.   ·   Generated 07 Oct 2026   ·   Source: FMI Analysis, 2026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58595B"/>
                </a:solidFill>
                <a:latin typeface="Calibri"/>
              </a:rPr>
              <a:t>©2026 Future Market Insights, All Rights Reserved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3825" y="914400"/>
            <a:ext cx="3943350" cy="28575"/>
          </a:xfrm>
          <a:prstGeom prst="rect">
            <a:avLst/>
          </a:prstGeom>
          <a:solidFill>
            <a:srgbClr val="0081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24325" y="914400"/>
            <a:ext cx="3943350" cy="28575"/>
          </a:xfrm>
          <a:prstGeom prst="rect">
            <a:avLst/>
          </a:prstGeom>
          <a:solidFill>
            <a:srgbClr val="9E7E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124825" y="914400"/>
            <a:ext cx="3943350" cy="28575"/>
          </a:xfrm>
          <a:prstGeom prst="rect">
            <a:avLst/>
          </a:prstGeom>
          <a:solidFill>
            <a:srgbClr val="403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mi_logo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25" y="-205740"/>
            <a:ext cx="1307592" cy="13258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543050" y="19050"/>
            <a:ext cx="10506075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Agenda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43050" y="647700"/>
            <a:ext cx="10506075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Storyline of the report by section · click a section card to jump to it</a:t>
            </a:r>
          </a:p>
        </p:txBody>
      </p:sp>
      <p:sp>
        <p:nvSpPr>
          <p:cNvPr id="10" name="Rounded Rectangle 9">
            <a:hlinkClick action="ppaction://hlinksldjump" r:id="rId3"/>
          </p:cNvPr>
          <p:cNvSpPr/>
          <p:nvPr/>
        </p:nvSpPr>
        <p:spPr>
          <a:xfrm>
            <a:off x="6219825" y="1135037"/>
            <a:ext cx="5829300" cy="310313"/>
          </a:xfrm>
          <a:prstGeom prst="roundRect">
            <a:avLst>
              <a:gd name="adj" fmla="val 23529"/>
            </a:avLst>
          </a:prstGeom>
          <a:solidFill>
            <a:srgbClr val="E0E8EF"/>
          </a:solidFill>
          <a:ln w="12700">
            <a:solidFill>
              <a:srgbClr val="0B2E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l"/>
            <a:r>
              <a:rPr sz="1300" b="1">
                <a:solidFill>
                  <a:srgbClr val="0B2E4A"/>
                </a:solidFill>
                <a:latin typeface="Calibri"/>
              </a:rPr>
              <a:t>Country Market Outlook</a:t>
            </a:r>
          </a:p>
        </p:txBody>
      </p:sp>
      <p:sp>
        <p:nvSpPr>
          <p:cNvPr id="11" name="Rounded Rectangle 10">
            <a:hlinkClick action="ppaction://hlinksldjump" r:id="rId4"/>
          </p:cNvPr>
          <p:cNvSpPr/>
          <p:nvPr/>
        </p:nvSpPr>
        <p:spPr>
          <a:xfrm>
            <a:off x="6391275" y="1700902"/>
            <a:ext cx="5657850" cy="328567"/>
          </a:xfrm>
          <a:prstGeom prst="roundRect">
            <a:avLst>
              <a:gd name="adj" fmla="val 22222"/>
            </a:avLst>
          </a:prstGeom>
          <a:solidFill>
            <a:srgbClr val="E0E8EF"/>
          </a:solidFill>
          <a:ln w="6350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l"/>
            <a:r>
              <a:rPr sz="1200" b="0">
                <a:solidFill>
                  <a:srgbClr val="0B2E4A"/>
                </a:solidFill>
                <a:latin typeface="Calibri"/>
              </a:rPr>
              <a:t>1. Packaged Muffins Market Overview (Volume &amp; Value)</a:t>
            </a:r>
          </a:p>
        </p:txBody>
      </p:sp>
      <p:sp>
        <p:nvSpPr>
          <p:cNvPr id="12" name="Rounded Rectangle 11">
            <a:hlinkClick action="ppaction://hlinksldjump" r:id="rId5"/>
          </p:cNvPr>
          <p:cNvSpPr/>
          <p:nvPr/>
        </p:nvSpPr>
        <p:spPr>
          <a:xfrm>
            <a:off x="6391275" y="2285020"/>
            <a:ext cx="5657850" cy="328567"/>
          </a:xfrm>
          <a:prstGeom prst="roundRect">
            <a:avLst>
              <a:gd name="adj" fmla="val 22222"/>
            </a:avLst>
          </a:prstGeom>
          <a:solidFill>
            <a:srgbClr val="E0E8EF"/>
          </a:solidFill>
          <a:ln w="6350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l"/>
            <a:r>
              <a:rPr sz="1200" b="0">
                <a:solidFill>
                  <a:srgbClr val="0B2E4A"/>
                </a:solidFill>
                <a:latin typeface="Calibri"/>
              </a:rPr>
              <a:t>2. Segment Overview (Volume &amp; Value)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58595B"/>
                </a:solidFill>
                <a:latin typeface="Calibri"/>
              </a:rPr>
              <a:t>©2026 Future Market Insights, All Rights Reserved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2A6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MI Section Breaker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0A2A63"/>
              </a:gs>
              <a:gs pos="100000">
                <a:srgbClr val="0F3F8F"/>
              </a:gs>
            </a:gsLst>
            <a:lin scaled="0" ang="195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99064" y="525547"/>
            <a:ext cx="1340395" cy="8234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mi_logo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74320"/>
            <a:ext cx="1307592" cy="13258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1666875"/>
            <a:ext cx="7239000" cy="24765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400" b="0">
                <a:solidFill>
                  <a:srgbClr val="8FC8F2"/>
                </a:solidFill>
                <a:latin typeface="Calibri"/>
              </a:rPr>
              <a:t>Packaged Muffins Market</a:t>
            </a:r>
          </a:p>
        </p:txBody>
      </p:sp>
      <p:sp>
        <p:nvSpPr>
          <p:cNvPr id="6" name="FMI Breaker Title"/>
          <p:cNvSpPr txBox="1"/>
          <p:nvPr/>
        </p:nvSpPr>
        <p:spPr>
          <a:xfrm>
            <a:off x="914400" y="1971675"/>
            <a:ext cx="7239000" cy="51435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r>
              <a:rPr sz="3000" b="1" cap="all" spc="400">
                <a:solidFill>
                  <a:srgbClr val="FFFFFF"/>
                </a:solidFill>
                <a:latin typeface="Calibri"/>
              </a:rPr>
              <a:t>Country Market Outlook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676525"/>
            <a:ext cx="5067300" cy="4889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FFD447"/>
                </a:solidFill>
                <a:latin typeface="Calibri"/>
              </a:rPr>
              <a:t>➤	</a:t>
            </a:r>
            <a:r>
              <a:rPr sz="2000" b="0">
                <a:solidFill>
                  <a:srgbClr val="FFD447"/>
                </a:solidFill>
                <a:latin typeface="Calibri"/>
              </a:rPr>
              <a:t>Overview (Volume &amp; Value)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0" y="2676525"/>
            <a:ext cx="5067300" cy="51739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FFD447"/>
                </a:solidFill>
                <a:latin typeface="Calibri"/>
              </a:rPr>
              <a:t>➤	</a:t>
            </a:r>
            <a:r>
              <a:rPr sz="2000" b="0">
                <a:solidFill>
                  <a:srgbClr val="FFD447"/>
                </a:solidFill>
                <a:latin typeface="Calibri"/>
              </a:rPr>
              <a:t>Segment Overview (Volume &amp; Value)</a:t>
            </a:r>
          </a:p>
          <a:p>
            <a:pPr marL="685800" indent="-323850">
              <a:lnSpc>
                <a:spcPct val="100000"/>
              </a:lnSpc>
              <a:spcAft>
                <a:spcPts val="560"/>
              </a:spcAft>
            </a:pPr>
            <a:r>
              <a:rPr sz="1400" b="0">
                <a:solidFill>
                  <a:srgbClr val="FFD447"/>
                </a:solidFill>
                <a:latin typeface="Calibri"/>
              </a:rPr>
              <a:t>›	</a:t>
            </a:r>
            <a:r>
              <a:rPr sz="1400" b="0">
                <a:solidFill>
                  <a:srgbClr val="FFD447"/>
                </a:solidFill>
                <a:latin typeface="Calibri"/>
              </a:rPr>
              <a:t>Product Type</a:t>
            </a:r>
          </a:p>
          <a:p>
            <a:pPr marL="685800" indent="-323850">
              <a:lnSpc>
                <a:spcPct val="100000"/>
              </a:lnSpc>
              <a:spcAft>
                <a:spcPts val="560"/>
              </a:spcAft>
            </a:pPr>
            <a:r>
              <a:rPr sz="1400" b="0">
                <a:solidFill>
                  <a:srgbClr val="FFD447"/>
                </a:solidFill>
                <a:latin typeface="Calibri"/>
              </a:rPr>
              <a:t>›	</a:t>
            </a:r>
            <a:r>
              <a:rPr sz="1400" b="0">
                <a:solidFill>
                  <a:srgbClr val="FFD447"/>
                </a:solidFill>
                <a:latin typeface="Calibri"/>
              </a:rPr>
              <a:t>Flavour</a:t>
            </a:r>
          </a:p>
          <a:p>
            <a:pPr marL="685800" indent="-323850">
              <a:lnSpc>
                <a:spcPct val="100000"/>
              </a:lnSpc>
              <a:spcAft>
                <a:spcPts val="560"/>
              </a:spcAft>
            </a:pPr>
            <a:r>
              <a:rPr sz="1400" b="0">
                <a:solidFill>
                  <a:srgbClr val="FFD447"/>
                </a:solidFill>
                <a:latin typeface="Calibri"/>
              </a:rPr>
              <a:t>›	</a:t>
            </a:r>
            <a:r>
              <a:rPr sz="1400" b="0">
                <a:solidFill>
                  <a:srgbClr val="FFD447"/>
                </a:solidFill>
                <a:latin typeface="Calibri"/>
              </a:rPr>
              <a:t>Primary Flour Base</a:t>
            </a:r>
          </a:p>
          <a:p>
            <a:pPr marL="685800" indent="-323850">
              <a:lnSpc>
                <a:spcPct val="100000"/>
              </a:lnSpc>
              <a:spcAft>
                <a:spcPts val="560"/>
              </a:spcAft>
            </a:pPr>
            <a:r>
              <a:rPr sz="1400" b="0">
                <a:solidFill>
                  <a:srgbClr val="FFD447"/>
                </a:solidFill>
                <a:latin typeface="Calibri"/>
              </a:rPr>
              <a:t>›	</a:t>
            </a:r>
            <a:r>
              <a:rPr sz="1400" b="0">
                <a:solidFill>
                  <a:srgbClr val="FFD447"/>
                </a:solidFill>
                <a:latin typeface="Calibri"/>
              </a:rPr>
              <a:t>Dietary Formulation</a:t>
            </a:r>
          </a:p>
          <a:p>
            <a:pPr marL="685800" indent="-323850">
              <a:lnSpc>
                <a:spcPct val="100000"/>
              </a:lnSpc>
              <a:spcAft>
                <a:spcPts val="560"/>
              </a:spcAft>
            </a:pPr>
            <a:r>
              <a:rPr sz="1400" b="0">
                <a:solidFill>
                  <a:srgbClr val="FFD447"/>
                </a:solidFill>
                <a:latin typeface="Calibri"/>
              </a:rPr>
              <a:t>›	</a:t>
            </a:r>
            <a:r>
              <a:rPr sz="1400" b="0">
                <a:solidFill>
                  <a:srgbClr val="FFD447"/>
                </a:solidFill>
                <a:latin typeface="Calibri"/>
              </a:rPr>
              <a:t>Nutritional Positioning</a:t>
            </a:r>
          </a:p>
          <a:p>
            <a:pPr marL="685800" indent="-323850">
              <a:lnSpc>
                <a:spcPct val="100000"/>
              </a:lnSpc>
              <a:spcAft>
                <a:spcPts val="560"/>
              </a:spcAft>
            </a:pPr>
            <a:r>
              <a:rPr sz="1400" b="0">
                <a:solidFill>
                  <a:srgbClr val="FFD447"/>
                </a:solidFill>
                <a:latin typeface="Calibri"/>
              </a:rPr>
              <a:t>›	</a:t>
            </a:r>
            <a:r>
              <a:rPr sz="1400" b="0">
                <a:solidFill>
                  <a:srgbClr val="FFD447"/>
                </a:solidFill>
                <a:latin typeface="Calibri"/>
              </a:rPr>
              <a:t>Recipe and Ingredient Claims</a:t>
            </a:r>
          </a:p>
          <a:p>
            <a:pPr marL="685800" indent="-323850">
              <a:lnSpc>
                <a:spcPct val="100000"/>
              </a:lnSpc>
              <a:spcAft>
                <a:spcPts val="560"/>
              </a:spcAft>
            </a:pPr>
            <a:r>
              <a:rPr sz="1400" b="0">
                <a:solidFill>
                  <a:srgbClr val="FFD447"/>
                </a:solidFill>
                <a:latin typeface="Calibri"/>
              </a:rPr>
              <a:t>›	</a:t>
            </a:r>
            <a:r>
              <a:rPr sz="1400" b="0">
                <a:solidFill>
                  <a:srgbClr val="FFD447"/>
                </a:solidFill>
                <a:latin typeface="Calibri"/>
              </a:rPr>
              <a:t>Product Structure</a:t>
            </a:r>
          </a:p>
          <a:p>
            <a:pPr marL="685800" indent="-323850">
              <a:lnSpc>
                <a:spcPct val="100000"/>
              </a:lnSpc>
              <a:spcAft>
                <a:spcPts val="560"/>
              </a:spcAft>
            </a:pPr>
            <a:r>
              <a:rPr sz="1400" b="0">
                <a:solidFill>
                  <a:srgbClr val="FFD447"/>
                </a:solidFill>
                <a:latin typeface="Calibri"/>
              </a:rPr>
              <a:t>›	</a:t>
            </a:r>
            <a:r>
              <a:rPr sz="1400" b="0">
                <a:solidFill>
                  <a:srgbClr val="FFD447"/>
                </a:solidFill>
                <a:latin typeface="Calibri"/>
              </a:rPr>
              <a:t>Surface Finish</a:t>
            </a:r>
          </a:p>
          <a:p>
            <a:pPr marL="685800" indent="-323850">
              <a:lnSpc>
                <a:spcPct val="100000"/>
              </a:lnSpc>
              <a:spcAft>
                <a:spcPts val="560"/>
              </a:spcAft>
            </a:pPr>
            <a:r>
              <a:rPr sz="1400" b="0">
                <a:solidFill>
                  <a:srgbClr val="FFD447"/>
                </a:solidFill>
                <a:latin typeface="Calibri"/>
              </a:rPr>
              <a:t>›	</a:t>
            </a:r>
            <a:r>
              <a:rPr sz="1400" b="0">
                <a:solidFill>
                  <a:srgbClr val="FFD447"/>
                </a:solidFill>
                <a:latin typeface="Calibri"/>
              </a:rPr>
              <a:t>Individual Muffin Size</a:t>
            </a:r>
          </a:p>
          <a:p>
            <a:pPr marL="685800" indent="-323850">
              <a:lnSpc>
                <a:spcPct val="100000"/>
              </a:lnSpc>
              <a:spcAft>
                <a:spcPts val="560"/>
              </a:spcAft>
            </a:pPr>
            <a:r>
              <a:rPr sz="1400" b="0">
                <a:solidFill>
                  <a:srgbClr val="FFD447"/>
                </a:solidFill>
                <a:latin typeface="Calibri"/>
              </a:rPr>
              <a:t>›	</a:t>
            </a:r>
            <a:r>
              <a:rPr sz="1400" b="0">
                <a:solidFill>
                  <a:srgbClr val="FFD447"/>
                </a:solidFill>
                <a:latin typeface="Calibri"/>
              </a:rPr>
              <a:t>Storage Format</a:t>
            </a:r>
          </a:p>
          <a:p>
            <a:pPr marL="685800" indent="-323850">
              <a:lnSpc>
                <a:spcPct val="100000"/>
              </a:lnSpc>
              <a:spcAft>
                <a:spcPts val="560"/>
              </a:spcAft>
            </a:pPr>
            <a:r>
              <a:rPr sz="1400" b="0">
                <a:solidFill>
                  <a:srgbClr val="FFD447"/>
                </a:solidFill>
                <a:latin typeface="Calibri"/>
              </a:rPr>
              <a:t>›	</a:t>
            </a:r>
            <a:r>
              <a:rPr sz="1400" b="0">
                <a:solidFill>
                  <a:srgbClr val="FFD447"/>
                </a:solidFill>
                <a:latin typeface="Calibri"/>
              </a:rPr>
              <a:t>Shelf Life</a:t>
            </a:r>
          </a:p>
          <a:p>
            <a:pPr marL="685800" indent="-323850">
              <a:lnSpc>
                <a:spcPct val="100000"/>
              </a:lnSpc>
              <a:spcAft>
                <a:spcPts val="560"/>
              </a:spcAft>
            </a:pPr>
            <a:r>
              <a:rPr sz="1400" b="0">
                <a:solidFill>
                  <a:srgbClr val="FFD447"/>
                </a:solidFill>
                <a:latin typeface="Calibri"/>
              </a:rPr>
              <a:t>›	</a:t>
            </a:r>
            <a:r>
              <a:rPr sz="1400" b="0">
                <a:solidFill>
                  <a:srgbClr val="FFD447"/>
                </a:solidFill>
                <a:latin typeface="Calibri"/>
              </a:rPr>
              <a:t>Packaging Format</a:t>
            </a:r>
          </a:p>
          <a:p>
            <a:pPr marL="685800" indent="-323850">
              <a:lnSpc>
                <a:spcPct val="100000"/>
              </a:lnSpc>
              <a:spcAft>
                <a:spcPts val="560"/>
              </a:spcAft>
            </a:pPr>
            <a:r>
              <a:rPr sz="1400" b="0">
                <a:solidFill>
                  <a:srgbClr val="FFD447"/>
                </a:solidFill>
                <a:latin typeface="Calibri"/>
              </a:rPr>
              <a:t>›	</a:t>
            </a:r>
            <a:r>
              <a:rPr sz="1400" b="0">
                <a:solidFill>
                  <a:srgbClr val="FFD447"/>
                </a:solidFill>
                <a:latin typeface="Calibri"/>
              </a:rPr>
              <a:t>Pack Configuration</a:t>
            </a:r>
          </a:p>
          <a:p>
            <a:pPr marL="685800" indent="-323850">
              <a:lnSpc>
                <a:spcPct val="100000"/>
              </a:lnSpc>
              <a:spcAft>
                <a:spcPts val="560"/>
              </a:spcAft>
            </a:pPr>
            <a:r>
              <a:rPr sz="1400" b="0">
                <a:solidFill>
                  <a:srgbClr val="FFD447"/>
                </a:solidFill>
                <a:latin typeface="Calibri"/>
              </a:rPr>
              <a:t>›	</a:t>
            </a:r>
            <a:r>
              <a:rPr sz="1400" b="0">
                <a:solidFill>
                  <a:srgbClr val="FFD447"/>
                </a:solidFill>
                <a:latin typeface="Calibri"/>
              </a:rPr>
              <a:t>Multipack Wrapping</a:t>
            </a:r>
          </a:p>
          <a:p>
            <a:pPr marL="685800" indent="-323850">
              <a:lnSpc>
                <a:spcPct val="100000"/>
              </a:lnSpc>
              <a:spcAft>
                <a:spcPts val="560"/>
              </a:spcAft>
            </a:pPr>
            <a:r>
              <a:rPr sz="1400" b="0">
                <a:solidFill>
                  <a:srgbClr val="FFD447"/>
                </a:solidFill>
                <a:latin typeface="Calibri"/>
              </a:rPr>
              <a:t>›	</a:t>
            </a:r>
            <a:r>
              <a:rPr sz="1400" b="0">
                <a:solidFill>
                  <a:srgbClr val="FFD447"/>
                </a:solidFill>
                <a:latin typeface="Calibri"/>
              </a:rPr>
              <a:t>Price Positioning</a:t>
            </a:r>
          </a:p>
          <a:p>
            <a:pPr marL="685800" indent="-323850">
              <a:lnSpc>
                <a:spcPct val="100000"/>
              </a:lnSpc>
              <a:spcAft>
                <a:spcPts val="560"/>
              </a:spcAft>
            </a:pPr>
            <a:r>
              <a:rPr sz="1400" b="0">
                <a:solidFill>
                  <a:srgbClr val="FFD447"/>
                </a:solidFill>
                <a:latin typeface="Calibri"/>
              </a:rPr>
              <a:t>›	</a:t>
            </a:r>
            <a:r>
              <a:rPr sz="1400" b="0">
                <a:solidFill>
                  <a:srgbClr val="FFD447"/>
                </a:solidFill>
                <a:latin typeface="Calibri"/>
              </a:rPr>
              <a:t>Brand Ownership</a:t>
            </a:r>
          </a:p>
          <a:p>
            <a:pPr marL="685800" indent="-323850">
              <a:lnSpc>
                <a:spcPct val="100000"/>
              </a:lnSpc>
              <a:spcAft>
                <a:spcPts val="560"/>
              </a:spcAft>
            </a:pPr>
            <a:r>
              <a:rPr sz="1400" b="0">
                <a:solidFill>
                  <a:srgbClr val="FFD447"/>
                </a:solidFill>
                <a:latin typeface="Calibri"/>
              </a:rPr>
              <a:t>›	</a:t>
            </a:r>
            <a:r>
              <a:rPr sz="1400" b="0">
                <a:solidFill>
                  <a:srgbClr val="FFD447"/>
                </a:solidFill>
                <a:latin typeface="Calibri"/>
              </a:rPr>
              <a:t>Sales Channel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00500" y="6734175"/>
            <a:ext cx="8020050" cy="123825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r"/>
            <a:r>
              <a:rPr sz="700" b="0">
                <a:solidFill>
                  <a:srgbClr val="C9DCEE"/>
                </a:solidFill>
                <a:latin typeface="Calibri"/>
              </a:rPr>
              <a:t>©2026 Future Market Insights, All Rights Reserved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8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F1F8FE"/>
              </a:gs>
              <a:gs pos="100000">
                <a:srgbClr val="DAEAF9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0" y="5591183"/>
            <a:ext cx="12192000" cy="1266817"/>
          </a:xfrm>
          <a:custGeom>
            <a:avLst/>
            <a:gdLst/>
            <a:ahLst/>
            <a:cxnLst/>
            <a:rect l="l" t="t" r="r" b="b"/>
            <a:pathLst>
              <a:path w="12192000" h="1266817">
                <a:moveTo>
                  <a:pt x="0" y="1266817"/>
                </a:moveTo>
                <a:lnTo>
                  <a:pt x="0" y="475605"/>
                </a:lnTo>
                <a:lnTo>
                  <a:pt x="152400" y="486239"/>
                </a:lnTo>
                <a:lnTo>
                  <a:pt x="304800" y="495887"/>
                </a:lnTo>
                <a:lnTo>
                  <a:pt x="457200" y="504505"/>
                </a:lnTo>
                <a:lnTo>
                  <a:pt x="609600" y="512056"/>
                </a:lnTo>
                <a:lnTo>
                  <a:pt x="762000" y="518505"/>
                </a:lnTo>
                <a:lnTo>
                  <a:pt x="914400" y="523824"/>
                </a:lnTo>
                <a:lnTo>
                  <a:pt x="1066800" y="527988"/>
                </a:lnTo>
                <a:lnTo>
                  <a:pt x="1219200" y="530979"/>
                </a:lnTo>
                <a:lnTo>
                  <a:pt x="1371600" y="532783"/>
                </a:lnTo>
                <a:lnTo>
                  <a:pt x="1524000" y="533392"/>
                </a:lnTo>
                <a:lnTo>
                  <a:pt x="1676400" y="532804"/>
                </a:lnTo>
                <a:lnTo>
                  <a:pt x="1828800" y="531021"/>
                </a:lnTo>
                <a:lnTo>
                  <a:pt x="1981200" y="528051"/>
                </a:lnTo>
                <a:lnTo>
                  <a:pt x="2133600" y="523907"/>
                </a:lnTo>
                <a:lnTo>
                  <a:pt x="2286000" y="518609"/>
                </a:lnTo>
                <a:lnTo>
                  <a:pt x="2438400" y="512179"/>
                </a:lnTo>
                <a:lnTo>
                  <a:pt x="2590800" y="504648"/>
                </a:lnTo>
                <a:lnTo>
                  <a:pt x="2743200" y="496047"/>
                </a:lnTo>
                <a:lnTo>
                  <a:pt x="2895600" y="486417"/>
                </a:lnTo>
                <a:lnTo>
                  <a:pt x="3048000" y="475801"/>
                </a:lnTo>
                <a:lnTo>
                  <a:pt x="3200400" y="464245"/>
                </a:lnTo>
                <a:lnTo>
                  <a:pt x="3352800" y="451803"/>
                </a:lnTo>
                <a:lnTo>
                  <a:pt x="3505200" y="438529"/>
                </a:lnTo>
                <a:lnTo>
                  <a:pt x="3657600" y="424484"/>
                </a:lnTo>
                <a:lnTo>
                  <a:pt x="3810000" y="409730"/>
                </a:lnTo>
                <a:lnTo>
                  <a:pt x="3962400" y="394334"/>
                </a:lnTo>
                <a:lnTo>
                  <a:pt x="4114800" y="378365"/>
                </a:lnTo>
                <a:lnTo>
                  <a:pt x="4267200" y="361894"/>
                </a:lnTo>
                <a:lnTo>
                  <a:pt x="4419600" y="344996"/>
                </a:lnTo>
                <a:lnTo>
                  <a:pt x="4572000" y="327746"/>
                </a:lnTo>
                <a:lnTo>
                  <a:pt x="4724400" y="310223"/>
                </a:lnTo>
                <a:lnTo>
                  <a:pt x="4876800" y="292503"/>
                </a:lnTo>
                <a:lnTo>
                  <a:pt x="5029200" y="274668"/>
                </a:lnTo>
                <a:lnTo>
                  <a:pt x="5181600" y="256797"/>
                </a:lnTo>
                <a:lnTo>
                  <a:pt x="5334000" y="238971"/>
                </a:lnTo>
                <a:lnTo>
                  <a:pt x="5486400" y="221269"/>
                </a:lnTo>
                <a:lnTo>
                  <a:pt x="5638800" y="203771"/>
                </a:lnTo>
                <a:lnTo>
                  <a:pt x="5791200" y="186555"/>
                </a:lnTo>
                <a:lnTo>
                  <a:pt x="5943600" y="169699"/>
                </a:lnTo>
                <a:lnTo>
                  <a:pt x="6096000" y="153279"/>
                </a:lnTo>
                <a:lnTo>
                  <a:pt x="6248400" y="137368"/>
                </a:lnTo>
                <a:lnTo>
                  <a:pt x="6400800" y="122038"/>
                </a:lnTo>
                <a:lnTo>
                  <a:pt x="6553200" y="107357"/>
                </a:lnTo>
                <a:lnTo>
                  <a:pt x="6705600" y="93391"/>
                </a:lnTo>
                <a:lnTo>
                  <a:pt x="6858000" y="80204"/>
                </a:lnTo>
                <a:lnTo>
                  <a:pt x="7010400" y="67854"/>
                </a:lnTo>
                <a:lnTo>
                  <a:pt x="7162800" y="56397"/>
                </a:lnTo>
                <a:lnTo>
                  <a:pt x="7315200" y="45884"/>
                </a:lnTo>
                <a:lnTo>
                  <a:pt x="7467600" y="36363"/>
                </a:lnTo>
                <a:lnTo>
                  <a:pt x="7620000" y="27876"/>
                </a:lnTo>
                <a:lnTo>
                  <a:pt x="7772400" y="20461"/>
                </a:lnTo>
                <a:lnTo>
                  <a:pt x="7924800" y="14151"/>
                </a:lnTo>
                <a:lnTo>
                  <a:pt x="8077200" y="8976"/>
                </a:lnTo>
                <a:lnTo>
                  <a:pt x="8229600" y="4958"/>
                </a:lnTo>
                <a:lnTo>
                  <a:pt x="8382000" y="2115"/>
                </a:lnTo>
                <a:lnTo>
                  <a:pt x="8534400" y="460"/>
                </a:lnTo>
                <a:lnTo>
                  <a:pt x="8686800" y="0"/>
                </a:lnTo>
                <a:lnTo>
                  <a:pt x="8839200" y="738"/>
                </a:lnTo>
                <a:lnTo>
                  <a:pt x="8991600" y="2670"/>
                </a:lnTo>
                <a:lnTo>
                  <a:pt x="9144000" y="5787"/>
                </a:lnTo>
                <a:lnTo>
                  <a:pt x="9296400" y="10076"/>
                </a:lnTo>
                <a:lnTo>
                  <a:pt x="9448800" y="15518"/>
                </a:lnTo>
                <a:lnTo>
                  <a:pt x="9601200" y="22086"/>
                </a:lnTo>
                <a:lnTo>
                  <a:pt x="9753600" y="29754"/>
                </a:lnTo>
                <a:lnTo>
                  <a:pt x="9906000" y="38485"/>
                </a:lnTo>
                <a:lnTo>
                  <a:pt x="10058400" y="48241"/>
                </a:lnTo>
                <a:lnTo>
                  <a:pt x="10210800" y="58977"/>
                </a:lnTo>
                <a:lnTo>
                  <a:pt x="10363200" y="70647"/>
                </a:lnTo>
                <a:lnTo>
                  <a:pt x="10515600" y="83196"/>
                </a:lnTo>
                <a:lnTo>
                  <a:pt x="10668000" y="96570"/>
                </a:lnTo>
                <a:lnTo>
                  <a:pt x="10820400" y="110707"/>
                </a:lnTo>
                <a:lnTo>
                  <a:pt x="10972800" y="125545"/>
                </a:lnTo>
                <a:lnTo>
                  <a:pt x="11125200" y="141016"/>
                </a:lnTo>
                <a:lnTo>
                  <a:pt x="11277600" y="157052"/>
                </a:lnTo>
                <a:lnTo>
                  <a:pt x="11430000" y="173580"/>
                </a:lnTo>
                <a:lnTo>
                  <a:pt x="11582400" y="190527"/>
                </a:lnTo>
                <a:lnTo>
                  <a:pt x="11734800" y="207815"/>
                </a:lnTo>
                <a:lnTo>
                  <a:pt x="11887200" y="225367"/>
                </a:lnTo>
                <a:lnTo>
                  <a:pt x="12039600" y="243105"/>
                </a:lnTo>
                <a:lnTo>
                  <a:pt x="12192000" y="260949"/>
                </a:lnTo>
                <a:lnTo>
                  <a:pt x="12192000" y="1266817"/>
                </a:lnTo>
                <a:close/>
              </a:path>
            </a:pathLst>
          </a:custGeom>
          <a:solidFill>
            <a:srgbClr val="C8E0F6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0" y="5905543"/>
            <a:ext cx="12192000" cy="952457"/>
          </a:xfrm>
          <a:custGeom>
            <a:avLst/>
            <a:gdLst/>
            <a:ahLst/>
            <a:cxnLst/>
            <a:rect l="l" t="t" r="r" b="b"/>
            <a:pathLst>
              <a:path w="12192000" h="952457">
                <a:moveTo>
                  <a:pt x="0" y="952457"/>
                </a:moveTo>
                <a:lnTo>
                  <a:pt x="0" y="288660"/>
                </a:lnTo>
                <a:lnTo>
                  <a:pt x="152400" y="275228"/>
                </a:lnTo>
                <a:lnTo>
                  <a:pt x="304800" y="261249"/>
                </a:lnTo>
                <a:lnTo>
                  <a:pt x="457200" y="246812"/>
                </a:lnTo>
                <a:lnTo>
                  <a:pt x="609600" y="232010"/>
                </a:lnTo>
                <a:lnTo>
                  <a:pt x="762000" y="216940"/>
                </a:lnTo>
                <a:lnTo>
                  <a:pt x="914400" y="201698"/>
                </a:lnTo>
                <a:lnTo>
                  <a:pt x="1066800" y="186384"/>
                </a:lnTo>
                <a:lnTo>
                  <a:pt x="1219200" y="171097"/>
                </a:lnTo>
                <a:lnTo>
                  <a:pt x="1371600" y="155934"/>
                </a:lnTo>
                <a:lnTo>
                  <a:pt x="1524000" y="140995"/>
                </a:lnTo>
                <a:lnTo>
                  <a:pt x="1676400" y="126375"/>
                </a:lnTo>
                <a:lnTo>
                  <a:pt x="1828800" y="112170"/>
                </a:lnTo>
                <a:lnTo>
                  <a:pt x="1981200" y="98470"/>
                </a:lnTo>
                <a:lnTo>
                  <a:pt x="2133600" y="85366"/>
                </a:lnTo>
                <a:lnTo>
                  <a:pt x="2286000" y="72940"/>
                </a:lnTo>
                <a:lnTo>
                  <a:pt x="2438400" y="61275"/>
                </a:lnTo>
                <a:lnTo>
                  <a:pt x="2590800" y="50444"/>
                </a:lnTo>
                <a:lnTo>
                  <a:pt x="2743200" y="40519"/>
                </a:lnTo>
                <a:lnTo>
                  <a:pt x="2895600" y="31563"/>
                </a:lnTo>
                <a:lnTo>
                  <a:pt x="3048000" y="23634"/>
                </a:lnTo>
                <a:lnTo>
                  <a:pt x="3200400" y="16784"/>
                </a:lnTo>
                <a:lnTo>
                  <a:pt x="3352800" y="11056"/>
                </a:lnTo>
                <a:lnTo>
                  <a:pt x="3505200" y="6489"/>
                </a:lnTo>
                <a:lnTo>
                  <a:pt x="3657600" y="3110"/>
                </a:lnTo>
                <a:lnTo>
                  <a:pt x="3810000" y="943"/>
                </a:lnTo>
                <a:lnTo>
                  <a:pt x="3962400" y="0"/>
                </a:lnTo>
                <a:lnTo>
                  <a:pt x="4114800" y="289"/>
                </a:lnTo>
                <a:lnTo>
                  <a:pt x="4267200" y="1808"/>
                </a:lnTo>
                <a:lnTo>
                  <a:pt x="4419600" y="4546"/>
                </a:lnTo>
                <a:lnTo>
                  <a:pt x="4572000" y="8485"/>
                </a:lnTo>
                <a:lnTo>
                  <a:pt x="4724400" y="13601"/>
                </a:lnTo>
                <a:lnTo>
                  <a:pt x="4876800" y="19861"/>
                </a:lnTo>
                <a:lnTo>
                  <a:pt x="5029200" y="27223"/>
                </a:lnTo>
                <a:lnTo>
                  <a:pt x="5181600" y="35641"/>
                </a:lnTo>
                <a:lnTo>
                  <a:pt x="5334000" y="45059"/>
                </a:lnTo>
                <a:lnTo>
                  <a:pt x="5486400" y="55417"/>
                </a:lnTo>
                <a:lnTo>
                  <a:pt x="5638800" y="66649"/>
                </a:lnTo>
                <a:lnTo>
                  <a:pt x="5791200" y="78680"/>
                </a:lnTo>
                <a:lnTo>
                  <a:pt x="5943600" y="91435"/>
                </a:lnTo>
                <a:lnTo>
                  <a:pt x="6096000" y="104829"/>
                </a:lnTo>
                <a:lnTo>
                  <a:pt x="6248400" y="118777"/>
                </a:lnTo>
                <a:lnTo>
                  <a:pt x="6400800" y="133188"/>
                </a:lnTo>
                <a:lnTo>
                  <a:pt x="6553200" y="147970"/>
                </a:lnTo>
                <a:lnTo>
                  <a:pt x="6705600" y="163026"/>
                </a:lnTo>
                <a:lnTo>
                  <a:pt x="6858000" y="178260"/>
                </a:lnTo>
                <a:lnTo>
                  <a:pt x="7010400" y="193572"/>
                </a:lnTo>
                <a:lnTo>
                  <a:pt x="7162800" y="208865"/>
                </a:lnTo>
                <a:lnTo>
                  <a:pt x="7315200" y="224038"/>
                </a:lnTo>
                <a:lnTo>
                  <a:pt x="7467600" y="238994"/>
                </a:lnTo>
                <a:lnTo>
                  <a:pt x="7620000" y="253637"/>
                </a:lnTo>
                <a:lnTo>
                  <a:pt x="7772400" y="267871"/>
                </a:lnTo>
                <a:lnTo>
                  <a:pt x="7924800" y="281604"/>
                </a:lnTo>
                <a:lnTo>
                  <a:pt x="8077200" y="294748"/>
                </a:lnTo>
                <a:lnTo>
                  <a:pt x="8229600" y="307218"/>
                </a:lnTo>
                <a:lnTo>
                  <a:pt x="8382000" y="318934"/>
                </a:lnTo>
                <a:lnTo>
                  <a:pt x="8534400" y="329818"/>
                </a:lnTo>
                <a:lnTo>
                  <a:pt x="8686800" y="339802"/>
                </a:lnTo>
                <a:lnTo>
                  <a:pt x="8839200" y="348821"/>
                </a:lnTo>
                <a:lnTo>
                  <a:pt x="8991600" y="356815"/>
                </a:lnTo>
                <a:lnTo>
                  <a:pt x="9144000" y="363734"/>
                </a:lnTo>
                <a:lnTo>
                  <a:pt x="9296400" y="369533"/>
                </a:lnTo>
                <a:lnTo>
                  <a:pt x="9448800" y="374174"/>
                </a:lnTo>
                <a:lnTo>
                  <a:pt x="9601200" y="377628"/>
                </a:lnTo>
                <a:lnTo>
                  <a:pt x="9753600" y="379872"/>
                </a:lnTo>
                <a:lnTo>
                  <a:pt x="9906000" y="380891"/>
                </a:lnTo>
                <a:lnTo>
                  <a:pt x="10058400" y="380679"/>
                </a:lnTo>
                <a:lnTo>
                  <a:pt x="10210800" y="379237"/>
                </a:lnTo>
                <a:lnTo>
                  <a:pt x="10363200" y="376575"/>
                </a:lnTo>
                <a:lnTo>
                  <a:pt x="10515600" y="372710"/>
                </a:lnTo>
                <a:lnTo>
                  <a:pt x="10668000" y="367666"/>
                </a:lnTo>
                <a:lnTo>
                  <a:pt x="10820400" y="361477"/>
                </a:lnTo>
                <a:lnTo>
                  <a:pt x="10972800" y="354182"/>
                </a:lnTo>
                <a:lnTo>
                  <a:pt x="11125200" y="345829"/>
                </a:lnTo>
                <a:lnTo>
                  <a:pt x="11277600" y="336472"/>
                </a:lnTo>
                <a:lnTo>
                  <a:pt x="11430000" y="326170"/>
                </a:lnTo>
                <a:lnTo>
                  <a:pt x="11582400" y="314991"/>
                </a:lnTo>
                <a:lnTo>
                  <a:pt x="11734800" y="303008"/>
                </a:lnTo>
                <a:lnTo>
                  <a:pt x="11887200" y="290296"/>
                </a:lnTo>
                <a:lnTo>
                  <a:pt x="12039600" y="276939"/>
                </a:lnTo>
                <a:lnTo>
                  <a:pt x="12192000" y="263023"/>
                </a:lnTo>
                <a:lnTo>
                  <a:pt x="12192000" y="952457"/>
                </a:lnTo>
                <a:close/>
              </a:path>
            </a:pathLst>
          </a:custGeom>
          <a:solidFill>
            <a:srgbClr val="A7CDF1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638925"/>
            <a:ext cx="12192000" cy="219075"/>
          </a:xfrm>
          <a:prstGeom prst="rect">
            <a:avLst/>
          </a:prstGeom>
          <a:solidFill>
            <a:srgbClr val="A9C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238875"/>
            <a:ext cx="12192000" cy="400050"/>
          </a:xfrm>
          <a:prstGeom prst="rect">
            <a:avLst/>
          </a:prstGeom>
          <a:gradFill rotWithShape="1">
            <a:gsLst>
              <a:gs pos="0">
                <a:srgbClr val="2C6BB2"/>
              </a:gs>
              <a:gs pos="100000">
                <a:srgbClr val="7FB5E4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MI Section Bar"/>
          <p:cNvSpPr txBox="1"/>
          <p:nvPr/>
        </p:nvSpPr>
        <p:spPr>
          <a:xfrm>
            <a:off x="285750" y="6238875"/>
            <a:ext cx="3810000" cy="400050"/>
          </a:xfrm>
          <a:prstGeom prst="rect">
            <a:avLst/>
          </a:prstGeom>
          <a:noFill/>
        </p:spPr>
        <p:txBody>
          <a:bodyPr wrap="none" anchor="ctr" lIns="0" tIns="0" bIns="0">
            <a:spAutoFit/>
          </a:bodyPr>
          <a:lstStyle/>
          <a:p>
            <a:r>
              <a:rPr sz="1500" b="1">
                <a:solidFill>
                  <a:srgbClr val="FFFFFF"/>
                </a:solidFill>
                <a:latin typeface="Calibri"/>
              </a:rPr>
              <a:t>Section 1</a:t>
            </a:r>
          </a:p>
        </p:txBody>
      </p:sp>
      <p:pic>
        <p:nvPicPr>
          <p:cNvPr id="8" name="Picture 7" descr="fmi_logo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74320"/>
            <a:ext cx="1307592" cy="13258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14400" y="2752725"/>
            <a:ext cx="8572500" cy="3048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800" b="0">
                <a:solidFill>
                  <a:srgbClr val="0E72AE"/>
                </a:solidFill>
                <a:latin typeface="Calibri"/>
              </a:rPr>
              <a:t>Packaged Muffins Market</a:t>
            </a:r>
          </a:p>
        </p:txBody>
      </p:sp>
      <p:sp>
        <p:nvSpPr>
          <p:cNvPr id="10" name="FMI Section Title"/>
          <p:cNvSpPr txBox="1"/>
          <p:nvPr/>
        </p:nvSpPr>
        <p:spPr>
          <a:xfrm>
            <a:off x="914400" y="3095625"/>
            <a:ext cx="8572500" cy="51435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r>
              <a:rPr sz="3000" b="1">
                <a:solidFill>
                  <a:srgbClr val="0B3C8C"/>
                </a:solidFill>
                <a:latin typeface="Calibri"/>
              </a:rPr>
              <a:t>Overview (Volume &amp; Value)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781425"/>
            <a:ext cx="8458200" cy="12763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Calibri"/>
              </a:rPr>
              <a:t>➤	</a:t>
            </a:r>
            <a:r>
              <a:rPr sz="2000" b="0">
                <a:solidFill>
                  <a:srgbClr val="000000"/>
                </a:solidFill>
                <a:latin typeface="Calibri"/>
              </a:rPr>
              <a:t>Volume Overview</a:t>
            </a:r>
          </a:p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Calibri"/>
              </a:rPr>
              <a:t>➤	</a:t>
            </a:r>
            <a:r>
              <a:rPr sz="2000" b="0">
                <a:solidFill>
                  <a:srgbClr val="000000"/>
                </a:solidFill>
                <a:latin typeface="Calibri"/>
              </a:rPr>
              <a:t>Value Overview</a:t>
            </a:r>
          </a:p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Calibri"/>
              </a:rPr>
              <a:t>➤	</a:t>
            </a:r>
            <a:r>
              <a:rPr sz="2000" b="0">
                <a:solidFill>
                  <a:srgbClr val="000000"/>
                </a:solidFill>
                <a:latin typeface="Calibri"/>
              </a:rPr>
              <a:t>Key Segments (Value)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58595B"/>
                </a:solidFill>
                <a:latin typeface="Calibri"/>
              </a:rPr>
              <a:t>©2026 Future Market Insights, All Rights Reserved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3825" y="914400"/>
            <a:ext cx="3943350" cy="28575"/>
          </a:xfrm>
          <a:prstGeom prst="rect">
            <a:avLst/>
          </a:prstGeom>
          <a:solidFill>
            <a:srgbClr val="0081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24325" y="914400"/>
            <a:ext cx="3943350" cy="28575"/>
          </a:xfrm>
          <a:prstGeom prst="rect">
            <a:avLst/>
          </a:prstGeom>
          <a:solidFill>
            <a:srgbClr val="9E7E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124825" y="914400"/>
            <a:ext cx="3943350" cy="28575"/>
          </a:xfrm>
          <a:prstGeom prst="rect">
            <a:avLst/>
          </a:prstGeom>
          <a:solidFill>
            <a:srgbClr val="403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mi_logo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25" y="-205740"/>
            <a:ext cx="1307592" cy="13258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543050" y="19050"/>
            <a:ext cx="8982075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U.S. Packaged Muffins Market Volume Overview (MT)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43050" y="647700"/>
            <a:ext cx="10506075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Overview of the U.S. market in volume: size, growth, YoY momentum and gap to the North America benchmark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620375" y="228600"/>
            <a:ext cx="1428750" cy="419100"/>
          </a:xfrm>
          <a:prstGeom prst="roundRect">
            <a:avLst>
              <a:gd name="adj" fmla="val 22000"/>
            </a:avLst>
          </a:prstGeom>
          <a:solidFill>
            <a:srgbClr val="D9E6F2"/>
          </a:solidFill>
          <a:ln w="6350">
            <a:solidFill>
              <a:srgbClr val="69B1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100" b="1">
                <a:solidFill>
                  <a:srgbClr val="0B2E4A"/>
                </a:solidFill>
                <a:latin typeface="Calibri"/>
              </a:rPr>
              <a:t>U.S.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42875" y="981075"/>
            <a:ext cx="2857500" cy="704850"/>
          </a:xfrm>
          <a:prstGeom prst="roundRect">
            <a:avLst>
              <a:gd name="adj" fmla="val 8000"/>
            </a:avLst>
          </a:prstGeom>
          <a:solidFill>
            <a:srgbClr val="EAF6FB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7150" rIns="57150" tIns="9525" bIns="9525"/>
          <a:lstStyle/>
          <a:p>
            <a:pPr algn="ctr">
              <a:lnSpc>
                <a:spcPct val="95000"/>
              </a:lnSpc>
            </a:pPr>
            <a:r>
              <a:rPr sz="1100" b="1">
                <a:solidFill>
                  <a:srgbClr val="6C7A89"/>
                </a:solidFill>
                <a:latin typeface="Calibri"/>
              </a:rPr>
              <a:t>2025 MARKET SIZE (MT)</a:t>
            </a:r>
          </a:p>
          <a:p>
            <a:pPr algn="ctr">
              <a:lnSpc>
                <a:spcPct val="95000"/>
              </a:lnSpc>
            </a:pPr>
            <a:r>
              <a:rPr sz="1500" b="1">
                <a:solidFill>
                  <a:srgbClr val="0E72AE"/>
                </a:solidFill>
                <a:latin typeface="Calibri"/>
              </a:rPr>
              <a:t> </a:t>
            </a:r>
          </a:p>
          <a:p>
            <a:pPr algn="ctr">
              <a:lnSpc>
                <a:spcPct val="95000"/>
              </a:lnSpc>
            </a:pPr>
            <a:r>
              <a:rPr sz="1100" b="0">
                <a:solidFill>
                  <a:srgbClr val="6C7A89"/>
                </a:solidFill>
                <a:latin typeface="Calibri"/>
              </a:rPr>
              <a:t>estimate year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52775" y="981075"/>
            <a:ext cx="2857500" cy="704850"/>
          </a:xfrm>
          <a:prstGeom prst="roundRect">
            <a:avLst>
              <a:gd name="adj" fmla="val 8000"/>
            </a:avLst>
          </a:prstGeom>
          <a:solidFill>
            <a:srgbClr val="EAF6FB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7150" rIns="57150" tIns="9525" bIns="9525"/>
          <a:lstStyle/>
          <a:p>
            <a:pPr algn="ctr">
              <a:lnSpc>
                <a:spcPct val="95000"/>
              </a:lnSpc>
            </a:pPr>
            <a:r>
              <a:rPr sz="1100" b="1">
                <a:solidFill>
                  <a:srgbClr val="6C7A89"/>
                </a:solidFill>
                <a:latin typeface="Calibri"/>
              </a:rPr>
              <a:t>2036 MARKET SIZE (MT)</a:t>
            </a:r>
          </a:p>
          <a:p>
            <a:pPr algn="ctr">
              <a:lnSpc>
                <a:spcPct val="95000"/>
              </a:lnSpc>
            </a:pPr>
            <a:r>
              <a:rPr sz="1500" b="1">
                <a:solidFill>
                  <a:srgbClr val="0E72AE"/>
                </a:solidFill>
                <a:latin typeface="Calibri"/>
              </a:rPr>
              <a:t> </a:t>
            </a:r>
          </a:p>
          <a:p>
            <a:pPr algn="ctr">
              <a:lnSpc>
                <a:spcPct val="95000"/>
              </a:lnSpc>
            </a:pPr>
            <a:r>
              <a:rPr sz="1100" b="0">
                <a:solidFill>
                  <a:srgbClr val="6C7A89"/>
                </a:solidFill>
                <a:latin typeface="Calibri"/>
              </a:rPr>
              <a:t>forecast horizon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62675" y="981075"/>
            <a:ext cx="2857500" cy="704850"/>
          </a:xfrm>
          <a:prstGeom prst="roundRect">
            <a:avLst>
              <a:gd name="adj" fmla="val 8000"/>
            </a:avLst>
          </a:prstGeom>
          <a:solidFill>
            <a:srgbClr val="EAF6FB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7150" rIns="57150" tIns="9525" bIns="9525"/>
          <a:lstStyle/>
          <a:p>
            <a:pPr algn="ctr">
              <a:lnSpc>
                <a:spcPct val="95000"/>
              </a:lnSpc>
            </a:pPr>
            <a:r>
              <a:rPr sz="1100" b="1">
                <a:solidFill>
                  <a:srgbClr val="6C7A89"/>
                </a:solidFill>
                <a:latin typeface="Calibri"/>
              </a:rPr>
              <a:t>H-CAGR (2021–2025)</a:t>
            </a:r>
          </a:p>
          <a:p>
            <a:pPr algn="ctr">
              <a:lnSpc>
                <a:spcPct val="95000"/>
              </a:lnSpc>
            </a:pPr>
            <a:r>
              <a:rPr sz="1500" b="1">
                <a:solidFill>
                  <a:srgbClr val="0E72AE"/>
                </a:solidFill>
                <a:latin typeface="Calibri"/>
              </a:rPr>
              <a:t> 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72575" y="981075"/>
            <a:ext cx="2857500" cy="704850"/>
          </a:xfrm>
          <a:prstGeom prst="roundRect">
            <a:avLst>
              <a:gd name="adj" fmla="val 8000"/>
            </a:avLst>
          </a:prstGeom>
          <a:solidFill>
            <a:srgbClr val="EAF6FB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7150" rIns="57150" tIns="9525" bIns="9525"/>
          <a:lstStyle/>
          <a:p>
            <a:pPr algn="ctr">
              <a:lnSpc>
                <a:spcPct val="95000"/>
              </a:lnSpc>
            </a:pPr>
            <a:r>
              <a:rPr sz="1100" b="1">
                <a:solidFill>
                  <a:srgbClr val="6C7A89"/>
                </a:solidFill>
                <a:latin typeface="Calibri"/>
              </a:rPr>
              <a:t>F-CAGR (2026–2036)</a:t>
            </a:r>
          </a:p>
          <a:p>
            <a:pPr algn="ctr">
              <a:lnSpc>
                <a:spcPct val="95000"/>
              </a:lnSpc>
            </a:pPr>
            <a:r>
              <a:rPr sz="1500" b="1">
                <a:solidFill>
                  <a:srgbClr val="0E72AE"/>
                </a:solidFill>
                <a:latin typeface="Calibri"/>
              </a:rPr>
              <a:t> 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42875" y="1819275"/>
            <a:ext cx="4695825" cy="1781175"/>
          </a:xfrm>
          <a:prstGeom prst="roundRect">
            <a:avLst>
              <a:gd name="adj" fmla="val 4278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38125" y="1876425"/>
            <a:ext cx="4505325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U.S. Volume (MT), 2021–2036</a:t>
            </a:r>
          </a:p>
        </p:txBody>
      </p:sp>
      <p:graphicFrame>
        <p:nvGraphicFramePr>
          <p:cNvPr id="17" name="Chart 16"/>
          <p:cNvGraphicFramePr>
            <a:graphicFrameLocks noGrp="1"/>
          </p:cNvGraphicFramePr>
          <p:nvPr/>
        </p:nvGraphicFramePr>
        <p:xfrm>
          <a:off x="238125" y="2105025"/>
          <a:ext cx="4505325" cy="1438275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8" name="Rounded Rectangle 17"/>
          <p:cNvSpPr/>
          <p:nvPr/>
        </p:nvSpPr>
        <p:spPr>
          <a:xfrm>
            <a:off x="4991100" y="1819275"/>
            <a:ext cx="7048500" cy="1781175"/>
          </a:xfrm>
          <a:prstGeom prst="roundRect">
            <a:avLst>
              <a:gd name="adj" fmla="val 4278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86350" y="1876425"/>
            <a:ext cx="685800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CAGR Comparison &amp; Growth Deviation from Regional Benchmark</a:t>
            </a:r>
          </a:p>
        </p:txBody>
      </p:sp>
      <p:graphicFrame>
        <p:nvGraphicFramePr>
          <p:cNvPr id="20" name="Chart 19"/>
          <p:cNvGraphicFramePr>
            <a:graphicFrameLocks noGrp="1"/>
          </p:cNvGraphicFramePr>
          <p:nvPr/>
        </p:nvGraphicFramePr>
        <p:xfrm>
          <a:off x="5086350" y="2105025"/>
          <a:ext cx="2880360" cy="1438275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21" name="TextBox 20"/>
          <p:cNvSpPr txBox="1"/>
          <p:nvPr/>
        </p:nvSpPr>
        <p:spPr>
          <a:xfrm>
            <a:off x="8042910" y="2124075"/>
            <a:ext cx="3901440" cy="704850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ctr"/>
            <a:r>
              <a:rPr sz="2200" b="1">
                <a:solidFill>
                  <a:srgbClr val="E44D3A"/>
                </a:solidFill>
                <a:latin typeface="Calibri"/>
              </a:rPr>
              <a:t> </a:t>
            </a:r>
          </a:p>
          <a:p>
            <a:pPr algn="ctr"/>
            <a:r>
              <a:rPr sz="1100" b="0">
                <a:solidFill>
                  <a:srgbClr val="6C7A89"/>
                </a:solidFill>
                <a:latin typeface="Calibri"/>
              </a:rPr>
              <a:t>vs North America benchmark</a:t>
            </a:r>
          </a:p>
          <a:p>
            <a:pPr algn="ctr"/>
            <a:r>
              <a:rPr sz="1100" b="1">
                <a:solidFill>
                  <a:srgbClr val="E44D3A"/>
                </a:solidFill>
                <a:latin typeface="Calibri"/>
              </a:rPr>
              <a:t>▼ below benchmark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42910" y="2867025"/>
            <a:ext cx="3901440" cy="638175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42875" y="3733800"/>
            <a:ext cx="4695825" cy="1781175"/>
          </a:xfrm>
          <a:prstGeom prst="roundRect">
            <a:avLst>
              <a:gd name="adj" fmla="val 4278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38125" y="3790950"/>
            <a:ext cx="4505325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Forecast Build-up 2026–2036 (MT)</a:t>
            </a:r>
          </a:p>
        </p:txBody>
      </p:sp>
      <p:graphicFrame>
        <p:nvGraphicFramePr>
          <p:cNvPr id="25" name="Chart 24"/>
          <p:cNvGraphicFramePr>
            <a:graphicFrameLocks noGrp="1"/>
          </p:cNvGraphicFramePr>
          <p:nvPr/>
        </p:nvGraphicFramePr>
        <p:xfrm>
          <a:off x="238125" y="4019550"/>
          <a:ext cx="4505325" cy="1438275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26" name="Rounded Rectangle 25"/>
          <p:cNvSpPr/>
          <p:nvPr/>
        </p:nvSpPr>
        <p:spPr>
          <a:xfrm>
            <a:off x="4991100" y="3733800"/>
            <a:ext cx="7048500" cy="1781175"/>
          </a:xfrm>
          <a:prstGeom prst="roundRect">
            <a:avLst>
              <a:gd name="adj" fmla="val 4278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86350" y="3790950"/>
            <a:ext cx="685800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U.S. Market Share, 2026</a:t>
            </a:r>
          </a:p>
        </p:txBody>
      </p:sp>
      <p:graphicFrame>
        <p:nvGraphicFramePr>
          <p:cNvPr id="28" name="Chart 27"/>
          <p:cNvGraphicFramePr>
            <a:graphicFrameLocks noGrp="1"/>
          </p:cNvGraphicFramePr>
          <p:nvPr/>
        </p:nvGraphicFramePr>
        <p:xfrm>
          <a:off x="5086350" y="4019550"/>
          <a:ext cx="6858000" cy="1438275"/>
        </p:xfrm>
        <a:graphic>
          <a:graphicData uri="http://schemas.openxmlformats.org/drawingml/2006/chart">
            <c:chart xmlns:c="http://schemas.openxmlformats.org/drawingml/2006/chart" r:id="rId6"/>
          </a:graphicData>
        </a:graphic>
      </p:graphicFrame>
      <p:sp>
        <p:nvSpPr>
          <p:cNvPr id="29" name="Rounded Rectangle 28"/>
          <p:cNvSpPr/>
          <p:nvPr/>
        </p:nvSpPr>
        <p:spPr>
          <a:xfrm>
            <a:off x="142875" y="5648325"/>
            <a:ext cx="5876925" cy="971550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 tIns="57150" bIns="57150"/>
          <a:lstStyle/>
          <a:p>
            <a:pPr algn="l">
              <a:lnSpc>
                <a:spcPct val="112000"/>
              </a:lnSpc>
            </a:pP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72200" y="5648325"/>
            <a:ext cx="5876925" cy="971550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 tIns="57150" bIns="57150"/>
          <a:lstStyle/>
          <a:p>
            <a:pPr algn="l">
              <a:lnSpc>
                <a:spcPct val="112000"/>
              </a:lnSpc>
            </a:pP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58595B"/>
                </a:solidFill>
                <a:latin typeface="Calibri"/>
              </a:rPr>
              <a:t>©2026 Future Market Insights, All Rights Reserved</a:t>
            </a:r>
          </a:p>
        </p:txBody>
      </p:sp>
      <p:pic>
        <p:nvPicPr>
          <p:cNvPr id="32" name="Picture 31" descr="lock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93044" y="1219200"/>
            <a:ext cx="157162" cy="228600"/>
          </a:xfrm>
          <a:prstGeom prst="rect">
            <a:avLst/>
          </a:prstGeom>
        </p:spPr>
      </p:pic>
      <p:pic>
        <p:nvPicPr>
          <p:cNvPr id="33" name="Picture 32" descr="lock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02944" y="1219200"/>
            <a:ext cx="157162" cy="228600"/>
          </a:xfrm>
          <a:prstGeom prst="rect">
            <a:avLst/>
          </a:prstGeom>
        </p:spPr>
      </p:pic>
      <p:pic>
        <p:nvPicPr>
          <p:cNvPr id="34" name="Picture 33" descr="lock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12844" y="1303020"/>
            <a:ext cx="157162" cy="228600"/>
          </a:xfrm>
          <a:prstGeom prst="rect">
            <a:avLst/>
          </a:prstGeom>
        </p:spPr>
      </p:pic>
      <p:pic>
        <p:nvPicPr>
          <p:cNvPr id="35" name="Picture 34" descr="lock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522744" y="1303020"/>
            <a:ext cx="157162" cy="228600"/>
          </a:xfrm>
          <a:prstGeom prst="rect">
            <a:avLst/>
          </a:prstGeom>
        </p:spPr>
      </p:pic>
      <p:pic>
        <p:nvPicPr>
          <p:cNvPr id="36" name="Picture 35" descr="lock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554414" y="2661285"/>
            <a:ext cx="165021" cy="240030"/>
          </a:xfrm>
          <a:prstGeom prst="rect">
            <a:avLst/>
          </a:prstGeom>
        </p:spPr>
      </p:pic>
      <p:pic>
        <p:nvPicPr>
          <p:cNvPr id="37" name="Picture 36" descr="lock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26888" y="2548413"/>
            <a:ext cx="261282" cy="380047"/>
          </a:xfrm>
          <a:prstGeom prst="rect">
            <a:avLst/>
          </a:prstGeom>
        </p:spPr>
      </p:pic>
      <p:pic>
        <p:nvPicPr>
          <p:cNvPr id="38" name="Picture 37" descr="lock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878378" y="2141220"/>
            <a:ext cx="230504" cy="335279"/>
          </a:xfrm>
          <a:prstGeom prst="rect">
            <a:avLst/>
          </a:prstGeom>
        </p:spPr>
      </p:pic>
      <p:pic>
        <p:nvPicPr>
          <p:cNvPr id="39" name="Picture 38" descr="lock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554414" y="4575810"/>
            <a:ext cx="165021" cy="240030"/>
          </a:xfrm>
          <a:prstGeom prst="rect">
            <a:avLst/>
          </a:prstGeom>
        </p:spPr>
      </p:pic>
      <p:pic>
        <p:nvPicPr>
          <p:cNvPr id="40" name="Picture 39" descr="lock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63959" y="4389011"/>
            <a:ext cx="362932" cy="527901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8071485" y="2876550"/>
            <a:ext cx="2505943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U.S.'s packaged muffins market expands at</a:t>
            </a:r>
          </a:p>
        </p:txBody>
      </p:sp>
      <p:pic>
        <p:nvPicPr>
          <p:cNvPr id="42" name="Picture 41" descr="lock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525479" y="2866771"/>
            <a:ext cx="128699" cy="187198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10692975" y="2876550"/>
            <a:ext cx="882459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CAGR through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071485" y="3044190"/>
            <a:ext cx="2731318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2036, trailing the North America benchmark of</a:t>
            </a:r>
          </a:p>
        </p:txBody>
      </p:sp>
      <p:pic>
        <p:nvPicPr>
          <p:cNvPr id="45" name="Picture 44" descr="lock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750855" y="3034411"/>
            <a:ext cx="128699" cy="187198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10918350" y="3044190"/>
            <a:ext cx="212898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by</a:t>
            </a:r>
          </a:p>
        </p:txBody>
      </p:sp>
      <p:pic>
        <p:nvPicPr>
          <p:cNvPr id="47" name="Picture 46" descr="lock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079301" y="3034411"/>
            <a:ext cx="128699" cy="187198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11246797" y="3044190"/>
            <a:ext cx="323949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BPS.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57175" y="5966460"/>
            <a:ext cx="639365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U.S. holds</a:t>
            </a:r>
          </a:p>
        </p:txBody>
      </p:sp>
      <p:pic>
        <p:nvPicPr>
          <p:cNvPr id="50" name="Picture 49" descr="lock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4592" y="5956680"/>
            <a:ext cx="128699" cy="187198"/>
          </a:xfrm>
          <a:prstGeom prst="rect">
            <a:avLst/>
          </a:prstGeom>
        </p:spPr>
      </p:pic>
      <p:sp>
        <p:nvSpPr>
          <p:cNvPr id="51" name="TextBox 50"/>
          <p:cNvSpPr txBox="1"/>
          <p:nvPr/>
        </p:nvSpPr>
        <p:spPr>
          <a:xfrm>
            <a:off x="1012088" y="5966460"/>
            <a:ext cx="4739233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of the North America packaged muffins market in 2026; by 2036 that share moves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57175" y="6134100"/>
            <a:ext cx="196800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to</a:t>
            </a:r>
          </a:p>
        </p:txBody>
      </p:sp>
      <p:pic>
        <p:nvPicPr>
          <p:cNvPr id="53" name="Picture 52" descr="lock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02026" y="6124320"/>
            <a:ext cx="128699" cy="187198"/>
          </a:xfrm>
          <a:prstGeom prst="rect">
            <a:avLst/>
          </a:prstGeom>
        </p:spPr>
      </p:pic>
      <p:sp>
        <p:nvSpPr>
          <p:cNvPr id="54" name="TextBox 53"/>
          <p:cNvSpPr txBox="1"/>
          <p:nvPr/>
        </p:nvSpPr>
        <p:spPr>
          <a:xfrm>
            <a:off x="569522" y="6134100"/>
            <a:ext cx="111397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286500" y="5966460"/>
            <a:ext cx="1586979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The forecast build-up adds</a:t>
            </a:r>
          </a:p>
        </p:txBody>
      </p:sp>
      <p:pic>
        <p:nvPicPr>
          <p:cNvPr id="56" name="Picture 55" descr="lock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21530" y="5956680"/>
            <a:ext cx="128699" cy="187198"/>
          </a:xfrm>
          <a:prstGeom prst="rect">
            <a:avLst/>
          </a:prstGeom>
        </p:spPr>
      </p:pic>
      <p:sp>
        <p:nvSpPr>
          <p:cNvPr id="57" name="TextBox 56"/>
          <p:cNvSpPr txBox="1"/>
          <p:nvPr/>
        </p:nvSpPr>
        <p:spPr>
          <a:xfrm>
            <a:off x="7989026" y="5966460"/>
            <a:ext cx="3117130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MT between 2026 and 2036 the U.S. market grows to</a:t>
            </a:r>
          </a:p>
        </p:txBody>
      </p:sp>
      <p:pic>
        <p:nvPicPr>
          <p:cNvPr id="58" name="Picture 57" descr="lock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054208" y="5956680"/>
            <a:ext cx="128699" cy="187198"/>
          </a:xfrm>
          <a:prstGeom prst="rect">
            <a:avLst/>
          </a:prstGeom>
        </p:spPr>
      </p:pic>
      <p:sp>
        <p:nvSpPr>
          <p:cNvPr id="59" name="TextBox 58"/>
          <p:cNvSpPr txBox="1"/>
          <p:nvPr/>
        </p:nvSpPr>
        <p:spPr>
          <a:xfrm>
            <a:off x="11221704" y="5966460"/>
            <a:ext cx="311125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× its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286500" y="6134100"/>
            <a:ext cx="1590253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2026 size over the decade.</a:t>
            </a:r>
          </a:p>
        </p:txBody>
      </p:sp>
      <p:sp>
        <p:nvSpPr>
          <p:cNvPr id="61" name="lockshield_17"/>
          <p:cNvSpPr/>
          <p:nvPr/>
        </p:nvSpPr>
        <p:spPr>
          <a:xfrm>
            <a:off x="238125" y="2105025"/>
            <a:ext cx="4505325" cy="1438275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lockshield_20"/>
          <p:cNvSpPr/>
          <p:nvPr/>
        </p:nvSpPr>
        <p:spPr>
          <a:xfrm>
            <a:off x="5086350" y="2105025"/>
            <a:ext cx="2880360" cy="1438275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lockshield_25"/>
          <p:cNvSpPr/>
          <p:nvPr/>
        </p:nvSpPr>
        <p:spPr>
          <a:xfrm>
            <a:off x="238125" y="4019550"/>
            <a:ext cx="4505325" cy="1438275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lockshield_28"/>
          <p:cNvSpPr/>
          <p:nvPr/>
        </p:nvSpPr>
        <p:spPr>
          <a:xfrm>
            <a:off x="5086350" y="4019550"/>
            <a:ext cx="6858000" cy="1438275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3825" y="914400"/>
            <a:ext cx="3943350" cy="28575"/>
          </a:xfrm>
          <a:prstGeom prst="rect">
            <a:avLst/>
          </a:prstGeom>
          <a:solidFill>
            <a:srgbClr val="0081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24325" y="914400"/>
            <a:ext cx="3943350" cy="28575"/>
          </a:xfrm>
          <a:prstGeom prst="rect">
            <a:avLst/>
          </a:prstGeom>
          <a:solidFill>
            <a:srgbClr val="9E7E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124825" y="914400"/>
            <a:ext cx="3943350" cy="28575"/>
          </a:xfrm>
          <a:prstGeom prst="rect">
            <a:avLst/>
          </a:prstGeom>
          <a:solidFill>
            <a:srgbClr val="403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mi_logo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25" y="-205740"/>
            <a:ext cx="1307592" cy="13258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543050" y="19050"/>
            <a:ext cx="8982075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U.S. Packaged Muffins Market Value Overview (US$ Mn)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43050" y="647700"/>
            <a:ext cx="10506075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Overview of the U.S. market in value: size, growth, YoY momentum and gap to the North America benchmark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620375" y="228600"/>
            <a:ext cx="1428750" cy="419100"/>
          </a:xfrm>
          <a:prstGeom prst="roundRect">
            <a:avLst>
              <a:gd name="adj" fmla="val 22000"/>
            </a:avLst>
          </a:prstGeom>
          <a:solidFill>
            <a:srgbClr val="D9E6F2"/>
          </a:solidFill>
          <a:ln w="6350">
            <a:solidFill>
              <a:srgbClr val="69B1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100" b="1">
                <a:solidFill>
                  <a:srgbClr val="0B2E4A"/>
                </a:solidFill>
                <a:latin typeface="Calibri"/>
              </a:rPr>
              <a:t>U.S.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42875" y="981075"/>
            <a:ext cx="2857500" cy="704850"/>
          </a:xfrm>
          <a:prstGeom prst="roundRect">
            <a:avLst>
              <a:gd name="adj" fmla="val 8000"/>
            </a:avLst>
          </a:prstGeom>
          <a:solidFill>
            <a:srgbClr val="EAF6FB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7150" rIns="57150" tIns="9525" bIns="9525"/>
          <a:lstStyle/>
          <a:p>
            <a:pPr algn="ctr">
              <a:lnSpc>
                <a:spcPct val="95000"/>
              </a:lnSpc>
            </a:pPr>
            <a:r>
              <a:rPr sz="1100" b="1">
                <a:solidFill>
                  <a:srgbClr val="6C7A89"/>
                </a:solidFill>
                <a:latin typeface="Calibri"/>
              </a:rPr>
              <a:t>2025 MARKET SIZE (US$ MN)</a:t>
            </a:r>
          </a:p>
          <a:p>
            <a:pPr algn="ctr">
              <a:lnSpc>
                <a:spcPct val="95000"/>
              </a:lnSpc>
            </a:pPr>
            <a:r>
              <a:rPr sz="1500" b="1">
                <a:solidFill>
                  <a:srgbClr val="0E72AE"/>
                </a:solidFill>
                <a:latin typeface="Calibri"/>
              </a:rPr>
              <a:t> </a:t>
            </a:r>
          </a:p>
          <a:p>
            <a:pPr algn="ctr">
              <a:lnSpc>
                <a:spcPct val="95000"/>
              </a:lnSpc>
            </a:pPr>
            <a:r>
              <a:rPr sz="1100" b="0">
                <a:solidFill>
                  <a:srgbClr val="6C7A89"/>
                </a:solidFill>
                <a:latin typeface="Calibri"/>
              </a:rPr>
              <a:t>estimate year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52775" y="981075"/>
            <a:ext cx="2857500" cy="704850"/>
          </a:xfrm>
          <a:prstGeom prst="roundRect">
            <a:avLst>
              <a:gd name="adj" fmla="val 8000"/>
            </a:avLst>
          </a:prstGeom>
          <a:solidFill>
            <a:srgbClr val="EAF6FB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7150" rIns="57150" tIns="9525" bIns="9525"/>
          <a:lstStyle/>
          <a:p>
            <a:pPr algn="ctr">
              <a:lnSpc>
                <a:spcPct val="95000"/>
              </a:lnSpc>
            </a:pPr>
            <a:r>
              <a:rPr sz="1100" b="1">
                <a:solidFill>
                  <a:srgbClr val="6C7A89"/>
                </a:solidFill>
                <a:latin typeface="Calibri"/>
              </a:rPr>
              <a:t>2036 MARKET SIZE (US$ MN)</a:t>
            </a:r>
          </a:p>
          <a:p>
            <a:pPr algn="ctr">
              <a:lnSpc>
                <a:spcPct val="95000"/>
              </a:lnSpc>
            </a:pPr>
            <a:r>
              <a:rPr sz="1500" b="1">
                <a:solidFill>
                  <a:srgbClr val="0E72AE"/>
                </a:solidFill>
                <a:latin typeface="Calibri"/>
              </a:rPr>
              <a:t> </a:t>
            </a:r>
          </a:p>
          <a:p>
            <a:pPr algn="ctr">
              <a:lnSpc>
                <a:spcPct val="95000"/>
              </a:lnSpc>
            </a:pPr>
            <a:r>
              <a:rPr sz="1100" b="0">
                <a:solidFill>
                  <a:srgbClr val="6C7A89"/>
                </a:solidFill>
                <a:latin typeface="Calibri"/>
              </a:rPr>
              <a:t>forecast horizon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62675" y="981075"/>
            <a:ext cx="2857500" cy="704850"/>
          </a:xfrm>
          <a:prstGeom prst="roundRect">
            <a:avLst>
              <a:gd name="adj" fmla="val 8000"/>
            </a:avLst>
          </a:prstGeom>
          <a:solidFill>
            <a:srgbClr val="EAF6FB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7150" rIns="57150" tIns="9525" bIns="9525"/>
          <a:lstStyle/>
          <a:p>
            <a:pPr algn="ctr">
              <a:lnSpc>
                <a:spcPct val="95000"/>
              </a:lnSpc>
            </a:pPr>
            <a:r>
              <a:rPr sz="1100" b="1">
                <a:solidFill>
                  <a:srgbClr val="6C7A89"/>
                </a:solidFill>
                <a:latin typeface="Calibri"/>
              </a:rPr>
              <a:t>H-CAGR (2021–2025)</a:t>
            </a:r>
          </a:p>
          <a:p>
            <a:pPr algn="ctr">
              <a:lnSpc>
                <a:spcPct val="95000"/>
              </a:lnSpc>
            </a:pPr>
            <a:r>
              <a:rPr sz="1500" b="1">
                <a:solidFill>
                  <a:srgbClr val="0E72AE"/>
                </a:solidFill>
                <a:latin typeface="Calibri"/>
              </a:rPr>
              <a:t> 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72575" y="981075"/>
            <a:ext cx="2857500" cy="704850"/>
          </a:xfrm>
          <a:prstGeom prst="roundRect">
            <a:avLst>
              <a:gd name="adj" fmla="val 8000"/>
            </a:avLst>
          </a:prstGeom>
          <a:solidFill>
            <a:srgbClr val="EAF6FB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7150" rIns="57150" tIns="9525" bIns="9525"/>
          <a:lstStyle/>
          <a:p>
            <a:pPr algn="ctr">
              <a:lnSpc>
                <a:spcPct val="95000"/>
              </a:lnSpc>
            </a:pPr>
            <a:r>
              <a:rPr sz="1100" b="1">
                <a:solidFill>
                  <a:srgbClr val="6C7A89"/>
                </a:solidFill>
                <a:latin typeface="Calibri"/>
              </a:rPr>
              <a:t>F-CAGR (2026–2036)</a:t>
            </a:r>
          </a:p>
          <a:p>
            <a:pPr algn="ctr">
              <a:lnSpc>
                <a:spcPct val="95000"/>
              </a:lnSpc>
            </a:pPr>
            <a:r>
              <a:rPr sz="1500" b="1">
                <a:solidFill>
                  <a:srgbClr val="0E72AE"/>
                </a:solidFill>
                <a:latin typeface="Calibri"/>
              </a:rPr>
              <a:t> 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42875" y="1819275"/>
            <a:ext cx="4695825" cy="1781175"/>
          </a:xfrm>
          <a:prstGeom prst="roundRect">
            <a:avLst>
              <a:gd name="adj" fmla="val 4278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38125" y="1876425"/>
            <a:ext cx="4505325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U.S. Value (US$ Mn), 2021–2036</a:t>
            </a:r>
          </a:p>
        </p:txBody>
      </p:sp>
      <p:graphicFrame>
        <p:nvGraphicFramePr>
          <p:cNvPr id="17" name="Chart 16"/>
          <p:cNvGraphicFramePr>
            <a:graphicFrameLocks noGrp="1"/>
          </p:cNvGraphicFramePr>
          <p:nvPr/>
        </p:nvGraphicFramePr>
        <p:xfrm>
          <a:off x="238125" y="2105025"/>
          <a:ext cx="4505325" cy="1438275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8" name="Rounded Rectangle 17"/>
          <p:cNvSpPr/>
          <p:nvPr/>
        </p:nvSpPr>
        <p:spPr>
          <a:xfrm>
            <a:off x="4991100" y="1819275"/>
            <a:ext cx="7048500" cy="1781175"/>
          </a:xfrm>
          <a:prstGeom prst="roundRect">
            <a:avLst>
              <a:gd name="adj" fmla="val 4278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86350" y="1876425"/>
            <a:ext cx="685800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CAGR Comparison &amp; Growth Deviation from Regional Benchmark</a:t>
            </a:r>
          </a:p>
        </p:txBody>
      </p:sp>
      <p:graphicFrame>
        <p:nvGraphicFramePr>
          <p:cNvPr id="20" name="Chart 19"/>
          <p:cNvGraphicFramePr>
            <a:graphicFrameLocks noGrp="1"/>
          </p:cNvGraphicFramePr>
          <p:nvPr/>
        </p:nvGraphicFramePr>
        <p:xfrm>
          <a:off x="5086350" y="2105025"/>
          <a:ext cx="2880360" cy="1438275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21" name="TextBox 20"/>
          <p:cNvSpPr txBox="1"/>
          <p:nvPr/>
        </p:nvSpPr>
        <p:spPr>
          <a:xfrm>
            <a:off x="8042910" y="2124075"/>
            <a:ext cx="3901440" cy="704850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ctr"/>
            <a:r>
              <a:rPr sz="2200" b="1">
                <a:solidFill>
                  <a:srgbClr val="E44D3A"/>
                </a:solidFill>
                <a:latin typeface="Calibri"/>
              </a:rPr>
              <a:t> </a:t>
            </a:r>
          </a:p>
          <a:p>
            <a:pPr algn="ctr"/>
            <a:r>
              <a:rPr sz="1100" b="0">
                <a:solidFill>
                  <a:srgbClr val="6C7A89"/>
                </a:solidFill>
                <a:latin typeface="Calibri"/>
              </a:rPr>
              <a:t>vs North America benchmark</a:t>
            </a:r>
          </a:p>
          <a:p>
            <a:pPr algn="ctr"/>
            <a:r>
              <a:rPr sz="1100" b="1">
                <a:solidFill>
                  <a:srgbClr val="E44D3A"/>
                </a:solidFill>
                <a:latin typeface="Calibri"/>
              </a:rPr>
              <a:t>▼ below benchmark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42910" y="2867025"/>
            <a:ext cx="3901440" cy="638175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42875" y="3733800"/>
            <a:ext cx="4695825" cy="1781175"/>
          </a:xfrm>
          <a:prstGeom prst="roundRect">
            <a:avLst>
              <a:gd name="adj" fmla="val 4278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38125" y="3790950"/>
            <a:ext cx="4505325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Forecast Build-up 2026–2036 (US$ Mn)</a:t>
            </a:r>
          </a:p>
        </p:txBody>
      </p:sp>
      <p:graphicFrame>
        <p:nvGraphicFramePr>
          <p:cNvPr id="25" name="Chart 24"/>
          <p:cNvGraphicFramePr>
            <a:graphicFrameLocks noGrp="1"/>
          </p:cNvGraphicFramePr>
          <p:nvPr/>
        </p:nvGraphicFramePr>
        <p:xfrm>
          <a:off x="238125" y="4019550"/>
          <a:ext cx="4505325" cy="1438275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26" name="Rounded Rectangle 25"/>
          <p:cNvSpPr/>
          <p:nvPr/>
        </p:nvSpPr>
        <p:spPr>
          <a:xfrm>
            <a:off x="4991100" y="3733800"/>
            <a:ext cx="7048500" cy="1781175"/>
          </a:xfrm>
          <a:prstGeom prst="roundRect">
            <a:avLst>
              <a:gd name="adj" fmla="val 4278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86350" y="3790950"/>
            <a:ext cx="685800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U.S. Market Share, 2026</a:t>
            </a:r>
          </a:p>
        </p:txBody>
      </p:sp>
      <p:graphicFrame>
        <p:nvGraphicFramePr>
          <p:cNvPr id="28" name="Chart 27"/>
          <p:cNvGraphicFramePr>
            <a:graphicFrameLocks noGrp="1"/>
          </p:cNvGraphicFramePr>
          <p:nvPr/>
        </p:nvGraphicFramePr>
        <p:xfrm>
          <a:off x="5086350" y="4019550"/>
          <a:ext cx="6858000" cy="1438275"/>
        </p:xfrm>
        <a:graphic>
          <a:graphicData uri="http://schemas.openxmlformats.org/drawingml/2006/chart">
            <c:chart xmlns:c="http://schemas.openxmlformats.org/drawingml/2006/chart" r:id="rId6"/>
          </a:graphicData>
        </a:graphic>
      </p:graphicFrame>
      <p:sp>
        <p:nvSpPr>
          <p:cNvPr id="29" name="Rounded Rectangle 28"/>
          <p:cNvSpPr/>
          <p:nvPr/>
        </p:nvSpPr>
        <p:spPr>
          <a:xfrm>
            <a:off x="142875" y="5648325"/>
            <a:ext cx="5876925" cy="971550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 tIns="57150" bIns="57150"/>
          <a:lstStyle/>
          <a:p>
            <a:pPr algn="l">
              <a:lnSpc>
                <a:spcPct val="112000"/>
              </a:lnSpc>
            </a:pP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72200" y="5648325"/>
            <a:ext cx="5876925" cy="971550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 tIns="57150" bIns="57150"/>
          <a:lstStyle/>
          <a:p>
            <a:pPr algn="l">
              <a:lnSpc>
                <a:spcPct val="112000"/>
              </a:lnSpc>
            </a:pP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58595B"/>
                </a:solidFill>
                <a:latin typeface="Calibri"/>
              </a:rPr>
              <a:t>©2026 Future Market Insights, All Rights Reserved</a:t>
            </a:r>
          </a:p>
        </p:txBody>
      </p:sp>
      <p:pic>
        <p:nvPicPr>
          <p:cNvPr id="32" name="Picture 31" descr="lock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93044" y="1219200"/>
            <a:ext cx="157162" cy="228600"/>
          </a:xfrm>
          <a:prstGeom prst="rect">
            <a:avLst/>
          </a:prstGeom>
        </p:spPr>
      </p:pic>
      <p:pic>
        <p:nvPicPr>
          <p:cNvPr id="33" name="Picture 32" descr="lock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02944" y="1219200"/>
            <a:ext cx="157162" cy="228600"/>
          </a:xfrm>
          <a:prstGeom prst="rect">
            <a:avLst/>
          </a:prstGeom>
        </p:spPr>
      </p:pic>
      <p:pic>
        <p:nvPicPr>
          <p:cNvPr id="34" name="Picture 33" descr="lock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12844" y="1303020"/>
            <a:ext cx="157162" cy="228600"/>
          </a:xfrm>
          <a:prstGeom prst="rect">
            <a:avLst/>
          </a:prstGeom>
        </p:spPr>
      </p:pic>
      <p:pic>
        <p:nvPicPr>
          <p:cNvPr id="35" name="Picture 34" descr="lock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522744" y="1303020"/>
            <a:ext cx="157162" cy="228600"/>
          </a:xfrm>
          <a:prstGeom prst="rect">
            <a:avLst/>
          </a:prstGeom>
        </p:spPr>
      </p:pic>
      <p:pic>
        <p:nvPicPr>
          <p:cNvPr id="36" name="Picture 35" descr="lock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554414" y="2661285"/>
            <a:ext cx="165021" cy="240030"/>
          </a:xfrm>
          <a:prstGeom prst="rect">
            <a:avLst/>
          </a:prstGeom>
        </p:spPr>
      </p:pic>
      <p:pic>
        <p:nvPicPr>
          <p:cNvPr id="37" name="Picture 36" descr="lock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26888" y="2548413"/>
            <a:ext cx="261282" cy="380047"/>
          </a:xfrm>
          <a:prstGeom prst="rect">
            <a:avLst/>
          </a:prstGeom>
        </p:spPr>
      </p:pic>
      <p:pic>
        <p:nvPicPr>
          <p:cNvPr id="38" name="Picture 37" descr="lock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878378" y="2141220"/>
            <a:ext cx="230504" cy="335279"/>
          </a:xfrm>
          <a:prstGeom prst="rect">
            <a:avLst/>
          </a:prstGeom>
        </p:spPr>
      </p:pic>
      <p:pic>
        <p:nvPicPr>
          <p:cNvPr id="39" name="Picture 38" descr="lock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554414" y="4575810"/>
            <a:ext cx="165021" cy="240030"/>
          </a:xfrm>
          <a:prstGeom prst="rect">
            <a:avLst/>
          </a:prstGeom>
        </p:spPr>
      </p:pic>
      <p:pic>
        <p:nvPicPr>
          <p:cNvPr id="40" name="Picture 39" descr="lock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63959" y="4389011"/>
            <a:ext cx="362932" cy="527901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8071485" y="2876550"/>
            <a:ext cx="2505943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U.S.'s packaged muffins market expands at</a:t>
            </a:r>
          </a:p>
        </p:txBody>
      </p:sp>
      <p:pic>
        <p:nvPicPr>
          <p:cNvPr id="42" name="Picture 41" descr="lock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525479" y="2866771"/>
            <a:ext cx="128699" cy="187198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10692975" y="2876550"/>
            <a:ext cx="882459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CAGR through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071485" y="3044190"/>
            <a:ext cx="2731318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2036, trailing the North America benchmark of</a:t>
            </a:r>
          </a:p>
        </p:txBody>
      </p:sp>
      <p:pic>
        <p:nvPicPr>
          <p:cNvPr id="45" name="Picture 44" descr="lock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750855" y="3034411"/>
            <a:ext cx="128699" cy="187198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10918350" y="3044190"/>
            <a:ext cx="212898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by</a:t>
            </a:r>
          </a:p>
        </p:txBody>
      </p:sp>
      <p:pic>
        <p:nvPicPr>
          <p:cNvPr id="47" name="Picture 46" descr="lock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079301" y="3034411"/>
            <a:ext cx="128699" cy="187198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11246797" y="3044190"/>
            <a:ext cx="323949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BPS.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57175" y="5966460"/>
            <a:ext cx="639365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U.S. holds</a:t>
            </a:r>
          </a:p>
        </p:txBody>
      </p:sp>
      <p:pic>
        <p:nvPicPr>
          <p:cNvPr id="50" name="Picture 49" descr="lock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4592" y="5956680"/>
            <a:ext cx="128699" cy="187198"/>
          </a:xfrm>
          <a:prstGeom prst="rect">
            <a:avLst/>
          </a:prstGeom>
        </p:spPr>
      </p:pic>
      <p:sp>
        <p:nvSpPr>
          <p:cNvPr id="51" name="TextBox 50"/>
          <p:cNvSpPr txBox="1"/>
          <p:nvPr/>
        </p:nvSpPr>
        <p:spPr>
          <a:xfrm>
            <a:off x="1012088" y="5966460"/>
            <a:ext cx="4739233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of the North America packaged muffins market in 2026; by 2036 that share moves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57175" y="6134100"/>
            <a:ext cx="196800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to</a:t>
            </a:r>
          </a:p>
        </p:txBody>
      </p:sp>
      <p:pic>
        <p:nvPicPr>
          <p:cNvPr id="53" name="Picture 52" descr="lock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02026" y="6124320"/>
            <a:ext cx="128699" cy="187198"/>
          </a:xfrm>
          <a:prstGeom prst="rect">
            <a:avLst/>
          </a:prstGeom>
        </p:spPr>
      </p:pic>
      <p:sp>
        <p:nvSpPr>
          <p:cNvPr id="54" name="TextBox 53"/>
          <p:cNvSpPr txBox="1"/>
          <p:nvPr/>
        </p:nvSpPr>
        <p:spPr>
          <a:xfrm>
            <a:off x="569522" y="6134100"/>
            <a:ext cx="111397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286500" y="5966460"/>
            <a:ext cx="1586979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The forecast build-up adds</a:t>
            </a:r>
          </a:p>
        </p:txBody>
      </p:sp>
      <p:pic>
        <p:nvPicPr>
          <p:cNvPr id="56" name="Picture 55" descr="lock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21530" y="5956680"/>
            <a:ext cx="128699" cy="187198"/>
          </a:xfrm>
          <a:prstGeom prst="rect">
            <a:avLst/>
          </a:prstGeom>
        </p:spPr>
      </p:pic>
      <p:sp>
        <p:nvSpPr>
          <p:cNvPr id="57" name="TextBox 56"/>
          <p:cNvSpPr txBox="1"/>
          <p:nvPr/>
        </p:nvSpPr>
        <p:spPr>
          <a:xfrm>
            <a:off x="7989026" y="5966460"/>
            <a:ext cx="3378795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US$ Mn between 2026 and 2036 the U.S. market grows to</a:t>
            </a:r>
          </a:p>
        </p:txBody>
      </p:sp>
      <p:pic>
        <p:nvPicPr>
          <p:cNvPr id="58" name="Picture 57" descr="lock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315873" y="5956680"/>
            <a:ext cx="128699" cy="187198"/>
          </a:xfrm>
          <a:prstGeom prst="rect">
            <a:avLst/>
          </a:prstGeom>
        </p:spPr>
      </p:pic>
      <p:sp>
        <p:nvSpPr>
          <p:cNvPr id="59" name="TextBox 58"/>
          <p:cNvSpPr txBox="1"/>
          <p:nvPr/>
        </p:nvSpPr>
        <p:spPr>
          <a:xfrm>
            <a:off x="11483369" y="5966460"/>
            <a:ext cx="311125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× its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286500" y="6134100"/>
            <a:ext cx="1590253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2026 size over the decade.</a:t>
            </a:r>
          </a:p>
        </p:txBody>
      </p:sp>
      <p:sp>
        <p:nvSpPr>
          <p:cNvPr id="61" name="lockshield_17"/>
          <p:cNvSpPr/>
          <p:nvPr/>
        </p:nvSpPr>
        <p:spPr>
          <a:xfrm>
            <a:off x="238125" y="2105025"/>
            <a:ext cx="4505325" cy="1438275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lockshield_20"/>
          <p:cNvSpPr/>
          <p:nvPr/>
        </p:nvSpPr>
        <p:spPr>
          <a:xfrm>
            <a:off x="5086350" y="2105025"/>
            <a:ext cx="2880360" cy="1438275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lockshield_25"/>
          <p:cNvSpPr/>
          <p:nvPr/>
        </p:nvSpPr>
        <p:spPr>
          <a:xfrm>
            <a:off x="238125" y="4019550"/>
            <a:ext cx="4505325" cy="1438275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lockshield_28"/>
          <p:cNvSpPr/>
          <p:nvPr/>
        </p:nvSpPr>
        <p:spPr>
          <a:xfrm>
            <a:off x="5086350" y="4019550"/>
            <a:ext cx="6858000" cy="1438275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3825" y="914400"/>
            <a:ext cx="3943350" cy="28575"/>
          </a:xfrm>
          <a:prstGeom prst="rect">
            <a:avLst/>
          </a:prstGeom>
          <a:solidFill>
            <a:srgbClr val="0081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24325" y="914400"/>
            <a:ext cx="3943350" cy="28575"/>
          </a:xfrm>
          <a:prstGeom prst="rect">
            <a:avLst/>
          </a:prstGeom>
          <a:solidFill>
            <a:srgbClr val="9E7E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124825" y="914400"/>
            <a:ext cx="3943350" cy="28575"/>
          </a:xfrm>
          <a:prstGeom prst="rect">
            <a:avLst/>
          </a:prstGeom>
          <a:solidFill>
            <a:srgbClr val="403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mi_logo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25" y="-205740"/>
            <a:ext cx="1307592" cy="13258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543050" y="19050"/>
            <a:ext cx="8982075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U.S. Packaged Muffins Market Key Segments Overview, By Value (2026) (1/3)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43050" y="647700"/>
            <a:ext cx="10506075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Overview of U.S.'s key segments by value, highlighting the leading sub-segment of every segmentation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620375" y="228600"/>
            <a:ext cx="1428750" cy="419100"/>
          </a:xfrm>
          <a:prstGeom prst="roundRect">
            <a:avLst>
              <a:gd name="adj" fmla="val 22000"/>
            </a:avLst>
          </a:prstGeom>
          <a:solidFill>
            <a:srgbClr val="D9E6F2"/>
          </a:solidFill>
          <a:ln w="6350">
            <a:solidFill>
              <a:srgbClr val="69B1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100" b="1">
                <a:solidFill>
                  <a:srgbClr val="0B2E4A"/>
                </a:solidFill>
                <a:latin typeface="Calibri"/>
              </a:rPr>
              <a:t>U.S.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42875" y="981075"/>
            <a:ext cx="2857500" cy="179070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38125" y="1038225"/>
            <a:ext cx="266700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By Product Type  (US$ Mn)</a:t>
            </a:r>
          </a:p>
        </p:txBody>
      </p:sp>
      <p:graphicFrame>
        <p:nvGraphicFramePr>
          <p:cNvPr id="13" name="Chart 12"/>
          <p:cNvGraphicFramePr>
            <a:graphicFrameLocks noGrp="1"/>
          </p:cNvGraphicFramePr>
          <p:nvPr/>
        </p:nvGraphicFramePr>
        <p:xfrm>
          <a:off x="238125" y="1266825"/>
          <a:ext cx="2667000" cy="14478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4" name="Rounded Rectangle 13"/>
          <p:cNvSpPr/>
          <p:nvPr/>
        </p:nvSpPr>
        <p:spPr>
          <a:xfrm>
            <a:off x="3152775" y="981075"/>
            <a:ext cx="2857500" cy="179070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48025" y="1038225"/>
            <a:ext cx="266700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By Flavour  (US$ Mn)</a:t>
            </a:r>
          </a:p>
        </p:txBody>
      </p:sp>
      <p:graphicFrame>
        <p:nvGraphicFramePr>
          <p:cNvPr id="16" name="Chart 15"/>
          <p:cNvGraphicFramePr>
            <a:graphicFrameLocks noGrp="1"/>
          </p:cNvGraphicFramePr>
          <p:nvPr/>
        </p:nvGraphicFramePr>
        <p:xfrm>
          <a:off x="3248025" y="1266825"/>
          <a:ext cx="2667000" cy="14478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7" name="Rounded Rectangle 16"/>
          <p:cNvSpPr/>
          <p:nvPr/>
        </p:nvSpPr>
        <p:spPr>
          <a:xfrm>
            <a:off x="6162675" y="981075"/>
            <a:ext cx="2857500" cy="179070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57925" y="1038225"/>
            <a:ext cx="266700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By Primary Flour Base  (US$ Mn)</a:t>
            </a:r>
          </a:p>
        </p:txBody>
      </p:sp>
      <p:graphicFrame>
        <p:nvGraphicFramePr>
          <p:cNvPr id="19" name="Chart 18"/>
          <p:cNvGraphicFramePr>
            <a:graphicFrameLocks noGrp="1"/>
          </p:cNvGraphicFramePr>
          <p:nvPr/>
        </p:nvGraphicFramePr>
        <p:xfrm>
          <a:off x="6257925" y="1266825"/>
          <a:ext cx="2667000" cy="144780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20" name="Rounded Rectangle 19"/>
          <p:cNvSpPr/>
          <p:nvPr/>
        </p:nvSpPr>
        <p:spPr>
          <a:xfrm>
            <a:off x="9172575" y="981075"/>
            <a:ext cx="2857500" cy="179070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67825" y="1038225"/>
            <a:ext cx="266700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By Dietary Formulation  (US$ Mn)</a:t>
            </a:r>
          </a:p>
        </p:txBody>
      </p:sp>
      <p:graphicFrame>
        <p:nvGraphicFramePr>
          <p:cNvPr id="22" name="Chart 21"/>
          <p:cNvGraphicFramePr>
            <a:graphicFrameLocks noGrp="1"/>
          </p:cNvGraphicFramePr>
          <p:nvPr/>
        </p:nvGraphicFramePr>
        <p:xfrm>
          <a:off x="9267825" y="1266825"/>
          <a:ext cx="2667000" cy="1447800"/>
        </p:xfrm>
        <a:graphic>
          <a:graphicData uri="http://schemas.openxmlformats.org/drawingml/2006/chart">
            <c:chart xmlns:c="http://schemas.openxmlformats.org/drawingml/2006/chart" r:id="rId6"/>
          </a:graphicData>
        </a:graphic>
      </p:graphicFrame>
      <p:sp>
        <p:nvSpPr>
          <p:cNvPr id="23" name="Rounded Rectangle 22"/>
          <p:cNvSpPr/>
          <p:nvPr/>
        </p:nvSpPr>
        <p:spPr>
          <a:xfrm>
            <a:off x="142875" y="2905125"/>
            <a:ext cx="2857500" cy="179070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38125" y="2962275"/>
            <a:ext cx="266700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By Nutritional Positioning  (US$ Mn)</a:t>
            </a:r>
          </a:p>
        </p:txBody>
      </p:sp>
      <p:graphicFrame>
        <p:nvGraphicFramePr>
          <p:cNvPr id="25" name="Chart 24"/>
          <p:cNvGraphicFramePr>
            <a:graphicFrameLocks noGrp="1"/>
          </p:cNvGraphicFramePr>
          <p:nvPr/>
        </p:nvGraphicFramePr>
        <p:xfrm>
          <a:off x="238125" y="3190875"/>
          <a:ext cx="2667000" cy="1447800"/>
        </p:xfrm>
        <a:graphic>
          <a:graphicData uri="http://schemas.openxmlformats.org/drawingml/2006/chart">
            <c:chart xmlns:c="http://schemas.openxmlformats.org/drawingml/2006/chart" r:id="rId7"/>
          </a:graphicData>
        </a:graphic>
      </p:graphicFrame>
      <p:sp>
        <p:nvSpPr>
          <p:cNvPr id="26" name="Rounded Rectangle 25"/>
          <p:cNvSpPr/>
          <p:nvPr/>
        </p:nvSpPr>
        <p:spPr>
          <a:xfrm>
            <a:off x="3152775" y="2905125"/>
            <a:ext cx="2857500" cy="179070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48025" y="2962275"/>
            <a:ext cx="2667000" cy="38100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By Recipe and Ingredient Claims  (US$ Mn)</a:t>
            </a:r>
          </a:p>
        </p:txBody>
      </p:sp>
      <p:graphicFrame>
        <p:nvGraphicFramePr>
          <p:cNvPr id="28" name="Chart 27"/>
          <p:cNvGraphicFramePr>
            <a:graphicFrameLocks noGrp="1"/>
          </p:cNvGraphicFramePr>
          <p:nvPr/>
        </p:nvGraphicFramePr>
        <p:xfrm>
          <a:off x="3248025" y="3362325"/>
          <a:ext cx="2667000" cy="1276350"/>
        </p:xfrm>
        <a:graphic>
          <a:graphicData uri="http://schemas.openxmlformats.org/drawingml/2006/chart">
            <c:chart xmlns:c="http://schemas.openxmlformats.org/drawingml/2006/chart" r:id="rId8"/>
          </a:graphicData>
        </a:graphic>
      </p:graphicFrame>
      <p:sp>
        <p:nvSpPr>
          <p:cNvPr id="29" name="Rounded Rectangle 28"/>
          <p:cNvSpPr/>
          <p:nvPr/>
        </p:nvSpPr>
        <p:spPr>
          <a:xfrm>
            <a:off x="6162675" y="2905125"/>
            <a:ext cx="2857500" cy="179070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257925" y="2962275"/>
            <a:ext cx="266700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By Product Structure  (US$ Mn)</a:t>
            </a:r>
          </a:p>
        </p:txBody>
      </p:sp>
      <p:graphicFrame>
        <p:nvGraphicFramePr>
          <p:cNvPr id="31" name="Chart 30"/>
          <p:cNvGraphicFramePr>
            <a:graphicFrameLocks noGrp="1"/>
          </p:cNvGraphicFramePr>
          <p:nvPr/>
        </p:nvGraphicFramePr>
        <p:xfrm>
          <a:off x="6257925" y="3190875"/>
          <a:ext cx="2667000" cy="1447800"/>
        </p:xfrm>
        <a:graphic>
          <a:graphicData uri="http://schemas.openxmlformats.org/drawingml/2006/chart">
            <c:chart xmlns:c="http://schemas.openxmlformats.org/drawingml/2006/chart" r:id="rId9"/>
          </a:graphicData>
        </a:graphic>
      </p:graphicFrame>
      <p:sp>
        <p:nvSpPr>
          <p:cNvPr id="32" name="Rounded Rectangle 31"/>
          <p:cNvSpPr/>
          <p:nvPr/>
        </p:nvSpPr>
        <p:spPr>
          <a:xfrm>
            <a:off x="9172575" y="2905125"/>
            <a:ext cx="2857500" cy="179070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267825" y="2962275"/>
            <a:ext cx="266700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By Surface Finish  (US$ Mn)</a:t>
            </a:r>
          </a:p>
        </p:txBody>
      </p:sp>
      <p:graphicFrame>
        <p:nvGraphicFramePr>
          <p:cNvPr id="34" name="Chart 33"/>
          <p:cNvGraphicFramePr>
            <a:graphicFrameLocks noGrp="1"/>
          </p:cNvGraphicFramePr>
          <p:nvPr/>
        </p:nvGraphicFramePr>
        <p:xfrm>
          <a:off x="9267825" y="3190875"/>
          <a:ext cx="2667000" cy="1447800"/>
        </p:xfrm>
        <a:graphic>
          <a:graphicData uri="http://schemas.openxmlformats.org/drawingml/2006/chart">
            <c:chart xmlns:c="http://schemas.openxmlformats.org/drawingml/2006/chart" r:id="rId10"/>
          </a:graphicData>
        </a:graphic>
      </p:graphicFrame>
      <p:sp>
        <p:nvSpPr>
          <p:cNvPr id="35" name="Rounded Rectangle 34"/>
          <p:cNvSpPr/>
          <p:nvPr/>
        </p:nvSpPr>
        <p:spPr>
          <a:xfrm>
            <a:off x="142875" y="4829175"/>
            <a:ext cx="2857500" cy="179070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38125" y="4886325"/>
            <a:ext cx="266700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By Individual Muffin Size  (US$ Mn)</a:t>
            </a:r>
          </a:p>
        </p:txBody>
      </p:sp>
      <p:graphicFrame>
        <p:nvGraphicFramePr>
          <p:cNvPr id="37" name="Chart 36"/>
          <p:cNvGraphicFramePr>
            <a:graphicFrameLocks noGrp="1"/>
          </p:cNvGraphicFramePr>
          <p:nvPr/>
        </p:nvGraphicFramePr>
        <p:xfrm>
          <a:off x="238125" y="5114925"/>
          <a:ext cx="2667000" cy="1447800"/>
        </p:xfrm>
        <a:graphic>
          <a:graphicData uri="http://schemas.openxmlformats.org/drawingml/2006/chart">
            <c:chart xmlns:c="http://schemas.openxmlformats.org/drawingml/2006/chart" r:id="rId11"/>
          </a:graphicData>
        </a:graphic>
      </p:graphicFrame>
      <p:sp>
        <p:nvSpPr>
          <p:cNvPr id="38" name="Rounded Rectangle 37"/>
          <p:cNvSpPr/>
          <p:nvPr/>
        </p:nvSpPr>
        <p:spPr>
          <a:xfrm>
            <a:off x="3152775" y="4829175"/>
            <a:ext cx="2857500" cy="179070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248025" y="4886325"/>
            <a:ext cx="266700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By Storage Format  (US$ Mn)</a:t>
            </a:r>
          </a:p>
        </p:txBody>
      </p:sp>
      <p:graphicFrame>
        <p:nvGraphicFramePr>
          <p:cNvPr id="40" name="Chart 39"/>
          <p:cNvGraphicFramePr>
            <a:graphicFrameLocks noGrp="1"/>
          </p:cNvGraphicFramePr>
          <p:nvPr/>
        </p:nvGraphicFramePr>
        <p:xfrm>
          <a:off x="3248025" y="5114925"/>
          <a:ext cx="2667000" cy="1447800"/>
        </p:xfrm>
        <a:graphic>
          <a:graphicData uri="http://schemas.openxmlformats.org/drawingml/2006/chart">
            <c:chart xmlns:c="http://schemas.openxmlformats.org/drawingml/2006/chart" r:id="rId12"/>
          </a:graphicData>
        </a:graphic>
      </p:graphicFrame>
      <p:sp>
        <p:nvSpPr>
          <p:cNvPr id="41" name="Rounded Rectangle 40"/>
          <p:cNvSpPr/>
          <p:nvPr/>
        </p:nvSpPr>
        <p:spPr>
          <a:xfrm>
            <a:off x="6162675" y="4829175"/>
            <a:ext cx="2857500" cy="179070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257925" y="4886325"/>
            <a:ext cx="266700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By Shelf Life  (US$ Mn)</a:t>
            </a:r>
          </a:p>
        </p:txBody>
      </p:sp>
      <p:graphicFrame>
        <p:nvGraphicFramePr>
          <p:cNvPr id="43" name="Chart 42"/>
          <p:cNvGraphicFramePr>
            <a:graphicFrameLocks noGrp="1"/>
          </p:cNvGraphicFramePr>
          <p:nvPr/>
        </p:nvGraphicFramePr>
        <p:xfrm>
          <a:off x="6257925" y="5114925"/>
          <a:ext cx="2667000" cy="1447800"/>
        </p:xfrm>
        <a:graphic>
          <a:graphicData uri="http://schemas.openxmlformats.org/drawingml/2006/chart">
            <c:chart xmlns:c="http://schemas.openxmlformats.org/drawingml/2006/chart" r:id="rId13"/>
          </a:graphicData>
        </a:graphic>
      </p:graphicFrame>
      <p:sp>
        <p:nvSpPr>
          <p:cNvPr id="44" name="Rounded Rectangle 43"/>
          <p:cNvSpPr/>
          <p:nvPr/>
        </p:nvSpPr>
        <p:spPr>
          <a:xfrm>
            <a:off x="9172575" y="4829175"/>
            <a:ext cx="2857500" cy="179070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267825" y="4886325"/>
            <a:ext cx="266700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By Packaging Format  (US$ Mn)</a:t>
            </a:r>
          </a:p>
        </p:txBody>
      </p:sp>
      <p:graphicFrame>
        <p:nvGraphicFramePr>
          <p:cNvPr id="46" name="Chart 45"/>
          <p:cNvGraphicFramePr>
            <a:graphicFrameLocks noGrp="1"/>
          </p:cNvGraphicFramePr>
          <p:nvPr/>
        </p:nvGraphicFramePr>
        <p:xfrm>
          <a:off x="9267825" y="5114925"/>
          <a:ext cx="2667000" cy="1447800"/>
        </p:xfrm>
        <a:graphic>
          <a:graphicData uri="http://schemas.openxmlformats.org/drawingml/2006/chart">
            <c:chart xmlns:c="http://schemas.openxmlformats.org/drawingml/2006/chart" r:id="rId14"/>
          </a:graphicData>
        </a:graphic>
      </p:graphicFrame>
      <p:sp>
        <p:nvSpPr>
          <p:cNvPr id="47" name="TextBox 46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58595B"/>
                </a:solidFill>
                <a:latin typeface="Calibri"/>
              </a:rPr>
              <a:t>©2026 Future Market Insights, All Rights Reserved</a:t>
            </a:r>
          </a:p>
        </p:txBody>
      </p:sp>
      <p:pic>
        <p:nvPicPr>
          <p:cNvPr id="48" name="Picture 47" descr="lock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811655" y="1771650"/>
            <a:ext cx="183356" cy="266700"/>
          </a:xfrm>
          <a:prstGeom prst="rect">
            <a:avLst/>
          </a:prstGeom>
        </p:spPr>
      </p:pic>
      <p:pic>
        <p:nvPicPr>
          <p:cNvPr id="49" name="Picture 48" descr="lock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821555" y="1771650"/>
            <a:ext cx="183356" cy="266700"/>
          </a:xfrm>
          <a:prstGeom prst="rect">
            <a:avLst/>
          </a:prstGeom>
        </p:spPr>
      </p:pic>
      <p:pic>
        <p:nvPicPr>
          <p:cNvPr id="50" name="Picture 49" descr="lock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831455" y="1771650"/>
            <a:ext cx="183356" cy="266700"/>
          </a:xfrm>
          <a:prstGeom prst="rect">
            <a:avLst/>
          </a:prstGeom>
        </p:spPr>
      </p:pic>
      <p:pic>
        <p:nvPicPr>
          <p:cNvPr id="51" name="Picture 50" descr="lock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0841355" y="1771650"/>
            <a:ext cx="183356" cy="266700"/>
          </a:xfrm>
          <a:prstGeom prst="rect">
            <a:avLst/>
          </a:prstGeom>
        </p:spPr>
      </p:pic>
      <p:pic>
        <p:nvPicPr>
          <p:cNvPr id="52" name="Picture 51" descr="lock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811655" y="3695700"/>
            <a:ext cx="183356" cy="266700"/>
          </a:xfrm>
          <a:prstGeom prst="rect">
            <a:avLst/>
          </a:prstGeom>
        </p:spPr>
      </p:pic>
      <p:pic>
        <p:nvPicPr>
          <p:cNvPr id="53" name="Picture 52" descr="lock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821555" y="3781425"/>
            <a:ext cx="183356" cy="266700"/>
          </a:xfrm>
          <a:prstGeom prst="rect">
            <a:avLst/>
          </a:prstGeom>
        </p:spPr>
      </p:pic>
      <p:pic>
        <p:nvPicPr>
          <p:cNvPr id="54" name="Picture 53" descr="lock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831455" y="3695700"/>
            <a:ext cx="183356" cy="266700"/>
          </a:xfrm>
          <a:prstGeom prst="rect">
            <a:avLst/>
          </a:prstGeom>
        </p:spPr>
      </p:pic>
      <p:pic>
        <p:nvPicPr>
          <p:cNvPr id="55" name="Picture 54" descr="lock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0841355" y="3695700"/>
            <a:ext cx="183356" cy="266700"/>
          </a:xfrm>
          <a:prstGeom prst="rect">
            <a:avLst/>
          </a:prstGeom>
        </p:spPr>
      </p:pic>
      <p:pic>
        <p:nvPicPr>
          <p:cNvPr id="56" name="Picture 55" descr="lock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811655" y="5619750"/>
            <a:ext cx="183356" cy="266700"/>
          </a:xfrm>
          <a:prstGeom prst="rect">
            <a:avLst/>
          </a:prstGeom>
        </p:spPr>
      </p:pic>
      <p:pic>
        <p:nvPicPr>
          <p:cNvPr id="57" name="Picture 56" descr="lock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821555" y="5619750"/>
            <a:ext cx="183356" cy="266700"/>
          </a:xfrm>
          <a:prstGeom prst="rect">
            <a:avLst/>
          </a:prstGeom>
        </p:spPr>
      </p:pic>
      <p:pic>
        <p:nvPicPr>
          <p:cNvPr id="58" name="Picture 57" descr="lock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831455" y="5619750"/>
            <a:ext cx="183356" cy="266700"/>
          </a:xfrm>
          <a:prstGeom prst="rect">
            <a:avLst/>
          </a:prstGeom>
        </p:spPr>
      </p:pic>
      <p:pic>
        <p:nvPicPr>
          <p:cNvPr id="59" name="Picture 58" descr="lock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0841355" y="5619750"/>
            <a:ext cx="183356" cy="266700"/>
          </a:xfrm>
          <a:prstGeom prst="rect">
            <a:avLst/>
          </a:prstGeom>
        </p:spPr>
      </p:pic>
      <p:sp>
        <p:nvSpPr>
          <p:cNvPr id="60" name="lockshield_13"/>
          <p:cNvSpPr/>
          <p:nvPr/>
        </p:nvSpPr>
        <p:spPr>
          <a:xfrm>
            <a:off x="238125" y="1266825"/>
            <a:ext cx="2667000" cy="1447800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lockshield_16"/>
          <p:cNvSpPr/>
          <p:nvPr/>
        </p:nvSpPr>
        <p:spPr>
          <a:xfrm>
            <a:off x="3248025" y="1266825"/>
            <a:ext cx="2667000" cy="1447800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lockshield_19"/>
          <p:cNvSpPr/>
          <p:nvPr/>
        </p:nvSpPr>
        <p:spPr>
          <a:xfrm>
            <a:off x="6257925" y="1266825"/>
            <a:ext cx="2667000" cy="1447800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lockshield_22"/>
          <p:cNvSpPr/>
          <p:nvPr/>
        </p:nvSpPr>
        <p:spPr>
          <a:xfrm>
            <a:off x="9267825" y="1266825"/>
            <a:ext cx="2667000" cy="1447800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lockshield_25"/>
          <p:cNvSpPr/>
          <p:nvPr/>
        </p:nvSpPr>
        <p:spPr>
          <a:xfrm>
            <a:off x="238125" y="3190875"/>
            <a:ext cx="2667000" cy="1447800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lockshield_28"/>
          <p:cNvSpPr/>
          <p:nvPr/>
        </p:nvSpPr>
        <p:spPr>
          <a:xfrm>
            <a:off x="3248025" y="3362325"/>
            <a:ext cx="2667000" cy="1276350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lockshield_31"/>
          <p:cNvSpPr/>
          <p:nvPr/>
        </p:nvSpPr>
        <p:spPr>
          <a:xfrm>
            <a:off x="6257925" y="3190875"/>
            <a:ext cx="2667000" cy="1447800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lockshield_34"/>
          <p:cNvSpPr/>
          <p:nvPr/>
        </p:nvSpPr>
        <p:spPr>
          <a:xfrm>
            <a:off x="9267825" y="3190875"/>
            <a:ext cx="2667000" cy="1447800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lockshield_37"/>
          <p:cNvSpPr/>
          <p:nvPr/>
        </p:nvSpPr>
        <p:spPr>
          <a:xfrm>
            <a:off x="238125" y="5114925"/>
            <a:ext cx="2667000" cy="1447800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lockshield_40"/>
          <p:cNvSpPr/>
          <p:nvPr/>
        </p:nvSpPr>
        <p:spPr>
          <a:xfrm>
            <a:off x="3248025" y="5114925"/>
            <a:ext cx="2667000" cy="1447800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lockshield_43"/>
          <p:cNvSpPr/>
          <p:nvPr/>
        </p:nvSpPr>
        <p:spPr>
          <a:xfrm>
            <a:off x="6257925" y="5114925"/>
            <a:ext cx="2667000" cy="1447800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lockshield_46"/>
          <p:cNvSpPr/>
          <p:nvPr/>
        </p:nvSpPr>
        <p:spPr>
          <a:xfrm>
            <a:off x="9267825" y="5114925"/>
            <a:ext cx="2667000" cy="1447800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3825" y="914400"/>
            <a:ext cx="3943350" cy="28575"/>
          </a:xfrm>
          <a:prstGeom prst="rect">
            <a:avLst/>
          </a:prstGeom>
          <a:solidFill>
            <a:srgbClr val="0081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24325" y="914400"/>
            <a:ext cx="3943350" cy="28575"/>
          </a:xfrm>
          <a:prstGeom prst="rect">
            <a:avLst/>
          </a:prstGeom>
          <a:solidFill>
            <a:srgbClr val="9E7E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124825" y="914400"/>
            <a:ext cx="3943350" cy="28575"/>
          </a:xfrm>
          <a:prstGeom prst="rect">
            <a:avLst/>
          </a:prstGeom>
          <a:solidFill>
            <a:srgbClr val="403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mi_logo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25" y="-205740"/>
            <a:ext cx="1307592" cy="13258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543050" y="19050"/>
            <a:ext cx="10506075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U.S. Packaged Muffins Market Key Segments Overview, By Value (2026) (2/3)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43050" y="647700"/>
            <a:ext cx="10506075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Overview of U.S.'s key segments by value, highlighting the leading sub-segment of every segmentation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42875" y="981075"/>
            <a:ext cx="2857500" cy="179070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38125" y="1038225"/>
            <a:ext cx="266700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By Pack Configuration  (US$ Mn)</a:t>
            </a:r>
          </a:p>
        </p:txBody>
      </p:sp>
      <p:graphicFrame>
        <p:nvGraphicFramePr>
          <p:cNvPr id="12" name="Chart 11"/>
          <p:cNvGraphicFramePr>
            <a:graphicFrameLocks noGrp="1"/>
          </p:cNvGraphicFramePr>
          <p:nvPr/>
        </p:nvGraphicFramePr>
        <p:xfrm>
          <a:off x="238125" y="1266825"/>
          <a:ext cx="2667000" cy="14478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3" name="Rounded Rectangle 12"/>
          <p:cNvSpPr/>
          <p:nvPr/>
        </p:nvSpPr>
        <p:spPr>
          <a:xfrm>
            <a:off x="3152775" y="981075"/>
            <a:ext cx="2857500" cy="179070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48025" y="1038225"/>
            <a:ext cx="266700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By Multipack Wrapping  (US$ Mn)</a:t>
            </a:r>
          </a:p>
        </p:txBody>
      </p:sp>
      <p:graphicFrame>
        <p:nvGraphicFramePr>
          <p:cNvPr id="15" name="Chart 14"/>
          <p:cNvGraphicFramePr>
            <a:graphicFrameLocks noGrp="1"/>
          </p:cNvGraphicFramePr>
          <p:nvPr/>
        </p:nvGraphicFramePr>
        <p:xfrm>
          <a:off x="3248025" y="1266825"/>
          <a:ext cx="2667000" cy="14478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6" name="Rounded Rectangle 15"/>
          <p:cNvSpPr/>
          <p:nvPr/>
        </p:nvSpPr>
        <p:spPr>
          <a:xfrm>
            <a:off x="6162675" y="981075"/>
            <a:ext cx="2857500" cy="179070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57925" y="1038225"/>
            <a:ext cx="266700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By Price Positioning  (US$ Mn)</a:t>
            </a:r>
          </a:p>
        </p:txBody>
      </p:sp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6257925" y="1266825"/>
          <a:ext cx="2667000" cy="144780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19" name="Rounded Rectangle 18"/>
          <p:cNvSpPr/>
          <p:nvPr/>
        </p:nvSpPr>
        <p:spPr>
          <a:xfrm>
            <a:off x="9172575" y="981075"/>
            <a:ext cx="2857500" cy="179070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67825" y="1038225"/>
            <a:ext cx="266700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By Brand Ownership  (US$ Mn)</a:t>
            </a:r>
          </a:p>
        </p:txBody>
      </p:sp>
      <p:graphicFrame>
        <p:nvGraphicFramePr>
          <p:cNvPr id="21" name="Chart 20"/>
          <p:cNvGraphicFramePr>
            <a:graphicFrameLocks noGrp="1"/>
          </p:cNvGraphicFramePr>
          <p:nvPr/>
        </p:nvGraphicFramePr>
        <p:xfrm>
          <a:off x="9267825" y="1266825"/>
          <a:ext cx="2667000" cy="1447800"/>
        </p:xfrm>
        <a:graphic>
          <a:graphicData uri="http://schemas.openxmlformats.org/drawingml/2006/chart">
            <c:chart xmlns:c="http://schemas.openxmlformats.org/drawingml/2006/chart" r:id="rId6"/>
          </a:graphicData>
        </a:graphic>
      </p:graphicFrame>
      <p:sp>
        <p:nvSpPr>
          <p:cNvPr id="22" name="Rounded Rectangle 21"/>
          <p:cNvSpPr/>
          <p:nvPr/>
        </p:nvSpPr>
        <p:spPr>
          <a:xfrm>
            <a:off x="142875" y="2905125"/>
            <a:ext cx="2857500" cy="179070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38125" y="2962275"/>
            <a:ext cx="266700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By Sales Channel  (US$ Mn)</a:t>
            </a:r>
          </a:p>
        </p:txBody>
      </p:sp>
      <p:graphicFrame>
        <p:nvGraphicFramePr>
          <p:cNvPr id="24" name="Chart 23"/>
          <p:cNvGraphicFramePr>
            <a:graphicFrameLocks noGrp="1"/>
          </p:cNvGraphicFramePr>
          <p:nvPr/>
        </p:nvGraphicFramePr>
        <p:xfrm>
          <a:off x="238125" y="3190875"/>
          <a:ext cx="2667000" cy="1447800"/>
        </p:xfrm>
        <a:graphic>
          <a:graphicData uri="http://schemas.openxmlformats.org/drawingml/2006/chart">
            <c:chart xmlns:c="http://schemas.openxmlformats.org/drawingml/2006/chart" r:id="rId7"/>
          </a:graphicData>
        </a:graphic>
      </p:graphicFrame>
      <p:sp>
        <p:nvSpPr>
          <p:cNvPr id="25" name="Rounded Rectangle 24"/>
          <p:cNvSpPr/>
          <p:nvPr/>
        </p:nvSpPr>
        <p:spPr>
          <a:xfrm>
            <a:off x="3152775" y="2905125"/>
            <a:ext cx="2857500" cy="179070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48025" y="2962275"/>
            <a:ext cx="266700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By Product Type × Flavour  (US$ Mn)</a:t>
            </a:r>
          </a:p>
        </p:txBody>
      </p:sp>
      <p:graphicFrame>
        <p:nvGraphicFramePr>
          <p:cNvPr id="27" name="Chart 26"/>
          <p:cNvGraphicFramePr>
            <a:graphicFrameLocks noGrp="1"/>
          </p:cNvGraphicFramePr>
          <p:nvPr/>
        </p:nvGraphicFramePr>
        <p:xfrm>
          <a:off x="3248025" y="3190875"/>
          <a:ext cx="2667000" cy="1447800"/>
        </p:xfrm>
        <a:graphic>
          <a:graphicData uri="http://schemas.openxmlformats.org/drawingml/2006/chart">
            <c:chart xmlns:c="http://schemas.openxmlformats.org/drawingml/2006/chart" r:id="rId8"/>
          </a:graphicData>
        </a:graphic>
      </p:graphicFrame>
      <p:sp>
        <p:nvSpPr>
          <p:cNvPr id="28" name="Rounded Rectangle 27"/>
          <p:cNvSpPr/>
          <p:nvPr/>
        </p:nvSpPr>
        <p:spPr>
          <a:xfrm>
            <a:off x="6162675" y="2905125"/>
            <a:ext cx="2857500" cy="179070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57925" y="2962275"/>
            <a:ext cx="2667000" cy="38100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By Product Type × Packaging Format  (US$ Mn)</a:t>
            </a:r>
          </a:p>
        </p:txBody>
      </p:sp>
      <p:graphicFrame>
        <p:nvGraphicFramePr>
          <p:cNvPr id="30" name="Chart 29"/>
          <p:cNvGraphicFramePr>
            <a:graphicFrameLocks noGrp="1"/>
          </p:cNvGraphicFramePr>
          <p:nvPr/>
        </p:nvGraphicFramePr>
        <p:xfrm>
          <a:off x="6257925" y="3362325"/>
          <a:ext cx="2667000" cy="1276350"/>
        </p:xfrm>
        <a:graphic>
          <a:graphicData uri="http://schemas.openxmlformats.org/drawingml/2006/chart">
            <c:chart xmlns:c="http://schemas.openxmlformats.org/drawingml/2006/chart" r:id="rId9"/>
          </a:graphicData>
        </a:graphic>
      </p:graphicFrame>
      <p:sp>
        <p:nvSpPr>
          <p:cNvPr id="31" name="Rounded Rectangle 30"/>
          <p:cNvSpPr/>
          <p:nvPr/>
        </p:nvSpPr>
        <p:spPr>
          <a:xfrm>
            <a:off x="9172575" y="2905125"/>
            <a:ext cx="2857500" cy="179070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267825" y="2962275"/>
            <a:ext cx="2667000" cy="38100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By Product Type × Sales Channel  (US$ Mn)</a:t>
            </a:r>
          </a:p>
        </p:txBody>
      </p:sp>
      <p:graphicFrame>
        <p:nvGraphicFramePr>
          <p:cNvPr id="33" name="Chart 32"/>
          <p:cNvGraphicFramePr>
            <a:graphicFrameLocks noGrp="1"/>
          </p:cNvGraphicFramePr>
          <p:nvPr/>
        </p:nvGraphicFramePr>
        <p:xfrm>
          <a:off x="9267825" y="3362325"/>
          <a:ext cx="2667000" cy="1276350"/>
        </p:xfrm>
        <a:graphic>
          <a:graphicData uri="http://schemas.openxmlformats.org/drawingml/2006/chart">
            <c:chart xmlns:c="http://schemas.openxmlformats.org/drawingml/2006/chart" r:id="rId10"/>
          </a:graphicData>
        </a:graphic>
      </p:graphicFrame>
      <p:sp>
        <p:nvSpPr>
          <p:cNvPr id="34" name="Rounded Rectangle 33"/>
          <p:cNvSpPr/>
          <p:nvPr/>
        </p:nvSpPr>
        <p:spPr>
          <a:xfrm>
            <a:off x="142875" y="4829175"/>
            <a:ext cx="2971800" cy="179070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38125" y="4886325"/>
            <a:ext cx="2781300" cy="38100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By Product Type × Individual Muffin Size  (US$ Mn)</a:t>
            </a:r>
          </a:p>
        </p:txBody>
      </p:sp>
      <p:graphicFrame>
        <p:nvGraphicFramePr>
          <p:cNvPr id="36" name="Chart 35"/>
          <p:cNvGraphicFramePr>
            <a:graphicFrameLocks noGrp="1"/>
          </p:cNvGraphicFramePr>
          <p:nvPr/>
        </p:nvGraphicFramePr>
        <p:xfrm>
          <a:off x="238125" y="5286375"/>
          <a:ext cx="2781300" cy="1276350"/>
        </p:xfrm>
        <a:graphic>
          <a:graphicData uri="http://schemas.openxmlformats.org/drawingml/2006/chart">
            <c:chart xmlns:c="http://schemas.openxmlformats.org/drawingml/2006/chart" r:id="rId11"/>
          </a:graphicData>
        </a:graphic>
      </p:graphicFrame>
      <p:sp>
        <p:nvSpPr>
          <p:cNvPr id="37" name="TextBox 36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58595B"/>
                </a:solidFill>
                <a:latin typeface="Calibri"/>
              </a:rPr>
              <a:t>©2026 Future Market Insights, All Rights Reserved</a:t>
            </a:r>
          </a:p>
        </p:txBody>
      </p:sp>
      <p:pic>
        <p:nvPicPr>
          <p:cNvPr id="38" name="Picture 37" descr="lock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811655" y="1771650"/>
            <a:ext cx="183356" cy="266700"/>
          </a:xfrm>
          <a:prstGeom prst="rect">
            <a:avLst/>
          </a:prstGeom>
        </p:spPr>
      </p:pic>
      <p:pic>
        <p:nvPicPr>
          <p:cNvPr id="39" name="Picture 38" descr="lock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821555" y="1771650"/>
            <a:ext cx="183356" cy="266700"/>
          </a:xfrm>
          <a:prstGeom prst="rect">
            <a:avLst/>
          </a:prstGeom>
        </p:spPr>
      </p:pic>
      <p:pic>
        <p:nvPicPr>
          <p:cNvPr id="40" name="Picture 39" descr="lock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831455" y="1771650"/>
            <a:ext cx="183356" cy="266700"/>
          </a:xfrm>
          <a:prstGeom prst="rect">
            <a:avLst/>
          </a:prstGeom>
        </p:spPr>
      </p:pic>
      <p:pic>
        <p:nvPicPr>
          <p:cNvPr id="41" name="Picture 40" descr="lock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841355" y="1771650"/>
            <a:ext cx="183356" cy="266700"/>
          </a:xfrm>
          <a:prstGeom prst="rect">
            <a:avLst/>
          </a:prstGeom>
        </p:spPr>
      </p:pic>
      <p:pic>
        <p:nvPicPr>
          <p:cNvPr id="42" name="Picture 41" descr="lock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811655" y="3695700"/>
            <a:ext cx="183356" cy="266700"/>
          </a:xfrm>
          <a:prstGeom prst="rect">
            <a:avLst/>
          </a:prstGeom>
        </p:spPr>
      </p:pic>
      <p:sp>
        <p:nvSpPr>
          <p:cNvPr id="43" name="lockshield_12"/>
          <p:cNvSpPr/>
          <p:nvPr/>
        </p:nvSpPr>
        <p:spPr>
          <a:xfrm>
            <a:off x="238125" y="1266825"/>
            <a:ext cx="2667000" cy="1447800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lockshield_15"/>
          <p:cNvSpPr/>
          <p:nvPr/>
        </p:nvSpPr>
        <p:spPr>
          <a:xfrm>
            <a:off x="3248025" y="1266825"/>
            <a:ext cx="2667000" cy="1447800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lockshield_18"/>
          <p:cNvSpPr/>
          <p:nvPr/>
        </p:nvSpPr>
        <p:spPr>
          <a:xfrm>
            <a:off x="6257925" y="1266825"/>
            <a:ext cx="2667000" cy="1447800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lockshield_21"/>
          <p:cNvSpPr/>
          <p:nvPr/>
        </p:nvSpPr>
        <p:spPr>
          <a:xfrm>
            <a:off x="9267825" y="1266825"/>
            <a:ext cx="2667000" cy="1447800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lockshield_24"/>
          <p:cNvSpPr/>
          <p:nvPr/>
        </p:nvSpPr>
        <p:spPr>
          <a:xfrm>
            <a:off x="238125" y="3190875"/>
            <a:ext cx="2667000" cy="1447800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lockshield_27"/>
          <p:cNvSpPr/>
          <p:nvPr/>
        </p:nvSpPr>
        <p:spPr>
          <a:xfrm>
            <a:off x="3248025" y="3190875"/>
            <a:ext cx="2667000" cy="1447800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lockshield_30"/>
          <p:cNvSpPr/>
          <p:nvPr/>
        </p:nvSpPr>
        <p:spPr>
          <a:xfrm>
            <a:off x="6257925" y="3362325"/>
            <a:ext cx="2667000" cy="1276350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lockshield_33"/>
          <p:cNvSpPr/>
          <p:nvPr/>
        </p:nvSpPr>
        <p:spPr>
          <a:xfrm>
            <a:off x="9267825" y="3362325"/>
            <a:ext cx="2667000" cy="1276350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lockshield_36"/>
          <p:cNvSpPr/>
          <p:nvPr/>
        </p:nvSpPr>
        <p:spPr>
          <a:xfrm>
            <a:off x="238125" y="5286375"/>
            <a:ext cx="2781300" cy="1276350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3825" y="914400"/>
            <a:ext cx="3943350" cy="28575"/>
          </a:xfrm>
          <a:prstGeom prst="rect">
            <a:avLst/>
          </a:prstGeom>
          <a:solidFill>
            <a:srgbClr val="0081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24325" y="914400"/>
            <a:ext cx="3943350" cy="28575"/>
          </a:xfrm>
          <a:prstGeom prst="rect">
            <a:avLst/>
          </a:prstGeom>
          <a:solidFill>
            <a:srgbClr val="9E7E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124825" y="914400"/>
            <a:ext cx="3943350" cy="28575"/>
          </a:xfrm>
          <a:prstGeom prst="rect">
            <a:avLst/>
          </a:prstGeom>
          <a:solidFill>
            <a:srgbClr val="403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mi_logo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25" y="-205740"/>
            <a:ext cx="1307592" cy="13258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543050" y="19050"/>
            <a:ext cx="10506075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U.S. Packaged Muffins Market Key Segments Overview, By Value (2026) (3/3)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43050" y="647700"/>
            <a:ext cx="10506075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Overview of U.S.'s key segments by value, highlighting the leading sub-segment of every segmentation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42875" y="981075"/>
            <a:ext cx="11906250" cy="5648325"/>
          </a:xfrm>
          <a:prstGeom prst="roundRect">
            <a:avLst>
              <a:gd name="adj" fmla="val 1349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6225" y="1066800"/>
            <a:ext cx="1163955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/>
            <a:r>
              <a:rPr sz="1300" b="1">
                <a:solidFill>
                  <a:srgbClr val="0B2E4A"/>
                </a:solidFill>
                <a:latin typeface="Calibri"/>
              </a:rPr>
              <a:t/>
            </a:r>
          </a:p>
        </p:txBody>
      </p:sp>
      <p:sp>
        <p:nvSpPr>
          <p:cNvPr id="12" name="Rectangle 11"/>
          <p:cNvSpPr/>
          <p:nvPr/>
        </p:nvSpPr>
        <p:spPr>
          <a:xfrm>
            <a:off x="276225" y="1304925"/>
            <a:ext cx="11639550" cy="19050"/>
          </a:xfrm>
          <a:prstGeom prst="rect">
            <a:avLst/>
          </a:prstGeom>
          <a:solidFill>
            <a:srgbClr val="0E72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6225" y="1390650"/>
            <a:ext cx="11639550" cy="5162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E72AE"/>
                </a:solidFill>
                <a:latin typeface="Calibri"/>
              </a:rPr>
              <a:t/>
            </a: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E72AE"/>
                </a:solidFill>
                <a:latin typeface="Calibri"/>
              </a:rPr>
              <a:t/>
            </a: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E72AE"/>
                </a:solidFill>
                <a:latin typeface="Calibri"/>
              </a:rPr>
              <a:t/>
            </a: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E72AE"/>
                </a:solidFill>
                <a:latin typeface="Calibri"/>
              </a:rPr>
              <a:t/>
            </a: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E72AE"/>
                </a:solidFill>
                <a:latin typeface="Calibri"/>
              </a:rPr>
              <a:t/>
            </a: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E72AE"/>
                </a:solidFill>
                <a:latin typeface="Calibri"/>
              </a:rPr>
              <a:t/>
            </a: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E72AE"/>
                </a:solidFill>
                <a:latin typeface="Calibri"/>
              </a:rPr>
              <a:t/>
            </a: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E72AE"/>
                </a:solidFill>
                <a:latin typeface="Calibri"/>
              </a:rPr>
              <a:t/>
            </a: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E72AE"/>
                </a:solidFill>
                <a:latin typeface="Calibri"/>
              </a:rPr>
              <a:t/>
            </a: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E72AE"/>
                </a:solidFill>
                <a:latin typeface="Calibri"/>
              </a:rPr>
              <a:t/>
            </a: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E72AE"/>
                </a:solidFill>
                <a:latin typeface="Calibri"/>
              </a:rPr>
              <a:t/>
            </a: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E72AE"/>
                </a:solidFill>
                <a:latin typeface="Calibri"/>
              </a:rPr>
              <a:t/>
            </a: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E72AE"/>
                </a:solidFill>
                <a:latin typeface="Calibri"/>
              </a:rPr>
              <a:t/>
            </a: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E72AE"/>
                </a:solidFill>
                <a:latin typeface="Calibri"/>
              </a:rPr>
              <a:t/>
            </a: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E72AE"/>
                </a:solidFill>
                <a:latin typeface="Calibri"/>
              </a:rPr>
              <a:t/>
            </a: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E72AE"/>
                </a:solidFill>
                <a:latin typeface="Calibri"/>
              </a:rPr>
              <a:t/>
            </a: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E72AE"/>
                </a:solidFill>
                <a:latin typeface="Calibri"/>
              </a:rPr>
              <a:t/>
            </a: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E72AE"/>
                </a:solidFill>
                <a:latin typeface="Calibri"/>
              </a:rPr>
              <a:t/>
            </a: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E72AE"/>
                </a:solidFill>
                <a:latin typeface="Calibri"/>
              </a:rPr>
              <a:t/>
            </a: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E72AE"/>
                </a:solidFill>
                <a:latin typeface="Calibri"/>
              </a:rPr>
              <a:t/>
            </a: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E72AE"/>
                </a:solidFill>
                <a:latin typeface="Calibri"/>
              </a:rPr>
              <a:t/>
            </a: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E72AE"/>
                </a:solidFill>
                <a:latin typeface="Calibri"/>
              </a:rPr>
              <a:t/>
            </a: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58595B"/>
                </a:solidFill>
                <a:latin typeface="Calibri"/>
              </a:rPr>
              <a:t>©2026 Future Market Insights, All Rights Reserved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6225" y="1076325"/>
            <a:ext cx="1468037" cy="1616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935" b="1">
                <a:solidFill>
                  <a:srgbClr val="0B2E4A"/>
                </a:solidFill>
                <a:latin typeface="Calibri"/>
              </a:rPr>
              <a:t>Key Takeaways · 2026 Total:</a:t>
            </a:r>
          </a:p>
        </p:txBody>
      </p:sp>
      <p:pic>
        <p:nvPicPr>
          <p:cNvPr id="16" name="Picture 15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88698" y="1068003"/>
            <a:ext cx="109510" cy="159288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831222" y="1076325"/>
            <a:ext cx="465087" cy="1616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935" b="1">
                <a:solidFill>
                  <a:srgbClr val="0B2E4A"/>
                </a:solidFill>
                <a:latin typeface="Calibri"/>
              </a:rPr>
              <a:t>US$ Mn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6225" y="1400175"/>
            <a:ext cx="2496099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▪ By Product Type, 'Sweet muffins' leads at</a:t>
            </a:r>
          </a:p>
        </p:txBody>
      </p:sp>
      <p:pic>
        <p:nvPicPr>
          <p:cNvPr id="19" name="Picture 18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20375" y="1390396"/>
            <a:ext cx="128699" cy="18719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887871" y="1400175"/>
            <a:ext cx="599529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US$ Mn (</a:t>
            </a:r>
          </a:p>
        </p:txBody>
      </p:sp>
      <p:pic>
        <p:nvPicPr>
          <p:cNvPr id="21" name="Picture 20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35452" y="1390396"/>
            <a:ext cx="128699" cy="187198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3602948" y="1400175"/>
            <a:ext cx="2078657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share), ahead of 'Savoury muffins' (</a:t>
            </a:r>
          </a:p>
        </p:txBody>
      </p:sp>
      <p:pic>
        <p:nvPicPr>
          <p:cNvPr id="23" name="Picture 22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29657" y="1390396"/>
            <a:ext cx="128699" cy="187198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5797153" y="1400175"/>
            <a:ext cx="603076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US$ Mn).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6225" y="1618107"/>
            <a:ext cx="2680546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▪ By Flavour, 'Sweet Muffins Flavours' leads at</a:t>
            </a:r>
          </a:p>
        </p:txBody>
      </p:sp>
      <p:pic>
        <p:nvPicPr>
          <p:cNvPr id="26" name="Picture 25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04823" y="1608328"/>
            <a:ext cx="128699" cy="18719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3072319" y="1618107"/>
            <a:ext cx="599529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US$ Mn (</a:t>
            </a:r>
          </a:p>
        </p:txBody>
      </p:sp>
      <p:pic>
        <p:nvPicPr>
          <p:cNvPr id="28" name="Picture 27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19900" y="1608328"/>
            <a:ext cx="128699" cy="187198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3787395" y="1618107"/>
            <a:ext cx="2594892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share), ahead of 'Savoury Muffins Flavours' (</a:t>
            </a:r>
          </a:p>
        </p:txBody>
      </p:sp>
      <p:pic>
        <p:nvPicPr>
          <p:cNvPr id="30" name="Picture 29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0340" y="1608328"/>
            <a:ext cx="128699" cy="187198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6497836" y="1618107"/>
            <a:ext cx="603076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US$ Mn).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76225" y="1836039"/>
            <a:ext cx="2583684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▪ By Primary Flour Base, 'Oat-based' leads at</a:t>
            </a:r>
          </a:p>
        </p:txBody>
      </p:sp>
      <p:pic>
        <p:nvPicPr>
          <p:cNvPr id="33" name="Picture 32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07961" y="1826260"/>
            <a:ext cx="128699" cy="18719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975456" y="1836039"/>
            <a:ext cx="599529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US$ Mn (</a:t>
            </a:r>
          </a:p>
        </p:txBody>
      </p:sp>
      <p:pic>
        <p:nvPicPr>
          <p:cNvPr id="35" name="Picture 34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23037" y="1826260"/>
            <a:ext cx="128699" cy="187198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3690533" y="1836039"/>
            <a:ext cx="1925315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share), ahead of 'Wheat-based' (</a:t>
            </a:r>
          </a:p>
        </p:txBody>
      </p:sp>
      <p:pic>
        <p:nvPicPr>
          <p:cNvPr id="37" name="Picture 36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63900" y="1826260"/>
            <a:ext cx="128699" cy="187198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5731396" y="1836039"/>
            <a:ext cx="603076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US$ Mn).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76225" y="2053970"/>
            <a:ext cx="2729357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▪ By Dietary Formulation, 'Gluten-free' leads at</a:t>
            </a:r>
          </a:p>
        </p:txBody>
      </p:sp>
      <p:pic>
        <p:nvPicPr>
          <p:cNvPr id="40" name="Picture 39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53634" y="2044192"/>
            <a:ext cx="128699" cy="187198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3121129" y="2053970"/>
            <a:ext cx="599529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US$ Mn (</a:t>
            </a:r>
          </a:p>
        </p:txBody>
      </p:sp>
      <p:pic>
        <p:nvPicPr>
          <p:cNvPr id="42" name="Picture 41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68710" y="2044192"/>
            <a:ext cx="128699" cy="187198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3836206" y="2053970"/>
            <a:ext cx="2436093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share), ahead of 'Gluten-free and vegan' (</a:t>
            </a:r>
          </a:p>
        </p:txBody>
      </p:sp>
      <p:pic>
        <p:nvPicPr>
          <p:cNvPr id="44" name="Picture 43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20351" y="2044192"/>
            <a:ext cx="128699" cy="187198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6387847" y="2053970"/>
            <a:ext cx="603076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US$ Mn).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76225" y="2271903"/>
            <a:ext cx="3168405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▪ By Nutritional Positioning, 'Protein-enriched' leads at</a:t>
            </a:r>
          </a:p>
        </p:txBody>
      </p:sp>
      <p:pic>
        <p:nvPicPr>
          <p:cNvPr id="47" name="Picture 46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92682" y="2262124"/>
            <a:ext cx="128699" cy="187198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3560177" y="2271903"/>
            <a:ext cx="599529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US$ Mn (</a:t>
            </a:r>
          </a:p>
        </p:txBody>
      </p:sp>
      <p:pic>
        <p:nvPicPr>
          <p:cNvPr id="49" name="Picture 48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07758" y="2262124"/>
            <a:ext cx="128699" cy="187198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4275254" y="2271903"/>
            <a:ext cx="2334865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share), ahead of 'Standard / indulgent' (</a:t>
            </a:r>
          </a:p>
        </p:txBody>
      </p:sp>
      <p:pic>
        <p:nvPicPr>
          <p:cNvPr id="51" name="Picture 50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8171" y="2262124"/>
            <a:ext cx="128699" cy="187198"/>
          </a:xfrm>
          <a:prstGeom prst="rect">
            <a:avLst/>
          </a:prstGeom>
        </p:spPr>
      </p:pic>
      <p:sp>
        <p:nvSpPr>
          <p:cNvPr id="52" name="TextBox 51"/>
          <p:cNvSpPr txBox="1"/>
          <p:nvPr/>
        </p:nvSpPr>
        <p:spPr>
          <a:xfrm>
            <a:off x="6725667" y="2271903"/>
            <a:ext cx="603076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US$ Mn).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76225" y="2489835"/>
            <a:ext cx="4025705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▪ By Recipe and Ingredient Claims, 'Additional claim mapping' leads at</a:t>
            </a:r>
          </a:p>
        </p:txBody>
      </p:sp>
      <p:pic>
        <p:nvPicPr>
          <p:cNvPr id="54" name="Picture 53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49981" y="2480056"/>
            <a:ext cx="128699" cy="187198"/>
          </a:xfrm>
          <a:prstGeom prst="rect">
            <a:avLst/>
          </a:prstGeom>
        </p:spPr>
      </p:pic>
      <p:sp>
        <p:nvSpPr>
          <p:cNvPr id="55" name="TextBox 54"/>
          <p:cNvSpPr txBox="1"/>
          <p:nvPr/>
        </p:nvSpPr>
        <p:spPr>
          <a:xfrm>
            <a:off x="4417477" y="2489835"/>
            <a:ext cx="599529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US$ Mn (</a:t>
            </a:r>
          </a:p>
        </p:txBody>
      </p:sp>
      <p:pic>
        <p:nvPicPr>
          <p:cNvPr id="56" name="Picture 55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65058" y="2480056"/>
            <a:ext cx="128699" cy="187198"/>
          </a:xfrm>
          <a:prstGeom prst="rect">
            <a:avLst/>
          </a:prstGeom>
        </p:spPr>
      </p:pic>
      <p:sp>
        <p:nvSpPr>
          <p:cNvPr id="57" name="TextBox 56"/>
          <p:cNvSpPr txBox="1"/>
          <p:nvPr/>
        </p:nvSpPr>
        <p:spPr>
          <a:xfrm>
            <a:off x="5132554" y="2489835"/>
            <a:ext cx="2119585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share), ahead of 'Organic-certified' (</a:t>
            </a:r>
          </a:p>
        </p:txBody>
      </p:sp>
      <p:pic>
        <p:nvPicPr>
          <p:cNvPr id="58" name="Picture 57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00191" y="2480056"/>
            <a:ext cx="128699" cy="187198"/>
          </a:xfrm>
          <a:prstGeom prst="rect">
            <a:avLst/>
          </a:prstGeom>
        </p:spPr>
      </p:pic>
      <p:sp>
        <p:nvSpPr>
          <p:cNvPr id="59" name="TextBox 58"/>
          <p:cNvSpPr txBox="1"/>
          <p:nvPr/>
        </p:nvSpPr>
        <p:spPr>
          <a:xfrm>
            <a:off x="7367686" y="2489835"/>
            <a:ext cx="603076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US$ Mn).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76225" y="2707766"/>
            <a:ext cx="2706467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▪ By Product Structure, 'Filled muffins' leads at</a:t>
            </a:r>
          </a:p>
        </p:txBody>
      </p:sp>
      <p:pic>
        <p:nvPicPr>
          <p:cNvPr id="61" name="Picture 60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30744" y="2697988"/>
            <a:ext cx="128699" cy="187198"/>
          </a:xfrm>
          <a:prstGeom prst="rect">
            <a:avLst/>
          </a:prstGeom>
        </p:spPr>
      </p:pic>
      <p:sp>
        <p:nvSpPr>
          <p:cNvPr id="62" name="TextBox 61"/>
          <p:cNvSpPr txBox="1"/>
          <p:nvPr/>
        </p:nvSpPr>
        <p:spPr>
          <a:xfrm>
            <a:off x="3098240" y="2707766"/>
            <a:ext cx="599529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US$ Mn (</a:t>
            </a:r>
          </a:p>
        </p:txBody>
      </p:sp>
      <p:pic>
        <p:nvPicPr>
          <p:cNvPr id="63" name="Picture 62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45821" y="2697988"/>
            <a:ext cx="128699" cy="187198"/>
          </a:xfrm>
          <a:prstGeom prst="rect">
            <a:avLst/>
          </a:prstGeom>
        </p:spPr>
      </p:pic>
      <p:sp>
        <p:nvSpPr>
          <p:cNvPr id="64" name="TextBox 63"/>
          <p:cNvSpPr txBox="1"/>
          <p:nvPr/>
        </p:nvSpPr>
        <p:spPr>
          <a:xfrm>
            <a:off x="3813316" y="2707766"/>
            <a:ext cx="2070744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share), ahead of 'Unfilled muffins' (</a:t>
            </a:r>
          </a:p>
        </p:txBody>
      </p:sp>
      <p:pic>
        <p:nvPicPr>
          <p:cNvPr id="65" name="Picture 64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32113" y="2697988"/>
            <a:ext cx="128699" cy="187198"/>
          </a:xfrm>
          <a:prstGeom prst="rect">
            <a:avLst/>
          </a:prstGeom>
        </p:spPr>
      </p:pic>
      <p:sp>
        <p:nvSpPr>
          <p:cNvPr id="66" name="TextBox 65"/>
          <p:cNvSpPr txBox="1"/>
          <p:nvPr/>
        </p:nvSpPr>
        <p:spPr>
          <a:xfrm>
            <a:off x="5999609" y="2707766"/>
            <a:ext cx="603076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US$ Mn).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276225" y="2925698"/>
            <a:ext cx="2658718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▪ By Surface Finish, 'Glazed / drizzled' leads at</a:t>
            </a:r>
          </a:p>
        </p:txBody>
      </p:sp>
      <p:pic>
        <p:nvPicPr>
          <p:cNvPr id="68" name="Picture 67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82995" y="2915920"/>
            <a:ext cx="128699" cy="187198"/>
          </a:xfrm>
          <a:prstGeom prst="rect">
            <a:avLst/>
          </a:prstGeom>
        </p:spPr>
      </p:pic>
      <p:sp>
        <p:nvSpPr>
          <p:cNvPr id="69" name="TextBox 68"/>
          <p:cNvSpPr txBox="1"/>
          <p:nvPr/>
        </p:nvSpPr>
        <p:spPr>
          <a:xfrm>
            <a:off x="3050491" y="2925698"/>
            <a:ext cx="599529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US$ Mn (</a:t>
            </a:r>
          </a:p>
        </p:txBody>
      </p:sp>
      <p:pic>
        <p:nvPicPr>
          <p:cNvPr id="70" name="Picture 69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98072" y="2915920"/>
            <a:ext cx="128699" cy="187198"/>
          </a:xfrm>
          <a:prstGeom prst="rect">
            <a:avLst/>
          </a:prstGeom>
        </p:spPr>
      </p:pic>
      <p:sp>
        <p:nvSpPr>
          <p:cNvPr id="71" name="TextBox 70"/>
          <p:cNvSpPr txBox="1"/>
          <p:nvPr/>
        </p:nvSpPr>
        <p:spPr>
          <a:xfrm>
            <a:off x="3765567" y="2925698"/>
            <a:ext cx="2371427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share), ahead of 'Nut and seed-topped' (</a:t>
            </a:r>
          </a:p>
        </p:txBody>
      </p:sp>
      <p:pic>
        <p:nvPicPr>
          <p:cNvPr id="72" name="Picture 71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85046" y="2915920"/>
            <a:ext cx="128699" cy="187198"/>
          </a:xfrm>
          <a:prstGeom prst="rect">
            <a:avLst/>
          </a:prstGeom>
        </p:spPr>
      </p:pic>
      <p:sp>
        <p:nvSpPr>
          <p:cNvPr id="73" name="TextBox 72"/>
          <p:cNvSpPr txBox="1"/>
          <p:nvPr/>
        </p:nvSpPr>
        <p:spPr>
          <a:xfrm>
            <a:off x="6252542" y="2925698"/>
            <a:ext cx="603076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US$ Mn).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276225" y="3143630"/>
            <a:ext cx="3887096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▪ By Individual Muffin Size, 'Standard - 60 g to below 100 g' leads at</a:t>
            </a:r>
          </a:p>
        </p:txBody>
      </p:sp>
      <p:pic>
        <p:nvPicPr>
          <p:cNvPr id="75" name="Picture 74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1373" y="3133852"/>
            <a:ext cx="128699" cy="187198"/>
          </a:xfrm>
          <a:prstGeom prst="rect">
            <a:avLst/>
          </a:prstGeom>
        </p:spPr>
      </p:pic>
      <p:sp>
        <p:nvSpPr>
          <p:cNvPr id="76" name="TextBox 75"/>
          <p:cNvSpPr txBox="1"/>
          <p:nvPr/>
        </p:nvSpPr>
        <p:spPr>
          <a:xfrm>
            <a:off x="4278868" y="3143630"/>
            <a:ext cx="599529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US$ Mn (</a:t>
            </a:r>
          </a:p>
        </p:txBody>
      </p:sp>
      <p:pic>
        <p:nvPicPr>
          <p:cNvPr id="77" name="Picture 76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6449" y="3133852"/>
            <a:ext cx="128699" cy="187198"/>
          </a:xfrm>
          <a:prstGeom prst="rect">
            <a:avLst/>
          </a:prstGeom>
        </p:spPr>
      </p:pic>
      <p:sp>
        <p:nvSpPr>
          <p:cNvPr id="78" name="TextBox 77"/>
          <p:cNvSpPr txBox="1"/>
          <p:nvPr/>
        </p:nvSpPr>
        <p:spPr>
          <a:xfrm>
            <a:off x="4993945" y="3143630"/>
            <a:ext cx="2619449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share), ahead of 'Small - 30 g to below 60 g' (</a:t>
            </a:r>
          </a:p>
        </p:txBody>
      </p:sp>
      <p:pic>
        <p:nvPicPr>
          <p:cNvPr id="79" name="Picture 78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61446" y="3133852"/>
            <a:ext cx="128699" cy="187198"/>
          </a:xfrm>
          <a:prstGeom prst="rect">
            <a:avLst/>
          </a:prstGeom>
        </p:spPr>
      </p:pic>
      <p:sp>
        <p:nvSpPr>
          <p:cNvPr id="80" name="TextBox 79"/>
          <p:cNvSpPr txBox="1"/>
          <p:nvPr/>
        </p:nvSpPr>
        <p:spPr>
          <a:xfrm>
            <a:off x="7728942" y="3143630"/>
            <a:ext cx="603076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US$ Mn).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276225" y="3361562"/>
            <a:ext cx="2194295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▪ By Storage Format, 'Frozen' leads at</a:t>
            </a:r>
          </a:p>
        </p:txBody>
      </p:sp>
      <p:pic>
        <p:nvPicPr>
          <p:cNvPr id="82" name="Picture 81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18572" y="3351784"/>
            <a:ext cx="128699" cy="187198"/>
          </a:xfrm>
          <a:prstGeom prst="rect">
            <a:avLst/>
          </a:prstGeom>
        </p:spPr>
      </p:pic>
      <p:sp>
        <p:nvSpPr>
          <p:cNvPr id="83" name="TextBox 82"/>
          <p:cNvSpPr txBox="1"/>
          <p:nvPr/>
        </p:nvSpPr>
        <p:spPr>
          <a:xfrm>
            <a:off x="2586067" y="3361562"/>
            <a:ext cx="599529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US$ Mn (</a:t>
            </a:r>
          </a:p>
        </p:txBody>
      </p:sp>
      <p:pic>
        <p:nvPicPr>
          <p:cNvPr id="84" name="Picture 83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33648" y="3351784"/>
            <a:ext cx="128699" cy="187198"/>
          </a:xfrm>
          <a:prstGeom prst="rect">
            <a:avLst/>
          </a:prstGeom>
        </p:spPr>
      </p:pic>
      <p:sp>
        <p:nvSpPr>
          <p:cNvPr id="85" name="TextBox 84"/>
          <p:cNvSpPr txBox="1"/>
          <p:nvPr/>
        </p:nvSpPr>
        <p:spPr>
          <a:xfrm>
            <a:off x="3301144" y="3361562"/>
            <a:ext cx="1550962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share), ahead of 'Chilled' (</a:t>
            </a:r>
          </a:p>
        </p:txBody>
      </p:sp>
      <p:pic>
        <p:nvPicPr>
          <p:cNvPr id="86" name="Picture 85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0158" y="3351784"/>
            <a:ext cx="128699" cy="187198"/>
          </a:xfrm>
          <a:prstGeom prst="rect">
            <a:avLst/>
          </a:prstGeom>
        </p:spPr>
      </p:pic>
      <p:sp>
        <p:nvSpPr>
          <p:cNvPr id="87" name="TextBox 86"/>
          <p:cNvSpPr txBox="1"/>
          <p:nvPr/>
        </p:nvSpPr>
        <p:spPr>
          <a:xfrm>
            <a:off x="4967654" y="3361562"/>
            <a:ext cx="603076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US$ Mn).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276225" y="3579494"/>
            <a:ext cx="2154489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▪ By Shelf Life, 'Up to 7 days' leads at</a:t>
            </a:r>
          </a:p>
        </p:txBody>
      </p:sp>
      <p:pic>
        <p:nvPicPr>
          <p:cNvPr id="89" name="Picture 88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78765" y="3569716"/>
            <a:ext cx="128699" cy="187198"/>
          </a:xfrm>
          <a:prstGeom prst="rect">
            <a:avLst/>
          </a:prstGeom>
        </p:spPr>
      </p:pic>
      <p:sp>
        <p:nvSpPr>
          <p:cNvPr id="90" name="TextBox 89"/>
          <p:cNvSpPr txBox="1"/>
          <p:nvPr/>
        </p:nvSpPr>
        <p:spPr>
          <a:xfrm>
            <a:off x="2546261" y="3579494"/>
            <a:ext cx="599529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US$ Mn (</a:t>
            </a:r>
          </a:p>
        </p:txBody>
      </p:sp>
      <p:pic>
        <p:nvPicPr>
          <p:cNvPr id="91" name="Picture 90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93842" y="3569716"/>
            <a:ext cx="128699" cy="187198"/>
          </a:xfrm>
          <a:prstGeom prst="rect">
            <a:avLst/>
          </a:prstGeom>
        </p:spPr>
      </p:pic>
      <p:sp>
        <p:nvSpPr>
          <p:cNvPr id="92" name="TextBox 91"/>
          <p:cNvSpPr txBox="1"/>
          <p:nvPr/>
        </p:nvSpPr>
        <p:spPr>
          <a:xfrm>
            <a:off x="3261338" y="3579494"/>
            <a:ext cx="1708943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share), ahead of '8-30 days' (</a:t>
            </a:r>
          </a:p>
        </p:txBody>
      </p:sp>
      <p:pic>
        <p:nvPicPr>
          <p:cNvPr id="93" name="Picture 92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8333" y="3569716"/>
            <a:ext cx="128699" cy="187198"/>
          </a:xfrm>
          <a:prstGeom prst="rect">
            <a:avLst/>
          </a:prstGeom>
        </p:spPr>
      </p:pic>
      <p:sp>
        <p:nvSpPr>
          <p:cNvPr id="94" name="TextBox 93"/>
          <p:cNvSpPr txBox="1"/>
          <p:nvPr/>
        </p:nvSpPr>
        <p:spPr>
          <a:xfrm>
            <a:off x="5085829" y="3579494"/>
            <a:ext cx="603076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US$ Mn).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276225" y="3797426"/>
            <a:ext cx="2965374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▪ By Packaging Format, 'Rigid plastic packs' leads at</a:t>
            </a:r>
          </a:p>
        </p:txBody>
      </p:sp>
      <p:pic>
        <p:nvPicPr>
          <p:cNvPr id="96" name="Picture 95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89650" y="3787647"/>
            <a:ext cx="128699" cy="187198"/>
          </a:xfrm>
          <a:prstGeom prst="rect">
            <a:avLst/>
          </a:prstGeom>
        </p:spPr>
      </p:pic>
      <p:sp>
        <p:nvSpPr>
          <p:cNvPr id="97" name="TextBox 96"/>
          <p:cNvSpPr txBox="1"/>
          <p:nvPr/>
        </p:nvSpPr>
        <p:spPr>
          <a:xfrm>
            <a:off x="3357146" y="3797426"/>
            <a:ext cx="599529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US$ Mn (</a:t>
            </a:r>
          </a:p>
        </p:txBody>
      </p:sp>
      <p:pic>
        <p:nvPicPr>
          <p:cNvPr id="98" name="Picture 97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04727" y="3787647"/>
            <a:ext cx="128699" cy="187198"/>
          </a:xfrm>
          <a:prstGeom prst="rect">
            <a:avLst/>
          </a:prstGeom>
        </p:spPr>
      </p:pic>
      <p:sp>
        <p:nvSpPr>
          <p:cNvPr id="99" name="TextBox 98"/>
          <p:cNvSpPr txBox="1"/>
          <p:nvPr/>
        </p:nvSpPr>
        <p:spPr>
          <a:xfrm>
            <a:off x="4072223" y="3797426"/>
            <a:ext cx="2179885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share), ahead of 'Paperboard packs' (</a:t>
            </a:r>
          </a:p>
        </p:txBody>
      </p:sp>
      <p:pic>
        <p:nvPicPr>
          <p:cNvPr id="100" name="Picture 99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00160" y="3787647"/>
            <a:ext cx="128699" cy="187198"/>
          </a:xfrm>
          <a:prstGeom prst="rect">
            <a:avLst/>
          </a:prstGeom>
        </p:spPr>
      </p:pic>
      <p:sp>
        <p:nvSpPr>
          <p:cNvPr id="101" name="TextBox 100"/>
          <p:cNvSpPr txBox="1"/>
          <p:nvPr/>
        </p:nvSpPr>
        <p:spPr>
          <a:xfrm>
            <a:off x="6367656" y="3797426"/>
            <a:ext cx="603076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US$ Mn).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276225" y="4015358"/>
            <a:ext cx="2622975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▪ By Pack Configuration, 'Multipacks' leads at</a:t>
            </a:r>
          </a:p>
        </p:txBody>
      </p:sp>
      <p:pic>
        <p:nvPicPr>
          <p:cNvPr id="103" name="Picture 102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47251" y="4005579"/>
            <a:ext cx="128699" cy="187198"/>
          </a:xfrm>
          <a:prstGeom prst="rect">
            <a:avLst/>
          </a:prstGeom>
        </p:spPr>
      </p:pic>
      <p:sp>
        <p:nvSpPr>
          <p:cNvPr id="104" name="TextBox 103"/>
          <p:cNvSpPr txBox="1"/>
          <p:nvPr/>
        </p:nvSpPr>
        <p:spPr>
          <a:xfrm>
            <a:off x="3014747" y="4015358"/>
            <a:ext cx="599529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US$ Mn (</a:t>
            </a:r>
          </a:p>
        </p:txBody>
      </p:sp>
      <p:pic>
        <p:nvPicPr>
          <p:cNvPr id="105" name="Picture 104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62328" y="4005579"/>
            <a:ext cx="128699" cy="187198"/>
          </a:xfrm>
          <a:prstGeom prst="rect">
            <a:avLst/>
          </a:prstGeom>
        </p:spPr>
      </p:pic>
      <p:sp>
        <p:nvSpPr>
          <p:cNvPr id="106" name="TextBox 105"/>
          <p:cNvSpPr txBox="1"/>
          <p:nvPr/>
        </p:nvSpPr>
        <p:spPr>
          <a:xfrm>
            <a:off x="3729824" y="4015358"/>
            <a:ext cx="2268562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share), ahead of 'Single-muffin packs' (</a:t>
            </a:r>
          </a:p>
        </p:txBody>
      </p:sp>
      <p:pic>
        <p:nvPicPr>
          <p:cNvPr id="107" name="Picture 106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6438" y="4005579"/>
            <a:ext cx="128699" cy="187198"/>
          </a:xfrm>
          <a:prstGeom prst="rect">
            <a:avLst/>
          </a:prstGeom>
        </p:spPr>
      </p:pic>
      <p:sp>
        <p:nvSpPr>
          <p:cNvPr id="108" name="TextBox 107"/>
          <p:cNvSpPr txBox="1"/>
          <p:nvPr/>
        </p:nvSpPr>
        <p:spPr>
          <a:xfrm>
            <a:off x="6113934" y="4015358"/>
            <a:ext cx="603076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US$ Mn).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276225" y="4233290"/>
            <a:ext cx="4937302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▪ By Multipack Wrapping, 'Individually wrapped muffins within an outer pack' leads at</a:t>
            </a:r>
          </a:p>
        </p:txBody>
      </p:sp>
      <p:pic>
        <p:nvPicPr>
          <p:cNvPr id="110" name="Picture 109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61578" y="4223512"/>
            <a:ext cx="128699" cy="187198"/>
          </a:xfrm>
          <a:prstGeom prst="rect">
            <a:avLst/>
          </a:prstGeom>
        </p:spPr>
      </p:pic>
      <p:sp>
        <p:nvSpPr>
          <p:cNvPr id="111" name="TextBox 110"/>
          <p:cNvSpPr txBox="1"/>
          <p:nvPr/>
        </p:nvSpPr>
        <p:spPr>
          <a:xfrm>
            <a:off x="5329074" y="4233290"/>
            <a:ext cx="599529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US$ Mn (</a:t>
            </a:r>
          </a:p>
        </p:txBody>
      </p:sp>
      <p:pic>
        <p:nvPicPr>
          <p:cNvPr id="112" name="Picture 111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76655" y="4223512"/>
            <a:ext cx="128699" cy="187198"/>
          </a:xfrm>
          <a:prstGeom prst="rect">
            <a:avLst/>
          </a:prstGeom>
        </p:spPr>
      </p:pic>
      <p:sp>
        <p:nvSpPr>
          <p:cNvPr id="113" name="TextBox 112"/>
          <p:cNvSpPr txBox="1"/>
          <p:nvPr/>
        </p:nvSpPr>
        <p:spPr>
          <a:xfrm>
            <a:off x="6044151" y="4233290"/>
            <a:ext cx="3481660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share), ahead of 'Shared pack without individual wrapping' (</a:t>
            </a:r>
          </a:p>
        </p:txBody>
      </p:sp>
      <p:pic>
        <p:nvPicPr>
          <p:cNvPr id="114" name="Picture 113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3863" y="4223512"/>
            <a:ext cx="128699" cy="187198"/>
          </a:xfrm>
          <a:prstGeom prst="rect">
            <a:avLst/>
          </a:prstGeom>
        </p:spPr>
      </p:pic>
      <p:sp>
        <p:nvSpPr>
          <p:cNvPr id="115" name="TextBox 114"/>
          <p:cNvSpPr txBox="1"/>
          <p:nvPr/>
        </p:nvSpPr>
        <p:spPr>
          <a:xfrm>
            <a:off x="9641359" y="4233290"/>
            <a:ext cx="603076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US$ Mn).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276225" y="4451222"/>
            <a:ext cx="2393779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▪ By Price Positioning, 'Premium' leads at</a:t>
            </a:r>
          </a:p>
        </p:txBody>
      </p:sp>
      <p:pic>
        <p:nvPicPr>
          <p:cNvPr id="117" name="Picture 116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18056" y="4441444"/>
            <a:ext cx="128699" cy="187198"/>
          </a:xfrm>
          <a:prstGeom prst="rect">
            <a:avLst/>
          </a:prstGeom>
        </p:spPr>
      </p:pic>
      <p:sp>
        <p:nvSpPr>
          <p:cNvPr id="118" name="TextBox 117"/>
          <p:cNvSpPr txBox="1"/>
          <p:nvPr/>
        </p:nvSpPr>
        <p:spPr>
          <a:xfrm>
            <a:off x="2785552" y="4451222"/>
            <a:ext cx="599529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US$ Mn (</a:t>
            </a:r>
          </a:p>
        </p:txBody>
      </p:sp>
      <p:pic>
        <p:nvPicPr>
          <p:cNvPr id="119" name="Picture 118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33133" y="4441444"/>
            <a:ext cx="128699" cy="187198"/>
          </a:xfrm>
          <a:prstGeom prst="rect">
            <a:avLst/>
          </a:prstGeom>
        </p:spPr>
      </p:pic>
      <p:sp>
        <p:nvSpPr>
          <p:cNvPr id="120" name="TextBox 119"/>
          <p:cNvSpPr txBox="1"/>
          <p:nvPr/>
        </p:nvSpPr>
        <p:spPr>
          <a:xfrm>
            <a:off x="3500628" y="4451222"/>
            <a:ext cx="1755874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share), ahead of 'Mid-range' (</a:t>
            </a:r>
          </a:p>
        </p:txBody>
      </p:sp>
      <p:pic>
        <p:nvPicPr>
          <p:cNvPr id="121" name="Picture 120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04554" y="4441444"/>
            <a:ext cx="128699" cy="187198"/>
          </a:xfrm>
          <a:prstGeom prst="rect">
            <a:avLst/>
          </a:prstGeom>
        </p:spPr>
      </p:pic>
      <p:sp>
        <p:nvSpPr>
          <p:cNvPr id="122" name="TextBox 121"/>
          <p:cNvSpPr txBox="1"/>
          <p:nvPr/>
        </p:nvSpPr>
        <p:spPr>
          <a:xfrm>
            <a:off x="5372050" y="4451222"/>
            <a:ext cx="603076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US$ Mn).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276225" y="4669154"/>
            <a:ext cx="3153125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▪ By Brand Ownership, 'Retailer private labels' leads at</a:t>
            </a:r>
          </a:p>
        </p:txBody>
      </p:sp>
      <p:pic>
        <p:nvPicPr>
          <p:cNvPr id="124" name="Picture 123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77402" y="4659376"/>
            <a:ext cx="128699" cy="187198"/>
          </a:xfrm>
          <a:prstGeom prst="rect">
            <a:avLst/>
          </a:prstGeom>
        </p:spPr>
      </p:pic>
      <p:sp>
        <p:nvSpPr>
          <p:cNvPr id="125" name="TextBox 124"/>
          <p:cNvSpPr txBox="1"/>
          <p:nvPr/>
        </p:nvSpPr>
        <p:spPr>
          <a:xfrm>
            <a:off x="3544898" y="4669154"/>
            <a:ext cx="599529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US$ Mn (</a:t>
            </a:r>
          </a:p>
        </p:txBody>
      </p:sp>
      <p:pic>
        <p:nvPicPr>
          <p:cNvPr id="126" name="Picture 125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92479" y="4659376"/>
            <a:ext cx="128699" cy="187198"/>
          </a:xfrm>
          <a:prstGeom prst="rect">
            <a:avLst/>
          </a:prstGeom>
        </p:spPr>
      </p:pic>
      <p:sp>
        <p:nvSpPr>
          <p:cNvPr id="127" name="TextBox 126"/>
          <p:cNvSpPr txBox="1"/>
          <p:nvPr/>
        </p:nvSpPr>
        <p:spPr>
          <a:xfrm>
            <a:off x="4259974" y="4669154"/>
            <a:ext cx="2374974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share), ahead of 'Manufacturer brands' (</a:t>
            </a:r>
          </a:p>
        </p:txBody>
      </p:sp>
      <p:pic>
        <p:nvPicPr>
          <p:cNvPr id="128" name="Picture 127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000" y="4659376"/>
            <a:ext cx="128699" cy="187198"/>
          </a:xfrm>
          <a:prstGeom prst="rect">
            <a:avLst/>
          </a:prstGeom>
        </p:spPr>
      </p:pic>
      <p:sp>
        <p:nvSpPr>
          <p:cNvPr id="129" name="TextBox 128"/>
          <p:cNvSpPr txBox="1"/>
          <p:nvPr/>
        </p:nvSpPr>
        <p:spPr>
          <a:xfrm>
            <a:off x="6750496" y="4669154"/>
            <a:ext cx="603076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US$ Mn).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276225" y="4887086"/>
            <a:ext cx="2036071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▪ By Sales Channel, 'Retail' leads at</a:t>
            </a:r>
          </a:p>
        </p:txBody>
      </p:sp>
      <p:pic>
        <p:nvPicPr>
          <p:cNvPr id="131" name="Picture 130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60348" y="4877307"/>
            <a:ext cx="128699" cy="187198"/>
          </a:xfrm>
          <a:prstGeom prst="rect">
            <a:avLst/>
          </a:prstGeom>
        </p:spPr>
      </p:pic>
      <p:sp>
        <p:nvSpPr>
          <p:cNvPr id="132" name="TextBox 131"/>
          <p:cNvSpPr txBox="1"/>
          <p:nvPr/>
        </p:nvSpPr>
        <p:spPr>
          <a:xfrm>
            <a:off x="2427843" y="4887086"/>
            <a:ext cx="599529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US$ Mn (</a:t>
            </a:r>
          </a:p>
        </p:txBody>
      </p:sp>
      <p:pic>
        <p:nvPicPr>
          <p:cNvPr id="133" name="Picture 132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75424" y="4877307"/>
            <a:ext cx="128699" cy="187198"/>
          </a:xfrm>
          <a:prstGeom prst="rect">
            <a:avLst/>
          </a:prstGeom>
        </p:spPr>
      </p:pic>
      <p:sp>
        <p:nvSpPr>
          <p:cNvPr id="134" name="TextBox 133"/>
          <p:cNvSpPr txBox="1"/>
          <p:nvPr/>
        </p:nvSpPr>
        <p:spPr>
          <a:xfrm>
            <a:off x="3142920" y="4887086"/>
            <a:ext cx="2807141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share), ahead of 'Foodservice and institutional' (</a:t>
            </a:r>
          </a:p>
        </p:txBody>
      </p:sp>
      <p:pic>
        <p:nvPicPr>
          <p:cNvPr id="135" name="Picture 134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98113" y="4877307"/>
            <a:ext cx="128699" cy="187198"/>
          </a:xfrm>
          <a:prstGeom prst="rect">
            <a:avLst/>
          </a:prstGeom>
        </p:spPr>
      </p:pic>
      <p:sp>
        <p:nvSpPr>
          <p:cNvPr id="136" name="TextBox 135"/>
          <p:cNvSpPr txBox="1"/>
          <p:nvPr/>
        </p:nvSpPr>
        <p:spPr>
          <a:xfrm>
            <a:off x="6065609" y="4887086"/>
            <a:ext cx="603076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US$ Mn).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276225" y="5105018"/>
            <a:ext cx="5574137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▪ By Product Type × Flavour, the workbook carries no value figures for U.S.; see its volume pages.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276225" y="5322950"/>
            <a:ext cx="6161557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▪ By Product Type × Packaging Format, the workbook carries no value figures for U.S.; see its volume pages.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276225" y="5540882"/>
            <a:ext cx="5934301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▪ By Product Type × Sales Channel, the workbook carries no value figures for U.S.; see its volume pages.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276225" y="5758814"/>
            <a:ext cx="6375229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▪ By Product Type × Individual Muffin Size, the workbook carries no value figures for U.S.; see its volume pages.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276225" y="5976746"/>
            <a:ext cx="6677843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▪ Use the Country slicer in the top band to switch country the selection stays synced across every page of the report.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8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F1F8FE"/>
              </a:gs>
              <a:gs pos="100000">
                <a:srgbClr val="DAEAF9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0" y="5591183"/>
            <a:ext cx="12192000" cy="1266817"/>
          </a:xfrm>
          <a:custGeom>
            <a:avLst/>
            <a:gdLst/>
            <a:ahLst/>
            <a:cxnLst/>
            <a:rect l="l" t="t" r="r" b="b"/>
            <a:pathLst>
              <a:path w="12192000" h="1266817">
                <a:moveTo>
                  <a:pt x="0" y="1266817"/>
                </a:moveTo>
                <a:lnTo>
                  <a:pt x="0" y="475605"/>
                </a:lnTo>
                <a:lnTo>
                  <a:pt x="152400" y="486239"/>
                </a:lnTo>
                <a:lnTo>
                  <a:pt x="304800" y="495887"/>
                </a:lnTo>
                <a:lnTo>
                  <a:pt x="457200" y="504505"/>
                </a:lnTo>
                <a:lnTo>
                  <a:pt x="609600" y="512056"/>
                </a:lnTo>
                <a:lnTo>
                  <a:pt x="762000" y="518505"/>
                </a:lnTo>
                <a:lnTo>
                  <a:pt x="914400" y="523824"/>
                </a:lnTo>
                <a:lnTo>
                  <a:pt x="1066800" y="527988"/>
                </a:lnTo>
                <a:lnTo>
                  <a:pt x="1219200" y="530979"/>
                </a:lnTo>
                <a:lnTo>
                  <a:pt x="1371600" y="532783"/>
                </a:lnTo>
                <a:lnTo>
                  <a:pt x="1524000" y="533392"/>
                </a:lnTo>
                <a:lnTo>
                  <a:pt x="1676400" y="532804"/>
                </a:lnTo>
                <a:lnTo>
                  <a:pt x="1828800" y="531021"/>
                </a:lnTo>
                <a:lnTo>
                  <a:pt x="1981200" y="528051"/>
                </a:lnTo>
                <a:lnTo>
                  <a:pt x="2133600" y="523907"/>
                </a:lnTo>
                <a:lnTo>
                  <a:pt x="2286000" y="518609"/>
                </a:lnTo>
                <a:lnTo>
                  <a:pt x="2438400" y="512179"/>
                </a:lnTo>
                <a:lnTo>
                  <a:pt x="2590800" y="504648"/>
                </a:lnTo>
                <a:lnTo>
                  <a:pt x="2743200" y="496047"/>
                </a:lnTo>
                <a:lnTo>
                  <a:pt x="2895600" y="486417"/>
                </a:lnTo>
                <a:lnTo>
                  <a:pt x="3048000" y="475801"/>
                </a:lnTo>
                <a:lnTo>
                  <a:pt x="3200400" y="464245"/>
                </a:lnTo>
                <a:lnTo>
                  <a:pt x="3352800" y="451803"/>
                </a:lnTo>
                <a:lnTo>
                  <a:pt x="3505200" y="438529"/>
                </a:lnTo>
                <a:lnTo>
                  <a:pt x="3657600" y="424484"/>
                </a:lnTo>
                <a:lnTo>
                  <a:pt x="3810000" y="409730"/>
                </a:lnTo>
                <a:lnTo>
                  <a:pt x="3962400" y="394334"/>
                </a:lnTo>
                <a:lnTo>
                  <a:pt x="4114800" y="378365"/>
                </a:lnTo>
                <a:lnTo>
                  <a:pt x="4267200" y="361894"/>
                </a:lnTo>
                <a:lnTo>
                  <a:pt x="4419600" y="344996"/>
                </a:lnTo>
                <a:lnTo>
                  <a:pt x="4572000" y="327746"/>
                </a:lnTo>
                <a:lnTo>
                  <a:pt x="4724400" y="310223"/>
                </a:lnTo>
                <a:lnTo>
                  <a:pt x="4876800" y="292503"/>
                </a:lnTo>
                <a:lnTo>
                  <a:pt x="5029200" y="274668"/>
                </a:lnTo>
                <a:lnTo>
                  <a:pt x="5181600" y="256797"/>
                </a:lnTo>
                <a:lnTo>
                  <a:pt x="5334000" y="238971"/>
                </a:lnTo>
                <a:lnTo>
                  <a:pt x="5486400" y="221269"/>
                </a:lnTo>
                <a:lnTo>
                  <a:pt x="5638800" y="203771"/>
                </a:lnTo>
                <a:lnTo>
                  <a:pt x="5791200" y="186555"/>
                </a:lnTo>
                <a:lnTo>
                  <a:pt x="5943600" y="169699"/>
                </a:lnTo>
                <a:lnTo>
                  <a:pt x="6096000" y="153279"/>
                </a:lnTo>
                <a:lnTo>
                  <a:pt x="6248400" y="137368"/>
                </a:lnTo>
                <a:lnTo>
                  <a:pt x="6400800" y="122038"/>
                </a:lnTo>
                <a:lnTo>
                  <a:pt x="6553200" y="107357"/>
                </a:lnTo>
                <a:lnTo>
                  <a:pt x="6705600" y="93391"/>
                </a:lnTo>
                <a:lnTo>
                  <a:pt x="6858000" y="80204"/>
                </a:lnTo>
                <a:lnTo>
                  <a:pt x="7010400" y="67854"/>
                </a:lnTo>
                <a:lnTo>
                  <a:pt x="7162800" y="56397"/>
                </a:lnTo>
                <a:lnTo>
                  <a:pt x="7315200" y="45884"/>
                </a:lnTo>
                <a:lnTo>
                  <a:pt x="7467600" y="36363"/>
                </a:lnTo>
                <a:lnTo>
                  <a:pt x="7620000" y="27876"/>
                </a:lnTo>
                <a:lnTo>
                  <a:pt x="7772400" y="20461"/>
                </a:lnTo>
                <a:lnTo>
                  <a:pt x="7924800" y="14151"/>
                </a:lnTo>
                <a:lnTo>
                  <a:pt x="8077200" y="8976"/>
                </a:lnTo>
                <a:lnTo>
                  <a:pt x="8229600" y="4958"/>
                </a:lnTo>
                <a:lnTo>
                  <a:pt x="8382000" y="2115"/>
                </a:lnTo>
                <a:lnTo>
                  <a:pt x="8534400" y="460"/>
                </a:lnTo>
                <a:lnTo>
                  <a:pt x="8686800" y="0"/>
                </a:lnTo>
                <a:lnTo>
                  <a:pt x="8839200" y="738"/>
                </a:lnTo>
                <a:lnTo>
                  <a:pt x="8991600" y="2670"/>
                </a:lnTo>
                <a:lnTo>
                  <a:pt x="9144000" y="5787"/>
                </a:lnTo>
                <a:lnTo>
                  <a:pt x="9296400" y="10076"/>
                </a:lnTo>
                <a:lnTo>
                  <a:pt x="9448800" y="15518"/>
                </a:lnTo>
                <a:lnTo>
                  <a:pt x="9601200" y="22086"/>
                </a:lnTo>
                <a:lnTo>
                  <a:pt x="9753600" y="29754"/>
                </a:lnTo>
                <a:lnTo>
                  <a:pt x="9906000" y="38485"/>
                </a:lnTo>
                <a:lnTo>
                  <a:pt x="10058400" y="48241"/>
                </a:lnTo>
                <a:lnTo>
                  <a:pt x="10210800" y="58977"/>
                </a:lnTo>
                <a:lnTo>
                  <a:pt x="10363200" y="70647"/>
                </a:lnTo>
                <a:lnTo>
                  <a:pt x="10515600" y="83196"/>
                </a:lnTo>
                <a:lnTo>
                  <a:pt x="10668000" y="96570"/>
                </a:lnTo>
                <a:lnTo>
                  <a:pt x="10820400" y="110707"/>
                </a:lnTo>
                <a:lnTo>
                  <a:pt x="10972800" y="125545"/>
                </a:lnTo>
                <a:lnTo>
                  <a:pt x="11125200" y="141016"/>
                </a:lnTo>
                <a:lnTo>
                  <a:pt x="11277600" y="157052"/>
                </a:lnTo>
                <a:lnTo>
                  <a:pt x="11430000" y="173580"/>
                </a:lnTo>
                <a:lnTo>
                  <a:pt x="11582400" y="190527"/>
                </a:lnTo>
                <a:lnTo>
                  <a:pt x="11734800" y="207815"/>
                </a:lnTo>
                <a:lnTo>
                  <a:pt x="11887200" y="225367"/>
                </a:lnTo>
                <a:lnTo>
                  <a:pt x="12039600" y="243105"/>
                </a:lnTo>
                <a:lnTo>
                  <a:pt x="12192000" y="260949"/>
                </a:lnTo>
                <a:lnTo>
                  <a:pt x="12192000" y="1266817"/>
                </a:lnTo>
                <a:close/>
              </a:path>
            </a:pathLst>
          </a:custGeom>
          <a:solidFill>
            <a:srgbClr val="C8E0F6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0" y="5905543"/>
            <a:ext cx="12192000" cy="952457"/>
          </a:xfrm>
          <a:custGeom>
            <a:avLst/>
            <a:gdLst/>
            <a:ahLst/>
            <a:cxnLst/>
            <a:rect l="l" t="t" r="r" b="b"/>
            <a:pathLst>
              <a:path w="12192000" h="952457">
                <a:moveTo>
                  <a:pt x="0" y="952457"/>
                </a:moveTo>
                <a:lnTo>
                  <a:pt x="0" y="288660"/>
                </a:lnTo>
                <a:lnTo>
                  <a:pt x="152400" y="275228"/>
                </a:lnTo>
                <a:lnTo>
                  <a:pt x="304800" y="261249"/>
                </a:lnTo>
                <a:lnTo>
                  <a:pt x="457200" y="246812"/>
                </a:lnTo>
                <a:lnTo>
                  <a:pt x="609600" y="232010"/>
                </a:lnTo>
                <a:lnTo>
                  <a:pt x="762000" y="216940"/>
                </a:lnTo>
                <a:lnTo>
                  <a:pt x="914400" y="201698"/>
                </a:lnTo>
                <a:lnTo>
                  <a:pt x="1066800" y="186384"/>
                </a:lnTo>
                <a:lnTo>
                  <a:pt x="1219200" y="171097"/>
                </a:lnTo>
                <a:lnTo>
                  <a:pt x="1371600" y="155934"/>
                </a:lnTo>
                <a:lnTo>
                  <a:pt x="1524000" y="140995"/>
                </a:lnTo>
                <a:lnTo>
                  <a:pt x="1676400" y="126375"/>
                </a:lnTo>
                <a:lnTo>
                  <a:pt x="1828800" y="112170"/>
                </a:lnTo>
                <a:lnTo>
                  <a:pt x="1981200" y="98470"/>
                </a:lnTo>
                <a:lnTo>
                  <a:pt x="2133600" y="85366"/>
                </a:lnTo>
                <a:lnTo>
                  <a:pt x="2286000" y="72940"/>
                </a:lnTo>
                <a:lnTo>
                  <a:pt x="2438400" y="61275"/>
                </a:lnTo>
                <a:lnTo>
                  <a:pt x="2590800" y="50444"/>
                </a:lnTo>
                <a:lnTo>
                  <a:pt x="2743200" y="40519"/>
                </a:lnTo>
                <a:lnTo>
                  <a:pt x="2895600" y="31563"/>
                </a:lnTo>
                <a:lnTo>
                  <a:pt x="3048000" y="23634"/>
                </a:lnTo>
                <a:lnTo>
                  <a:pt x="3200400" y="16784"/>
                </a:lnTo>
                <a:lnTo>
                  <a:pt x="3352800" y="11056"/>
                </a:lnTo>
                <a:lnTo>
                  <a:pt x="3505200" y="6489"/>
                </a:lnTo>
                <a:lnTo>
                  <a:pt x="3657600" y="3110"/>
                </a:lnTo>
                <a:lnTo>
                  <a:pt x="3810000" y="943"/>
                </a:lnTo>
                <a:lnTo>
                  <a:pt x="3962400" y="0"/>
                </a:lnTo>
                <a:lnTo>
                  <a:pt x="4114800" y="289"/>
                </a:lnTo>
                <a:lnTo>
                  <a:pt x="4267200" y="1808"/>
                </a:lnTo>
                <a:lnTo>
                  <a:pt x="4419600" y="4546"/>
                </a:lnTo>
                <a:lnTo>
                  <a:pt x="4572000" y="8485"/>
                </a:lnTo>
                <a:lnTo>
                  <a:pt x="4724400" y="13601"/>
                </a:lnTo>
                <a:lnTo>
                  <a:pt x="4876800" y="19861"/>
                </a:lnTo>
                <a:lnTo>
                  <a:pt x="5029200" y="27223"/>
                </a:lnTo>
                <a:lnTo>
                  <a:pt x="5181600" y="35641"/>
                </a:lnTo>
                <a:lnTo>
                  <a:pt x="5334000" y="45059"/>
                </a:lnTo>
                <a:lnTo>
                  <a:pt x="5486400" y="55417"/>
                </a:lnTo>
                <a:lnTo>
                  <a:pt x="5638800" y="66649"/>
                </a:lnTo>
                <a:lnTo>
                  <a:pt x="5791200" y="78680"/>
                </a:lnTo>
                <a:lnTo>
                  <a:pt x="5943600" y="91435"/>
                </a:lnTo>
                <a:lnTo>
                  <a:pt x="6096000" y="104829"/>
                </a:lnTo>
                <a:lnTo>
                  <a:pt x="6248400" y="118777"/>
                </a:lnTo>
                <a:lnTo>
                  <a:pt x="6400800" y="133188"/>
                </a:lnTo>
                <a:lnTo>
                  <a:pt x="6553200" y="147970"/>
                </a:lnTo>
                <a:lnTo>
                  <a:pt x="6705600" y="163026"/>
                </a:lnTo>
                <a:lnTo>
                  <a:pt x="6858000" y="178260"/>
                </a:lnTo>
                <a:lnTo>
                  <a:pt x="7010400" y="193572"/>
                </a:lnTo>
                <a:lnTo>
                  <a:pt x="7162800" y="208865"/>
                </a:lnTo>
                <a:lnTo>
                  <a:pt x="7315200" y="224038"/>
                </a:lnTo>
                <a:lnTo>
                  <a:pt x="7467600" y="238994"/>
                </a:lnTo>
                <a:lnTo>
                  <a:pt x="7620000" y="253637"/>
                </a:lnTo>
                <a:lnTo>
                  <a:pt x="7772400" y="267871"/>
                </a:lnTo>
                <a:lnTo>
                  <a:pt x="7924800" y="281604"/>
                </a:lnTo>
                <a:lnTo>
                  <a:pt x="8077200" y="294748"/>
                </a:lnTo>
                <a:lnTo>
                  <a:pt x="8229600" y="307218"/>
                </a:lnTo>
                <a:lnTo>
                  <a:pt x="8382000" y="318934"/>
                </a:lnTo>
                <a:lnTo>
                  <a:pt x="8534400" y="329818"/>
                </a:lnTo>
                <a:lnTo>
                  <a:pt x="8686800" y="339802"/>
                </a:lnTo>
                <a:lnTo>
                  <a:pt x="8839200" y="348821"/>
                </a:lnTo>
                <a:lnTo>
                  <a:pt x="8991600" y="356815"/>
                </a:lnTo>
                <a:lnTo>
                  <a:pt x="9144000" y="363734"/>
                </a:lnTo>
                <a:lnTo>
                  <a:pt x="9296400" y="369533"/>
                </a:lnTo>
                <a:lnTo>
                  <a:pt x="9448800" y="374174"/>
                </a:lnTo>
                <a:lnTo>
                  <a:pt x="9601200" y="377628"/>
                </a:lnTo>
                <a:lnTo>
                  <a:pt x="9753600" y="379872"/>
                </a:lnTo>
                <a:lnTo>
                  <a:pt x="9906000" y="380891"/>
                </a:lnTo>
                <a:lnTo>
                  <a:pt x="10058400" y="380679"/>
                </a:lnTo>
                <a:lnTo>
                  <a:pt x="10210800" y="379237"/>
                </a:lnTo>
                <a:lnTo>
                  <a:pt x="10363200" y="376575"/>
                </a:lnTo>
                <a:lnTo>
                  <a:pt x="10515600" y="372710"/>
                </a:lnTo>
                <a:lnTo>
                  <a:pt x="10668000" y="367666"/>
                </a:lnTo>
                <a:lnTo>
                  <a:pt x="10820400" y="361477"/>
                </a:lnTo>
                <a:lnTo>
                  <a:pt x="10972800" y="354182"/>
                </a:lnTo>
                <a:lnTo>
                  <a:pt x="11125200" y="345829"/>
                </a:lnTo>
                <a:lnTo>
                  <a:pt x="11277600" y="336472"/>
                </a:lnTo>
                <a:lnTo>
                  <a:pt x="11430000" y="326170"/>
                </a:lnTo>
                <a:lnTo>
                  <a:pt x="11582400" y="314991"/>
                </a:lnTo>
                <a:lnTo>
                  <a:pt x="11734800" y="303008"/>
                </a:lnTo>
                <a:lnTo>
                  <a:pt x="11887200" y="290296"/>
                </a:lnTo>
                <a:lnTo>
                  <a:pt x="12039600" y="276939"/>
                </a:lnTo>
                <a:lnTo>
                  <a:pt x="12192000" y="263023"/>
                </a:lnTo>
                <a:lnTo>
                  <a:pt x="12192000" y="952457"/>
                </a:lnTo>
                <a:close/>
              </a:path>
            </a:pathLst>
          </a:custGeom>
          <a:solidFill>
            <a:srgbClr val="A7CDF1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638925"/>
            <a:ext cx="12192000" cy="219075"/>
          </a:xfrm>
          <a:prstGeom prst="rect">
            <a:avLst/>
          </a:prstGeom>
          <a:solidFill>
            <a:srgbClr val="A9C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238875"/>
            <a:ext cx="12192000" cy="400050"/>
          </a:xfrm>
          <a:prstGeom prst="rect">
            <a:avLst/>
          </a:prstGeom>
          <a:gradFill rotWithShape="1">
            <a:gsLst>
              <a:gs pos="0">
                <a:srgbClr val="2C6BB2"/>
              </a:gs>
              <a:gs pos="100000">
                <a:srgbClr val="7FB5E4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MI Section Bar"/>
          <p:cNvSpPr txBox="1"/>
          <p:nvPr/>
        </p:nvSpPr>
        <p:spPr>
          <a:xfrm>
            <a:off x="285750" y="6238875"/>
            <a:ext cx="3810000" cy="400050"/>
          </a:xfrm>
          <a:prstGeom prst="rect">
            <a:avLst/>
          </a:prstGeom>
          <a:noFill/>
        </p:spPr>
        <p:txBody>
          <a:bodyPr wrap="none" anchor="ctr" lIns="0" tIns="0" bIns="0">
            <a:spAutoFit/>
          </a:bodyPr>
          <a:lstStyle/>
          <a:p>
            <a:r>
              <a:rPr sz="1500" b="1">
                <a:solidFill>
                  <a:srgbClr val="FFFFFF"/>
                </a:solidFill>
                <a:latin typeface="Calibri"/>
              </a:rPr>
              <a:t>Section 2</a:t>
            </a:r>
          </a:p>
        </p:txBody>
      </p:sp>
      <p:pic>
        <p:nvPicPr>
          <p:cNvPr id="8" name="Picture 7" descr="fmi_logo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74320"/>
            <a:ext cx="1307592" cy="13258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14400" y="1666875"/>
            <a:ext cx="10363200" cy="3048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800" b="0">
                <a:solidFill>
                  <a:srgbClr val="0E72AE"/>
                </a:solidFill>
                <a:latin typeface="Calibri"/>
              </a:rPr>
              <a:t>Packaged Muffins Market</a:t>
            </a:r>
          </a:p>
        </p:txBody>
      </p:sp>
      <p:sp>
        <p:nvSpPr>
          <p:cNvPr id="10" name="FMI Section Title"/>
          <p:cNvSpPr txBox="1"/>
          <p:nvPr/>
        </p:nvSpPr>
        <p:spPr>
          <a:xfrm>
            <a:off x="914400" y="2009775"/>
            <a:ext cx="10363200" cy="51435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r>
              <a:rPr sz="3000" b="1">
                <a:solidFill>
                  <a:srgbClr val="0B3C8C"/>
                </a:solidFill>
                <a:latin typeface="Calibri"/>
              </a:rPr>
              <a:t>Segment Overview (Volume &amp; Value)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695575"/>
            <a:ext cx="5067300" cy="3638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Calibri"/>
              </a:rPr>
              <a:t>➤	</a:t>
            </a:r>
            <a:r>
              <a:rPr sz="2000" b="0">
                <a:solidFill>
                  <a:srgbClr val="000000"/>
                </a:solidFill>
                <a:latin typeface="Calibri"/>
              </a:rPr>
              <a:t>Product Type</a:t>
            </a:r>
          </a:p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Calibri"/>
              </a:rPr>
              <a:t>➤	</a:t>
            </a:r>
            <a:r>
              <a:rPr sz="2000" b="0">
                <a:solidFill>
                  <a:srgbClr val="000000"/>
                </a:solidFill>
                <a:latin typeface="Calibri"/>
              </a:rPr>
              <a:t>Flavour</a:t>
            </a:r>
          </a:p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Calibri"/>
              </a:rPr>
              <a:t>➤	</a:t>
            </a:r>
            <a:r>
              <a:rPr sz="2000" b="0">
                <a:solidFill>
                  <a:srgbClr val="000000"/>
                </a:solidFill>
                <a:latin typeface="Calibri"/>
              </a:rPr>
              <a:t>Primary Flour Base</a:t>
            </a:r>
          </a:p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Calibri"/>
              </a:rPr>
              <a:t>➤	</a:t>
            </a:r>
            <a:r>
              <a:rPr sz="2000" b="0">
                <a:solidFill>
                  <a:srgbClr val="000000"/>
                </a:solidFill>
                <a:latin typeface="Calibri"/>
              </a:rPr>
              <a:t>Dietary Formulation</a:t>
            </a:r>
          </a:p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Calibri"/>
              </a:rPr>
              <a:t>➤	</a:t>
            </a:r>
            <a:r>
              <a:rPr sz="2000" b="0">
                <a:solidFill>
                  <a:srgbClr val="000000"/>
                </a:solidFill>
                <a:latin typeface="Calibri"/>
              </a:rPr>
              <a:t>Nutritional Positioning</a:t>
            </a:r>
          </a:p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Calibri"/>
              </a:rPr>
              <a:t>➤	</a:t>
            </a:r>
            <a:r>
              <a:rPr sz="2000" b="0">
                <a:solidFill>
                  <a:srgbClr val="000000"/>
                </a:solidFill>
                <a:latin typeface="Calibri"/>
              </a:rPr>
              <a:t>Recipe and Ingredient Claims</a:t>
            </a:r>
          </a:p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Calibri"/>
              </a:rPr>
              <a:t>➤	</a:t>
            </a:r>
            <a:r>
              <a:rPr sz="2000" b="0">
                <a:solidFill>
                  <a:srgbClr val="000000"/>
                </a:solidFill>
                <a:latin typeface="Calibri"/>
              </a:rPr>
              <a:t>Product Structure</a:t>
            </a:r>
          </a:p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Calibri"/>
              </a:rPr>
              <a:t>➤	</a:t>
            </a:r>
            <a:r>
              <a:rPr sz="2000" b="0">
                <a:solidFill>
                  <a:srgbClr val="000000"/>
                </a:solidFill>
                <a:latin typeface="Calibri"/>
              </a:rPr>
              <a:t>Surface Finish</a:t>
            </a:r>
          </a:p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Calibri"/>
              </a:rPr>
              <a:t>➤	</a:t>
            </a:r>
            <a:r>
              <a:rPr sz="2000" b="0">
                <a:solidFill>
                  <a:srgbClr val="000000"/>
                </a:solidFill>
                <a:latin typeface="Calibri"/>
              </a:rPr>
              <a:t>Individual Muffin Size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0" y="2695575"/>
            <a:ext cx="5067300" cy="32448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Calibri"/>
              </a:rPr>
              <a:t>➤	</a:t>
            </a:r>
            <a:r>
              <a:rPr sz="2000" b="0">
                <a:solidFill>
                  <a:srgbClr val="000000"/>
                </a:solidFill>
                <a:latin typeface="Calibri"/>
              </a:rPr>
              <a:t>Storage Format</a:t>
            </a:r>
          </a:p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Calibri"/>
              </a:rPr>
              <a:t>➤	</a:t>
            </a:r>
            <a:r>
              <a:rPr sz="2000" b="0">
                <a:solidFill>
                  <a:srgbClr val="000000"/>
                </a:solidFill>
                <a:latin typeface="Calibri"/>
              </a:rPr>
              <a:t>Shelf Life</a:t>
            </a:r>
          </a:p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Calibri"/>
              </a:rPr>
              <a:t>➤	</a:t>
            </a:r>
            <a:r>
              <a:rPr sz="2000" b="0">
                <a:solidFill>
                  <a:srgbClr val="000000"/>
                </a:solidFill>
                <a:latin typeface="Calibri"/>
              </a:rPr>
              <a:t>Packaging Format</a:t>
            </a:r>
          </a:p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Calibri"/>
              </a:rPr>
              <a:t>➤	</a:t>
            </a:r>
            <a:r>
              <a:rPr sz="2000" b="0">
                <a:solidFill>
                  <a:srgbClr val="000000"/>
                </a:solidFill>
                <a:latin typeface="Calibri"/>
              </a:rPr>
              <a:t>Pack Configuration</a:t>
            </a:r>
          </a:p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Calibri"/>
              </a:rPr>
              <a:t>➤	</a:t>
            </a:r>
            <a:r>
              <a:rPr sz="2000" b="0">
                <a:solidFill>
                  <a:srgbClr val="000000"/>
                </a:solidFill>
                <a:latin typeface="Calibri"/>
              </a:rPr>
              <a:t>Multipack Wrapping</a:t>
            </a:r>
          </a:p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Calibri"/>
              </a:rPr>
              <a:t>➤	</a:t>
            </a:r>
            <a:r>
              <a:rPr sz="2000" b="0">
                <a:solidFill>
                  <a:srgbClr val="000000"/>
                </a:solidFill>
                <a:latin typeface="Calibri"/>
              </a:rPr>
              <a:t>Price Positioning</a:t>
            </a:r>
          </a:p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Calibri"/>
              </a:rPr>
              <a:t>➤	</a:t>
            </a:r>
            <a:r>
              <a:rPr sz="2000" b="0">
                <a:solidFill>
                  <a:srgbClr val="000000"/>
                </a:solidFill>
                <a:latin typeface="Calibri"/>
              </a:rPr>
              <a:t>Brand Ownership</a:t>
            </a:r>
          </a:p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Calibri"/>
              </a:rPr>
              <a:t>➤	</a:t>
            </a:r>
            <a:r>
              <a:rPr sz="2000" b="0">
                <a:solidFill>
                  <a:srgbClr val="000000"/>
                </a:solidFill>
                <a:latin typeface="Calibri"/>
              </a:rPr>
              <a:t>Sales Channel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58595B"/>
                </a:solidFill>
                <a:latin typeface="Calibri"/>
              </a:rPr>
              <a:t>©2026 Future Market Insights, All Rights Reserved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8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F1F8FE"/>
              </a:gs>
              <a:gs pos="100000">
                <a:srgbClr val="DAEAF9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0" y="5591183"/>
            <a:ext cx="12192000" cy="1266817"/>
          </a:xfrm>
          <a:custGeom>
            <a:avLst/>
            <a:gdLst/>
            <a:ahLst/>
            <a:cxnLst/>
            <a:rect l="l" t="t" r="r" b="b"/>
            <a:pathLst>
              <a:path w="12192000" h="1266817">
                <a:moveTo>
                  <a:pt x="0" y="1266817"/>
                </a:moveTo>
                <a:lnTo>
                  <a:pt x="0" y="475605"/>
                </a:lnTo>
                <a:lnTo>
                  <a:pt x="152400" y="486239"/>
                </a:lnTo>
                <a:lnTo>
                  <a:pt x="304800" y="495887"/>
                </a:lnTo>
                <a:lnTo>
                  <a:pt x="457200" y="504505"/>
                </a:lnTo>
                <a:lnTo>
                  <a:pt x="609600" y="512056"/>
                </a:lnTo>
                <a:lnTo>
                  <a:pt x="762000" y="518505"/>
                </a:lnTo>
                <a:lnTo>
                  <a:pt x="914400" y="523824"/>
                </a:lnTo>
                <a:lnTo>
                  <a:pt x="1066800" y="527988"/>
                </a:lnTo>
                <a:lnTo>
                  <a:pt x="1219200" y="530979"/>
                </a:lnTo>
                <a:lnTo>
                  <a:pt x="1371600" y="532783"/>
                </a:lnTo>
                <a:lnTo>
                  <a:pt x="1524000" y="533392"/>
                </a:lnTo>
                <a:lnTo>
                  <a:pt x="1676400" y="532804"/>
                </a:lnTo>
                <a:lnTo>
                  <a:pt x="1828800" y="531021"/>
                </a:lnTo>
                <a:lnTo>
                  <a:pt x="1981200" y="528051"/>
                </a:lnTo>
                <a:lnTo>
                  <a:pt x="2133600" y="523907"/>
                </a:lnTo>
                <a:lnTo>
                  <a:pt x="2286000" y="518609"/>
                </a:lnTo>
                <a:lnTo>
                  <a:pt x="2438400" y="512179"/>
                </a:lnTo>
                <a:lnTo>
                  <a:pt x="2590800" y="504648"/>
                </a:lnTo>
                <a:lnTo>
                  <a:pt x="2743200" y="496047"/>
                </a:lnTo>
                <a:lnTo>
                  <a:pt x="2895600" y="486417"/>
                </a:lnTo>
                <a:lnTo>
                  <a:pt x="3048000" y="475801"/>
                </a:lnTo>
                <a:lnTo>
                  <a:pt x="3200400" y="464245"/>
                </a:lnTo>
                <a:lnTo>
                  <a:pt x="3352800" y="451803"/>
                </a:lnTo>
                <a:lnTo>
                  <a:pt x="3505200" y="438529"/>
                </a:lnTo>
                <a:lnTo>
                  <a:pt x="3657600" y="424484"/>
                </a:lnTo>
                <a:lnTo>
                  <a:pt x="3810000" y="409730"/>
                </a:lnTo>
                <a:lnTo>
                  <a:pt x="3962400" y="394334"/>
                </a:lnTo>
                <a:lnTo>
                  <a:pt x="4114800" y="378365"/>
                </a:lnTo>
                <a:lnTo>
                  <a:pt x="4267200" y="361894"/>
                </a:lnTo>
                <a:lnTo>
                  <a:pt x="4419600" y="344996"/>
                </a:lnTo>
                <a:lnTo>
                  <a:pt x="4572000" y="327746"/>
                </a:lnTo>
                <a:lnTo>
                  <a:pt x="4724400" y="310223"/>
                </a:lnTo>
                <a:lnTo>
                  <a:pt x="4876800" y="292503"/>
                </a:lnTo>
                <a:lnTo>
                  <a:pt x="5029200" y="274668"/>
                </a:lnTo>
                <a:lnTo>
                  <a:pt x="5181600" y="256797"/>
                </a:lnTo>
                <a:lnTo>
                  <a:pt x="5334000" y="238971"/>
                </a:lnTo>
                <a:lnTo>
                  <a:pt x="5486400" y="221269"/>
                </a:lnTo>
                <a:lnTo>
                  <a:pt x="5638800" y="203771"/>
                </a:lnTo>
                <a:lnTo>
                  <a:pt x="5791200" y="186555"/>
                </a:lnTo>
                <a:lnTo>
                  <a:pt x="5943600" y="169699"/>
                </a:lnTo>
                <a:lnTo>
                  <a:pt x="6096000" y="153279"/>
                </a:lnTo>
                <a:lnTo>
                  <a:pt x="6248400" y="137368"/>
                </a:lnTo>
                <a:lnTo>
                  <a:pt x="6400800" y="122038"/>
                </a:lnTo>
                <a:lnTo>
                  <a:pt x="6553200" y="107357"/>
                </a:lnTo>
                <a:lnTo>
                  <a:pt x="6705600" y="93391"/>
                </a:lnTo>
                <a:lnTo>
                  <a:pt x="6858000" y="80204"/>
                </a:lnTo>
                <a:lnTo>
                  <a:pt x="7010400" y="67854"/>
                </a:lnTo>
                <a:lnTo>
                  <a:pt x="7162800" y="56397"/>
                </a:lnTo>
                <a:lnTo>
                  <a:pt x="7315200" y="45884"/>
                </a:lnTo>
                <a:lnTo>
                  <a:pt x="7467600" y="36363"/>
                </a:lnTo>
                <a:lnTo>
                  <a:pt x="7620000" y="27876"/>
                </a:lnTo>
                <a:lnTo>
                  <a:pt x="7772400" y="20461"/>
                </a:lnTo>
                <a:lnTo>
                  <a:pt x="7924800" y="14151"/>
                </a:lnTo>
                <a:lnTo>
                  <a:pt x="8077200" y="8976"/>
                </a:lnTo>
                <a:lnTo>
                  <a:pt x="8229600" y="4958"/>
                </a:lnTo>
                <a:lnTo>
                  <a:pt x="8382000" y="2115"/>
                </a:lnTo>
                <a:lnTo>
                  <a:pt x="8534400" y="460"/>
                </a:lnTo>
                <a:lnTo>
                  <a:pt x="8686800" y="0"/>
                </a:lnTo>
                <a:lnTo>
                  <a:pt x="8839200" y="738"/>
                </a:lnTo>
                <a:lnTo>
                  <a:pt x="8991600" y="2670"/>
                </a:lnTo>
                <a:lnTo>
                  <a:pt x="9144000" y="5787"/>
                </a:lnTo>
                <a:lnTo>
                  <a:pt x="9296400" y="10076"/>
                </a:lnTo>
                <a:lnTo>
                  <a:pt x="9448800" y="15518"/>
                </a:lnTo>
                <a:lnTo>
                  <a:pt x="9601200" y="22086"/>
                </a:lnTo>
                <a:lnTo>
                  <a:pt x="9753600" y="29754"/>
                </a:lnTo>
                <a:lnTo>
                  <a:pt x="9906000" y="38485"/>
                </a:lnTo>
                <a:lnTo>
                  <a:pt x="10058400" y="48241"/>
                </a:lnTo>
                <a:lnTo>
                  <a:pt x="10210800" y="58977"/>
                </a:lnTo>
                <a:lnTo>
                  <a:pt x="10363200" y="70647"/>
                </a:lnTo>
                <a:lnTo>
                  <a:pt x="10515600" y="83196"/>
                </a:lnTo>
                <a:lnTo>
                  <a:pt x="10668000" y="96570"/>
                </a:lnTo>
                <a:lnTo>
                  <a:pt x="10820400" y="110707"/>
                </a:lnTo>
                <a:lnTo>
                  <a:pt x="10972800" y="125545"/>
                </a:lnTo>
                <a:lnTo>
                  <a:pt x="11125200" y="141016"/>
                </a:lnTo>
                <a:lnTo>
                  <a:pt x="11277600" y="157052"/>
                </a:lnTo>
                <a:lnTo>
                  <a:pt x="11430000" y="173580"/>
                </a:lnTo>
                <a:lnTo>
                  <a:pt x="11582400" y="190527"/>
                </a:lnTo>
                <a:lnTo>
                  <a:pt x="11734800" y="207815"/>
                </a:lnTo>
                <a:lnTo>
                  <a:pt x="11887200" y="225367"/>
                </a:lnTo>
                <a:lnTo>
                  <a:pt x="12039600" y="243105"/>
                </a:lnTo>
                <a:lnTo>
                  <a:pt x="12192000" y="260949"/>
                </a:lnTo>
                <a:lnTo>
                  <a:pt x="12192000" y="1266817"/>
                </a:lnTo>
                <a:close/>
              </a:path>
            </a:pathLst>
          </a:custGeom>
          <a:solidFill>
            <a:srgbClr val="C8E0F6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0" y="5905543"/>
            <a:ext cx="12192000" cy="952457"/>
          </a:xfrm>
          <a:custGeom>
            <a:avLst/>
            <a:gdLst/>
            <a:ahLst/>
            <a:cxnLst/>
            <a:rect l="l" t="t" r="r" b="b"/>
            <a:pathLst>
              <a:path w="12192000" h="952457">
                <a:moveTo>
                  <a:pt x="0" y="952457"/>
                </a:moveTo>
                <a:lnTo>
                  <a:pt x="0" y="288660"/>
                </a:lnTo>
                <a:lnTo>
                  <a:pt x="152400" y="275228"/>
                </a:lnTo>
                <a:lnTo>
                  <a:pt x="304800" y="261249"/>
                </a:lnTo>
                <a:lnTo>
                  <a:pt x="457200" y="246812"/>
                </a:lnTo>
                <a:lnTo>
                  <a:pt x="609600" y="232010"/>
                </a:lnTo>
                <a:lnTo>
                  <a:pt x="762000" y="216940"/>
                </a:lnTo>
                <a:lnTo>
                  <a:pt x="914400" y="201698"/>
                </a:lnTo>
                <a:lnTo>
                  <a:pt x="1066800" y="186384"/>
                </a:lnTo>
                <a:lnTo>
                  <a:pt x="1219200" y="171097"/>
                </a:lnTo>
                <a:lnTo>
                  <a:pt x="1371600" y="155934"/>
                </a:lnTo>
                <a:lnTo>
                  <a:pt x="1524000" y="140995"/>
                </a:lnTo>
                <a:lnTo>
                  <a:pt x="1676400" y="126375"/>
                </a:lnTo>
                <a:lnTo>
                  <a:pt x="1828800" y="112170"/>
                </a:lnTo>
                <a:lnTo>
                  <a:pt x="1981200" y="98470"/>
                </a:lnTo>
                <a:lnTo>
                  <a:pt x="2133600" y="85366"/>
                </a:lnTo>
                <a:lnTo>
                  <a:pt x="2286000" y="72940"/>
                </a:lnTo>
                <a:lnTo>
                  <a:pt x="2438400" y="61275"/>
                </a:lnTo>
                <a:lnTo>
                  <a:pt x="2590800" y="50444"/>
                </a:lnTo>
                <a:lnTo>
                  <a:pt x="2743200" y="40519"/>
                </a:lnTo>
                <a:lnTo>
                  <a:pt x="2895600" y="31563"/>
                </a:lnTo>
                <a:lnTo>
                  <a:pt x="3048000" y="23634"/>
                </a:lnTo>
                <a:lnTo>
                  <a:pt x="3200400" y="16784"/>
                </a:lnTo>
                <a:lnTo>
                  <a:pt x="3352800" y="11056"/>
                </a:lnTo>
                <a:lnTo>
                  <a:pt x="3505200" y="6489"/>
                </a:lnTo>
                <a:lnTo>
                  <a:pt x="3657600" y="3110"/>
                </a:lnTo>
                <a:lnTo>
                  <a:pt x="3810000" y="943"/>
                </a:lnTo>
                <a:lnTo>
                  <a:pt x="3962400" y="0"/>
                </a:lnTo>
                <a:lnTo>
                  <a:pt x="4114800" y="289"/>
                </a:lnTo>
                <a:lnTo>
                  <a:pt x="4267200" y="1808"/>
                </a:lnTo>
                <a:lnTo>
                  <a:pt x="4419600" y="4546"/>
                </a:lnTo>
                <a:lnTo>
                  <a:pt x="4572000" y="8485"/>
                </a:lnTo>
                <a:lnTo>
                  <a:pt x="4724400" y="13601"/>
                </a:lnTo>
                <a:lnTo>
                  <a:pt x="4876800" y="19861"/>
                </a:lnTo>
                <a:lnTo>
                  <a:pt x="5029200" y="27223"/>
                </a:lnTo>
                <a:lnTo>
                  <a:pt x="5181600" y="35641"/>
                </a:lnTo>
                <a:lnTo>
                  <a:pt x="5334000" y="45059"/>
                </a:lnTo>
                <a:lnTo>
                  <a:pt x="5486400" y="55417"/>
                </a:lnTo>
                <a:lnTo>
                  <a:pt x="5638800" y="66649"/>
                </a:lnTo>
                <a:lnTo>
                  <a:pt x="5791200" y="78680"/>
                </a:lnTo>
                <a:lnTo>
                  <a:pt x="5943600" y="91435"/>
                </a:lnTo>
                <a:lnTo>
                  <a:pt x="6096000" y="104829"/>
                </a:lnTo>
                <a:lnTo>
                  <a:pt x="6248400" y="118777"/>
                </a:lnTo>
                <a:lnTo>
                  <a:pt x="6400800" y="133188"/>
                </a:lnTo>
                <a:lnTo>
                  <a:pt x="6553200" y="147970"/>
                </a:lnTo>
                <a:lnTo>
                  <a:pt x="6705600" y="163026"/>
                </a:lnTo>
                <a:lnTo>
                  <a:pt x="6858000" y="178260"/>
                </a:lnTo>
                <a:lnTo>
                  <a:pt x="7010400" y="193572"/>
                </a:lnTo>
                <a:lnTo>
                  <a:pt x="7162800" y="208865"/>
                </a:lnTo>
                <a:lnTo>
                  <a:pt x="7315200" y="224038"/>
                </a:lnTo>
                <a:lnTo>
                  <a:pt x="7467600" y="238994"/>
                </a:lnTo>
                <a:lnTo>
                  <a:pt x="7620000" y="253637"/>
                </a:lnTo>
                <a:lnTo>
                  <a:pt x="7772400" y="267871"/>
                </a:lnTo>
                <a:lnTo>
                  <a:pt x="7924800" y="281604"/>
                </a:lnTo>
                <a:lnTo>
                  <a:pt x="8077200" y="294748"/>
                </a:lnTo>
                <a:lnTo>
                  <a:pt x="8229600" y="307218"/>
                </a:lnTo>
                <a:lnTo>
                  <a:pt x="8382000" y="318934"/>
                </a:lnTo>
                <a:lnTo>
                  <a:pt x="8534400" y="329818"/>
                </a:lnTo>
                <a:lnTo>
                  <a:pt x="8686800" y="339802"/>
                </a:lnTo>
                <a:lnTo>
                  <a:pt x="8839200" y="348821"/>
                </a:lnTo>
                <a:lnTo>
                  <a:pt x="8991600" y="356815"/>
                </a:lnTo>
                <a:lnTo>
                  <a:pt x="9144000" y="363734"/>
                </a:lnTo>
                <a:lnTo>
                  <a:pt x="9296400" y="369533"/>
                </a:lnTo>
                <a:lnTo>
                  <a:pt x="9448800" y="374174"/>
                </a:lnTo>
                <a:lnTo>
                  <a:pt x="9601200" y="377628"/>
                </a:lnTo>
                <a:lnTo>
                  <a:pt x="9753600" y="379872"/>
                </a:lnTo>
                <a:lnTo>
                  <a:pt x="9906000" y="380891"/>
                </a:lnTo>
                <a:lnTo>
                  <a:pt x="10058400" y="380679"/>
                </a:lnTo>
                <a:lnTo>
                  <a:pt x="10210800" y="379237"/>
                </a:lnTo>
                <a:lnTo>
                  <a:pt x="10363200" y="376575"/>
                </a:lnTo>
                <a:lnTo>
                  <a:pt x="10515600" y="372710"/>
                </a:lnTo>
                <a:lnTo>
                  <a:pt x="10668000" y="367666"/>
                </a:lnTo>
                <a:lnTo>
                  <a:pt x="10820400" y="361477"/>
                </a:lnTo>
                <a:lnTo>
                  <a:pt x="10972800" y="354182"/>
                </a:lnTo>
                <a:lnTo>
                  <a:pt x="11125200" y="345829"/>
                </a:lnTo>
                <a:lnTo>
                  <a:pt x="11277600" y="336472"/>
                </a:lnTo>
                <a:lnTo>
                  <a:pt x="11430000" y="326170"/>
                </a:lnTo>
                <a:lnTo>
                  <a:pt x="11582400" y="314991"/>
                </a:lnTo>
                <a:lnTo>
                  <a:pt x="11734800" y="303008"/>
                </a:lnTo>
                <a:lnTo>
                  <a:pt x="11887200" y="290296"/>
                </a:lnTo>
                <a:lnTo>
                  <a:pt x="12039600" y="276939"/>
                </a:lnTo>
                <a:lnTo>
                  <a:pt x="12192000" y="263023"/>
                </a:lnTo>
                <a:lnTo>
                  <a:pt x="12192000" y="952457"/>
                </a:lnTo>
                <a:close/>
              </a:path>
            </a:pathLst>
          </a:custGeom>
          <a:solidFill>
            <a:srgbClr val="A7CDF1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638925"/>
            <a:ext cx="12192000" cy="219075"/>
          </a:xfrm>
          <a:prstGeom prst="rect">
            <a:avLst/>
          </a:prstGeom>
          <a:solidFill>
            <a:srgbClr val="A9C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238875"/>
            <a:ext cx="12192000" cy="400050"/>
          </a:xfrm>
          <a:prstGeom prst="rect">
            <a:avLst/>
          </a:prstGeom>
          <a:gradFill rotWithShape="1">
            <a:gsLst>
              <a:gs pos="0">
                <a:srgbClr val="2C6BB2"/>
              </a:gs>
              <a:gs pos="100000">
                <a:srgbClr val="7FB5E4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MI Section Bar"/>
          <p:cNvSpPr txBox="1"/>
          <p:nvPr/>
        </p:nvSpPr>
        <p:spPr>
          <a:xfrm>
            <a:off x="285750" y="6238875"/>
            <a:ext cx="3810000" cy="400050"/>
          </a:xfrm>
          <a:prstGeom prst="rect">
            <a:avLst/>
          </a:prstGeom>
          <a:noFill/>
        </p:spPr>
        <p:txBody>
          <a:bodyPr wrap="none" anchor="ctr" lIns="0" tIns="0" bIns="0">
            <a:spAutoFit/>
          </a:bodyPr>
          <a:lstStyle/>
          <a:p>
            <a:r>
              <a:rPr sz="1500" b="1">
                <a:solidFill>
                  <a:srgbClr val="FFFFFF"/>
                </a:solidFill>
                <a:latin typeface="Calibri"/>
              </a:rPr>
              <a:t>Section 2.1</a:t>
            </a:r>
          </a:p>
        </p:txBody>
      </p:sp>
      <p:pic>
        <p:nvPicPr>
          <p:cNvPr id="8" name="Picture 7" descr="fmi_logo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74320"/>
            <a:ext cx="1307592" cy="13258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14400" y="2752725"/>
            <a:ext cx="8572500" cy="3048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800" b="0">
                <a:solidFill>
                  <a:srgbClr val="0E72AE"/>
                </a:solidFill>
                <a:latin typeface="Calibri"/>
              </a:rPr>
              <a:t>Packaged Muffins Market</a:t>
            </a:r>
          </a:p>
        </p:txBody>
      </p:sp>
      <p:sp>
        <p:nvSpPr>
          <p:cNvPr id="10" name="FMI Section Title"/>
          <p:cNvSpPr txBox="1"/>
          <p:nvPr/>
        </p:nvSpPr>
        <p:spPr>
          <a:xfrm>
            <a:off x="914400" y="3095625"/>
            <a:ext cx="8572500" cy="51435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r>
              <a:rPr sz="3000" b="1">
                <a:solidFill>
                  <a:srgbClr val="0B3C8C"/>
                </a:solidFill>
                <a:latin typeface="Calibri"/>
              </a:rPr>
              <a:t>Product Type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781425"/>
            <a:ext cx="8458200" cy="12763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Calibri"/>
              </a:rPr>
              <a:t>➤	</a:t>
            </a:r>
            <a:r>
              <a:rPr sz="2000" b="0">
                <a:solidFill>
                  <a:srgbClr val="000000"/>
                </a:solidFill>
                <a:latin typeface="Calibri"/>
              </a:rPr>
              <a:t>Segmental</a:t>
            </a:r>
          </a:p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Calibri"/>
              </a:rPr>
              <a:t>➤	</a:t>
            </a:r>
            <a:r>
              <a:rPr sz="2000" b="0">
                <a:solidFill>
                  <a:srgbClr val="000000"/>
                </a:solidFill>
                <a:latin typeface="Calibri"/>
              </a:rPr>
              <a:t>Table (Volume &amp; Value)</a:t>
            </a:r>
          </a:p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Calibri"/>
              </a:rPr>
              <a:t>➤	</a:t>
            </a:r>
            <a:r>
              <a:rPr sz="2000" b="0">
                <a:solidFill>
                  <a:srgbClr val="000000"/>
                </a:solidFill>
                <a:latin typeface="Calibri"/>
              </a:rPr>
              <a:t>YoY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58595B"/>
                </a:solidFill>
                <a:latin typeface="Calibri"/>
              </a:rPr>
              <a:t>©2026 Future Market Insights, All Rights Reserved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3825" y="914400"/>
            <a:ext cx="3943350" cy="28575"/>
          </a:xfrm>
          <a:prstGeom prst="rect">
            <a:avLst/>
          </a:prstGeom>
          <a:solidFill>
            <a:srgbClr val="0081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24325" y="914400"/>
            <a:ext cx="3943350" cy="28575"/>
          </a:xfrm>
          <a:prstGeom prst="rect">
            <a:avLst/>
          </a:prstGeom>
          <a:solidFill>
            <a:srgbClr val="9E7E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124825" y="914400"/>
            <a:ext cx="3943350" cy="28575"/>
          </a:xfrm>
          <a:prstGeom prst="rect">
            <a:avLst/>
          </a:prstGeom>
          <a:solidFill>
            <a:srgbClr val="403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mi_logo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25" y="-205740"/>
            <a:ext cx="1307592" cy="13258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543050" y="19050"/>
            <a:ext cx="8982075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U.S. Packaged Muffins Market Segmental Analysis Product Type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43050" y="647700"/>
            <a:ext cx="10506075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U.S. segmental analysis by Product Type: growth contribution, share variance and absolute $ opportunity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620375" y="228600"/>
            <a:ext cx="1428750" cy="419100"/>
          </a:xfrm>
          <a:prstGeom prst="roundRect">
            <a:avLst>
              <a:gd name="adj" fmla="val 22000"/>
            </a:avLst>
          </a:prstGeom>
          <a:solidFill>
            <a:srgbClr val="D9E6F2"/>
          </a:solidFill>
          <a:ln w="6350">
            <a:solidFill>
              <a:srgbClr val="69B1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100" b="1">
                <a:solidFill>
                  <a:srgbClr val="0B2E4A"/>
                </a:solidFill>
                <a:latin typeface="Calibri"/>
              </a:rPr>
              <a:t>U.S.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42875" y="981075"/>
            <a:ext cx="5876925" cy="2752725"/>
          </a:xfrm>
          <a:prstGeom prst="roundRect">
            <a:avLst>
              <a:gd name="adj" fmla="val 2768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38125" y="1038225"/>
            <a:ext cx="5686425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Growth Contribution 2026 → 2036, By Product Type (US$ Mn)</a:t>
            </a:r>
          </a:p>
        </p:txBody>
      </p:sp>
      <p:graphicFrame>
        <p:nvGraphicFramePr>
          <p:cNvPr id="13" name="Chart 12"/>
          <p:cNvGraphicFramePr>
            <a:graphicFrameLocks noGrp="1"/>
          </p:cNvGraphicFramePr>
          <p:nvPr/>
        </p:nvGraphicFramePr>
        <p:xfrm>
          <a:off x="238125" y="1266825"/>
          <a:ext cx="5686425" cy="2409825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4" name="Rounded Rectangle 13"/>
          <p:cNvSpPr/>
          <p:nvPr/>
        </p:nvSpPr>
        <p:spPr>
          <a:xfrm>
            <a:off x="6172200" y="981075"/>
            <a:ext cx="5876925" cy="2752725"/>
          </a:xfrm>
          <a:prstGeom prst="roundRect">
            <a:avLst>
              <a:gd name="adj" fmla="val 2768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67450" y="1038225"/>
            <a:ext cx="5686425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Value Shares &amp; Variance, By Product Type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6181725" y="1238250"/>
          <a:ext cx="5857876" cy="2286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70520"/>
                <a:gridCol w="1146839"/>
                <a:gridCol w="1146839"/>
                <a:gridCol w="1146839"/>
                <a:gridCol w="1146839"/>
              </a:tblGrid>
              <a:tr h="246126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Product Type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Share 2026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Share 2036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Variance (BPS)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F-CAGR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</a:tr>
              <a:tr h="1019937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Sweet muffins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1019937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Savoury muffins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</a:tr>
            </a:tbl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6248400" y="3533775"/>
            <a:ext cx="5724525" cy="17145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100" b="0" i="1">
                <a:solidFill>
                  <a:srgbClr val="6C7A89"/>
                </a:solidFill>
                <a:latin typeface="Calibri"/>
              </a:rPr>
              <a:t>Source: FMI Analysis, 2026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42875" y="3867150"/>
            <a:ext cx="5876925" cy="2752725"/>
          </a:xfrm>
          <a:prstGeom prst="roundRect">
            <a:avLst>
              <a:gd name="adj" fmla="val 2768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38125" y="3924300"/>
            <a:ext cx="5686425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Absolute $ Opportunity, By Product Type (US$ Mn), between 2026–2036</a:t>
            </a:r>
          </a:p>
        </p:txBody>
      </p:sp>
      <p:graphicFrame>
        <p:nvGraphicFramePr>
          <p:cNvPr id="20" name="Chart 19"/>
          <p:cNvGraphicFramePr>
            <a:graphicFrameLocks noGrp="1"/>
          </p:cNvGraphicFramePr>
          <p:nvPr/>
        </p:nvGraphicFramePr>
        <p:xfrm>
          <a:off x="238125" y="4152900"/>
          <a:ext cx="5686425" cy="2409825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21" name="Rounded Rectangle 20"/>
          <p:cNvSpPr/>
          <p:nvPr/>
        </p:nvSpPr>
        <p:spPr>
          <a:xfrm>
            <a:off x="6172200" y="3867150"/>
            <a:ext cx="5876925" cy="2752725"/>
          </a:xfrm>
          <a:prstGeom prst="roundRect">
            <a:avLst>
              <a:gd name="adj" fmla="val 2768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67450" y="3924300"/>
            <a:ext cx="5686425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Volume Shares &amp; Variance, By Product Type</a:t>
            </a:r>
          </a:p>
        </p:txBody>
      </p:sp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6181725" y="4124325"/>
          <a:ext cx="5857876" cy="2286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70520"/>
                <a:gridCol w="1146839"/>
                <a:gridCol w="1146839"/>
                <a:gridCol w="1146839"/>
                <a:gridCol w="1146839"/>
              </a:tblGrid>
              <a:tr h="246126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Product Type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Share 2026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Share 2036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Variance (BPS)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F-CAGR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</a:tr>
              <a:tr h="1019937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Sweet muffins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1019937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Savoury muffins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</a:tr>
            </a:tbl>
          </a:graphicData>
        </a:graphic>
      </p:graphicFrame>
      <p:sp>
        <p:nvSpPr>
          <p:cNvPr id="24" name="TextBox 23"/>
          <p:cNvSpPr txBox="1"/>
          <p:nvPr/>
        </p:nvSpPr>
        <p:spPr>
          <a:xfrm>
            <a:off x="6248400" y="6419850"/>
            <a:ext cx="5724525" cy="17145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100" b="0" i="1">
                <a:solidFill>
                  <a:srgbClr val="6C7A89"/>
                </a:solidFill>
                <a:latin typeface="Calibri"/>
              </a:rPr>
              <a:t>Source: FMI Analysis, 2026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58595B"/>
                </a:solidFill>
                <a:latin typeface="Calibri"/>
              </a:rPr>
              <a:t>©2026 Future Market Insights, All Rights Reserved</a:t>
            </a:r>
          </a:p>
        </p:txBody>
      </p:sp>
      <p:pic>
        <p:nvPicPr>
          <p:cNvPr id="26" name="Picture 25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94826" y="2237234"/>
            <a:ext cx="263506" cy="383281"/>
          </a:xfrm>
          <a:prstGeom prst="rect">
            <a:avLst/>
          </a:prstGeom>
        </p:spPr>
      </p:pic>
      <p:pic>
        <p:nvPicPr>
          <p:cNvPr id="27" name="Picture 26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59233" y="2237613"/>
            <a:ext cx="366712" cy="533400"/>
          </a:xfrm>
          <a:prstGeom prst="rect">
            <a:avLst/>
          </a:prstGeom>
        </p:spPr>
      </p:pic>
      <p:pic>
        <p:nvPicPr>
          <p:cNvPr id="28" name="Picture 27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94826" y="5123309"/>
            <a:ext cx="263506" cy="383281"/>
          </a:xfrm>
          <a:prstGeom prst="rect">
            <a:avLst/>
          </a:prstGeom>
        </p:spPr>
      </p:pic>
      <p:pic>
        <p:nvPicPr>
          <p:cNvPr id="29" name="Picture 28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59233" y="5123688"/>
            <a:ext cx="366712" cy="533400"/>
          </a:xfrm>
          <a:prstGeom prst="rect">
            <a:avLst/>
          </a:prstGeom>
        </p:spPr>
      </p:pic>
      <p:sp>
        <p:nvSpPr>
          <p:cNvPr id="30" name="lockshield_13"/>
          <p:cNvSpPr/>
          <p:nvPr/>
        </p:nvSpPr>
        <p:spPr>
          <a:xfrm>
            <a:off x="238125" y="1266825"/>
            <a:ext cx="5686425" cy="2409825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lockshield_20"/>
          <p:cNvSpPr/>
          <p:nvPr/>
        </p:nvSpPr>
        <p:spPr>
          <a:xfrm>
            <a:off x="238125" y="4152900"/>
            <a:ext cx="5686425" cy="2409825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3825" y="914400"/>
            <a:ext cx="3943350" cy="28575"/>
          </a:xfrm>
          <a:prstGeom prst="rect">
            <a:avLst/>
          </a:prstGeom>
          <a:solidFill>
            <a:srgbClr val="0081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24325" y="914400"/>
            <a:ext cx="3943350" cy="28575"/>
          </a:xfrm>
          <a:prstGeom prst="rect">
            <a:avLst/>
          </a:prstGeom>
          <a:solidFill>
            <a:srgbClr val="9E7E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124825" y="914400"/>
            <a:ext cx="3943350" cy="28575"/>
          </a:xfrm>
          <a:prstGeom prst="rect">
            <a:avLst/>
          </a:prstGeom>
          <a:solidFill>
            <a:srgbClr val="403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mi_logo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25" y="-205740"/>
            <a:ext cx="1307592" cy="13258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543050" y="19050"/>
            <a:ext cx="8982075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U.S. Packaged Muffins Market Tables Product Type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43050" y="647700"/>
            <a:ext cx="10506075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Year-by-year volume and value of the U.S. market by Product Type, 2021–2036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620375" y="228600"/>
            <a:ext cx="1428750" cy="419100"/>
          </a:xfrm>
          <a:prstGeom prst="roundRect">
            <a:avLst>
              <a:gd name="adj" fmla="val 22000"/>
            </a:avLst>
          </a:prstGeom>
          <a:solidFill>
            <a:srgbClr val="D9E6F2"/>
          </a:solidFill>
          <a:ln w="6350">
            <a:solidFill>
              <a:srgbClr val="69B1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100" b="1">
                <a:solidFill>
                  <a:srgbClr val="0B2E4A"/>
                </a:solidFill>
                <a:latin typeface="Calibri"/>
              </a:rPr>
              <a:t>U.S.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42875" y="981075"/>
            <a:ext cx="11906250" cy="1457325"/>
          </a:xfrm>
          <a:prstGeom prst="roundRect">
            <a:avLst>
              <a:gd name="adj" fmla="val 5228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38125" y="1038225"/>
            <a:ext cx="1171575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U.S. Volume, By Product Type (MT)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152400" y="1238250"/>
          <a:ext cx="11887202" cy="9906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71286"/>
                <a:gridCol w="630348"/>
                <a:gridCol w="630348"/>
                <a:gridCol w="630348"/>
                <a:gridCol w="630348"/>
                <a:gridCol w="630348"/>
                <a:gridCol w="630348"/>
                <a:gridCol w="630348"/>
                <a:gridCol w="630348"/>
                <a:gridCol w="630348"/>
                <a:gridCol w="630348"/>
                <a:gridCol w="630348"/>
                <a:gridCol w="630348"/>
                <a:gridCol w="630348"/>
                <a:gridCol w="630348"/>
                <a:gridCol w="630348"/>
                <a:gridCol w="630348"/>
                <a:gridCol w="630348"/>
              </a:tblGrid>
              <a:tr h="246126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Product Type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2021A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2022A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2023A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2024A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2025A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2026E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2027F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2028F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2029F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2030F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2031F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2032F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2033F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2034F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2035F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2036F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F-CAGR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</a:tr>
              <a:tr h="248158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Sweet muffins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248158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Savoury muffins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</a:tr>
              <a:tr h="248158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Total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219075" y="2238375"/>
            <a:ext cx="11753850" cy="17145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100" b="0" i="1">
                <a:solidFill>
                  <a:srgbClr val="6C7A89"/>
                </a:solidFill>
                <a:latin typeface="Calibri"/>
              </a:rPr>
              <a:t>Source: FMI Analysis, 2026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42875" y="2571750"/>
            <a:ext cx="11906250" cy="1457325"/>
          </a:xfrm>
          <a:prstGeom prst="roundRect">
            <a:avLst>
              <a:gd name="adj" fmla="val 5228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38125" y="2628900"/>
            <a:ext cx="1171575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U.S. Value, By Product Type (US$ Mn)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152400" y="2828925"/>
          <a:ext cx="11887207" cy="9906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27204"/>
                <a:gridCol w="627059"/>
                <a:gridCol w="627059"/>
                <a:gridCol w="627059"/>
                <a:gridCol w="627059"/>
                <a:gridCol w="627059"/>
                <a:gridCol w="627059"/>
                <a:gridCol w="627059"/>
                <a:gridCol w="627059"/>
                <a:gridCol w="627059"/>
                <a:gridCol w="627059"/>
                <a:gridCol w="627059"/>
                <a:gridCol w="627059"/>
                <a:gridCol w="627059"/>
                <a:gridCol w="627059"/>
                <a:gridCol w="627059"/>
                <a:gridCol w="627059"/>
                <a:gridCol w="627059"/>
              </a:tblGrid>
              <a:tr h="246126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Product Type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2021A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2022A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2023A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2024A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2025A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2026E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2027F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2028F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2029F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2030F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2031F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2032F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2033F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2034F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2035F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2036F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F-CAGR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</a:tr>
              <a:tr h="248158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Sweet muffins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248158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Savoury muffins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</a:tr>
              <a:tr h="248158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Total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219075" y="3829050"/>
            <a:ext cx="11753850" cy="17145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100" b="0" i="1">
                <a:solidFill>
                  <a:srgbClr val="6C7A89"/>
                </a:solidFill>
                <a:latin typeface="Calibri"/>
              </a:rPr>
              <a:t>Source: FMI Analysis, 2026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58595B"/>
                </a:solidFill>
                <a:latin typeface="Calibri"/>
              </a:rPr>
              <a:t>©2026 Future Market Insights, All Rights Reserved</a:t>
            </a:r>
          </a:p>
        </p:txBody>
      </p:sp>
      <p:pic>
        <p:nvPicPr>
          <p:cNvPr id="20" name="Picture 19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4954" y="1589913"/>
            <a:ext cx="366712" cy="533400"/>
          </a:xfrm>
          <a:prstGeom prst="rect">
            <a:avLst/>
          </a:prstGeom>
        </p:spPr>
      </p:pic>
      <p:pic>
        <p:nvPicPr>
          <p:cNvPr id="21" name="Picture 20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22915" y="3180587"/>
            <a:ext cx="366712" cy="5334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3825" y="914400"/>
            <a:ext cx="3943350" cy="28575"/>
          </a:xfrm>
          <a:prstGeom prst="rect">
            <a:avLst/>
          </a:prstGeom>
          <a:solidFill>
            <a:srgbClr val="0081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24325" y="914400"/>
            <a:ext cx="3943350" cy="28575"/>
          </a:xfrm>
          <a:prstGeom prst="rect">
            <a:avLst/>
          </a:prstGeom>
          <a:solidFill>
            <a:srgbClr val="9E7E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124825" y="914400"/>
            <a:ext cx="3943350" cy="28575"/>
          </a:xfrm>
          <a:prstGeom prst="rect">
            <a:avLst/>
          </a:prstGeom>
          <a:solidFill>
            <a:srgbClr val="403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mi_logo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25" y="-205740"/>
            <a:ext cx="1307592" cy="13258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543050" y="19050"/>
            <a:ext cx="8982075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U.S. YoY Analysis Product Type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43050" y="647700"/>
            <a:ext cx="10506075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U.S. year-on-year volume and value growth by Product Type, highlighting acceleration and slowdown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620375" y="228600"/>
            <a:ext cx="1428750" cy="419100"/>
          </a:xfrm>
          <a:prstGeom prst="roundRect">
            <a:avLst>
              <a:gd name="adj" fmla="val 22000"/>
            </a:avLst>
          </a:prstGeom>
          <a:solidFill>
            <a:srgbClr val="D9E6F2"/>
          </a:solidFill>
          <a:ln w="6350">
            <a:solidFill>
              <a:srgbClr val="69B1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100" b="1">
                <a:solidFill>
                  <a:srgbClr val="0B2E4A"/>
                </a:solidFill>
                <a:latin typeface="Calibri"/>
              </a:rPr>
              <a:t>U.S.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42875" y="981075"/>
            <a:ext cx="11906250" cy="1209675"/>
          </a:xfrm>
          <a:prstGeom prst="roundRect">
            <a:avLst>
              <a:gd name="adj" fmla="val 6299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38125" y="1038225"/>
            <a:ext cx="1171575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U.S. Volume YoY, By Product Type (%)  ·  </a:t>
            </a:r>
            <a:r>
              <a:rPr sz="1200" b="1">
                <a:solidFill>
                  <a:srgbClr val="2E7D32"/>
                </a:solidFill>
                <a:latin typeface="Calibri"/>
              </a:rPr>
              <a:t>▲ outpacing market  </a:t>
            </a:r>
            <a:r>
              <a:rPr sz="1200" b="1">
                <a:solidFill>
                  <a:srgbClr val="A86F00"/>
                </a:solidFill>
                <a:latin typeface="Calibri"/>
              </a:rPr>
              <a:t>▶ below market pace  </a:t>
            </a:r>
            <a:r>
              <a:rPr sz="1200" b="1">
                <a:solidFill>
                  <a:srgbClr val="E44D3A"/>
                </a:solidFill>
                <a:latin typeface="Calibri"/>
              </a:rPr>
              <a:t>▼ decline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152400" y="1238250"/>
          <a:ext cx="11887198" cy="74294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46878"/>
                <a:gridCol w="702688"/>
                <a:gridCol w="702688"/>
                <a:gridCol w="702688"/>
                <a:gridCol w="702688"/>
                <a:gridCol w="702688"/>
                <a:gridCol w="702688"/>
                <a:gridCol w="702688"/>
                <a:gridCol w="702688"/>
                <a:gridCol w="702688"/>
                <a:gridCol w="702688"/>
                <a:gridCol w="702688"/>
                <a:gridCol w="702688"/>
                <a:gridCol w="702688"/>
                <a:gridCol w="702688"/>
                <a:gridCol w="702688"/>
              </a:tblGrid>
              <a:tr h="246126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Product Type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2022A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2023A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2024A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2025A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2026E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2027F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2028F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2029F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2030F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2031F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2032F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2033F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2034F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2035F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2036F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</a:tr>
              <a:tr h="248411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Sweet muffins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248411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Savoury muffins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219075" y="1990725"/>
            <a:ext cx="11753850" cy="17145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100" b="0" i="1">
                <a:solidFill>
                  <a:srgbClr val="6C7A89"/>
                </a:solidFill>
                <a:latin typeface="Calibri"/>
              </a:rPr>
              <a:t>Source: FMI Analysis, 2026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42875" y="2324100"/>
            <a:ext cx="11906250" cy="1209675"/>
          </a:xfrm>
          <a:prstGeom prst="roundRect">
            <a:avLst>
              <a:gd name="adj" fmla="val 6299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38125" y="2381250"/>
            <a:ext cx="1171575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U.S. Value YoY, By Product Type (%)  ·  </a:t>
            </a:r>
            <a:r>
              <a:rPr sz="1200" b="1">
                <a:solidFill>
                  <a:srgbClr val="2E7D32"/>
                </a:solidFill>
                <a:latin typeface="Calibri"/>
              </a:rPr>
              <a:t>▲ outpacing market  </a:t>
            </a:r>
            <a:r>
              <a:rPr sz="1200" b="1">
                <a:solidFill>
                  <a:srgbClr val="A86F00"/>
                </a:solidFill>
                <a:latin typeface="Calibri"/>
              </a:rPr>
              <a:t>▶ below market pace  </a:t>
            </a:r>
            <a:r>
              <a:rPr sz="1200" b="1">
                <a:solidFill>
                  <a:srgbClr val="E44D3A"/>
                </a:solidFill>
                <a:latin typeface="Calibri"/>
              </a:rPr>
              <a:t>▼ decline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152400" y="2581275"/>
          <a:ext cx="11887198" cy="74294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46878"/>
                <a:gridCol w="702688"/>
                <a:gridCol w="702688"/>
                <a:gridCol w="702688"/>
                <a:gridCol w="702688"/>
                <a:gridCol w="702688"/>
                <a:gridCol w="702688"/>
                <a:gridCol w="702688"/>
                <a:gridCol w="702688"/>
                <a:gridCol w="702688"/>
                <a:gridCol w="702688"/>
                <a:gridCol w="702688"/>
                <a:gridCol w="702688"/>
                <a:gridCol w="702688"/>
                <a:gridCol w="702688"/>
                <a:gridCol w="702688"/>
              </a:tblGrid>
              <a:tr h="246126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Product Type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2022A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2023A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2024A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2025A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2026E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2027F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2028F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2029F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2030F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2031F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2032F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2033F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2034F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2035F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2036F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</a:tr>
              <a:tr h="248411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Sweet muffins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248411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Savoury muffins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219075" y="3333750"/>
            <a:ext cx="11753850" cy="17145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100" b="0" i="1">
                <a:solidFill>
                  <a:srgbClr val="6C7A89"/>
                </a:solidFill>
                <a:latin typeface="Calibri"/>
              </a:rPr>
              <a:t>Source: FMI Analysis, 2026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58595B"/>
                </a:solidFill>
                <a:latin typeface="Calibri"/>
              </a:rPr>
              <a:t>©2026 Future Market Insights, All Rights Reserved</a:t>
            </a:r>
          </a:p>
        </p:txBody>
      </p:sp>
      <p:pic>
        <p:nvPicPr>
          <p:cNvPr id="20" name="Picture 19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1417" y="1482090"/>
            <a:ext cx="330041" cy="480060"/>
          </a:xfrm>
          <a:prstGeom prst="rect">
            <a:avLst/>
          </a:prstGeom>
        </p:spPr>
      </p:pic>
      <p:pic>
        <p:nvPicPr>
          <p:cNvPr id="21" name="Picture 20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1417" y="2825115"/>
            <a:ext cx="330041" cy="48006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8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F1F8FE"/>
              </a:gs>
              <a:gs pos="100000">
                <a:srgbClr val="DAEAF9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0" y="5591183"/>
            <a:ext cx="12192000" cy="1266817"/>
          </a:xfrm>
          <a:custGeom>
            <a:avLst/>
            <a:gdLst/>
            <a:ahLst/>
            <a:cxnLst/>
            <a:rect l="l" t="t" r="r" b="b"/>
            <a:pathLst>
              <a:path w="12192000" h="1266817">
                <a:moveTo>
                  <a:pt x="0" y="1266817"/>
                </a:moveTo>
                <a:lnTo>
                  <a:pt x="0" y="475605"/>
                </a:lnTo>
                <a:lnTo>
                  <a:pt x="152400" y="486239"/>
                </a:lnTo>
                <a:lnTo>
                  <a:pt x="304800" y="495887"/>
                </a:lnTo>
                <a:lnTo>
                  <a:pt x="457200" y="504505"/>
                </a:lnTo>
                <a:lnTo>
                  <a:pt x="609600" y="512056"/>
                </a:lnTo>
                <a:lnTo>
                  <a:pt x="762000" y="518505"/>
                </a:lnTo>
                <a:lnTo>
                  <a:pt x="914400" y="523824"/>
                </a:lnTo>
                <a:lnTo>
                  <a:pt x="1066800" y="527988"/>
                </a:lnTo>
                <a:lnTo>
                  <a:pt x="1219200" y="530979"/>
                </a:lnTo>
                <a:lnTo>
                  <a:pt x="1371600" y="532783"/>
                </a:lnTo>
                <a:lnTo>
                  <a:pt x="1524000" y="533392"/>
                </a:lnTo>
                <a:lnTo>
                  <a:pt x="1676400" y="532804"/>
                </a:lnTo>
                <a:lnTo>
                  <a:pt x="1828800" y="531021"/>
                </a:lnTo>
                <a:lnTo>
                  <a:pt x="1981200" y="528051"/>
                </a:lnTo>
                <a:lnTo>
                  <a:pt x="2133600" y="523907"/>
                </a:lnTo>
                <a:lnTo>
                  <a:pt x="2286000" y="518609"/>
                </a:lnTo>
                <a:lnTo>
                  <a:pt x="2438400" y="512179"/>
                </a:lnTo>
                <a:lnTo>
                  <a:pt x="2590800" y="504648"/>
                </a:lnTo>
                <a:lnTo>
                  <a:pt x="2743200" y="496047"/>
                </a:lnTo>
                <a:lnTo>
                  <a:pt x="2895600" y="486417"/>
                </a:lnTo>
                <a:lnTo>
                  <a:pt x="3048000" y="475801"/>
                </a:lnTo>
                <a:lnTo>
                  <a:pt x="3200400" y="464245"/>
                </a:lnTo>
                <a:lnTo>
                  <a:pt x="3352800" y="451803"/>
                </a:lnTo>
                <a:lnTo>
                  <a:pt x="3505200" y="438529"/>
                </a:lnTo>
                <a:lnTo>
                  <a:pt x="3657600" y="424484"/>
                </a:lnTo>
                <a:lnTo>
                  <a:pt x="3810000" y="409730"/>
                </a:lnTo>
                <a:lnTo>
                  <a:pt x="3962400" y="394334"/>
                </a:lnTo>
                <a:lnTo>
                  <a:pt x="4114800" y="378365"/>
                </a:lnTo>
                <a:lnTo>
                  <a:pt x="4267200" y="361894"/>
                </a:lnTo>
                <a:lnTo>
                  <a:pt x="4419600" y="344996"/>
                </a:lnTo>
                <a:lnTo>
                  <a:pt x="4572000" y="327746"/>
                </a:lnTo>
                <a:lnTo>
                  <a:pt x="4724400" y="310223"/>
                </a:lnTo>
                <a:lnTo>
                  <a:pt x="4876800" y="292503"/>
                </a:lnTo>
                <a:lnTo>
                  <a:pt x="5029200" y="274668"/>
                </a:lnTo>
                <a:lnTo>
                  <a:pt x="5181600" y="256797"/>
                </a:lnTo>
                <a:lnTo>
                  <a:pt x="5334000" y="238971"/>
                </a:lnTo>
                <a:lnTo>
                  <a:pt x="5486400" y="221269"/>
                </a:lnTo>
                <a:lnTo>
                  <a:pt x="5638800" y="203771"/>
                </a:lnTo>
                <a:lnTo>
                  <a:pt x="5791200" y="186555"/>
                </a:lnTo>
                <a:lnTo>
                  <a:pt x="5943600" y="169699"/>
                </a:lnTo>
                <a:lnTo>
                  <a:pt x="6096000" y="153279"/>
                </a:lnTo>
                <a:lnTo>
                  <a:pt x="6248400" y="137368"/>
                </a:lnTo>
                <a:lnTo>
                  <a:pt x="6400800" y="122038"/>
                </a:lnTo>
                <a:lnTo>
                  <a:pt x="6553200" y="107357"/>
                </a:lnTo>
                <a:lnTo>
                  <a:pt x="6705600" y="93391"/>
                </a:lnTo>
                <a:lnTo>
                  <a:pt x="6858000" y="80204"/>
                </a:lnTo>
                <a:lnTo>
                  <a:pt x="7010400" y="67854"/>
                </a:lnTo>
                <a:lnTo>
                  <a:pt x="7162800" y="56397"/>
                </a:lnTo>
                <a:lnTo>
                  <a:pt x="7315200" y="45884"/>
                </a:lnTo>
                <a:lnTo>
                  <a:pt x="7467600" y="36363"/>
                </a:lnTo>
                <a:lnTo>
                  <a:pt x="7620000" y="27876"/>
                </a:lnTo>
                <a:lnTo>
                  <a:pt x="7772400" y="20461"/>
                </a:lnTo>
                <a:lnTo>
                  <a:pt x="7924800" y="14151"/>
                </a:lnTo>
                <a:lnTo>
                  <a:pt x="8077200" y="8976"/>
                </a:lnTo>
                <a:lnTo>
                  <a:pt x="8229600" y="4958"/>
                </a:lnTo>
                <a:lnTo>
                  <a:pt x="8382000" y="2115"/>
                </a:lnTo>
                <a:lnTo>
                  <a:pt x="8534400" y="460"/>
                </a:lnTo>
                <a:lnTo>
                  <a:pt x="8686800" y="0"/>
                </a:lnTo>
                <a:lnTo>
                  <a:pt x="8839200" y="738"/>
                </a:lnTo>
                <a:lnTo>
                  <a:pt x="8991600" y="2670"/>
                </a:lnTo>
                <a:lnTo>
                  <a:pt x="9144000" y="5787"/>
                </a:lnTo>
                <a:lnTo>
                  <a:pt x="9296400" y="10076"/>
                </a:lnTo>
                <a:lnTo>
                  <a:pt x="9448800" y="15518"/>
                </a:lnTo>
                <a:lnTo>
                  <a:pt x="9601200" y="22086"/>
                </a:lnTo>
                <a:lnTo>
                  <a:pt x="9753600" y="29754"/>
                </a:lnTo>
                <a:lnTo>
                  <a:pt x="9906000" y="38485"/>
                </a:lnTo>
                <a:lnTo>
                  <a:pt x="10058400" y="48241"/>
                </a:lnTo>
                <a:lnTo>
                  <a:pt x="10210800" y="58977"/>
                </a:lnTo>
                <a:lnTo>
                  <a:pt x="10363200" y="70647"/>
                </a:lnTo>
                <a:lnTo>
                  <a:pt x="10515600" y="83196"/>
                </a:lnTo>
                <a:lnTo>
                  <a:pt x="10668000" y="96570"/>
                </a:lnTo>
                <a:lnTo>
                  <a:pt x="10820400" y="110707"/>
                </a:lnTo>
                <a:lnTo>
                  <a:pt x="10972800" y="125545"/>
                </a:lnTo>
                <a:lnTo>
                  <a:pt x="11125200" y="141016"/>
                </a:lnTo>
                <a:lnTo>
                  <a:pt x="11277600" y="157052"/>
                </a:lnTo>
                <a:lnTo>
                  <a:pt x="11430000" y="173580"/>
                </a:lnTo>
                <a:lnTo>
                  <a:pt x="11582400" y="190527"/>
                </a:lnTo>
                <a:lnTo>
                  <a:pt x="11734800" y="207815"/>
                </a:lnTo>
                <a:lnTo>
                  <a:pt x="11887200" y="225367"/>
                </a:lnTo>
                <a:lnTo>
                  <a:pt x="12039600" y="243105"/>
                </a:lnTo>
                <a:lnTo>
                  <a:pt x="12192000" y="260949"/>
                </a:lnTo>
                <a:lnTo>
                  <a:pt x="12192000" y="1266817"/>
                </a:lnTo>
                <a:close/>
              </a:path>
            </a:pathLst>
          </a:custGeom>
          <a:solidFill>
            <a:srgbClr val="C8E0F6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0" y="5905543"/>
            <a:ext cx="12192000" cy="952457"/>
          </a:xfrm>
          <a:custGeom>
            <a:avLst/>
            <a:gdLst/>
            <a:ahLst/>
            <a:cxnLst/>
            <a:rect l="l" t="t" r="r" b="b"/>
            <a:pathLst>
              <a:path w="12192000" h="952457">
                <a:moveTo>
                  <a:pt x="0" y="952457"/>
                </a:moveTo>
                <a:lnTo>
                  <a:pt x="0" y="288660"/>
                </a:lnTo>
                <a:lnTo>
                  <a:pt x="152400" y="275228"/>
                </a:lnTo>
                <a:lnTo>
                  <a:pt x="304800" y="261249"/>
                </a:lnTo>
                <a:lnTo>
                  <a:pt x="457200" y="246812"/>
                </a:lnTo>
                <a:lnTo>
                  <a:pt x="609600" y="232010"/>
                </a:lnTo>
                <a:lnTo>
                  <a:pt x="762000" y="216940"/>
                </a:lnTo>
                <a:lnTo>
                  <a:pt x="914400" y="201698"/>
                </a:lnTo>
                <a:lnTo>
                  <a:pt x="1066800" y="186384"/>
                </a:lnTo>
                <a:lnTo>
                  <a:pt x="1219200" y="171097"/>
                </a:lnTo>
                <a:lnTo>
                  <a:pt x="1371600" y="155934"/>
                </a:lnTo>
                <a:lnTo>
                  <a:pt x="1524000" y="140995"/>
                </a:lnTo>
                <a:lnTo>
                  <a:pt x="1676400" y="126375"/>
                </a:lnTo>
                <a:lnTo>
                  <a:pt x="1828800" y="112170"/>
                </a:lnTo>
                <a:lnTo>
                  <a:pt x="1981200" y="98470"/>
                </a:lnTo>
                <a:lnTo>
                  <a:pt x="2133600" y="85366"/>
                </a:lnTo>
                <a:lnTo>
                  <a:pt x="2286000" y="72940"/>
                </a:lnTo>
                <a:lnTo>
                  <a:pt x="2438400" y="61275"/>
                </a:lnTo>
                <a:lnTo>
                  <a:pt x="2590800" y="50444"/>
                </a:lnTo>
                <a:lnTo>
                  <a:pt x="2743200" y="40519"/>
                </a:lnTo>
                <a:lnTo>
                  <a:pt x="2895600" y="31563"/>
                </a:lnTo>
                <a:lnTo>
                  <a:pt x="3048000" y="23634"/>
                </a:lnTo>
                <a:lnTo>
                  <a:pt x="3200400" y="16784"/>
                </a:lnTo>
                <a:lnTo>
                  <a:pt x="3352800" y="11056"/>
                </a:lnTo>
                <a:lnTo>
                  <a:pt x="3505200" y="6489"/>
                </a:lnTo>
                <a:lnTo>
                  <a:pt x="3657600" y="3110"/>
                </a:lnTo>
                <a:lnTo>
                  <a:pt x="3810000" y="943"/>
                </a:lnTo>
                <a:lnTo>
                  <a:pt x="3962400" y="0"/>
                </a:lnTo>
                <a:lnTo>
                  <a:pt x="4114800" y="289"/>
                </a:lnTo>
                <a:lnTo>
                  <a:pt x="4267200" y="1808"/>
                </a:lnTo>
                <a:lnTo>
                  <a:pt x="4419600" y="4546"/>
                </a:lnTo>
                <a:lnTo>
                  <a:pt x="4572000" y="8485"/>
                </a:lnTo>
                <a:lnTo>
                  <a:pt x="4724400" y="13601"/>
                </a:lnTo>
                <a:lnTo>
                  <a:pt x="4876800" y="19861"/>
                </a:lnTo>
                <a:lnTo>
                  <a:pt x="5029200" y="27223"/>
                </a:lnTo>
                <a:lnTo>
                  <a:pt x="5181600" y="35641"/>
                </a:lnTo>
                <a:lnTo>
                  <a:pt x="5334000" y="45059"/>
                </a:lnTo>
                <a:lnTo>
                  <a:pt x="5486400" y="55417"/>
                </a:lnTo>
                <a:lnTo>
                  <a:pt x="5638800" y="66649"/>
                </a:lnTo>
                <a:lnTo>
                  <a:pt x="5791200" y="78680"/>
                </a:lnTo>
                <a:lnTo>
                  <a:pt x="5943600" y="91435"/>
                </a:lnTo>
                <a:lnTo>
                  <a:pt x="6096000" y="104829"/>
                </a:lnTo>
                <a:lnTo>
                  <a:pt x="6248400" y="118777"/>
                </a:lnTo>
                <a:lnTo>
                  <a:pt x="6400800" y="133188"/>
                </a:lnTo>
                <a:lnTo>
                  <a:pt x="6553200" y="147970"/>
                </a:lnTo>
                <a:lnTo>
                  <a:pt x="6705600" y="163026"/>
                </a:lnTo>
                <a:lnTo>
                  <a:pt x="6858000" y="178260"/>
                </a:lnTo>
                <a:lnTo>
                  <a:pt x="7010400" y="193572"/>
                </a:lnTo>
                <a:lnTo>
                  <a:pt x="7162800" y="208865"/>
                </a:lnTo>
                <a:lnTo>
                  <a:pt x="7315200" y="224038"/>
                </a:lnTo>
                <a:lnTo>
                  <a:pt x="7467600" y="238994"/>
                </a:lnTo>
                <a:lnTo>
                  <a:pt x="7620000" y="253637"/>
                </a:lnTo>
                <a:lnTo>
                  <a:pt x="7772400" y="267871"/>
                </a:lnTo>
                <a:lnTo>
                  <a:pt x="7924800" y="281604"/>
                </a:lnTo>
                <a:lnTo>
                  <a:pt x="8077200" y="294748"/>
                </a:lnTo>
                <a:lnTo>
                  <a:pt x="8229600" y="307218"/>
                </a:lnTo>
                <a:lnTo>
                  <a:pt x="8382000" y="318934"/>
                </a:lnTo>
                <a:lnTo>
                  <a:pt x="8534400" y="329818"/>
                </a:lnTo>
                <a:lnTo>
                  <a:pt x="8686800" y="339802"/>
                </a:lnTo>
                <a:lnTo>
                  <a:pt x="8839200" y="348821"/>
                </a:lnTo>
                <a:lnTo>
                  <a:pt x="8991600" y="356815"/>
                </a:lnTo>
                <a:lnTo>
                  <a:pt x="9144000" y="363734"/>
                </a:lnTo>
                <a:lnTo>
                  <a:pt x="9296400" y="369533"/>
                </a:lnTo>
                <a:lnTo>
                  <a:pt x="9448800" y="374174"/>
                </a:lnTo>
                <a:lnTo>
                  <a:pt x="9601200" y="377628"/>
                </a:lnTo>
                <a:lnTo>
                  <a:pt x="9753600" y="379872"/>
                </a:lnTo>
                <a:lnTo>
                  <a:pt x="9906000" y="380891"/>
                </a:lnTo>
                <a:lnTo>
                  <a:pt x="10058400" y="380679"/>
                </a:lnTo>
                <a:lnTo>
                  <a:pt x="10210800" y="379237"/>
                </a:lnTo>
                <a:lnTo>
                  <a:pt x="10363200" y="376575"/>
                </a:lnTo>
                <a:lnTo>
                  <a:pt x="10515600" y="372710"/>
                </a:lnTo>
                <a:lnTo>
                  <a:pt x="10668000" y="367666"/>
                </a:lnTo>
                <a:lnTo>
                  <a:pt x="10820400" y="361477"/>
                </a:lnTo>
                <a:lnTo>
                  <a:pt x="10972800" y="354182"/>
                </a:lnTo>
                <a:lnTo>
                  <a:pt x="11125200" y="345829"/>
                </a:lnTo>
                <a:lnTo>
                  <a:pt x="11277600" y="336472"/>
                </a:lnTo>
                <a:lnTo>
                  <a:pt x="11430000" y="326170"/>
                </a:lnTo>
                <a:lnTo>
                  <a:pt x="11582400" y="314991"/>
                </a:lnTo>
                <a:lnTo>
                  <a:pt x="11734800" y="303008"/>
                </a:lnTo>
                <a:lnTo>
                  <a:pt x="11887200" y="290296"/>
                </a:lnTo>
                <a:lnTo>
                  <a:pt x="12039600" y="276939"/>
                </a:lnTo>
                <a:lnTo>
                  <a:pt x="12192000" y="263023"/>
                </a:lnTo>
                <a:lnTo>
                  <a:pt x="12192000" y="952457"/>
                </a:lnTo>
                <a:close/>
              </a:path>
            </a:pathLst>
          </a:custGeom>
          <a:solidFill>
            <a:srgbClr val="A7CDF1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638925"/>
            <a:ext cx="12192000" cy="219075"/>
          </a:xfrm>
          <a:prstGeom prst="rect">
            <a:avLst/>
          </a:prstGeom>
          <a:solidFill>
            <a:srgbClr val="A9C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238875"/>
            <a:ext cx="12192000" cy="400050"/>
          </a:xfrm>
          <a:prstGeom prst="rect">
            <a:avLst/>
          </a:prstGeom>
          <a:gradFill rotWithShape="1">
            <a:gsLst>
              <a:gs pos="0">
                <a:srgbClr val="2C6BB2"/>
              </a:gs>
              <a:gs pos="100000">
                <a:srgbClr val="7FB5E4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MI Section Bar"/>
          <p:cNvSpPr txBox="1"/>
          <p:nvPr/>
        </p:nvSpPr>
        <p:spPr>
          <a:xfrm>
            <a:off x="285750" y="6238875"/>
            <a:ext cx="3810000" cy="400050"/>
          </a:xfrm>
          <a:prstGeom prst="rect">
            <a:avLst/>
          </a:prstGeom>
          <a:noFill/>
        </p:spPr>
        <p:txBody>
          <a:bodyPr wrap="none" anchor="ctr" lIns="0" tIns="0" bIns="0">
            <a:spAutoFit/>
          </a:bodyPr>
          <a:lstStyle/>
          <a:p>
            <a:r>
              <a:rPr sz="1500" b="1">
                <a:solidFill>
                  <a:srgbClr val="FFFFFF"/>
                </a:solidFill>
                <a:latin typeface="Calibri"/>
              </a:rPr>
              <a:t>Section 2.2</a:t>
            </a:r>
          </a:p>
        </p:txBody>
      </p:sp>
      <p:pic>
        <p:nvPicPr>
          <p:cNvPr id="8" name="Picture 7" descr="fmi_logo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74320"/>
            <a:ext cx="1307592" cy="13258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14400" y="2752725"/>
            <a:ext cx="8572500" cy="3048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800" b="0">
                <a:solidFill>
                  <a:srgbClr val="0E72AE"/>
                </a:solidFill>
                <a:latin typeface="Calibri"/>
              </a:rPr>
              <a:t>Packaged Muffins Market</a:t>
            </a:r>
          </a:p>
        </p:txBody>
      </p:sp>
      <p:sp>
        <p:nvSpPr>
          <p:cNvPr id="10" name="FMI Section Title"/>
          <p:cNvSpPr txBox="1"/>
          <p:nvPr/>
        </p:nvSpPr>
        <p:spPr>
          <a:xfrm>
            <a:off x="914400" y="3095625"/>
            <a:ext cx="8572500" cy="51435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r>
              <a:rPr sz="3000" b="1">
                <a:solidFill>
                  <a:srgbClr val="0B3C8C"/>
                </a:solidFill>
                <a:latin typeface="Calibri"/>
              </a:rPr>
              <a:t>Flavour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781425"/>
            <a:ext cx="8458200" cy="12763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Calibri"/>
              </a:rPr>
              <a:t>➤	</a:t>
            </a:r>
            <a:r>
              <a:rPr sz="2000" b="0">
                <a:solidFill>
                  <a:srgbClr val="000000"/>
                </a:solidFill>
                <a:latin typeface="Calibri"/>
              </a:rPr>
              <a:t>Segmental</a:t>
            </a:r>
          </a:p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Calibri"/>
              </a:rPr>
              <a:t>➤	</a:t>
            </a:r>
            <a:r>
              <a:rPr sz="2000" b="0">
                <a:solidFill>
                  <a:srgbClr val="000000"/>
                </a:solidFill>
                <a:latin typeface="Calibri"/>
              </a:rPr>
              <a:t>Table (Volume &amp; Value)</a:t>
            </a:r>
          </a:p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Calibri"/>
              </a:rPr>
              <a:t>➤	</a:t>
            </a:r>
            <a:r>
              <a:rPr sz="2000" b="0">
                <a:solidFill>
                  <a:srgbClr val="000000"/>
                </a:solidFill>
                <a:latin typeface="Calibri"/>
              </a:rPr>
              <a:t>YoY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58595B"/>
                </a:solidFill>
                <a:latin typeface="Calibri"/>
              </a:rPr>
              <a:t>©2026 Future Market Insights, All Rights Reserved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3825" y="914400"/>
            <a:ext cx="3943350" cy="28575"/>
          </a:xfrm>
          <a:prstGeom prst="rect">
            <a:avLst/>
          </a:prstGeom>
          <a:solidFill>
            <a:srgbClr val="0081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24325" y="914400"/>
            <a:ext cx="3943350" cy="28575"/>
          </a:xfrm>
          <a:prstGeom prst="rect">
            <a:avLst/>
          </a:prstGeom>
          <a:solidFill>
            <a:srgbClr val="9E7E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124825" y="914400"/>
            <a:ext cx="3943350" cy="28575"/>
          </a:xfrm>
          <a:prstGeom prst="rect">
            <a:avLst/>
          </a:prstGeom>
          <a:solidFill>
            <a:srgbClr val="403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mi_logo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25" y="-205740"/>
            <a:ext cx="1307592" cy="13258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543050" y="19050"/>
            <a:ext cx="8982075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U.S. Packaged Muffins Market Segmental Analysis Flavour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43050" y="647700"/>
            <a:ext cx="10506075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U.S. segmental analysis by Flavour: growth contribution, share variance and absolute $ opportunity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620375" y="228600"/>
            <a:ext cx="1428750" cy="419100"/>
          </a:xfrm>
          <a:prstGeom prst="roundRect">
            <a:avLst>
              <a:gd name="adj" fmla="val 22000"/>
            </a:avLst>
          </a:prstGeom>
          <a:solidFill>
            <a:srgbClr val="D9E6F2"/>
          </a:solidFill>
          <a:ln w="6350">
            <a:solidFill>
              <a:srgbClr val="69B1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100" b="1">
                <a:solidFill>
                  <a:srgbClr val="0B2E4A"/>
                </a:solidFill>
                <a:latin typeface="Calibri"/>
              </a:rPr>
              <a:t>U.S.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42875" y="981075"/>
            <a:ext cx="5876925" cy="2752725"/>
          </a:xfrm>
          <a:prstGeom prst="roundRect">
            <a:avLst>
              <a:gd name="adj" fmla="val 2768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38125" y="1038225"/>
            <a:ext cx="5686425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Growth Contribution 2026 → 2036, By Flavour (US$ Mn)</a:t>
            </a:r>
          </a:p>
        </p:txBody>
      </p:sp>
      <p:graphicFrame>
        <p:nvGraphicFramePr>
          <p:cNvPr id="13" name="Chart 12"/>
          <p:cNvGraphicFramePr>
            <a:graphicFrameLocks noGrp="1"/>
          </p:cNvGraphicFramePr>
          <p:nvPr/>
        </p:nvGraphicFramePr>
        <p:xfrm>
          <a:off x="238125" y="1266825"/>
          <a:ext cx="5686425" cy="2409825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4" name="Rounded Rectangle 13"/>
          <p:cNvSpPr/>
          <p:nvPr/>
        </p:nvSpPr>
        <p:spPr>
          <a:xfrm>
            <a:off x="6172200" y="981075"/>
            <a:ext cx="5876925" cy="2752725"/>
          </a:xfrm>
          <a:prstGeom prst="roundRect">
            <a:avLst>
              <a:gd name="adj" fmla="val 2768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67450" y="1038225"/>
            <a:ext cx="5686425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Value Shares &amp; Variance, By Flavour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6181725" y="1238250"/>
          <a:ext cx="5857877" cy="2286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25077"/>
                <a:gridCol w="1033200"/>
                <a:gridCol w="1033200"/>
                <a:gridCol w="1033200"/>
                <a:gridCol w="1033200"/>
              </a:tblGrid>
              <a:tr h="246126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Flavour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Share 2026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Share 2036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Variance (BPS)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F-CAGR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</a:tr>
              <a:tr h="1019937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Sweet Muffins Flavours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1019937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Savoury Muffins Flavours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</a:tr>
            </a:tbl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6248400" y="3533775"/>
            <a:ext cx="5724525" cy="17145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100" b="0" i="1">
                <a:solidFill>
                  <a:srgbClr val="6C7A89"/>
                </a:solidFill>
                <a:latin typeface="Calibri"/>
              </a:rPr>
              <a:t>Source: FMI Analysis, 2026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42875" y="3867150"/>
            <a:ext cx="5876925" cy="2752725"/>
          </a:xfrm>
          <a:prstGeom prst="roundRect">
            <a:avLst>
              <a:gd name="adj" fmla="val 2768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38125" y="3924300"/>
            <a:ext cx="5686425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Absolute $ Opportunity, By Flavour (US$ Mn), between 2026–2036</a:t>
            </a:r>
          </a:p>
        </p:txBody>
      </p:sp>
      <p:graphicFrame>
        <p:nvGraphicFramePr>
          <p:cNvPr id="20" name="Chart 19"/>
          <p:cNvGraphicFramePr>
            <a:graphicFrameLocks noGrp="1"/>
          </p:cNvGraphicFramePr>
          <p:nvPr/>
        </p:nvGraphicFramePr>
        <p:xfrm>
          <a:off x="238125" y="4152900"/>
          <a:ext cx="5686425" cy="2409825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21" name="Rounded Rectangle 20"/>
          <p:cNvSpPr/>
          <p:nvPr/>
        </p:nvSpPr>
        <p:spPr>
          <a:xfrm>
            <a:off x="6172200" y="3867150"/>
            <a:ext cx="5876925" cy="2752725"/>
          </a:xfrm>
          <a:prstGeom prst="roundRect">
            <a:avLst>
              <a:gd name="adj" fmla="val 2768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67450" y="3924300"/>
            <a:ext cx="5686425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Volume Shares &amp; Variance, By Flavour</a:t>
            </a:r>
          </a:p>
        </p:txBody>
      </p:sp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6181725" y="4124325"/>
          <a:ext cx="5857877" cy="2286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25077"/>
                <a:gridCol w="1033200"/>
                <a:gridCol w="1033200"/>
                <a:gridCol w="1033200"/>
                <a:gridCol w="1033200"/>
              </a:tblGrid>
              <a:tr h="246126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Flavour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Share 2026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Share 2036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Variance (BPS)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F-CAGR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</a:tr>
              <a:tr h="1019937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Sweet Muffins Flavours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1019937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Savoury Muffins Flavours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</a:tr>
            </a:tbl>
          </a:graphicData>
        </a:graphic>
      </p:graphicFrame>
      <p:sp>
        <p:nvSpPr>
          <p:cNvPr id="24" name="TextBox 23"/>
          <p:cNvSpPr txBox="1"/>
          <p:nvPr/>
        </p:nvSpPr>
        <p:spPr>
          <a:xfrm>
            <a:off x="6248400" y="6419850"/>
            <a:ext cx="5724525" cy="17145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100" b="0" i="1">
                <a:solidFill>
                  <a:srgbClr val="6C7A89"/>
                </a:solidFill>
                <a:latin typeface="Calibri"/>
              </a:rPr>
              <a:t>Source: FMI Analysis, 2026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58595B"/>
                </a:solidFill>
                <a:latin typeface="Calibri"/>
              </a:rPr>
              <a:t>©2026 Future Market Insights, All Rights Reserved</a:t>
            </a:r>
          </a:p>
        </p:txBody>
      </p:sp>
      <p:pic>
        <p:nvPicPr>
          <p:cNvPr id="26" name="Picture 25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94826" y="2237234"/>
            <a:ext cx="263506" cy="383281"/>
          </a:xfrm>
          <a:prstGeom prst="rect">
            <a:avLst/>
          </a:prstGeom>
        </p:spPr>
      </p:pic>
      <p:pic>
        <p:nvPicPr>
          <p:cNvPr id="27" name="Picture 26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86512" y="2237613"/>
            <a:ext cx="366712" cy="533400"/>
          </a:xfrm>
          <a:prstGeom prst="rect">
            <a:avLst/>
          </a:prstGeom>
        </p:spPr>
      </p:pic>
      <p:pic>
        <p:nvPicPr>
          <p:cNvPr id="28" name="Picture 27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94826" y="5123309"/>
            <a:ext cx="263506" cy="383281"/>
          </a:xfrm>
          <a:prstGeom prst="rect">
            <a:avLst/>
          </a:prstGeom>
        </p:spPr>
      </p:pic>
      <p:pic>
        <p:nvPicPr>
          <p:cNvPr id="29" name="Picture 28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86512" y="5123688"/>
            <a:ext cx="366712" cy="533400"/>
          </a:xfrm>
          <a:prstGeom prst="rect">
            <a:avLst/>
          </a:prstGeom>
        </p:spPr>
      </p:pic>
      <p:sp>
        <p:nvSpPr>
          <p:cNvPr id="30" name="lockshield_13"/>
          <p:cNvSpPr/>
          <p:nvPr/>
        </p:nvSpPr>
        <p:spPr>
          <a:xfrm>
            <a:off x="238125" y="1266825"/>
            <a:ext cx="5686425" cy="2409825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lockshield_20"/>
          <p:cNvSpPr/>
          <p:nvPr/>
        </p:nvSpPr>
        <p:spPr>
          <a:xfrm>
            <a:off x="238125" y="4152900"/>
            <a:ext cx="5686425" cy="2409825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3825" y="914400"/>
            <a:ext cx="3943350" cy="28575"/>
          </a:xfrm>
          <a:prstGeom prst="rect">
            <a:avLst/>
          </a:prstGeom>
          <a:solidFill>
            <a:srgbClr val="0081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24325" y="914400"/>
            <a:ext cx="3943350" cy="28575"/>
          </a:xfrm>
          <a:prstGeom prst="rect">
            <a:avLst/>
          </a:prstGeom>
          <a:solidFill>
            <a:srgbClr val="9E7E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124825" y="914400"/>
            <a:ext cx="3943350" cy="28575"/>
          </a:xfrm>
          <a:prstGeom prst="rect">
            <a:avLst/>
          </a:prstGeom>
          <a:solidFill>
            <a:srgbClr val="403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mi_logo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25" y="-205740"/>
            <a:ext cx="1307592" cy="13258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543050" y="19050"/>
            <a:ext cx="8982075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U.S. Packaged Muffins Market Tables Flavour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43050" y="647700"/>
            <a:ext cx="10506075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Year-by-year volume and value of the U.S. market by Flavour, 2021–2036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620375" y="228600"/>
            <a:ext cx="1428750" cy="419100"/>
          </a:xfrm>
          <a:prstGeom prst="roundRect">
            <a:avLst>
              <a:gd name="adj" fmla="val 22000"/>
            </a:avLst>
          </a:prstGeom>
          <a:solidFill>
            <a:srgbClr val="D9E6F2"/>
          </a:solidFill>
          <a:ln w="6350">
            <a:solidFill>
              <a:srgbClr val="69B1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100" b="1">
                <a:solidFill>
                  <a:srgbClr val="0B2E4A"/>
                </a:solidFill>
                <a:latin typeface="Calibri"/>
              </a:rPr>
              <a:t>U.S.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42875" y="981075"/>
            <a:ext cx="11906250" cy="1457325"/>
          </a:xfrm>
          <a:prstGeom prst="roundRect">
            <a:avLst>
              <a:gd name="adj" fmla="val 5228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38125" y="1038225"/>
            <a:ext cx="1171575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U.S. Volume, By Flavour (MT)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152400" y="1238250"/>
          <a:ext cx="11887200" cy="9906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81250"/>
                <a:gridCol w="600350"/>
                <a:gridCol w="600350"/>
                <a:gridCol w="600350"/>
                <a:gridCol w="600350"/>
                <a:gridCol w="600350"/>
                <a:gridCol w="600350"/>
                <a:gridCol w="600350"/>
                <a:gridCol w="600350"/>
                <a:gridCol w="600350"/>
                <a:gridCol w="600350"/>
                <a:gridCol w="600350"/>
                <a:gridCol w="600350"/>
                <a:gridCol w="600350"/>
                <a:gridCol w="600350"/>
                <a:gridCol w="600350"/>
                <a:gridCol w="600350"/>
                <a:gridCol w="600350"/>
              </a:tblGrid>
              <a:tr h="246126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Flavour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2021A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2022A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2023A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2024A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2025A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2026E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2027F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2028F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2029F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2030F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2031F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2032F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2033F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2034F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2035F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2036F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F-CAGR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</a:tr>
              <a:tr h="248158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Sweet Muffins Flavours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248158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Savoury Muffins Flavours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</a:tr>
              <a:tr h="248158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Total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219075" y="2238375"/>
            <a:ext cx="11753850" cy="17145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100" b="0" i="1">
                <a:solidFill>
                  <a:srgbClr val="6C7A89"/>
                </a:solidFill>
                <a:latin typeface="Calibri"/>
              </a:rPr>
              <a:t>Source: FMI Analysis, 2026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42875" y="2571750"/>
            <a:ext cx="11906250" cy="1457325"/>
          </a:xfrm>
          <a:prstGeom prst="roundRect">
            <a:avLst>
              <a:gd name="adj" fmla="val 5228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38125" y="2628900"/>
            <a:ext cx="1171575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U.S. Value, By Flavour (US$ Mn)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152400" y="2828925"/>
          <a:ext cx="11887208" cy="9906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57520"/>
                <a:gridCol w="595864"/>
                <a:gridCol w="595864"/>
                <a:gridCol w="595864"/>
                <a:gridCol w="595864"/>
                <a:gridCol w="595864"/>
                <a:gridCol w="595864"/>
                <a:gridCol w="595864"/>
                <a:gridCol w="595864"/>
                <a:gridCol w="595864"/>
                <a:gridCol w="595864"/>
                <a:gridCol w="595864"/>
                <a:gridCol w="595864"/>
                <a:gridCol w="595864"/>
                <a:gridCol w="595864"/>
                <a:gridCol w="595864"/>
                <a:gridCol w="595864"/>
                <a:gridCol w="595864"/>
              </a:tblGrid>
              <a:tr h="246126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Flavour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2021A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2022A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2023A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2024A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2025A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2026E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2027F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2028F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2029F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2030F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2031F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2032F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2033F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2034F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2035F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2036F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F-CAGR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</a:tr>
              <a:tr h="248158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Sweet Muffins Flavours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248158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Savoury Muffins Flavours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</a:tr>
              <a:tr h="248158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Total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219075" y="3829050"/>
            <a:ext cx="11753850" cy="17145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100" b="0" i="1">
                <a:solidFill>
                  <a:srgbClr val="6C7A89"/>
                </a:solidFill>
                <a:latin typeface="Calibri"/>
              </a:rPr>
              <a:t>Source: FMI Analysis, 2026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58595B"/>
                </a:solidFill>
                <a:latin typeface="Calibri"/>
              </a:rPr>
              <a:t>©2026 Future Market Insights, All Rights Reserved</a:t>
            </a:r>
          </a:p>
        </p:txBody>
      </p:sp>
      <p:pic>
        <p:nvPicPr>
          <p:cNvPr id="20" name="Picture 19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49935" y="1589913"/>
            <a:ext cx="366712" cy="533400"/>
          </a:xfrm>
          <a:prstGeom prst="rect">
            <a:avLst/>
          </a:prstGeom>
        </p:spPr>
      </p:pic>
      <p:pic>
        <p:nvPicPr>
          <p:cNvPr id="21" name="Picture 20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8074" y="3180587"/>
            <a:ext cx="366712" cy="5334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3825" y="914400"/>
            <a:ext cx="3943350" cy="28575"/>
          </a:xfrm>
          <a:prstGeom prst="rect">
            <a:avLst/>
          </a:prstGeom>
          <a:solidFill>
            <a:srgbClr val="0081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24325" y="914400"/>
            <a:ext cx="3943350" cy="28575"/>
          </a:xfrm>
          <a:prstGeom prst="rect">
            <a:avLst/>
          </a:prstGeom>
          <a:solidFill>
            <a:srgbClr val="9E7E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124825" y="914400"/>
            <a:ext cx="3943350" cy="28575"/>
          </a:xfrm>
          <a:prstGeom prst="rect">
            <a:avLst/>
          </a:prstGeom>
          <a:solidFill>
            <a:srgbClr val="403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mi_logo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25" y="-205740"/>
            <a:ext cx="1307592" cy="13258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543050" y="19050"/>
            <a:ext cx="8982075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U.S. YoY Analysis Flavour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43050" y="647700"/>
            <a:ext cx="10506075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U.S. year-on-year volume and value growth by Flavour, highlighting acceleration and slowdown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620375" y="228600"/>
            <a:ext cx="1428750" cy="419100"/>
          </a:xfrm>
          <a:prstGeom prst="roundRect">
            <a:avLst>
              <a:gd name="adj" fmla="val 22000"/>
            </a:avLst>
          </a:prstGeom>
          <a:solidFill>
            <a:srgbClr val="D9E6F2"/>
          </a:solidFill>
          <a:ln w="6350">
            <a:solidFill>
              <a:srgbClr val="69B1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100" b="1">
                <a:solidFill>
                  <a:srgbClr val="0B2E4A"/>
                </a:solidFill>
                <a:latin typeface="Calibri"/>
              </a:rPr>
              <a:t>U.S.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42875" y="981075"/>
            <a:ext cx="11906250" cy="1209675"/>
          </a:xfrm>
          <a:prstGeom prst="roundRect">
            <a:avLst>
              <a:gd name="adj" fmla="val 6299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38125" y="1038225"/>
            <a:ext cx="1171575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U.S. Volume YoY, By Flavour (%)  ·  </a:t>
            </a:r>
            <a:r>
              <a:rPr sz="1200" b="1">
                <a:solidFill>
                  <a:srgbClr val="2E7D32"/>
                </a:solidFill>
                <a:latin typeface="Calibri"/>
              </a:rPr>
              <a:t>▲ outpacing market  </a:t>
            </a:r>
            <a:r>
              <a:rPr sz="1200" b="1">
                <a:solidFill>
                  <a:srgbClr val="A86F00"/>
                </a:solidFill>
                <a:latin typeface="Calibri"/>
              </a:rPr>
              <a:t>▶ below market pace  </a:t>
            </a:r>
            <a:r>
              <a:rPr sz="1200" b="1">
                <a:solidFill>
                  <a:srgbClr val="E44D3A"/>
                </a:solidFill>
                <a:latin typeface="Calibri"/>
              </a:rPr>
              <a:t>▼ decline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152400" y="1238250"/>
          <a:ext cx="11887202" cy="74294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919597"/>
                <a:gridCol w="664507"/>
                <a:gridCol w="664507"/>
                <a:gridCol w="664507"/>
                <a:gridCol w="664507"/>
                <a:gridCol w="664507"/>
                <a:gridCol w="664507"/>
                <a:gridCol w="664507"/>
                <a:gridCol w="664507"/>
                <a:gridCol w="664507"/>
                <a:gridCol w="664507"/>
                <a:gridCol w="664507"/>
                <a:gridCol w="664507"/>
                <a:gridCol w="664507"/>
                <a:gridCol w="664507"/>
                <a:gridCol w="664507"/>
              </a:tblGrid>
              <a:tr h="246126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Flavour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2022A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2023A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2024A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2025A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2026E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2027F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2028F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2029F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2030F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2031F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2032F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2033F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2034F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2035F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2036F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</a:tr>
              <a:tr h="248411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Sweet Muffins Flavours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248411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Savoury Muffins Flavours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219075" y="1990725"/>
            <a:ext cx="11753850" cy="17145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100" b="0" i="1">
                <a:solidFill>
                  <a:srgbClr val="6C7A89"/>
                </a:solidFill>
                <a:latin typeface="Calibri"/>
              </a:rPr>
              <a:t>Source: FMI Analysis, 2026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42875" y="2324100"/>
            <a:ext cx="11906250" cy="1209675"/>
          </a:xfrm>
          <a:prstGeom prst="roundRect">
            <a:avLst>
              <a:gd name="adj" fmla="val 6299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38125" y="2381250"/>
            <a:ext cx="1171575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U.S. Value YoY, By Flavour (%)  ·  </a:t>
            </a:r>
            <a:r>
              <a:rPr sz="1200" b="1">
                <a:solidFill>
                  <a:srgbClr val="2E7D32"/>
                </a:solidFill>
                <a:latin typeface="Calibri"/>
              </a:rPr>
              <a:t>▲ outpacing market  </a:t>
            </a:r>
            <a:r>
              <a:rPr sz="1200" b="1">
                <a:solidFill>
                  <a:srgbClr val="A86F00"/>
                </a:solidFill>
                <a:latin typeface="Calibri"/>
              </a:rPr>
              <a:t>▶ below market pace  </a:t>
            </a:r>
            <a:r>
              <a:rPr sz="1200" b="1">
                <a:solidFill>
                  <a:srgbClr val="E44D3A"/>
                </a:solidFill>
                <a:latin typeface="Calibri"/>
              </a:rPr>
              <a:t>▼ decline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152400" y="2581275"/>
          <a:ext cx="11887202" cy="74294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919597"/>
                <a:gridCol w="664507"/>
                <a:gridCol w="664507"/>
                <a:gridCol w="664507"/>
                <a:gridCol w="664507"/>
                <a:gridCol w="664507"/>
                <a:gridCol w="664507"/>
                <a:gridCol w="664507"/>
                <a:gridCol w="664507"/>
                <a:gridCol w="664507"/>
                <a:gridCol w="664507"/>
                <a:gridCol w="664507"/>
                <a:gridCol w="664507"/>
                <a:gridCol w="664507"/>
                <a:gridCol w="664507"/>
                <a:gridCol w="664507"/>
              </a:tblGrid>
              <a:tr h="246126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Flavour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2022A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2023A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2024A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2025A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2026E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2027F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2028F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2029F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2030F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2031F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2032F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2033F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2034F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2035F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2036F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</a:tr>
              <a:tr h="248411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Sweet Muffins Flavours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248411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Savoury Muffins Flavours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219075" y="3333750"/>
            <a:ext cx="11753850" cy="17145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100" b="0" i="1">
                <a:solidFill>
                  <a:srgbClr val="6C7A89"/>
                </a:solidFill>
                <a:latin typeface="Calibri"/>
              </a:rPr>
              <a:t>Source: FMI Analysis, 2026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58595B"/>
                </a:solidFill>
                <a:latin typeface="Calibri"/>
              </a:rPr>
              <a:t>©2026 Future Market Insights, All Rights Reserved</a:t>
            </a:r>
          </a:p>
        </p:txBody>
      </p:sp>
      <p:pic>
        <p:nvPicPr>
          <p:cNvPr id="20" name="Picture 19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87778" y="1482090"/>
            <a:ext cx="330041" cy="480060"/>
          </a:xfrm>
          <a:prstGeom prst="rect">
            <a:avLst/>
          </a:prstGeom>
        </p:spPr>
      </p:pic>
      <p:pic>
        <p:nvPicPr>
          <p:cNvPr id="21" name="Picture 20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87778" y="2825115"/>
            <a:ext cx="330041" cy="48006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8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F1F8FE"/>
              </a:gs>
              <a:gs pos="100000">
                <a:srgbClr val="DAEAF9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0" y="5591183"/>
            <a:ext cx="12192000" cy="1266817"/>
          </a:xfrm>
          <a:custGeom>
            <a:avLst/>
            <a:gdLst/>
            <a:ahLst/>
            <a:cxnLst/>
            <a:rect l="l" t="t" r="r" b="b"/>
            <a:pathLst>
              <a:path w="12192000" h="1266817">
                <a:moveTo>
                  <a:pt x="0" y="1266817"/>
                </a:moveTo>
                <a:lnTo>
                  <a:pt x="0" y="475605"/>
                </a:lnTo>
                <a:lnTo>
                  <a:pt x="152400" y="486239"/>
                </a:lnTo>
                <a:lnTo>
                  <a:pt x="304800" y="495887"/>
                </a:lnTo>
                <a:lnTo>
                  <a:pt x="457200" y="504505"/>
                </a:lnTo>
                <a:lnTo>
                  <a:pt x="609600" y="512056"/>
                </a:lnTo>
                <a:lnTo>
                  <a:pt x="762000" y="518505"/>
                </a:lnTo>
                <a:lnTo>
                  <a:pt x="914400" y="523824"/>
                </a:lnTo>
                <a:lnTo>
                  <a:pt x="1066800" y="527988"/>
                </a:lnTo>
                <a:lnTo>
                  <a:pt x="1219200" y="530979"/>
                </a:lnTo>
                <a:lnTo>
                  <a:pt x="1371600" y="532783"/>
                </a:lnTo>
                <a:lnTo>
                  <a:pt x="1524000" y="533392"/>
                </a:lnTo>
                <a:lnTo>
                  <a:pt x="1676400" y="532804"/>
                </a:lnTo>
                <a:lnTo>
                  <a:pt x="1828800" y="531021"/>
                </a:lnTo>
                <a:lnTo>
                  <a:pt x="1981200" y="528051"/>
                </a:lnTo>
                <a:lnTo>
                  <a:pt x="2133600" y="523907"/>
                </a:lnTo>
                <a:lnTo>
                  <a:pt x="2286000" y="518609"/>
                </a:lnTo>
                <a:lnTo>
                  <a:pt x="2438400" y="512179"/>
                </a:lnTo>
                <a:lnTo>
                  <a:pt x="2590800" y="504648"/>
                </a:lnTo>
                <a:lnTo>
                  <a:pt x="2743200" y="496047"/>
                </a:lnTo>
                <a:lnTo>
                  <a:pt x="2895600" y="486417"/>
                </a:lnTo>
                <a:lnTo>
                  <a:pt x="3048000" y="475801"/>
                </a:lnTo>
                <a:lnTo>
                  <a:pt x="3200400" y="464245"/>
                </a:lnTo>
                <a:lnTo>
                  <a:pt x="3352800" y="451803"/>
                </a:lnTo>
                <a:lnTo>
                  <a:pt x="3505200" y="438529"/>
                </a:lnTo>
                <a:lnTo>
                  <a:pt x="3657600" y="424484"/>
                </a:lnTo>
                <a:lnTo>
                  <a:pt x="3810000" y="409730"/>
                </a:lnTo>
                <a:lnTo>
                  <a:pt x="3962400" y="394334"/>
                </a:lnTo>
                <a:lnTo>
                  <a:pt x="4114800" y="378365"/>
                </a:lnTo>
                <a:lnTo>
                  <a:pt x="4267200" y="361894"/>
                </a:lnTo>
                <a:lnTo>
                  <a:pt x="4419600" y="344996"/>
                </a:lnTo>
                <a:lnTo>
                  <a:pt x="4572000" y="327746"/>
                </a:lnTo>
                <a:lnTo>
                  <a:pt x="4724400" y="310223"/>
                </a:lnTo>
                <a:lnTo>
                  <a:pt x="4876800" y="292503"/>
                </a:lnTo>
                <a:lnTo>
                  <a:pt x="5029200" y="274668"/>
                </a:lnTo>
                <a:lnTo>
                  <a:pt x="5181600" y="256797"/>
                </a:lnTo>
                <a:lnTo>
                  <a:pt x="5334000" y="238971"/>
                </a:lnTo>
                <a:lnTo>
                  <a:pt x="5486400" y="221269"/>
                </a:lnTo>
                <a:lnTo>
                  <a:pt x="5638800" y="203771"/>
                </a:lnTo>
                <a:lnTo>
                  <a:pt x="5791200" y="186555"/>
                </a:lnTo>
                <a:lnTo>
                  <a:pt x="5943600" y="169699"/>
                </a:lnTo>
                <a:lnTo>
                  <a:pt x="6096000" y="153279"/>
                </a:lnTo>
                <a:lnTo>
                  <a:pt x="6248400" y="137368"/>
                </a:lnTo>
                <a:lnTo>
                  <a:pt x="6400800" y="122038"/>
                </a:lnTo>
                <a:lnTo>
                  <a:pt x="6553200" y="107357"/>
                </a:lnTo>
                <a:lnTo>
                  <a:pt x="6705600" y="93391"/>
                </a:lnTo>
                <a:lnTo>
                  <a:pt x="6858000" y="80204"/>
                </a:lnTo>
                <a:lnTo>
                  <a:pt x="7010400" y="67854"/>
                </a:lnTo>
                <a:lnTo>
                  <a:pt x="7162800" y="56397"/>
                </a:lnTo>
                <a:lnTo>
                  <a:pt x="7315200" y="45884"/>
                </a:lnTo>
                <a:lnTo>
                  <a:pt x="7467600" y="36363"/>
                </a:lnTo>
                <a:lnTo>
                  <a:pt x="7620000" y="27876"/>
                </a:lnTo>
                <a:lnTo>
                  <a:pt x="7772400" y="20461"/>
                </a:lnTo>
                <a:lnTo>
                  <a:pt x="7924800" y="14151"/>
                </a:lnTo>
                <a:lnTo>
                  <a:pt x="8077200" y="8976"/>
                </a:lnTo>
                <a:lnTo>
                  <a:pt x="8229600" y="4958"/>
                </a:lnTo>
                <a:lnTo>
                  <a:pt x="8382000" y="2115"/>
                </a:lnTo>
                <a:lnTo>
                  <a:pt x="8534400" y="460"/>
                </a:lnTo>
                <a:lnTo>
                  <a:pt x="8686800" y="0"/>
                </a:lnTo>
                <a:lnTo>
                  <a:pt x="8839200" y="738"/>
                </a:lnTo>
                <a:lnTo>
                  <a:pt x="8991600" y="2670"/>
                </a:lnTo>
                <a:lnTo>
                  <a:pt x="9144000" y="5787"/>
                </a:lnTo>
                <a:lnTo>
                  <a:pt x="9296400" y="10076"/>
                </a:lnTo>
                <a:lnTo>
                  <a:pt x="9448800" y="15518"/>
                </a:lnTo>
                <a:lnTo>
                  <a:pt x="9601200" y="22086"/>
                </a:lnTo>
                <a:lnTo>
                  <a:pt x="9753600" y="29754"/>
                </a:lnTo>
                <a:lnTo>
                  <a:pt x="9906000" y="38485"/>
                </a:lnTo>
                <a:lnTo>
                  <a:pt x="10058400" y="48241"/>
                </a:lnTo>
                <a:lnTo>
                  <a:pt x="10210800" y="58977"/>
                </a:lnTo>
                <a:lnTo>
                  <a:pt x="10363200" y="70647"/>
                </a:lnTo>
                <a:lnTo>
                  <a:pt x="10515600" y="83196"/>
                </a:lnTo>
                <a:lnTo>
                  <a:pt x="10668000" y="96570"/>
                </a:lnTo>
                <a:lnTo>
                  <a:pt x="10820400" y="110707"/>
                </a:lnTo>
                <a:lnTo>
                  <a:pt x="10972800" y="125545"/>
                </a:lnTo>
                <a:lnTo>
                  <a:pt x="11125200" y="141016"/>
                </a:lnTo>
                <a:lnTo>
                  <a:pt x="11277600" y="157052"/>
                </a:lnTo>
                <a:lnTo>
                  <a:pt x="11430000" y="173580"/>
                </a:lnTo>
                <a:lnTo>
                  <a:pt x="11582400" y="190527"/>
                </a:lnTo>
                <a:lnTo>
                  <a:pt x="11734800" y="207815"/>
                </a:lnTo>
                <a:lnTo>
                  <a:pt x="11887200" y="225367"/>
                </a:lnTo>
                <a:lnTo>
                  <a:pt x="12039600" y="243105"/>
                </a:lnTo>
                <a:lnTo>
                  <a:pt x="12192000" y="260949"/>
                </a:lnTo>
                <a:lnTo>
                  <a:pt x="12192000" y="1266817"/>
                </a:lnTo>
                <a:close/>
              </a:path>
            </a:pathLst>
          </a:custGeom>
          <a:solidFill>
            <a:srgbClr val="C8E0F6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0" y="5905543"/>
            <a:ext cx="12192000" cy="952457"/>
          </a:xfrm>
          <a:custGeom>
            <a:avLst/>
            <a:gdLst/>
            <a:ahLst/>
            <a:cxnLst/>
            <a:rect l="l" t="t" r="r" b="b"/>
            <a:pathLst>
              <a:path w="12192000" h="952457">
                <a:moveTo>
                  <a:pt x="0" y="952457"/>
                </a:moveTo>
                <a:lnTo>
                  <a:pt x="0" y="288660"/>
                </a:lnTo>
                <a:lnTo>
                  <a:pt x="152400" y="275228"/>
                </a:lnTo>
                <a:lnTo>
                  <a:pt x="304800" y="261249"/>
                </a:lnTo>
                <a:lnTo>
                  <a:pt x="457200" y="246812"/>
                </a:lnTo>
                <a:lnTo>
                  <a:pt x="609600" y="232010"/>
                </a:lnTo>
                <a:lnTo>
                  <a:pt x="762000" y="216940"/>
                </a:lnTo>
                <a:lnTo>
                  <a:pt x="914400" y="201698"/>
                </a:lnTo>
                <a:lnTo>
                  <a:pt x="1066800" y="186384"/>
                </a:lnTo>
                <a:lnTo>
                  <a:pt x="1219200" y="171097"/>
                </a:lnTo>
                <a:lnTo>
                  <a:pt x="1371600" y="155934"/>
                </a:lnTo>
                <a:lnTo>
                  <a:pt x="1524000" y="140995"/>
                </a:lnTo>
                <a:lnTo>
                  <a:pt x="1676400" y="126375"/>
                </a:lnTo>
                <a:lnTo>
                  <a:pt x="1828800" y="112170"/>
                </a:lnTo>
                <a:lnTo>
                  <a:pt x="1981200" y="98470"/>
                </a:lnTo>
                <a:lnTo>
                  <a:pt x="2133600" y="85366"/>
                </a:lnTo>
                <a:lnTo>
                  <a:pt x="2286000" y="72940"/>
                </a:lnTo>
                <a:lnTo>
                  <a:pt x="2438400" y="61275"/>
                </a:lnTo>
                <a:lnTo>
                  <a:pt x="2590800" y="50444"/>
                </a:lnTo>
                <a:lnTo>
                  <a:pt x="2743200" y="40519"/>
                </a:lnTo>
                <a:lnTo>
                  <a:pt x="2895600" y="31563"/>
                </a:lnTo>
                <a:lnTo>
                  <a:pt x="3048000" y="23634"/>
                </a:lnTo>
                <a:lnTo>
                  <a:pt x="3200400" y="16784"/>
                </a:lnTo>
                <a:lnTo>
                  <a:pt x="3352800" y="11056"/>
                </a:lnTo>
                <a:lnTo>
                  <a:pt x="3505200" y="6489"/>
                </a:lnTo>
                <a:lnTo>
                  <a:pt x="3657600" y="3110"/>
                </a:lnTo>
                <a:lnTo>
                  <a:pt x="3810000" y="943"/>
                </a:lnTo>
                <a:lnTo>
                  <a:pt x="3962400" y="0"/>
                </a:lnTo>
                <a:lnTo>
                  <a:pt x="4114800" y="289"/>
                </a:lnTo>
                <a:lnTo>
                  <a:pt x="4267200" y="1808"/>
                </a:lnTo>
                <a:lnTo>
                  <a:pt x="4419600" y="4546"/>
                </a:lnTo>
                <a:lnTo>
                  <a:pt x="4572000" y="8485"/>
                </a:lnTo>
                <a:lnTo>
                  <a:pt x="4724400" y="13601"/>
                </a:lnTo>
                <a:lnTo>
                  <a:pt x="4876800" y="19861"/>
                </a:lnTo>
                <a:lnTo>
                  <a:pt x="5029200" y="27223"/>
                </a:lnTo>
                <a:lnTo>
                  <a:pt x="5181600" y="35641"/>
                </a:lnTo>
                <a:lnTo>
                  <a:pt x="5334000" y="45059"/>
                </a:lnTo>
                <a:lnTo>
                  <a:pt x="5486400" y="55417"/>
                </a:lnTo>
                <a:lnTo>
                  <a:pt x="5638800" y="66649"/>
                </a:lnTo>
                <a:lnTo>
                  <a:pt x="5791200" y="78680"/>
                </a:lnTo>
                <a:lnTo>
                  <a:pt x="5943600" y="91435"/>
                </a:lnTo>
                <a:lnTo>
                  <a:pt x="6096000" y="104829"/>
                </a:lnTo>
                <a:lnTo>
                  <a:pt x="6248400" y="118777"/>
                </a:lnTo>
                <a:lnTo>
                  <a:pt x="6400800" y="133188"/>
                </a:lnTo>
                <a:lnTo>
                  <a:pt x="6553200" y="147970"/>
                </a:lnTo>
                <a:lnTo>
                  <a:pt x="6705600" y="163026"/>
                </a:lnTo>
                <a:lnTo>
                  <a:pt x="6858000" y="178260"/>
                </a:lnTo>
                <a:lnTo>
                  <a:pt x="7010400" y="193572"/>
                </a:lnTo>
                <a:lnTo>
                  <a:pt x="7162800" y="208865"/>
                </a:lnTo>
                <a:lnTo>
                  <a:pt x="7315200" y="224038"/>
                </a:lnTo>
                <a:lnTo>
                  <a:pt x="7467600" y="238994"/>
                </a:lnTo>
                <a:lnTo>
                  <a:pt x="7620000" y="253637"/>
                </a:lnTo>
                <a:lnTo>
                  <a:pt x="7772400" y="267871"/>
                </a:lnTo>
                <a:lnTo>
                  <a:pt x="7924800" y="281604"/>
                </a:lnTo>
                <a:lnTo>
                  <a:pt x="8077200" y="294748"/>
                </a:lnTo>
                <a:lnTo>
                  <a:pt x="8229600" y="307218"/>
                </a:lnTo>
                <a:lnTo>
                  <a:pt x="8382000" y="318934"/>
                </a:lnTo>
                <a:lnTo>
                  <a:pt x="8534400" y="329818"/>
                </a:lnTo>
                <a:lnTo>
                  <a:pt x="8686800" y="339802"/>
                </a:lnTo>
                <a:lnTo>
                  <a:pt x="8839200" y="348821"/>
                </a:lnTo>
                <a:lnTo>
                  <a:pt x="8991600" y="356815"/>
                </a:lnTo>
                <a:lnTo>
                  <a:pt x="9144000" y="363734"/>
                </a:lnTo>
                <a:lnTo>
                  <a:pt x="9296400" y="369533"/>
                </a:lnTo>
                <a:lnTo>
                  <a:pt x="9448800" y="374174"/>
                </a:lnTo>
                <a:lnTo>
                  <a:pt x="9601200" y="377628"/>
                </a:lnTo>
                <a:lnTo>
                  <a:pt x="9753600" y="379872"/>
                </a:lnTo>
                <a:lnTo>
                  <a:pt x="9906000" y="380891"/>
                </a:lnTo>
                <a:lnTo>
                  <a:pt x="10058400" y="380679"/>
                </a:lnTo>
                <a:lnTo>
                  <a:pt x="10210800" y="379237"/>
                </a:lnTo>
                <a:lnTo>
                  <a:pt x="10363200" y="376575"/>
                </a:lnTo>
                <a:lnTo>
                  <a:pt x="10515600" y="372710"/>
                </a:lnTo>
                <a:lnTo>
                  <a:pt x="10668000" y="367666"/>
                </a:lnTo>
                <a:lnTo>
                  <a:pt x="10820400" y="361477"/>
                </a:lnTo>
                <a:lnTo>
                  <a:pt x="10972800" y="354182"/>
                </a:lnTo>
                <a:lnTo>
                  <a:pt x="11125200" y="345829"/>
                </a:lnTo>
                <a:lnTo>
                  <a:pt x="11277600" y="336472"/>
                </a:lnTo>
                <a:lnTo>
                  <a:pt x="11430000" y="326170"/>
                </a:lnTo>
                <a:lnTo>
                  <a:pt x="11582400" y="314991"/>
                </a:lnTo>
                <a:lnTo>
                  <a:pt x="11734800" y="303008"/>
                </a:lnTo>
                <a:lnTo>
                  <a:pt x="11887200" y="290296"/>
                </a:lnTo>
                <a:lnTo>
                  <a:pt x="12039600" y="276939"/>
                </a:lnTo>
                <a:lnTo>
                  <a:pt x="12192000" y="263023"/>
                </a:lnTo>
                <a:lnTo>
                  <a:pt x="12192000" y="952457"/>
                </a:lnTo>
                <a:close/>
              </a:path>
            </a:pathLst>
          </a:custGeom>
          <a:solidFill>
            <a:srgbClr val="A7CDF1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638925"/>
            <a:ext cx="12192000" cy="219075"/>
          </a:xfrm>
          <a:prstGeom prst="rect">
            <a:avLst/>
          </a:prstGeom>
          <a:solidFill>
            <a:srgbClr val="A9C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238875"/>
            <a:ext cx="12192000" cy="400050"/>
          </a:xfrm>
          <a:prstGeom prst="rect">
            <a:avLst/>
          </a:prstGeom>
          <a:gradFill rotWithShape="1">
            <a:gsLst>
              <a:gs pos="0">
                <a:srgbClr val="2C6BB2"/>
              </a:gs>
              <a:gs pos="100000">
                <a:srgbClr val="7FB5E4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MI Section Bar"/>
          <p:cNvSpPr txBox="1"/>
          <p:nvPr/>
        </p:nvSpPr>
        <p:spPr>
          <a:xfrm>
            <a:off x="285750" y="6238875"/>
            <a:ext cx="3810000" cy="400050"/>
          </a:xfrm>
          <a:prstGeom prst="rect">
            <a:avLst/>
          </a:prstGeom>
          <a:noFill/>
        </p:spPr>
        <p:txBody>
          <a:bodyPr wrap="none" anchor="ctr" lIns="0" tIns="0" bIns="0">
            <a:spAutoFit/>
          </a:bodyPr>
          <a:lstStyle/>
          <a:p>
            <a:r>
              <a:rPr sz="1500" b="1">
                <a:solidFill>
                  <a:srgbClr val="FFFFFF"/>
                </a:solidFill>
                <a:latin typeface="Calibri"/>
              </a:rPr>
              <a:t>Section 2.3</a:t>
            </a:r>
          </a:p>
        </p:txBody>
      </p:sp>
      <p:pic>
        <p:nvPicPr>
          <p:cNvPr id="8" name="Picture 7" descr="fmi_logo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74320"/>
            <a:ext cx="1307592" cy="13258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14400" y="2752725"/>
            <a:ext cx="8572500" cy="3048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800" b="0">
                <a:solidFill>
                  <a:srgbClr val="0E72AE"/>
                </a:solidFill>
                <a:latin typeface="Calibri"/>
              </a:rPr>
              <a:t>Packaged Muffins Market</a:t>
            </a:r>
          </a:p>
        </p:txBody>
      </p:sp>
      <p:sp>
        <p:nvSpPr>
          <p:cNvPr id="10" name="FMI Section Title"/>
          <p:cNvSpPr txBox="1"/>
          <p:nvPr/>
        </p:nvSpPr>
        <p:spPr>
          <a:xfrm>
            <a:off x="914400" y="3095625"/>
            <a:ext cx="8572500" cy="51435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r>
              <a:rPr sz="3000" b="1">
                <a:solidFill>
                  <a:srgbClr val="0B3C8C"/>
                </a:solidFill>
                <a:latin typeface="Calibri"/>
              </a:rPr>
              <a:t>Primary Flour Base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781425"/>
            <a:ext cx="8458200" cy="12763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Calibri"/>
              </a:rPr>
              <a:t>➤	</a:t>
            </a:r>
            <a:r>
              <a:rPr sz="2000" b="0">
                <a:solidFill>
                  <a:srgbClr val="000000"/>
                </a:solidFill>
                <a:latin typeface="Calibri"/>
              </a:rPr>
              <a:t>Segmental</a:t>
            </a:r>
          </a:p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Calibri"/>
              </a:rPr>
              <a:t>➤	</a:t>
            </a:r>
            <a:r>
              <a:rPr sz="2000" b="0">
                <a:solidFill>
                  <a:srgbClr val="000000"/>
                </a:solidFill>
                <a:latin typeface="Calibri"/>
              </a:rPr>
              <a:t>Table (Volume &amp; Value)</a:t>
            </a:r>
          </a:p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Calibri"/>
              </a:rPr>
              <a:t>➤	</a:t>
            </a:r>
            <a:r>
              <a:rPr sz="2000" b="0">
                <a:solidFill>
                  <a:srgbClr val="000000"/>
                </a:solidFill>
                <a:latin typeface="Calibri"/>
              </a:rPr>
              <a:t>YoY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58595B"/>
                </a:solidFill>
                <a:latin typeface="Calibri"/>
              </a:rPr>
              <a:t>©2026 Future Market Insights, All Rights Reserved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3825" y="914400"/>
            <a:ext cx="3943350" cy="28575"/>
          </a:xfrm>
          <a:prstGeom prst="rect">
            <a:avLst/>
          </a:prstGeom>
          <a:solidFill>
            <a:srgbClr val="0081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24325" y="914400"/>
            <a:ext cx="3943350" cy="28575"/>
          </a:xfrm>
          <a:prstGeom prst="rect">
            <a:avLst/>
          </a:prstGeom>
          <a:solidFill>
            <a:srgbClr val="9E7E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124825" y="914400"/>
            <a:ext cx="3943350" cy="28575"/>
          </a:xfrm>
          <a:prstGeom prst="rect">
            <a:avLst/>
          </a:prstGeom>
          <a:solidFill>
            <a:srgbClr val="403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mi_logo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25" y="-205740"/>
            <a:ext cx="1307592" cy="13258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543050" y="19050"/>
            <a:ext cx="8982075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U.S. Packaged Muffins Market Segmental Analysis Primary Flour Base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43050" y="647700"/>
            <a:ext cx="10506075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U.S. segmental analysis by Primary Flour Base: growth contribution, share variance and absolute $ opportunity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620375" y="228600"/>
            <a:ext cx="1428750" cy="419100"/>
          </a:xfrm>
          <a:prstGeom prst="roundRect">
            <a:avLst>
              <a:gd name="adj" fmla="val 22000"/>
            </a:avLst>
          </a:prstGeom>
          <a:solidFill>
            <a:srgbClr val="D9E6F2"/>
          </a:solidFill>
          <a:ln w="6350">
            <a:solidFill>
              <a:srgbClr val="69B1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100" b="1">
                <a:solidFill>
                  <a:srgbClr val="0B2E4A"/>
                </a:solidFill>
                <a:latin typeface="Calibri"/>
              </a:rPr>
              <a:t>U.S.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42875" y="981075"/>
            <a:ext cx="5876925" cy="2752725"/>
          </a:xfrm>
          <a:prstGeom prst="roundRect">
            <a:avLst>
              <a:gd name="adj" fmla="val 2768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38125" y="1038225"/>
            <a:ext cx="5686425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Growth Contribution 2026 → 2036, By Primary Flour Base (US$ Mn)</a:t>
            </a:r>
          </a:p>
        </p:txBody>
      </p:sp>
      <p:graphicFrame>
        <p:nvGraphicFramePr>
          <p:cNvPr id="13" name="Chart 12"/>
          <p:cNvGraphicFramePr>
            <a:graphicFrameLocks noGrp="1"/>
          </p:cNvGraphicFramePr>
          <p:nvPr/>
        </p:nvGraphicFramePr>
        <p:xfrm>
          <a:off x="238125" y="1266825"/>
          <a:ext cx="5686425" cy="2409825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4" name="Rounded Rectangle 13"/>
          <p:cNvSpPr/>
          <p:nvPr/>
        </p:nvSpPr>
        <p:spPr>
          <a:xfrm>
            <a:off x="6172200" y="981075"/>
            <a:ext cx="5876925" cy="2752725"/>
          </a:xfrm>
          <a:prstGeom prst="roundRect">
            <a:avLst>
              <a:gd name="adj" fmla="val 2768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67450" y="1038225"/>
            <a:ext cx="5686425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Value Shares &amp; Variance, By Primary Flour Base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6181725" y="1238250"/>
          <a:ext cx="5857874" cy="228599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449768"/>
                <a:gridCol w="856786"/>
                <a:gridCol w="856786"/>
                <a:gridCol w="1082029"/>
                <a:gridCol w="612505"/>
              </a:tblGrid>
              <a:tr h="246126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Primary Flour Base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Share 2026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Share 2036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Variance (BPS)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F-CAGR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</a:tr>
              <a:tr h="254984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Wheat-based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254984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Oat-based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</a:tr>
              <a:tr h="254984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Rice-based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254984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Corn-based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</a:tr>
              <a:tr h="254984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Millet-based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254984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Almond and other nut flour-based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</a:tr>
              <a:tr h="254984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Other single-flour bases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254984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Multigrain and blended flour bases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</a:tr>
            </a:tbl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6248400" y="3533775"/>
            <a:ext cx="5724525" cy="17145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100" b="0" i="1">
                <a:solidFill>
                  <a:srgbClr val="6C7A89"/>
                </a:solidFill>
                <a:latin typeface="Calibri"/>
              </a:rPr>
              <a:t>Source: FMI Analysis, 2026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42875" y="3867150"/>
            <a:ext cx="5876925" cy="2752725"/>
          </a:xfrm>
          <a:prstGeom prst="roundRect">
            <a:avLst>
              <a:gd name="adj" fmla="val 2768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38125" y="3924300"/>
            <a:ext cx="5686425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Absolute $ Opportunity, By Primary Flour Base (US$ Mn), between 2026–2036</a:t>
            </a:r>
          </a:p>
        </p:txBody>
      </p:sp>
      <p:graphicFrame>
        <p:nvGraphicFramePr>
          <p:cNvPr id="20" name="Chart 19"/>
          <p:cNvGraphicFramePr>
            <a:graphicFrameLocks noGrp="1"/>
          </p:cNvGraphicFramePr>
          <p:nvPr/>
        </p:nvGraphicFramePr>
        <p:xfrm>
          <a:off x="238125" y="4152900"/>
          <a:ext cx="5686425" cy="2409825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21" name="Rounded Rectangle 20"/>
          <p:cNvSpPr/>
          <p:nvPr/>
        </p:nvSpPr>
        <p:spPr>
          <a:xfrm>
            <a:off x="6172200" y="3867150"/>
            <a:ext cx="5876925" cy="2752725"/>
          </a:xfrm>
          <a:prstGeom prst="roundRect">
            <a:avLst>
              <a:gd name="adj" fmla="val 2768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67450" y="3924300"/>
            <a:ext cx="5686425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Volume Shares &amp; Variance, By Primary Flour Base</a:t>
            </a:r>
          </a:p>
        </p:txBody>
      </p:sp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6181725" y="4124325"/>
          <a:ext cx="5857874" cy="228599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449768"/>
                <a:gridCol w="856786"/>
                <a:gridCol w="856786"/>
                <a:gridCol w="1082029"/>
                <a:gridCol w="612505"/>
              </a:tblGrid>
              <a:tr h="246126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Primary Flour Base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Share 2026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Share 2036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Variance (BPS)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F-CAGR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</a:tr>
              <a:tr h="254984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Wheat-based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254984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Oat-based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</a:tr>
              <a:tr h="254984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Rice-based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254984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Corn-based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</a:tr>
              <a:tr h="254984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Millet-based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254984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Almond and other nut flour-based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</a:tr>
              <a:tr h="254984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Other single-flour bases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254984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Multigrain and blended flour bases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</a:tr>
            </a:tbl>
          </a:graphicData>
        </a:graphic>
      </p:graphicFrame>
      <p:sp>
        <p:nvSpPr>
          <p:cNvPr id="24" name="TextBox 23"/>
          <p:cNvSpPr txBox="1"/>
          <p:nvPr/>
        </p:nvSpPr>
        <p:spPr>
          <a:xfrm>
            <a:off x="6248400" y="6419850"/>
            <a:ext cx="5724525" cy="17145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100" b="0" i="1">
                <a:solidFill>
                  <a:srgbClr val="6C7A89"/>
                </a:solidFill>
                <a:latin typeface="Calibri"/>
              </a:rPr>
              <a:t>Source: FMI Analysis, 2026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58595B"/>
                </a:solidFill>
                <a:latin typeface="Calibri"/>
              </a:rPr>
              <a:t>©2026 Future Market Insights, All Rights Reserved</a:t>
            </a:r>
          </a:p>
        </p:txBody>
      </p:sp>
      <p:pic>
        <p:nvPicPr>
          <p:cNvPr id="26" name="Picture 25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94826" y="2237234"/>
            <a:ext cx="263506" cy="383281"/>
          </a:xfrm>
          <a:prstGeom prst="rect">
            <a:avLst/>
          </a:prstGeom>
        </p:spPr>
      </p:pic>
      <p:pic>
        <p:nvPicPr>
          <p:cNvPr id="27" name="Picture 26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48855" y="2237612"/>
            <a:ext cx="366712" cy="533400"/>
          </a:xfrm>
          <a:prstGeom prst="rect">
            <a:avLst/>
          </a:prstGeom>
        </p:spPr>
      </p:pic>
      <p:pic>
        <p:nvPicPr>
          <p:cNvPr id="28" name="Picture 27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94826" y="5123309"/>
            <a:ext cx="263506" cy="383281"/>
          </a:xfrm>
          <a:prstGeom prst="rect">
            <a:avLst/>
          </a:prstGeom>
        </p:spPr>
      </p:pic>
      <p:pic>
        <p:nvPicPr>
          <p:cNvPr id="29" name="Picture 28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48855" y="5123687"/>
            <a:ext cx="366712" cy="533400"/>
          </a:xfrm>
          <a:prstGeom prst="rect">
            <a:avLst/>
          </a:prstGeom>
        </p:spPr>
      </p:pic>
      <p:sp>
        <p:nvSpPr>
          <p:cNvPr id="30" name="lockshield_13"/>
          <p:cNvSpPr/>
          <p:nvPr/>
        </p:nvSpPr>
        <p:spPr>
          <a:xfrm>
            <a:off x="238125" y="1266825"/>
            <a:ext cx="5686425" cy="2409825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lockshield_20"/>
          <p:cNvSpPr/>
          <p:nvPr/>
        </p:nvSpPr>
        <p:spPr>
          <a:xfrm>
            <a:off x="238125" y="4152900"/>
            <a:ext cx="5686425" cy="2409825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3825" y="914400"/>
            <a:ext cx="3943350" cy="28575"/>
          </a:xfrm>
          <a:prstGeom prst="rect">
            <a:avLst/>
          </a:prstGeom>
          <a:solidFill>
            <a:srgbClr val="0081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24325" y="914400"/>
            <a:ext cx="3943350" cy="28575"/>
          </a:xfrm>
          <a:prstGeom prst="rect">
            <a:avLst/>
          </a:prstGeom>
          <a:solidFill>
            <a:srgbClr val="9E7E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124825" y="914400"/>
            <a:ext cx="3943350" cy="28575"/>
          </a:xfrm>
          <a:prstGeom prst="rect">
            <a:avLst/>
          </a:prstGeom>
          <a:solidFill>
            <a:srgbClr val="403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mi_logo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25" y="-205740"/>
            <a:ext cx="1307592" cy="13258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543050" y="19050"/>
            <a:ext cx="8982075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U.S. Packaged Muffins Market Tables Primary Flour Base (1/2)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43050" y="647700"/>
            <a:ext cx="10506075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Year-by-year volume and value of the U.S. market by Primary Flour Base, 2021–2036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620375" y="228600"/>
            <a:ext cx="1428750" cy="419100"/>
          </a:xfrm>
          <a:prstGeom prst="roundRect">
            <a:avLst>
              <a:gd name="adj" fmla="val 22000"/>
            </a:avLst>
          </a:prstGeom>
          <a:solidFill>
            <a:srgbClr val="D9E6F2"/>
          </a:solidFill>
          <a:ln w="6350">
            <a:solidFill>
              <a:srgbClr val="69B1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100" b="1">
                <a:solidFill>
                  <a:srgbClr val="0B2E4A"/>
                </a:solidFill>
                <a:latin typeface="Calibri"/>
              </a:rPr>
              <a:t>U.S.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42875" y="981075"/>
            <a:ext cx="11906250" cy="293370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38125" y="1038225"/>
            <a:ext cx="1171575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U.S. Volume, By Primary Flour Base (MT)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152400" y="1238250"/>
          <a:ext cx="11887206" cy="246697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214444"/>
                <a:gridCol w="568986"/>
                <a:gridCol w="568986"/>
                <a:gridCol w="568986"/>
                <a:gridCol w="568986"/>
                <a:gridCol w="568986"/>
                <a:gridCol w="568986"/>
                <a:gridCol w="568986"/>
                <a:gridCol w="568986"/>
                <a:gridCol w="568986"/>
                <a:gridCol w="568986"/>
                <a:gridCol w="568986"/>
                <a:gridCol w="568986"/>
                <a:gridCol w="568986"/>
                <a:gridCol w="568986"/>
                <a:gridCol w="568986"/>
                <a:gridCol w="568986"/>
                <a:gridCol w="568986"/>
              </a:tblGrid>
              <a:tr h="246126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Primary Flour Base</a:t>
                      </a:r>
                      <a:endParaRPr sz="1100"/>
                    </a:p>
                  </a:txBody>
                  <a:tcPr marL="38100" marR="28575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2021A</a:t>
                      </a:r>
                      <a:endParaRPr sz="1100"/>
                    </a:p>
                  </a:txBody>
                  <a:tcPr marL="38100" marR="28575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2022A</a:t>
                      </a:r>
                      <a:endParaRPr sz="1100"/>
                    </a:p>
                  </a:txBody>
                  <a:tcPr marL="38100" marR="28575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2023A</a:t>
                      </a:r>
                      <a:endParaRPr sz="1100"/>
                    </a:p>
                  </a:txBody>
                  <a:tcPr marL="38100" marR="28575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2024A</a:t>
                      </a:r>
                      <a:endParaRPr sz="1100"/>
                    </a:p>
                  </a:txBody>
                  <a:tcPr marL="38100" marR="28575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2025A</a:t>
                      </a:r>
                      <a:endParaRPr sz="1100"/>
                    </a:p>
                  </a:txBody>
                  <a:tcPr marL="38100" marR="28575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2026E</a:t>
                      </a:r>
                      <a:endParaRPr sz="1100"/>
                    </a:p>
                  </a:txBody>
                  <a:tcPr marL="38100" marR="28575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2027F</a:t>
                      </a:r>
                      <a:endParaRPr sz="1100"/>
                    </a:p>
                  </a:txBody>
                  <a:tcPr marL="38100" marR="28575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2028F</a:t>
                      </a:r>
                      <a:endParaRPr sz="1100"/>
                    </a:p>
                  </a:txBody>
                  <a:tcPr marL="38100" marR="28575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2029F</a:t>
                      </a:r>
                      <a:endParaRPr sz="1100"/>
                    </a:p>
                  </a:txBody>
                  <a:tcPr marL="38100" marR="28575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2030F</a:t>
                      </a:r>
                      <a:endParaRPr sz="1100"/>
                    </a:p>
                  </a:txBody>
                  <a:tcPr marL="38100" marR="28575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2031F</a:t>
                      </a:r>
                      <a:endParaRPr sz="1100"/>
                    </a:p>
                  </a:txBody>
                  <a:tcPr marL="38100" marR="28575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2032F</a:t>
                      </a:r>
                      <a:endParaRPr sz="1100"/>
                    </a:p>
                  </a:txBody>
                  <a:tcPr marL="38100" marR="28575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2033F</a:t>
                      </a:r>
                      <a:endParaRPr sz="1100"/>
                    </a:p>
                  </a:txBody>
                  <a:tcPr marL="38100" marR="28575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2034F</a:t>
                      </a:r>
                      <a:endParaRPr sz="1100"/>
                    </a:p>
                  </a:txBody>
                  <a:tcPr marL="38100" marR="28575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2035F</a:t>
                      </a:r>
                      <a:endParaRPr sz="1100"/>
                    </a:p>
                  </a:txBody>
                  <a:tcPr marL="38100" marR="28575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2036F</a:t>
                      </a:r>
                      <a:endParaRPr sz="1100"/>
                    </a:p>
                  </a:txBody>
                  <a:tcPr marL="38100" marR="28575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F-CAGR</a:t>
                      </a:r>
                      <a:endParaRPr sz="1100"/>
                    </a:p>
                  </a:txBody>
                  <a:tcPr marL="38100" marR="28575" marT="19050" marB="19050" anchor="ctr">
                    <a:solidFill>
                      <a:srgbClr val="E0E8EF"/>
                    </a:solidFill>
                  </a:tcPr>
                </a:tc>
              </a:tr>
              <a:tr h="246761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Wheat-based</a:t>
                      </a:r>
                      <a:endParaRPr sz="1100"/>
                    </a:p>
                  </a:txBody>
                  <a:tcPr marL="38100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38100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38100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38100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38100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38100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38100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38100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38100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38100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38100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38100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38100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38100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38100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38100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38100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38100" marR="28575" marT="19050" marB="19050" anchor="ctr">
                    <a:solidFill>
                      <a:srgbClr val="FFFFFF"/>
                    </a:solidFill>
                  </a:tcPr>
                </a:tc>
              </a:tr>
              <a:tr h="246761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Oat-based</a:t>
                      </a:r>
                      <a:endParaRPr sz="1100"/>
                    </a:p>
                  </a:txBody>
                  <a:tcPr marL="38100" marR="28575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38100" marR="28575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38100" marR="28575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38100" marR="28575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38100" marR="28575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38100" marR="28575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38100" marR="28575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38100" marR="28575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38100" marR="28575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38100" marR="28575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38100" marR="28575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38100" marR="28575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38100" marR="28575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38100" marR="28575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38100" marR="28575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38100" marR="28575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38100" marR="28575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38100" marR="28575" marT="19050" marB="19050" anchor="ctr">
                    <a:solidFill>
                      <a:srgbClr val="F5F8FA"/>
                    </a:solidFill>
                  </a:tcPr>
                </a:tc>
              </a:tr>
              <a:tr h="246761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Rice-based</a:t>
                      </a:r>
                      <a:endParaRPr sz="1100"/>
                    </a:p>
                  </a:txBody>
                  <a:tcPr marL="38100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38100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38100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38100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38100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38100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38100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38100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38100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38100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38100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38100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38100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38100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38100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38100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38100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38100" marR="28575" marT="19050" marB="19050" anchor="ctr">
                    <a:solidFill>
                      <a:srgbClr val="FFFFFF"/>
                    </a:solidFill>
                  </a:tcPr>
                </a:tc>
              </a:tr>
              <a:tr h="246761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Corn-based</a:t>
                      </a:r>
                      <a:endParaRPr sz="1100"/>
                    </a:p>
                  </a:txBody>
                  <a:tcPr marL="38100" marR="28575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38100" marR="28575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38100" marR="28575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38100" marR="28575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38100" marR="28575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38100" marR="28575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38100" marR="28575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38100" marR="28575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38100" marR="28575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38100" marR="28575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38100" marR="28575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38100" marR="28575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38100" marR="28575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38100" marR="28575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38100" marR="28575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38100" marR="28575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38100" marR="28575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38100" marR="28575" marT="19050" marB="19050" anchor="ctr">
                    <a:solidFill>
                      <a:srgbClr val="F5F8FA"/>
                    </a:solidFill>
                  </a:tcPr>
                </a:tc>
              </a:tr>
              <a:tr h="246761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Millet-based</a:t>
                      </a:r>
                      <a:endParaRPr sz="1100"/>
                    </a:p>
                  </a:txBody>
                  <a:tcPr marL="38100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38100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38100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38100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38100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38100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38100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38100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38100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38100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38100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38100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38100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38100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38100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38100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38100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38100" marR="28575" marT="19050" marB="19050" anchor="ctr">
                    <a:solidFill>
                      <a:srgbClr val="FFFFFF"/>
                    </a:solidFill>
                  </a:tcPr>
                </a:tc>
              </a:tr>
              <a:tr h="246761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Almond and other nut flour-based</a:t>
                      </a:r>
                      <a:endParaRPr sz="1100"/>
                    </a:p>
                  </a:txBody>
                  <a:tcPr marL="38100" marR="28575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38100" marR="28575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38100" marR="28575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38100" marR="28575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38100" marR="28575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38100" marR="28575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38100" marR="28575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38100" marR="28575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38100" marR="28575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38100" marR="28575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38100" marR="28575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38100" marR="28575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38100" marR="28575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38100" marR="28575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38100" marR="28575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38100" marR="28575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38100" marR="28575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38100" marR="28575" marT="19050" marB="19050" anchor="ctr">
                    <a:solidFill>
                      <a:srgbClr val="F5F8FA"/>
                    </a:solidFill>
                  </a:tcPr>
                </a:tc>
              </a:tr>
              <a:tr h="246761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Other single-flour bases</a:t>
                      </a:r>
                      <a:endParaRPr sz="1100"/>
                    </a:p>
                  </a:txBody>
                  <a:tcPr marL="38100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38100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38100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38100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38100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38100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38100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38100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38100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38100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38100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38100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38100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38100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38100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38100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38100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38100" marR="28575" marT="19050" marB="19050" anchor="ctr">
                    <a:solidFill>
                      <a:srgbClr val="FFFFFF"/>
                    </a:solidFill>
                  </a:tcPr>
                </a:tc>
              </a:tr>
              <a:tr h="246761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Multigrain and blended flour bases</a:t>
                      </a:r>
                      <a:endParaRPr sz="1100"/>
                    </a:p>
                  </a:txBody>
                  <a:tcPr marL="38100" marR="28575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38100" marR="28575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38100" marR="28575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38100" marR="28575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38100" marR="28575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38100" marR="28575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38100" marR="28575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38100" marR="28575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38100" marR="28575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38100" marR="28575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38100" marR="28575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38100" marR="28575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38100" marR="28575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38100" marR="28575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38100" marR="28575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38100" marR="28575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38100" marR="28575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38100" marR="28575" marT="19050" marB="19050" anchor="ctr">
                    <a:solidFill>
                      <a:srgbClr val="F5F8FA"/>
                    </a:solidFill>
                  </a:tcPr>
                </a:tc>
              </a:tr>
              <a:tr h="246761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Total</a:t>
                      </a:r>
                      <a:endParaRPr sz="1100"/>
                    </a:p>
                  </a:txBody>
                  <a:tcPr marL="38100" marR="28575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38100" marR="28575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38100" marR="28575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38100" marR="28575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38100" marR="28575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38100" marR="28575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38100" marR="28575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38100" marR="28575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38100" marR="28575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38100" marR="28575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38100" marR="28575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38100" marR="28575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38100" marR="28575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38100" marR="28575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38100" marR="28575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38100" marR="28575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38100" marR="28575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38100" marR="28575" marT="19050" marB="19050" anchor="ctr">
                    <a:solidFill>
                      <a:srgbClr val="E0E8EF"/>
                    </a:solidFill>
                  </a:tcPr>
                </a:tc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219075" y="3714750"/>
            <a:ext cx="11753850" cy="17145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100" b="0" i="1">
                <a:solidFill>
                  <a:srgbClr val="6C7A89"/>
                </a:solidFill>
                <a:latin typeface="Calibri"/>
              </a:rPr>
              <a:t>Source: FMI Analysis, 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58595B"/>
                </a:solidFill>
                <a:latin typeface="Calibri"/>
              </a:rPr>
              <a:t>©2026 Future Market Insights, All Rights Reserved</a:t>
            </a:r>
          </a:p>
        </p:txBody>
      </p:sp>
      <p:pic>
        <p:nvPicPr>
          <p:cNvPr id="16" name="Picture 15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16534" y="2328100"/>
            <a:ext cx="366712" cy="5334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3825" y="914400"/>
            <a:ext cx="3943350" cy="28575"/>
          </a:xfrm>
          <a:prstGeom prst="rect">
            <a:avLst/>
          </a:prstGeom>
          <a:solidFill>
            <a:srgbClr val="0081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24325" y="914400"/>
            <a:ext cx="3943350" cy="28575"/>
          </a:xfrm>
          <a:prstGeom prst="rect">
            <a:avLst/>
          </a:prstGeom>
          <a:solidFill>
            <a:srgbClr val="9E7E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124825" y="914400"/>
            <a:ext cx="3943350" cy="28575"/>
          </a:xfrm>
          <a:prstGeom prst="rect">
            <a:avLst/>
          </a:prstGeom>
          <a:solidFill>
            <a:srgbClr val="403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mi_logo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25" y="-205740"/>
            <a:ext cx="1307592" cy="13258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543050" y="19050"/>
            <a:ext cx="10506075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U.S. Packaged Muffins Market Tables Primary Flour Base (2/2)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43050" y="647700"/>
            <a:ext cx="10506075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Year-by-year volume and value of the U.S. market by Primary Flour Base, 2021–2036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42875" y="981075"/>
            <a:ext cx="11906250" cy="293370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38125" y="1038225"/>
            <a:ext cx="1171575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U.S. Value, By Primary Flour Base (US$ Mn)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152400" y="1238250"/>
          <a:ext cx="11887196" cy="246697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264040"/>
                <a:gridCol w="566068"/>
                <a:gridCol w="566068"/>
                <a:gridCol w="566068"/>
                <a:gridCol w="566068"/>
                <a:gridCol w="566068"/>
                <a:gridCol w="566068"/>
                <a:gridCol w="566068"/>
                <a:gridCol w="566068"/>
                <a:gridCol w="566068"/>
                <a:gridCol w="566068"/>
                <a:gridCol w="566068"/>
                <a:gridCol w="566068"/>
                <a:gridCol w="566068"/>
                <a:gridCol w="566068"/>
                <a:gridCol w="566068"/>
                <a:gridCol w="566068"/>
                <a:gridCol w="566068"/>
              </a:tblGrid>
              <a:tr h="246126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Primary Flour Base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2021A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2022A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2023A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2024A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2025A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2026E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2027F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2028F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2029F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2030F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2031F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2032F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2033F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2034F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2035F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2036F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F-CAGR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</a:tr>
              <a:tr h="246761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Wheat-based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246761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Oat-based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</a:tr>
              <a:tr h="246761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Rice-based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246761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Corn-based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</a:tr>
              <a:tr h="246761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Millet-based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246761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Almond and other nut flour-based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</a:tr>
              <a:tr h="246761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Other single-flour bases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246761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Multigrain and blended flour bases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</a:tr>
              <a:tr h="246761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Total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219075" y="3714750"/>
            <a:ext cx="11753850" cy="17145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100" b="0" i="1">
                <a:solidFill>
                  <a:srgbClr val="6C7A89"/>
                </a:solidFill>
                <a:latin typeface="Calibri"/>
              </a:rPr>
              <a:t>Source: FMI Analysis,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58595B"/>
                </a:solidFill>
                <a:latin typeface="Calibri"/>
              </a:rPr>
              <a:t>©2026 Future Market Insights, All Rights Reserved</a:t>
            </a:r>
          </a:p>
        </p:txBody>
      </p:sp>
      <p:pic>
        <p:nvPicPr>
          <p:cNvPr id="15" name="Picture 14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1327" y="2328100"/>
            <a:ext cx="366712" cy="5334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3825" y="914400"/>
            <a:ext cx="3943350" cy="28575"/>
          </a:xfrm>
          <a:prstGeom prst="rect">
            <a:avLst/>
          </a:prstGeom>
          <a:solidFill>
            <a:srgbClr val="0081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24325" y="914400"/>
            <a:ext cx="3943350" cy="28575"/>
          </a:xfrm>
          <a:prstGeom prst="rect">
            <a:avLst/>
          </a:prstGeom>
          <a:solidFill>
            <a:srgbClr val="9E7E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124825" y="914400"/>
            <a:ext cx="3943350" cy="28575"/>
          </a:xfrm>
          <a:prstGeom prst="rect">
            <a:avLst/>
          </a:prstGeom>
          <a:solidFill>
            <a:srgbClr val="403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mi_logo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25" y="-205740"/>
            <a:ext cx="1307592" cy="13258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543050" y="19050"/>
            <a:ext cx="8982075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U.S. YoY Analysis Primary Flour Base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43050" y="647700"/>
            <a:ext cx="10506075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U.S. year-on-year volume and value growth by Primary Flour Base, highlighting acceleration and slowdown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620375" y="228600"/>
            <a:ext cx="1428750" cy="419100"/>
          </a:xfrm>
          <a:prstGeom prst="roundRect">
            <a:avLst>
              <a:gd name="adj" fmla="val 22000"/>
            </a:avLst>
          </a:prstGeom>
          <a:solidFill>
            <a:srgbClr val="D9E6F2"/>
          </a:solidFill>
          <a:ln w="6350">
            <a:solidFill>
              <a:srgbClr val="69B1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100" b="1">
                <a:solidFill>
                  <a:srgbClr val="0B2E4A"/>
                </a:solidFill>
                <a:latin typeface="Calibri"/>
              </a:rPr>
              <a:t>U.S.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42875" y="981075"/>
            <a:ext cx="11906250" cy="2686050"/>
          </a:xfrm>
          <a:prstGeom prst="roundRect">
            <a:avLst>
              <a:gd name="adj" fmla="val 2836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38125" y="1038225"/>
            <a:ext cx="1171575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U.S. Volume YoY, By Primary Flour Base (%)  ·  </a:t>
            </a:r>
            <a:r>
              <a:rPr sz="1200" b="1">
                <a:solidFill>
                  <a:srgbClr val="2E7D32"/>
                </a:solidFill>
                <a:latin typeface="Calibri"/>
              </a:rPr>
              <a:t>▲ outpacing market  </a:t>
            </a:r>
            <a:r>
              <a:rPr sz="1200" b="1">
                <a:solidFill>
                  <a:srgbClr val="A86F00"/>
                </a:solidFill>
                <a:latin typeface="Calibri"/>
              </a:rPr>
              <a:t>▶ below market pace  </a:t>
            </a:r>
            <a:r>
              <a:rPr sz="1200" b="1">
                <a:solidFill>
                  <a:srgbClr val="E44D3A"/>
                </a:solidFill>
                <a:latin typeface="Calibri"/>
              </a:rPr>
              <a:t>▼ decline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152400" y="1238250"/>
          <a:ext cx="11887199" cy="221932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17919"/>
                <a:gridCol w="637952"/>
                <a:gridCol w="637952"/>
                <a:gridCol w="637952"/>
                <a:gridCol w="637952"/>
                <a:gridCol w="637952"/>
                <a:gridCol w="637952"/>
                <a:gridCol w="637952"/>
                <a:gridCol w="637952"/>
                <a:gridCol w="637952"/>
                <a:gridCol w="637952"/>
                <a:gridCol w="637952"/>
                <a:gridCol w="637952"/>
                <a:gridCol w="637952"/>
                <a:gridCol w="637952"/>
                <a:gridCol w="637952"/>
              </a:tblGrid>
              <a:tr h="246126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Primary Flour Base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2022A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2023A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2024A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2025A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2026E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2027F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2028F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2029F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2030F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2031F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2032F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2033F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2034F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2035F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2036F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</a:tr>
              <a:tr h="246650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Wheat-based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246650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Oat-based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</a:tr>
              <a:tr h="246650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Rice-based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246650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Corn-based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</a:tr>
              <a:tr h="246650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Millet-based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246650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Almond and other nut flour-based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</a:tr>
              <a:tr h="246650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Other single-flour bases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246650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Multigrain and blended flour bases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219075" y="3467100"/>
            <a:ext cx="11753850" cy="17145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100" b="0" i="1">
                <a:solidFill>
                  <a:srgbClr val="6C7A89"/>
                </a:solidFill>
                <a:latin typeface="Calibri"/>
              </a:rPr>
              <a:t>Source: FMI Analysis, 2026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42875" y="3800475"/>
            <a:ext cx="11906250" cy="2686050"/>
          </a:xfrm>
          <a:prstGeom prst="roundRect">
            <a:avLst>
              <a:gd name="adj" fmla="val 2836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38125" y="3857625"/>
            <a:ext cx="1171575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U.S. Value YoY, By Primary Flour Base (%)  ·  </a:t>
            </a:r>
            <a:r>
              <a:rPr sz="1200" b="1">
                <a:solidFill>
                  <a:srgbClr val="2E7D32"/>
                </a:solidFill>
                <a:latin typeface="Calibri"/>
              </a:rPr>
              <a:t>▲ outpacing market  </a:t>
            </a:r>
            <a:r>
              <a:rPr sz="1200" b="1">
                <a:solidFill>
                  <a:srgbClr val="A86F00"/>
                </a:solidFill>
                <a:latin typeface="Calibri"/>
              </a:rPr>
              <a:t>▶ below market pace  </a:t>
            </a:r>
            <a:r>
              <a:rPr sz="1200" b="1">
                <a:solidFill>
                  <a:srgbClr val="E44D3A"/>
                </a:solidFill>
                <a:latin typeface="Calibri"/>
              </a:rPr>
              <a:t>▼ decline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152400" y="4057650"/>
          <a:ext cx="11887199" cy="221932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17919"/>
                <a:gridCol w="637952"/>
                <a:gridCol w="637952"/>
                <a:gridCol w="637952"/>
                <a:gridCol w="637952"/>
                <a:gridCol w="637952"/>
                <a:gridCol w="637952"/>
                <a:gridCol w="637952"/>
                <a:gridCol w="637952"/>
                <a:gridCol w="637952"/>
                <a:gridCol w="637952"/>
                <a:gridCol w="637952"/>
                <a:gridCol w="637952"/>
                <a:gridCol w="637952"/>
                <a:gridCol w="637952"/>
                <a:gridCol w="637952"/>
              </a:tblGrid>
              <a:tr h="246126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Primary Flour Base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2022A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2023A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2024A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2025A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2026E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2027F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2028F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2029F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2030F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2031F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2032F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2033F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2034F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2035F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2036F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</a:tr>
              <a:tr h="246650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Wheat-based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246650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Oat-based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</a:tr>
              <a:tr h="246650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Rice-based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246650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Corn-based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</a:tr>
              <a:tr h="246650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Millet-based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246650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Almond and other nut flour-based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</a:tr>
              <a:tr h="246650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Other single-flour bases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246650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Multigrain and blended flour bases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219075" y="6286500"/>
            <a:ext cx="11753850" cy="17145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100" b="0" i="1">
                <a:solidFill>
                  <a:srgbClr val="6C7A89"/>
                </a:solidFill>
                <a:latin typeface="Calibri"/>
              </a:rPr>
              <a:t>Source: FMI Analysis, 2026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58595B"/>
                </a:solidFill>
                <a:latin typeface="Calibri"/>
              </a:rPr>
              <a:t>©2026 Future Market Insights, All Rights Reserved</a:t>
            </a:r>
          </a:p>
        </p:txBody>
      </p:sp>
      <p:pic>
        <p:nvPicPr>
          <p:cNvPr id="20" name="Picture 19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68268" y="2204276"/>
            <a:ext cx="366712" cy="533400"/>
          </a:xfrm>
          <a:prstGeom prst="rect">
            <a:avLst/>
          </a:prstGeom>
        </p:spPr>
      </p:pic>
      <p:pic>
        <p:nvPicPr>
          <p:cNvPr id="21" name="Picture 20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68268" y="5023676"/>
            <a:ext cx="366712" cy="5334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8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F1F8FE"/>
              </a:gs>
              <a:gs pos="100000">
                <a:srgbClr val="DAEAF9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0" y="5591183"/>
            <a:ext cx="12192000" cy="1266817"/>
          </a:xfrm>
          <a:custGeom>
            <a:avLst/>
            <a:gdLst/>
            <a:ahLst/>
            <a:cxnLst/>
            <a:rect l="l" t="t" r="r" b="b"/>
            <a:pathLst>
              <a:path w="12192000" h="1266817">
                <a:moveTo>
                  <a:pt x="0" y="1266817"/>
                </a:moveTo>
                <a:lnTo>
                  <a:pt x="0" y="475605"/>
                </a:lnTo>
                <a:lnTo>
                  <a:pt x="152400" y="486239"/>
                </a:lnTo>
                <a:lnTo>
                  <a:pt x="304800" y="495887"/>
                </a:lnTo>
                <a:lnTo>
                  <a:pt x="457200" y="504505"/>
                </a:lnTo>
                <a:lnTo>
                  <a:pt x="609600" y="512056"/>
                </a:lnTo>
                <a:lnTo>
                  <a:pt x="762000" y="518505"/>
                </a:lnTo>
                <a:lnTo>
                  <a:pt x="914400" y="523824"/>
                </a:lnTo>
                <a:lnTo>
                  <a:pt x="1066800" y="527988"/>
                </a:lnTo>
                <a:lnTo>
                  <a:pt x="1219200" y="530979"/>
                </a:lnTo>
                <a:lnTo>
                  <a:pt x="1371600" y="532783"/>
                </a:lnTo>
                <a:lnTo>
                  <a:pt x="1524000" y="533392"/>
                </a:lnTo>
                <a:lnTo>
                  <a:pt x="1676400" y="532804"/>
                </a:lnTo>
                <a:lnTo>
                  <a:pt x="1828800" y="531021"/>
                </a:lnTo>
                <a:lnTo>
                  <a:pt x="1981200" y="528051"/>
                </a:lnTo>
                <a:lnTo>
                  <a:pt x="2133600" y="523907"/>
                </a:lnTo>
                <a:lnTo>
                  <a:pt x="2286000" y="518609"/>
                </a:lnTo>
                <a:lnTo>
                  <a:pt x="2438400" y="512179"/>
                </a:lnTo>
                <a:lnTo>
                  <a:pt x="2590800" y="504648"/>
                </a:lnTo>
                <a:lnTo>
                  <a:pt x="2743200" y="496047"/>
                </a:lnTo>
                <a:lnTo>
                  <a:pt x="2895600" y="486417"/>
                </a:lnTo>
                <a:lnTo>
                  <a:pt x="3048000" y="475801"/>
                </a:lnTo>
                <a:lnTo>
                  <a:pt x="3200400" y="464245"/>
                </a:lnTo>
                <a:lnTo>
                  <a:pt x="3352800" y="451803"/>
                </a:lnTo>
                <a:lnTo>
                  <a:pt x="3505200" y="438529"/>
                </a:lnTo>
                <a:lnTo>
                  <a:pt x="3657600" y="424484"/>
                </a:lnTo>
                <a:lnTo>
                  <a:pt x="3810000" y="409730"/>
                </a:lnTo>
                <a:lnTo>
                  <a:pt x="3962400" y="394334"/>
                </a:lnTo>
                <a:lnTo>
                  <a:pt x="4114800" y="378365"/>
                </a:lnTo>
                <a:lnTo>
                  <a:pt x="4267200" y="361894"/>
                </a:lnTo>
                <a:lnTo>
                  <a:pt x="4419600" y="344996"/>
                </a:lnTo>
                <a:lnTo>
                  <a:pt x="4572000" y="327746"/>
                </a:lnTo>
                <a:lnTo>
                  <a:pt x="4724400" y="310223"/>
                </a:lnTo>
                <a:lnTo>
                  <a:pt x="4876800" y="292503"/>
                </a:lnTo>
                <a:lnTo>
                  <a:pt x="5029200" y="274668"/>
                </a:lnTo>
                <a:lnTo>
                  <a:pt x="5181600" y="256797"/>
                </a:lnTo>
                <a:lnTo>
                  <a:pt x="5334000" y="238971"/>
                </a:lnTo>
                <a:lnTo>
                  <a:pt x="5486400" y="221269"/>
                </a:lnTo>
                <a:lnTo>
                  <a:pt x="5638800" y="203771"/>
                </a:lnTo>
                <a:lnTo>
                  <a:pt x="5791200" y="186555"/>
                </a:lnTo>
                <a:lnTo>
                  <a:pt x="5943600" y="169699"/>
                </a:lnTo>
                <a:lnTo>
                  <a:pt x="6096000" y="153279"/>
                </a:lnTo>
                <a:lnTo>
                  <a:pt x="6248400" y="137368"/>
                </a:lnTo>
                <a:lnTo>
                  <a:pt x="6400800" y="122038"/>
                </a:lnTo>
                <a:lnTo>
                  <a:pt x="6553200" y="107357"/>
                </a:lnTo>
                <a:lnTo>
                  <a:pt x="6705600" y="93391"/>
                </a:lnTo>
                <a:lnTo>
                  <a:pt x="6858000" y="80204"/>
                </a:lnTo>
                <a:lnTo>
                  <a:pt x="7010400" y="67854"/>
                </a:lnTo>
                <a:lnTo>
                  <a:pt x="7162800" y="56397"/>
                </a:lnTo>
                <a:lnTo>
                  <a:pt x="7315200" y="45884"/>
                </a:lnTo>
                <a:lnTo>
                  <a:pt x="7467600" y="36363"/>
                </a:lnTo>
                <a:lnTo>
                  <a:pt x="7620000" y="27876"/>
                </a:lnTo>
                <a:lnTo>
                  <a:pt x="7772400" y="20461"/>
                </a:lnTo>
                <a:lnTo>
                  <a:pt x="7924800" y="14151"/>
                </a:lnTo>
                <a:lnTo>
                  <a:pt x="8077200" y="8976"/>
                </a:lnTo>
                <a:lnTo>
                  <a:pt x="8229600" y="4958"/>
                </a:lnTo>
                <a:lnTo>
                  <a:pt x="8382000" y="2115"/>
                </a:lnTo>
                <a:lnTo>
                  <a:pt x="8534400" y="460"/>
                </a:lnTo>
                <a:lnTo>
                  <a:pt x="8686800" y="0"/>
                </a:lnTo>
                <a:lnTo>
                  <a:pt x="8839200" y="738"/>
                </a:lnTo>
                <a:lnTo>
                  <a:pt x="8991600" y="2670"/>
                </a:lnTo>
                <a:lnTo>
                  <a:pt x="9144000" y="5787"/>
                </a:lnTo>
                <a:lnTo>
                  <a:pt x="9296400" y="10076"/>
                </a:lnTo>
                <a:lnTo>
                  <a:pt x="9448800" y="15518"/>
                </a:lnTo>
                <a:lnTo>
                  <a:pt x="9601200" y="22086"/>
                </a:lnTo>
                <a:lnTo>
                  <a:pt x="9753600" y="29754"/>
                </a:lnTo>
                <a:lnTo>
                  <a:pt x="9906000" y="38485"/>
                </a:lnTo>
                <a:lnTo>
                  <a:pt x="10058400" y="48241"/>
                </a:lnTo>
                <a:lnTo>
                  <a:pt x="10210800" y="58977"/>
                </a:lnTo>
                <a:lnTo>
                  <a:pt x="10363200" y="70647"/>
                </a:lnTo>
                <a:lnTo>
                  <a:pt x="10515600" y="83196"/>
                </a:lnTo>
                <a:lnTo>
                  <a:pt x="10668000" y="96570"/>
                </a:lnTo>
                <a:lnTo>
                  <a:pt x="10820400" y="110707"/>
                </a:lnTo>
                <a:lnTo>
                  <a:pt x="10972800" y="125545"/>
                </a:lnTo>
                <a:lnTo>
                  <a:pt x="11125200" y="141016"/>
                </a:lnTo>
                <a:lnTo>
                  <a:pt x="11277600" y="157052"/>
                </a:lnTo>
                <a:lnTo>
                  <a:pt x="11430000" y="173580"/>
                </a:lnTo>
                <a:lnTo>
                  <a:pt x="11582400" y="190527"/>
                </a:lnTo>
                <a:lnTo>
                  <a:pt x="11734800" y="207815"/>
                </a:lnTo>
                <a:lnTo>
                  <a:pt x="11887200" y="225367"/>
                </a:lnTo>
                <a:lnTo>
                  <a:pt x="12039600" y="243105"/>
                </a:lnTo>
                <a:lnTo>
                  <a:pt x="12192000" y="260949"/>
                </a:lnTo>
                <a:lnTo>
                  <a:pt x="12192000" y="1266817"/>
                </a:lnTo>
                <a:close/>
              </a:path>
            </a:pathLst>
          </a:custGeom>
          <a:solidFill>
            <a:srgbClr val="C8E0F6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0" y="5905543"/>
            <a:ext cx="12192000" cy="952457"/>
          </a:xfrm>
          <a:custGeom>
            <a:avLst/>
            <a:gdLst/>
            <a:ahLst/>
            <a:cxnLst/>
            <a:rect l="l" t="t" r="r" b="b"/>
            <a:pathLst>
              <a:path w="12192000" h="952457">
                <a:moveTo>
                  <a:pt x="0" y="952457"/>
                </a:moveTo>
                <a:lnTo>
                  <a:pt x="0" y="288660"/>
                </a:lnTo>
                <a:lnTo>
                  <a:pt x="152400" y="275228"/>
                </a:lnTo>
                <a:lnTo>
                  <a:pt x="304800" y="261249"/>
                </a:lnTo>
                <a:lnTo>
                  <a:pt x="457200" y="246812"/>
                </a:lnTo>
                <a:lnTo>
                  <a:pt x="609600" y="232010"/>
                </a:lnTo>
                <a:lnTo>
                  <a:pt x="762000" y="216940"/>
                </a:lnTo>
                <a:lnTo>
                  <a:pt x="914400" y="201698"/>
                </a:lnTo>
                <a:lnTo>
                  <a:pt x="1066800" y="186384"/>
                </a:lnTo>
                <a:lnTo>
                  <a:pt x="1219200" y="171097"/>
                </a:lnTo>
                <a:lnTo>
                  <a:pt x="1371600" y="155934"/>
                </a:lnTo>
                <a:lnTo>
                  <a:pt x="1524000" y="140995"/>
                </a:lnTo>
                <a:lnTo>
                  <a:pt x="1676400" y="126375"/>
                </a:lnTo>
                <a:lnTo>
                  <a:pt x="1828800" y="112170"/>
                </a:lnTo>
                <a:lnTo>
                  <a:pt x="1981200" y="98470"/>
                </a:lnTo>
                <a:lnTo>
                  <a:pt x="2133600" y="85366"/>
                </a:lnTo>
                <a:lnTo>
                  <a:pt x="2286000" y="72940"/>
                </a:lnTo>
                <a:lnTo>
                  <a:pt x="2438400" y="61275"/>
                </a:lnTo>
                <a:lnTo>
                  <a:pt x="2590800" y="50444"/>
                </a:lnTo>
                <a:lnTo>
                  <a:pt x="2743200" y="40519"/>
                </a:lnTo>
                <a:lnTo>
                  <a:pt x="2895600" y="31563"/>
                </a:lnTo>
                <a:lnTo>
                  <a:pt x="3048000" y="23634"/>
                </a:lnTo>
                <a:lnTo>
                  <a:pt x="3200400" y="16784"/>
                </a:lnTo>
                <a:lnTo>
                  <a:pt x="3352800" y="11056"/>
                </a:lnTo>
                <a:lnTo>
                  <a:pt x="3505200" y="6489"/>
                </a:lnTo>
                <a:lnTo>
                  <a:pt x="3657600" y="3110"/>
                </a:lnTo>
                <a:lnTo>
                  <a:pt x="3810000" y="943"/>
                </a:lnTo>
                <a:lnTo>
                  <a:pt x="3962400" y="0"/>
                </a:lnTo>
                <a:lnTo>
                  <a:pt x="4114800" y="289"/>
                </a:lnTo>
                <a:lnTo>
                  <a:pt x="4267200" y="1808"/>
                </a:lnTo>
                <a:lnTo>
                  <a:pt x="4419600" y="4546"/>
                </a:lnTo>
                <a:lnTo>
                  <a:pt x="4572000" y="8485"/>
                </a:lnTo>
                <a:lnTo>
                  <a:pt x="4724400" y="13601"/>
                </a:lnTo>
                <a:lnTo>
                  <a:pt x="4876800" y="19861"/>
                </a:lnTo>
                <a:lnTo>
                  <a:pt x="5029200" y="27223"/>
                </a:lnTo>
                <a:lnTo>
                  <a:pt x="5181600" y="35641"/>
                </a:lnTo>
                <a:lnTo>
                  <a:pt x="5334000" y="45059"/>
                </a:lnTo>
                <a:lnTo>
                  <a:pt x="5486400" y="55417"/>
                </a:lnTo>
                <a:lnTo>
                  <a:pt x="5638800" y="66649"/>
                </a:lnTo>
                <a:lnTo>
                  <a:pt x="5791200" y="78680"/>
                </a:lnTo>
                <a:lnTo>
                  <a:pt x="5943600" y="91435"/>
                </a:lnTo>
                <a:lnTo>
                  <a:pt x="6096000" y="104829"/>
                </a:lnTo>
                <a:lnTo>
                  <a:pt x="6248400" y="118777"/>
                </a:lnTo>
                <a:lnTo>
                  <a:pt x="6400800" y="133188"/>
                </a:lnTo>
                <a:lnTo>
                  <a:pt x="6553200" y="147970"/>
                </a:lnTo>
                <a:lnTo>
                  <a:pt x="6705600" y="163026"/>
                </a:lnTo>
                <a:lnTo>
                  <a:pt x="6858000" y="178260"/>
                </a:lnTo>
                <a:lnTo>
                  <a:pt x="7010400" y="193572"/>
                </a:lnTo>
                <a:lnTo>
                  <a:pt x="7162800" y="208865"/>
                </a:lnTo>
                <a:lnTo>
                  <a:pt x="7315200" y="224038"/>
                </a:lnTo>
                <a:lnTo>
                  <a:pt x="7467600" y="238994"/>
                </a:lnTo>
                <a:lnTo>
                  <a:pt x="7620000" y="253637"/>
                </a:lnTo>
                <a:lnTo>
                  <a:pt x="7772400" y="267871"/>
                </a:lnTo>
                <a:lnTo>
                  <a:pt x="7924800" y="281604"/>
                </a:lnTo>
                <a:lnTo>
                  <a:pt x="8077200" y="294748"/>
                </a:lnTo>
                <a:lnTo>
                  <a:pt x="8229600" y="307218"/>
                </a:lnTo>
                <a:lnTo>
                  <a:pt x="8382000" y="318934"/>
                </a:lnTo>
                <a:lnTo>
                  <a:pt x="8534400" y="329818"/>
                </a:lnTo>
                <a:lnTo>
                  <a:pt x="8686800" y="339802"/>
                </a:lnTo>
                <a:lnTo>
                  <a:pt x="8839200" y="348821"/>
                </a:lnTo>
                <a:lnTo>
                  <a:pt x="8991600" y="356815"/>
                </a:lnTo>
                <a:lnTo>
                  <a:pt x="9144000" y="363734"/>
                </a:lnTo>
                <a:lnTo>
                  <a:pt x="9296400" y="369533"/>
                </a:lnTo>
                <a:lnTo>
                  <a:pt x="9448800" y="374174"/>
                </a:lnTo>
                <a:lnTo>
                  <a:pt x="9601200" y="377628"/>
                </a:lnTo>
                <a:lnTo>
                  <a:pt x="9753600" y="379872"/>
                </a:lnTo>
                <a:lnTo>
                  <a:pt x="9906000" y="380891"/>
                </a:lnTo>
                <a:lnTo>
                  <a:pt x="10058400" y="380679"/>
                </a:lnTo>
                <a:lnTo>
                  <a:pt x="10210800" y="379237"/>
                </a:lnTo>
                <a:lnTo>
                  <a:pt x="10363200" y="376575"/>
                </a:lnTo>
                <a:lnTo>
                  <a:pt x="10515600" y="372710"/>
                </a:lnTo>
                <a:lnTo>
                  <a:pt x="10668000" y="367666"/>
                </a:lnTo>
                <a:lnTo>
                  <a:pt x="10820400" y="361477"/>
                </a:lnTo>
                <a:lnTo>
                  <a:pt x="10972800" y="354182"/>
                </a:lnTo>
                <a:lnTo>
                  <a:pt x="11125200" y="345829"/>
                </a:lnTo>
                <a:lnTo>
                  <a:pt x="11277600" y="336472"/>
                </a:lnTo>
                <a:lnTo>
                  <a:pt x="11430000" y="326170"/>
                </a:lnTo>
                <a:lnTo>
                  <a:pt x="11582400" y="314991"/>
                </a:lnTo>
                <a:lnTo>
                  <a:pt x="11734800" y="303008"/>
                </a:lnTo>
                <a:lnTo>
                  <a:pt x="11887200" y="290296"/>
                </a:lnTo>
                <a:lnTo>
                  <a:pt x="12039600" y="276939"/>
                </a:lnTo>
                <a:lnTo>
                  <a:pt x="12192000" y="263023"/>
                </a:lnTo>
                <a:lnTo>
                  <a:pt x="12192000" y="952457"/>
                </a:lnTo>
                <a:close/>
              </a:path>
            </a:pathLst>
          </a:custGeom>
          <a:solidFill>
            <a:srgbClr val="A7CDF1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638925"/>
            <a:ext cx="12192000" cy="219075"/>
          </a:xfrm>
          <a:prstGeom prst="rect">
            <a:avLst/>
          </a:prstGeom>
          <a:solidFill>
            <a:srgbClr val="A9C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238875"/>
            <a:ext cx="12192000" cy="400050"/>
          </a:xfrm>
          <a:prstGeom prst="rect">
            <a:avLst/>
          </a:prstGeom>
          <a:gradFill rotWithShape="1">
            <a:gsLst>
              <a:gs pos="0">
                <a:srgbClr val="2C6BB2"/>
              </a:gs>
              <a:gs pos="100000">
                <a:srgbClr val="7FB5E4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MI Section Bar"/>
          <p:cNvSpPr txBox="1"/>
          <p:nvPr/>
        </p:nvSpPr>
        <p:spPr>
          <a:xfrm>
            <a:off x="285750" y="6238875"/>
            <a:ext cx="3810000" cy="400050"/>
          </a:xfrm>
          <a:prstGeom prst="rect">
            <a:avLst/>
          </a:prstGeom>
          <a:noFill/>
        </p:spPr>
        <p:txBody>
          <a:bodyPr wrap="none" anchor="ctr" lIns="0" tIns="0" bIns="0">
            <a:spAutoFit/>
          </a:bodyPr>
          <a:lstStyle/>
          <a:p>
            <a:r>
              <a:rPr sz="1500" b="1">
                <a:solidFill>
                  <a:srgbClr val="FFFFFF"/>
                </a:solidFill>
                <a:latin typeface="Calibri"/>
              </a:rPr>
              <a:t>Section 2.4</a:t>
            </a:r>
          </a:p>
        </p:txBody>
      </p:sp>
      <p:pic>
        <p:nvPicPr>
          <p:cNvPr id="8" name="Picture 7" descr="fmi_logo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74320"/>
            <a:ext cx="1307592" cy="13258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14400" y="2752725"/>
            <a:ext cx="8572500" cy="3048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800" b="0">
                <a:solidFill>
                  <a:srgbClr val="0E72AE"/>
                </a:solidFill>
                <a:latin typeface="Calibri"/>
              </a:rPr>
              <a:t>Packaged Muffins Market</a:t>
            </a:r>
          </a:p>
        </p:txBody>
      </p:sp>
      <p:sp>
        <p:nvSpPr>
          <p:cNvPr id="10" name="FMI Section Title"/>
          <p:cNvSpPr txBox="1"/>
          <p:nvPr/>
        </p:nvSpPr>
        <p:spPr>
          <a:xfrm>
            <a:off x="914400" y="3095625"/>
            <a:ext cx="8572500" cy="51435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r>
              <a:rPr sz="3000" b="1">
                <a:solidFill>
                  <a:srgbClr val="0B3C8C"/>
                </a:solidFill>
                <a:latin typeface="Calibri"/>
              </a:rPr>
              <a:t>Dietary Formulation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781425"/>
            <a:ext cx="8458200" cy="12763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Calibri"/>
              </a:rPr>
              <a:t>➤	</a:t>
            </a:r>
            <a:r>
              <a:rPr sz="2000" b="0">
                <a:solidFill>
                  <a:srgbClr val="000000"/>
                </a:solidFill>
                <a:latin typeface="Calibri"/>
              </a:rPr>
              <a:t>Segmental</a:t>
            </a:r>
          </a:p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Calibri"/>
              </a:rPr>
              <a:t>➤	</a:t>
            </a:r>
            <a:r>
              <a:rPr sz="2000" b="0">
                <a:solidFill>
                  <a:srgbClr val="000000"/>
                </a:solidFill>
                <a:latin typeface="Calibri"/>
              </a:rPr>
              <a:t>Table (Volume &amp; Value)</a:t>
            </a:r>
          </a:p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Calibri"/>
              </a:rPr>
              <a:t>➤	</a:t>
            </a:r>
            <a:r>
              <a:rPr sz="2000" b="0">
                <a:solidFill>
                  <a:srgbClr val="000000"/>
                </a:solidFill>
                <a:latin typeface="Calibri"/>
              </a:rPr>
              <a:t>YoY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58595B"/>
                </a:solidFill>
                <a:latin typeface="Calibri"/>
              </a:rPr>
              <a:t>©2026 Future Market Insights, All Rights Reserved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3825" y="914400"/>
            <a:ext cx="3943350" cy="28575"/>
          </a:xfrm>
          <a:prstGeom prst="rect">
            <a:avLst/>
          </a:prstGeom>
          <a:solidFill>
            <a:srgbClr val="0081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24325" y="914400"/>
            <a:ext cx="3943350" cy="28575"/>
          </a:xfrm>
          <a:prstGeom prst="rect">
            <a:avLst/>
          </a:prstGeom>
          <a:solidFill>
            <a:srgbClr val="9E7E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124825" y="914400"/>
            <a:ext cx="3943350" cy="28575"/>
          </a:xfrm>
          <a:prstGeom prst="rect">
            <a:avLst/>
          </a:prstGeom>
          <a:solidFill>
            <a:srgbClr val="403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mi_logo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25" y="-205740"/>
            <a:ext cx="1307592" cy="13258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543050" y="19050"/>
            <a:ext cx="8982075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U.S. Packaged Muffins Market Segmental Analysis Dietary Formulation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43050" y="647700"/>
            <a:ext cx="10506075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U.S. segmental analysis by Dietary Formulation: growth contribution, share variance and absolute $ opportunity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620375" y="228600"/>
            <a:ext cx="1428750" cy="419100"/>
          </a:xfrm>
          <a:prstGeom prst="roundRect">
            <a:avLst>
              <a:gd name="adj" fmla="val 22000"/>
            </a:avLst>
          </a:prstGeom>
          <a:solidFill>
            <a:srgbClr val="D9E6F2"/>
          </a:solidFill>
          <a:ln w="6350">
            <a:solidFill>
              <a:srgbClr val="69B1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100" b="1">
                <a:solidFill>
                  <a:srgbClr val="0B2E4A"/>
                </a:solidFill>
                <a:latin typeface="Calibri"/>
              </a:rPr>
              <a:t>U.S.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42875" y="981075"/>
            <a:ext cx="5876925" cy="2752725"/>
          </a:xfrm>
          <a:prstGeom prst="roundRect">
            <a:avLst>
              <a:gd name="adj" fmla="val 2768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38125" y="1038225"/>
            <a:ext cx="5686425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Growth Contribution 2026 → 2036, By Dietary Formulation (US$ Mn)</a:t>
            </a:r>
          </a:p>
        </p:txBody>
      </p:sp>
      <p:graphicFrame>
        <p:nvGraphicFramePr>
          <p:cNvPr id="13" name="Chart 12"/>
          <p:cNvGraphicFramePr>
            <a:graphicFrameLocks noGrp="1"/>
          </p:cNvGraphicFramePr>
          <p:nvPr/>
        </p:nvGraphicFramePr>
        <p:xfrm>
          <a:off x="238125" y="1266825"/>
          <a:ext cx="5686425" cy="2409825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4" name="Rounded Rectangle 13"/>
          <p:cNvSpPr/>
          <p:nvPr/>
        </p:nvSpPr>
        <p:spPr>
          <a:xfrm>
            <a:off x="6172200" y="981075"/>
            <a:ext cx="5876925" cy="2752725"/>
          </a:xfrm>
          <a:prstGeom prst="roundRect">
            <a:avLst>
              <a:gd name="adj" fmla="val 2768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67450" y="1038225"/>
            <a:ext cx="5686425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Value Shares &amp; Variance, By Dietary Formulation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6181725" y="1238250"/>
          <a:ext cx="5857873" cy="228599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587165"/>
                <a:gridCol w="1067677"/>
                <a:gridCol w="1067677"/>
                <a:gridCol w="1067677"/>
                <a:gridCol w="1067677"/>
              </a:tblGrid>
              <a:tr h="246126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Dietary Formulation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Share 2026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Share 2036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Variance (BPS)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F-CAGR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</a:tr>
              <a:tr h="509968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Conventional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509968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Gluten-free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</a:tr>
              <a:tr h="509968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Vegan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509968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Gluten-free and vegan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</a:tr>
            </a:tbl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6248400" y="3533775"/>
            <a:ext cx="5724525" cy="17145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100" b="0" i="1">
                <a:solidFill>
                  <a:srgbClr val="6C7A89"/>
                </a:solidFill>
                <a:latin typeface="Calibri"/>
              </a:rPr>
              <a:t>Source: FMI Analysis, 2026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42875" y="3867150"/>
            <a:ext cx="5876925" cy="2752725"/>
          </a:xfrm>
          <a:prstGeom prst="roundRect">
            <a:avLst>
              <a:gd name="adj" fmla="val 2768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38125" y="3924300"/>
            <a:ext cx="5686425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Absolute $ Opportunity, By Dietary Formulation (US$ Mn), between 2026–2036</a:t>
            </a:r>
          </a:p>
        </p:txBody>
      </p:sp>
      <p:graphicFrame>
        <p:nvGraphicFramePr>
          <p:cNvPr id="20" name="Chart 19"/>
          <p:cNvGraphicFramePr>
            <a:graphicFrameLocks noGrp="1"/>
          </p:cNvGraphicFramePr>
          <p:nvPr/>
        </p:nvGraphicFramePr>
        <p:xfrm>
          <a:off x="238125" y="4152900"/>
          <a:ext cx="5686425" cy="2409825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21" name="Rounded Rectangle 20"/>
          <p:cNvSpPr/>
          <p:nvPr/>
        </p:nvSpPr>
        <p:spPr>
          <a:xfrm>
            <a:off x="6172200" y="3867150"/>
            <a:ext cx="5876925" cy="2752725"/>
          </a:xfrm>
          <a:prstGeom prst="roundRect">
            <a:avLst>
              <a:gd name="adj" fmla="val 2768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67450" y="3924300"/>
            <a:ext cx="5686425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Volume Shares &amp; Variance, By Dietary Formulation</a:t>
            </a:r>
          </a:p>
        </p:txBody>
      </p:sp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6181725" y="4124325"/>
          <a:ext cx="5857873" cy="228599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587165"/>
                <a:gridCol w="1067677"/>
                <a:gridCol w="1067677"/>
                <a:gridCol w="1067677"/>
                <a:gridCol w="1067677"/>
              </a:tblGrid>
              <a:tr h="246126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Dietary Formulation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Share 2026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Share 2036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Variance (BPS)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F-CAGR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</a:tr>
              <a:tr h="509968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Conventional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509968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Gluten-free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</a:tr>
              <a:tr h="509968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Vegan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509968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Gluten-free and vegan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</a:tr>
            </a:tbl>
          </a:graphicData>
        </a:graphic>
      </p:graphicFrame>
      <p:sp>
        <p:nvSpPr>
          <p:cNvPr id="24" name="TextBox 23"/>
          <p:cNvSpPr txBox="1"/>
          <p:nvPr/>
        </p:nvSpPr>
        <p:spPr>
          <a:xfrm>
            <a:off x="6248400" y="6419850"/>
            <a:ext cx="5724525" cy="17145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100" b="0" i="1">
                <a:solidFill>
                  <a:srgbClr val="6C7A89"/>
                </a:solidFill>
                <a:latin typeface="Calibri"/>
              </a:rPr>
              <a:t>Source: FMI Analysis, 2026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58595B"/>
                </a:solidFill>
                <a:latin typeface="Calibri"/>
              </a:rPr>
              <a:t>©2026 Future Market Insights, All Rights Reserved</a:t>
            </a:r>
          </a:p>
        </p:txBody>
      </p:sp>
      <p:pic>
        <p:nvPicPr>
          <p:cNvPr id="26" name="Picture 25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94826" y="2237234"/>
            <a:ext cx="263506" cy="383281"/>
          </a:xfrm>
          <a:prstGeom prst="rect">
            <a:avLst/>
          </a:prstGeom>
        </p:spPr>
      </p:pic>
      <p:pic>
        <p:nvPicPr>
          <p:cNvPr id="27" name="Picture 26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17554" y="2237612"/>
            <a:ext cx="366712" cy="533400"/>
          </a:xfrm>
          <a:prstGeom prst="rect">
            <a:avLst/>
          </a:prstGeom>
        </p:spPr>
      </p:pic>
      <p:pic>
        <p:nvPicPr>
          <p:cNvPr id="28" name="Picture 27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94826" y="5123309"/>
            <a:ext cx="263506" cy="383281"/>
          </a:xfrm>
          <a:prstGeom prst="rect">
            <a:avLst/>
          </a:prstGeom>
        </p:spPr>
      </p:pic>
      <p:pic>
        <p:nvPicPr>
          <p:cNvPr id="29" name="Picture 28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17554" y="5123687"/>
            <a:ext cx="366712" cy="533400"/>
          </a:xfrm>
          <a:prstGeom prst="rect">
            <a:avLst/>
          </a:prstGeom>
        </p:spPr>
      </p:pic>
      <p:sp>
        <p:nvSpPr>
          <p:cNvPr id="30" name="lockshield_13"/>
          <p:cNvSpPr/>
          <p:nvPr/>
        </p:nvSpPr>
        <p:spPr>
          <a:xfrm>
            <a:off x="238125" y="1266825"/>
            <a:ext cx="5686425" cy="2409825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lockshield_20"/>
          <p:cNvSpPr/>
          <p:nvPr/>
        </p:nvSpPr>
        <p:spPr>
          <a:xfrm>
            <a:off x="238125" y="4152900"/>
            <a:ext cx="5686425" cy="2409825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3825" y="914400"/>
            <a:ext cx="3943350" cy="28575"/>
          </a:xfrm>
          <a:prstGeom prst="rect">
            <a:avLst/>
          </a:prstGeom>
          <a:solidFill>
            <a:srgbClr val="0081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24325" y="914400"/>
            <a:ext cx="3943350" cy="28575"/>
          </a:xfrm>
          <a:prstGeom prst="rect">
            <a:avLst/>
          </a:prstGeom>
          <a:solidFill>
            <a:srgbClr val="9E7E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124825" y="914400"/>
            <a:ext cx="3943350" cy="28575"/>
          </a:xfrm>
          <a:prstGeom prst="rect">
            <a:avLst/>
          </a:prstGeom>
          <a:solidFill>
            <a:srgbClr val="403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mi_logo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25" y="-205740"/>
            <a:ext cx="1307592" cy="13258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543050" y="19050"/>
            <a:ext cx="8982075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U.S. Packaged Muffins Market Tables Dietary Formulation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43050" y="647700"/>
            <a:ext cx="10506075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Year-by-year volume and value of the U.S. market by Dietary Formulation, 2021–2036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620375" y="228600"/>
            <a:ext cx="1428750" cy="419100"/>
          </a:xfrm>
          <a:prstGeom prst="roundRect">
            <a:avLst>
              <a:gd name="adj" fmla="val 22000"/>
            </a:avLst>
          </a:prstGeom>
          <a:solidFill>
            <a:srgbClr val="D9E6F2"/>
          </a:solidFill>
          <a:ln w="6350">
            <a:solidFill>
              <a:srgbClr val="69B1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100" b="1">
                <a:solidFill>
                  <a:srgbClr val="0B2E4A"/>
                </a:solidFill>
                <a:latin typeface="Calibri"/>
              </a:rPr>
              <a:t>U.S.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42875" y="981075"/>
            <a:ext cx="11906250" cy="1952625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38125" y="1038225"/>
            <a:ext cx="1171575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U.S. Volume, By Dietary Formulation (MT)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152400" y="1238250"/>
          <a:ext cx="11887208" cy="148589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520472"/>
                <a:gridCol w="609808"/>
                <a:gridCol w="609808"/>
                <a:gridCol w="609808"/>
                <a:gridCol w="609808"/>
                <a:gridCol w="609808"/>
                <a:gridCol w="609808"/>
                <a:gridCol w="609808"/>
                <a:gridCol w="609808"/>
                <a:gridCol w="609808"/>
                <a:gridCol w="609808"/>
                <a:gridCol w="609808"/>
                <a:gridCol w="609808"/>
                <a:gridCol w="609808"/>
                <a:gridCol w="609808"/>
                <a:gridCol w="609808"/>
                <a:gridCol w="609808"/>
                <a:gridCol w="609808"/>
              </a:tblGrid>
              <a:tr h="246126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Dietary Formulation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2021A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2022A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2023A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2024A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2025A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2026E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2027F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2028F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2029F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2030F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2031F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2032F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2033F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2034F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2035F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2036F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F-CAGR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</a:tr>
              <a:tr h="247954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Conventional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247954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Gluten-free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</a:tr>
              <a:tr h="247954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Vegan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247954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Gluten-free and vegan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</a:tr>
              <a:tr h="247954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Total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219075" y="2733675"/>
            <a:ext cx="11753850" cy="17145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100" b="0" i="1">
                <a:solidFill>
                  <a:srgbClr val="6C7A89"/>
                </a:solidFill>
                <a:latin typeface="Calibri"/>
              </a:rPr>
              <a:t>Source: FMI Analysis, 2026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42875" y="3067050"/>
            <a:ext cx="11906250" cy="1952625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38125" y="3124200"/>
            <a:ext cx="1171575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U.S. Value, By Dietary Formulation (US$ Mn)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152400" y="3324225"/>
          <a:ext cx="11887196" cy="148589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590585"/>
                <a:gridCol w="605683"/>
                <a:gridCol w="605683"/>
                <a:gridCol w="605683"/>
                <a:gridCol w="605683"/>
                <a:gridCol w="605683"/>
                <a:gridCol w="605683"/>
                <a:gridCol w="605683"/>
                <a:gridCol w="605683"/>
                <a:gridCol w="605683"/>
                <a:gridCol w="605683"/>
                <a:gridCol w="605683"/>
                <a:gridCol w="605683"/>
                <a:gridCol w="605683"/>
                <a:gridCol w="605683"/>
                <a:gridCol w="605683"/>
                <a:gridCol w="605683"/>
                <a:gridCol w="605683"/>
              </a:tblGrid>
              <a:tr h="246126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Dietary Formulation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2021A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2022A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2023A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2024A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2025A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2026E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2027F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2028F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2029F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2030F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2031F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2032F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2033F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2034F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2035F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2036F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F-CAGR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</a:tr>
              <a:tr h="247954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Conventional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247954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Gluten-free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</a:tr>
              <a:tr h="247954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Vegan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247954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Gluten-free and vegan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</a:tr>
              <a:tr h="247954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Total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219075" y="4819650"/>
            <a:ext cx="11753850" cy="17145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100" b="0" i="1">
                <a:solidFill>
                  <a:srgbClr val="6C7A89"/>
                </a:solidFill>
                <a:latin typeface="Calibri"/>
              </a:rPr>
              <a:t>Source: FMI Analysis, 2026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58595B"/>
                </a:solidFill>
                <a:latin typeface="Calibri"/>
              </a:rPr>
              <a:t>©2026 Future Market Insights, All Rights Reserved</a:t>
            </a:r>
          </a:p>
        </p:txBody>
      </p:sp>
      <p:pic>
        <p:nvPicPr>
          <p:cNvPr id="20" name="Picture 19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9549" y="1837563"/>
            <a:ext cx="366712" cy="533400"/>
          </a:xfrm>
          <a:prstGeom prst="rect">
            <a:avLst/>
          </a:prstGeom>
        </p:spPr>
      </p:pic>
      <p:pic>
        <p:nvPicPr>
          <p:cNvPr id="21" name="Picture 20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04600" y="3923538"/>
            <a:ext cx="366712" cy="5334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3825" y="914400"/>
            <a:ext cx="3943350" cy="28575"/>
          </a:xfrm>
          <a:prstGeom prst="rect">
            <a:avLst/>
          </a:prstGeom>
          <a:solidFill>
            <a:srgbClr val="0081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24325" y="914400"/>
            <a:ext cx="3943350" cy="28575"/>
          </a:xfrm>
          <a:prstGeom prst="rect">
            <a:avLst/>
          </a:prstGeom>
          <a:solidFill>
            <a:srgbClr val="9E7E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124825" y="914400"/>
            <a:ext cx="3943350" cy="28575"/>
          </a:xfrm>
          <a:prstGeom prst="rect">
            <a:avLst/>
          </a:prstGeom>
          <a:solidFill>
            <a:srgbClr val="403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mi_logo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25" y="-205740"/>
            <a:ext cx="1307592" cy="13258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543050" y="19050"/>
            <a:ext cx="8982075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U.S. YoY Analysis Dietary Formulation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43050" y="647700"/>
            <a:ext cx="10506075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U.S. year-on-year volume and value growth by Dietary Formulation, highlighting acceleration and slowdown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620375" y="228600"/>
            <a:ext cx="1428750" cy="419100"/>
          </a:xfrm>
          <a:prstGeom prst="roundRect">
            <a:avLst>
              <a:gd name="adj" fmla="val 22000"/>
            </a:avLst>
          </a:prstGeom>
          <a:solidFill>
            <a:srgbClr val="D9E6F2"/>
          </a:solidFill>
          <a:ln w="6350">
            <a:solidFill>
              <a:srgbClr val="69B1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100" b="1">
                <a:solidFill>
                  <a:srgbClr val="0B2E4A"/>
                </a:solidFill>
                <a:latin typeface="Calibri"/>
              </a:rPr>
              <a:t>U.S.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42875" y="981075"/>
            <a:ext cx="11906250" cy="1704975"/>
          </a:xfrm>
          <a:prstGeom prst="roundRect">
            <a:avLst>
              <a:gd name="adj" fmla="val 4469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38125" y="1038225"/>
            <a:ext cx="1171575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U.S. Volume YoY, By Dietary Formulation (%)  ·  </a:t>
            </a:r>
            <a:r>
              <a:rPr sz="1200" b="1">
                <a:solidFill>
                  <a:srgbClr val="2E7D32"/>
                </a:solidFill>
                <a:latin typeface="Calibri"/>
              </a:rPr>
              <a:t>▲ outpacing market  </a:t>
            </a:r>
            <a:r>
              <a:rPr sz="1200" b="1">
                <a:solidFill>
                  <a:srgbClr val="A86F00"/>
                </a:solidFill>
                <a:latin typeface="Calibri"/>
              </a:rPr>
              <a:t>▶ below market pace  </a:t>
            </a:r>
            <a:r>
              <a:rPr sz="1200" b="1">
                <a:solidFill>
                  <a:srgbClr val="E44D3A"/>
                </a:solidFill>
                <a:latin typeface="Calibri"/>
              </a:rPr>
              <a:t>▼ decline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152400" y="1238250"/>
          <a:ext cx="11887194" cy="123825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31154"/>
                <a:gridCol w="683736"/>
                <a:gridCol w="683736"/>
                <a:gridCol w="683736"/>
                <a:gridCol w="683736"/>
                <a:gridCol w="683736"/>
                <a:gridCol w="683736"/>
                <a:gridCol w="683736"/>
                <a:gridCol w="683736"/>
                <a:gridCol w="683736"/>
                <a:gridCol w="683736"/>
                <a:gridCol w="683736"/>
                <a:gridCol w="683736"/>
                <a:gridCol w="683736"/>
                <a:gridCol w="683736"/>
                <a:gridCol w="683736"/>
              </a:tblGrid>
              <a:tr h="246126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Dietary Formulation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2022A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2023A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2024A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2025A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2026E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2027F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2028F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2029F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2030F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2031F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2032F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2033F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2034F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2035F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2036F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</a:tr>
              <a:tr h="248031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Conventional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248031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Gluten-free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</a:tr>
              <a:tr h="248031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Vegan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248031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Gluten-free and vegan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219075" y="2486025"/>
            <a:ext cx="11753850" cy="17145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100" b="0" i="1">
                <a:solidFill>
                  <a:srgbClr val="6C7A89"/>
                </a:solidFill>
                <a:latin typeface="Calibri"/>
              </a:rPr>
              <a:t>Source: FMI Analysis, 2026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42875" y="2819400"/>
            <a:ext cx="11906250" cy="1704975"/>
          </a:xfrm>
          <a:prstGeom prst="roundRect">
            <a:avLst>
              <a:gd name="adj" fmla="val 4469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38125" y="2876550"/>
            <a:ext cx="1171575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U.S. Value YoY, By Dietary Formulation (%)  ·  </a:t>
            </a:r>
            <a:r>
              <a:rPr sz="1200" b="1">
                <a:solidFill>
                  <a:srgbClr val="2E7D32"/>
                </a:solidFill>
                <a:latin typeface="Calibri"/>
              </a:rPr>
              <a:t>▲ outpacing market  </a:t>
            </a:r>
            <a:r>
              <a:rPr sz="1200" b="1">
                <a:solidFill>
                  <a:srgbClr val="A86F00"/>
                </a:solidFill>
                <a:latin typeface="Calibri"/>
              </a:rPr>
              <a:t>▶ below market pace  </a:t>
            </a:r>
            <a:r>
              <a:rPr sz="1200" b="1">
                <a:solidFill>
                  <a:srgbClr val="E44D3A"/>
                </a:solidFill>
                <a:latin typeface="Calibri"/>
              </a:rPr>
              <a:t>▼ decline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152400" y="3076575"/>
          <a:ext cx="11887201" cy="123825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39911"/>
                <a:gridCol w="676486"/>
                <a:gridCol w="676486"/>
                <a:gridCol w="676486"/>
                <a:gridCol w="676486"/>
                <a:gridCol w="676486"/>
                <a:gridCol w="676486"/>
                <a:gridCol w="676486"/>
                <a:gridCol w="676486"/>
                <a:gridCol w="676486"/>
                <a:gridCol w="676486"/>
                <a:gridCol w="676486"/>
                <a:gridCol w="676486"/>
                <a:gridCol w="676486"/>
                <a:gridCol w="676486"/>
                <a:gridCol w="676486"/>
              </a:tblGrid>
              <a:tr h="246126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Dietary Formulation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2022A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2023A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2024A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2025A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2026E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2027F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2028F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2029F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2030F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2031F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2032F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2033F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2034F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2035F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2036F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</a:tr>
              <a:tr h="248031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Conventional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248031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Gluten-free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</a:tr>
              <a:tr h="248031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Vegan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248031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Gluten-free and vegan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219075" y="4324350"/>
            <a:ext cx="11753850" cy="17145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100" b="0" i="1">
                <a:solidFill>
                  <a:srgbClr val="6C7A89"/>
                </a:solidFill>
                <a:latin typeface="Calibri"/>
              </a:rPr>
              <a:t>Source: FMI Analysis, 2026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58595B"/>
                </a:solidFill>
                <a:latin typeface="Calibri"/>
              </a:rPr>
              <a:t>©2026 Future Market Insights, All Rights Reserved</a:t>
            </a:r>
          </a:p>
        </p:txBody>
      </p:sp>
      <p:pic>
        <p:nvPicPr>
          <p:cNvPr id="20" name="Picture 19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4884" y="1713738"/>
            <a:ext cx="366712" cy="533400"/>
          </a:xfrm>
          <a:prstGeom prst="rect">
            <a:avLst/>
          </a:prstGeom>
        </p:spPr>
      </p:pic>
      <p:pic>
        <p:nvPicPr>
          <p:cNvPr id="21" name="Picture 20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79266" y="3552062"/>
            <a:ext cx="366712" cy="5334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8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F1F8FE"/>
              </a:gs>
              <a:gs pos="100000">
                <a:srgbClr val="DAEAF9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0" y="5591183"/>
            <a:ext cx="12192000" cy="1266817"/>
          </a:xfrm>
          <a:custGeom>
            <a:avLst/>
            <a:gdLst/>
            <a:ahLst/>
            <a:cxnLst/>
            <a:rect l="l" t="t" r="r" b="b"/>
            <a:pathLst>
              <a:path w="12192000" h="1266817">
                <a:moveTo>
                  <a:pt x="0" y="1266817"/>
                </a:moveTo>
                <a:lnTo>
                  <a:pt x="0" y="475605"/>
                </a:lnTo>
                <a:lnTo>
                  <a:pt x="152400" y="486239"/>
                </a:lnTo>
                <a:lnTo>
                  <a:pt x="304800" y="495887"/>
                </a:lnTo>
                <a:lnTo>
                  <a:pt x="457200" y="504505"/>
                </a:lnTo>
                <a:lnTo>
                  <a:pt x="609600" y="512056"/>
                </a:lnTo>
                <a:lnTo>
                  <a:pt x="762000" y="518505"/>
                </a:lnTo>
                <a:lnTo>
                  <a:pt x="914400" y="523824"/>
                </a:lnTo>
                <a:lnTo>
                  <a:pt x="1066800" y="527988"/>
                </a:lnTo>
                <a:lnTo>
                  <a:pt x="1219200" y="530979"/>
                </a:lnTo>
                <a:lnTo>
                  <a:pt x="1371600" y="532783"/>
                </a:lnTo>
                <a:lnTo>
                  <a:pt x="1524000" y="533392"/>
                </a:lnTo>
                <a:lnTo>
                  <a:pt x="1676400" y="532804"/>
                </a:lnTo>
                <a:lnTo>
                  <a:pt x="1828800" y="531021"/>
                </a:lnTo>
                <a:lnTo>
                  <a:pt x="1981200" y="528051"/>
                </a:lnTo>
                <a:lnTo>
                  <a:pt x="2133600" y="523907"/>
                </a:lnTo>
                <a:lnTo>
                  <a:pt x="2286000" y="518609"/>
                </a:lnTo>
                <a:lnTo>
                  <a:pt x="2438400" y="512179"/>
                </a:lnTo>
                <a:lnTo>
                  <a:pt x="2590800" y="504648"/>
                </a:lnTo>
                <a:lnTo>
                  <a:pt x="2743200" y="496047"/>
                </a:lnTo>
                <a:lnTo>
                  <a:pt x="2895600" y="486417"/>
                </a:lnTo>
                <a:lnTo>
                  <a:pt x="3048000" y="475801"/>
                </a:lnTo>
                <a:lnTo>
                  <a:pt x="3200400" y="464245"/>
                </a:lnTo>
                <a:lnTo>
                  <a:pt x="3352800" y="451803"/>
                </a:lnTo>
                <a:lnTo>
                  <a:pt x="3505200" y="438529"/>
                </a:lnTo>
                <a:lnTo>
                  <a:pt x="3657600" y="424484"/>
                </a:lnTo>
                <a:lnTo>
                  <a:pt x="3810000" y="409730"/>
                </a:lnTo>
                <a:lnTo>
                  <a:pt x="3962400" y="394334"/>
                </a:lnTo>
                <a:lnTo>
                  <a:pt x="4114800" y="378365"/>
                </a:lnTo>
                <a:lnTo>
                  <a:pt x="4267200" y="361894"/>
                </a:lnTo>
                <a:lnTo>
                  <a:pt x="4419600" y="344996"/>
                </a:lnTo>
                <a:lnTo>
                  <a:pt x="4572000" y="327746"/>
                </a:lnTo>
                <a:lnTo>
                  <a:pt x="4724400" y="310223"/>
                </a:lnTo>
                <a:lnTo>
                  <a:pt x="4876800" y="292503"/>
                </a:lnTo>
                <a:lnTo>
                  <a:pt x="5029200" y="274668"/>
                </a:lnTo>
                <a:lnTo>
                  <a:pt x="5181600" y="256797"/>
                </a:lnTo>
                <a:lnTo>
                  <a:pt x="5334000" y="238971"/>
                </a:lnTo>
                <a:lnTo>
                  <a:pt x="5486400" y="221269"/>
                </a:lnTo>
                <a:lnTo>
                  <a:pt x="5638800" y="203771"/>
                </a:lnTo>
                <a:lnTo>
                  <a:pt x="5791200" y="186555"/>
                </a:lnTo>
                <a:lnTo>
                  <a:pt x="5943600" y="169699"/>
                </a:lnTo>
                <a:lnTo>
                  <a:pt x="6096000" y="153279"/>
                </a:lnTo>
                <a:lnTo>
                  <a:pt x="6248400" y="137368"/>
                </a:lnTo>
                <a:lnTo>
                  <a:pt x="6400800" y="122038"/>
                </a:lnTo>
                <a:lnTo>
                  <a:pt x="6553200" y="107357"/>
                </a:lnTo>
                <a:lnTo>
                  <a:pt x="6705600" y="93391"/>
                </a:lnTo>
                <a:lnTo>
                  <a:pt x="6858000" y="80204"/>
                </a:lnTo>
                <a:lnTo>
                  <a:pt x="7010400" y="67854"/>
                </a:lnTo>
                <a:lnTo>
                  <a:pt x="7162800" y="56397"/>
                </a:lnTo>
                <a:lnTo>
                  <a:pt x="7315200" y="45884"/>
                </a:lnTo>
                <a:lnTo>
                  <a:pt x="7467600" y="36363"/>
                </a:lnTo>
                <a:lnTo>
                  <a:pt x="7620000" y="27876"/>
                </a:lnTo>
                <a:lnTo>
                  <a:pt x="7772400" y="20461"/>
                </a:lnTo>
                <a:lnTo>
                  <a:pt x="7924800" y="14151"/>
                </a:lnTo>
                <a:lnTo>
                  <a:pt x="8077200" y="8976"/>
                </a:lnTo>
                <a:lnTo>
                  <a:pt x="8229600" y="4958"/>
                </a:lnTo>
                <a:lnTo>
                  <a:pt x="8382000" y="2115"/>
                </a:lnTo>
                <a:lnTo>
                  <a:pt x="8534400" y="460"/>
                </a:lnTo>
                <a:lnTo>
                  <a:pt x="8686800" y="0"/>
                </a:lnTo>
                <a:lnTo>
                  <a:pt x="8839200" y="738"/>
                </a:lnTo>
                <a:lnTo>
                  <a:pt x="8991600" y="2670"/>
                </a:lnTo>
                <a:lnTo>
                  <a:pt x="9144000" y="5787"/>
                </a:lnTo>
                <a:lnTo>
                  <a:pt x="9296400" y="10076"/>
                </a:lnTo>
                <a:lnTo>
                  <a:pt x="9448800" y="15518"/>
                </a:lnTo>
                <a:lnTo>
                  <a:pt x="9601200" y="22086"/>
                </a:lnTo>
                <a:lnTo>
                  <a:pt x="9753600" y="29754"/>
                </a:lnTo>
                <a:lnTo>
                  <a:pt x="9906000" y="38485"/>
                </a:lnTo>
                <a:lnTo>
                  <a:pt x="10058400" y="48241"/>
                </a:lnTo>
                <a:lnTo>
                  <a:pt x="10210800" y="58977"/>
                </a:lnTo>
                <a:lnTo>
                  <a:pt x="10363200" y="70647"/>
                </a:lnTo>
                <a:lnTo>
                  <a:pt x="10515600" y="83196"/>
                </a:lnTo>
                <a:lnTo>
                  <a:pt x="10668000" y="96570"/>
                </a:lnTo>
                <a:lnTo>
                  <a:pt x="10820400" y="110707"/>
                </a:lnTo>
                <a:lnTo>
                  <a:pt x="10972800" y="125545"/>
                </a:lnTo>
                <a:lnTo>
                  <a:pt x="11125200" y="141016"/>
                </a:lnTo>
                <a:lnTo>
                  <a:pt x="11277600" y="157052"/>
                </a:lnTo>
                <a:lnTo>
                  <a:pt x="11430000" y="173580"/>
                </a:lnTo>
                <a:lnTo>
                  <a:pt x="11582400" y="190527"/>
                </a:lnTo>
                <a:lnTo>
                  <a:pt x="11734800" y="207815"/>
                </a:lnTo>
                <a:lnTo>
                  <a:pt x="11887200" y="225367"/>
                </a:lnTo>
                <a:lnTo>
                  <a:pt x="12039600" y="243105"/>
                </a:lnTo>
                <a:lnTo>
                  <a:pt x="12192000" y="260949"/>
                </a:lnTo>
                <a:lnTo>
                  <a:pt x="12192000" y="1266817"/>
                </a:lnTo>
                <a:close/>
              </a:path>
            </a:pathLst>
          </a:custGeom>
          <a:solidFill>
            <a:srgbClr val="C8E0F6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0" y="5905543"/>
            <a:ext cx="12192000" cy="952457"/>
          </a:xfrm>
          <a:custGeom>
            <a:avLst/>
            <a:gdLst/>
            <a:ahLst/>
            <a:cxnLst/>
            <a:rect l="l" t="t" r="r" b="b"/>
            <a:pathLst>
              <a:path w="12192000" h="952457">
                <a:moveTo>
                  <a:pt x="0" y="952457"/>
                </a:moveTo>
                <a:lnTo>
                  <a:pt x="0" y="288660"/>
                </a:lnTo>
                <a:lnTo>
                  <a:pt x="152400" y="275228"/>
                </a:lnTo>
                <a:lnTo>
                  <a:pt x="304800" y="261249"/>
                </a:lnTo>
                <a:lnTo>
                  <a:pt x="457200" y="246812"/>
                </a:lnTo>
                <a:lnTo>
                  <a:pt x="609600" y="232010"/>
                </a:lnTo>
                <a:lnTo>
                  <a:pt x="762000" y="216940"/>
                </a:lnTo>
                <a:lnTo>
                  <a:pt x="914400" y="201698"/>
                </a:lnTo>
                <a:lnTo>
                  <a:pt x="1066800" y="186384"/>
                </a:lnTo>
                <a:lnTo>
                  <a:pt x="1219200" y="171097"/>
                </a:lnTo>
                <a:lnTo>
                  <a:pt x="1371600" y="155934"/>
                </a:lnTo>
                <a:lnTo>
                  <a:pt x="1524000" y="140995"/>
                </a:lnTo>
                <a:lnTo>
                  <a:pt x="1676400" y="126375"/>
                </a:lnTo>
                <a:lnTo>
                  <a:pt x="1828800" y="112170"/>
                </a:lnTo>
                <a:lnTo>
                  <a:pt x="1981200" y="98470"/>
                </a:lnTo>
                <a:lnTo>
                  <a:pt x="2133600" y="85366"/>
                </a:lnTo>
                <a:lnTo>
                  <a:pt x="2286000" y="72940"/>
                </a:lnTo>
                <a:lnTo>
                  <a:pt x="2438400" y="61275"/>
                </a:lnTo>
                <a:lnTo>
                  <a:pt x="2590800" y="50444"/>
                </a:lnTo>
                <a:lnTo>
                  <a:pt x="2743200" y="40519"/>
                </a:lnTo>
                <a:lnTo>
                  <a:pt x="2895600" y="31563"/>
                </a:lnTo>
                <a:lnTo>
                  <a:pt x="3048000" y="23634"/>
                </a:lnTo>
                <a:lnTo>
                  <a:pt x="3200400" y="16784"/>
                </a:lnTo>
                <a:lnTo>
                  <a:pt x="3352800" y="11056"/>
                </a:lnTo>
                <a:lnTo>
                  <a:pt x="3505200" y="6489"/>
                </a:lnTo>
                <a:lnTo>
                  <a:pt x="3657600" y="3110"/>
                </a:lnTo>
                <a:lnTo>
                  <a:pt x="3810000" y="943"/>
                </a:lnTo>
                <a:lnTo>
                  <a:pt x="3962400" y="0"/>
                </a:lnTo>
                <a:lnTo>
                  <a:pt x="4114800" y="289"/>
                </a:lnTo>
                <a:lnTo>
                  <a:pt x="4267200" y="1808"/>
                </a:lnTo>
                <a:lnTo>
                  <a:pt x="4419600" y="4546"/>
                </a:lnTo>
                <a:lnTo>
                  <a:pt x="4572000" y="8485"/>
                </a:lnTo>
                <a:lnTo>
                  <a:pt x="4724400" y="13601"/>
                </a:lnTo>
                <a:lnTo>
                  <a:pt x="4876800" y="19861"/>
                </a:lnTo>
                <a:lnTo>
                  <a:pt x="5029200" y="27223"/>
                </a:lnTo>
                <a:lnTo>
                  <a:pt x="5181600" y="35641"/>
                </a:lnTo>
                <a:lnTo>
                  <a:pt x="5334000" y="45059"/>
                </a:lnTo>
                <a:lnTo>
                  <a:pt x="5486400" y="55417"/>
                </a:lnTo>
                <a:lnTo>
                  <a:pt x="5638800" y="66649"/>
                </a:lnTo>
                <a:lnTo>
                  <a:pt x="5791200" y="78680"/>
                </a:lnTo>
                <a:lnTo>
                  <a:pt x="5943600" y="91435"/>
                </a:lnTo>
                <a:lnTo>
                  <a:pt x="6096000" y="104829"/>
                </a:lnTo>
                <a:lnTo>
                  <a:pt x="6248400" y="118777"/>
                </a:lnTo>
                <a:lnTo>
                  <a:pt x="6400800" y="133188"/>
                </a:lnTo>
                <a:lnTo>
                  <a:pt x="6553200" y="147970"/>
                </a:lnTo>
                <a:lnTo>
                  <a:pt x="6705600" y="163026"/>
                </a:lnTo>
                <a:lnTo>
                  <a:pt x="6858000" y="178260"/>
                </a:lnTo>
                <a:lnTo>
                  <a:pt x="7010400" y="193572"/>
                </a:lnTo>
                <a:lnTo>
                  <a:pt x="7162800" y="208865"/>
                </a:lnTo>
                <a:lnTo>
                  <a:pt x="7315200" y="224038"/>
                </a:lnTo>
                <a:lnTo>
                  <a:pt x="7467600" y="238994"/>
                </a:lnTo>
                <a:lnTo>
                  <a:pt x="7620000" y="253637"/>
                </a:lnTo>
                <a:lnTo>
                  <a:pt x="7772400" y="267871"/>
                </a:lnTo>
                <a:lnTo>
                  <a:pt x="7924800" y="281604"/>
                </a:lnTo>
                <a:lnTo>
                  <a:pt x="8077200" y="294748"/>
                </a:lnTo>
                <a:lnTo>
                  <a:pt x="8229600" y="307218"/>
                </a:lnTo>
                <a:lnTo>
                  <a:pt x="8382000" y="318934"/>
                </a:lnTo>
                <a:lnTo>
                  <a:pt x="8534400" y="329818"/>
                </a:lnTo>
                <a:lnTo>
                  <a:pt x="8686800" y="339802"/>
                </a:lnTo>
                <a:lnTo>
                  <a:pt x="8839200" y="348821"/>
                </a:lnTo>
                <a:lnTo>
                  <a:pt x="8991600" y="356815"/>
                </a:lnTo>
                <a:lnTo>
                  <a:pt x="9144000" y="363734"/>
                </a:lnTo>
                <a:lnTo>
                  <a:pt x="9296400" y="369533"/>
                </a:lnTo>
                <a:lnTo>
                  <a:pt x="9448800" y="374174"/>
                </a:lnTo>
                <a:lnTo>
                  <a:pt x="9601200" y="377628"/>
                </a:lnTo>
                <a:lnTo>
                  <a:pt x="9753600" y="379872"/>
                </a:lnTo>
                <a:lnTo>
                  <a:pt x="9906000" y="380891"/>
                </a:lnTo>
                <a:lnTo>
                  <a:pt x="10058400" y="380679"/>
                </a:lnTo>
                <a:lnTo>
                  <a:pt x="10210800" y="379237"/>
                </a:lnTo>
                <a:lnTo>
                  <a:pt x="10363200" y="376575"/>
                </a:lnTo>
                <a:lnTo>
                  <a:pt x="10515600" y="372710"/>
                </a:lnTo>
                <a:lnTo>
                  <a:pt x="10668000" y="367666"/>
                </a:lnTo>
                <a:lnTo>
                  <a:pt x="10820400" y="361477"/>
                </a:lnTo>
                <a:lnTo>
                  <a:pt x="10972800" y="354182"/>
                </a:lnTo>
                <a:lnTo>
                  <a:pt x="11125200" y="345829"/>
                </a:lnTo>
                <a:lnTo>
                  <a:pt x="11277600" y="336472"/>
                </a:lnTo>
                <a:lnTo>
                  <a:pt x="11430000" y="326170"/>
                </a:lnTo>
                <a:lnTo>
                  <a:pt x="11582400" y="314991"/>
                </a:lnTo>
                <a:lnTo>
                  <a:pt x="11734800" y="303008"/>
                </a:lnTo>
                <a:lnTo>
                  <a:pt x="11887200" y="290296"/>
                </a:lnTo>
                <a:lnTo>
                  <a:pt x="12039600" y="276939"/>
                </a:lnTo>
                <a:lnTo>
                  <a:pt x="12192000" y="263023"/>
                </a:lnTo>
                <a:lnTo>
                  <a:pt x="12192000" y="952457"/>
                </a:lnTo>
                <a:close/>
              </a:path>
            </a:pathLst>
          </a:custGeom>
          <a:solidFill>
            <a:srgbClr val="A7CDF1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638925"/>
            <a:ext cx="12192000" cy="219075"/>
          </a:xfrm>
          <a:prstGeom prst="rect">
            <a:avLst/>
          </a:prstGeom>
          <a:solidFill>
            <a:srgbClr val="A9C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238875"/>
            <a:ext cx="12192000" cy="400050"/>
          </a:xfrm>
          <a:prstGeom prst="rect">
            <a:avLst/>
          </a:prstGeom>
          <a:gradFill rotWithShape="1">
            <a:gsLst>
              <a:gs pos="0">
                <a:srgbClr val="2C6BB2"/>
              </a:gs>
              <a:gs pos="100000">
                <a:srgbClr val="7FB5E4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MI Section Bar"/>
          <p:cNvSpPr txBox="1"/>
          <p:nvPr/>
        </p:nvSpPr>
        <p:spPr>
          <a:xfrm>
            <a:off x="285750" y="6238875"/>
            <a:ext cx="3810000" cy="400050"/>
          </a:xfrm>
          <a:prstGeom prst="rect">
            <a:avLst/>
          </a:prstGeom>
          <a:noFill/>
        </p:spPr>
        <p:txBody>
          <a:bodyPr wrap="none" anchor="ctr" lIns="0" tIns="0" bIns="0">
            <a:spAutoFit/>
          </a:bodyPr>
          <a:lstStyle/>
          <a:p>
            <a:r>
              <a:rPr sz="1500" b="1">
                <a:solidFill>
                  <a:srgbClr val="FFFFFF"/>
                </a:solidFill>
                <a:latin typeface="Calibri"/>
              </a:rPr>
              <a:t>Section 2.5</a:t>
            </a:r>
          </a:p>
        </p:txBody>
      </p:sp>
      <p:pic>
        <p:nvPicPr>
          <p:cNvPr id="8" name="Picture 7" descr="fmi_logo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74320"/>
            <a:ext cx="1307592" cy="13258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14400" y="2752725"/>
            <a:ext cx="8572500" cy="3048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800" b="0">
                <a:solidFill>
                  <a:srgbClr val="0E72AE"/>
                </a:solidFill>
                <a:latin typeface="Calibri"/>
              </a:rPr>
              <a:t>Packaged Muffins Market</a:t>
            </a:r>
          </a:p>
        </p:txBody>
      </p:sp>
      <p:sp>
        <p:nvSpPr>
          <p:cNvPr id="10" name="FMI Section Title"/>
          <p:cNvSpPr txBox="1"/>
          <p:nvPr/>
        </p:nvSpPr>
        <p:spPr>
          <a:xfrm>
            <a:off x="914400" y="3095625"/>
            <a:ext cx="8572500" cy="51435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r>
              <a:rPr sz="3000" b="1">
                <a:solidFill>
                  <a:srgbClr val="0B3C8C"/>
                </a:solidFill>
                <a:latin typeface="Calibri"/>
              </a:rPr>
              <a:t>Nutritional Positioning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781425"/>
            <a:ext cx="8458200" cy="12763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Calibri"/>
              </a:rPr>
              <a:t>➤	</a:t>
            </a:r>
            <a:r>
              <a:rPr sz="2000" b="0">
                <a:solidFill>
                  <a:srgbClr val="000000"/>
                </a:solidFill>
                <a:latin typeface="Calibri"/>
              </a:rPr>
              <a:t>Segmental</a:t>
            </a:r>
          </a:p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Calibri"/>
              </a:rPr>
              <a:t>➤	</a:t>
            </a:r>
            <a:r>
              <a:rPr sz="2000" b="0">
                <a:solidFill>
                  <a:srgbClr val="000000"/>
                </a:solidFill>
                <a:latin typeface="Calibri"/>
              </a:rPr>
              <a:t>Table (Volume &amp; Value)</a:t>
            </a:r>
          </a:p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Calibri"/>
              </a:rPr>
              <a:t>➤	</a:t>
            </a:r>
            <a:r>
              <a:rPr sz="2000" b="0">
                <a:solidFill>
                  <a:srgbClr val="000000"/>
                </a:solidFill>
                <a:latin typeface="Calibri"/>
              </a:rPr>
              <a:t>YoY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58595B"/>
                </a:solidFill>
                <a:latin typeface="Calibri"/>
              </a:rPr>
              <a:t>©2026 Future Market Insights, All Rights Reserved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3825" y="914400"/>
            <a:ext cx="3943350" cy="28575"/>
          </a:xfrm>
          <a:prstGeom prst="rect">
            <a:avLst/>
          </a:prstGeom>
          <a:solidFill>
            <a:srgbClr val="0081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24325" y="914400"/>
            <a:ext cx="3943350" cy="28575"/>
          </a:xfrm>
          <a:prstGeom prst="rect">
            <a:avLst/>
          </a:prstGeom>
          <a:solidFill>
            <a:srgbClr val="9E7E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124825" y="914400"/>
            <a:ext cx="3943350" cy="28575"/>
          </a:xfrm>
          <a:prstGeom prst="rect">
            <a:avLst/>
          </a:prstGeom>
          <a:solidFill>
            <a:srgbClr val="403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mi_logo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25" y="-205740"/>
            <a:ext cx="1307592" cy="13258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543050" y="19050"/>
            <a:ext cx="8982075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U.S. Packaged Muffins Market Segmental Analysis Nutritional Positioning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43050" y="647700"/>
            <a:ext cx="10506075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U.S. segmental analysis by Nutritional Positioning: growth contribution, share variance and absolute $ opportunity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620375" y="228600"/>
            <a:ext cx="1428750" cy="419100"/>
          </a:xfrm>
          <a:prstGeom prst="roundRect">
            <a:avLst>
              <a:gd name="adj" fmla="val 22000"/>
            </a:avLst>
          </a:prstGeom>
          <a:solidFill>
            <a:srgbClr val="D9E6F2"/>
          </a:solidFill>
          <a:ln w="6350">
            <a:solidFill>
              <a:srgbClr val="69B1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100" b="1">
                <a:solidFill>
                  <a:srgbClr val="0B2E4A"/>
                </a:solidFill>
                <a:latin typeface="Calibri"/>
              </a:rPr>
              <a:t>U.S.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42875" y="981075"/>
            <a:ext cx="5876925" cy="2752725"/>
          </a:xfrm>
          <a:prstGeom prst="roundRect">
            <a:avLst>
              <a:gd name="adj" fmla="val 2768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38125" y="1038225"/>
            <a:ext cx="5686425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Growth Contribution 2026 → 2036, By Nutritional Positioning (US$ Mn)</a:t>
            </a:r>
          </a:p>
        </p:txBody>
      </p:sp>
      <p:graphicFrame>
        <p:nvGraphicFramePr>
          <p:cNvPr id="13" name="Chart 12"/>
          <p:cNvGraphicFramePr>
            <a:graphicFrameLocks noGrp="1"/>
          </p:cNvGraphicFramePr>
          <p:nvPr/>
        </p:nvGraphicFramePr>
        <p:xfrm>
          <a:off x="238125" y="1266825"/>
          <a:ext cx="5686425" cy="2409825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4" name="Rounded Rectangle 13"/>
          <p:cNvSpPr/>
          <p:nvPr/>
        </p:nvSpPr>
        <p:spPr>
          <a:xfrm>
            <a:off x="6172200" y="981075"/>
            <a:ext cx="5876925" cy="2752725"/>
          </a:xfrm>
          <a:prstGeom prst="roundRect">
            <a:avLst>
              <a:gd name="adj" fmla="val 2768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67450" y="1038225"/>
            <a:ext cx="5686425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Value Shares &amp; Variance, By Nutritional Positioning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6181725" y="1238250"/>
          <a:ext cx="5857874" cy="228600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534448"/>
                <a:gridCol w="835498"/>
                <a:gridCol w="835498"/>
                <a:gridCol w="1055144"/>
                <a:gridCol w="597286"/>
              </a:tblGrid>
              <a:tr h="246126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Nutritional Positioning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Share 2026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Share 2036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Variance (BPS)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F-CAGR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</a:tr>
              <a:tr h="291411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Standard / indulgent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291411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Protein-enriched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</a:tr>
              <a:tr h="291411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Fibre-enriched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291411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Reduced-sugar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</a:tr>
              <a:tr h="291411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No-added-sugar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291411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Reduced-fat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</a:tr>
              <a:tr h="291411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Other nutrition-focused formulations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6248400" y="3533775"/>
            <a:ext cx="5724525" cy="17145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100" b="0" i="1">
                <a:solidFill>
                  <a:srgbClr val="6C7A89"/>
                </a:solidFill>
                <a:latin typeface="Calibri"/>
              </a:rPr>
              <a:t>Source: FMI Analysis, 2026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42875" y="3867150"/>
            <a:ext cx="5876925" cy="2752725"/>
          </a:xfrm>
          <a:prstGeom prst="roundRect">
            <a:avLst>
              <a:gd name="adj" fmla="val 2768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38125" y="3924300"/>
            <a:ext cx="5686425" cy="38100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Absolute $ Opportunity, By Nutritional Positioning (US$ Mn), between 2026–2036</a:t>
            </a:r>
          </a:p>
        </p:txBody>
      </p:sp>
      <p:graphicFrame>
        <p:nvGraphicFramePr>
          <p:cNvPr id="20" name="Chart 19"/>
          <p:cNvGraphicFramePr>
            <a:graphicFrameLocks noGrp="1"/>
          </p:cNvGraphicFramePr>
          <p:nvPr/>
        </p:nvGraphicFramePr>
        <p:xfrm>
          <a:off x="238125" y="4324350"/>
          <a:ext cx="5686425" cy="2238375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21" name="Rounded Rectangle 20"/>
          <p:cNvSpPr/>
          <p:nvPr/>
        </p:nvSpPr>
        <p:spPr>
          <a:xfrm>
            <a:off x="6172200" y="3867150"/>
            <a:ext cx="5876925" cy="2752725"/>
          </a:xfrm>
          <a:prstGeom prst="roundRect">
            <a:avLst>
              <a:gd name="adj" fmla="val 2768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67450" y="3924300"/>
            <a:ext cx="5686425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Volume Shares &amp; Variance, By Nutritional Positioning</a:t>
            </a:r>
          </a:p>
        </p:txBody>
      </p:sp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6181725" y="4124325"/>
          <a:ext cx="5857874" cy="228600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534448"/>
                <a:gridCol w="835498"/>
                <a:gridCol w="835498"/>
                <a:gridCol w="1055144"/>
                <a:gridCol w="597286"/>
              </a:tblGrid>
              <a:tr h="246126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Nutritional Positioning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Share 2026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Share 2036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Variance (BPS)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F-CAGR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</a:tr>
              <a:tr h="291411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Standard / indulgent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291411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Protein-enriched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</a:tr>
              <a:tr h="291411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Fibre-enriched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291411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Reduced-sugar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</a:tr>
              <a:tr h="291411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No-added-sugar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291411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Reduced-fat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</a:tr>
              <a:tr h="291411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Other nutrition-focused formulations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4" name="TextBox 23"/>
          <p:cNvSpPr txBox="1"/>
          <p:nvPr/>
        </p:nvSpPr>
        <p:spPr>
          <a:xfrm>
            <a:off x="6248400" y="6419850"/>
            <a:ext cx="5724525" cy="17145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100" b="0" i="1">
                <a:solidFill>
                  <a:srgbClr val="6C7A89"/>
                </a:solidFill>
                <a:latin typeface="Calibri"/>
              </a:rPr>
              <a:t>Source: FMI Analysis, 2026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58595B"/>
                </a:solidFill>
                <a:latin typeface="Calibri"/>
              </a:rPr>
              <a:t>©2026 Future Market Insights, All Rights Reserved</a:t>
            </a:r>
          </a:p>
        </p:txBody>
      </p:sp>
      <p:pic>
        <p:nvPicPr>
          <p:cNvPr id="26" name="Picture 25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94826" y="2237234"/>
            <a:ext cx="263506" cy="383281"/>
          </a:xfrm>
          <a:prstGeom prst="rect">
            <a:avLst/>
          </a:prstGeom>
        </p:spPr>
      </p:pic>
      <p:pic>
        <p:nvPicPr>
          <p:cNvPr id="27" name="Picture 26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91196" y="2237614"/>
            <a:ext cx="366712" cy="533400"/>
          </a:xfrm>
          <a:prstGeom prst="rect">
            <a:avLst/>
          </a:prstGeom>
        </p:spPr>
      </p:pic>
      <p:pic>
        <p:nvPicPr>
          <p:cNvPr id="28" name="Picture 27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00230" y="5216754"/>
            <a:ext cx="252890" cy="367840"/>
          </a:xfrm>
          <a:prstGeom prst="rect">
            <a:avLst/>
          </a:prstGeom>
        </p:spPr>
      </p:pic>
      <p:pic>
        <p:nvPicPr>
          <p:cNvPr id="29" name="Picture 28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91196" y="5123689"/>
            <a:ext cx="366712" cy="533400"/>
          </a:xfrm>
          <a:prstGeom prst="rect">
            <a:avLst/>
          </a:prstGeom>
        </p:spPr>
      </p:pic>
      <p:sp>
        <p:nvSpPr>
          <p:cNvPr id="30" name="lockshield_13"/>
          <p:cNvSpPr/>
          <p:nvPr/>
        </p:nvSpPr>
        <p:spPr>
          <a:xfrm>
            <a:off x="238125" y="1266825"/>
            <a:ext cx="5686425" cy="2409825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lockshield_20"/>
          <p:cNvSpPr/>
          <p:nvPr/>
        </p:nvSpPr>
        <p:spPr>
          <a:xfrm>
            <a:off x="238125" y="4324350"/>
            <a:ext cx="5686425" cy="2238375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3825" y="914400"/>
            <a:ext cx="3943350" cy="28575"/>
          </a:xfrm>
          <a:prstGeom prst="rect">
            <a:avLst/>
          </a:prstGeom>
          <a:solidFill>
            <a:srgbClr val="0081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24325" y="914400"/>
            <a:ext cx="3943350" cy="28575"/>
          </a:xfrm>
          <a:prstGeom prst="rect">
            <a:avLst/>
          </a:prstGeom>
          <a:solidFill>
            <a:srgbClr val="9E7E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124825" y="914400"/>
            <a:ext cx="3943350" cy="28575"/>
          </a:xfrm>
          <a:prstGeom prst="rect">
            <a:avLst/>
          </a:prstGeom>
          <a:solidFill>
            <a:srgbClr val="403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mi_logo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25" y="-205740"/>
            <a:ext cx="1307592" cy="13258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543050" y="19050"/>
            <a:ext cx="8982075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U.S. Packaged Muffins Market Tables Nutritional Positioning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43050" y="647700"/>
            <a:ext cx="10506075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Year-by-year volume and value of the U.S. market by Nutritional Positioning, 2021–2036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620375" y="228600"/>
            <a:ext cx="1428750" cy="419100"/>
          </a:xfrm>
          <a:prstGeom prst="roundRect">
            <a:avLst>
              <a:gd name="adj" fmla="val 22000"/>
            </a:avLst>
          </a:prstGeom>
          <a:solidFill>
            <a:srgbClr val="D9E6F2"/>
          </a:solidFill>
          <a:ln w="6350">
            <a:solidFill>
              <a:srgbClr val="69B1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100" b="1">
                <a:solidFill>
                  <a:srgbClr val="0B2E4A"/>
                </a:solidFill>
                <a:latin typeface="Calibri"/>
              </a:rPr>
              <a:t>U.S.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42875" y="981075"/>
            <a:ext cx="11906250" cy="2686050"/>
          </a:xfrm>
          <a:prstGeom prst="roundRect">
            <a:avLst>
              <a:gd name="adj" fmla="val 2836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38125" y="1038225"/>
            <a:ext cx="1171575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U.S. Volume, By Nutritional Positioning (MT)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152400" y="1238250"/>
          <a:ext cx="11887199" cy="221932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29934"/>
                <a:gridCol w="563999"/>
                <a:gridCol w="563999"/>
                <a:gridCol w="563999"/>
                <a:gridCol w="563999"/>
                <a:gridCol w="563999"/>
                <a:gridCol w="563999"/>
                <a:gridCol w="563999"/>
                <a:gridCol w="563999"/>
                <a:gridCol w="563999"/>
                <a:gridCol w="563999"/>
                <a:gridCol w="563999"/>
                <a:gridCol w="563999"/>
                <a:gridCol w="563999"/>
                <a:gridCol w="563999"/>
                <a:gridCol w="563999"/>
                <a:gridCol w="563999"/>
                <a:gridCol w="533281"/>
              </a:tblGrid>
              <a:tr h="246126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Nutritional Positioning</a:t>
                      </a:r>
                      <a:endParaRPr sz="1100"/>
                    </a:p>
                  </a:txBody>
                  <a:tcPr marL="38100" marR="28575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2021A</a:t>
                      </a:r>
                      <a:endParaRPr sz="1100"/>
                    </a:p>
                  </a:txBody>
                  <a:tcPr marL="38100" marR="28575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2022A</a:t>
                      </a:r>
                      <a:endParaRPr sz="1100"/>
                    </a:p>
                  </a:txBody>
                  <a:tcPr marL="38100" marR="28575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2023A</a:t>
                      </a:r>
                      <a:endParaRPr sz="1100"/>
                    </a:p>
                  </a:txBody>
                  <a:tcPr marL="38100" marR="28575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2024A</a:t>
                      </a:r>
                      <a:endParaRPr sz="1100"/>
                    </a:p>
                  </a:txBody>
                  <a:tcPr marL="38100" marR="28575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2025A</a:t>
                      </a:r>
                      <a:endParaRPr sz="1100"/>
                    </a:p>
                  </a:txBody>
                  <a:tcPr marL="38100" marR="28575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2026E</a:t>
                      </a:r>
                      <a:endParaRPr sz="1100"/>
                    </a:p>
                  </a:txBody>
                  <a:tcPr marL="38100" marR="28575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2027F</a:t>
                      </a:r>
                      <a:endParaRPr sz="1100"/>
                    </a:p>
                  </a:txBody>
                  <a:tcPr marL="38100" marR="28575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2028F</a:t>
                      </a:r>
                      <a:endParaRPr sz="1100"/>
                    </a:p>
                  </a:txBody>
                  <a:tcPr marL="38100" marR="28575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2029F</a:t>
                      </a:r>
                      <a:endParaRPr sz="1100"/>
                    </a:p>
                  </a:txBody>
                  <a:tcPr marL="38100" marR="28575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2030F</a:t>
                      </a:r>
                      <a:endParaRPr sz="1100"/>
                    </a:p>
                  </a:txBody>
                  <a:tcPr marL="38100" marR="28575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2031F</a:t>
                      </a:r>
                      <a:endParaRPr sz="1100"/>
                    </a:p>
                  </a:txBody>
                  <a:tcPr marL="38100" marR="28575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2032F</a:t>
                      </a:r>
                      <a:endParaRPr sz="1100"/>
                    </a:p>
                  </a:txBody>
                  <a:tcPr marL="38100" marR="28575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2033F</a:t>
                      </a:r>
                      <a:endParaRPr sz="1100"/>
                    </a:p>
                  </a:txBody>
                  <a:tcPr marL="38100" marR="28575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2034F</a:t>
                      </a:r>
                      <a:endParaRPr sz="1100"/>
                    </a:p>
                  </a:txBody>
                  <a:tcPr marL="38100" marR="28575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2035F</a:t>
                      </a:r>
                      <a:endParaRPr sz="1100"/>
                    </a:p>
                  </a:txBody>
                  <a:tcPr marL="38100" marR="28575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2036F</a:t>
                      </a:r>
                      <a:endParaRPr sz="1100"/>
                    </a:p>
                  </a:txBody>
                  <a:tcPr marL="38100" marR="28575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F-CAGR</a:t>
                      </a:r>
                      <a:endParaRPr sz="1100"/>
                    </a:p>
                  </a:txBody>
                  <a:tcPr marL="38100" marR="28575" marT="19050" marB="19050" anchor="ctr">
                    <a:solidFill>
                      <a:srgbClr val="E0E8EF"/>
                    </a:solidFill>
                  </a:tcPr>
                </a:tc>
              </a:tr>
              <a:tr h="246650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Standard / indulgent</a:t>
                      </a:r>
                      <a:endParaRPr sz="1100"/>
                    </a:p>
                  </a:txBody>
                  <a:tcPr marL="38100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38100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38100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38100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38100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38100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38100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38100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38100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38100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38100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38100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38100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38100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38100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38100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38100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38100" marR="28575" marT="19050" marB="19050" anchor="ctr">
                    <a:solidFill>
                      <a:srgbClr val="FFFFFF"/>
                    </a:solidFill>
                  </a:tcPr>
                </a:tc>
              </a:tr>
              <a:tr h="246650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Protein-enriched</a:t>
                      </a:r>
                      <a:endParaRPr sz="1100"/>
                    </a:p>
                  </a:txBody>
                  <a:tcPr marL="38100" marR="28575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38100" marR="28575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38100" marR="28575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38100" marR="28575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38100" marR="28575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38100" marR="28575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38100" marR="28575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38100" marR="28575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38100" marR="28575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38100" marR="28575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38100" marR="28575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38100" marR="28575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38100" marR="28575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38100" marR="28575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38100" marR="28575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38100" marR="28575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38100" marR="28575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38100" marR="28575" marT="19050" marB="19050" anchor="ctr">
                    <a:solidFill>
                      <a:srgbClr val="F5F8FA"/>
                    </a:solidFill>
                  </a:tcPr>
                </a:tc>
              </a:tr>
              <a:tr h="246650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Fibre-enriched</a:t>
                      </a:r>
                      <a:endParaRPr sz="1100"/>
                    </a:p>
                  </a:txBody>
                  <a:tcPr marL="38100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38100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38100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38100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38100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38100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38100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38100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38100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38100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38100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38100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38100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38100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38100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38100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38100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38100" marR="28575" marT="19050" marB="19050" anchor="ctr">
                    <a:solidFill>
                      <a:srgbClr val="FFFFFF"/>
                    </a:solidFill>
                  </a:tcPr>
                </a:tc>
              </a:tr>
              <a:tr h="246650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Reduced-sugar</a:t>
                      </a:r>
                      <a:endParaRPr sz="1100"/>
                    </a:p>
                  </a:txBody>
                  <a:tcPr marL="38100" marR="28575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38100" marR="28575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38100" marR="28575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38100" marR="28575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38100" marR="28575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38100" marR="28575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38100" marR="28575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38100" marR="28575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38100" marR="28575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38100" marR="28575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38100" marR="28575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38100" marR="28575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38100" marR="28575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38100" marR="28575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38100" marR="28575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38100" marR="28575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38100" marR="28575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38100" marR="28575" marT="19050" marB="19050" anchor="ctr">
                    <a:solidFill>
                      <a:srgbClr val="F5F8FA"/>
                    </a:solidFill>
                  </a:tcPr>
                </a:tc>
              </a:tr>
              <a:tr h="246650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No-added-sugar</a:t>
                      </a:r>
                      <a:endParaRPr sz="1100"/>
                    </a:p>
                  </a:txBody>
                  <a:tcPr marL="38100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38100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38100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38100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38100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38100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38100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38100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38100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38100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38100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38100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38100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38100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38100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38100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38100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38100" marR="28575" marT="19050" marB="19050" anchor="ctr">
                    <a:solidFill>
                      <a:srgbClr val="FFFFFF"/>
                    </a:solidFill>
                  </a:tcPr>
                </a:tc>
              </a:tr>
              <a:tr h="246650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Reduced-fat</a:t>
                      </a:r>
                      <a:endParaRPr sz="1100"/>
                    </a:p>
                  </a:txBody>
                  <a:tcPr marL="38100" marR="28575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38100" marR="28575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38100" marR="28575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38100" marR="28575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38100" marR="28575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38100" marR="28575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38100" marR="28575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38100" marR="28575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38100" marR="28575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38100" marR="28575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38100" marR="28575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38100" marR="28575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38100" marR="28575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38100" marR="28575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38100" marR="28575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38100" marR="28575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38100" marR="28575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38100" marR="28575" marT="19050" marB="19050" anchor="ctr">
                    <a:solidFill>
                      <a:srgbClr val="F5F8FA"/>
                    </a:solidFill>
                  </a:tcPr>
                </a:tc>
              </a:tr>
              <a:tr h="246650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Other nutrition-focused formulations</a:t>
                      </a:r>
                      <a:endParaRPr sz="1100"/>
                    </a:p>
                  </a:txBody>
                  <a:tcPr marL="38100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38100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38100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38100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38100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38100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38100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38100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38100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38100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38100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38100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38100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38100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38100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38100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38100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38100" marR="28575" marT="19050" marB="19050" anchor="ctr">
                    <a:solidFill>
                      <a:srgbClr val="FFFFFF"/>
                    </a:solidFill>
                  </a:tcPr>
                </a:tc>
              </a:tr>
              <a:tr h="246650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Total</a:t>
                      </a:r>
                      <a:endParaRPr sz="1100"/>
                    </a:p>
                  </a:txBody>
                  <a:tcPr marL="38100" marR="28575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38100" marR="28575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38100" marR="28575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38100" marR="28575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38100" marR="28575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38100" marR="28575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38100" marR="28575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38100" marR="28575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38100" marR="28575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38100" marR="28575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38100" marR="28575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38100" marR="28575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38100" marR="28575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38100" marR="28575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38100" marR="28575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38100" marR="28575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38100" marR="28575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38100" marR="28575" marT="19050" marB="19050" anchor="ctr">
                    <a:solidFill>
                      <a:srgbClr val="E0E8EF"/>
                    </a:solidFill>
                  </a:tcPr>
                </a:tc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219075" y="3467100"/>
            <a:ext cx="11753850" cy="17145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100" b="0" i="1">
                <a:solidFill>
                  <a:srgbClr val="6C7A89"/>
                </a:solidFill>
                <a:latin typeface="Calibri"/>
              </a:rPr>
              <a:t>Source: FMI Analysis, 2026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42875" y="3800475"/>
            <a:ext cx="11906250" cy="2686050"/>
          </a:xfrm>
          <a:prstGeom prst="roundRect">
            <a:avLst>
              <a:gd name="adj" fmla="val 2836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38125" y="3857625"/>
            <a:ext cx="1171575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U.S. Value, By Nutritional Positioning (US$ Mn)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152400" y="4057650"/>
          <a:ext cx="11887203" cy="221932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74428"/>
                <a:gridCol w="559575"/>
                <a:gridCol w="559575"/>
                <a:gridCol w="559575"/>
                <a:gridCol w="559575"/>
                <a:gridCol w="559575"/>
                <a:gridCol w="559575"/>
                <a:gridCol w="559575"/>
                <a:gridCol w="559575"/>
                <a:gridCol w="559575"/>
                <a:gridCol w="559575"/>
                <a:gridCol w="559575"/>
                <a:gridCol w="559575"/>
                <a:gridCol w="559575"/>
                <a:gridCol w="559575"/>
                <a:gridCol w="559575"/>
                <a:gridCol w="559575"/>
                <a:gridCol w="559575"/>
              </a:tblGrid>
              <a:tr h="246126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Nutritional Positioning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2021A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2022A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2023A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2024A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2025A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2026E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2027F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2028F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2029F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2030F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2031F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2032F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2033F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2034F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2035F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2036F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F-CAGR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</a:tr>
              <a:tr h="246650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Standard / indulgent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246650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Protein-enriched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</a:tr>
              <a:tr h="246650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Fibre-enriched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246650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Reduced-sugar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</a:tr>
              <a:tr h="246650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No-added-sugar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246650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Reduced-fat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</a:tr>
              <a:tr h="246650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Other nutrition-focused formulations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246650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Total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219075" y="6286500"/>
            <a:ext cx="11753850" cy="17145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100" b="0" i="1">
                <a:solidFill>
                  <a:srgbClr val="6C7A89"/>
                </a:solidFill>
                <a:latin typeface="Calibri"/>
              </a:rPr>
              <a:t>Source: FMI Analysis, 2026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58595B"/>
                </a:solidFill>
                <a:latin typeface="Calibri"/>
              </a:rPr>
              <a:t>©2026 Future Market Insights, All Rights Reserved</a:t>
            </a:r>
          </a:p>
        </p:txBody>
      </p:sp>
      <p:pic>
        <p:nvPicPr>
          <p:cNvPr id="20" name="Picture 19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74276" y="2204276"/>
            <a:ext cx="366712" cy="533400"/>
          </a:xfrm>
          <a:prstGeom prst="rect">
            <a:avLst/>
          </a:prstGeom>
        </p:spPr>
      </p:pic>
      <p:pic>
        <p:nvPicPr>
          <p:cNvPr id="21" name="Picture 20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96525" y="5023676"/>
            <a:ext cx="366712" cy="5334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3825" y="914400"/>
            <a:ext cx="3943350" cy="28575"/>
          </a:xfrm>
          <a:prstGeom prst="rect">
            <a:avLst/>
          </a:prstGeom>
          <a:solidFill>
            <a:srgbClr val="0081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24325" y="914400"/>
            <a:ext cx="3943350" cy="28575"/>
          </a:xfrm>
          <a:prstGeom prst="rect">
            <a:avLst/>
          </a:prstGeom>
          <a:solidFill>
            <a:srgbClr val="9E7E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124825" y="914400"/>
            <a:ext cx="3943350" cy="28575"/>
          </a:xfrm>
          <a:prstGeom prst="rect">
            <a:avLst/>
          </a:prstGeom>
          <a:solidFill>
            <a:srgbClr val="403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mi_logo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25" y="-205740"/>
            <a:ext cx="1307592" cy="13258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543050" y="19050"/>
            <a:ext cx="8982075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U.S. YoY Analysis Nutritional Positioning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43050" y="647700"/>
            <a:ext cx="10506075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U.S. year-on-year volume and value growth by Nutritional Positioning, highlighting acceleration and slowdown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620375" y="228600"/>
            <a:ext cx="1428750" cy="419100"/>
          </a:xfrm>
          <a:prstGeom prst="roundRect">
            <a:avLst>
              <a:gd name="adj" fmla="val 22000"/>
            </a:avLst>
          </a:prstGeom>
          <a:solidFill>
            <a:srgbClr val="D9E6F2"/>
          </a:solidFill>
          <a:ln w="6350">
            <a:solidFill>
              <a:srgbClr val="69B1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100" b="1">
                <a:solidFill>
                  <a:srgbClr val="0B2E4A"/>
                </a:solidFill>
                <a:latin typeface="Calibri"/>
              </a:rPr>
              <a:t>U.S.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42875" y="981075"/>
            <a:ext cx="11906250" cy="243840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38125" y="1038225"/>
            <a:ext cx="1171575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U.S. Volume YoY, By Nutritional Positioning (%)  ·  </a:t>
            </a:r>
            <a:r>
              <a:rPr sz="1200" b="1">
                <a:solidFill>
                  <a:srgbClr val="2E7D32"/>
                </a:solidFill>
                <a:latin typeface="Calibri"/>
              </a:rPr>
              <a:t>▲ outpacing market  </a:t>
            </a:r>
            <a:r>
              <a:rPr sz="1200" b="1">
                <a:solidFill>
                  <a:srgbClr val="A86F00"/>
                </a:solidFill>
                <a:latin typeface="Calibri"/>
              </a:rPr>
              <a:t>▶ below market pace  </a:t>
            </a:r>
            <a:r>
              <a:rPr sz="1200" b="1">
                <a:solidFill>
                  <a:srgbClr val="E44D3A"/>
                </a:solidFill>
                <a:latin typeface="Calibri"/>
              </a:rPr>
              <a:t>▼ decline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152400" y="1238250"/>
          <a:ext cx="11887206" cy="197167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578911"/>
                <a:gridCol w="620553"/>
                <a:gridCol w="620553"/>
                <a:gridCol w="620553"/>
                <a:gridCol w="620553"/>
                <a:gridCol w="620553"/>
                <a:gridCol w="620553"/>
                <a:gridCol w="620553"/>
                <a:gridCol w="620553"/>
                <a:gridCol w="620553"/>
                <a:gridCol w="620553"/>
                <a:gridCol w="620553"/>
                <a:gridCol w="620553"/>
                <a:gridCol w="620553"/>
                <a:gridCol w="620553"/>
                <a:gridCol w="620553"/>
              </a:tblGrid>
              <a:tr h="246126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Nutritional Positioning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2022A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2023A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2024A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2025A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2026E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2027F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2028F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2029F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2030F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2031F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2032F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2033F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2034F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2035F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2036F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</a:tr>
              <a:tr h="246507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Standard / indulgent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246507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Protein-enriched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</a:tr>
              <a:tr h="246507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Fibre-enriched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246507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Reduced-sugar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</a:tr>
              <a:tr h="246507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No-added-sugar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246507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Reduced-fat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</a:tr>
              <a:tr h="246507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Other nutrition-focused formulations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219075" y="3219450"/>
            <a:ext cx="11753850" cy="17145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100" b="0" i="1">
                <a:solidFill>
                  <a:srgbClr val="6C7A89"/>
                </a:solidFill>
                <a:latin typeface="Calibri"/>
              </a:rPr>
              <a:t>Source: FMI Analysis, 2026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42875" y="3552825"/>
            <a:ext cx="11906250" cy="243840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38125" y="3609975"/>
            <a:ext cx="1171575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U.S. Value YoY, By Nutritional Positioning (%)  ·  </a:t>
            </a:r>
            <a:r>
              <a:rPr sz="1200" b="1">
                <a:solidFill>
                  <a:srgbClr val="2E7D32"/>
                </a:solidFill>
                <a:latin typeface="Calibri"/>
              </a:rPr>
              <a:t>▲ outpacing market  </a:t>
            </a:r>
            <a:r>
              <a:rPr sz="1200" b="1">
                <a:solidFill>
                  <a:srgbClr val="A86F00"/>
                </a:solidFill>
                <a:latin typeface="Calibri"/>
              </a:rPr>
              <a:t>▶ below market pace  </a:t>
            </a:r>
            <a:r>
              <a:rPr sz="1200" b="1">
                <a:solidFill>
                  <a:srgbClr val="E44D3A"/>
                </a:solidFill>
                <a:latin typeface="Calibri"/>
              </a:rPr>
              <a:t>▼ decline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152400" y="3810000"/>
          <a:ext cx="11887206" cy="197167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578911"/>
                <a:gridCol w="620553"/>
                <a:gridCol w="620553"/>
                <a:gridCol w="620553"/>
                <a:gridCol w="620553"/>
                <a:gridCol w="620553"/>
                <a:gridCol w="620553"/>
                <a:gridCol w="620553"/>
                <a:gridCol w="620553"/>
                <a:gridCol w="620553"/>
                <a:gridCol w="620553"/>
                <a:gridCol w="620553"/>
                <a:gridCol w="620553"/>
                <a:gridCol w="620553"/>
                <a:gridCol w="620553"/>
                <a:gridCol w="620553"/>
              </a:tblGrid>
              <a:tr h="246126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Nutritional Positioning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2022A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2023A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2024A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2025A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2026E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2027F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2028F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2029F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2030F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2031F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2032F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2033F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2034F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2035F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2036F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</a:tr>
              <a:tr h="246507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Standard / indulgent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246507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Protein-enriched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</a:tr>
              <a:tr h="246507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Fibre-enriched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246507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Reduced-sugar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</a:tr>
              <a:tr h="246507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No-added-sugar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246507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Reduced-fat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</a:tr>
              <a:tr h="246507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Other nutrition-focused formulations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219075" y="5791200"/>
            <a:ext cx="11753850" cy="17145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100" b="0" i="1">
                <a:solidFill>
                  <a:srgbClr val="6C7A89"/>
                </a:solidFill>
                <a:latin typeface="Calibri"/>
              </a:rPr>
              <a:t>Source: FMI Analysis, 2026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58595B"/>
                </a:solidFill>
                <a:latin typeface="Calibri"/>
              </a:rPr>
              <a:t>©2026 Future Market Insights, All Rights Reserved</a:t>
            </a:r>
          </a:p>
        </p:txBody>
      </p:sp>
      <p:pic>
        <p:nvPicPr>
          <p:cNvPr id="20" name="Picture 19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98768" y="2080450"/>
            <a:ext cx="366712" cy="533400"/>
          </a:xfrm>
          <a:prstGeom prst="rect">
            <a:avLst/>
          </a:prstGeom>
        </p:spPr>
      </p:pic>
      <p:pic>
        <p:nvPicPr>
          <p:cNvPr id="21" name="Picture 20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98768" y="4652200"/>
            <a:ext cx="366712" cy="5334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8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F1F8FE"/>
              </a:gs>
              <a:gs pos="100000">
                <a:srgbClr val="DAEAF9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0" y="5591183"/>
            <a:ext cx="12192000" cy="1266817"/>
          </a:xfrm>
          <a:custGeom>
            <a:avLst/>
            <a:gdLst/>
            <a:ahLst/>
            <a:cxnLst/>
            <a:rect l="l" t="t" r="r" b="b"/>
            <a:pathLst>
              <a:path w="12192000" h="1266817">
                <a:moveTo>
                  <a:pt x="0" y="1266817"/>
                </a:moveTo>
                <a:lnTo>
                  <a:pt x="0" y="475605"/>
                </a:lnTo>
                <a:lnTo>
                  <a:pt x="152400" y="486239"/>
                </a:lnTo>
                <a:lnTo>
                  <a:pt x="304800" y="495887"/>
                </a:lnTo>
                <a:lnTo>
                  <a:pt x="457200" y="504505"/>
                </a:lnTo>
                <a:lnTo>
                  <a:pt x="609600" y="512056"/>
                </a:lnTo>
                <a:lnTo>
                  <a:pt x="762000" y="518505"/>
                </a:lnTo>
                <a:lnTo>
                  <a:pt x="914400" y="523824"/>
                </a:lnTo>
                <a:lnTo>
                  <a:pt x="1066800" y="527988"/>
                </a:lnTo>
                <a:lnTo>
                  <a:pt x="1219200" y="530979"/>
                </a:lnTo>
                <a:lnTo>
                  <a:pt x="1371600" y="532783"/>
                </a:lnTo>
                <a:lnTo>
                  <a:pt x="1524000" y="533392"/>
                </a:lnTo>
                <a:lnTo>
                  <a:pt x="1676400" y="532804"/>
                </a:lnTo>
                <a:lnTo>
                  <a:pt x="1828800" y="531021"/>
                </a:lnTo>
                <a:lnTo>
                  <a:pt x="1981200" y="528051"/>
                </a:lnTo>
                <a:lnTo>
                  <a:pt x="2133600" y="523907"/>
                </a:lnTo>
                <a:lnTo>
                  <a:pt x="2286000" y="518609"/>
                </a:lnTo>
                <a:lnTo>
                  <a:pt x="2438400" y="512179"/>
                </a:lnTo>
                <a:lnTo>
                  <a:pt x="2590800" y="504648"/>
                </a:lnTo>
                <a:lnTo>
                  <a:pt x="2743200" y="496047"/>
                </a:lnTo>
                <a:lnTo>
                  <a:pt x="2895600" y="486417"/>
                </a:lnTo>
                <a:lnTo>
                  <a:pt x="3048000" y="475801"/>
                </a:lnTo>
                <a:lnTo>
                  <a:pt x="3200400" y="464245"/>
                </a:lnTo>
                <a:lnTo>
                  <a:pt x="3352800" y="451803"/>
                </a:lnTo>
                <a:lnTo>
                  <a:pt x="3505200" y="438529"/>
                </a:lnTo>
                <a:lnTo>
                  <a:pt x="3657600" y="424484"/>
                </a:lnTo>
                <a:lnTo>
                  <a:pt x="3810000" y="409730"/>
                </a:lnTo>
                <a:lnTo>
                  <a:pt x="3962400" y="394334"/>
                </a:lnTo>
                <a:lnTo>
                  <a:pt x="4114800" y="378365"/>
                </a:lnTo>
                <a:lnTo>
                  <a:pt x="4267200" y="361894"/>
                </a:lnTo>
                <a:lnTo>
                  <a:pt x="4419600" y="344996"/>
                </a:lnTo>
                <a:lnTo>
                  <a:pt x="4572000" y="327746"/>
                </a:lnTo>
                <a:lnTo>
                  <a:pt x="4724400" y="310223"/>
                </a:lnTo>
                <a:lnTo>
                  <a:pt x="4876800" y="292503"/>
                </a:lnTo>
                <a:lnTo>
                  <a:pt x="5029200" y="274668"/>
                </a:lnTo>
                <a:lnTo>
                  <a:pt x="5181600" y="256797"/>
                </a:lnTo>
                <a:lnTo>
                  <a:pt x="5334000" y="238971"/>
                </a:lnTo>
                <a:lnTo>
                  <a:pt x="5486400" y="221269"/>
                </a:lnTo>
                <a:lnTo>
                  <a:pt x="5638800" y="203771"/>
                </a:lnTo>
                <a:lnTo>
                  <a:pt x="5791200" y="186555"/>
                </a:lnTo>
                <a:lnTo>
                  <a:pt x="5943600" y="169699"/>
                </a:lnTo>
                <a:lnTo>
                  <a:pt x="6096000" y="153279"/>
                </a:lnTo>
                <a:lnTo>
                  <a:pt x="6248400" y="137368"/>
                </a:lnTo>
                <a:lnTo>
                  <a:pt x="6400800" y="122038"/>
                </a:lnTo>
                <a:lnTo>
                  <a:pt x="6553200" y="107357"/>
                </a:lnTo>
                <a:lnTo>
                  <a:pt x="6705600" y="93391"/>
                </a:lnTo>
                <a:lnTo>
                  <a:pt x="6858000" y="80204"/>
                </a:lnTo>
                <a:lnTo>
                  <a:pt x="7010400" y="67854"/>
                </a:lnTo>
                <a:lnTo>
                  <a:pt x="7162800" y="56397"/>
                </a:lnTo>
                <a:lnTo>
                  <a:pt x="7315200" y="45884"/>
                </a:lnTo>
                <a:lnTo>
                  <a:pt x="7467600" y="36363"/>
                </a:lnTo>
                <a:lnTo>
                  <a:pt x="7620000" y="27876"/>
                </a:lnTo>
                <a:lnTo>
                  <a:pt x="7772400" y="20461"/>
                </a:lnTo>
                <a:lnTo>
                  <a:pt x="7924800" y="14151"/>
                </a:lnTo>
                <a:lnTo>
                  <a:pt x="8077200" y="8976"/>
                </a:lnTo>
                <a:lnTo>
                  <a:pt x="8229600" y="4958"/>
                </a:lnTo>
                <a:lnTo>
                  <a:pt x="8382000" y="2115"/>
                </a:lnTo>
                <a:lnTo>
                  <a:pt x="8534400" y="460"/>
                </a:lnTo>
                <a:lnTo>
                  <a:pt x="8686800" y="0"/>
                </a:lnTo>
                <a:lnTo>
                  <a:pt x="8839200" y="738"/>
                </a:lnTo>
                <a:lnTo>
                  <a:pt x="8991600" y="2670"/>
                </a:lnTo>
                <a:lnTo>
                  <a:pt x="9144000" y="5787"/>
                </a:lnTo>
                <a:lnTo>
                  <a:pt x="9296400" y="10076"/>
                </a:lnTo>
                <a:lnTo>
                  <a:pt x="9448800" y="15518"/>
                </a:lnTo>
                <a:lnTo>
                  <a:pt x="9601200" y="22086"/>
                </a:lnTo>
                <a:lnTo>
                  <a:pt x="9753600" y="29754"/>
                </a:lnTo>
                <a:lnTo>
                  <a:pt x="9906000" y="38485"/>
                </a:lnTo>
                <a:lnTo>
                  <a:pt x="10058400" y="48241"/>
                </a:lnTo>
                <a:lnTo>
                  <a:pt x="10210800" y="58977"/>
                </a:lnTo>
                <a:lnTo>
                  <a:pt x="10363200" y="70647"/>
                </a:lnTo>
                <a:lnTo>
                  <a:pt x="10515600" y="83196"/>
                </a:lnTo>
                <a:lnTo>
                  <a:pt x="10668000" y="96570"/>
                </a:lnTo>
                <a:lnTo>
                  <a:pt x="10820400" y="110707"/>
                </a:lnTo>
                <a:lnTo>
                  <a:pt x="10972800" y="125545"/>
                </a:lnTo>
                <a:lnTo>
                  <a:pt x="11125200" y="141016"/>
                </a:lnTo>
                <a:lnTo>
                  <a:pt x="11277600" y="157052"/>
                </a:lnTo>
                <a:lnTo>
                  <a:pt x="11430000" y="173580"/>
                </a:lnTo>
                <a:lnTo>
                  <a:pt x="11582400" y="190527"/>
                </a:lnTo>
                <a:lnTo>
                  <a:pt x="11734800" y="207815"/>
                </a:lnTo>
                <a:lnTo>
                  <a:pt x="11887200" y="225367"/>
                </a:lnTo>
                <a:lnTo>
                  <a:pt x="12039600" y="243105"/>
                </a:lnTo>
                <a:lnTo>
                  <a:pt x="12192000" y="260949"/>
                </a:lnTo>
                <a:lnTo>
                  <a:pt x="12192000" y="1266817"/>
                </a:lnTo>
                <a:close/>
              </a:path>
            </a:pathLst>
          </a:custGeom>
          <a:solidFill>
            <a:srgbClr val="C8E0F6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0" y="5905543"/>
            <a:ext cx="12192000" cy="952457"/>
          </a:xfrm>
          <a:custGeom>
            <a:avLst/>
            <a:gdLst/>
            <a:ahLst/>
            <a:cxnLst/>
            <a:rect l="l" t="t" r="r" b="b"/>
            <a:pathLst>
              <a:path w="12192000" h="952457">
                <a:moveTo>
                  <a:pt x="0" y="952457"/>
                </a:moveTo>
                <a:lnTo>
                  <a:pt x="0" y="288660"/>
                </a:lnTo>
                <a:lnTo>
                  <a:pt x="152400" y="275228"/>
                </a:lnTo>
                <a:lnTo>
                  <a:pt x="304800" y="261249"/>
                </a:lnTo>
                <a:lnTo>
                  <a:pt x="457200" y="246812"/>
                </a:lnTo>
                <a:lnTo>
                  <a:pt x="609600" y="232010"/>
                </a:lnTo>
                <a:lnTo>
                  <a:pt x="762000" y="216940"/>
                </a:lnTo>
                <a:lnTo>
                  <a:pt x="914400" y="201698"/>
                </a:lnTo>
                <a:lnTo>
                  <a:pt x="1066800" y="186384"/>
                </a:lnTo>
                <a:lnTo>
                  <a:pt x="1219200" y="171097"/>
                </a:lnTo>
                <a:lnTo>
                  <a:pt x="1371600" y="155934"/>
                </a:lnTo>
                <a:lnTo>
                  <a:pt x="1524000" y="140995"/>
                </a:lnTo>
                <a:lnTo>
                  <a:pt x="1676400" y="126375"/>
                </a:lnTo>
                <a:lnTo>
                  <a:pt x="1828800" y="112170"/>
                </a:lnTo>
                <a:lnTo>
                  <a:pt x="1981200" y="98470"/>
                </a:lnTo>
                <a:lnTo>
                  <a:pt x="2133600" y="85366"/>
                </a:lnTo>
                <a:lnTo>
                  <a:pt x="2286000" y="72940"/>
                </a:lnTo>
                <a:lnTo>
                  <a:pt x="2438400" y="61275"/>
                </a:lnTo>
                <a:lnTo>
                  <a:pt x="2590800" y="50444"/>
                </a:lnTo>
                <a:lnTo>
                  <a:pt x="2743200" y="40519"/>
                </a:lnTo>
                <a:lnTo>
                  <a:pt x="2895600" y="31563"/>
                </a:lnTo>
                <a:lnTo>
                  <a:pt x="3048000" y="23634"/>
                </a:lnTo>
                <a:lnTo>
                  <a:pt x="3200400" y="16784"/>
                </a:lnTo>
                <a:lnTo>
                  <a:pt x="3352800" y="11056"/>
                </a:lnTo>
                <a:lnTo>
                  <a:pt x="3505200" y="6489"/>
                </a:lnTo>
                <a:lnTo>
                  <a:pt x="3657600" y="3110"/>
                </a:lnTo>
                <a:lnTo>
                  <a:pt x="3810000" y="943"/>
                </a:lnTo>
                <a:lnTo>
                  <a:pt x="3962400" y="0"/>
                </a:lnTo>
                <a:lnTo>
                  <a:pt x="4114800" y="289"/>
                </a:lnTo>
                <a:lnTo>
                  <a:pt x="4267200" y="1808"/>
                </a:lnTo>
                <a:lnTo>
                  <a:pt x="4419600" y="4546"/>
                </a:lnTo>
                <a:lnTo>
                  <a:pt x="4572000" y="8485"/>
                </a:lnTo>
                <a:lnTo>
                  <a:pt x="4724400" y="13601"/>
                </a:lnTo>
                <a:lnTo>
                  <a:pt x="4876800" y="19861"/>
                </a:lnTo>
                <a:lnTo>
                  <a:pt x="5029200" y="27223"/>
                </a:lnTo>
                <a:lnTo>
                  <a:pt x="5181600" y="35641"/>
                </a:lnTo>
                <a:lnTo>
                  <a:pt x="5334000" y="45059"/>
                </a:lnTo>
                <a:lnTo>
                  <a:pt x="5486400" y="55417"/>
                </a:lnTo>
                <a:lnTo>
                  <a:pt x="5638800" y="66649"/>
                </a:lnTo>
                <a:lnTo>
                  <a:pt x="5791200" y="78680"/>
                </a:lnTo>
                <a:lnTo>
                  <a:pt x="5943600" y="91435"/>
                </a:lnTo>
                <a:lnTo>
                  <a:pt x="6096000" y="104829"/>
                </a:lnTo>
                <a:lnTo>
                  <a:pt x="6248400" y="118777"/>
                </a:lnTo>
                <a:lnTo>
                  <a:pt x="6400800" y="133188"/>
                </a:lnTo>
                <a:lnTo>
                  <a:pt x="6553200" y="147970"/>
                </a:lnTo>
                <a:lnTo>
                  <a:pt x="6705600" y="163026"/>
                </a:lnTo>
                <a:lnTo>
                  <a:pt x="6858000" y="178260"/>
                </a:lnTo>
                <a:lnTo>
                  <a:pt x="7010400" y="193572"/>
                </a:lnTo>
                <a:lnTo>
                  <a:pt x="7162800" y="208865"/>
                </a:lnTo>
                <a:lnTo>
                  <a:pt x="7315200" y="224038"/>
                </a:lnTo>
                <a:lnTo>
                  <a:pt x="7467600" y="238994"/>
                </a:lnTo>
                <a:lnTo>
                  <a:pt x="7620000" y="253637"/>
                </a:lnTo>
                <a:lnTo>
                  <a:pt x="7772400" y="267871"/>
                </a:lnTo>
                <a:lnTo>
                  <a:pt x="7924800" y="281604"/>
                </a:lnTo>
                <a:lnTo>
                  <a:pt x="8077200" y="294748"/>
                </a:lnTo>
                <a:lnTo>
                  <a:pt x="8229600" y="307218"/>
                </a:lnTo>
                <a:lnTo>
                  <a:pt x="8382000" y="318934"/>
                </a:lnTo>
                <a:lnTo>
                  <a:pt x="8534400" y="329818"/>
                </a:lnTo>
                <a:lnTo>
                  <a:pt x="8686800" y="339802"/>
                </a:lnTo>
                <a:lnTo>
                  <a:pt x="8839200" y="348821"/>
                </a:lnTo>
                <a:lnTo>
                  <a:pt x="8991600" y="356815"/>
                </a:lnTo>
                <a:lnTo>
                  <a:pt x="9144000" y="363734"/>
                </a:lnTo>
                <a:lnTo>
                  <a:pt x="9296400" y="369533"/>
                </a:lnTo>
                <a:lnTo>
                  <a:pt x="9448800" y="374174"/>
                </a:lnTo>
                <a:lnTo>
                  <a:pt x="9601200" y="377628"/>
                </a:lnTo>
                <a:lnTo>
                  <a:pt x="9753600" y="379872"/>
                </a:lnTo>
                <a:lnTo>
                  <a:pt x="9906000" y="380891"/>
                </a:lnTo>
                <a:lnTo>
                  <a:pt x="10058400" y="380679"/>
                </a:lnTo>
                <a:lnTo>
                  <a:pt x="10210800" y="379237"/>
                </a:lnTo>
                <a:lnTo>
                  <a:pt x="10363200" y="376575"/>
                </a:lnTo>
                <a:lnTo>
                  <a:pt x="10515600" y="372710"/>
                </a:lnTo>
                <a:lnTo>
                  <a:pt x="10668000" y="367666"/>
                </a:lnTo>
                <a:lnTo>
                  <a:pt x="10820400" y="361477"/>
                </a:lnTo>
                <a:lnTo>
                  <a:pt x="10972800" y="354182"/>
                </a:lnTo>
                <a:lnTo>
                  <a:pt x="11125200" y="345829"/>
                </a:lnTo>
                <a:lnTo>
                  <a:pt x="11277600" y="336472"/>
                </a:lnTo>
                <a:lnTo>
                  <a:pt x="11430000" y="326170"/>
                </a:lnTo>
                <a:lnTo>
                  <a:pt x="11582400" y="314991"/>
                </a:lnTo>
                <a:lnTo>
                  <a:pt x="11734800" y="303008"/>
                </a:lnTo>
                <a:lnTo>
                  <a:pt x="11887200" y="290296"/>
                </a:lnTo>
                <a:lnTo>
                  <a:pt x="12039600" y="276939"/>
                </a:lnTo>
                <a:lnTo>
                  <a:pt x="12192000" y="263023"/>
                </a:lnTo>
                <a:lnTo>
                  <a:pt x="12192000" y="952457"/>
                </a:lnTo>
                <a:close/>
              </a:path>
            </a:pathLst>
          </a:custGeom>
          <a:solidFill>
            <a:srgbClr val="A7CDF1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638925"/>
            <a:ext cx="12192000" cy="219075"/>
          </a:xfrm>
          <a:prstGeom prst="rect">
            <a:avLst/>
          </a:prstGeom>
          <a:solidFill>
            <a:srgbClr val="A9C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238875"/>
            <a:ext cx="12192000" cy="400050"/>
          </a:xfrm>
          <a:prstGeom prst="rect">
            <a:avLst/>
          </a:prstGeom>
          <a:gradFill rotWithShape="1">
            <a:gsLst>
              <a:gs pos="0">
                <a:srgbClr val="2C6BB2"/>
              </a:gs>
              <a:gs pos="100000">
                <a:srgbClr val="7FB5E4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MI Section Bar"/>
          <p:cNvSpPr txBox="1"/>
          <p:nvPr/>
        </p:nvSpPr>
        <p:spPr>
          <a:xfrm>
            <a:off x="285750" y="6238875"/>
            <a:ext cx="3810000" cy="400050"/>
          </a:xfrm>
          <a:prstGeom prst="rect">
            <a:avLst/>
          </a:prstGeom>
          <a:noFill/>
        </p:spPr>
        <p:txBody>
          <a:bodyPr wrap="none" anchor="ctr" lIns="0" tIns="0" bIns="0">
            <a:spAutoFit/>
          </a:bodyPr>
          <a:lstStyle/>
          <a:p>
            <a:r>
              <a:rPr sz="1500" b="1">
                <a:solidFill>
                  <a:srgbClr val="FFFFFF"/>
                </a:solidFill>
                <a:latin typeface="Calibri"/>
              </a:rPr>
              <a:t>Section 2.6</a:t>
            </a:r>
          </a:p>
        </p:txBody>
      </p:sp>
      <p:pic>
        <p:nvPicPr>
          <p:cNvPr id="8" name="Picture 7" descr="fmi_logo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74320"/>
            <a:ext cx="1307592" cy="13258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14400" y="2752725"/>
            <a:ext cx="8572500" cy="3048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800" b="0">
                <a:solidFill>
                  <a:srgbClr val="0E72AE"/>
                </a:solidFill>
                <a:latin typeface="Calibri"/>
              </a:rPr>
              <a:t>Packaged Muffins Market</a:t>
            </a:r>
          </a:p>
        </p:txBody>
      </p:sp>
      <p:sp>
        <p:nvSpPr>
          <p:cNvPr id="10" name="FMI Section Title"/>
          <p:cNvSpPr txBox="1"/>
          <p:nvPr/>
        </p:nvSpPr>
        <p:spPr>
          <a:xfrm>
            <a:off x="914400" y="3095625"/>
            <a:ext cx="8572500" cy="51435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r>
              <a:rPr sz="3000" b="1">
                <a:solidFill>
                  <a:srgbClr val="0B3C8C"/>
                </a:solidFill>
                <a:latin typeface="Calibri"/>
              </a:rPr>
              <a:t>Recipe and Ingredient Claims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781425"/>
            <a:ext cx="8458200" cy="12763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Calibri"/>
              </a:rPr>
              <a:t>➤	</a:t>
            </a:r>
            <a:r>
              <a:rPr sz="2000" b="0">
                <a:solidFill>
                  <a:srgbClr val="000000"/>
                </a:solidFill>
                <a:latin typeface="Calibri"/>
              </a:rPr>
              <a:t>Segmental</a:t>
            </a:r>
          </a:p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Calibri"/>
              </a:rPr>
              <a:t>➤	</a:t>
            </a:r>
            <a:r>
              <a:rPr sz="2000" b="0">
                <a:solidFill>
                  <a:srgbClr val="000000"/>
                </a:solidFill>
                <a:latin typeface="Calibri"/>
              </a:rPr>
              <a:t>Table (Volume &amp; Value)</a:t>
            </a:r>
          </a:p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Calibri"/>
              </a:rPr>
              <a:t>➤	</a:t>
            </a:r>
            <a:r>
              <a:rPr sz="2000" b="0">
                <a:solidFill>
                  <a:srgbClr val="000000"/>
                </a:solidFill>
                <a:latin typeface="Calibri"/>
              </a:rPr>
              <a:t>YoY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58595B"/>
                </a:solidFill>
                <a:latin typeface="Calibri"/>
              </a:rPr>
              <a:t>©2026 Future Market Insights, All Rights Reserved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3825" y="914400"/>
            <a:ext cx="3943350" cy="28575"/>
          </a:xfrm>
          <a:prstGeom prst="rect">
            <a:avLst/>
          </a:prstGeom>
          <a:solidFill>
            <a:srgbClr val="0081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24325" y="914400"/>
            <a:ext cx="3943350" cy="28575"/>
          </a:xfrm>
          <a:prstGeom prst="rect">
            <a:avLst/>
          </a:prstGeom>
          <a:solidFill>
            <a:srgbClr val="9E7E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124825" y="914400"/>
            <a:ext cx="3943350" cy="28575"/>
          </a:xfrm>
          <a:prstGeom prst="rect">
            <a:avLst/>
          </a:prstGeom>
          <a:solidFill>
            <a:srgbClr val="403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mi_logo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25" y="-205740"/>
            <a:ext cx="1307592" cy="13258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543050" y="19050"/>
            <a:ext cx="8982075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U.S. Packaged Muffins Market Segmental Analysis Recipe and Ingredient Claims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43050" y="647700"/>
            <a:ext cx="10506075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U.S. segmental analysis by Recipe and Ingredient Claims: growth contribution, share variance and absolute $ opportunity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620375" y="228600"/>
            <a:ext cx="1428750" cy="419100"/>
          </a:xfrm>
          <a:prstGeom prst="roundRect">
            <a:avLst>
              <a:gd name="adj" fmla="val 22000"/>
            </a:avLst>
          </a:prstGeom>
          <a:solidFill>
            <a:srgbClr val="D9E6F2"/>
          </a:solidFill>
          <a:ln w="6350">
            <a:solidFill>
              <a:srgbClr val="69B1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100" b="1">
                <a:solidFill>
                  <a:srgbClr val="0B2E4A"/>
                </a:solidFill>
                <a:latin typeface="Calibri"/>
              </a:rPr>
              <a:t>U.S.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42875" y="981075"/>
            <a:ext cx="5876925" cy="2752725"/>
          </a:xfrm>
          <a:prstGeom prst="roundRect">
            <a:avLst>
              <a:gd name="adj" fmla="val 2768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38125" y="1038225"/>
            <a:ext cx="5686425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Growth Contribution 2026 → 2036, By Recipe and Ingredient Claims (US$ Mn)</a:t>
            </a:r>
          </a:p>
        </p:txBody>
      </p:sp>
      <p:graphicFrame>
        <p:nvGraphicFramePr>
          <p:cNvPr id="13" name="Chart 12"/>
          <p:cNvGraphicFramePr>
            <a:graphicFrameLocks noGrp="1"/>
          </p:cNvGraphicFramePr>
          <p:nvPr/>
        </p:nvGraphicFramePr>
        <p:xfrm>
          <a:off x="238125" y="1266825"/>
          <a:ext cx="5686425" cy="2409825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4" name="Rounded Rectangle 13"/>
          <p:cNvSpPr/>
          <p:nvPr/>
        </p:nvSpPr>
        <p:spPr>
          <a:xfrm>
            <a:off x="6172200" y="981075"/>
            <a:ext cx="5876925" cy="2752725"/>
          </a:xfrm>
          <a:prstGeom prst="roundRect">
            <a:avLst>
              <a:gd name="adj" fmla="val 2768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67450" y="1038225"/>
            <a:ext cx="5686425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Value Shares &amp; Variance, By Recipe and Ingredient Claims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6181725" y="1238250"/>
          <a:ext cx="5857874" cy="2286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79930"/>
                <a:gridCol w="994486"/>
                <a:gridCol w="994486"/>
                <a:gridCol w="994486"/>
                <a:gridCol w="994486"/>
              </a:tblGrid>
              <a:tr h="246126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Recipe and Ingredient Claims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Share 2026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Share 2036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Variance (BPS)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F-CAGR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</a:tr>
              <a:tr h="679958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Organic-certified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679958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Conventional / non-organic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</a:tr>
              <a:tr h="679958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Additional claim mapping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6248400" y="3533775"/>
            <a:ext cx="5724525" cy="17145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100" b="0" i="1">
                <a:solidFill>
                  <a:srgbClr val="6C7A89"/>
                </a:solidFill>
                <a:latin typeface="Calibri"/>
              </a:rPr>
              <a:t>Source: FMI Analysis, 2026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42875" y="3867150"/>
            <a:ext cx="5876925" cy="2752725"/>
          </a:xfrm>
          <a:prstGeom prst="roundRect">
            <a:avLst>
              <a:gd name="adj" fmla="val 2768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38125" y="3924300"/>
            <a:ext cx="5686425" cy="38100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Absolute $ Opportunity, By Recipe and Ingredient Claims (US$ Mn), between 2026–2036</a:t>
            </a:r>
          </a:p>
        </p:txBody>
      </p:sp>
      <p:graphicFrame>
        <p:nvGraphicFramePr>
          <p:cNvPr id="20" name="Chart 19"/>
          <p:cNvGraphicFramePr>
            <a:graphicFrameLocks noGrp="1"/>
          </p:cNvGraphicFramePr>
          <p:nvPr/>
        </p:nvGraphicFramePr>
        <p:xfrm>
          <a:off x="238125" y="4324350"/>
          <a:ext cx="5686425" cy="2238375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21" name="Rounded Rectangle 20"/>
          <p:cNvSpPr/>
          <p:nvPr/>
        </p:nvSpPr>
        <p:spPr>
          <a:xfrm>
            <a:off x="6172200" y="3867150"/>
            <a:ext cx="5876925" cy="2752725"/>
          </a:xfrm>
          <a:prstGeom prst="roundRect">
            <a:avLst>
              <a:gd name="adj" fmla="val 2768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67450" y="3924300"/>
            <a:ext cx="5686425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Volume Shares &amp; Variance, By Recipe and Ingredient Claims</a:t>
            </a:r>
          </a:p>
        </p:txBody>
      </p:sp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6181725" y="4124325"/>
          <a:ext cx="5857874" cy="2286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79930"/>
                <a:gridCol w="994486"/>
                <a:gridCol w="994486"/>
                <a:gridCol w="994486"/>
                <a:gridCol w="994486"/>
              </a:tblGrid>
              <a:tr h="246126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Recipe and Ingredient Claims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Share 2026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Share 2036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Variance (BPS)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F-CAGR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</a:tr>
              <a:tr h="679958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Organic-certified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679958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Conventional / non-organic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</a:tr>
              <a:tr h="679958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Additional claim mapping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4" name="TextBox 23"/>
          <p:cNvSpPr txBox="1"/>
          <p:nvPr/>
        </p:nvSpPr>
        <p:spPr>
          <a:xfrm>
            <a:off x="6248400" y="6419850"/>
            <a:ext cx="5724525" cy="17145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100" b="0" i="1">
                <a:solidFill>
                  <a:srgbClr val="6C7A89"/>
                </a:solidFill>
                <a:latin typeface="Calibri"/>
              </a:rPr>
              <a:t>Source: FMI Analysis, 2026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58595B"/>
                </a:solidFill>
                <a:latin typeface="Calibri"/>
              </a:rPr>
              <a:t>©2026 Future Market Insights, All Rights Reserved</a:t>
            </a:r>
          </a:p>
        </p:txBody>
      </p:sp>
      <p:pic>
        <p:nvPicPr>
          <p:cNvPr id="26" name="Picture 25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94826" y="2237234"/>
            <a:ext cx="263506" cy="383281"/>
          </a:xfrm>
          <a:prstGeom prst="rect">
            <a:avLst/>
          </a:prstGeom>
        </p:spPr>
      </p:pic>
      <p:pic>
        <p:nvPicPr>
          <p:cNvPr id="27" name="Picture 26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63937" y="2237613"/>
            <a:ext cx="366712" cy="533400"/>
          </a:xfrm>
          <a:prstGeom prst="rect">
            <a:avLst/>
          </a:prstGeom>
        </p:spPr>
      </p:pic>
      <p:pic>
        <p:nvPicPr>
          <p:cNvPr id="28" name="Picture 27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00230" y="5216754"/>
            <a:ext cx="252890" cy="367840"/>
          </a:xfrm>
          <a:prstGeom prst="rect">
            <a:avLst/>
          </a:prstGeom>
        </p:spPr>
      </p:pic>
      <p:pic>
        <p:nvPicPr>
          <p:cNvPr id="29" name="Picture 28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63937" y="5123688"/>
            <a:ext cx="366712" cy="533400"/>
          </a:xfrm>
          <a:prstGeom prst="rect">
            <a:avLst/>
          </a:prstGeom>
        </p:spPr>
      </p:pic>
      <p:sp>
        <p:nvSpPr>
          <p:cNvPr id="30" name="lockshield_13"/>
          <p:cNvSpPr/>
          <p:nvPr/>
        </p:nvSpPr>
        <p:spPr>
          <a:xfrm>
            <a:off x="238125" y="1266825"/>
            <a:ext cx="5686425" cy="2409825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lockshield_20"/>
          <p:cNvSpPr/>
          <p:nvPr/>
        </p:nvSpPr>
        <p:spPr>
          <a:xfrm>
            <a:off x="238125" y="4324350"/>
            <a:ext cx="5686425" cy="2238375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3825" y="914400"/>
            <a:ext cx="3943350" cy="28575"/>
          </a:xfrm>
          <a:prstGeom prst="rect">
            <a:avLst/>
          </a:prstGeom>
          <a:solidFill>
            <a:srgbClr val="0081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24325" y="914400"/>
            <a:ext cx="3943350" cy="28575"/>
          </a:xfrm>
          <a:prstGeom prst="rect">
            <a:avLst/>
          </a:prstGeom>
          <a:solidFill>
            <a:srgbClr val="9E7E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124825" y="914400"/>
            <a:ext cx="3943350" cy="28575"/>
          </a:xfrm>
          <a:prstGeom prst="rect">
            <a:avLst/>
          </a:prstGeom>
          <a:solidFill>
            <a:srgbClr val="403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mi_logo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25" y="-205740"/>
            <a:ext cx="1307592" cy="13258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543050" y="19050"/>
            <a:ext cx="8982075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U.S. Packaged Muffins Market Tables Recipe and Ingredient Claims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43050" y="647700"/>
            <a:ext cx="10506075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Year-by-year volume and value of the U.S. market by Recipe and Ingredient Claims, 2021–2036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620375" y="228600"/>
            <a:ext cx="1428750" cy="419100"/>
          </a:xfrm>
          <a:prstGeom prst="roundRect">
            <a:avLst>
              <a:gd name="adj" fmla="val 22000"/>
            </a:avLst>
          </a:prstGeom>
          <a:solidFill>
            <a:srgbClr val="D9E6F2"/>
          </a:solidFill>
          <a:ln w="6350">
            <a:solidFill>
              <a:srgbClr val="69B1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100" b="1">
                <a:solidFill>
                  <a:srgbClr val="0B2E4A"/>
                </a:solidFill>
                <a:latin typeface="Calibri"/>
              </a:rPr>
              <a:t>U.S.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42875" y="981075"/>
            <a:ext cx="11906250" cy="1704975"/>
          </a:xfrm>
          <a:prstGeom prst="roundRect">
            <a:avLst>
              <a:gd name="adj" fmla="val 4469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38125" y="1038225"/>
            <a:ext cx="1171575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U.S. Volume, By Recipe and Ingredient Claims (MT)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152400" y="1238250"/>
          <a:ext cx="11887201" cy="123825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68557"/>
                <a:gridCol w="589332"/>
                <a:gridCol w="589332"/>
                <a:gridCol w="589332"/>
                <a:gridCol w="589332"/>
                <a:gridCol w="589332"/>
                <a:gridCol w="589332"/>
                <a:gridCol w="589332"/>
                <a:gridCol w="589332"/>
                <a:gridCol w="589332"/>
                <a:gridCol w="589332"/>
                <a:gridCol w="589332"/>
                <a:gridCol w="589332"/>
                <a:gridCol w="589332"/>
                <a:gridCol w="589332"/>
                <a:gridCol w="589332"/>
                <a:gridCol w="589332"/>
                <a:gridCol w="589332"/>
              </a:tblGrid>
              <a:tr h="246126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Recipe and Ingredient Claims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2021A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2022A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2023A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2024A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2025A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2026E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2027F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2028F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2029F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2030F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2031F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2032F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2033F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2034F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2035F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2036F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F-CAGR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</a:tr>
              <a:tr h="248031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Organic-certified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248031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Conventional / non-organic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</a:tr>
              <a:tr h="248031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Additional claim mapping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248031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Total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219075" y="2486025"/>
            <a:ext cx="11753850" cy="17145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100" b="0" i="1">
                <a:solidFill>
                  <a:srgbClr val="6C7A89"/>
                </a:solidFill>
                <a:latin typeface="Calibri"/>
              </a:rPr>
              <a:t>Source: FMI Analysis, 2026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42875" y="2819400"/>
            <a:ext cx="11906250" cy="1704975"/>
          </a:xfrm>
          <a:prstGeom prst="roundRect">
            <a:avLst>
              <a:gd name="adj" fmla="val 4469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38125" y="2876550"/>
            <a:ext cx="1171575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U.S. Value, By Recipe and Ingredient Claims (US$ Mn)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152400" y="3076575"/>
          <a:ext cx="11887197" cy="123825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951700"/>
                <a:gridCol w="584441"/>
                <a:gridCol w="584441"/>
                <a:gridCol w="584441"/>
                <a:gridCol w="584441"/>
                <a:gridCol w="584441"/>
                <a:gridCol w="584441"/>
                <a:gridCol w="584441"/>
                <a:gridCol w="584441"/>
                <a:gridCol w="584441"/>
                <a:gridCol w="584441"/>
                <a:gridCol w="584441"/>
                <a:gridCol w="584441"/>
                <a:gridCol w="584441"/>
                <a:gridCol w="584441"/>
                <a:gridCol w="584441"/>
                <a:gridCol w="584441"/>
                <a:gridCol w="584441"/>
              </a:tblGrid>
              <a:tr h="246126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Recipe and Ingredient Claims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2021A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2022A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2023A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2024A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2025A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2026E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2027F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2028F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2029F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2030F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2031F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2032F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2033F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2034F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2035F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2036F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F-CAGR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</a:tr>
              <a:tr h="248031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Organic-certified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248031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Conventional / non-organic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</a:tr>
              <a:tr h="248031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Additional claim mapping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248031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Total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219075" y="4324350"/>
            <a:ext cx="11753850" cy="17145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100" b="0" i="1">
                <a:solidFill>
                  <a:srgbClr val="6C7A89"/>
                </a:solidFill>
                <a:latin typeface="Calibri"/>
              </a:rPr>
              <a:t>Source: FMI Analysis, 2026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58595B"/>
                </a:solidFill>
                <a:latin typeface="Calibri"/>
              </a:rPr>
              <a:t>©2026 Future Market Insights, All Rights Reserved</a:t>
            </a:r>
          </a:p>
        </p:txBody>
      </p:sp>
      <p:pic>
        <p:nvPicPr>
          <p:cNvPr id="20" name="Picture 19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43588" y="1713738"/>
            <a:ext cx="366712" cy="533400"/>
          </a:xfrm>
          <a:prstGeom prst="rect">
            <a:avLst/>
          </a:prstGeom>
        </p:spPr>
      </p:pic>
      <p:pic>
        <p:nvPicPr>
          <p:cNvPr id="21" name="Picture 20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85158" y="3552062"/>
            <a:ext cx="366712" cy="5334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3825" y="914400"/>
            <a:ext cx="3943350" cy="28575"/>
          </a:xfrm>
          <a:prstGeom prst="rect">
            <a:avLst/>
          </a:prstGeom>
          <a:solidFill>
            <a:srgbClr val="0081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24325" y="914400"/>
            <a:ext cx="3943350" cy="28575"/>
          </a:xfrm>
          <a:prstGeom prst="rect">
            <a:avLst/>
          </a:prstGeom>
          <a:solidFill>
            <a:srgbClr val="9E7E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124825" y="914400"/>
            <a:ext cx="3943350" cy="28575"/>
          </a:xfrm>
          <a:prstGeom prst="rect">
            <a:avLst/>
          </a:prstGeom>
          <a:solidFill>
            <a:srgbClr val="403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mi_logo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25" y="-205740"/>
            <a:ext cx="1307592" cy="13258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543050" y="19050"/>
            <a:ext cx="8982075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U.S. YoY Analysis Recipe and Ingredient Claims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43050" y="647700"/>
            <a:ext cx="10506075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U.S. year-on-year volume and value growth by Recipe and Ingredient Claims, highlighting acceleration and slowdown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620375" y="228600"/>
            <a:ext cx="1428750" cy="419100"/>
          </a:xfrm>
          <a:prstGeom prst="roundRect">
            <a:avLst>
              <a:gd name="adj" fmla="val 22000"/>
            </a:avLst>
          </a:prstGeom>
          <a:solidFill>
            <a:srgbClr val="D9E6F2"/>
          </a:solidFill>
          <a:ln w="6350">
            <a:solidFill>
              <a:srgbClr val="69B1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100" b="1">
                <a:solidFill>
                  <a:srgbClr val="0B2E4A"/>
                </a:solidFill>
                <a:latin typeface="Calibri"/>
              </a:rPr>
              <a:t>U.S.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42875" y="981075"/>
            <a:ext cx="11906250" cy="1457325"/>
          </a:xfrm>
          <a:prstGeom prst="roundRect">
            <a:avLst>
              <a:gd name="adj" fmla="val 5228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38125" y="1038225"/>
            <a:ext cx="1171575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U.S. Volume YoY, By Recipe and Ingredient Claims (%)  ·  </a:t>
            </a:r>
            <a:r>
              <a:rPr sz="1200" b="1">
                <a:solidFill>
                  <a:srgbClr val="2E7D32"/>
                </a:solidFill>
                <a:latin typeface="Calibri"/>
              </a:rPr>
              <a:t>▲ outpacing market  </a:t>
            </a:r>
            <a:r>
              <a:rPr sz="1200" b="1">
                <a:solidFill>
                  <a:srgbClr val="A86F00"/>
                </a:solidFill>
                <a:latin typeface="Calibri"/>
              </a:rPr>
              <a:t>▶ below market pace  </a:t>
            </a:r>
            <a:r>
              <a:rPr sz="1200" b="1">
                <a:solidFill>
                  <a:srgbClr val="E44D3A"/>
                </a:solidFill>
                <a:latin typeface="Calibri"/>
              </a:rPr>
              <a:t>▼ decline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152400" y="1238250"/>
          <a:ext cx="11887206" cy="9906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27921"/>
                <a:gridCol w="650619"/>
                <a:gridCol w="650619"/>
                <a:gridCol w="650619"/>
                <a:gridCol w="650619"/>
                <a:gridCol w="650619"/>
                <a:gridCol w="650619"/>
                <a:gridCol w="650619"/>
                <a:gridCol w="650619"/>
                <a:gridCol w="650619"/>
                <a:gridCol w="650619"/>
                <a:gridCol w="650619"/>
                <a:gridCol w="650619"/>
                <a:gridCol w="650619"/>
                <a:gridCol w="650619"/>
                <a:gridCol w="650619"/>
              </a:tblGrid>
              <a:tr h="246126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Recipe and Ingredient Claims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2022A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2023A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2024A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2025A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2026E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2027F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2028F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2029F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2030F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2031F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2032F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2033F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2034F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2035F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2036F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</a:tr>
              <a:tr h="248158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Organic-certified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248158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Conventional / non-organic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</a:tr>
              <a:tr h="248158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Additional claim mapping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219075" y="2238375"/>
            <a:ext cx="11753850" cy="17145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100" b="0" i="1">
                <a:solidFill>
                  <a:srgbClr val="6C7A89"/>
                </a:solidFill>
                <a:latin typeface="Calibri"/>
              </a:rPr>
              <a:t>Source: FMI Analysis, 2026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42875" y="2571750"/>
            <a:ext cx="11906250" cy="1457325"/>
          </a:xfrm>
          <a:prstGeom prst="roundRect">
            <a:avLst>
              <a:gd name="adj" fmla="val 5228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38125" y="2628900"/>
            <a:ext cx="1171575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U.S. Value YoY, By Recipe and Ingredient Claims (%)  ·  </a:t>
            </a:r>
            <a:r>
              <a:rPr sz="1200" b="1">
                <a:solidFill>
                  <a:srgbClr val="2E7D32"/>
                </a:solidFill>
                <a:latin typeface="Calibri"/>
              </a:rPr>
              <a:t>▲ outpacing market  </a:t>
            </a:r>
            <a:r>
              <a:rPr sz="1200" b="1">
                <a:solidFill>
                  <a:srgbClr val="A86F00"/>
                </a:solidFill>
                <a:latin typeface="Calibri"/>
              </a:rPr>
              <a:t>▶ below market pace  </a:t>
            </a:r>
            <a:r>
              <a:rPr sz="1200" b="1">
                <a:solidFill>
                  <a:srgbClr val="E44D3A"/>
                </a:solidFill>
                <a:latin typeface="Calibri"/>
              </a:rPr>
              <a:t>▼ decline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152400" y="2828925"/>
          <a:ext cx="11887206" cy="9906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27921"/>
                <a:gridCol w="650619"/>
                <a:gridCol w="650619"/>
                <a:gridCol w="650619"/>
                <a:gridCol w="650619"/>
                <a:gridCol w="650619"/>
                <a:gridCol w="650619"/>
                <a:gridCol w="650619"/>
                <a:gridCol w="650619"/>
                <a:gridCol w="650619"/>
                <a:gridCol w="650619"/>
                <a:gridCol w="650619"/>
                <a:gridCol w="650619"/>
                <a:gridCol w="650619"/>
                <a:gridCol w="650619"/>
                <a:gridCol w="650619"/>
              </a:tblGrid>
              <a:tr h="246126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Recipe and Ingredient Claims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2022A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2023A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2024A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2025A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2026E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2027F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2028F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2029F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2030F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2031F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2032F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2033F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2034F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2035F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2036F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</a:tr>
              <a:tr h="248158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Organic-certified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248158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Conventional / non-organic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</a:tr>
              <a:tr h="248158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Additional claim mapping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219075" y="3829050"/>
            <a:ext cx="11753850" cy="17145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100" b="0" i="1">
                <a:solidFill>
                  <a:srgbClr val="6C7A89"/>
                </a:solidFill>
                <a:latin typeface="Calibri"/>
              </a:rPr>
              <a:t>Source: FMI Analysis, 2026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58595B"/>
                </a:solidFill>
                <a:latin typeface="Calibri"/>
              </a:rPr>
              <a:t>©2026 Future Market Insights, All Rights Reserved</a:t>
            </a:r>
          </a:p>
        </p:txBody>
      </p:sp>
      <p:pic>
        <p:nvPicPr>
          <p:cNvPr id="20" name="Picture 19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73273" y="1589913"/>
            <a:ext cx="366712" cy="533400"/>
          </a:xfrm>
          <a:prstGeom prst="rect">
            <a:avLst/>
          </a:prstGeom>
        </p:spPr>
      </p:pic>
      <p:pic>
        <p:nvPicPr>
          <p:cNvPr id="21" name="Picture 20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73273" y="3180587"/>
            <a:ext cx="366712" cy="5334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8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F1F8FE"/>
              </a:gs>
              <a:gs pos="100000">
                <a:srgbClr val="DAEAF9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0" y="5591183"/>
            <a:ext cx="12192000" cy="1266817"/>
          </a:xfrm>
          <a:custGeom>
            <a:avLst/>
            <a:gdLst/>
            <a:ahLst/>
            <a:cxnLst/>
            <a:rect l="l" t="t" r="r" b="b"/>
            <a:pathLst>
              <a:path w="12192000" h="1266817">
                <a:moveTo>
                  <a:pt x="0" y="1266817"/>
                </a:moveTo>
                <a:lnTo>
                  <a:pt x="0" y="475605"/>
                </a:lnTo>
                <a:lnTo>
                  <a:pt x="152400" y="486239"/>
                </a:lnTo>
                <a:lnTo>
                  <a:pt x="304800" y="495887"/>
                </a:lnTo>
                <a:lnTo>
                  <a:pt x="457200" y="504505"/>
                </a:lnTo>
                <a:lnTo>
                  <a:pt x="609600" y="512056"/>
                </a:lnTo>
                <a:lnTo>
                  <a:pt x="762000" y="518505"/>
                </a:lnTo>
                <a:lnTo>
                  <a:pt x="914400" y="523824"/>
                </a:lnTo>
                <a:lnTo>
                  <a:pt x="1066800" y="527988"/>
                </a:lnTo>
                <a:lnTo>
                  <a:pt x="1219200" y="530979"/>
                </a:lnTo>
                <a:lnTo>
                  <a:pt x="1371600" y="532783"/>
                </a:lnTo>
                <a:lnTo>
                  <a:pt x="1524000" y="533392"/>
                </a:lnTo>
                <a:lnTo>
                  <a:pt x="1676400" y="532804"/>
                </a:lnTo>
                <a:lnTo>
                  <a:pt x="1828800" y="531021"/>
                </a:lnTo>
                <a:lnTo>
                  <a:pt x="1981200" y="528051"/>
                </a:lnTo>
                <a:lnTo>
                  <a:pt x="2133600" y="523907"/>
                </a:lnTo>
                <a:lnTo>
                  <a:pt x="2286000" y="518609"/>
                </a:lnTo>
                <a:lnTo>
                  <a:pt x="2438400" y="512179"/>
                </a:lnTo>
                <a:lnTo>
                  <a:pt x="2590800" y="504648"/>
                </a:lnTo>
                <a:lnTo>
                  <a:pt x="2743200" y="496047"/>
                </a:lnTo>
                <a:lnTo>
                  <a:pt x="2895600" y="486417"/>
                </a:lnTo>
                <a:lnTo>
                  <a:pt x="3048000" y="475801"/>
                </a:lnTo>
                <a:lnTo>
                  <a:pt x="3200400" y="464245"/>
                </a:lnTo>
                <a:lnTo>
                  <a:pt x="3352800" y="451803"/>
                </a:lnTo>
                <a:lnTo>
                  <a:pt x="3505200" y="438529"/>
                </a:lnTo>
                <a:lnTo>
                  <a:pt x="3657600" y="424484"/>
                </a:lnTo>
                <a:lnTo>
                  <a:pt x="3810000" y="409730"/>
                </a:lnTo>
                <a:lnTo>
                  <a:pt x="3962400" y="394334"/>
                </a:lnTo>
                <a:lnTo>
                  <a:pt x="4114800" y="378365"/>
                </a:lnTo>
                <a:lnTo>
                  <a:pt x="4267200" y="361894"/>
                </a:lnTo>
                <a:lnTo>
                  <a:pt x="4419600" y="344996"/>
                </a:lnTo>
                <a:lnTo>
                  <a:pt x="4572000" y="327746"/>
                </a:lnTo>
                <a:lnTo>
                  <a:pt x="4724400" y="310223"/>
                </a:lnTo>
                <a:lnTo>
                  <a:pt x="4876800" y="292503"/>
                </a:lnTo>
                <a:lnTo>
                  <a:pt x="5029200" y="274668"/>
                </a:lnTo>
                <a:lnTo>
                  <a:pt x="5181600" y="256797"/>
                </a:lnTo>
                <a:lnTo>
                  <a:pt x="5334000" y="238971"/>
                </a:lnTo>
                <a:lnTo>
                  <a:pt x="5486400" y="221269"/>
                </a:lnTo>
                <a:lnTo>
                  <a:pt x="5638800" y="203771"/>
                </a:lnTo>
                <a:lnTo>
                  <a:pt x="5791200" y="186555"/>
                </a:lnTo>
                <a:lnTo>
                  <a:pt x="5943600" y="169699"/>
                </a:lnTo>
                <a:lnTo>
                  <a:pt x="6096000" y="153279"/>
                </a:lnTo>
                <a:lnTo>
                  <a:pt x="6248400" y="137368"/>
                </a:lnTo>
                <a:lnTo>
                  <a:pt x="6400800" y="122038"/>
                </a:lnTo>
                <a:lnTo>
                  <a:pt x="6553200" y="107357"/>
                </a:lnTo>
                <a:lnTo>
                  <a:pt x="6705600" y="93391"/>
                </a:lnTo>
                <a:lnTo>
                  <a:pt x="6858000" y="80204"/>
                </a:lnTo>
                <a:lnTo>
                  <a:pt x="7010400" y="67854"/>
                </a:lnTo>
                <a:lnTo>
                  <a:pt x="7162800" y="56397"/>
                </a:lnTo>
                <a:lnTo>
                  <a:pt x="7315200" y="45884"/>
                </a:lnTo>
                <a:lnTo>
                  <a:pt x="7467600" y="36363"/>
                </a:lnTo>
                <a:lnTo>
                  <a:pt x="7620000" y="27876"/>
                </a:lnTo>
                <a:lnTo>
                  <a:pt x="7772400" y="20461"/>
                </a:lnTo>
                <a:lnTo>
                  <a:pt x="7924800" y="14151"/>
                </a:lnTo>
                <a:lnTo>
                  <a:pt x="8077200" y="8976"/>
                </a:lnTo>
                <a:lnTo>
                  <a:pt x="8229600" y="4958"/>
                </a:lnTo>
                <a:lnTo>
                  <a:pt x="8382000" y="2115"/>
                </a:lnTo>
                <a:lnTo>
                  <a:pt x="8534400" y="460"/>
                </a:lnTo>
                <a:lnTo>
                  <a:pt x="8686800" y="0"/>
                </a:lnTo>
                <a:lnTo>
                  <a:pt x="8839200" y="738"/>
                </a:lnTo>
                <a:lnTo>
                  <a:pt x="8991600" y="2670"/>
                </a:lnTo>
                <a:lnTo>
                  <a:pt x="9144000" y="5787"/>
                </a:lnTo>
                <a:lnTo>
                  <a:pt x="9296400" y="10076"/>
                </a:lnTo>
                <a:lnTo>
                  <a:pt x="9448800" y="15518"/>
                </a:lnTo>
                <a:lnTo>
                  <a:pt x="9601200" y="22086"/>
                </a:lnTo>
                <a:lnTo>
                  <a:pt x="9753600" y="29754"/>
                </a:lnTo>
                <a:lnTo>
                  <a:pt x="9906000" y="38485"/>
                </a:lnTo>
                <a:lnTo>
                  <a:pt x="10058400" y="48241"/>
                </a:lnTo>
                <a:lnTo>
                  <a:pt x="10210800" y="58977"/>
                </a:lnTo>
                <a:lnTo>
                  <a:pt x="10363200" y="70647"/>
                </a:lnTo>
                <a:lnTo>
                  <a:pt x="10515600" y="83196"/>
                </a:lnTo>
                <a:lnTo>
                  <a:pt x="10668000" y="96570"/>
                </a:lnTo>
                <a:lnTo>
                  <a:pt x="10820400" y="110707"/>
                </a:lnTo>
                <a:lnTo>
                  <a:pt x="10972800" y="125545"/>
                </a:lnTo>
                <a:lnTo>
                  <a:pt x="11125200" y="141016"/>
                </a:lnTo>
                <a:lnTo>
                  <a:pt x="11277600" y="157052"/>
                </a:lnTo>
                <a:lnTo>
                  <a:pt x="11430000" y="173580"/>
                </a:lnTo>
                <a:lnTo>
                  <a:pt x="11582400" y="190527"/>
                </a:lnTo>
                <a:lnTo>
                  <a:pt x="11734800" y="207815"/>
                </a:lnTo>
                <a:lnTo>
                  <a:pt x="11887200" y="225367"/>
                </a:lnTo>
                <a:lnTo>
                  <a:pt x="12039600" y="243105"/>
                </a:lnTo>
                <a:lnTo>
                  <a:pt x="12192000" y="260949"/>
                </a:lnTo>
                <a:lnTo>
                  <a:pt x="12192000" y="1266817"/>
                </a:lnTo>
                <a:close/>
              </a:path>
            </a:pathLst>
          </a:custGeom>
          <a:solidFill>
            <a:srgbClr val="C8E0F6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0" y="5905543"/>
            <a:ext cx="12192000" cy="952457"/>
          </a:xfrm>
          <a:custGeom>
            <a:avLst/>
            <a:gdLst/>
            <a:ahLst/>
            <a:cxnLst/>
            <a:rect l="l" t="t" r="r" b="b"/>
            <a:pathLst>
              <a:path w="12192000" h="952457">
                <a:moveTo>
                  <a:pt x="0" y="952457"/>
                </a:moveTo>
                <a:lnTo>
                  <a:pt x="0" y="288660"/>
                </a:lnTo>
                <a:lnTo>
                  <a:pt x="152400" y="275228"/>
                </a:lnTo>
                <a:lnTo>
                  <a:pt x="304800" y="261249"/>
                </a:lnTo>
                <a:lnTo>
                  <a:pt x="457200" y="246812"/>
                </a:lnTo>
                <a:lnTo>
                  <a:pt x="609600" y="232010"/>
                </a:lnTo>
                <a:lnTo>
                  <a:pt x="762000" y="216940"/>
                </a:lnTo>
                <a:lnTo>
                  <a:pt x="914400" y="201698"/>
                </a:lnTo>
                <a:lnTo>
                  <a:pt x="1066800" y="186384"/>
                </a:lnTo>
                <a:lnTo>
                  <a:pt x="1219200" y="171097"/>
                </a:lnTo>
                <a:lnTo>
                  <a:pt x="1371600" y="155934"/>
                </a:lnTo>
                <a:lnTo>
                  <a:pt x="1524000" y="140995"/>
                </a:lnTo>
                <a:lnTo>
                  <a:pt x="1676400" y="126375"/>
                </a:lnTo>
                <a:lnTo>
                  <a:pt x="1828800" y="112170"/>
                </a:lnTo>
                <a:lnTo>
                  <a:pt x="1981200" y="98470"/>
                </a:lnTo>
                <a:lnTo>
                  <a:pt x="2133600" y="85366"/>
                </a:lnTo>
                <a:lnTo>
                  <a:pt x="2286000" y="72940"/>
                </a:lnTo>
                <a:lnTo>
                  <a:pt x="2438400" y="61275"/>
                </a:lnTo>
                <a:lnTo>
                  <a:pt x="2590800" y="50444"/>
                </a:lnTo>
                <a:lnTo>
                  <a:pt x="2743200" y="40519"/>
                </a:lnTo>
                <a:lnTo>
                  <a:pt x="2895600" y="31563"/>
                </a:lnTo>
                <a:lnTo>
                  <a:pt x="3048000" y="23634"/>
                </a:lnTo>
                <a:lnTo>
                  <a:pt x="3200400" y="16784"/>
                </a:lnTo>
                <a:lnTo>
                  <a:pt x="3352800" y="11056"/>
                </a:lnTo>
                <a:lnTo>
                  <a:pt x="3505200" y="6489"/>
                </a:lnTo>
                <a:lnTo>
                  <a:pt x="3657600" y="3110"/>
                </a:lnTo>
                <a:lnTo>
                  <a:pt x="3810000" y="943"/>
                </a:lnTo>
                <a:lnTo>
                  <a:pt x="3962400" y="0"/>
                </a:lnTo>
                <a:lnTo>
                  <a:pt x="4114800" y="289"/>
                </a:lnTo>
                <a:lnTo>
                  <a:pt x="4267200" y="1808"/>
                </a:lnTo>
                <a:lnTo>
                  <a:pt x="4419600" y="4546"/>
                </a:lnTo>
                <a:lnTo>
                  <a:pt x="4572000" y="8485"/>
                </a:lnTo>
                <a:lnTo>
                  <a:pt x="4724400" y="13601"/>
                </a:lnTo>
                <a:lnTo>
                  <a:pt x="4876800" y="19861"/>
                </a:lnTo>
                <a:lnTo>
                  <a:pt x="5029200" y="27223"/>
                </a:lnTo>
                <a:lnTo>
                  <a:pt x="5181600" y="35641"/>
                </a:lnTo>
                <a:lnTo>
                  <a:pt x="5334000" y="45059"/>
                </a:lnTo>
                <a:lnTo>
                  <a:pt x="5486400" y="55417"/>
                </a:lnTo>
                <a:lnTo>
                  <a:pt x="5638800" y="66649"/>
                </a:lnTo>
                <a:lnTo>
                  <a:pt x="5791200" y="78680"/>
                </a:lnTo>
                <a:lnTo>
                  <a:pt x="5943600" y="91435"/>
                </a:lnTo>
                <a:lnTo>
                  <a:pt x="6096000" y="104829"/>
                </a:lnTo>
                <a:lnTo>
                  <a:pt x="6248400" y="118777"/>
                </a:lnTo>
                <a:lnTo>
                  <a:pt x="6400800" y="133188"/>
                </a:lnTo>
                <a:lnTo>
                  <a:pt x="6553200" y="147970"/>
                </a:lnTo>
                <a:lnTo>
                  <a:pt x="6705600" y="163026"/>
                </a:lnTo>
                <a:lnTo>
                  <a:pt x="6858000" y="178260"/>
                </a:lnTo>
                <a:lnTo>
                  <a:pt x="7010400" y="193572"/>
                </a:lnTo>
                <a:lnTo>
                  <a:pt x="7162800" y="208865"/>
                </a:lnTo>
                <a:lnTo>
                  <a:pt x="7315200" y="224038"/>
                </a:lnTo>
                <a:lnTo>
                  <a:pt x="7467600" y="238994"/>
                </a:lnTo>
                <a:lnTo>
                  <a:pt x="7620000" y="253637"/>
                </a:lnTo>
                <a:lnTo>
                  <a:pt x="7772400" y="267871"/>
                </a:lnTo>
                <a:lnTo>
                  <a:pt x="7924800" y="281604"/>
                </a:lnTo>
                <a:lnTo>
                  <a:pt x="8077200" y="294748"/>
                </a:lnTo>
                <a:lnTo>
                  <a:pt x="8229600" y="307218"/>
                </a:lnTo>
                <a:lnTo>
                  <a:pt x="8382000" y="318934"/>
                </a:lnTo>
                <a:lnTo>
                  <a:pt x="8534400" y="329818"/>
                </a:lnTo>
                <a:lnTo>
                  <a:pt x="8686800" y="339802"/>
                </a:lnTo>
                <a:lnTo>
                  <a:pt x="8839200" y="348821"/>
                </a:lnTo>
                <a:lnTo>
                  <a:pt x="8991600" y="356815"/>
                </a:lnTo>
                <a:lnTo>
                  <a:pt x="9144000" y="363734"/>
                </a:lnTo>
                <a:lnTo>
                  <a:pt x="9296400" y="369533"/>
                </a:lnTo>
                <a:lnTo>
                  <a:pt x="9448800" y="374174"/>
                </a:lnTo>
                <a:lnTo>
                  <a:pt x="9601200" y="377628"/>
                </a:lnTo>
                <a:lnTo>
                  <a:pt x="9753600" y="379872"/>
                </a:lnTo>
                <a:lnTo>
                  <a:pt x="9906000" y="380891"/>
                </a:lnTo>
                <a:lnTo>
                  <a:pt x="10058400" y="380679"/>
                </a:lnTo>
                <a:lnTo>
                  <a:pt x="10210800" y="379237"/>
                </a:lnTo>
                <a:lnTo>
                  <a:pt x="10363200" y="376575"/>
                </a:lnTo>
                <a:lnTo>
                  <a:pt x="10515600" y="372710"/>
                </a:lnTo>
                <a:lnTo>
                  <a:pt x="10668000" y="367666"/>
                </a:lnTo>
                <a:lnTo>
                  <a:pt x="10820400" y="361477"/>
                </a:lnTo>
                <a:lnTo>
                  <a:pt x="10972800" y="354182"/>
                </a:lnTo>
                <a:lnTo>
                  <a:pt x="11125200" y="345829"/>
                </a:lnTo>
                <a:lnTo>
                  <a:pt x="11277600" y="336472"/>
                </a:lnTo>
                <a:lnTo>
                  <a:pt x="11430000" y="326170"/>
                </a:lnTo>
                <a:lnTo>
                  <a:pt x="11582400" y="314991"/>
                </a:lnTo>
                <a:lnTo>
                  <a:pt x="11734800" y="303008"/>
                </a:lnTo>
                <a:lnTo>
                  <a:pt x="11887200" y="290296"/>
                </a:lnTo>
                <a:lnTo>
                  <a:pt x="12039600" y="276939"/>
                </a:lnTo>
                <a:lnTo>
                  <a:pt x="12192000" y="263023"/>
                </a:lnTo>
                <a:lnTo>
                  <a:pt x="12192000" y="952457"/>
                </a:lnTo>
                <a:close/>
              </a:path>
            </a:pathLst>
          </a:custGeom>
          <a:solidFill>
            <a:srgbClr val="A7CDF1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638925"/>
            <a:ext cx="12192000" cy="219075"/>
          </a:xfrm>
          <a:prstGeom prst="rect">
            <a:avLst/>
          </a:prstGeom>
          <a:solidFill>
            <a:srgbClr val="A9C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238875"/>
            <a:ext cx="12192000" cy="400050"/>
          </a:xfrm>
          <a:prstGeom prst="rect">
            <a:avLst/>
          </a:prstGeom>
          <a:gradFill rotWithShape="1">
            <a:gsLst>
              <a:gs pos="0">
                <a:srgbClr val="2C6BB2"/>
              </a:gs>
              <a:gs pos="100000">
                <a:srgbClr val="7FB5E4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MI Section Bar"/>
          <p:cNvSpPr txBox="1"/>
          <p:nvPr/>
        </p:nvSpPr>
        <p:spPr>
          <a:xfrm>
            <a:off x="285750" y="6238875"/>
            <a:ext cx="3810000" cy="400050"/>
          </a:xfrm>
          <a:prstGeom prst="rect">
            <a:avLst/>
          </a:prstGeom>
          <a:noFill/>
        </p:spPr>
        <p:txBody>
          <a:bodyPr wrap="none" anchor="ctr" lIns="0" tIns="0" bIns="0">
            <a:spAutoFit/>
          </a:bodyPr>
          <a:lstStyle/>
          <a:p>
            <a:r>
              <a:rPr sz="1500" b="1">
                <a:solidFill>
                  <a:srgbClr val="FFFFFF"/>
                </a:solidFill>
                <a:latin typeface="Calibri"/>
              </a:rPr>
              <a:t>Section 2.7</a:t>
            </a:r>
          </a:p>
        </p:txBody>
      </p:sp>
      <p:pic>
        <p:nvPicPr>
          <p:cNvPr id="8" name="Picture 7" descr="fmi_logo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74320"/>
            <a:ext cx="1307592" cy="13258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14400" y="2752725"/>
            <a:ext cx="8572500" cy="3048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800" b="0">
                <a:solidFill>
                  <a:srgbClr val="0E72AE"/>
                </a:solidFill>
                <a:latin typeface="Calibri"/>
              </a:rPr>
              <a:t>Packaged Muffins Market</a:t>
            </a:r>
          </a:p>
        </p:txBody>
      </p:sp>
      <p:sp>
        <p:nvSpPr>
          <p:cNvPr id="10" name="FMI Section Title"/>
          <p:cNvSpPr txBox="1"/>
          <p:nvPr/>
        </p:nvSpPr>
        <p:spPr>
          <a:xfrm>
            <a:off x="914400" y="3095625"/>
            <a:ext cx="8572500" cy="51435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r>
              <a:rPr sz="3000" b="1">
                <a:solidFill>
                  <a:srgbClr val="0B3C8C"/>
                </a:solidFill>
                <a:latin typeface="Calibri"/>
              </a:rPr>
              <a:t>Product Structure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781425"/>
            <a:ext cx="8458200" cy="12763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Calibri"/>
              </a:rPr>
              <a:t>➤	</a:t>
            </a:r>
            <a:r>
              <a:rPr sz="2000" b="0">
                <a:solidFill>
                  <a:srgbClr val="000000"/>
                </a:solidFill>
                <a:latin typeface="Calibri"/>
              </a:rPr>
              <a:t>Segmental</a:t>
            </a:r>
          </a:p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Calibri"/>
              </a:rPr>
              <a:t>➤	</a:t>
            </a:r>
            <a:r>
              <a:rPr sz="2000" b="0">
                <a:solidFill>
                  <a:srgbClr val="000000"/>
                </a:solidFill>
                <a:latin typeface="Calibri"/>
              </a:rPr>
              <a:t>Table (Volume &amp; Value)</a:t>
            </a:r>
          </a:p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Calibri"/>
              </a:rPr>
              <a:t>➤	</a:t>
            </a:r>
            <a:r>
              <a:rPr sz="2000" b="0">
                <a:solidFill>
                  <a:srgbClr val="000000"/>
                </a:solidFill>
                <a:latin typeface="Calibri"/>
              </a:rPr>
              <a:t>YoY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58595B"/>
                </a:solidFill>
                <a:latin typeface="Calibri"/>
              </a:rPr>
              <a:t>©2026 Future Market Insights, All Rights Reserved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3825" y="914400"/>
            <a:ext cx="3943350" cy="28575"/>
          </a:xfrm>
          <a:prstGeom prst="rect">
            <a:avLst/>
          </a:prstGeom>
          <a:solidFill>
            <a:srgbClr val="0081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24325" y="914400"/>
            <a:ext cx="3943350" cy="28575"/>
          </a:xfrm>
          <a:prstGeom prst="rect">
            <a:avLst/>
          </a:prstGeom>
          <a:solidFill>
            <a:srgbClr val="9E7E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124825" y="914400"/>
            <a:ext cx="3943350" cy="28575"/>
          </a:xfrm>
          <a:prstGeom prst="rect">
            <a:avLst/>
          </a:prstGeom>
          <a:solidFill>
            <a:srgbClr val="403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mi_logo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25" y="-205740"/>
            <a:ext cx="1307592" cy="13258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543050" y="19050"/>
            <a:ext cx="8982075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U.S. Packaged Muffins Market Segmental Analysis Product Structure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43050" y="647700"/>
            <a:ext cx="10506075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U.S. segmental analysis by Product Structure: growth contribution, share variance and absolute $ opportunity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620375" y="228600"/>
            <a:ext cx="1428750" cy="419100"/>
          </a:xfrm>
          <a:prstGeom prst="roundRect">
            <a:avLst>
              <a:gd name="adj" fmla="val 22000"/>
            </a:avLst>
          </a:prstGeom>
          <a:solidFill>
            <a:srgbClr val="D9E6F2"/>
          </a:solidFill>
          <a:ln w="6350">
            <a:solidFill>
              <a:srgbClr val="69B1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100" b="1">
                <a:solidFill>
                  <a:srgbClr val="0B2E4A"/>
                </a:solidFill>
                <a:latin typeface="Calibri"/>
              </a:rPr>
              <a:t>U.S.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42875" y="981075"/>
            <a:ext cx="5876925" cy="2752725"/>
          </a:xfrm>
          <a:prstGeom prst="roundRect">
            <a:avLst>
              <a:gd name="adj" fmla="val 2768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38125" y="1038225"/>
            <a:ext cx="5686425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Growth Contribution 2026 → 2036, By Product Structure (US$ Mn)</a:t>
            </a:r>
          </a:p>
        </p:txBody>
      </p:sp>
      <p:graphicFrame>
        <p:nvGraphicFramePr>
          <p:cNvPr id="13" name="Chart 12"/>
          <p:cNvGraphicFramePr>
            <a:graphicFrameLocks noGrp="1"/>
          </p:cNvGraphicFramePr>
          <p:nvPr/>
        </p:nvGraphicFramePr>
        <p:xfrm>
          <a:off x="238125" y="1266825"/>
          <a:ext cx="5686425" cy="2409825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4" name="Rounded Rectangle 13"/>
          <p:cNvSpPr/>
          <p:nvPr/>
        </p:nvSpPr>
        <p:spPr>
          <a:xfrm>
            <a:off x="6172200" y="981075"/>
            <a:ext cx="5876925" cy="2752725"/>
          </a:xfrm>
          <a:prstGeom prst="roundRect">
            <a:avLst>
              <a:gd name="adj" fmla="val 2768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67450" y="1038225"/>
            <a:ext cx="5686425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Value Shares &amp; Variance, By Product Structure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6181725" y="1238250"/>
          <a:ext cx="5857876" cy="2286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50200"/>
                <a:gridCol w="1126919"/>
                <a:gridCol w="1126919"/>
                <a:gridCol w="1126919"/>
                <a:gridCol w="1126919"/>
              </a:tblGrid>
              <a:tr h="246126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Product Structure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Share 2026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Share 2036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Variance (BPS)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F-CAGR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</a:tr>
              <a:tr h="1019937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Unfilled muffins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1019937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Filled muffins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</a:tr>
            </a:tbl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6248400" y="3533775"/>
            <a:ext cx="5724525" cy="17145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100" b="0" i="1">
                <a:solidFill>
                  <a:srgbClr val="6C7A89"/>
                </a:solidFill>
                <a:latin typeface="Calibri"/>
              </a:rPr>
              <a:t>Source: FMI Analysis, 2026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42875" y="3867150"/>
            <a:ext cx="5876925" cy="2752725"/>
          </a:xfrm>
          <a:prstGeom prst="roundRect">
            <a:avLst>
              <a:gd name="adj" fmla="val 2768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38125" y="3924300"/>
            <a:ext cx="5686425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Absolute $ Opportunity, By Product Structure (US$ Mn), between 2026–2036</a:t>
            </a:r>
          </a:p>
        </p:txBody>
      </p:sp>
      <p:graphicFrame>
        <p:nvGraphicFramePr>
          <p:cNvPr id="20" name="Chart 19"/>
          <p:cNvGraphicFramePr>
            <a:graphicFrameLocks noGrp="1"/>
          </p:cNvGraphicFramePr>
          <p:nvPr/>
        </p:nvGraphicFramePr>
        <p:xfrm>
          <a:off x="238125" y="4152900"/>
          <a:ext cx="5686425" cy="2409825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21" name="Rounded Rectangle 20"/>
          <p:cNvSpPr/>
          <p:nvPr/>
        </p:nvSpPr>
        <p:spPr>
          <a:xfrm>
            <a:off x="6172200" y="3867150"/>
            <a:ext cx="5876925" cy="2752725"/>
          </a:xfrm>
          <a:prstGeom prst="roundRect">
            <a:avLst>
              <a:gd name="adj" fmla="val 2768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67450" y="3924300"/>
            <a:ext cx="5686425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Volume Shares &amp; Variance, By Product Structure</a:t>
            </a:r>
          </a:p>
        </p:txBody>
      </p:sp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6181725" y="4124325"/>
          <a:ext cx="5857876" cy="2286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50200"/>
                <a:gridCol w="1126919"/>
                <a:gridCol w="1126919"/>
                <a:gridCol w="1126919"/>
                <a:gridCol w="1126919"/>
              </a:tblGrid>
              <a:tr h="246126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Product Structure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Share 2026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Share 2036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Variance (BPS)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F-CAGR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</a:tr>
              <a:tr h="1019937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Unfilled muffins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1019937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Filled muffins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</a:tr>
            </a:tbl>
          </a:graphicData>
        </a:graphic>
      </p:graphicFrame>
      <p:sp>
        <p:nvSpPr>
          <p:cNvPr id="24" name="TextBox 23"/>
          <p:cNvSpPr txBox="1"/>
          <p:nvPr/>
        </p:nvSpPr>
        <p:spPr>
          <a:xfrm>
            <a:off x="6248400" y="6419850"/>
            <a:ext cx="5724525" cy="17145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100" b="0" i="1">
                <a:solidFill>
                  <a:srgbClr val="6C7A89"/>
                </a:solidFill>
                <a:latin typeface="Calibri"/>
              </a:rPr>
              <a:t>Source: FMI Analysis, 2026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58595B"/>
                </a:solidFill>
                <a:latin typeface="Calibri"/>
              </a:rPr>
              <a:t>©2026 Future Market Insights, All Rights Reserved</a:t>
            </a:r>
          </a:p>
        </p:txBody>
      </p:sp>
      <p:pic>
        <p:nvPicPr>
          <p:cNvPr id="26" name="Picture 25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94826" y="2237234"/>
            <a:ext cx="263506" cy="383281"/>
          </a:xfrm>
          <a:prstGeom prst="rect">
            <a:avLst/>
          </a:prstGeom>
        </p:spPr>
      </p:pic>
      <p:pic>
        <p:nvPicPr>
          <p:cNvPr id="27" name="Picture 26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99073" y="2237613"/>
            <a:ext cx="366712" cy="533400"/>
          </a:xfrm>
          <a:prstGeom prst="rect">
            <a:avLst/>
          </a:prstGeom>
        </p:spPr>
      </p:pic>
      <p:pic>
        <p:nvPicPr>
          <p:cNvPr id="28" name="Picture 27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94826" y="5123309"/>
            <a:ext cx="263506" cy="383281"/>
          </a:xfrm>
          <a:prstGeom prst="rect">
            <a:avLst/>
          </a:prstGeom>
        </p:spPr>
      </p:pic>
      <p:pic>
        <p:nvPicPr>
          <p:cNvPr id="29" name="Picture 28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99073" y="5123688"/>
            <a:ext cx="366712" cy="533400"/>
          </a:xfrm>
          <a:prstGeom prst="rect">
            <a:avLst/>
          </a:prstGeom>
        </p:spPr>
      </p:pic>
      <p:sp>
        <p:nvSpPr>
          <p:cNvPr id="30" name="lockshield_13"/>
          <p:cNvSpPr/>
          <p:nvPr/>
        </p:nvSpPr>
        <p:spPr>
          <a:xfrm>
            <a:off x="238125" y="1266825"/>
            <a:ext cx="5686425" cy="2409825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lockshield_20"/>
          <p:cNvSpPr/>
          <p:nvPr/>
        </p:nvSpPr>
        <p:spPr>
          <a:xfrm>
            <a:off x="238125" y="4152900"/>
            <a:ext cx="5686425" cy="2409825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3825" y="914400"/>
            <a:ext cx="3943350" cy="28575"/>
          </a:xfrm>
          <a:prstGeom prst="rect">
            <a:avLst/>
          </a:prstGeom>
          <a:solidFill>
            <a:srgbClr val="0081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24325" y="914400"/>
            <a:ext cx="3943350" cy="28575"/>
          </a:xfrm>
          <a:prstGeom prst="rect">
            <a:avLst/>
          </a:prstGeom>
          <a:solidFill>
            <a:srgbClr val="9E7E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124825" y="914400"/>
            <a:ext cx="3943350" cy="28575"/>
          </a:xfrm>
          <a:prstGeom prst="rect">
            <a:avLst/>
          </a:prstGeom>
          <a:solidFill>
            <a:srgbClr val="403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mi_logo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25" y="-205740"/>
            <a:ext cx="1307592" cy="13258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543050" y="19050"/>
            <a:ext cx="8982075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U.S. Packaged Muffins Market Tables Product Structure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43050" y="647700"/>
            <a:ext cx="10506075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Year-by-year volume and value of the U.S. market by Product Structure, 2021–2036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620375" y="228600"/>
            <a:ext cx="1428750" cy="419100"/>
          </a:xfrm>
          <a:prstGeom prst="roundRect">
            <a:avLst>
              <a:gd name="adj" fmla="val 22000"/>
            </a:avLst>
          </a:prstGeom>
          <a:solidFill>
            <a:srgbClr val="D9E6F2"/>
          </a:solidFill>
          <a:ln w="6350">
            <a:solidFill>
              <a:srgbClr val="69B1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100" b="1">
                <a:solidFill>
                  <a:srgbClr val="0B2E4A"/>
                </a:solidFill>
                <a:latin typeface="Calibri"/>
              </a:rPr>
              <a:t>U.S.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42875" y="981075"/>
            <a:ext cx="11906250" cy="1457325"/>
          </a:xfrm>
          <a:prstGeom prst="roundRect">
            <a:avLst>
              <a:gd name="adj" fmla="val 5228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38125" y="1038225"/>
            <a:ext cx="1171575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U.S. Volume, By Product Structure (MT)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152400" y="1238250"/>
          <a:ext cx="11887196" cy="9906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56654"/>
                <a:gridCol w="625326"/>
                <a:gridCol w="625326"/>
                <a:gridCol w="625326"/>
                <a:gridCol w="625326"/>
                <a:gridCol w="625326"/>
                <a:gridCol w="625326"/>
                <a:gridCol w="625326"/>
                <a:gridCol w="625326"/>
                <a:gridCol w="625326"/>
                <a:gridCol w="625326"/>
                <a:gridCol w="625326"/>
                <a:gridCol w="625326"/>
                <a:gridCol w="625326"/>
                <a:gridCol w="625326"/>
                <a:gridCol w="625326"/>
                <a:gridCol w="625326"/>
                <a:gridCol w="625326"/>
              </a:tblGrid>
              <a:tr h="246126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Product Structure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2021A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2022A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2023A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2024A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2025A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2026E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2027F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2028F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2029F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2030F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2031F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2032F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2033F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2034F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2035F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2036F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F-CAGR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</a:tr>
              <a:tr h="248158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Unfilled muffins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248158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Filled muffins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</a:tr>
              <a:tr h="248158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Total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219075" y="2238375"/>
            <a:ext cx="11753850" cy="17145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100" b="0" i="1">
                <a:solidFill>
                  <a:srgbClr val="6C7A89"/>
                </a:solidFill>
                <a:latin typeface="Calibri"/>
              </a:rPr>
              <a:t>Source: FMI Analysis, 2026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42875" y="2571750"/>
            <a:ext cx="11906250" cy="1457325"/>
          </a:xfrm>
          <a:prstGeom prst="roundRect">
            <a:avLst>
              <a:gd name="adj" fmla="val 5228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38125" y="2628900"/>
            <a:ext cx="1171575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U.S. Value, By Product Structure (US$ Mn)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152400" y="2828925"/>
          <a:ext cx="11887206" cy="9906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16147"/>
                <a:gridCol w="621827"/>
                <a:gridCol w="621827"/>
                <a:gridCol w="621827"/>
                <a:gridCol w="621827"/>
                <a:gridCol w="621827"/>
                <a:gridCol w="621827"/>
                <a:gridCol w="621827"/>
                <a:gridCol w="621827"/>
                <a:gridCol w="621827"/>
                <a:gridCol w="621827"/>
                <a:gridCol w="621827"/>
                <a:gridCol w="621827"/>
                <a:gridCol w="621827"/>
                <a:gridCol w="621827"/>
                <a:gridCol w="621827"/>
                <a:gridCol w="621827"/>
                <a:gridCol w="621827"/>
              </a:tblGrid>
              <a:tr h="246126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Product Structure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2021A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2022A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2023A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2024A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2025A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2026E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2027F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2028F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2029F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2030F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2031F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2032F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2033F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2034F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2035F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2036F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F-CAGR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</a:tr>
              <a:tr h="248158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Unfilled muffins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248158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Filled muffins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</a:tr>
              <a:tr h="248158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Total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219075" y="3829050"/>
            <a:ext cx="11753850" cy="17145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100" b="0" i="1">
                <a:solidFill>
                  <a:srgbClr val="6C7A89"/>
                </a:solidFill>
                <a:latin typeface="Calibri"/>
              </a:rPr>
              <a:t>Source: FMI Analysis, 2026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58595B"/>
                </a:solidFill>
                <a:latin typeface="Calibri"/>
              </a:rPr>
              <a:t>©2026 Future Market Insights, All Rights Reserved</a:t>
            </a:r>
          </a:p>
        </p:txBody>
      </p:sp>
      <p:pic>
        <p:nvPicPr>
          <p:cNvPr id="20" name="Picture 19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7635" y="1589913"/>
            <a:ext cx="366712" cy="533400"/>
          </a:xfrm>
          <a:prstGeom prst="rect">
            <a:avLst/>
          </a:prstGeom>
        </p:spPr>
      </p:pic>
      <p:pic>
        <p:nvPicPr>
          <p:cNvPr id="21" name="Picture 20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67386" y="3180587"/>
            <a:ext cx="366712" cy="53340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3825" y="914400"/>
            <a:ext cx="3943350" cy="28575"/>
          </a:xfrm>
          <a:prstGeom prst="rect">
            <a:avLst/>
          </a:prstGeom>
          <a:solidFill>
            <a:srgbClr val="0081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24325" y="914400"/>
            <a:ext cx="3943350" cy="28575"/>
          </a:xfrm>
          <a:prstGeom prst="rect">
            <a:avLst/>
          </a:prstGeom>
          <a:solidFill>
            <a:srgbClr val="9E7E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124825" y="914400"/>
            <a:ext cx="3943350" cy="28575"/>
          </a:xfrm>
          <a:prstGeom prst="rect">
            <a:avLst/>
          </a:prstGeom>
          <a:solidFill>
            <a:srgbClr val="403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mi_logo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25" y="-205740"/>
            <a:ext cx="1307592" cy="13258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543050" y="19050"/>
            <a:ext cx="8982075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U.S. YoY Analysis Product Structure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43050" y="647700"/>
            <a:ext cx="10506075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U.S. year-on-year volume and value growth by Product Structure, highlighting acceleration and slowdown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620375" y="228600"/>
            <a:ext cx="1428750" cy="419100"/>
          </a:xfrm>
          <a:prstGeom prst="roundRect">
            <a:avLst>
              <a:gd name="adj" fmla="val 22000"/>
            </a:avLst>
          </a:prstGeom>
          <a:solidFill>
            <a:srgbClr val="D9E6F2"/>
          </a:solidFill>
          <a:ln w="6350">
            <a:solidFill>
              <a:srgbClr val="69B1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100" b="1">
                <a:solidFill>
                  <a:srgbClr val="0B2E4A"/>
                </a:solidFill>
                <a:latin typeface="Calibri"/>
              </a:rPr>
              <a:t>U.S.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42875" y="981075"/>
            <a:ext cx="11906250" cy="1209675"/>
          </a:xfrm>
          <a:prstGeom prst="roundRect">
            <a:avLst>
              <a:gd name="adj" fmla="val 6299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38125" y="1038225"/>
            <a:ext cx="1171575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U.S. Volume YoY, By Product Structure (%)  ·  </a:t>
            </a:r>
            <a:r>
              <a:rPr sz="1200" b="1">
                <a:solidFill>
                  <a:srgbClr val="2E7D32"/>
                </a:solidFill>
                <a:latin typeface="Calibri"/>
              </a:rPr>
              <a:t>▲ outpacing market  </a:t>
            </a:r>
            <a:r>
              <a:rPr sz="1200" b="1">
                <a:solidFill>
                  <a:srgbClr val="A86F00"/>
                </a:solidFill>
                <a:latin typeface="Calibri"/>
              </a:rPr>
              <a:t>▶ below market pace  </a:t>
            </a:r>
            <a:r>
              <a:rPr sz="1200" b="1">
                <a:solidFill>
                  <a:srgbClr val="E44D3A"/>
                </a:solidFill>
                <a:latin typeface="Calibri"/>
              </a:rPr>
              <a:t>▼ decline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152400" y="1238250"/>
          <a:ext cx="11887205" cy="74294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43320"/>
                <a:gridCol w="696259"/>
                <a:gridCol w="696259"/>
                <a:gridCol w="696259"/>
                <a:gridCol w="696259"/>
                <a:gridCol w="696259"/>
                <a:gridCol w="696259"/>
                <a:gridCol w="696259"/>
                <a:gridCol w="696259"/>
                <a:gridCol w="696259"/>
                <a:gridCol w="696259"/>
                <a:gridCol w="696259"/>
                <a:gridCol w="696259"/>
                <a:gridCol w="696259"/>
                <a:gridCol w="696259"/>
                <a:gridCol w="696259"/>
              </a:tblGrid>
              <a:tr h="246126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Product Structure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2022A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2023A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2024A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2025A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2026E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2027F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2028F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2029F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2030F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2031F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2032F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2033F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2034F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2035F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2036F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</a:tr>
              <a:tr h="248411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Unfilled muffins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248411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Filled muffins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219075" y="1990725"/>
            <a:ext cx="11753850" cy="17145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100" b="0" i="1">
                <a:solidFill>
                  <a:srgbClr val="6C7A89"/>
                </a:solidFill>
                <a:latin typeface="Calibri"/>
              </a:rPr>
              <a:t>Source: FMI Analysis, 2026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42875" y="2324100"/>
            <a:ext cx="11906250" cy="1209675"/>
          </a:xfrm>
          <a:prstGeom prst="roundRect">
            <a:avLst>
              <a:gd name="adj" fmla="val 6299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38125" y="2381250"/>
            <a:ext cx="1171575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U.S. Value YoY, By Product Structure (%)  ·  </a:t>
            </a:r>
            <a:r>
              <a:rPr sz="1200" b="1">
                <a:solidFill>
                  <a:srgbClr val="2E7D32"/>
                </a:solidFill>
                <a:latin typeface="Calibri"/>
              </a:rPr>
              <a:t>▲ outpacing market  </a:t>
            </a:r>
            <a:r>
              <a:rPr sz="1200" b="1">
                <a:solidFill>
                  <a:srgbClr val="A86F00"/>
                </a:solidFill>
                <a:latin typeface="Calibri"/>
              </a:rPr>
              <a:t>▶ below market pace  </a:t>
            </a:r>
            <a:r>
              <a:rPr sz="1200" b="1">
                <a:solidFill>
                  <a:srgbClr val="E44D3A"/>
                </a:solidFill>
                <a:latin typeface="Calibri"/>
              </a:rPr>
              <a:t>▼ decline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152400" y="2581275"/>
          <a:ext cx="11887205" cy="74294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43320"/>
                <a:gridCol w="696259"/>
                <a:gridCol w="696259"/>
                <a:gridCol w="696259"/>
                <a:gridCol w="696259"/>
                <a:gridCol w="696259"/>
                <a:gridCol w="696259"/>
                <a:gridCol w="696259"/>
                <a:gridCol w="696259"/>
                <a:gridCol w="696259"/>
                <a:gridCol w="696259"/>
                <a:gridCol w="696259"/>
                <a:gridCol w="696259"/>
                <a:gridCol w="696259"/>
                <a:gridCol w="696259"/>
                <a:gridCol w="696259"/>
              </a:tblGrid>
              <a:tr h="246126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Product Structure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2022A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2023A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2024A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2025A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2026E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2027F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2028F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2029F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2030F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2031F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2032F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2033F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2034F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2035F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2036F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</a:tr>
              <a:tr h="248411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Unfilled muffins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248411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Filled muffins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219075" y="3333750"/>
            <a:ext cx="11753850" cy="17145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100" b="0" i="1">
                <a:solidFill>
                  <a:srgbClr val="6C7A89"/>
                </a:solidFill>
                <a:latin typeface="Calibri"/>
              </a:rPr>
              <a:t>Source: FMI Analysis, 2026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58595B"/>
                </a:solidFill>
                <a:latin typeface="Calibri"/>
              </a:rPr>
              <a:t>©2026 Future Market Insights, All Rights Reserved</a:t>
            </a:r>
          </a:p>
        </p:txBody>
      </p:sp>
      <p:pic>
        <p:nvPicPr>
          <p:cNvPr id="20" name="Picture 19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9641" y="1482090"/>
            <a:ext cx="330041" cy="480060"/>
          </a:xfrm>
          <a:prstGeom prst="rect">
            <a:avLst/>
          </a:prstGeom>
        </p:spPr>
      </p:pic>
      <p:pic>
        <p:nvPicPr>
          <p:cNvPr id="21" name="Picture 20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9641" y="2825115"/>
            <a:ext cx="330041" cy="48006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8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F1F8FE"/>
              </a:gs>
              <a:gs pos="100000">
                <a:srgbClr val="DAEAF9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0" y="5591183"/>
            <a:ext cx="12192000" cy="1266817"/>
          </a:xfrm>
          <a:custGeom>
            <a:avLst/>
            <a:gdLst/>
            <a:ahLst/>
            <a:cxnLst/>
            <a:rect l="l" t="t" r="r" b="b"/>
            <a:pathLst>
              <a:path w="12192000" h="1266817">
                <a:moveTo>
                  <a:pt x="0" y="1266817"/>
                </a:moveTo>
                <a:lnTo>
                  <a:pt x="0" y="475605"/>
                </a:lnTo>
                <a:lnTo>
                  <a:pt x="152400" y="486239"/>
                </a:lnTo>
                <a:lnTo>
                  <a:pt x="304800" y="495887"/>
                </a:lnTo>
                <a:lnTo>
                  <a:pt x="457200" y="504505"/>
                </a:lnTo>
                <a:lnTo>
                  <a:pt x="609600" y="512056"/>
                </a:lnTo>
                <a:lnTo>
                  <a:pt x="762000" y="518505"/>
                </a:lnTo>
                <a:lnTo>
                  <a:pt x="914400" y="523824"/>
                </a:lnTo>
                <a:lnTo>
                  <a:pt x="1066800" y="527988"/>
                </a:lnTo>
                <a:lnTo>
                  <a:pt x="1219200" y="530979"/>
                </a:lnTo>
                <a:lnTo>
                  <a:pt x="1371600" y="532783"/>
                </a:lnTo>
                <a:lnTo>
                  <a:pt x="1524000" y="533392"/>
                </a:lnTo>
                <a:lnTo>
                  <a:pt x="1676400" y="532804"/>
                </a:lnTo>
                <a:lnTo>
                  <a:pt x="1828800" y="531021"/>
                </a:lnTo>
                <a:lnTo>
                  <a:pt x="1981200" y="528051"/>
                </a:lnTo>
                <a:lnTo>
                  <a:pt x="2133600" y="523907"/>
                </a:lnTo>
                <a:lnTo>
                  <a:pt x="2286000" y="518609"/>
                </a:lnTo>
                <a:lnTo>
                  <a:pt x="2438400" y="512179"/>
                </a:lnTo>
                <a:lnTo>
                  <a:pt x="2590800" y="504648"/>
                </a:lnTo>
                <a:lnTo>
                  <a:pt x="2743200" y="496047"/>
                </a:lnTo>
                <a:lnTo>
                  <a:pt x="2895600" y="486417"/>
                </a:lnTo>
                <a:lnTo>
                  <a:pt x="3048000" y="475801"/>
                </a:lnTo>
                <a:lnTo>
                  <a:pt x="3200400" y="464245"/>
                </a:lnTo>
                <a:lnTo>
                  <a:pt x="3352800" y="451803"/>
                </a:lnTo>
                <a:lnTo>
                  <a:pt x="3505200" y="438529"/>
                </a:lnTo>
                <a:lnTo>
                  <a:pt x="3657600" y="424484"/>
                </a:lnTo>
                <a:lnTo>
                  <a:pt x="3810000" y="409730"/>
                </a:lnTo>
                <a:lnTo>
                  <a:pt x="3962400" y="394334"/>
                </a:lnTo>
                <a:lnTo>
                  <a:pt x="4114800" y="378365"/>
                </a:lnTo>
                <a:lnTo>
                  <a:pt x="4267200" y="361894"/>
                </a:lnTo>
                <a:lnTo>
                  <a:pt x="4419600" y="344996"/>
                </a:lnTo>
                <a:lnTo>
                  <a:pt x="4572000" y="327746"/>
                </a:lnTo>
                <a:lnTo>
                  <a:pt x="4724400" y="310223"/>
                </a:lnTo>
                <a:lnTo>
                  <a:pt x="4876800" y="292503"/>
                </a:lnTo>
                <a:lnTo>
                  <a:pt x="5029200" y="274668"/>
                </a:lnTo>
                <a:lnTo>
                  <a:pt x="5181600" y="256797"/>
                </a:lnTo>
                <a:lnTo>
                  <a:pt x="5334000" y="238971"/>
                </a:lnTo>
                <a:lnTo>
                  <a:pt x="5486400" y="221269"/>
                </a:lnTo>
                <a:lnTo>
                  <a:pt x="5638800" y="203771"/>
                </a:lnTo>
                <a:lnTo>
                  <a:pt x="5791200" y="186555"/>
                </a:lnTo>
                <a:lnTo>
                  <a:pt x="5943600" y="169699"/>
                </a:lnTo>
                <a:lnTo>
                  <a:pt x="6096000" y="153279"/>
                </a:lnTo>
                <a:lnTo>
                  <a:pt x="6248400" y="137368"/>
                </a:lnTo>
                <a:lnTo>
                  <a:pt x="6400800" y="122038"/>
                </a:lnTo>
                <a:lnTo>
                  <a:pt x="6553200" y="107357"/>
                </a:lnTo>
                <a:lnTo>
                  <a:pt x="6705600" y="93391"/>
                </a:lnTo>
                <a:lnTo>
                  <a:pt x="6858000" y="80204"/>
                </a:lnTo>
                <a:lnTo>
                  <a:pt x="7010400" y="67854"/>
                </a:lnTo>
                <a:lnTo>
                  <a:pt x="7162800" y="56397"/>
                </a:lnTo>
                <a:lnTo>
                  <a:pt x="7315200" y="45884"/>
                </a:lnTo>
                <a:lnTo>
                  <a:pt x="7467600" y="36363"/>
                </a:lnTo>
                <a:lnTo>
                  <a:pt x="7620000" y="27876"/>
                </a:lnTo>
                <a:lnTo>
                  <a:pt x="7772400" y="20461"/>
                </a:lnTo>
                <a:lnTo>
                  <a:pt x="7924800" y="14151"/>
                </a:lnTo>
                <a:lnTo>
                  <a:pt x="8077200" y="8976"/>
                </a:lnTo>
                <a:lnTo>
                  <a:pt x="8229600" y="4958"/>
                </a:lnTo>
                <a:lnTo>
                  <a:pt x="8382000" y="2115"/>
                </a:lnTo>
                <a:lnTo>
                  <a:pt x="8534400" y="460"/>
                </a:lnTo>
                <a:lnTo>
                  <a:pt x="8686800" y="0"/>
                </a:lnTo>
                <a:lnTo>
                  <a:pt x="8839200" y="738"/>
                </a:lnTo>
                <a:lnTo>
                  <a:pt x="8991600" y="2670"/>
                </a:lnTo>
                <a:lnTo>
                  <a:pt x="9144000" y="5787"/>
                </a:lnTo>
                <a:lnTo>
                  <a:pt x="9296400" y="10076"/>
                </a:lnTo>
                <a:lnTo>
                  <a:pt x="9448800" y="15518"/>
                </a:lnTo>
                <a:lnTo>
                  <a:pt x="9601200" y="22086"/>
                </a:lnTo>
                <a:lnTo>
                  <a:pt x="9753600" y="29754"/>
                </a:lnTo>
                <a:lnTo>
                  <a:pt x="9906000" y="38485"/>
                </a:lnTo>
                <a:lnTo>
                  <a:pt x="10058400" y="48241"/>
                </a:lnTo>
                <a:lnTo>
                  <a:pt x="10210800" y="58977"/>
                </a:lnTo>
                <a:lnTo>
                  <a:pt x="10363200" y="70647"/>
                </a:lnTo>
                <a:lnTo>
                  <a:pt x="10515600" y="83196"/>
                </a:lnTo>
                <a:lnTo>
                  <a:pt x="10668000" y="96570"/>
                </a:lnTo>
                <a:lnTo>
                  <a:pt x="10820400" y="110707"/>
                </a:lnTo>
                <a:lnTo>
                  <a:pt x="10972800" y="125545"/>
                </a:lnTo>
                <a:lnTo>
                  <a:pt x="11125200" y="141016"/>
                </a:lnTo>
                <a:lnTo>
                  <a:pt x="11277600" y="157052"/>
                </a:lnTo>
                <a:lnTo>
                  <a:pt x="11430000" y="173580"/>
                </a:lnTo>
                <a:lnTo>
                  <a:pt x="11582400" y="190527"/>
                </a:lnTo>
                <a:lnTo>
                  <a:pt x="11734800" y="207815"/>
                </a:lnTo>
                <a:lnTo>
                  <a:pt x="11887200" y="225367"/>
                </a:lnTo>
                <a:lnTo>
                  <a:pt x="12039600" y="243105"/>
                </a:lnTo>
                <a:lnTo>
                  <a:pt x="12192000" y="260949"/>
                </a:lnTo>
                <a:lnTo>
                  <a:pt x="12192000" y="1266817"/>
                </a:lnTo>
                <a:close/>
              </a:path>
            </a:pathLst>
          </a:custGeom>
          <a:solidFill>
            <a:srgbClr val="C8E0F6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0" y="5905543"/>
            <a:ext cx="12192000" cy="952457"/>
          </a:xfrm>
          <a:custGeom>
            <a:avLst/>
            <a:gdLst/>
            <a:ahLst/>
            <a:cxnLst/>
            <a:rect l="l" t="t" r="r" b="b"/>
            <a:pathLst>
              <a:path w="12192000" h="952457">
                <a:moveTo>
                  <a:pt x="0" y="952457"/>
                </a:moveTo>
                <a:lnTo>
                  <a:pt x="0" y="288660"/>
                </a:lnTo>
                <a:lnTo>
                  <a:pt x="152400" y="275228"/>
                </a:lnTo>
                <a:lnTo>
                  <a:pt x="304800" y="261249"/>
                </a:lnTo>
                <a:lnTo>
                  <a:pt x="457200" y="246812"/>
                </a:lnTo>
                <a:lnTo>
                  <a:pt x="609600" y="232010"/>
                </a:lnTo>
                <a:lnTo>
                  <a:pt x="762000" y="216940"/>
                </a:lnTo>
                <a:lnTo>
                  <a:pt x="914400" y="201698"/>
                </a:lnTo>
                <a:lnTo>
                  <a:pt x="1066800" y="186384"/>
                </a:lnTo>
                <a:lnTo>
                  <a:pt x="1219200" y="171097"/>
                </a:lnTo>
                <a:lnTo>
                  <a:pt x="1371600" y="155934"/>
                </a:lnTo>
                <a:lnTo>
                  <a:pt x="1524000" y="140995"/>
                </a:lnTo>
                <a:lnTo>
                  <a:pt x="1676400" y="126375"/>
                </a:lnTo>
                <a:lnTo>
                  <a:pt x="1828800" y="112170"/>
                </a:lnTo>
                <a:lnTo>
                  <a:pt x="1981200" y="98470"/>
                </a:lnTo>
                <a:lnTo>
                  <a:pt x="2133600" y="85366"/>
                </a:lnTo>
                <a:lnTo>
                  <a:pt x="2286000" y="72940"/>
                </a:lnTo>
                <a:lnTo>
                  <a:pt x="2438400" y="61275"/>
                </a:lnTo>
                <a:lnTo>
                  <a:pt x="2590800" y="50444"/>
                </a:lnTo>
                <a:lnTo>
                  <a:pt x="2743200" y="40519"/>
                </a:lnTo>
                <a:lnTo>
                  <a:pt x="2895600" y="31563"/>
                </a:lnTo>
                <a:lnTo>
                  <a:pt x="3048000" y="23634"/>
                </a:lnTo>
                <a:lnTo>
                  <a:pt x="3200400" y="16784"/>
                </a:lnTo>
                <a:lnTo>
                  <a:pt x="3352800" y="11056"/>
                </a:lnTo>
                <a:lnTo>
                  <a:pt x="3505200" y="6489"/>
                </a:lnTo>
                <a:lnTo>
                  <a:pt x="3657600" y="3110"/>
                </a:lnTo>
                <a:lnTo>
                  <a:pt x="3810000" y="943"/>
                </a:lnTo>
                <a:lnTo>
                  <a:pt x="3962400" y="0"/>
                </a:lnTo>
                <a:lnTo>
                  <a:pt x="4114800" y="289"/>
                </a:lnTo>
                <a:lnTo>
                  <a:pt x="4267200" y="1808"/>
                </a:lnTo>
                <a:lnTo>
                  <a:pt x="4419600" y="4546"/>
                </a:lnTo>
                <a:lnTo>
                  <a:pt x="4572000" y="8485"/>
                </a:lnTo>
                <a:lnTo>
                  <a:pt x="4724400" y="13601"/>
                </a:lnTo>
                <a:lnTo>
                  <a:pt x="4876800" y="19861"/>
                </a:lnTo>
                <a:lnTo>
                  <a:pt x="5029200" y="27223"/>
                </a:lnTo>
                <a:lnTo>
                  <a:pt x="5181600" y="35641"/>
                </a:lnTo>
                <a:lnTo>
                  <a:pt x="5334000" y="45059"/>
                </a:lnTo>
                <a:lnTo>
                  <a:pt x="5486400" y="55417"/>
                </a:lnTo>
                <a:lnTo>
                  <a:pt x="5638800" y="66649"/>
                </a:lnTo>
                <a:lnTo>
                  <a:pt x="5791200" y="78680"/>
                </a:lnTo>
                <a:lnTo>
                  <a:pt x="5943600" y="91435"/>
                </a:lnTo>
                <a:lnTo>
                  <a:pt x="6096000" y="104829"/>
                </a:lnTo>
                <a:lnTo>
                  <a:pt x="6248400" y="118777"/>
                </a:lnTo>
                <a:lnTo>
                  <a:pt x="6400800" y="133188"/>
                </a:lnTo>
                <a:lnTo>
                  <a:pt x="6553200" y="147970"/>
                </a:lnTo>
                <a:lnTo>
                  <a:pt x="6705600" y="163026"/>
                </a:lnTo>
                <a:lnTo>
                  <a:pt x="6858000" y="178260"/>
                </a:lnTo>
                <a:lnTo>
                  <a:pt x="7010400" y="193572"/>
                </a:lnTo>
                <a:lnTo>
                  <a:pt x="7162800" y="208865"/>
                </a:lnTo>
                <a:lnTo>
                  <a:pt x="7315200" y="224038"/>
                </a:lnTo>
                <a:lnTo>
                  <a:pt x="7467600" y="238994"/>
                </a:lnTo>
                <a:lnTo>
                  <a:pt x="7620000" y="253637"/>
                </a:lnTo>
                <a:lnTo>
                  <a:pt x="7772400" y="267871"/>
                </a:lnTo>
                <a:lnTo>
                  <a:pt x="7924800" y="281604"/>
                </a:lnTo>
                <a:lnTo>
                  <a:pt x="8077200" y="294748"/>
                </a:lnTo>
                <a:lnTo>
                  <a:pt x="8229600" y="307218"/>
                </a:lnTo>
                <a:lnTo>
                  <a:pt x="8382000" y="318934"/>
                </a:lnTo>
                <a:lnTo>
                  <a:pt x="8534400" y="329818"/>
                </a:lnTo>
                <a:lnTo>
                  <a:pt x="8686800" y="339802"/>
                </a:lnTo>
                <a:lnTo>
                  <a:pt x="8839200" y="348821"/>
                </a:lnTo>
                <a:lnTo>
                  <a:pt x="8991600" y="356815"/>
                </a:lnTo>
                <a:lnTo>
                  <a:pt x="9144000" y="363734"/>
                </a:lnTo>
                <a:lnTo>
                  <a:pt x="9296400" y="369533"/>
                </a:lnTo>
                <a:lnTo>
                  <a:pt x="9448800" y="374174"/>
                </a:lnTo>
                <a:lnTo>
                  <a:pt x="9601200" y="377628"/>
                </a:lnTo>
                <a:lnTo>
                  <a:pt x="9753600" y="379872"/>
                </a:lnTo>
                <a:lnTo>
                  <a:pt x="9906000" y="380891"/>
                </a:lnTo>
                <a:lnTo>
                  <a:pt x="10058400" y="380679"/>
                </a:lnTo>
                <a:lnTo>
                  <a:pt x="10210800" y="379237"/>
                </a:lnTo>
                <a:lnTo>
                  <a:pt x="10363200" y="376575"/>
                </a:lnTo>
                <a:lnTo>
                  <a:pt x="10515600" y="372710"/>
                </a:lnTo>
                <a:lnTo>
                  <a:pt x="10668000" y="367666"/>
                </a:lnTo>
                <a:lnTo>
                  <a:pt x="10820400" y="361477"/>
                </a:lnTo>
                <a:lnTo>
                  <a:pt x="10972800" y="354182"/>
                </a:lnTo>
                <a:lnTo>
                  <a:pt x="11125200" y="345829"/>
                </a:lnTo>
                <a:lnTo>
                  <a:pt x="11277600" y="336472"/>
                </a:lnTo>
                <a:lnTo>
                  <a:pt x="11430000" y="326170"/>
                </a:lnTo>
                <a:lnTo>
                  <a:pt x="11582400" y="314991"/>
                </a:lnTo>
                <a:lnTo>
                  <a:pt x="11734800" y="303008"/>
                </a:lnTo>
                <a:lnTo>
                  <a:pt x="11887200" y="290296"/>
                </a:lnTo>
                <a:lnTo>
                  <a:pt x="12039600" y="276939"/>
                </a:lnTo>
                <a:lnTo>
                  <a:pt x="12192000" y="263023"/>
                </a:lnTo>
                <a:lnTo>
                  <a:pt x="12192000" y="952457"/>
                </a:lnTo>
                <a:close/>
              </a:path>
            </a:pathLst>
          </a:custGeom>
          <a:solidFill>
            <a:srgbClr val="A7CDF1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638925"/>
            <a:ext cx="12192000" cy="219075"/>
          </a:xfrm>
          <a:prstGeom prst="rect">
            <a:avLst/>
          </a:prstGeom>
          <a:solidFill>
            <a:srgbClr val="A9C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238875"/>
            <a:ext cx="12192000" cy="400050"/>
          </a:xfrm>
          <a:prstGeom prst="rect">
            <a:avLst/>
          </a:prstGeom>
          <a:gradFill rotWithShape="1">
            <a:gsLst>
              <a:gs pos="0">
                <a:srgbClr val="2C6BB2"/>
              </a:gs>
              <a:gs pos="100000">
                <a:srgbClr val="7FB5E4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MI Section Bar"/>
          <p:cNvSpPr txBox="1"/>
          <p:nvPr/>
        </p:nvSpPr>
        <p:spPr>
          <a:xfrm>
            <a:off x="285750" y="6238875"/>
            <a:ext cx="3810000" cy="400050"/>
          </a:xfrm>
          <a:prstGeom prst="rect">
            <a:avLst/>
          </a:prstGeom>
          <a:noFill/>
        </p:spPr>
        <p:txBody>
          <a:bodyPr wrap="none" anchor="ctr" lIns="0" tIns="0" bIns="0">
            <a:spAutoFit/>
          </a:bodyPr>
          <a:lstStyle/>
          <a:p>
            <a:r>
              <a:rPr sz="1500" b="1">
                <a:solidFill>
                  <a:srgbClr val="FFFFFF"/>
                </a:solidFill>
                <a:latin typeface="Calibri"/>
              </a:rPr>
              <a:t>Section 2.8</a:t>
            </a:r>
          </a:p>
        </p:txBody>
      </p:sp>
      <p:pic>
        <p:nvPicPr>
          <p:cNvPr id="8" name="Picture 7" descr="fmi_logo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74320"/>
            <a:ext cx="1307592" cy="13258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14400" y="2752725"/>
            <a:ext cx="8572500" cy="3048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800" b="0">
                <a:solidFill>
                  <a:srgbClr val="0E72AE"/>
                </a:solidFill>
                <a:latin typeface="Calibri"/>
              </a:rPr>
              <a:t>Packaged Muffins Market</a:t>
            </a:r>
          </a:p>
        </p:txBody>
      </p:sp>
      <p:sp>
        <p:nvSpPr>
          <p:cNvPr id="10" name="FMI Section Title"/>
          <p:cNvSpPr txBox="1"/>
          <p:nvPr/>
        </p:nvSpPr>
        <p:spPr>
          <a:xfrm>
            <a:off x="914400" y="3095625"/>
            <a:ext cx="8572500" cy="51435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r>
              <a:rPr sz="3000" b="1">
                <a:solidFill>
                  <a:srgbClr val="0B3C8C"/>
                </a:solidFill>
                <a:latin typeface="Calibri"/>
              </a:rPr>
              <a:t>Surface Finish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781425"/>
            <a:ext cx="8458200" cy="12763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Calibri"/>
              </a:rPr>
              <a:t>➤	</a:t>
            </a:r>
            <a:r>
              <a:rPr sz="2000" b="0">
                <a:solidFill>
                  <a:srgbClr val="000000"/>
                </a:solidFill>
                <a:latin typeface="Calibri"/>
              </a:rPr>
              <a:t>Segmental</a:t>
            </a:r>
          </a:p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Calibri"/>
              </a:rPr>
              <a:t>➤	</a:t>
            </a:r>
            <a:r>
              <a:rPr sz="2000" b="0">
                <a:solidFill>
                  <a:srgbClr val="000000"/>
                </a:solidFill>
                <a:latin typeface="Calibri"/>
              </a:rPr>
              <a:t>Table (Volume &amp; Value)</a:t>
            </a:r>
          </a:p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Calibri"/>
              </a:rPr>
              <a:t>➤	</a:t>
            </a:r>
            <a:r>
              <a:rPr sz="2000" b="0">
                <a:solidFill>
                  <a:srgbClr val="000000"/>
                </a:solidFill>
                <a:latin typeface="Calibri"/>
              </a:rPr>
              <a:t>YoY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58595B"/>
                </a:solidFill>
                <a:latin typeface="Calibri"/>
              </a:rPr>
              <a:t>©2026 Future Market Insights, All Rights Reserved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3825" y="914400"/>
            <a:ext cx="3943350" cy="28575"/>
          </a:xfrm>
          <a:prstGeom prst="rect">
            <a:avLst/>
          </a:prstGeom>
          <a:solidFill>
            <a:srgbClr val="0081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24325" y="914400"/>
            <a:ext cx="3943350" cy="28575"/>
          </a:xfrm>
          <a:prstGeom prst="rect">
            <a:avLst/>
          </a:prstGeom>
          <a:solidFill>
            <a:srgbClr val="9E7E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124825" y="914400"/>
            <a:ext cx="3943350" cy="28575"/>
          </a:xfrm>
          <a:prstGeom prst="rect">
            <a:avLst/>
          </a:prstGeom>
          <a:solidFill>
            <a:srgbClr val="403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mi_logo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25" y="-205740"/>
            <a:ext cx="1307592" cy="13258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543050" y="19050"/>
            <a:ext cx="8982075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U.S. Packaged Muffins Market Segmental Analysis Surface Finish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43050" y="647700"/>
            <a:ext cx="10506075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U.S. segmental analysis by Surface Finish: growth contribution, share variance and absolute $ opportunity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620375" y="228600"/>
            <a:ext cx="1428750" cy="419100"/>
          </a:xfrm>
          <a:prstGeom prst="roundRect">
            <a:avLst>
              <a:gd name="adj" fmla="val 22000"/>
            </a:avLst>
          </a:prstGeom>
          <a:solidFill>
            <a:srgbClr val="D9E6F2"/>
          </a:solidFill>
          <a:ln w="6350">
            <a:solidFill>
              <a:srgbClr val="69B1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100" b="1">
                <a:solidFill>
                  <a:srgbClr val="0B2E4A"/>
                </a:solidFill>
                <a:latin typeface="Calibri"/>
              </a:rPr>
              <a:t>U.S.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42875" y="981075"/>
            <a:ext cx="5876925" cy="2752725"/>
          </a:xfrm>
          <a:prstGeom prst="roundRect">
            <a:avLst>
              <a:gd name="adj" fmla="val 2768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38125" y="1038225"/>
            <a:ext cx="5686425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Growth Contribution 2026 → 2036, By Surface Finish (US$ Mn)</a:t>
            </a:r>
          </a:p>
        </p:txBody>
      </p:sp>
      <p:graphicFrame>
        <p:nvGraphicFramePr>
          <p:cNvPr id="13" name="Chart 12"/>
          <p:cNvGraphicFramePr>
            <a:graphicFrameLocks noGrp="1"/>
          </p:cNvGraphicFramePr>
          <p:nvPr/>
        </p:nvGraphicFramePr>
        <p:xfrm>
          <a:off x="238125" y="1266825"/>
          <a:ext cx="5686425" cy="2409825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4" name="Rounded Rectangle 13"/>
          <p:cNvSpPr/>
          <p:nvPr/>
        </p:nvSpPr>
        <p:spPr>
          <a:xfrm>
            <a:off x="6172200" y="981075"/>
            <a:ext cx="5876925" cy="2752725"/>
          </a:xfrm>
          <a:prstGeom prst="roundRect">
            <a:avLst>
              <a:gd name="adj" fmla="val 2768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67450" y="1038225"/>
            <a:ext cx="5686425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Value Shares &amp; Variance, By Surface Finish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6181725" y="1238250"/>
          <a:ext cx="5857874" cy="2286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93762"/>
                <a:gridCol w="1041028"/>
                <a:gridCol w="1041028"/>
                <a:gridCol w="1041028"/>
                <a:gridCol w="1041028"/>
              </a:tblGrid>
              <a:tr h="246126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Surface Finish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Share 2026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Share 2036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Variance (BPS)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F-CAGR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</a:tr>
              <a:tr h="339979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Untopped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339979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Crumb / streusel-topped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</a:tr>
              <a:tr h="339979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Sugar-topped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339979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Nut and seed-topped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</a:tr>
              <a:tr h="339979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Glazed / drizzled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339979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Other toppings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</a:tr>
            </a:tbl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6248400" y="3533775"/>
            <a:ext cx="5724525" cy="17145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100" b="0" i="1">
                <a:solidFill>
                  <a:srgbClr val="6C7A89"/>
                </a:solidFill>
                <a:latin typeface="Calibri"/>
              </a:rPr>
              <a:t>Source: FMI Analysis, 2026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42875" y="3867150"/>
            <a:ext cx="5876925" cy="2752725"/>
          </a:xfrm>
          <a:prstGeom prst="roundRect">
            <a:avLst>
              <a:gd name="adj" fmla="val 2768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38125" y="3924300"/>
            <a:ext cx="5686425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Absolute $ Opportunity, By Surface Finish (US$ Mn), between 2026–2036</a:t>
            </a:r>
          </a:p>
        </p:txBody>
      </p:sp>
      <p:graphicFrame>
        <p:nvGraphicFramePr>
          <p:cNvPr id="20" name="Chart 19"/>
          <p:cNvGraphicFramePr>
            <a:graphicFrameLocks noGrp="1"/>
          </p:cNvGraphicFramePr>
          <p:nvPr/>
        </p:nvGraphicFramePr>
        <p:xfrm>
          <a:off x="238125" y="4152900"/>
          <a:ext cx="5686425" cy="2409825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21" name="Rounded Rectangle 20"/>
          <p:cNvSpPr/>
          <p:nvPr/>
        </p:nvSpPr>
        <p:spPr>
          <a:xfrm>
            <a:off x="6172200" y="3867150"/>
            <a:ext cx="5876925" cy="2752725"/>
          </a:xfrm>
          <a:prstGeom prst="roundRect">
            <a:avLst>
              <a:gd name="adj" fmla="val 2768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67450" y="3924300"/>
            <a:ext cx="5686425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Volume Shares &amp; Variance, By Surface Finish</a:t>
            </a:r>
          </a:p>
        </p:txBody>
      </p:sp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6181725" y="4124325"/>
          <a:ext cx="5857874" cy="2286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93762"/>
                <a:gridCol w="1041028"/>
                <a:gridCol w="1041028"/>
                <a:gridCol w="1041028"/>
                <a:gridCol w="1041028"/>
              </a:tblGrid>
              <a:tr h="246126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Surface Finish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Share 2026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Share 2036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Variance (BPS)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F-CAGR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</a:tr>
              <a:tr h="339979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Untopped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339979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Crumb / streusel-topped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</a:tr>
              <a:tr h="339979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Sugar-topped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339979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Nut and seed-topped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</a:tr>
              <a:tr h="339979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Glazed / drizzled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339979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Other toppings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</a:tr>
            </a:tbl>
          </a:graphicData>
        </a:graphic>
      </p:graphicFrame>
      <p:sp>
        <p:nvSpPr>
          <p:cNvPr id="24" name="TextBox 23"/>
          <p:cNvSpPr txBox="1"/>
          <p:nvPr/>
        </p:nvSpPr>
        <p:spPr>
          <a:xfrm>
            <a:off x="6248400" y="6419850"/>
            <a:ext cx="5724525" cy="17145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100" b="0" i="1">
                <a:solidFill>
                  <a:srgbClr val="6C7A89"/>
                </a:solidFill>
                <a:latin typeface="Calibri"/>
              </a:rPr>
              <a:t>Source: FMI Analysis, 2026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58595B"/>
                </a:solidFill>
                <a:latin typeface="Calibri"/>
              </a:rPr>
              <a:t>©2026 Future Market Insights, All Rights Reserved</a:t>
            </a:r>
          </a:p>
        </p:txBody>
      </p:sp>
      <p:pic>
        <p:nvPicPr>
          <p:cNvPr id="26" name="Picture 25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94826" y="2237234"/>
            <a:ext cx="263506" cy="383281"/>
          </a:xfrm>
          <a:prstGeom prst="rect">
            <a:avLst/>
          </a:prstGeom>
        </p:spPr>
      </p:pic>
      <p:pic>
        <p:nvPicPr>
          <p:cNvPr id="27" name="Picture 26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70853" y="2237613"/>
            <a:ext cx="366712" cy="533400"/>
          </a:xfrm>
          <a:prstGeom prst="rect">
            <a:avLst/>
          </a:prstGeom>
        </p:spPr>
      </p:pic>
      <p:pic>
        <p:nvPicPr>
          <p:cNvPr id="28" name="Picture 27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94826" y="5123309"/>
            <a:ext cx="263506" cy="383281"/>
          </a:xfrm>
          <a:prstGeom prst="rect">
            <a:avLst/>
          </a:prstGeom>
        </p:spPr>
      </p:pic>
      <p:pic>
        <p:nvPicPr>
          <p:cNvPr id="29" name="Picture 28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70853" y="5123688"/>
            <a:ext cx="366712" cy="533400"/>
          </a:xfrm>
          <a:prstGeom prst="rect">
            <a:avLst/>
          </a:prstGeom>
        </p:spPr>
      </p:pic>
      <p:sp>
        <p:nvSpPr>
          <p:cNvPr id="30" name="lockshield_13"/>
          <p:cNvSpPr/>
          <p:nvPr/>
        </p:nvSpPr>
        <p:spPr>
          <a:xfrm>
            <a:off x="238125" y="1266825"/>
            <a:ext cx="5686425" cy="2409825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lockshield_20"/>
          <p:cNvSpPr/>
          <p:nvPr/>
        </p:nvSpPr>
        <p:spPr>
          <a:xfrm>
            <a:off x="238125" y="4152900"/>
            <a:ext cx="5686425" cy="2409825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3825" y="914400"/>
            <a:ext cx="3943350" cy="28575"/>
          </a:xfrm>
          <a:prstGeom prst="rect">
            <a:avLst/>
          </a:prstGeom>
          <a:solidFill>
            <a:srgbClr val="0081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24325" y="914400"/>
            <a:ext cx="3943350" cy="28575"/>
          </a:xfrm>
          <a:prstGeom prst="rect">
            <a:avLst/>
          </a:prstGeom>
          <a:solidFill>
            <a:srgbClr val="9E7E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124825" y="914400"/>
            <a:ext cx="3943350" cy="28575"/>
          </a:xfrm>
          <a:prstGeom prst="rect">
            <a:avLst/>
          </a:prstGeom>
          <a:solidFill>
            <a:srgbClr val="403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mi_logo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25" y="-205740"/>
            <a:ext cx="1307592" cy="13258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543050" y="19050"/>
            <a:ext cx="8982075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U.S. Packaged Muffins Market Tables Surface Finish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43050" y="647700"/>
            <a:ext cx="10506075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Year-by-year volume and value of the U.S. market by Surface Finish, 2021–2036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620375" y="228600"/>
            <a:ext cx="1428750" cy="419100"/>
          </a:xfrm>
          <a:prstGeom prst="roundRect">
            <a:avLst>
              <a:gd name="adj" fmla="val 22000"/>
            </a:avLst>
          </a:prstGeom>
          <a:solidFill>
            <a:srgbClr val="D9E6F2"/>
          </a:solidFill>
          <a:ln w="6350">
            <a:solidFill>
              <a:srgbClr val="69B1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100" b="1">
                <a:solidFill>
                  <a:srgbClr val="0B2E4A"/>
                </a:solidFill>
                <a:latin typeface="Calibri"/>
              </a:rPr>
              <a:t>U.S.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42875" y="981075"/>
            <a:ext cx="11906250" cy="243840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38125" y="1038225"/>
            <a:ext cx="1171575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U.S. Volume, By Surface Finish (MT)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152400" y="1238250"/>
          <a:ext cx="11887197" cy="197167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44255"/>
                <a:gridCol w="602526"/>
                <a:gridCol w="602526"/>
                <a:gridCol w="602526"/>
                <a:gridCol w="602526"/>
                <a:gridCol w="602526"/>
                <a:gridCol w="602526"/>
                <a:gridCol w="602526"/>
                <a:gridCol w="602526"/>
                <a:gridCol w="602526"/>
                <a:gridCol w="602526"/>
                <a:gridCol w="602526"/>
                <a:gridCol w="602526"/>
                <a:gridCol w="602526"/>
                <a:gridCol w="602526"/>
                <a:gridCol w="602526"/>
                <a:gridCol w="602526"/>
                <a:gridCol w="602526"/>
              </a:tblGrid>
              <a:tr h="246126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Surface Finish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2021A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2022A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2023A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2024A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2025A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2026E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2027F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2028F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2029F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2030F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2031F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2032F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2033F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2034F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2035F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2036F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F-CAGR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</a:tr>
              <a:tr h="246507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Untopped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246507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Crumb / streusel-topped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</a:tr>
              <a:tr h="246507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Sugar-topped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246507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Nut and seed-topped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</a:tr>
              <a:tr h="246507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Glazed / drizzled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246507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Other toppings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</a:tr>
              <a:tr h="246507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Total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219075" y="3219450"/>
            <a:ext cx="11753850" cy="17145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100" b="0" i="1">
                <a:solidFill>
                  <a:srgbClr val="6C7A89"/>
                </a:solidFill>
                <a:latin typeface="Calibri"/>
              </a:rPr>
              <a:t>Source: FMI Analysis, 2026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42875" y="3552825"/>
            <a:ext cx="11906250" cy="243840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38125" y="3609975"/>
            <a:ext cx="1171575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U.S. Value, By Surface Finish (US$ Mn)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152400" y="3810000"/>
          <a:ext cx="11887204" cy="197167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19130"/>
                <a:gridCol w="598122"/>
                <a:gridCol w="598122"/>
                <a:gridCol w="598122"/>
                <a:gridCol w="598122"/>
                <a:gridCol w="598122"/>
                <a:gridCol w="598122"/>
                <a:gridCol w="598122"/>
                <a:gridCol w="598122"/>
                <a:gridCol w="598122"/>
                <a:gridCol w="598122"/>
                <a:gridCol w="598122"/>
                <a:gridCol w="598122"/>
                <a:gridCol w="598122"/>
                <a:gridCol w="598122"/>
                <a:gridCol w="598122"/>
                <a:gridCol w="598122"/>
                <a:gridCol w="598122"/>
              </a:tblGrid>
              <a:tr h="246126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Surface Finish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2021A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2022A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2023A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2024A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2025A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2026E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2027F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2028F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2029F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2030F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2031F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2032F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2033F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2034F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2035F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2036F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F-CAGR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</a:tr>
              <a:tr h="246507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Untopped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246507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Crumb / streusel-topped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</a:tr>
              <a:tr h="246507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Sugar-topped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246507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Nut and seed-topped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</a:tr>
              <a:tr h="246507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Glazed / drizzled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246507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Other toppings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</a:tr>
              <a:tr h="246507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Total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219075" y="5791200"/>
            <a:ext cx="11753850" cy="17145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100" b="0" i="1">
                <a:solidFill>
                  <a:srgbClr val="6C7A89"/>
                </a:solidFill>
                <a:latin typeface="Calibri"/>
              </a:rPr>
              <a:t>Source: FMI Analysis, 2026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58595B"/>
                </a:solidFill>
                <a:latin typeface="Calibri"/>
              </a:rPr>
              <a:t>©2026 Future Market Insights, All Rights Reserved</a:t>
            </a:r>
          </a:p>
        </p:txBody>
      </p:sp>
      <p:pic>
        <p:nvPicPr>
          <p:cNvPr id="20" name="Picture 19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1436" y="2080450"/>
            <a:ext cx="366712" cy="533400"/>
          </a:xfrm>
          <a:prstGeom prst="rect">
            <a:avLst/>
          </a:prstGeom>
        </p:spPr>
      </p:pic>
      <p:pic>
        <p:nvPicPr>
          <p:cNvPr id="21" name="Picture 20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8877" y="4652200"/>
            <a:ext cx="366712" cy="533399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3825" y="914400"/>
            <a:ext cx="3943350" cy="28575"/>
          </a:xfrm>
          <a:prstGeom prst="rect">
            <a:avLst/>
          </a:prstGeom>
          <a:solidFill>
            <a:srgbClr val="0081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24325" y="914400"/>
            <a:ext cx="3943350" cy="28575"/>
          </a:xfrm>
          <a:prstGeom prst="rect">
            <a:avLst/>
          </a:prstGeom>
          <a:solidFill>
            <a:srgbClr val="9E7E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124825" y="914400"/>
            <a:ext cx="3943350" cy="28575"/>
          </a:xfrm>
          <a:prstGeom prst="rect">
            <a:avLst/>
          </a:prstGeom>
          <a:solidFill>
            <a:srgbClr val="403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mi_logo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25" y="-205740"/>
            <a:ext cx="1307592" cy="13258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543050" y="19050"/>
            <a:ext cx="8982075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U.S. YoY Analysis Surface Finish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43050" y="647700"/>
            <a:ext cx="10506075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U.S. year-on-year volume and value growth by Surface Finish, highlighting acceleration and slowdown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620375" y="228600"/>
            <a:ext cx="1428750" cy="419100"/>
          </a:xfrm>
          <a:prstGeom prst="roundRect">
            <a:avLst>
              <a:gd name="adj" fmla="val 22000"/>
            </a:avLst>
          </a:prstGeom>
          <a:solidFill>
            <a:srgbClr val="D9E6F2"/>
          </a:solidFill>
          <a:ln w="6350">
            <a:solidFill>
              <a:srgbClr val="69B1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100" b="1">
                <a:solidFill>
                  <a:srgbClr val="0B2E4A"/>
                </a:solidFill>
                <a:latin typeface="Calibri"/>
              </a:rPr>
              <a:t>U.S.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42875" y="981075"/>
            <a:ext cx="11906250" cy="219075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38125" y="1038225"/>
            <a:ext cx="1171575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U.S. Volume YoY, By Surface Finish (%)  ·  </a:t>
            </a:r>
            <a:r>
              <a:rPr sz="1200" b="1">
                <a:solidFill>
                  <a:srgbClr val="2E7D32"/>
                </a:solidFill>
                <a:latin typeface="Calibri"/>
              </a:rPr>
              <a:t>▲ outpacing market  </a:t>
            </a:r>
            <a:r>
              <a:rPr sz="1200" b="1">
                <a:solidFill>
                  <a:srgbClr val="A86F00"/>
                </a:solidFill>
                <a:latin typeface="Calibri"/>
              </a:rPr>
              <a:t>▶ below market pace  </a:t>
            </a:r>
            <a:r>
              <a:rPr sz="1200" b="1">
                <a:solidFill>
                  <a:srgbClr val="E44D3A"/>
                </a:solidFill>
                <a:latin typeface="Calibri"/>
              </a:rPr>
              <a:t>▼ decline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152400" y="1238250"/>
          <a:ext cx="11887207" cy="172402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62417"/>
                <a:gridCol w="674986"/>
                <a:gridCol w="674986"/>
                <a:gridCol w="674986"/>
                <a:gridCol w="674986"/>
                <a:gridCol w="674986"/>
                <a:gridCol w="674986"/>
                <a:gridCol w="674986"/>
                <a:gridCol w="674986"/>
                <a:gridCol w="674986"/>
                <a:gridCol w="674986"/>
                <a:gridCol w="674986"/>
                <a:gridCol w="674986"/>
                <a:gridCol w="674986"/>
                <a:gridCol w="674986"/>
                <a:gridCol w="674986"/>
              </a:tblGrid>
              <a:tr h="246126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Surface Finish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2022A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2023A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2024A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2025A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2026E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2027F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2028F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2029F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2030F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2031F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2032F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2033F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2034F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2035F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2036F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</a:tr>
              <a:tr h="246317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Untopped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246317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Crumb / streusel-topped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</a:tr>
              <a:tr h="246317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Sugar-topped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246317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Nut and seed-topped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</a:tr>
              <a:tr h="246317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Glazed / drizzled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246317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Other toppings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219075" y="2971800"/>
            <a:ext cx="11753850" cy="17145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100" b="0" i="1">
                <a:solidFill>
                  <a:srgbClr val="6C7A89"/>
                </a:solidFill>
                <a:latin typeface="Calibri"/>
              </a:rPr>
              <a:t>Source: FMI Analysis, 2026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42875" y="3305175"/>
            <a:ext cx="11906250" cy="219075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38125" y="3362325"/>
            <a:ext cx="1171575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U.S. Value YoY, By Surface Finish (%)  ·  </a:t>
            </a:r>
            <a:r>
              <a:rPr sz="1200" b="1">
                <a:solidFill>
                  <a:srgbClr val="2E7D32"/>
                </a:solidFill>
                <a:latin typeface="Calibri"/>
              </a:rPr>
              <a:t>▲ outpacing market  </a:t>
            </a:r>
            <a:r>
              <a:rPr sz="1200" b="1">
                <a:solidFill>
                  <a:srgbClr val="A86F00"/>
                </a:solidFill>
                <a:latin typeface="Calibri"/>
              </a:rPr>
              <a:t>▶ below market pace  </a:t>
            </a:r>
            <a:r>
              <a:rPr sz="1200" b="1">
                <a:solidFill>
                  <a:srgbClr val="E44D3A"/>
                </a:solidFill>
                <a:latin typeface="Calibri"/>
              </a:rPr>
              <a:t>▼ decline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152400" y="3562350"/>
          <a:ext cx="11887193" cy="172402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78323"/>
                <a:gridCol w="667258"/>
                <a:gridCol w="667258"/>
                <a:gridCol w="667258"/>
                <a:gridCol w="667258"/>
                <a:gridCol w="667258"/>
                <a:gridCol w="667258"/>
                <a:gridCol w="667258"/>
                <a:gridCol w="667258"/>
                <a:gridCol w="667258"/>
                <a:gridCol w="667258"/>
                <a:gridCol w="667258"/>
                <a:gridCol w="667258"/>
                <a:gridCol w="667258"/>
                <a:gridCol w="667258"/>
                <a:gridCol w="667258"/>
              </a:tblGrid>
              <a:tr h="246126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Surface Finish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2022A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2023A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2024A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2025A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2026E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2027F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2028F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2029F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2030F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2031F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2032F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2033F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2034F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2035F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2036F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</a:tr>
              <a:tr h="246317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Untopped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246317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Crumb / streusel-topped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</a:tr>
              <a:tr h="246317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Sugar-topped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246317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Nut and seed-topped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</a:tr>
              <a:tr h="246317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Glazed / drizzled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246317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Other toppings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219075" y="5295900"/>
            <a:ext cx="11753850" cy="17145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100" b="0" i="1">
                <a:solidFill>
                  <a:srgbClr val="6C7A89"/>
                </a:solidFill>
                <a:latin typeface="Calibri"/>
              </a:rPr>
              <a:t>Source: FMI Analysis, 2026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58595B"/>
                </a:solidFill>
                <a:latin typeface="Calibri"/>
              </a:rPr>
              <a:t>©2026 Future Market Insights, All Rights Reserved</a:t>
            </a:r>
          </a:p>
        </p:txBody>
      </p:sp>
      <p:pic>
        <p:nvPicPr>
          <p:cNvPr id="20" name="Picture 19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90522" y="1956627"/>
            <a:ext cx="366712" cy="533400"/>
          </a:xfrm>
          <a:prstGeom prst="rect">
            <a:avLst/>
          </a:prstGeom>
        </p:spPr>
      </p:pic>
      <p:pic>
        <p:nvPicPr>
          <p:cNvPr id="21" name="Picture 20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48467" y="4280727"/>
            <a:ext cx="366712" cy="533400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8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F1F8FE"/>
              </a:gs>
              <a:gs pos="100000">
                <a:srgbClr val="DAEAF9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0" y="5591183"/>
            <a:ext cx="12192000" cy="1266817"/>
          </a:xfrm>
          <a:custGeom>
            <a:avLst/>
            <a:gdLst/>
            <a:ahLst/>
            <a:cxnLst/>
            <a:rect l="l" t="t" r="r" b="b"/>
            <a:pathLst>
              <a:path w="12192000" h="1266817">
                <a:moveTo>
                  <a:pt x="0" y="1266817"/>
                </a:moveTo>
                <a:lnTo>
                  <a:pt x="0" y="475605"/>
                </a:lnTo>
                <a:lnTo>
                  <a:pt x="152400" y="486239"/>
                </a:lnTo>
                <a:lnTo>
                  <a:pt x="304800" y="495887"/>
                </a:lnTo>
                <a:lnTo>
                  <a:pt x="457200" y="504505"/>
                </a:lnTo>
                <a:lnTo>
                  <a:pt x="609600" y="512056"/>
                </a:lnTo>
                <a:lnTo>
                  <a:pt x="762000" y="518505"/>
                </a:lnTo>
                <a:lnTo>
                  <a:pt x="914400" y="523824"/>
                </a:lnTo>
                <a:lnTo>
                  <a:pt x="1066800" y="527988"/>
                </a:lnTo>
                <a:lnTo>
                  <a:pt x="1219200" y="530979"/>
                </a:lnTo>
                <a:lnTo>
                  <a:pt x="1371600" y="532783"/>
                </a:lnTo>
                <a:lnTo>
                  <a:pt x="1524000" y="533392"/>
                </a:lnTo>
                <a:lnTo>
                  <a:pt x="1676400" y="532804"/>
                </a:lnTo>
                <a:lnTo>
                  <a:pt x="1828800" y="531021"/>
                </a:lnTo>
                <a:lnTo>
                  <a:pt x="1981200" y="528051"/>
                </a:lnTo>
                <a:lnTo>
                  <a:pt x="2133600" y="523907"/>
                </a:lnTo>
                <a:lnTo>
                  <a:pt x="2286000" y="518609"/>
                </a:lnTo>
                <a:lnTo>
                  <a:pt x="2438400" y="512179"/>
                </a:lnTo>
                <a:lnTo>
                  <a:pt x="2590800" y="504648"/>
                </a:lnTo>
                <a:lnTo>
                  <a:pt x="2743200" y="496047"/>
                </a:lnTo>
                <a:lnTo>
                  <a:pt x="2895600" y="486417"/>
                </a:lnTo>
                <a:lnTo>
                  <a:pt x="3048000" y="475801"/>
                </a:lnTo>
                <a:lnTo>
                  <a:pt x="3200400" y="464245"/>
                </a:lnTo>
                <a:lnTo>
                  <a:pt x="3352800" y="451803"/>
                </a:lnTo>
                <a:lnTo>
                  <a:pt x="3505200" y="438529"/>
                </a:lnTo>
                <a:lnTo>
                  <a:pt x="3657600" y="424484"/>
                </a:lnTo>
                <a:lnTo>
                  <a:pt x="3810000" y="409730"/>
                </a:lnTo>
                <a:lnTo>
                  <a:pt x="3962400" y="394334"/>
                </a:lnTo>
                <a:lnTo>
                  <a:pt x="4114800" y="378365"/>
                </a:lnTo>
                <a:lnTo>
                  <a:pt x="4267200" y="361894"/>
                </a:lnTo>
                <a:lnTo>
                  <a:pt x="4419600" y="344996"/>
                </a:lnTo>
                <a:lnTo>
                  <a:pt x="4572000" y="327746"/>
                </a:lnTo>
                <a:lnTo>
                  <a:pt x="4724400" y="310223"/>
                </a:lnTo>
                <a:lnTo>
                  <a:pt x="4876800" y="292503"/>
                </a:lnTo>
                <a:lnTo>
                  <a:pt x="5029200" y="274668"/>
                </a:lnTo>
                <a:lnTo>
                  <a:pt x="5181600" y="256797"/>
                </a:lnTo>
                <a:lnTo>
                  <a:pt x="5334000" y="238971"/>
                </a:lnTo>
                <a:lnTo>
                  <a:pt x="5486400" y="221269"/>
                </a:lnTo>
                <a:lnTo>
                  <a:pt x="5638800" y="203771"/>
                </a:lnTo>
                <a:lnTo>
                  <a:pt x="5791200" y="186555"/>
                </a:lnTo>
                <a:lnTo>
                  <a:pt x="5943600" y="169699"/>
                </a:lnTo>
                <a:lnTo>
                  <a:pt x="6096000" y="153279"/>
                </a:lnTo>
                <a:lnTo>
                  <a:pt x="6248400" y="137368"/>
                </a:lnTo>
                <a:lnTo>
                  <a:pt x="6400800" y="122038"/>
                </a:lnTo>
                <a:lnTo>
                  <a:pt x="6553200" y="107357"/>
                </a:lnTo>
                <a:lnTo>
                  <a:pt x="6705600" y="93391"/>
                </a:lnTo>
                <a:lnTo>
                  <a:pt x="6858000" y="80204"/>
                </a:lnTo>
                <a:lnTo>
                  <a:pt x="7010400" y="67854"/>
                </a:lnTo>
                <a:lnTo>
                  <a:pt x="7162800" y="56397"/>
                </a:lnTo>
                <a:lnTo>
                  <a:pt x="7315200" y="45884"/>
                </a:lnTo>
                <a:lnTo>
                  <a:pt x="7467600" y="36363"/>
                </a:lnTo>
                <a:lnTo>
                  <a:pt x="7620000" y="27876"/>
                </a:lnTo>
                <a:lnTo>
                  <a:pt x="7772400" y="20461"/>
                </a:lnTo>
                <a:lnTo>
                  <a:pt x="7924800" y="14151"/>
                </a:lnTo>
                <a:lnTo>
                  <a:pt x="8077200" y="8976"/>
                </a:lnTo>
                <a:lnTo>
                  <a:pt x="8229600" y="4958"/>
                </a:lnTo>
                <a:lnTo>
                  <a:pt x="8382000" y="2115"/>
                </a:lnTo>
                <a:lnTo>
                  <a:pt x="8534400" y="460"/>
                </a:lnTo>
                <a:lnTo>
                  <a:pt x="8686800" y="0"/>
                </a:lnTo>
                <a:lnTo>
                  <a:pt x="8839200" y="738"/>
                </a:lnTo>
                <a:lnTo>
                  <a:pt x="8991600" y="2670"/>
                </a:lnTo>
                <a:lnTo>
                  <a:pt x="9144000" y="5787"/>
                </a:lnTo>
                <a:lnTo>
                  <a:pt x="9296400" y="10076"/>
                </a:lnTo>
                <a:lnTo>
                  <a:pt x="9448800" y="15518"/>
                </a:lnTo>
                <a:lnTo>
                  <a:pt x="9601200" y="22086"/>
                </a:lnTo>
                <a:lnTo>
                  <a:pt x="9753600" y="29754"/>
                </a:lnTo>
                <a:lnTo>
                  <a:pt x="9906000" y="38485"/>
                </a:lnTo>
                <a:lnTo>
                  <a:pt x="10058400" y="48241"/>
                </a:lnTo>
                <a:lnTo>
                  <a:pt x="10210800" y="58977"/>
                </a:lnTo>
                <a:lnTo>
                  <a:pt x="10363200" y="70647"/>
                </a:lnTo>
                <a:lnTo>
                  <a:pt x="10515600" y="83196"/>
                </a:lnTo>
                <a:lnTo>
                  <a:pt x="10668000" y="96570"/>
                </a:lnTo>
                <a:lnTo>
                  <a:pt x="10820400" y="110707"/>
                </a:lnTo>
                <a:lnTo>
                  <a:pt x="10972800" y="125545"/>
                </a:lnTo>
                <a:lnTo>
                  <a:pt x="11125200" y="141016"/>
                </a:lnTo>
                <a:lnTo>
                  <a:pt x="11277600" y="157052"/>
                </a:lnTo>
                <a:lnTo>
                  <a:pt x="11430000" y="173580"/>
                </a:lnTo>
                <a:lnTo>
                  <a:pt x="11582400" y="190527"/>
                </a:lnTo>
                <a:lnTo>
                  <a:pt x="11734800" y="207815"/>
                </a:lnTo>
                <a:lnTo>
                  <a:pt x="11887200" y="225367"/>
                </a:lnTo>
                <a:lnTo>
                  <a:pt x="12039600" y="243105"/>
                </a:lnTo>
                <a:lnTo>
                  <a:pt x="12192000" y="260949"/>
                </a:lnTo>
                <a:lnTo>
                  <a:pt x="12192000" y="1266817"/>
                </a:lnTo>
                <a:close/>
              </a:path>
            </a:pathLst>
          </a:custGeom>
          <a:solidFill>
            <a:srgbClr val="C8E0F6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0" y="5905543"/>
            <a:ext cx="12192000" cy="952457"/>
          </a:xfrm>
          <a:custGeom>
            <a:avLst/>
            <a:gdLst/>
            <a:ahLst/>
            <a:cxnLst/>
            <a:rect l="l" t="t" r="r" b="b"/>
            <a:pathLst>
              <a:path w="12192000" h="952457">
                <a:moveTo>
                  <a:pt x="0" y="952457"/>
                </a:moveTo>
                <a:lnTo>
                  <a:pt x="0" y="288660"/>
                </a:lnTo>
                <a:lnTo>
                  <a:pt x="152400" y="275228"/>
                </a:lnTo>
                <a:lnTo>
                  <a:pt x="304800" y="261249"/>
                </a:lnTo>
                <a:lnTo>
                  <a:pt x="457200" y="246812"/>
                </a:lnTo>
                <a:lnTo>
                  <a:pt x="609600" y="232010"/>
                </a:lnTo>
                <a:lnTo>
                  <a:pt x="762000" y="216940"/>
                </a:lnTo>
                <a:lnTo>
                  <a:pt x="914400" y="201698"/>
                </a:lnTo>
                <a:lnTo>
                  <a:pt x="1066800" y="186384"/>
                </a:lnTo>
                <a:lnTo>
                  <a:pt x="1219200" y="171097"/>
                </a:lnTo>
                <a:lnTo>
                  <a:pt x="1371600" y="155934"/>
                </a:lnTo>
                <a:lnTo>
                  <a:pt x="1524000" y="140995"/>
                </a:lnTo>
                <a:lnTo>
                  <a:pt x="1676400" y="126375"/>
                </a:lnTo>
                <a:lnTo>
                  <a:pt x="1828800" y="112170"/>
                </a:lnTo>
                <a:lnTo>
                  <a:pt x="1981200" y="98470"/>
                </a:lnTo>
                <a:lnTo>
                  <a:pt x="2133600" y="85366"/>
                </a:lnTo>
                <a:lnTo>
                  <a:pt x="2286000" y="72940"/>
                </a:lnTo>
                <a:lnTo>
                  <a:pt x="2438400" y="61275"/>
                </a:lnTo>
                <a:lnTo>
                  <a:pt x="2590800" y="50444"/>
                </a:lnTo>
                <a:lnTo>
                  <a:pt x="2743200" y="40519"/>
                </a:lnTo>
                <a:lnTo>
                  <a:pt x="2895600" y="31563"/>
                </a:lnTo>
                <a:lnTo>
                  <a:pt x="3048000" y="23634"/>
                </a:lnTo>
                <a:lnTo>
                  <a:pt x="3200400" y="16784"/>
                </a:lnTo>
                <a:lnTo>
                  <a:pt x="3352800" y="11056"/>
                </a:lnTo>
                <a:lnTo>
                  <a:pt x="3505200" y="6489"/>
                </a:lnTo>
                <a:lnTo>
                  <a:pt x="3657600" y="3110"/>
                </a:lnTo>
                <a:lnTo>
                  <a:pt x="3810000" y="943"/>
                </a:lnTo>
                <a:lnTo>
                  <a:pt x="3962400" y="0"/>
                </a:lnTo>
                <a:lnTo>
                  <a:pt x="4114800" y="289"/>
                </a:lnTo>
                <a:lnTo>
                  <a:pt x="4267200" y="1808"/>
                </a:lnTo>
                <a:lnTo>
                  <a:pt x="4419600" y="4546"/>
                </a:lnTo>
                <a:lnTo>
                  <a:pt x="4572000" y="8485"/>
                </a:lnTo>
                <a:lnTo>
                  <a:pt x="4724400" y="13601"/>
                </a:lnTo>
                <a:lnTo>
                  <a:pt x="4876800" y="19861"/>
                </a:lnTo>
                <a:lnTo>
                  <a:pt x="5029200" y="27223"/>
                </a:lnTo>
                <a:lnTo>
                  <a:pt x="5181600" y="35641"/>
                </a:lnTo>
                <a:lnTo>
                  <a:pt x="5334000" y="45059"/>
                </a:lnTo>
                <a:lnTo>
                  <a:pt x="5486400" y="55417"/>
                </a:lnTo>
                <a:lnTo>
                  <a:pt x="5638800" y="66649"/>
                </a:lnTo>
                <a:lnTo>
                  <a:pt x="5791200" y="78680"/>
                </a:lnTo>
                <a:lnTo>
                  <a:pt x="5943600" y="91435"/>
                </a:lnTo>
                <a:lnTo>
                  <a:pt x="6096000" y="104829"/>
                </a:lnTo>
                <a:lnTo>
                  <a:pt x="6248400" y="118777"/>
                </a:lnTo>
                <a:lnTo>
                  <a:pt x="6400800" y="133188"/>
                </a:lnTo>
                <a:lnTo>
                  <a:pt x="6553200" y="147970"/>
                </a:lnTo>
                <a:lnTo>
                  <a:pt x="6705600" y="163026"/>
                </a:lnTo>
                <a:lnTo>
                  <a:pt x="6858000" y="178260"/>
                </a:lnTo>
                <a:lnTo>
                  <a:pt x="7010400" y="193572"/>
                </a:lnTo>
                <a:lnTo>
                  <a:pt x="7162800" y="208865"/>
                </a:lnTo>
                <a:lnTo>
                  <a:pt x="7315200" y="224038"/>
                </a:lnTo>
                <a:lnTo>
                  <a:pt x="7467600" y="238994"/>
                </a:lnTo>
                <a:lnTo>
                  <a:pt x="7620000" y="253637"/>
                </a:lnTo>
                <a:lnTo>
                  <a:pt x="7772400" y="267871"/>
                </a:lnTo>
                <a:lnTo>
                  <a:pt x="7924800" y="281604"/>
                </a:lnTo>
                <a:lnTo>
                  <a:pt x="8077200" y="294748"/>
                </a:lnTo>
                <a:lnTo>
                  <a:pt x="8229600" y="307218"/>
                </a:lnTo>
                <a:lnTo>
                  <a:pt x="8382000" y="318934"/>
                </a:lnTo>
                <a:lnTo>
                  <a:pt x="8534400" y="329818"/>
                </a:lnTo>
                <a:lnTo>
                  <a:pt x="8686800" y="339802"/>
                </a:lnTo>
                <a:lnTo>
                  <a:pt x="8839200" y="348821"/>
                </a:lnTo>
                <a:lnTo>
                  <a:pt x="8991600" y="356815"/>
                </a:lnTo>
                <a:lnTo>
                  <a:pt x="9144000" y="363734"/>
                </a:lnTo>
                <a:lnTo>
                  <a:pt x="9296400" y="369533"/>
                </a:lnTo>
                <a:lnTo>
                  <a:pt x="9448800" y="374174"/>
                </a:lnTo>
                <a:lnTo>
                  <a:pt x="9601200" y="377628"/>
                </a:lnTo>
                <a:lnTo>
                  <a:pt x="9753600" y="379872"/>
                </a:lnTo>
                <a:lnTo>
                  <a:pt x="9906000" y="380891"/>
                </a:lnTo>
                <a:lnTo>
                  <a:pt x="10058400" y="380679"/>
                </a:lnTo>
                <a:lnTo>
                  <a:pt x="10210800" y="379237"/>
                </a:lnTo>
                <a:lnTo>
                  <a:pt x="10363200" y="376575"/>
                </a:lnTo>
                <a:lnTo>
                  <a:pt x="10515600" y="372710"/>
                </a:lnTo>
                <a:lnTo>
                  <a:pt x="10668000" y="367666"/>
                </a:lnTo>
                <a:lnTo>
                  <a:pt x="10820400" y="361477"/>
                </a:lnTo>
                <a:lnTo>
                  <a:pt x="10972800" y="354182"/>
                </a:lnTo>
                <a:lnTo>
                  <a:pt x="11125200" y="345829"/>
                </a:lnTo>
                <a:lnTo>
                  <a:pt x="11277600" y="336472"/>
                </a:lnTo>
                <a:lnTo>
                  <a:pt x="11430000" y="326170"/>
                </a:lnTo>
                <a:lnTo>
                  <a:pt x="11582400" y="314991"/>
                </a:lnTo>
                <a:lnTo>
                  <a:pt x="11734800" y="303008"/>
                </a:lnTo>
                <a:lnTo>
                  <a:pt x="11887200" y="290296"/>
                </a:lnTo>
                <a:lnTo>
                  <a:pt x="12039600" y="276939"/>
                </a:lnTo>
                <a:lnTo>
                  <a:pt x="12192000" y="263023"/>
                </a:lnTo>
                <a:lnTo>
                  <a:pt x="12192000" y="952457"/>
                </a:lnTo>
                <a:close/>
              </a:path>
            </a:pathLst>
          </a:custGeom>
          <a:solidFill>
            <a:srgbClr val="A7CDF1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638925"/>
            <a:ext cx="12192000" cy="219075"/>
          </a:xfrm>
          <a:prstGeom prst="rect">
            <a:avLst/>
          </a:prstGeom>
          <a:solidFill>
            <a:srgbClr val="A9C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238875"/>
            <a:ext cx="12192000" cy="400050"/>
          </a:xfrm>
          <a:prstGeom prst="rect">
            <a:avLst/>
          </a:prstGeom>
          <a:gradFill rotWithShape="1">
            <a:gsLst>
              <a:gs pos="0">
                <a:srgbClr val="2C6BB2"/>
              </a:gs>
              <a:gs pos="100000">
                <a:srgbClr val="7FB5E4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MI Section Bar"/>
          <p:cNvSpPr txBox="1"/>
          <p:nvPr/>
        </p:nvSpPr>
        <p:spPr>
          <a:xfrm>
            <a:off x="285750" y="6238875"/>
            <a:ext cx="3810000" cy="400050"/>
          </a:xfrm>
          <a:prstGeom prst="rect">
            <a:avLst/>
          </a:prstGeom>
          <a:noFill/>
        </p:spPr>
        <p:txBody>
          <a:bodyPr wrap="none" anchor="ctr" lIns="0" tIns="0" bIns="0">
            <a:spAutoFit/>
          </a:bodyPr>
          <a:lstStyle/>
          <a:p>
            <a:r>
              <a:rPr sz="1500" b="1">
                <a:solidFill>
                  <a:srgbClr val="FFFFFF"/>
                </a:solidFill>
                <a:latin typeface="Calibri"/>
              </a:rPr>
              <a:t>Section 2.9</a:t>
            </a:r>
          </a:p>
        </p:txBody>
      </p:sp>
      <p:pic>
        <p:nvPicPr>
          <p:cNvPr id="8" name="Picture 7" descr="fmi_logo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74320"/>
            <a:ext cx="1307592" cy="13258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14400" y="2752725"/>
            <a:ext cx="8572500" cy="3048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800" b="0">
                <a:solidFill>
                  <a:srgbClr val="0E72AE"/>
                </a:solidFill>
                <a:latin typeface="Calibri"/>
              </a:rPr>
              <a:t>Packaged Muffins Market</a:t>
            </a:r>
          </a:p>
        </p:txBody>
      </p:sp>
      <p:sp>
        <p:nvSpPr>
          <p:cNvPr id="10" name="FMI Section Title"/>
          <p:cNvSpPr txBox="1"/>
          <p:nvPr/>
        </p:nvSpPr>
        <p:spPr>
          <a:xfrm>
            <a:off x="914400" y="3095625"/>
            <a:ext cx="8572500" cy="51435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r>
              <a:rPr sz="3000" b="1">
                <a:solidFill>
                  <a:srgbClr val="0B3C8C"/>
                </a:solidFill>
                <a:latin typeface="Calibri"/>
              </a:rPr>
              <a:t>Individual Muffin Size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781425"/>
            <a:ext cx="8458200" cy="12763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Calibri"/>
              </a:rPr>
              <a:t>➤	</a:t>
            </a:r>
            <a:r>
              <a:rPr sz="2000" b="0">
                <a:solidFill>
                  <a:srgbClr val="000000"/>
                </a:solidFill>
                <a:latin typeface="Calibri"/>
              </a:rPr>
              <a:t>Segmental</a:t>
            </a:r>
          </a:p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Calibri"/>
              </a:rPr>
              <a:t>➤	</a:t>
            </a:r>
            <a:r>
              <a:rPr sz="2000" b="0">
                <a:solidFill>
                  <a:srgbClr val="000000"/>
                </a:solidFill>
                <a:latin typeface="Calibri"/>
              </a:rPr>
              <a:t>Table (Volume &amp; Value)</a:t>
            </a:r>
          </a:p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Calibri"/>
              </a:rPr>
              <a:t>➤	</a:t>
            </a:r>
            <a:r>
              <a:rPr sz="2000" b="0">
                <a:solidFill>
                  <a:srgbClr val="000000"/>
                </a:solidFill>
                <a:latin typeface="Calibri"/>
              </a:rPr>
              <a:t>YoY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58595B"/>
                </a:solidFill>
                <a:latin typeface="Calibri"/>
              </a:rPr>
              <a:t>©2026 Future Market Insights, All Rights Reserved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3825" y="914400"/>
            <a:ext cx="3943350" cy="28575"/>
          </a:xfrm>
          <a:prstGeom prst="rect">
            <a:avLst/>
          </a:prstGeom>
          <a:solidFill>
            <a:srgbClr val="0081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24325" y="914400"/>
            <a:ext cx="3943350" cy="28575"/>
          </a:xfrm>
          <a:prstGeom prst="rect">
            <a:avLst/>
          </a:prstGeom>
          <a:solidFill>
            <a:srgbClr val="9E7E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124825" y="914400"/>
            <a:ext cx="3943350" cy="28575"/>
          </a:xfrm>
          <a:prstGeom prst="rect">
            <a:avLst/>
          </a:prstGeom>
          <a:solidFill>
            <a:srgbClr val="403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mi_logo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25" y="-205740"/>
            <a:ext cx="1307592" cy="13258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543050" y="19050"/>
            <a:ext cx="8982075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U.S. Packaged Muffins Market Segmental Analysis Individual Muffin Size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43050" y="647700"/>
            <a:ext cx="10506075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U.S. segmental analysis by Individual Muffin Size: growth contribution, share variance and absolute $ opportunity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620375" y="228600"/>
            <a:ext cx="1428750" cy="419100"/>
          </a:xfrm>
          <a:prstGeom prst="roundRect">
            <a:avLst>
              <a:gd name="adj" fmla="val 22000"/>
            </a:avLst>
          </a:prstGeom>
          <a:solidFill>
            <a:srgbClr val="D9E6F2"/>
          </a:solidFill>
          <a:ln w="6350">
            <a:solidFill>
              <a:srgbClr val="69B1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100" b="1">
                <a:solidFill>
                  <a:srgbClr val="0B2E4A"/>
                </a:solidFill>
                <a:latin typeface="Calibri"/>
              </a:rPr>
              <a:t>U.S.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42875" y="981075"/>
            <a:ext cx="5876925" cy="2752725"/>
          </a:xfrm>
          <a:prstGeom prst="roundRect">
            <a:avLst>
              <a:gd name="adj" fmla="val 2768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38125" y="1038225"/>
            <a:ext cx="5686425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Growth Contribution 2026 → 2036, By Individual Muffin Size (US$ Mn)</a:t>
            </a:r>
          </a:p>
        </p:txBody>
      </p:sp>
      <p:graphicFrame>
        <p:nvGraphicFramePr>
          <p:cNvPr id="13" name="Chart 12"/>
          <p:cNvGraphicFramePr>
            <a:graphicFrameLocks noGrp="1"/>
          </p:cNvGraphicFramePr>
          <p:nvPr/>
        </p:nvGraphicFramePr>
        <p:xfrm>
          <a:off x="238125" y="1266825"/>
          <a:ext cx="5686425" cy="2409825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4" name="Rounded Rectangle 13"/>
          <p:cNvSpPr/>
          <p:nvPr/>
        </p:nvSpPr>
        <p:spPr>
          <a:xfrm>
            <a:off x="6172200" y="981075"/>
            <a:ext cx="5876925" cy="2752725"/>
          </a:xfrm>
          <a:prstGeom prst="roundRect">
            <a:avLst>
              <a:gd name="adj" fmla="val 2768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67450" y="1038225"/>
            <a:ext cx="5686425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Value Shares &amp; Variance, By Individual Muffin Size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6181725" y="1238250"/>
          <a:ext cx="5857875" cy="228599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2167"/>
                <a:gridCol w="886351"/>
                <a:gridCol w="886351"/>
                <a:gridCol w="1119366"/>
                <a:gridCol w="633640"/>
              </a:tblGrid>
              <a:tr h="246126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Individual Muffin Size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Share 2026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Share 2036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Variance (BPS)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F-CAGR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</a:tr>
              <a:tr h="509968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Mini / bite-sized - below 30 g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509968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Small - 30 g to below 60 g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</a:tr>
              <a:tr h="509968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Standard - 60 g to below 100 g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509968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Large / jumbo - 100 g and above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</a:tr>
            </a:tbl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6248400" y="3533775"/>
            <a:ext cx="5724525" cy="17145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100" b="0" i="1">
                <a:solidFill>
                  <a:srgbClr val="6C7A89"/>
                </a:solidFill>
                <a:latin typeface="Calibri"/>
              </a:rPr>
              <a:t>Source: FMI Analysis, 2026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42875" y="3867150"/>
            <a:ext cx="5876925" cy="2752725"/>
          </a:xfrm>
          <a:prstGeom prst="roundRect">
            <a:avLst>
              <a:gd name="adj" fmla="val 2768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38125" y="3924300"/>
            <a:ext cx="5686425" cy="38100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Absolute $ Opportunity, By Individual Muffin Size (US$ Mn), between 2026–2036</a:t>
            </a:r>
          </a:p>
        </p:txBody>
      </p:sp>
      <p:graphicFrame>
        <p:nvGraphicFramePr>
          <p:cNvPr id="20" name="Chart 19"/>
          <p:cNvGraphicFramePr>
            <a:graphicFrameLocks noGrp="1"/>
          </p:cNvGraphicFramePr>
          <p:nvPr/>
        </p:nvGraphicFramePr>
        <p:xfrm>
          <a:off x="238125" y="4324350"/>
          <a:ext cx="5686425" cy="2238375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21" name="Rounded Rectangle 20"/>
          <p:cNvSpPr/>
          <p:nvPr/>
        </p:nvSpPr>
        <p:spPr>
          <a:xfrm>
            <a:off x="6172200" y="3867150"/>
            <a:ext cx="5876925" cy="2752725"/>
          </a:xfrm>
          <a:prstGeom prst="roundRect">
            <a:avLst>
              <a:gd name="adj" fmla="val 2768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67450" y="3924300"/>
            <a:ext cx="5686425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Volume Shares &amp; Variance, By Individual Muffin Size</a:t>
            </a:r>
          </a:p>
        </p:txBody>
      </p:sp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6181725" y="4124325"/>
          <a:ext cx="5857875" cy="228599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2167"/>
                <a:gridCol w="886351"/>
                <a:gridCol w="886351"/>
                <a:gridCol w="1119366"/>
                <a:gridCol w="633640"/>
              </a:tblGrid>
              <a:tr h="246126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Individual Muffin Size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Share 2026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Share 2036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Variance (BPS)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F-CAGR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</a:tr>
              <a:tr h="509968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Mini / bite-sized - below 30 g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509968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Small - 30 g to below 60 g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</a:tr>
              <a:tr h="509968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Standard - 60 g to below 100 g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509968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Large / jumbo - 100 g and above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</a:tr>
            </a:tbl>
          </a:graphicData>
        </a:graphic>
      </p:graphicFrame>
      <p:sp>
        <p:nvSpPr>
          <p:cNvPr id="24" name="TextBox 23"/>
          <p:cNvSpPr txBox="1"/>
          <p:nvPr/>
        </p:nvSpPr>
        <p:spPr>
          <a:xfrm>
            <a:off x="6248400" y="6419850"/>
            <a:ext cx="5724525" cy="17145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100" b="0" i="1">
                <a:solidFill>
                  <a:srgbClr val="6C7A89"/>
                </a:solidFill>
                <a:latin typeface="Calibri"/>
              </a:rPr>
              <a:t>Source: FMI Analysis, 2026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58595B"/>
                </a:solidFill>
                <a:latin typeface="Calibri"/>
              </a:rPr>
              <a:t>©2026 Future Market Insights, All Rights Reserved</a:t>
            </a:r>
          </a:p>
        </p:txBody>
      </p:sp>
      <p:pic>
        <p:nvPicPr>
          <p:cNvPr id="26" name="Picture 25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94826" y="2237234"/>
            <a:ext cx="263506" cy="383281"/>
          </a:xfrm>
          <a:prstGeom prst="rect">
            <a:avLst/>
          </a:prstGeom>
        </p:spPr>
      </p:pic>
      <p:pic>
        <p:nvPicPr>
          <p:cNvPr id="27" name="Picture 26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90056" y="2237612"/>
            <a:ext cx="366712" cy="533400"/>
          </a:xfrm>
          <a:prstGeom prst="rect">
            <a:avLst/>
          </a:prstGeom>
        </p:spPr>
      </p:pic>
      <p:pic>
        <p:nvPicPr>
          <p:cNvPr id="28" name="Picture 27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00230" y="5216754"/>
            <a:ext cx="252890" cy="367840"/>
          </a:xfrm>
          <a:prstGeom prst="rect">
            <a:avLst/>
          </a:prstGeom>
        </p:spPr>
      </p:pic>
      <p:pic>
        <p:nvPicPr>
          <p:cNvPr id="29" name="Picture 28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90056" y="5123687"/>
            <a:ext cx="366712" cy="533400"/>
          </a:xfrm>
          <a:prstGeom prst="rect">
            <a:avLst/>
          </a:prstGeom>
        </p:spPr>
      </p:pic>
      <p:sp>
        <p:nvSpPr>
          <p:cNvPr id="30" name="lockshield_13"/>
          <p:cNvSpPr/>
          <p:nvPr/>
        </p:nvSpPr>
        <p:spPr>
          <a:xfrm>
            <a:off x="238125" y="1266825"/>
            <a:ext cx="5686425" cy="2409825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lockshield_20"/>
          <p:cNvSpPr/>
          <p:nvPr/>
        </p:nvSpPr>
        <p:spPr>
          <a:xfrm>
            <a:off x="238125" y="4324350"/>
            <a:ext cx="5686425" cy="2238375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3825" y="914400"/>
            <a:ext cx="3943350" cy="28575"/>
          </a:xfrm>
          <a:prstGeom prst="rect">
            <a:avLst/>
          </a:prstGeom>
          <a:solidFill>
            <a:srgbClr val="0081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24325" y="914400"/>
            <a:ext cx="3943350" cy="28575"/>
          </a:xfrm>
          <a:prstGeom prst="rect">
            <a:avLst/>
          </a:prstGeom>
          <a:solidFill>
            <a:srgbClr val="9E7E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124825" y="914400"/>
            <a:ext cx="3943350" cy="28575"/>
          </a:xfrm>
          <a:prstGeom prst="rect">
            <a:avLst/>
          </a:prstGeom>
          <a:solidFill>
            <a:srgbClr val="403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mi_logo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25" y="-205740"/>
            <a:ext cx="1307592" cy="13258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543050" y="19050"/>
            <a:ext cx="8982075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U.S. Packaged Muffins Market Tables Individual Muffin Size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43050" y="647700"/>
            <a:ext cx="10506075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Year-by-year volume and value of the U.S. market by Individual Muffin Size, 2021–2036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620375" y="228600"/>
            <a:ext cx="1428750" cy="419100"/>
          </a:xfrm>
          <a:prstGeom prst="roundRect">
            <a:avLst>
              <a:gd name="adj" fmla="val 22000"/>
            </a:avLst>
          </a:prstGeom>
          <a:solidFill>
            <a:srgbClr val="D9E6F2"/>
          </a:solidFill>
          <a:ln w="6350">
            <a:solidFill>
              <a:srgbClr val="69B1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100" b="1">
                <a:solidFill>
                  <a:srgbClr val="0B2E4A"/>
                </a:solidFill>
                <a:latin typeface="Calibri"/>
              </a:rPr>
              <a:t>U.S.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42875" y="981075"/>
            <a:ext cx="11906250" cy="2143125"/>
          </a:xfrm>
          <a:prstGeom prst="roundRect">
            <a:avLst>
              <a:gd name="adj" fmla="val 3555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38125" y="1038225"/>
            <a:ext cx="1171575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U.S. Volume, By Individual Muffin Size (MT)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152400" y="1238250"/>
          <a:ext cx="11887199" cy="167640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37493"/>
                <a:gridCol w="583049"/>
                <a:gridCol w="583049"/>
                <a:gridCol w="583049"/>
                <a:gridCol w="583049"/>
                <a:gridCol w="583049"/>
                <a:gridCol w="583049"/>
                <a:gridCol w="583049"/>
                <a:gridCol w="583049"/>
                <a:gridCol w="583049"/>
                <a:gridCol w="583049"/>
                <a:gridCol w="583049"/>
                <a:gridCol w="583049"/>
                <a:gridCol w="583049"/>
                <a:gridCol w="583049"/>
                <a:gridCol w="583049"/>
                <a:gridCol w="583049"/>
                <a:gridCol w="520922"/>
              </a:tblGrid>
              <a:tr h="438912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Individual Muffin Size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2021A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2022A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2023A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2024A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2025A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2026E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2027F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2028F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2029F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2030F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2031F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2032F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2033F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2034F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2035F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2036F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F-CAGR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</a:tr>
              <a:tr h="247498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Mini / bite-sized - below 30 g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247498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Small - 30 g to below 60 g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</a:tr>
              <a:tr h="247498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Standard - 60 g to below 100 g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247498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Large / jumbo - 100 g and above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</a:tr>
              <a:tr h="247498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Total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219075" y="2924175"/>
            <a:ext cx="11753850" cy="17145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100" b="0" i="1">
                <a:solidFill>
                  <a:srgbClr val="6C7A89"/>
                </a:solidFill>
                <a:latin typeface="Calibri"/>
              </a:rPr>
              <a:t>Source: FMI Analysis, 2026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42875" y="3257550"/>
            <a:ext cx="11906250" cy="1952625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38125" y="3314700"/>
            <a:ext cx="1171575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U.S. Value, By Individual Muffin Size (US$ Mn)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152400" y="3514725"/>
          <a:ext cx="11887200" cy="148589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15600"/>
                <a:gridCol w="574800"/>
                <a:gridCol w="574800"/>
                <a:gridCol w="574800"/>
                <a:gridCol w="574800"/>
                <a:gridCol w="574800"/>
                <a:gridCol w="574800"/>
                <a:gridCol w="574800"/>
                <a:gridCol w="574800"/>
                <a:gridCol w="574800"/>
                <a:gridCol w="574800"/>
                <a:gridCol w="574800"/>
                <a:gridCol w="574800"/>
                <a:gridCol w="574800"/>
                <a:gridCol w="574800"/>
                <a:gridCol w="574800"/>
                <a:gridCol w="574800"/>
                <a:gridCol w="574800"/>
              </a:tblGrid>
              <a:tr h="246126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Individual Muffin Size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2021A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2022A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2023A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2024A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2025A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2026E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2027F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2028F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2029F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2030F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2031F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2032F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2033F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2034F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2035F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2036F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F-CAGR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</a:tr>
              <a:tr h="247954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Mini / bite-sized - below 30 g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247954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Small - 30 g to below 60 g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</a:tr>
              <a:tr h="247954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Standard - 60 g to below 100 g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247954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Large / jumbo - 100 g and above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</a:tr>
              <a:tr h="247954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Total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219075" y="5010150"/>
            <a:ext cx="11753850" cy="17145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100" b="0" i="1">
                <a:solidFill>
                  <a:srgbClr val="6C7A89"/>
                </a:solidFill>
                <a:latin typeface="Calibri"/>
              </a:rPr>
              <a:t>Source: FMI Analysis, 2026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58595B"/>
                </a:solidFill>
                <a:latin typeface="Calibri"/>
              </a:rPr>
              <a:t>©2026 Future Market Insights, All Rights Reserved</a:t>
            </a:r>
          </a:p>
        </p:txBody>
      </p:sp>
      <p:pic>
        <p:nvPicPr>
          <p:cNvPr id="20" name="Picture 19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28055" y="2029206"/>
            <a:ext cx="366712" cy="533400"/>
          </a:xfrm>
          <a:prstGeom prst="rect">
            <a:avLst/>
          </a:prstGeom>
        </p:spPr>
      </p:pic>
      <p:pic>
        <p:nvPicPr>
          <p:cNvPr id="21" name="Picture 20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67110" y="4114038"/>
            <a:ext cx="366712" cy="533400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3825" y="914400"/>
            <a:ext cx="3943350" cy="28575"/>
          </a:xfrm>
          <a:prstGeom prst="rect">
            <a:avLst/>
          </a:prstGeom>
          <a:solidFill>
            <a:srgbClr val="0081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24325" y="914400"/>
            <a:ext cx="3943350" cy="28575"/>
          </a:xfrm>
          <a:prstGeom prst="rect">
            <a:avLst/>
          </a:prstGeom>
          <a:solidFill>
            <a:srgbClr val="9E7E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124825" y="914400"/>
            <a:ext cx="3943350" cy="28575"/>
          </a:xfrm>
          <a:prstGeom prst="rect">
            <a:avLst/>
          </a:prstGeom>
          <a:solidFill>
            <a:srgbClr val="403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mi_logo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25" y="-205740"/>
            <a:ext cx="1307592" cy="13258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543050" y="19050"/>
            <a:ext cx="8982075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U.S. YoY Analysis Individual Muffin Size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43050" y="647700"/>
            <a:ext cx="10506075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U.S. year-on-year volume and value growth by Individual Muffin Size, highlighting acceleration and slowdown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620375" y="228600"/>
            <a:ext cx="1428750" cy="419100"/>
          </a:xfrm>
          <a:prstGeom prst="roundRect">
            <a:avLst>
              <a:gd name="adj" fmla="val 22000"/>
            </a:avLst>
          </a:prstGeom>
          <a:solidFill>
            <a:srgbClr val="D9E6F2"/>
          </a:solidFill>
          <a:ln w="6350">
            <a:solidFill>
              <a:srgbClr val="69B1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100" b="1">
                <a:solidFill>
                  <a:srgbClr val="0B2E4A"/>
                </a:solidFill>
                <a:latin typeface="Calibri"/>
              </a:rPr>
              <a:t>U.S.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42875" y="981075"/>
            <a:ext cx="11906250" cy="1704975"/>
          </a:xfrm>
          <a:prstGeom prst="roundRect">
            <a:avLst>
              <a:gd name="adj" fmla="val 4469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38125" y="1038225"/>
            <a:ext cx="1171575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U.S. Volume YoY, By Individual Muffin Size (%)  ·  </a:t>
            </a:r>
            <a:r>
              <a:rPr sz="1200" b="1">
                <a:solidFill>
                  <a:srgbClr val="2E7D32"/>
                </a:solidFill>
                <a:latin typeface="Calibri"/>
              </a:rPr>
              <a:t>▲ outpacing market  </a:t>
            </a:r>
            <a:r>
              <a:rPr sz="1200" b="1">
                <a:solidFill>
                  <a:srgbClr val="A86F00"/>
                </a:solidFill>
                <a:latin typeface="Calibri"/>
              </a:rPr>
              <a:t>▶ below market pace  </a:t>
            </a:r>
            <a:r>
              <a:rPr sz="1200" b="1">
                <a:solidFill>
                  <a:srgbClr val="E44D3A"/>
                </a:solidFill>
                <a:latin typeface="Calibri"/>
              </a:rPr>
              <a:t>▼ decline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152400" y="1238250"/>
          <a:ext cx="11887200" cy="123825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03190"/>
                <a:gridCol w="638934"/>
                <a:gridCol w="638934"/>
                <a:gridCol w="638934"/>
                <a:gridCol w="638934"/>
                <a:gridCol w="638934"/>
                <a:gridCol w="638934"/>
                <a:gridCol w="638934"/>
                <a:gridCol w="638934"/>
                <a:gridCol w="638934"/>
                <a:gridCol w="638934"/>
                <a:gridCol w="638934"/>
                <a:gridCol w="638934"/>
                <a:gridCol w="638934"/>
                <a:gridCol w="638934"/>
                <a:gridCol w="638934"/>
              </a:tblGrid>
              <a:tr h="246126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Individual Muffin Size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2022A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2023A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2024A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2025A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2026E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2027F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2028F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2029F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2030F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2031F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2032F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2033F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2034F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2035F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2036F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</a:tr>
              <a:tr h="248031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Mini / bite-sized - below 30 g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248031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Small - 30 g to below 60 g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</a:tr>
              <a:tr h="248031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Standard - 60 g to below 100 g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248031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Large / jumbo - 100 g and above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219075" y="2486025"/>
            <a:ext cx="11753850" cy="17145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100" b="0" i="1">
                <a:solidFill>
                  <a:srgbClr val="6C7A89"/>
                </a:solidFill>
                <a:latin typeface="Calibri"/>
              </a:rPr>
              <a:t>Source: FMI Analysis, 2026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42875" y="2819400"/>
            <a:ext cx="11906250" cy="1704975"/>
          </a:xfrm>
          <a:prstGeom prst="roundRect">
            <a:avLst>
              <a:gd name="adj" fmla="val 4469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38125" y="2876550"/>
            <a:ext cx="1171575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U.S. Value YoY, By Individual Muffin Size (%)  ·  </a:t>
            </a:r>
            <a:r>
              <a:rPr sz="1200" b="1">
                <a:solidFill>
                  <a:srgbClr val="2E7D32"/>
                </a:solidFill>
                <a:latin typeface="Calibri"/>
              </a:rPr>
              <a:t>▲ outpacing market  </a:t>
            </a:r>
            <a:r>
              <a:rPr sz="1200" b="1">
                <a:solidFill>
                  <a:srgbClr val="A86F00"/>
                </a:solidFill>
                <a:latin typeface="Calibri"/>
              </a:rPr>
              <a:t>▶ below market pace  </a:t>
            </a:r>
            <a:r>
              <a:rPr sz="1200" b="1">
                <a:solidFill>
                  <a:srgbClr val="E44D3A"/>
                </a:solidFill>
                <a:latin typeface="Calibri"/>
              </a:rPr>
              <a:t>▼ decline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152400" y="3076575"/>
          <a:ext cx="11887200" cy="123825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03190"/>
                <a:gridCol w="638934"/>
                <a:gridCol w="638934"/>
                <a:gridCol w="638934"/>
                <a:gridCol w="638934"/>
                <a:gridCol w="638934"/>
                <a:gridCol w="638934"/>
                <a:gridCol w="638934"/>
                <a:gridCol w="638934"/>
                <a:gridCol w="638934"/>
                <a:gridCol w="638934"/>
                <a:gridCol w="638934"/>
                <a:gridCol w="638934"/>
                <a:gridCol w="638934"/>
                <a:gridCol w="638934"/>
                <a:gridCol w="638934"/>
              </a:tblGrid>
              <a:tr h="246126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Individual Muffin Size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2022A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2023A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2024A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2025A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2026E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2027F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2028F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2029F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2030F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2031F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2032F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2033F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2034F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2035F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2036F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</a:tr>
              <a:tr h="248031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Mini / bite-sized - below 30 g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248031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Small - 30 g to below 60 g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</a:tr>
              <a:tr h="248031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Standard - 60 g to below 100 g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248031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Large / jumbo - 100 g and above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219075" y="4324350"/>
            <a:ext cx="11753850" cy="17145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100" b="0" i="1">
                <a:solidFill>
                  <a:srgbClr val="6C7A89"/>
                </a:solidFill>
                <a:latin typeface="Calibri"/>
              </a:rPr>
              <a:t>Source: FMI Analysis, 2026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58595B"/>
                </a:solidFill>
                <a:latin typeface="Calibri"/>
              </a:rPr>
              <a:t>©2026 Future Market Insights, All Rights Reserved</a:t>
            </a:r>
          </a:p>
        </p:txBody>
      </p:sp>
      <p:pic>
        <p:nvPicPr>
          <p:cNvPr id="20" name="Picture 19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60904" y="1713738"/>
            <a:ext cx="366712" cy="533400"/>
          </a:xfrm>
          <a:prstGeom prst="rect">
            <a:avLst/>
          </a:prstGeom>
        </p:spPr>
      </p:pic>
      <p:pic>
        <p:nvPicPr>
          <p:cNvPr id="21" name="Picture 20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60904" y="3552062"/>
            <a:ext cx="366712" cy="533400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8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F1F8FE"/>
              </a:gs>
              <a:gs pos="100000">
                <a:srgbClr val="DAEAF9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0" y="5591183"/>
            <a:ext cx="12192000" cy="1266817"/>
          </a:xfrm>
          <a:custGeom>
            <a:avLst/>
            <a:gdLst/>
            <a:ahLst/>
            <a:cxnLst/>
            <a:rect l="l" t="t" r="r" b="b"/>
            <a:pathLst>
              <a:path w="12192000" h="1266817">
                <a:moveTo>
                  <a:pt x="0" y="1266817"/>
                </a:moveTo>
                <a:lnTo>
                  <a:pt x="0" y="475605"/>
                </a:lnTo>
                <a:lnTo>
                  <a:pt x="152400" y="486239"/>
                </a:lnTo>
                <a:lnTo>
                  <a:pt x="304800" y="495887"/>
                </a:lnTo>
                <a:lnTo>
                  <a:pt x="457200" y="504505"/>
                </a:lnTo>
                <a:lnTo>
                  <a:pt x="609600" y="512056"/>
                </a:lnTo>
                <a:lnTo>
                  <a:pt x="762000" y="518505"/>
                </a:lnTo>
                <a:lnTo>
                  <a:pt x="914400" y="523824"/>
                </a:lnTo>
                <a:lnTo>
                  <a:pt x="1066800" y="527988"/>
                </a:lnTo>
                <a:lnTo>
                  <a:pt x="1219200" y="530979"/>
                </a:lnTo>
                <a:lnTo>
                  <a:pt x="1371600" y="532783"/>
                </a:lnTo>
                <a:lnTo>
                  <a:pt x="1524000" y="533392"/>
                </a:lnTo>
                <a:lnTo>
                  <a:pt x="1676400" y="532804"/>
                </a:lnTo>
                <a:lnTo>
                  <a:pt x="1828800" y="531021"/>
                </a:lnTo>
                <a:lnTo>
                  <a:pt x="1981200" y="528051"/>
                </a:lnTo>
                <a:lnTo>
                  <a:pt x="2133600" y="523907"/>
                </a:lnTo>
                <a:lnTo>
                  <a:pt x="2286000" y="518609"/>
                </a:lnTo>
                <a:lnTo>
                  <a:pt x="2438400" y="512179"/>
                </a:lnTo>
                <a:lnTo>
                  <a:pt x="2590800" y="504648"/>
                </a:lnTo>
                <a:lnTo>
                  <a:pt x="2743200" y="496047"/>
                </a:lnTo>
                <a:lnTo>
                  <a:pt x="2895600" y="486417"/>
                </a:lnTo>
                <a:lnTo>
                  <a:pt x="3048000" y="475801"/>
                </a:lnTo>
                <a:lnTo>
                  <a:pt x="3200400" y="464245"/>
                </a:lnTo>
                <a:lnTo>
                  <a:pt x="3352800" y="451803"/>
                </a:lnTo>
                <a:lnTo>
                  <a:pt x="3505200" y="438529"/>
                </a:lnTo>
                <a:lnTo>
                  <a:pt x="3657600" y="424484"/>
                </a:lnTo>
                <a:lnTo>
                  <a:pt x="3810000" y="409730"/>
                </a:lnTo>
                <a:lnTo>
                  <a:pt x="3962400" y="394334"/>
                </a:lnTo>
                <a:lnTo>
                  <a:pt x="4114800" y="378365"/>
                </a:lnTo>
                <a:lnTo>
                  <a:pt x="4267200" y="361894"/>
                </a:lnTo>
                <a:lnTo>
                  <a:pt x="4419600" y="344996"/>
                </a:lnTo>
                <a:lnTo>
                  <a:pt x="4572000" y="327746"/>
                </a:lnTo>
                <a:lnTo>
                  <a:pt x="4724400" y="310223"/>
                </a:lnTo>
                <a:lnTo>
                  <a:pt x="4876800" y="292503"/>
                </a:lnTo>
                <a:lnTo>
                  <a:pt x="5029200" y="274668"/>
                </a:lnTo>
                <a:lnTo>
                  <a:pt x="5181600" y="256797"/>
                </a:lnTo>
                <a:lnTo>
                  <a:pt x="5334000" y="238971"/>
                </a:lnTo>
                <a:lnTo>
                  <a:pt x="5486400" y="221269"/>
                </a:lnTo>
                <a:lnTo>
                  <a:pt x="5638800" y="203771"/>
                </a:lnTo>
                <a:lnTo>
                  <a:pt x="5791200" y="186555"/>
                </a:lnTo>
                <a:lnTo>
                  <a:pt x="5943600" y="169699"/>
                </a:lnTo>
                <a:lnTo>
                  <a:pt x="6096000" y="153279"/>
                </a:lnTo>
                <a:lnTo>
                  <a:pt x="6248400" y="137368"/>
                </a:lnTo>
                <a:lnTo>
                  <a:pt x="6400800" y="122038"/>
                </a:lnTo>
                <a:lnTo>
                  <a:pt x="6553200" y="107357"/>
                </a:lnTo>
                <a:lnTo>
                  <a:pt x="6705600" y="93391"/>
                </a:lnTo>
                <a:lnTo>
                  <a:pt x="6858000" y="80204"/>
                </a:lnTo>
                <a:lnTo>
                  <a:pt x="7010400" y="67854"/>
                </a:lnTo>
                <a:lnTo>
                  <a:pt x="7162800" y="56397"/>
                </a:lnTo>
                <a:lnTo>
                  <a:pt x="7315200" y="45884"/>
                </a:lnTo>
                <a:lnTo>
                  <a:pt x="7467600" y="36363"/>
                </a:lnTo>
                <a:lnTo>
                  <a:pt x="7620000" y="27876"/>
                </a:lnTo>
                <a:lnTo>
                  <a:pt x="7772400" y="20461"/>
                </a:lnTo>
                <a:lnTo>
                  <a:pt x="7924800" y="14151"/>
                </a:lnTo>
                <a:lnTo>
                  <a:pt x="8077200" y="8976"/>
                </a:lnTo>
                <a:lnTo>
                  <a:pt x="8229600" y="4958"/>
                </a:lnTo>
                <a:lnTo>
                  <a:pt x="8382000" y="2115"/>
                </a:lnTo>
                <a:lnTo>
                  <a:pt x="8534400" y="460"/>
                </a:lnTo>
                <a:lnTo>
                  <a:pt x="8686800" y="0"/>
                </a:lnTo>
                <a:lnTo>
                  <a:pt x="8839200" y="738"/>
                </a:lnTo>
                <a:lnTo>
                  <a:pt x="8991600" y="2670"/>
                </a:lnTo>
                <a:lnTo>
                  <a:pt x="9144000" y="5787"/>
                </a:lnTo>
                <a:lnTo>
                  <a:pt x="9296400" y="10076"/>
                </a:lnTo>
                <a:lnTo>
                  <a:pt x="9448800" y="15518"/>
                </a:lnTo>
                <a:lnTo>
                  <a:pt x="9601200" y="22086"/>
                </a:lnTo>
                <a:lnTo>
                  <a:pt x="9753600" y="29754"/>
                </a:lnTo>
                <a:lnTo>
                  <a:pt x="9906000" y="38485"/>
                </a:lnTo>
                <a:lnTo>
                  <a:pt x="10058400" y="48241"/>
                </a:lnTo>
                <a:lnTo>
                  <a:pt x="10210800" y="58977"/>
                </a:lnTo>
                <a:lnTo>
                  <a:pt x="10363200" y="70647"/>
                </a:lnTo>
                <a:lnTo>
                  <a:pt x="10515600" y="83196"/>
                </a:lnTo>
                <a:lnTo>
                  <a:pt x="10668000" y="96570"/>
                </a:lnTo>
                <a:lnTo>
                  <a:pt x="10820400" y="110707"/>
                </a:lnTo>
                <a:lnTo>
                  <a:pt x="10972800" y="125545"/>
                </a:lnTo>
                <a:lnTo>
                  <a:pt x="11125200" y="141016"/>
                </a:lnTo>
                <a:lnTo>
                  <a:pt x="11277600" y="157052"/>
                </a:lnTo>
                <a:lnTo>
                  <a:pt x="11430000" y="173580"/>
                </a:lnTo>
                <a:lnTo>
                  <a:pt x="11582400" y="190527"/>
                </a:lnTo>
                <a:lnTo>
                  <a:pt x="11734800" y="207815"/>
                </a:lnTo>
                <a:lnTo>
                  <a:pt x="11887200" y="225367"/>
                </a:lnTo>
                <a:lnTo>
                  <a:pt x="12039600" y="243105"/>
                </a:lnTo>
                <a:lnTo>
                  <a:pt x="12192000" y="260949"/>
                </a:lnTo>
                <a:lnTo>
                  <a:pt x="12192000" y="1266817"/>
                </a:lnTo>
                <a:close/>
              </a:path>
            </a:pathLst>
          </a:custGeom>
          <a:solidFill>
            <a:srgbClr val="C8E0F6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0" y="5905543"/>
            <a:ext cx="12192000" cy="952457"/>
          </a:xfrm>
          <a:custGeom>
            <a:avLst/>
            <a:gdLst/>
            <a:ahLst/>
            <a:cxnLst/>
            <a:rect l="l" t="t" r="r" b="b"/>
            <a:pathLst>
              <a:path w="12192000" h="952457">
                <a:moveTo>
                  <a:pt x="0" y="952457"/>
                </a:moveTo>
                <a:lnTo>
                  <a:pt x="0" y="288660"/>
                </a:lnTo>
                <a:lnTo>
                  <a:pt x="152400" y="275228"/>
                </a:lnTo>
                <a:lnTo>
                  <a:pt x="304800" y="261249"/>
                </a:lnTo>
                <a:lnTo>
                  <a:pt x="457200" y="246812"/>
                </a:lnTo>
                <a:lnTo>
                  <a:pt x="609600" y="232010"/>
                </a:lnTo>
                <a:lnTo>
                  <a:pt x="762000" y="216940"/>
                </a:lnTo>
                <a:lnTo>
                  <a:pt x="914400" y="201698"/>
                </a:lnTo>
                <a:lnTo>
                  <a:pt x="1066800" y="186384"/>
                </a:lnTo>
                <a:lnTo>
                  <a:pt x="1219200" y="171097"/>
                </a:lnTo>
                <a:lnTo>
                  <a:pt x="1371600" y="155934"/>
                </a:lnTo>
                <a:lnTo>
                  <a:pt x="1524000" y="140995"/>
                </a:lnTo>
                <a:lnTo>
                  <a:pt x="1676400" y="126375"/>
                </a:lnTo>
                <a:lnTo>
                  <a:pt x="1828800" y="112170"/>
                </a:lnTo>
                <a:lnTo>
                  <a:pt x="1981200" y="98470"/>
                </a:lnTo>
                <a:lnTo>
                  <a:pt x="2133600" y="85366"/>
                </a:lnTo>
                <a:lnTo>
                  <a:pt x="2286000" y="72940"/>
                </a:lnTo>
                <a:lnTo>
                  <a:pt x="2438400" y="61275"/>
                </a:lnTo>
                <a:lnTo>
                  <a:pt x="2590800" y="50444"/>
                </a:lnTo>
                <a:lnTo>
                  <a:pt x="2743200" y="40519"/>
                </a:lnTo>
                <a:lnTo>
                  <a:pt x="2895600" y="31563"/>
                </a:lnTo>
                <a:lnTo>
                  <a:pt x="3048000" y="23634"/>
                </a:lnTo>
                <a:lnTo>
                  <a:pt x="3200400" y="16784"/>
                </a:lnTo>
                <a:lnTo>
                  <a:pt x="3352800" y="11056"/>
                </a:lnTo>
                <a:lnTo>
                  <a:pt x="3505200" y="6489"/>
                </a:lnTo>
                <a:lnTo>
                  <a:pt x="3657600" y="3110"/>
                </a:lnTo>
                <a:lnTo>
                  <a:pt x="3810000" y="943"/>
                </a:lnTo>
                <a:lnTo>
                  <a:pt x="3962400" y="0"/>
                </a:lnTo>
                <a:lnTo>
                  <a:pt x="4114800" y="289"/>
                </a:lnTo>
                <a:lnTo>
                  <a:pt x="4267200" y="1808"/>
                </a:lnTo>
                <a:lnTo>
                  <a:pt x="4419600" y="4546"/>
                </a:lnTo>
                <a:lnTo>
                  <a:pt x="4572000" y="8485"/>
                </a:lnTo>
                <a:lnTo>
                  <a:pt x="4724400" y="13601"/>
                </a:lnTo>
                <a:lnTo>
                  <a:pt x="4876800" y="19861"/>
                </a:lnTo>
                <a:lnTo>
                  <a:pt x="5029200" y="27223"/>
                </a:lnTo>
                <a:lnTo>
                  <a:pt x="5181600" y="35641"/>
                </a:lnTo>
                <a:lnTo>
                  <a:pt x="5334000" y="45059"/>
                </a:lnTo>
                <a:lnTo>
                  <a:pt x="5486400" y="55417"/>
                </a:lnTo>
                <a:lnTo>
                  <a:pt x="5638800" y="66649"/>
                </a:lnTo>
                <a:lnTo>
                  <a:pt x="5791200" y="78680"/>
                </a:lnTo>
                <a:lnTo>
                  <a:pt x="5943600" y="91435"/>
                </a:lnTo>
                <a:lnTo>
                  <a:pt x="6096000" y="104829"/>
                </a:lnTo>
                <a:lnTo>
                  <a:pt x="6248400" y="118777"/>
                </a:lnTo>
                <a:lnTo>
                  <a:pt x="6400800" y="133188"/>
                </a:lnTo>
                <a:lnTo>
                  <a:pt x="6553200" y="147970"/>
                </a:lnTo>
                <a:lnTo>
                  <a:pt x="6705600" y="163026"/>
                </a:lnTo>
                <a:lnTo>
                  <a:pt x="6858000" y="178260"/>
                </a:lnTo>
                <a:lnTo>
                  <a:pt x="7010400" y="193572"/>
                </a:lnTo>
                <a:lnTo>
                  <a:pt x="7162800" y="208865"/>
                </a:lnTo>
                <a:lnTo>
                  <a:pt x="7315200" y="224038"/>
                </a:lnTo>
                <a:lnTo>
                  <a:pt x="7467600" y="238994"/>
                </a:lnTo>
                <a:lnTo>
                  <a:pt x="7620000" y="253637"/>
                </a:lnTo>
                <a:lnTo>
                  <a:pt x="7772400" y="267871"/>
                </a:lnTo>
                <a:lnTo>
                  <a:pt x="7924800" y="281604"/>
                </a:lnTo>
                <a:lnTo>
                  <a:pt x="8077200" y="294748"/>
                </a:lnTo>
                <a:lnTo>
                  <a:pt x="8229600" y="307218"/>
                </a:lnTo>
                <a:lnTo>
                  <a:pt x="8382000" y="318934"/>
                </a:lnTo>
                <a:lnTo>
                  <a:pt x="8534400" y="329818"/>
                </a:lnTo>
                <a:lnTo>
                  <a:pt x="8686800" y="339802"/>
                </a:lnTo>
                <a:lnTo>
                  <a:pt x="8839200" y="348821"/>
                </a:lnTo>
                <a:lnTo>
                  <a:pt x="8991600" y="356815"/>
                </a:lnTo>
                <a:lnTo>
                  <a:pt x="9144000" y="363734"/>
                </a:lnTo>
                <a:lnTo>
                  <a:pt x="9296400" y="369533"/>
                </a:lnTo>
                <a:lnTo>
                  <a:pt x="9448800" y="374174"/>
                </a:lnTo>
                <a:lnTo>
                  <a:pt x="9601200" y="377628"/>
                </a:lnTo>
                <a:lnTo>
                  <a:pt x="9753600" y="379872"/>
                </a:lnTo>
                <a:lnTo>
                  <a:pt x="9906000" y="380891"/>
                </a:lnTo>
                <a:lnTo>
                  <a:pt x="10058400" y="380679"/>
                </a:lnTo>
                <a:lnTo>
                  <a:pt x="10210800" y="379237"/>
                </a:lnTo>
                <a:lnTo>
                  <a:pt x="10363200" y="376575"/>
                </a:lnTo>
                <a:lnTo>
                  <a:pt x="10515600" y="372710"/>
                </a:lnTo>
                <a:lnTo>
                  <a:pt x="10668000" y="367666"/>
                </a:lnTo>
                <a:lnTo>
                  <a:pt x="10820400" y="361477"/>
                </a:lnTo>
                <a:lnTo>
                  <a:pt x="10972800" y="354182"/>
                </a:lnTo>
                <a:lnTo>
                  <a:pt x="11125200" y="345829"/>
                </a:lnTo>
                <a:lnTo>
                  <a:pt x="11277600" y="336472"/>
                </a:lnTo>
                <a:lnTo>
                  <a:pt x="11430000" y="326170"/>
                </a:lnTo>
                <a:lnTo>
                  <a:pt x="11582400" y="314991"/>
                </a:lnTo>
                <a:lnTo>
                  <a:pt x="11734800" y="303008"/>
                </a:lnTo>
                <a:lnTo>
                  <a:pt x="11887200" y="290296"/>
                </a:lnTo>
                <a:lnTo>
                  <a:pt x="12039600" y="276939"/>
                </a:lnTo>
                <a:lnTo>
                  <a:pt x="12192000" y="263023"/>
                </a:lnTo>
                <a:lnTo>
                  <a:pt x="12192000" y="952457"/>
                </a:lnTo>
                <a:close/>
              </a:path>
            </a:pathLst>
          </a:custGeom>
          <a:solidFill>
            <a:srgbClr val="A7CDF1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638925"/>
            <a:ext cx="12192000" cy="219075"/>
          </a:xfrm>
          <a:prstGeom prst="rect">
            <a:avLst/>
          </a:prstGeom>
          <a:solidFill>
            <a:srgbClr val="A9C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238875"/>
            <a:ext cx="12192000" cy="400050"/>
          </a:xfrm>
          <a:prstGeom prst="rect">
            <a:avLst/>
          </a:prstGeom>
          <a:gradFill rotWithShape="1">
            <a:gsLst>
              <a:gs pos="0">
                <a:srgbClr val="2C6BB2"/>
              </a:gs>
              <a:gs pos="100000">
                <a:srgbClr val="7FB5E4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MI Section Bar"/>
          <p:cNvSpPr txBox="1"/>
          <p:nvPr/>
        </p:nvSpPr>
        <p:spPr>
          <a:xfrm>
            <a:off x="285750" y="6238875"/>
            <a:ext cx="3810000" cy="400050"/>
          </a:xfrm>
          <a:prstGeom prst="rect">
            <a:avLst/>
          </a:prstGeom>
          <a:noFill/>
        </p:spPr>
        <p:txBody>
          <a:bodyPr wrap="none" anchor="ctr" lIns="0" tIns="0" bIns="0">
            <a:spAutoFit/>
          </a:bodyPr>
          <a:lstStyle/>
          <a:p>
            <a:r>
              <a:rPr sz="1500" b="1">
                <a:solidFill>
                  <a:srgbClr val="FFFFFF"/>
                </a:solidFill>
                <a:latin typeface="Calibri"/>
              </a:rPr>
              <a:t>Section 2.10</a:t>
            </a:r>
          </a:p>
        </p:txBody>
      </p:sp>
      <p:pic>
        <p:nvPicPr>
          <p:cNvPr id="8" name="Picture 7" descr="fmi_logo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74320"/>
            <a:ext cx="1307592" cy="13258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14400" y="2752725"/>
            <a:ext cx="8572500" cy="3048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800" b="0">
                <a:solidFill>
                  <a:srgbClr val="0E72AE"/>
                </a:solidFill>
                <a:latin typeface="Calibri"/>
              </a:rPr>
              <a:t>Packaged Muffins Market</a:t>
            </a:r>
          </a:p>
        </p:txBody>
      </p:sp>
      <p:sp>
        <p:nvSpPr>
          <p:cNvPr id="10" name="FMI Section Title"/>
          <p:cNvSpPr txBox="1"/>
          <p:nvPr/>
        </p:nvSpPr>
        <p:spPr>
          <a:xfrm>
            <a:off x="914400" y="3095625"/>
            <a:ext cx="8572500" cy="51435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r>
              <a:rPr sz="3000" b="1">
                <a:solidFill>
                  <a:srgbClr val="0B3C8C"/>
                </a:solidFill>
                <a:latin typeface="Calibri"/>
              </a:rPr>
              <a:t>Storage Format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781425"/>
            <a:ext cx="8458200" cy="12763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Calibri"/>
              </a:rPr>
              <a:t>➤	</a:t>
            </a:r>
            <a:r>
              <a:rPr sz="2000" b="0">
                <a:solidFill>
                  <a:srgbClr val="000000"/>
                </a:solidFill>
                <a:latin typeface="Calibri"/>
              </a:rPr>
              <a:t>Segmental</a:t>
            </a:r>
          </a:p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Calibri"/>
              </a:rPr>
              <a:t>➤	</a:t>
            </a:r>
            <a:r>
              <a:rPr sz="2000" b="0">
                <a:solidFill>
                  <a:srgbClr val="000000"/>
                </a:solidFill>
                <a:latin typeface="Calibri"/>
              </a:rPr>
              <a:t>Table (Volume &amp; Value)</a:t>
            </a:r>
          </a:p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Calibri"/>
              </a:rPr>
              <a:t>➤	</a:t>
            </a:r>
            <a:r>
              <a:rPr sz="2000" b="0">
                <a:solidFill>
                  <a:srgbClr val="000000"/>
                </a:solidFill>
                <a:latin typeface="Calibri"/>
              </a:rPr>
              <a:t>YoY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58595B"/>
                </a:solidFill>
                <a:latin typeface="Calibri"/>
              </a:rPr>
              <a:t>©2026 Future Market Insights, All Rights Reserved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3825" y="914400"/>
            <a:ext cx="3943350" cy="28575"/>
          </a:xfrm>
          <a:prstGeom prst="rect">
            <a:avLst/>
          </a:prstGeom>
          <a:solidFill>
            <a:srgbClr val="0081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24325" y="914400"/>
            <a:ext cx="3943350" cy="28575"/>
          </a:xfrm>
          <a:prstGeom prst="rect">
            <a:avLst/>
          </a:prstGeom>
          <a:solidFill>
            <a:srgbClr val="9E7E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124825" y="914400"/>
            <a:ext cx="3943350" cy="28575"/>
          </a:xfrm>
          <a:prstGeom prst="rect">
            <a:avLst/>
          </a:prstGeom>
          <a:solidFill>
            <a:srgbClr val="403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mi_logo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25" y="-205740"/>
            <a:ext cx="1307592" cy="13258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543050" y="19050"/>
            <a:ext cx="8982075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U.S. Packaged Muffins Market Segmental Analysis Storage Format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43050" y="647700"/>
            <a:ext cx="10506075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U.S. segmental analysis by Storage Format: growth contribution, share variance and absolute $ opportunity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620375" y="228600"/>
            <a:ext cx="1428750" cy="419100"/>
          </a:xfrm>
          <a:prstGeom prst="roundRect">
            <a:avLst>
              <a:gd name="adj" fmla="val 22000"/>
            </a:avLst>
          </a:prstGeom>
          <a:solidFill>
            <a:srgbClr val="D9E6F2"/>
          </a:solidFill>
          <a:ln w="6350">
            <a:solidFill>
              <a:srgbClr val="69B1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100" b="1">
                <a:solidFill>
                  <a:srgbClr val="0B2E4A"/>
                </a:solidFill>
                <a:latin typeface="Calibri"/>
              </a:rPr>
              <a:t>U.S.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42875" y="981075"/>
            <a:ext cx="5876925" cy="2752725"/>
          </a:xfrm>
          <a:prstGeom prst="roundRect">
            <a:avLst>
              <a:gd name="adj" fmla="val 2768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38125" y="1038225"/>
            <a:ext cx="5686425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Growth Contribution 2026 → 2036, By Storage Format (US$ Mn)</a:t>
            </a:r>
          </a:p>
        </p:txBody>
      </p:sp>
      <p:graphicFrame>
        <p:nvGraphicFramePr>
          <p:cNvPr id="13" name="Chart 12"/>
          <p:cNvGraphicFramePr>
            <a:graphicFrameLocks noGrp="1"/>
          </p:cNvGraphicFramePr>
          <p:nvPr/>
        </p:nvGraphicFramePr>
        <p:xfrm>
          <a:off x="238125" y="1266825"/>
          <a:ext cx="5686425" cy="2409825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4" name="Rounded Rectangle 13"/>
          <p:cNvSpPr/>
          <p:nvPr/>
        </p:nvSpPr>
        <p:spPr>
          <a:xfrm>
            <a:off x="6172200" y="981075"/>
            <a:ext cx="5876925" cy="2752725"/>
          </a:xfrm>
          <a:prstGeom prst="roundRect">
            <a:avLst>
              <a:gd name="adj" fmla="val 2768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67450" y="1038225"/>
            <a:ext cx="5686425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Value Shares &amp; Variance, By Storage Format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6181725" y="1238250"/>
          <a:ext cx="5857874" cy="2286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22690"/>
                <a:gridCol w="1158796"/>
                <a:gridCol w="1158796"/>
                <a:gridCol w="1158796"/>
                <a:gridCol w="1158796"/>
              </a:tblGrid>
              <a:tr h="246126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Storage Format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Share 2026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Share 2036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Variance (BPS)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F-CAGR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</a:tr>
              <a:tr h="679958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Ambient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679958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Chilled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</a:tr>
              <a:tr h="679958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Frozen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6248400" y="3533775"/>
            <a:ext cx="5724525" cy="17145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100" b="0" i="1">
                <a:solidFill>
                  <a:srgbClr val="6C7A89"/>
                </a:solidFill>
                <a:latin typeface="Calibri"/>
              </a:rPr>
              <a:t>Source: FMI Analysis, 2026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42875" y="3867150"/>
            <a:ext cx="5876925" cy="2752725"/>
          </a:xfrm>
          <a:prstGeom prst="roundRect">
            <a:avLst>
              <a:gd name="adj" fmla="val 2768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38125" y="3924300"/>
            <a:ext cx="5686425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Absolute $ Opportunity, By Storage Format (US$ Mn), between 2026–2036</a:t>
            </a:r>
          </a:p>
        </p:txBody>
      </p:sp>
      <p:graphicFrame>
        <p:nvGraphicFramePr>
          <p:cNvPr id="20" name="Chart 19"/>
          <p:cNvGraphicFramePr>
            <a:graphicFrameLocks noGrp="1"/>
          </p:cNvGraphicFramePr>
          <p:nvPr/>
        </p:nvGraphicFramePr>
        <p:xfrm>
          <a:off x="238125" y="4152900"/>
          <a:ext cx="5686425" cy="2409825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21" name="Rounded Rectangle 20"/>
          <p:cNvSpPr/>
          <p:nvPr/>
        </p:nvSpPr>
        <p:spPr>
          <a:xfrm>
            <a:off x="6172200" y="3867150"/>
            <a:ext cx="5876925" cy="2752725"/>
          </a:xfrm>
          <a:prstGeom prst="roundRect">
            <a:avLst>
              <a:gd name="adj" fmla="val 2768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67450" y="3924300"/>
            <a:ext cx="5686425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Volume Shares &amp; Variance, By Storage Format</a:t>
            </a:r>
          </a:p>
        </p:txBody>
      </p:sp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6181725" y="4124325"/>
          <a:ext cx="5857874" cy="2286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22690"/>
                <a:gridCol w="1158796"/>
                <a:gridCol w="1158796"/>
                <a:gridCol w="1158796"/>
                <a:gridCol w="1158796"/>
              </a:tblGrid>
              <a:tr h="246126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Storage Format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Share 2026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Share 2036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Variance (BPS)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F-CAGR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</a:tr>
              <a:tr h="679958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Ambient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679958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Chilled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</a:tr>
              <a:tr h="679958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Frozen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4" name="TextBox 23"/>
          <p:cNvSpPr txBox="1"/>
          <p:nvPr/>
        </p:nvSpPr>
        <p:spPr>
          <a:xfrm>
            <a:off x="6248400" y="6419850"/>
            <a:ext cx="5724525" cy="17145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100" b="0" i="1">
                <a:solidFill>
                  <a:srgbClr val="6C7A89"/>
                </a:solidFill>
                <a:latin typeface="Calibri"/>
              </a:rPr>
              <a:t>Source: FMI Analysis, 2026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58595B"/>
                </a:solidFill>
                <a:latin typeface="Calibri"/>
              </a:rPr>
              <a:t>©2026 Future Market Insights, All Rights Reserved</a:t>
            </a:r>
          </a:p>
        </p:txBody>
      </p:sp>
      <p:pic>
        <p:nvPicPr>
          <p:cNvPr id="26" name="Picture 25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94826" y="2237234"/>
            <a:ext cx="263506" cy="383281"/>
          </a:xfrm>
          <a:prstGeom prst="rect">
            <a:avLst/>
          </a:prstGeom>
        </p:spPr>
      </p:pic>
      <p:pic>
        <p:nvPicPr>
          <p:cNvPr id="27" name="Picture 26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35317" y="2237613"/>
            <a:ext cx="366712" cy="533400"/>
          </a:xfrm>
          <a:prstGeom prst="rect">
            <a:avLst/>
          </a:prstGeom>
        </p:spPr>
      </p:pic>
      <p:pic>
        <p:nvPicPr>
          <p:cNvPr id="28" name="Picture 27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94826" y="5123309"/>
            <a:ext cx="263506" cy="383281"/>
          </a:xfrm>
          <a:prstGeom prst="rect">
            <a:avLst/>
          </a:prstGeom>
        </p:spPr>
      </p:pic>
      <p:pic>
        <p:nvPicPr>
          <p:cNvPr id="29" name="Picture 28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35317" y="5123688"/>
            <a:ext cx="366712" cy="533400"/>
          </a:xfrm>
          <a:prstGeom prst="rect">
            <a:avLst/>
          </a:prstGeom>
        </p:spPr>
      </p:pic>
      <p:sp>
        <p:nvSpPr>
          <p:cNvPr id="30" name="lockshield_13"/>
          <p:cNvSpPr/>
          <p:nvPr/>
        </p:nvSpPr>
        <p:spPr>
          <a:xfrm>
            <a:off x="238125" y="1266825"/>
            <a:ext cx="5686425" cy="2409825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lockshield_20"/>
          <p:cNvSpPr/>
          <p:nvPr/>
        </p:nvSpPr>
        <p:spPr>
          <a:xfrm>
            <a:off x="238125" y="4152900"/>
            <a:ext cx="5686425" cy="2409825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3825" y="914400"/>
            <a:ext cx="3943350" cy="28575"/>
          </a:xfrm>
          <a:prstGeom prst="rect">
            <a:avLst/>
          </a:prstGeom>
          <a:solidFill>
            <a:srgbClr val="0081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24325" y="914400"/>
            <a:ext cx="3943350" cy="28575"/>
          </a:xfrm>
          <a:prstGeom prst="rect">
            <a:avLst/>
          </a:prstGeom>
          <a:solidFill>
            <a:srgbClr val="9E7E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124825" y="914400"/>
            <a:ext cx="3943350" cy="28575"/>
          </a:xfrm>
          <a:prstGeom prst="rect">
            <a:avLst/>
          </a:prstGeom>
          <a:solidFill>
            <a:srgbClr val="403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mi_logo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25" y="-205740"/>
            <a:ext cx="1307592" cy="13258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543050" y="19050"/>
            <a:ext cx="8982075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U.S. Packaged Muffins Market Tables Storage Format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43050" y="647700"/>
            <a:ext cx="10506075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Year-by-year volume and value of the U.S. market by Storage Format, 2021–2036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620375" y="228600"/>
            <a:ext cx="1428750" cy="419100"/>
          </a:xfrm>
          <a:prstGeom prst="roundRect">
            <a:avLst>
              <a:gd name="adj" fmla="val 22000"/>
            </a:avLst>
          </a:prstGeom>
          <a:solidFill>
            <a:srgbClr val="D9E6F2"/>
          </a:solidFill>
          <a:ln w="6350">
            <a:solidFill>
              <a:srgbClr val="69B1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100" b="1">
                <a:solidFill>
                  <a:srgbClr val="0B2E4A"/>
                </a:solidFill>
                <a:latin typeface="Calibri"/>
              </a:rPr>
              <a:t>U.S.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42875" y="981075"/>
            <a:ext cx="11906250" cy="1704975"/>
          </a:xfrm>
          <a:prstGeom prst="roundRect">
            <a:avLst>
              <a:gd name="adj" fmla="val 4469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38125" y="1038225"/>
            <a:ext cx="1171575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U.S. Volume, By Storage Format (MT)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152400" y="1238250"/>
          <a:ext cx="11887203" cy="123825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20814"/>
                <a:gridCol w="633317"/>
                <a:gridCol w="633317"/>
                <a:gridCol w="633317"/>
                <a:gridCol w="633317"/>
                <a:gridCol w="633317"/>
                <a:gridCol w="633317"/>
                <a:gridCol w="633317"/>
                <a:gridCol w="633317"/>
                <a:gridCol w="633317"/>
                <a:gridCol w="633317"/>
                <a:gridCol w="633317"/>
                <a:gridCol w="633317"/>
                <a:gridCol w="633317"/>
                <a:gridCol w="633317"/>
                <a:gridCol w="633317"/>
                <a:gridCol w="633317"/>
                <a:gridCol w="633317"/>
              </a:tblGrid>
              <a:tr h="246126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Storage Format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2021A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2022A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2023A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2024A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2025A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2026E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2027F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2028F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2029F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2030F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2031F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2032F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2033F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2034F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2035F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2036F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F-CAGR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</a:tr>
              <a:tr h="248031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Ambient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248031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Chilled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</a:tr>
              <a:tr h="248031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Frozen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248031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Total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219075" y="2486025"/>
            <a:ext cx="11753850" cy="17145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100" b="0" i="1">
                <a:solidFill>
                  <a:srgbClr val="6C7A89"/>
                </a:solidFill>
                <a:latin typeface="Calibri"/>
              </a:rPr>
              <a:t>Source: FMI Analysis, 2026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42875" y="2819400"/>
            <a:ext cx="11906250" cy="1704975"/>
          </a:xfrm>
          <a:prstGeom prst="roundRect">
            <a:avLst>
              <a:gd name="adj" fmla="val 4469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38125" y="2876550"/>
            <a:ext cx="1171575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U.S. Value, By Storage Format (US$ Mn)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152400" y="3076575"/>
          <a:ext cx="11887204" cy="123825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74586"/>
                <a:gridCol w="630154"/>
                <a:gridCol w="630154"/>
                <a:gridCol w="630154"/>
                <a:gridCol w="630154"/>
                <a:gridCol w="630154"/>
                <a:gridCol w="630154"/>
                <a:gridCol w="630154"/>
                <a:gridCol w="630154"/>
                <a:gridCol w="630154"/>
                <a:gridCol w="630154"/>
                <a:gridCol w="630154"/>
                <a:gridCol w="630154"/>
                <a:gridCol w="630154"/>
                <a:gridCol w="630154"/>
                <a:gridCol w="630154"/>
                <a:gridCol w="630154"/>
                <a:gridCol w="630154"/>
              </a:tblGrid>
              <a:tr h="246126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Storage Format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2021A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2022A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2023A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2024A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2025A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2026E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2027F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2028F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2029F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2030F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2031F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2032F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2033F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2034F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2035F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2036F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F-CAGR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</a:tr>
              <a:tr h="248031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Ambient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248031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Chilled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</a:tr>
              <a:tr h="248031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Frozen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248031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Total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219075" y="4324350"/>
            <a:ext cx="11753850" cy="17145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100" b="0" i="1">
                <a:solidFill>
                  <a:srgbClr val="6C7A89"/>
                </a:solidFill>
                <a:latin typeface="Calibri"/>
              </a:rPr>
              <a:t>Source: FMI Analysis, 2026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58595B"/>
                </a:solidFill>
                <a:latin typeface="Calibri"/>
              </a:rPr>
              <a:t>©2026 Future Market Insights, All Rights Reserved</a:t>
            </a:r>
          </a:p>
        </p:txBody>
      </p:sp>
      <p:pic>
        <p:nvPicPr>
          <p:cNvPr id="20" name="Picture 19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69718" y="1713738"/>
            <a:ext cx="366712" cy="533400"/>
          </a:xfrm>
          <a:prstGeom prst="rect">
            <a:avLst/>
          </a:prstGeom>
        </p:spPr>
      </p:pic>
      <p:pic>
        <p:nvPicPr>
          <p:cNvPr id="21" name="Picture 20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6605" y="3552062"/>
            <a:ext cx="366712" cy="533400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3825" y="914400"/>
            <a:ext cx="3943350" cy="28575"/>
          </a:xfrm>
          <a:prstGeom prst="rect">
            <a:avLst/>
          </a:prstGeom>
          <a:solidFill>
            <a:srgbClr val="0081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24325" y="914400"/>
            <a:ext cx="3943350" cy="28575"/>
          </a:xfrm>
          <a:prstGeom prst="rect">
            <a:avLst/>
          </a:prstGeom>
          <a:solidFill>
            <a:srgbClr val="9E7E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124825" y="914400"/>
            <a:ext cx="3943350" cy="28575"/>
          </a:xfrm>
          <a:prstGeom prst="rect">
            <a:avLst/>
          </a:prstGeom>
          <a:solidFill>
            <a:srgbClr val="403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mi_logo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25" y="-205740"/>
            <a:ext cx="1307592" cy="13258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543050" y="19050"/>
            <a:ext cx="8982075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U.S. YoY Analysis Storage Format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43050" y="647700"/>
            <a:ext cx="10506075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U.S. year-on-year volume and value growth by Storage Format, highlighting acceleration and slowdown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620375" y="228600"/>
            <a:ext cx="1428750" cy="419100"/>
          </a:xfrm>
          <a:prstGeom prst="roundRect">
            <a:avLst>
              <a:gd name="adj" fmla="val 22000"/>
            </a:avLst>
          </a:prstGeom>
          <a:solidFill>
            <a:srgbClr val="D9E6F2"/>
          </a:solidFill>
          <a:ln w="6350">
            <a:solidFill>
              <a:srgbClr val="69B1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100" b="1">
                <a:solidFill>
                  <a:srgbClr val="0B2E4A"/>
                </a:solidFill>
                <a:latin typeface="Calibri"/>
              </a:rPr>
              <a:t>U.S.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42875" y="981075"/>
            <a:ext cx="11906250" cy="1457325"/>
          </a:xfrm>
          <a:prstGeom prst="roundRect">
            <a:avLst>
              <a:gd name="adj" fmla="val 5228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38125" y="1038225"/>
            <a:ext cx="1171575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U.S. Volume YoY, By Storage Format (%)  ·  </a:t>
            </a:r>
            <a:r>
              <a:rPr sz="1200" b="1">
                <a:solidFill>
                  <a:srgbClr val="2E7D32"/>
                </a:solidFill>
                <a:latin typeface="Calibri"/>
              </a:rPr>
              <a:t>▲ outpacing market  </a:t>
            </a:r>
            <a:r>
              <a:rPr sz="1200" b="1">
                <a:solidFill>
                  <a:srgbClr val="A86F00"/>
                </a:solidFill>
                <a:latin typeface="Calibri"/>
              </a:rPr>
              <a:t>▶ below market pace  </a:t>
            </a:r>
            <a:r>
              <a:rPr sz="1200" b="1">
                <a:solidFill>
                  <a:srgbClr val="E44D3A"/>
                </a:solidFill>
                <a:latin typeface="Calibri"/>
              </a:rPr>
              <a:t>▼ decline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152400" y="1238250"/>
          <a:ext cx="11887205" cy="9906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89750"/>
                <a:gridCol w="706497"/>
                <a:gridCol w="706497"/>
                <a:gridCol w="706497"/>
                <a:gridCol w="706497"/>
                <a:gridCol w="706497"/>
                <a:gridCol w="706497"/>
                <a:gridCol w="706497"/>
                <a:gridCol w="706497"/>
                <a:gridCol w="706497"/>
                <a:gridCol w="706497"/>
                <a:gridCol w="706497"/>
                <a:gridCol w="706497"/>
                <a:gridCol w="706497"/>
                <a:gridCol w="706497"/>
                <a:gridCol w="706497"/>
              </a:tblGrid>
              <a:tr h="246126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Storage Format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2022A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2023A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2024A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2025A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2026E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2027F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2028F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2029F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2030F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2031F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2032F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2033F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2034F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2035F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2036F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</a:tr>
              <a:tr h="248158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Ambient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248158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Chilled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</a:tr>
              <a:tr h="248158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Frozen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219075" y="2238375"/>
            <a:ext cx="11753850" cy="17145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100" b="0" i="1">
                <a:solidFill>
                  <a:srgbClr val="6C7A89"/>
                </a:solidFill>
                <a:latin typeface="Calibri"/>
              </a:rPr>
              <a:t>Source: FMI Analysis, 2026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42875" y="2571750"/>
            <a:ext cx="11906250" cy="1457325"/>
          </a:xfrm>
          <a:prstGeom prst="roundRect">
            <a:avLst>
              <a:gd name="adj" fmla="val 5228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38125" y="2628900"/>
            <a:ext cx="1171575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U.S. Value YoY, By Storage Format (%)  ·  </a:t>
            </a:r>
            <a:r>
              <a:rPr sz="1200" b="1">
                <a:solidFill>
                  <a:srgbClr val="2E7D32"/>
                </a:solidFill>
                <a:latin typeface="Calibri"/>
              </a:rPr>
              <a:t>▲ outpacing market  </a:t>
            </a:r>
            <a:r>
              <a:rPr sz="1200" b="1">
                <a:solidFill>
                  <a:srgbClr val="A86F00"/>
                </a:solidFill>
                <a:latin typeface="Calibri"/>
              </a:rPr>
              <a:t>▶ below market pace  </a:t>
            </a:r>
            <a:r>
              <a:rPr sz="1200" b="1">
                <a:solidFill>
                  <a:srgbClr val="E44D3A"/>
                </a:solidFill>
                <a:latin typeface="Calibri"/>
              </a:rPr>
              <a:t>▼ decline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152400" y="2828925"/>
          <a:ext cx="11887205" cy="9906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89750"/>
                <a:gridCol w="706497"/>
                <a:gridCol w="706497"/>
                <a:gridCol w="706497"/>
                <a:gridCol w="706497"/>
                <a:gridCol w="706497"/>
                <a:gridCol w="706497"/>
                <a:gridCol w="706497"/>
                <a:gridCol w="706497"/>
                <a:gridCol w="706497"/>
                <a:gridCol w="706497"/>
                <a:gridCol w="706497"/>
                <a:gridCol w="706497"/>
                <a:gridCol w="706497"/>
                <a:gridCol w="706497"/>
                <a:gridCol w="706497"/>
              </a:tblGrid>
              <a:tr h="246126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Storage Format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2022A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2023A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2024A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2025A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2026E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2027F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2028F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2029F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2030F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2031F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2032F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2033F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2034F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2035F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2036F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</a:tr>
              <a:tr h="248158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Ambient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248158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Chilled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</a:tr>
              <a:tr h="248158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Frozen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219075" y="3829050"/>
            <a:ext cx="11753850" cy="17145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100" b="0" i="1">
                <a:solidFill>
                  <a:srgbClr val="6C7A89"/>
                </a:solidFill>
                <a:latin typeface="Calibri"/>
              </a:rPr>
              <a:t>Source: FMI Analysis, 2026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58595B"/>
                </a:solidFill>
                <a:latin typeface="Calibri"/>
              </a:rPr>
              <a:t>©2026 Future Market Insights, All Rights Reserved</a:t>
            </a:r>
          </a:p>
        </p:txBody>
      </p:sp>
      <p:pic>
        <p:nvPicPr>
          <p:cNvPr id="20" name="Picture 19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4187" y="1589913"/>
            <a:ext cx="366712" cy="533400"/>
          </a:xfrm>
          <a:prstGeom prst="rect">
            <a:avLst/>
          </a:prstGeom>
        </p:spPr>
      </p:pic>
      <p:pic>
        <p:nvPicPr>
          <p:cNvPr id="21" name="Picture 20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4187" y="3180587"/>
            <a:ext cx="366712" cy="533400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8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F1F8FE"/>
              </a:gs>
              <a:gs pos="100000">
                <a:srgbClr val="DAEAF9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0" y="5591183"/>
            <a:ext cx="12192000" cy="1266817"/>
          </a:xfrm>
          <a:custGeom>
            <a:avLst/>
            <a:gdLst/>
            <a:ahLst/>
            <a:cxnLst/>
            <a:rect l="l" t="t" r="r" b="b"/>
            <a:pathLst>
              <a:path w="12192000" h="1266817">
                <a:moveTo>
                  <a:pt x="0" y="1266817"/>
                </a:moveTo>
                <a:lnTo>
                  <a:pt x="0" y="475605"/>
                </a:lnTo>
                <a:lnTo>
                  <a:pt x="152400" y="486239"/>
                </a:lnTo>
                <a:lnTo>
                  <a:pt x="304800" y="495887"/>
                </a:lnTo>
                <a:lnTo>
                  <a:pt x="457200" y="504505"/>
                </a:lnTo>
                <a:lnTo>
                  <a:pt x="609600" y="512056"/>
                </a:lnTo>
                <a:lnTo>
                  <a:pt x="762000" y="518505"/>
                </a:lnTo>
                <a:lnTo>
                  <a:pt x="914400" y="523824"/>
                </a:lnTo>
                <a:lnTo>
                  <a:pt x="1066800" y="527988"/>
                </a:lnTo>
                <a:lnTo>
                  <a:pt x="1219200" y="530979"/>
                </a:lnTo>
                <a:lnTo>
                  <a:pt x="1371600" y="532783"/>
                </a:lnTo>
                <a:lnTo>
                  <a:pt x="1524000" y="533392"/>
                </a:lnTo>
                <a:lnTo>
                  <a:pt x="1676400" y="532804"/>
                </a:lnTo>
                <a:lnTo>
                  <a:pt x="1828800" y="531021"/>
                </a:lnTo>
                <a:lnTo>
                  <a:pt x="1981200" y="528051"/>
                </a:lnTo>
                <a:lnTo>
                  <a:pt x="2133600" y="523907"/>
                </a:lnTo>
                <a:lnTo>
                  <a:pt x="2286000" y="518609"/>
                </a:lnTo>
                <a:lnTo>
                  <a:pt x="2438400" y="512179"/>
                </a:lnTo>
                <a:lnTo>
                  <a:pt x="2590800" y="504648"/>
                </a:lnTo>
                <a:lnTo>
                  <a:pt x="2743200" y="496047"/>
                </a:lnTo>
                <a:lnTo>
                  <a:pt x="2895600" y="486417"/>
                </a:lnTo>
                <a:lnTo>
                  <a:pt x="3048000" y="475801"/>
                </a:lnTo>
                <a:lnTo>
                  <a:pt x="3200400" y="464245"/>
                </a:lnTo>
                <a:lnTo>
                  <a:pt x="3352800" y="451803"/>
                </a:lnTo>
                <a:lnTo>
                  <a:pt x="3505200" y="438529"/>
                </a:lnTo>
                <a:lnTo>
                  <a:pt x="3657600" y="424484"/>
                </a:lnTo>
                <a:lnTo>
                  <a:pt x="3810000" y="409730"/>
                </a:lnTo>
                <a:lnTo>
                  <a:pt x="3962400" y="394334"/>
                </a:lnTo>
                <a:lnTo>
                  <a:pt x="4114800" y="378365"/>
                </a:lnTo>
                <a:lnTo>
                  <a:pt x="4267200" y="361894"/>
                </a:lnTo>
                <a:lnTo>
                  <a:pt x="4419600" y="344996"/>
                </a:lnTo>
                <a:lnTo>
                  <a:pt x="4572000" y="327746"/>
                </a:lnTo>
                <a:lnTo>
                  <a:pt x="4724400" y="310223"/>
                </a:lnTo>
                <a:lnTo>
                  <a:pt x="4876800" y="292503"/>
                </a:lnTo>
                <a:lnTo>
                  <a:pt x="5029200" y="274668"/>
                </a:lnTo>
                <a:lnTo>
                  <a:pt x="5181600" y="256797"/>
                </a:lnTo>
                <a:lnTo>
                  <a:pt x="5334000" y="238971"/>
                </a:lnTo>
                <a:lnTo>
                  <a:pt x="5486400" y="221269"/>
                </a:lnTo>
                <a:lnTo>
                  <a:pt x="5638800" y="203771"/>
                </a:lnTo>
                <a:lnTo>
                  <a:pt x="5791200" y="186555"/>
                </a:lnTo>
                <a:lnTo>
                  <a:pt x="5943600" y="169699"/>
                </a:lnTo>
                <a:lnTo>
                  <a:pt x="6096000" y="153279"/>
                </a:lnTo>
                <a:lnTo>
                  <a:pt x="6248400" y="137368"/>
                </a:lnTo>
                <a:lnTo>
                  <a:pt x="6400800" y="122038"/>
                </a:lnTo>
                <a:lnTo>
                  <a:pt x="6553200" y="107357"/>
                </a:lnTo>
                <a:lnTo>
                  <a:pt x="6705600" y="93391"/>
                </a:lnTo>
                <a:lnTo>
                  <a:pt x="6858000" y="80204"/>
                </a:lnTo>
                <a:lnTo>
                  <a:pt x="7010400" y="67854"/>
                </a:lnTo>
                <a:lnTo>
                  <a:pt x="7162800" y="56397"/>
                </a:lnTo>
                <a:lnTo>
                  <a:pt x="7315200" y="45884"/>
                </a:lnTo>
                <a:lnTo>
                  <a:pt x="7467600" y="36363"/>
                </a:lnTo>
                <a:lnTo>
                  <a:pt x="7620000" y="27876"/>
                </a:lnTo>
                <a:lnTo>
                  <a:pt x="7772400" y="20461"/>
                </a:lnTo>
                <a:lnTo>
                  <a:pt x="7924800" y="14151"/>
                </a:lnTo>
                <a:lnTo>
                  <a:pt x="8077200" y="8976"/>
                </a:lnTo>
                <a:lnTo>
                  <a:pt x="8229600" y="4958"/>
                </a:lnTo>
                <a:lnTo>
                  <a:pt x="8382000" y="2115"/>
                </a:lnTo>
                <a:lnTo>
                  <a:pt x="8534400" y="460"/>
                </a:lnTo>
                <a:lnTo>
                  <a:pt x="8686800" y="0"/>
                </a:lnTo>
                <a:lnTo>
                  <a:pt x="8839200" y="738"/>
                </a:lnTo>
                <a:lnTo>
                  <a:pt x="8991600" y="2670"/>
                </a:lnTo>
                <a:lnTo>
                  <a:pt x="9144000" y="5787"/>
                </a:lnTo>
                <a:lnTo>
                  <a:pt x="9296400" y="10076"/>
                </a:lnTo>
                <a:lnTo>
                  <a:pt x="9448800" y="15518"/>
                </a:lnTo>
                <a:lnTo>
                  <a:pt x="9601200" y="22086"/>
                </a:lnTo>
                <a:lnTo>
                  <a:pt x="9753600" y="29754"/>
                </a:lnTo>
                <a:lnTo>
                  <a:pt x="9906000" y="38485"/>
                </a:lnTo>
                <a:lnTo>
                  <a:pt x="10058400" y="48241"/>
                </a:lnTo>
                <a:lnTo>
                  <a:pt x="10210800" y="58977"/>
                </a:lnTo>
                <a:lnTo>
                  <a:pt x="10363200" y="70647"/>
                </a:lnTo>
                <a:lnTo>
                  <a:pt x="10515600" y="83196"/>
                </a:lnTo>
                <a:lnTo>
                  <a:pt x="10668000" y="96570"/>
                </a:lnTo>
                <a:lnTo>
                  <a:pt x="10820400" y="110707"/>
                </a:lnTo>
                <a:lnTo>
                  <a:pt x="10972800" y="125545"/>
                </a:lnTo>
                <a:lnTo>
                  <a:pt x="11125200" y="141016"/>
                </a:lnTo>
                <a:lnTo>
                  <a:pt x="11277600" y="157052"/>
                </a:lnTo>
                <a:lnTo>
                  <a:pt x="11430000" y="173580"/>
                </a:lnTo>
                <a:lnTo>
                  <a:pt x="11582400" y="190527"/>
                </a:lnTo>
                <a:lnTo>
                  <a:pt x="11734800" y="207815"/>
                </a:lnTo>
                <a:lnTo>
                  <a:pt x="11887200" y="225367"/>
                </a:lnTo>
                <a:lnTo>
                  <a:pt x="12039600" y="243105"/>
                </a:lnTo>
                <a:lnTo>
                  <a:pt x="12192000" y="260949"/>
                </a:lnTo>
                <a:lnTo>
                  <a:pt x="12192000" y="1266817"/>
                </a:lnTo>
                <a:close/>
              </a:path>
            </a:pathLst>
          </a:custGeom>
          <a:solidFill>
            <a:srgbClr val="C8E0F6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0" y="5905543"/>
            <a:ext cx="12192000" cy="952457"/>
          </a:xfrm>
          <a:custGeom>
            <a:avLst/>
            <a:gdLst/>
            <a:ahLst/>
            <a:cxnLst/>
            <a:rect l="l" t="t" r="r" b="b"/>
            <a:pathLst>
              <a:path w="12192000" h="952457">
                <a:moveTo>
                  <a:pt x="0" y="952457"/>
                </a:moveTo>
                <a:lnTo>
                  <a:pt x="0" y="288660"/>
                </a:lnTo>
                <a:lnTo>
                  <a:pt x="152400" y="275228"/>
                </a:lnTo>
                <a:lnTo>
                  <a:pt x="304800" y="261249"/>
                </a:lnTo>
                <a:lnTo>
                  <a:pt x="457200" y="246812"/>
                </a:lnTo>
                <a:lnTo>
                  <a:pt x="609600" y="232010"/>
                </a:lnTo>
                <a:lnTo>
                  <a:pt x="762000" y="216940"/>
                </a:lnTo>
                <a:lnTo>
                  <a:pt x="914400" y="201698"/>
                </a:lnTo>
                <a:lnTo>
                  <a:pt x="1066800" y="186384"/>
                </a:lnTo>
                <a:lnTo>
                  <a:pt x="1219200" y="171097"/>
                </a:lnTo>
                <a:lnTo>
                  <a:pt x="1371600" y="155934"/>
                </a:lnTo>
                <a:lnTo>
                  <a:pt x="1524000" y="140995"/>
                </a:lnTo>
                <a:lnTo>
                  <a:pt x="1676400" y="126375"/>
                </a:lnTo>
                <a:lnTo>
                  <a:pt x="1828800" y="112170"/>
                </a:lnTo>
                <a:lnTo>
                  <a:pt x="1981200" y="98470"/>
                </a:lnTo>
                <a:lnTo>
                  <a:pt x="2133600" y="85366"/>
                </a:lnTo>
                <a:lnTo>
                  <a:pt x="2286000" y="72940"/>
                </a:lnTo>
                <a:lnTo>
                  <a:pt x="2438400" y="61275"/>
                </a:lnTo>
                <a:lnTo>
                  <a:pt x="2590800" y="50444"/>
                </a:lnTo>
                <a:lnTo>
                  <a:pt x="2743200" y="40519"/>
                </a:lnTo>
                <a:lnTo>
                  <a:pt x="2895600" y="31563"/>
                </a:lnTo>
                <a:lnTo>
                  <a:pt x="3048000" y="23634"/>
                </a:lnTo>
                <a:lnTo>
                  <a:pt x="3200400" y="16784"/>
                </a:lnTo>
                <a:lnTo>
                  <a:pt x="3352800" y="11056"/>
                </a:lnTo>
                <a:lnTo>
                  <a:pt x="3505200" y="6489"/>
                </a:lnTo>
                <a:lnTo>
                  <a:pt x="3657600" y="3110"/>
                </a:lnTo>
                <a:lnTo>
                  <a:pt x="3810000" y="943"/>
                </a:lnTo>
                <a:lnTo>
                  <a:pt x="3962400" y="0"/>
                </a:lnTo>
                <a:lnTo>
                  <a:pt x="4114800" y="289"/>
                </a:lnTo>
                <a:lnTo>
                  <a:pt x="4267200" y="1808"/>
                </a:lnTo>
                <a:lnTo>
                  <a:pt x="4419600" y="4546"/>
                </a:lnTo>
                <a:lnTo>
                  <a:pt x="4572000" y="8485"/>
                </a:lnTo>
                <a:lnTo>
                  <a:pt x="4724400" y="13601"/>
                </a:lnTo>
                <a:lnTo>
                  <a:pt x="4876800" y="19861"/>
                </a:lnTo>
                <a:lnTo>
                  <a:pt x="5029200" y="27223"/>
                </a:lnTo>
                <a:lnTo>
                  <a:pt x="5181600" y="35641"/>
                </a:lnTo>
                <a:lnTo>
                  <a:pt x="5334000" y="45059"/>
                </a:lnTo>
                <a:lnTo>
                  <a:pt x="5486400" y="55417"/>
                </a:lnTo>
                <a:lnTo>
                  <a:pt x="5638800" y="66649"/>
                </a:lnTo>
                <a:lnTo>
                  <a:pt x="5791200" y="78680"/>
                </a:lnTo>
                <a:lnTo>
                  <a:pt x="5943600" y="91435"/>
                </a:lnTo>
                <a:lnTo>
                  <a:pt x="6096000" y="104829"/>
                </a:lnTo>
                <a:lnTo>
                  <a:pt x="6248400" y="118777"/>
                </a:lnTo>
                <a:lnTo>
                  <a:pt x="6400800" y="133188"/>
                </a:lnTo>
                <a:lnTo>
                  <a:pt x="6553200" y="147970"/>
                </a:lnTo>
                <a:lnTo>
                  <a:pt x="6705600" y="163026"/>
                </a:lnTo>
                <a:lnTo>
                  <a:pt x="6858000" y="178260"/>
                </a:lnTo>
                <a:lnTo>
                  <a:pt x="7010400" y="193572"/>
                </a:lnTo>
                <a:lnTo>
                  <a:pt x="7162800" y="208865"/>
                </a:lnTo>
                <a:lnTo>
                  <a:pt x="7315200" y="224038"/>
                </a:lnTo>
                <a:lnTo>
                  <a:pt x="7467600" y="238994"/>
                </a:lnTo>
                <a:lnTo>
                  <a:pt x="7620000" y="253637"/>
                </a:lnTo>
                <a:lnTo>
                  <a:pt x="7772400" y="267871"/>
                </a:lnTo>
                <a:lnTo>
                  <a:pt x="7924800" y="281604"/>
                </a:lnTo>
                <a:lnTo>
                  <a:pt x="8077200" y="294748"/>
                </a:lnTo>
                <a:lnTo>
                  <a:pt x="8229600" y="307218"/>
                </a:lnTo>
                <a:lnTo>
                  <a:pt x="8382000" y="318934"/>
                </a:lnTo>
                <a:lnTo>
                  <a:pt x="8534400" y="329818"/>
                </a:lnTo>
                <a:lnTo>
                  <a:pt x="8686800" y="339802"/>
                </a:lnTo>
                <a:lnTo>
                  <a:pt x="8839200" y="348821"/>
                </a:lnTo>
                <a:lnTo>
                  <a:pt x="8991600" y="356815"/>
                </a:lnTo>
                <a:lnTo>
                  <a:pt x="9144000" y="363734"/>
                </a:lnTo>
                <a:lnTo>
                  <a:pt x="9296400" y="369533"/>
                </a:lnTo>
                <a:lnTo>
                  <a:pt x="9448800" y="374174"/>
                </a:lnTo>
                <a:lnTo>
                  <a:pt x="9601200" y="377628"/>
                </a:lnTo>
                <a:lnTo>
                  <a:pt x="9753600" y="379872"/>
                </a:lnTo>
                <a:lnTo>
                  <a:pt x="9906000" y="380891"/>
                </a:lnTo>
                <a:lnTo>
                  <a:pt x="10058400" y="380679"/>
                </a:lnTo>
                <a:lnTo>
                  <a:pt x="10210800" y="379237"/>
                </a:lnTo>
                <a:lnTo>
                  <a:pt x="10363200" y="376575"/>
                </a:lnTo>
                <a:lnTo>
                  <a:pt x="10515600" y="372710"/>
                </a:lnTo>
                <a:lnTo>
                  <a:pt x="10668000" y="367666"/>
                </a:lnTo>
                <a:lnTo>
                  <a:pt x="10820400" y="361477"/>
                </a:lnTo>
                <a:lnTo>
                  <a:pt x="10972800" y="354182"/>
                </a:lnTo>
                <a:lnTo>
                  <a:pt x="11125200" y="345829"/>
                </a:lnTo>
                <a:lnTo>
                  <a:pt x="11277600" y="336472"/>
                </a:lnTo>
                <a:lnTo>
                  <a:pt x="11430000" y="326170"/>
                </a:lnTo>
                <a:lnTo>
                  <a:pt x="11582400" y="314991"/>
                </a:lnTo>
                <a:lnTo>
                  <a:pt x="11734800" y="303008"/>
                </a:lnTo>
                <a:lnTo>
                  <a:pt x="11887200" y="290296"/>
                </a:lnTo>
                <a:lnTo>
                  <a:pt x="12039600" y="276939"/>
                </a:lnTo>
                <a:lnTo>
                  <a:pt x="12192000" y="263023"/>
                </a:lnTo>
                <a:lnTo>
                  <a:pt x="12192000" y="952457"/>
                </a:lnTo>
                <a:close/>
              </a:path>
            </a:pathLst>
          </a:custGeom>
          <a:solidFill>
            <a:srgbClr val="A7CDF1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638925"/>
            <a:ext cx="12192000" cy="219075"/>
          </a:xfrm>
          <a:prstGeom prst="rect">
            <a:avLst/>
          </a:prstGeom>
          <a:solidFill>
            <a:srgbClr val="A9C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238875"/>
            <a:ext cx="12192000" cy="400050"/>
          </a:xfrm>
          <a:prstGeom prst="rect">
            <a:avLst/>
          </a:prstGeom>
          <a:gradFill rotWithShape="1">
            <a:gsLst>
              <a:gs pos="0">
                <a:srgbClr val="2C6BB2"/>
              </a:gs>
              <a:gs pos="100000">
                <a:srgbClr val="7FB5E4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MI Section Bar"/>
          <p:cNvSpPr txBox="1"/>
          <p:nvPr/>
        </p:nvSpPr>
        <p:spPr>
          <a:xfrm>
            <a:off x="285750" y="6238875"/>
            <a:ext cx="3810000" cy="400050"/>
          </a:xfrm>
          <a:prstGeom prst="rect">
            <a:avLst/>
          </a:prstGeom>
          <a:noFill/>
        </p:spPr>
        <p:txBody>
          <a:bodyPr wrap="none" anchor="ctr" lIns="0" tIns="0" bIns="0">
            <a:spAutoFit/>
          </a:bodyPr>
          <a:lstStyle/>
          <a:p>
            <a:r>
              <a:rPr sz="1500" b="1">
                <a:solidFill>
                  <a:srgbClr val="FFFFFF"/>
                </a:solidFill>
                <a:latin typeface="Calibri"/>
              </a:rPr>
              <a:t>Section 2.11</a:t>
            </a:r>
          </a:p>
        </p:txBody>
      </p:sp>
      <p:pic>
        <p:nvPicPr>
          <p:cNvPr id="8" name="Picture 7" descr="fmi_logo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74320"/>
            <a:ext cx="1307592" cy="13258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14400" y="2752725"/>
            <a:ext cx="8572500" cy="3048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800" b="0">
                <a:solidFill>
                  <a:srgbClr val="0E72AE"/>
                </a:solidFill>
                <a:latin typeface="Calibri"/>
              </a:rPr>
              <a:t>Packaged Muffins Market</a:t>
            </a:r>
          </a:p>
        </p:txBody>
      </p:sp>
      <p:sp>
        <p:nvSpPr>
          <p:cNvPr id="10" name="FMI Section Title"/>
          <p:cNvSpPr txBox="1"/>
          <p:nvPr/>
        </p:nvSpPr>
        <p:spPr>
          <a:xfrm>
            <a:off x="914400" y="3095625"/>
            <a:ext cx="8572500" cy="51435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r>
              <a:rPr sz="3000" b="1">
                <a:solidFill>
                  <a:srgbClr val="0B3C8C"/>
                </a:solidFill>
                <a:latin typeface="Calibri"/>
              </a:rPr>
              <a:t>Shelf Life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781425"/>
            <a:ext cx="8458200" cy="12763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Calibri"/>
              </a:rPr>
              <a:t>➤	</a:t>
            </a:r>
            <a:r>
              <a:rPr sz="2000" b="0">
                <a:solidFill>
                  <a:srgbClr val="000000"/>
                </a:solidFill>
                <a:latin typeface="Calibri"/>
              </a:rPr>
              <a:t>Segmental</a:t>
            </a:r>
          </a:p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Calibri"/>
              </a:rPr>
              <a:t>➤	</a:t>
            </a:r>
            <a:r>
              <a:rPr sz="2000" b="0">
                <a:solidFill>
                  <a:srgbClr val="000000"/>
                </a:solidFill>
                <a:latin typeface="Calibri"/>
              </a:rPr>
              <a:t>Table (Volume &amp; Value)</a:t>
            </a:r>
          </a:p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Calibri"/>
              </a:rPr>
              <a:t>➤	</a:t>
            </a:r>
            <a:r>
              <a:rPr sz="2000" b="0">
                <a:solidFill>
                  <a:srgbClr val="000000"/>
                </a:solidFill>
                <a:latin typeface="Calibri"/>
              </a:rPr>
              <a:t>YoY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58595B"/>
                </a:solidFill>
                <a:latin typeface="Calibri"/>
              </a:rPr>
              <a:t>©2026 Future Market Insights, All Rights Reserved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3825" y="914400"/>
            <a:ext cx="3943350" cy="28575"/>
          </a:xfrm>
          <a:prstGeom prst="rect">
            <a:avLst/>
          </a:prstGeom>
          <a:solidFill>
            <a:srgbClr val="0081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24325" y="914400"/>
            <a:ext cx="3943350" cy="28575"/>
          </a:xfrm>
          <a:prstGeom prst="rect">
            <a:avLst/>
          </a:prstGeom>
          <a:solidFill>
            <a:srgbClr val="9E7E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124825" y="914400"/>
            <a:ext cx="3943350" cy="28575"/>
          </a:xfrm>
          <a:prstGeom prst="rect">
            <a:avLst/>
          </a:prstGeom>
          <a:solidFill>
            <a:srgbClr val="403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mi_logo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25" y="-205740"/>
            <a:ext cx="1307592" cy="13258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543050" y="19050"/>
            <a:ext cx="8982075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U.S. Packaged Muffins Market Segmental Analysis Shelf Life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43050" y="647700"/>
            <a:ext cx="10506075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U.S. segmental analysis by Shelf Life: growth contribution, share variance and absolute $ opportunity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620375" y="228600"/>
            <a:ext cx="1428750" cy="419100"/>
          </a:xfrm>
          <a:prstGeom prst="roundRect">
            <a:avLst>
              <a:gd name="adj" fmla="val 22000"/>
            </a:avLst>
          </a:prstGeom>
          <a:solidFill>
            <a:srgbClr val="D9E6F2"/>
          </a:solidFill>
          <a:ln w="6350">
            <a:solidFill>
              <a:srgbClr val="69B1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100" b="1">
                <a:solidFill>
                  <a:srgbClr val="0B2E4A"/>
                </a:solidFill>
                <a:latin typeface="Calibri"/>
              </a:rPr>
              <a:t>U.S.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42875" y="981075"/>
            <a:ext cx="5876925" cy="2752725"/>
          </a:xfrm>
          <a:prstGeom prst="roundRect">
            <a:avLst>
              <a:gd name="adj" fmla="val 2768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38125" y="1038225"/>
            <a:ext cx="5686425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Growth Contribution 2026 → 2036, By Shelf Life (US$ Mn)</a:t>
            </a:r>
          </a:p>
        </p:txBody>
      </p:sp>
      <p:graphicFrame>
        <p:nvGraphicFramePr>
          <p:cNvPr id="13" name="Chart 12"/>
          <p:cNvGraphicFramePr>
            <a:graphicFrameLocks noGrp="1"/>
          </p:cNvGraphicFramePr>
          <p:nvPr/>
        </p:nvGraphicFramePr>
        <p:xfrm>
          <a:off x="238125" y="1266825"/>
          <a:ext cx="5686425" cy="2409825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4" name="Rounded Rectangle 13"/>
          <p:cNvSpPr/>
          <p:nvPr/>
        </p:nvSpPr>
        <p:spPr>
          <a:xfrm>
            <a:off x="6172200" y="981075"/>
            <a:ext cx="5876925" cy="2752725"/>
          </a:xfrm>
          <a:prstGeom prst="roundRect">
            <a:avLst>
              <a:gd name="adj" fmla="val 2768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67450" y="1038225"/>
            <a:ext cx="5686425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Value Shares &amp; Variance, By Shelf Life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6181725" y="1238250"/>
          <a:ext cx="5857877" cy="228599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03925"/>
                <a:gridCol w="1113488"/>
                <a:gridCol w="1113488"/>
                <a:gridCol w="1113488"/>
                <a:gridCol w="1113488"/>
              </a:tblGrid>
              <a:tr h="246126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Shelf Life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Share 2026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Share 2036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Variance (BPS)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F-CAGR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</a:tr>
              <a:tr h="509968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Up to 7 days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509968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8-30 days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</a:tr>
              <a:tr h="509968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31-90 days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509968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More than 90 days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</a:tr>
            </a:tbl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6248400" y="3533775"/>
            <a:ext cx="5724525" cy="17145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100" b="0" i="1">
                <a:solidFill>
                  <a:srgbClr val="6C7A89"/>
                </a:solidFill>
                <a:latin typeface="Calibri"/>
              </a:rPr>
              <a:t>Source: FMI Analysis, 2026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42875" y="3867150"/>
            <a:ext cx="5876925" cy="2752725"/>
          </a:xfrm>
          <a:prstGeom prst="roundRect">
            <a:avLst>
              <a:gd name="adj" fmla="val 2768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38125" y="3924300"/>
            <a:ext cx="5686425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Absolute $ Opportunity, By Shelf Life (US$ Mn), between 2026–2036</a:t>
            </a:r>
          </a:p>
        </p:txBody>
      </p:sp>
      <p:graphicFrame>
        <p:nvGraphicFramePr>
          <p:cNvPr id="20" name="Chart 19"/>
          <p:cNvGraphicFramePr>
            <a:graphicFrameLocks noGrp="1"/>
          </p:cNvGraphicFramePr>
          <p:nvPr/>
        </p:nvGraphicFramePr>
        <p:xfrm>
          <a:off x="238125" y="4152900"/>
          <a:ext cx="5686425" cy="2409825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21" name="Rounded Rectangle 20"/>
          <p:cNvSpPr/>
          <p:nvPr/>
        </p:nvSpPr>
        <p:spPr>
          <a:xfrm>
            <a:off x="6172200" y="3867150"/>
            <a:ext cx="5876925" cy="2752725"/>
          </a:xfrm>
          <a:prstGeom prst="roundRect">
            <a:avLst>
              <a:gd name="adj" fmla="val 2768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67450" y="3924300"/>
            <a:ext cx="5686425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Volume Shares &amp; Variance, By Shelf Life</a:t>
            </a:r>
          </a:p>
        </p:txBody>
      </p:sp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6181725" y="4124325"/>
          <a:ext cx="5857877" cy="228599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03925"/>
                <a:gridCol w="1113488"/>
                <a:gridCol w="1113488"/>
                <a:gridCol w="1113488"/>
                <a:gridCol w="1113488"/>
              </a:tblGrid>
              <a:tr h="246126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Shelf Life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Share 2026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Share 2036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Variance (BPS)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F-CAGR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</a:tr>
              <a:tr h="509968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Up to 7 days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509968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8-30 days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</a:tr>
              <a:tr h="509968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31-90 days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509968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More than 90 days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</a:tr>
            </a:tbl>
          </a:graphicData>
        </a:graphic>
      </p:graphicFrame>
      <p:sp>
        <p:nvSpPr>
          <p:cNvPr id="24" name="TextBox 23"/>
          <p:cNvSpPr txBox="1"/>
          <p:nvPr/>
        </p:nvSpPr>
        <p:spPr>
          <a:xfrm>
            <a:off x="6248400" y="6419850"/>
            <a:ext cx="5724525" cy="17145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100" b="0" i="1">
                <a:solidFill>
                  <a:srgbClr val="6C7A89"/>
                </a:solidFill>
                <a:latin typeface="Calibri"/>
              </a:rPr>
              <a:t>Source: FMI Analysis, 2026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58595B"/>
                </a:solidFill>
                <a:latin typeface="Calibri"/>
              </a:rPr>
              <a:t>©2026 Future Market Insights, All Rights Reserved</a:t>
            </a:r>
          </a:p>
        </p:txBody>
      </p:sp>
      <p:pic>
        <p:nvPicPr>
          <p:cNvPr id="26" name="Picture 25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94826" y="2237234"/>
            <a:ext cx="263506" cy="383281"/>
          </a:xfrm>
          <a:prstGeom prst="rect">
            <a:avLst/>
          </a:prstGeom>
        </p:spPr>
      </p:pic>
      <p:pic>
        <p:nvPicPr>
          <p:cNvPr id="27" name="Picture 26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25935" y="2237612"/>
            <a:ext cx="366712" cy="533400"/>
          </a:xfrm>
          <a:prstGeom prst="rect">
            <a:avLst/>
          </a:prstGeom>
        </p:spPr>
      </p:pic>
      <p:pic>
        <p:nvPicPr>
          <p:cNvPr id="28" name="Picture 27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94826" y="5123309"/>
            <a:ext cx="263506" cy="383281"/>
          </a:xfrm>
          <a:prstGeom prst="rect">
            <a:avLst/>
          </a:prstGeom>
        </p:spPr>
      </p:pic>
      <p:pic>
        <p:nvPicPr>
          <p:cNvPr id="29" name="Picture 28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25935" y="5123687"/>
            <a:ext cx="366712" cy="533400"/>
          </a:xfrm>
          <a:prstGeom prst="rect">
            <a:avLst/>
          </a:prstGeom>
        </p:spPr>
      </p:pic>
      <p:sp>
        <p:nvSpPr>
          <p:cNvPr id="30" name="lockshield_13"/>
          <p:cNvSpPr/>
          <p:nvPr/>
        </p:nvSpPr>
        <p:spPr>
          <a:xfrm>
            <a:off x="238125" y="1266825"/>
            <a:ext cx="5686425" cy="2409825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lockshield_20"/>
          <p:cNvSpPr/>
          <p:nvPr/>
        </p:nvSpPr>
        <p:spPr>
          <a:xfrm>
            <a:off x="238125" y="4152900"/>
            <a:ext cx="5686425" cy="2409825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3825" y="914400"/>
            <a:ext cx="3943350" cy="28575"/>
          </a:xfrm>
          <a:prstGeom prst="rect">
            <a:avLst/>
          </a:prstGeom>
          <a:solidFill>
            <a:srgbClr val="0081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24325" y="914400"/>
            <a:ext cx="3943350" cy="28575"/>
          </a:xfrm>
          <a:prstGeom prst="rect">
            <a:avLst/>
          </a:prstGeom>
          <a:solidFill>
            <a:srgbClr val="9E7E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124825" y="914400"/>
            <a:ext cx="3943350" cy="28575"/>
          </a:xfrm>
          <a:prstGeom prst="rect">
            <a:avLst/>
          </a:prstGeom>
          <a:solidFill>
            <a:srgbClr val="403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mi_logo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25" y="-205740"/>
            <a:ext cx="1307592" cy="13258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543050" y="19050"/>
            <a:ext cx="8982075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U.S. Packaged Muffins Market Tables Shelf Life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43050" y="647700"/>
            <a:ext cx="10506075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Year-by-year volume and value of the U.S. market by Shelf Life, 2021–2036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620375" y="228600"/>
            <a:ext cx="1428750" cy="419100"/>
          </a:xfrm>
          <a:prstGeom prst="roundRect">
            <a:avLst>
              <a:gd name="adj" fmla="val 22000"/>
            </a:avLst>
          </a:prstGeom>
          <a:solidFill>
            <a:srgbClr val="D9E6F2"/>
          </a:solidFill>
          <a:ln w="6350">
            <a:solidFill>
              <a:srgbClr val="69B1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100" b="1">
                <a:solidFill>
                  <a:srgbClr val="0B2E4A"/>
                </a:solidFill>
                <a:latin typeface="Calibri"/>
              </a:rPr>
              <a:t>U.S.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42875" y="981075"/>
            <a:ext cx="11906250" cy="1952625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38125" y="1038225"/>
            <a:ext cx="1171575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U.S. Volume, By Shelf Life (MT)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152400" y="1238250"/>
          <a:ext cx="11887204" cy="148589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15142"/>
                <a:gridCol w="621886"/>
                <a:gridCol w="621886"/>
                <a:gridCol w="621886"/>
                <a:gridCol w="621886"/>
                <a:gridCol w="621886"/>
                <a:gridCol w="621886"/>
                <a:gridCol w="621886"/>
                <a:gridCol w="621886"/>
                <a:gridCol w="621886"/>
                <a:gridCol w="621886"/>
                <a:gridCol w="621886"/>
                <a:gridCol w="621886"/>
                <a:gridCol w="621886"/>
                <a:gridCol w="621886"/>
                <a:gridCol w="621886"/>
                <a:gridCol w="621886"/>
                <a:gridCol w="621886"/>
              </a:tblGrid>
              <a:tr h="246126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Shelf Life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2021A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2022A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2023A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2024A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2025A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2026E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2027F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2028F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2029F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2030F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2031F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2032F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2033F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2034F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2035F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2036F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F-CAGR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</a:tr>
              <a:tr h="247954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Up to 7 days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247954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8-30 days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</a:tr>
              <a:tr h="247954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31-90 days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247954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More than 90 days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</a:tr>
              <a:tr h="247954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Total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219075" y="2733675"/>
            <a:ext cx="11753850" cy="17145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100" b="0" i="1">
                <a:solidFill>
                  <a:srgbClr val="6C7A89"/>
                </a:solidFill>
                <a:latin typeface="Calibri"/>
              </a:rPr>
              <a:t>Source: FMI Analysis, 2026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42875" y="3067050"/>
            <a:ext cx="11906250" cy="1952625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38125" y="3124200"/>
            <a:ext cx="1171575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U.S. Value, By Shelf Life (US$ Mn)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152400" y="3324225"/>
          <a:ext cx="11887193" cy="148589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77045"/>
                <a:gridCol w="618244"/>
                <a:gridCol w="618244"/>
                <a:gridCol w="618244"/>
                <a:gridCol w="618244"/>
                <a:gridCol w="618244"/>
                <a:gridCol w="618244"/>
                <a:gridCol w="618244"/>
                <a:gridCol w="618244"/>
                <a:gridCol w="618244"/>
                <a:gridCol w="618244"/>
                <a:gridCol w="618244"/>
                <a:gridCol w="618244"/>
                <a:gridCol w="618244"/>
                <a:gridCol w="618244"/>
                <a:gridCol w="618244"/>
                <a:gridCol w="618244"/>
                <a:gridCol w="618244"/>
              </a:tblGrid>
              <a:tr h="246126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Shelf Life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2021A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2022A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2023A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2024A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2025A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2026E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2027F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2028F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2029F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2030F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2031F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2032F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2033F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2034F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2035F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2036F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F-CAGR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</a:tr>
              <a:tr h="247954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Up to 7 days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247954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8-30 days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</a:tr>
              <a:tr h="247954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31-90 days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247954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More than 90 days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</a:tr>
              <a:tr h="247954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Total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219075" y="4819650"/>
            <a:ext cx="11753850" cy="17145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100" b="0" i="1">
                <a:solidFill>
                  <a:srgbClr val="6C7A89"/>
                </a:solidFill>
                <a:latin typeface="Calibri"/>
              </a:rPr>
              <a:t>Source: FMI Analysis, 2026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58595B"/>
                </a:solidFill>
                <a:latin typeface="Calibri"/>
              </a:rPr>
              <a:t>©2026 Future Market Insights, All Rights Reserved</a:t>
            </a:r>
          </a:p>
        </p:txBody>
      </p:sp>
      <p:pic>
        <p:nvPicPr>
          <p:cNvPr id="20" name="Picture 19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66883" y="1837563"/>
            <a:ext cx="366712" cy="533400"/>
          </a:xfrm>
          <a:prstGeom prst="rect">
            <a:avLst/>
          </a:prstGeom>
        </p:spPr>
      </p:pic>
      <p:pic>
        <p:nvPicPr>
          <p:cNvPr id="21" name="Picture 20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97829" y="3923538"/>
            <a:ext cx="366712" cy="533400"/>
          </a:xfrm>
          <a:prstGeom prst="rect">
            <a:avLst/>
          </a:prstGeom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3825" y="914400"/>
            <a:ext cx="3943350" cy="28575"/>
          </a:xfrm>
          <a:prstGeom prst="rect">
            <a:avLst/>
          </a:prstGeom>
          <a:solidFill>
            <a:srgbClr val="0081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24325" y="914400"/>
            <a:ext cx="3943350" cy="28575"/>
          </a:xfrm>
          <a:prstGeom prst="rect">
            <a:avLst/>
          </a:prstGeom>
          <a:solidFill>
            <a:srgbClr val="9E7E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124825" y="914400"/>
            <a:ext cx="3943350" cy="28575"/>
          </a:xfrm>
          <a:prstGeom prst="rect">
            <a:avLst/>
          </a:prstGeom>
          <a:solidFill>
            <a:srgbClr val="403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mi_logo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25" y="-205740"/>
            <a:ext cx="1307592" cy="13258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543050" y="19050"/>
            <a:ext cx="8982075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U.S. YoY Analysis Shelf Life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43050" y="647700"/>
            <a:ext cx="10506075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U.S. year-on-year volume and value growth by Shelf Life, highlighting acceleration and slowdown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620375" y="228600"/>
            <a:ext cx="1428750" cy="419100"/>
          </a:xfrm>
          <a:prstGeom prst="roundRect">
            <a:avLst>
              <a:gd name="adj" fmla="val 22000"/>
            </a:avLst>
          </a:prstGeom>
          <a:solidFill>
            <a:srgbClr val="D9E6F2"/>
          </a:solidFill>
          <a:ln w="6350">
            <a:solidFill>
              <a:srgbClr val="69B1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100" b="1">
                <a:solidFill>
                  <a:srgbClr val="0B2E4A"/>
                </a:solidFill>
                <a:latin typeface="Calibri"/>
              </a:rPr>
              <a:t>U.S.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42875" y="981075"/>
            <a:ext cx="11906250" cy="1704975"/>
          </a:xfrm>
          <a:prstGeom prst="roundRect">
            <a:avLst>
              <a:gd name="adj" fmla="val 4469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38125" y="1038225"/>
            <a:ext cx="1171575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U.S. Volume YoY, By Shelf Life (%)  ·  </a:t>
            </a:r>
            <a:r>
              <a:rPr sz="1200" b="1">
                <a:solidFill>
                  <a:srgbClr val="2E7D32"/>
                </a:solidFill>
                <a:latin typeface="Calibri"/>
              </a:rPr>
              <a:t>▲ outpacing market  </a:t>
            </a:r>
            <a:r>
              <a:rPr sz="1200" b="1">
                <a:solidFill>
                  <a:srgbClr val="A86F00"/>
                </a:solidFill>
                <a:latin typeface="Calibri"/>
              </a:rPr>
              <a:t>▶ below market pace  </a:t>
            </a:r>
            <a:r>
              <a:rPr sz="1200" b="1">
                <a:solidFill>
                  <a:srgbClr val="E44D3A"/>
                </a:solidFill>
                <a:latin typeface="Calibri"/>
              </a:rPr>
              <a:t>▼ decline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152400" y="1238250"/>
          <a:ext cx="11887207" cy="123825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509262"/>
                <a:gridCol w="691863"/>
                <a:gridCol w="691863"/>
                <a:gridCol w="691863"/>
                <a:gridCol w="691863"/>
                <a:gridCol w="691863"/>
                <a:gridCol w="691863"/>
                <a:gridCol w="691863"/>
                <a:gridCol w="691863"/>
                <a:gridCol w="691863"/>
                <a:gridCol w="691863"/>
                <a:gridCol w="691863"/>
                <a:gridCol w="691863"/>
                <a:gridCol w="691863"/>
                <a:gridCol w="691863"/>
                <a:gridCol w="691863"/>
              </a:tblGrid>
              <a:tr h="246126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Shelf Life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2022A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2023A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2024A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2025A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2026E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2027F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2028F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2029F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2030F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2031F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2032F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2033F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2034F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2035F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2036F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</a:tr>
              <a:tr h="248031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Up to 7 days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248031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8-30 days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</a:tr>
              <a:tr h="248031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31-90 days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248031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More than 90 days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219075" y="2486025"/>
            <a:ext cx="11753850" cy="17145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100" b="0" i="1">
                <a:solidFill>
                  <a:srgbClr val="6C7A89"/>
                </a:solidFill>
                <a:latin typeface="Calibri"/>
              </a:rPr>
              <a:t>Source: FMI Analysis, 2026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42875" y="2819400"/>
            <a:ext cx="11906250" cy="1704975"/>
          </a:xfrm>
          <a:prstGeom prst="roundRect">
            <a:avLst>
              <a:gd name="adj" fmla="val 4469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38125" y="2876550"/>
            <a:ext cx="1171575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U.S. Value YoY, By Shelf Life (%)  ·  </a:t>
            </a:r>
            <a:r>
              <a:rPr sz="1200" b="1">
                <a:solidFill>
                  <a:srgbClr val="2E7D32"/>
                </a:solidFill>
                <a:latin typeface="Calibri"/>
              </a:rPr>
              <a:t>▲ outpacing market  </a:t>
            </a:r>
            <a:r>
              <a:rPr sz="1200" b="1">
                <a:solidFill>
                  <a:srgbClr val="A86F00"/>
                </a:solidFill>
                <a:latin typeface="Calibri"/>
              </a:rPr>
              <a:t>▶ below market pace  </a:t>
            </a:r>
            <a:r>
              <a:rPr sz="1200" b="1">
                <a:solidFill>
                  <a:srgbClr val="E44D3A"/>
                </a:solidFill>
                <a:latin typeface="Calibri"/>
              </a:rPr>
              <a:t>▼ decline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152400" y="3076575"/>
          <a:ext cx="11887207" cy="123825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509262"/>
                <a:gridCol w="691863"/>
                <a:gridCol w="691863"/>
                <a:gridCol w="691863"/>
                <a:gridCol w="691863"/>
                <a:gridCol w="691863"/>
                <a:gridCol w="691863"/>
                <a:gridCol w="691863"/>
                <a:gridCol w="691863"/>
                <a:gridCol w="691863"/>
                <a:gridCol w="691863"/>
                <a:gridCol w="691863"/>
                <a:gridCol w="691863"/>
                <a:gridCol w="691863"/>
                <a:gridCol w="691863"/>
                <a:gridCol w="691863"/>
              </a:tblGrid>
              <a:tr h="246126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Shelf Life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2022A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2023A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2024A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2025A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2026E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2027F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2028F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2029F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2030F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2031F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2032F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2033F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2034F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2035F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2036F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</a:tr>
              <a:tr h="248031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Up to 7 days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248031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8-30 days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</a:tr>
              <a:tr h="248031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31-90 days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248031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More than 90 days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219075" y="4324350"/>
            <a:ext cx="11753850" cy="17145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100" b="0" i="1">
                <a:solidFill>
                  <a:srgbClr val="6C7A89"/>
                </a:solidFill>
                <a:latin typeface="Calibri"/>
              </a:rPr>
              <a:t>Source: FMI Analysis, 2026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58595B"/>
                </a:solidFill>
                <a:latin typeface="Calibri"/>
              </a:rPr>
              <a:t>©2026 Future Market Insights, All Rights Reserved</a:t>
            </a:r>
          </a:p>
        </p:txBody>
      </p:sp>
      <p:pic>
        <p:nvPicPr>
          <p:cNvPr id="20" name="Picture 19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3944" y="1713738"/>
            <a:ext cx="366712" cy="533400"/>
          </a:xfrm>
          <a:prstGeom prst="rect">
            <a:avLst/>
          </a:prstGeom>
        </p:spPr>
      </p:pic>
      <p:pic>
        <p:nvPicPr>
          <p:cNvPr id="21" name="Picture 20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3944" y="3552062"/>
            <a:ext cx="366712" cy="533400"/>
          </a:xfrm>
          <a:prstGeom prst="rect">
            <a:avLst/>
          </a:prstGeom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8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F1F8FE"/>
              </a:gs>
              <a:gs pos="100000">
                <a:srgbClr val="DAEAF9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0" y="5591183"/>
            <a:ext cx="12192000" cy="1266817"/>
          </a:xfrm>
          <a:custGeom>
            <a:avLst/>
            <a:gdLst/>
            <a:ahLst/>
            <a:cxnLst/>
            <a:rect l="l" t="t" r="r" b="b"/>
            <a:pathLst>
              <a:path w="12192000" h="1266817">
                <a:moveTo>
                  <a:pt x="0" y="1266817"/>
                </a:moveTo>
                <a:lnTo>
                  <a:pt x="0" y="475605"/>
                </a:lnTo>
                <a:lnTo>
                  <a:pt x="152400" y="486239"/>
                </a:lnTo>
                <a:lnTo>
                  <a:pt x="304800" y="495887"/>
                </a:lnTo>
                <a:lnTo>
                  <a:pt x="457200" y="504505"/>
                </a:lnTo>
                <a:lnTo>
                  <a:pt x="609600" y="512056"/>
                </a:lnTo>
                <a:lnTo>
                  <a:pt x="762000" y="518505"/>
                </a:lnTo>
                <a:lnTo>
                  <a:pt x="914400" y="523824"/>
                </a:lnTo>
                <a:lnTo>
                  <a:pt x="1066800" y="527988"/>
                </a:lnTo>
                <a:lnTo>
                  <a:pt x="1219200" y="530979"/>
                </a:lnTo>
                <a:lnTo>
                  <a:pt x="1371600" y="532783"/>
                </a:lnTo>
                <a:lnTo>
                  <a:pt x="1524000" y="533392"/>
                </a:lnTo>
                <a:lnTo>
                  <a:pt x="1676400" y="532804"/>
                </a:lnTo>
                <a:lnTo>
                  <a:pt x="1828800" y="531021"/>
                </a:lnTo>
                <a:lnTo>
                  <a:pt x="1981200" y="528051"/>
                </a:lnTo>
                <a:lnTo>
                  <a:pt x="2133600" y="523907"/>
                </a:lnTo>
                <a:lnTo>
                  <a:pt x="2286000" y="518609"/>
                </a:lnTo>
                <a:lnTo>
                  <a:pt x="2438400" y="512179"/>
                </a:lnTo>
                <a:lnTo>
                  <a:pt x="2590800" y="504648"/>
                </a:lnTo>
                <a:lnTo>
                  <a:pt x="2743200" y="496047"/>
                </a:lnTo>
                <a:lnTo>
                  <a:pt x="2895600" y="486417"/>
                </a:lnTo>
                <a:lnTo>
                  <a:pt x="3048000" y="475801"/>
                </a:lnTo>
                <a:lnTo>
                  <a:pt x="3200400" y="464245"/>
                </a:lnTo>
                <a:lnTo>
                  <a:pt x="3352800" y="451803"/>
                </a:lnTo>
                <a:lnTo>
                  <a:pt x="3505200" y="438529"/>
                </a:lnTo>
                <a:lnTo>
                  <a:pt x="3657600" y="424484"/>
                </a:lnTo>
                <a:lnTo>
                  <a:pt x="3810000" y="409730"/>
                </a:lnTo>
                <a:lnTo>
                  <a:pt x="3962400" y="394334"/>
                </a:lnTo>
                <a:lnTo>
                  <a:pt x="4114800" y="378365"/>
                </a:lnTo>
                <a:lnTo>
                  <a:pt x="4267200" y="361894"/>
                </a:lnTo>
                <a:lnTo>
                  <a:pt x="4419600" y="344996"/>
                </a:lnTo>
                <a:lnTo>
                  <a:pt x="4572000" y="327746"/>
                </a:lnTo>
                <a:lnTo>
                  <a:pt x="4724400" y="310223"/>
                </a:lnTo>
                <a:lnTo>
                  <a:pt x="4876800" y="292503"/>
                </a:lnTo>
                <a:lnTo>
                  <a:pt x="5029200" y="274668"/>
                </a:lnTo>
                <a:lnTo>
                  <a:pt x="5181600" y="256797"/>
                </a:lnTo>
                <a:lnTo>
                  <a:pt x="5334000" y="238971"/>
                </a:lnTo>
                <a:lnTo>
                  <a:pt x="5486400" y="221269"/>
                </a:lnTo>
                <a:lnTo>
                  <a:pt x="5638800" y="203771"/>
                </a:lnTo>
                <a:lnTo>
                  <a:pt x="5791200" y="186555"/>
                </a:lnTo>
                <a:lnTo>
                  <a:pt x="5943600" y="169699"/>
                </a:lnTo>
                <a:lnTo>
                  <a:pt x="6096000" y="153279"/>
                </a:lnTo>
                <a:lnTo>
                  <a:pt x="6248400" y="137368"/>
                </a:lnTo>
                <a:lnTo>
                  <a:pt x="6400800" y="122038"/>
                </a:lnTo>
                <a:lnTo>
                  <a:pt x="6553200" y="107357"/>
                </a:lnTo>
                <a:lnTo>
                  <a:pt x="6705600" y="93391"/>
                </a:lnTo>
                <a:lnTo>
                  <a:pt x="6858000" y="80204"/>
                </a:lnTo>
                <a:lnTo>
                  <a:pt x="7010400" y="67854"/>
                </a:lnTo>
                <a:lnTo>
                  <a:pt x="7162800" y="56397"/>
                </a:lnTo>
                <a:lnTo>
                  <a:pt x="7315200" y="45884"/>
                </a:lnTo>
                <a:lnTo>
                  <a:pt x="7467600" y="36363"/>
                </a:lnTo>
                <a:lnTo>
                  <a:pt x="7620000" y="27876"/>
                </a:lnTo>
                <a:lnTo>
                  <a:pt x="7772400" y="20461"/>
                </a:lnTo>
                <a:lnTo>
                  <a:pt x="7924800" y="14151"/>
                </a:lnTo>
                <a:lnTo>
                  <a:pt x="8077200" y="8976"/>
                </a:lnTo>
                <a:lnTo>
                  <a:pt x="8229600" y="4958"/>
                </a:lnTo>
                <a:lnTo>
                  <a:pt x="8382000" y="2115"/>
                </a:lnTo>
                <a:lnTo>
                  <a:pt x="8534400" y="460"/>
                </a:lnTo>
                <a:lnTo>
                  <a:pt x="8686800" y="0"/>
                </a:lnTo>
                <a:lnTo>
                  <a:pt x="8839200" y="738"/>
                </a:lnTo>
                <a:lnTo>
                  <a:pt x="8991600" y="2670"/>
                </a:lnTo>
                <a:lnTo>
                  <a:pt x="9144000" y="5787"/>
                </a:lnTo>
                <a:lnTo>
                  <a:pt x="9296400" y="10076"/>
                </a:lnTo>
                <a:lnTo>
                  <a:pt x="9448800" y="15518"/>
                </a:lnTo>
                <a:lnTo>
                  <a:pt x="9601200" y="22086"/>
                </a:lnTo>
                <a:lnTo>
                  <a:pt x="9753600" y="29754"/>
                </a:lnTo>
                <a:lnTo>
                  <a:pt x="9906000" y="38485"/>
                </a:lnTo>
                <a:lnTo>
                  <a:pt x="10058400" y="48241"/>
                </a:lnTo>
                <a:lnTo>
                  <a:pt x="10210800" y="58977"/>
                </a:lnTo>
                <a:lnTo>
                  <a:pt x="10363200" y="70647"/>
                </a:lnTo>
                <a:lnTo>
                  <a:pt x="10515600" y="83196"/>
                </a:lnTo>
                <a:lnTo>
                  <a:pt x="10668000" y="96570"/>
                </a:lnTo>
                <a:lnTo>
                  <a:pt x="10820400" y="110707"/>
                </a:lnTo>
                <a:lnTo>
                  <a:pt x="10972800" y="125545"/>
                </a:lnTo>
                <a:lnTo>
                  <a:pt x="11125200" y="141016"/>
                </a:lnTo>
                <a:lnTo>
                  <a:pt x="11277600" y="157052"/>
                </a:lnTo>
                <a:lnTo>
                  <a:pt x="11430000" y="173580"/>
                </a:lnTo>
                <a:lnTo>
                  <a:pt x="11582400" y="190527"/>
                </a:lnTo>
                <a:lnTo>
                  <a:pt x="11734800" y="207815"/>
                </a:lnTo>
                <a:lnTo>
                  <a:pt x="11887200" y="225367"/>
                </a:lnTo>
                <a:lnTo>
                  <a:pt x="12039600" y="243105"/>
                </a:lnTo>
                <a:lnTo>
                  <a:pt x="12192000" y="260949"/>
                </a:lnTo>
                <a:lnTo>
                  <a:pt x="12192000" y="1266817"/>
                </a:lnTo>
                <a:close/>
              </a:path>
            </a:pathLst>
          </a:custGeom>
          <a:solidFill>
            <a:srgbClr val="C8E0F6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0" y="5905543"/>
            <a:ext cx="12192000" cy="952457"/>
          </a:xfrm>
          <a:custGeom>
            <a:avLst/>
            <a:gdLst/>
            <a:ahLst/>
            <a:cxnLst/>
            <a:rect l="l" t="t" r="r" b="b"/>
            <a:pathLst>
              <a:path w="12192000" h="952457">
                <a:moveTo>
                  <a:pt x="0" y="952457"/>
                </a:moveTo>
                <a:lnTo>
                  <a:pt x="0" y="288660"/>
                </a:lnTo>
                <a:lnTo>
                  <a:pt x="152400" y="275228"/>
                </a:lnTo>
                <a:lnTo>
                  <a:pt x="304800" y="261249"/>
                </a:lnTo>
                <a:lnTo>
                  <a:pt x="457200" y="246812"/>
                </a:lnTo>
                <a:lnTo>
                  <a:pt x="609600" y="232010"/>
                </a:lnTo>
                <a:lnTo>
                  <a:pt x="762000" y="216940"/>
                </a:lnTo>
                <a:lnTo>
                  <a:pt x="914400" y="201698"/>
                </a:lnTo>
                <a:lnTo>
                  <a:pt x="1066800" y="186384"/>
                </a:lnTo>
                <a:lnTo>
                  <a:pt x="1219200" y="171097"/>
                </a:lnTo>
                <a:lnTo>
                  <a:pt x="1371600" y="155934"/>
                </a:lnTo>
                <a:lnTo>
                  <a:pt x="1524000" y="140995"/>
                </a:lnTo>
                <a:lnTo>
                  <a:pt x="1676400" y="126375"/>
                </a:lnTo>
                <a:lnTo>
                  <a:pt x="1828800" y="112170"/>
                </a:lnTo>
                <a:lnTo>
                  <a:pt x="1981200" y="98470"/>
                </a:lnTo>
                <a:lnTo>
                  <a:pt x="2133600" y="85366"/>
                </a:lnTo>
                <a:lnTo>
                  <a:pt x="2286000" y="72940"/>
                </a:lnTo>
                <a:lnTo>
                  <a:pt x="2438400" y="61275"/>
                </a:lnTo>
                <a:lnTo>
                  <a:pt x="2590800" y="50444"/>
                </a:lnTo>
                <a:lnTo>
                  <a:pt x="2743200" y="40519"/>
                </a:lnTo>
                <a:lnTo>
                  <a:pt x="2895600" y="31563"/>
                </a:lnTo>
                <a:lnTo>
                  <a:pt x="3048000" y="23634"/>
                </a:lnTo>
                <a:lnTo>
                  <a:pt x="3200400" y="16784"/>
                </a:lnTo>
                <a:lnTo>
                  <a:pt x="3352800" y="11056"/>
                </a:lnTo>
                <a:lnTo>
                  <a:pt x="3505200" y="6489"/>
                </a:lnTo>
                <a:lnTo>
                  <a:pt x="3657600" y="3110"/>
                </a:lnTo>
                <a:lnTo>
                  <a:pt x="3810000" y="943"/>
                </a:lnTo>
                <a:lnTo>
                  <a:pt x="3962400" y="0"/>
                </a:lnTo>
                <a:lnTo>
                  <a:pt x="4114800" y="289"/>
                </a:lnTo>
                <a:lnTo>
                  <a:pt x="4267200" y="1808"/>
                </a:lnTo>
                <a:lnTo>
                  <a:pt x="4419600" y="4546"/>
                </a:lnTo>
                <a:lnTo>
                  <a:pt x="4572000" y="8485"/>
                </a:lnTo>
                <a:lnTo>
                  <a:pt x="4724400" y="13601"/>
                </a:lnTo>
                <a:lnTo>
                  <a:pt x="4876800" y="19861"/>
                </a:lnTo>
                <a:lnTo>
                  <a:pt x="5029200" y="27223"/>
                </a:lnTo>
                <a:lnTo>
                  <a:pt x="5181600" y="35641"/>
                </a:lnTo>
                <a:lnTo>
                  <a:pt x="5334000" y="45059"/>
                </a:lnTo>
                <a:lnTo>
                  <a:pt x="5486400" y="55417"/>
                </a:lnTo>
                <a:lnTo>
                  <a:pt x="5638800" y="66649"/>
                </a:lnTo>
                <a:lnTo>
                  <a:pt x="5791200" y="78680"/>
                </a:lnTo>
                <a:lnTo>
                  <a:pt x="5943600" y="91435"/>
                </a:lnTo>
                <a:lnTo>
                  <a:pt x="6096000" y="104829"/>
                </a:lnTo>
                <a:lnTo>
                  <a:pt x="6248400" y="118777"/>
                </a:lnTo>
                <a:lnTo>
                  <a:pt x="6400800" y="133188"/>
                </a:lnTo>
                <a:lnTo>
                  <a:pt x="6553200" y="147970"/>
                </a:lnTo>
                <a:lnTo>
                  <a:pt x="6705600" y="163026"/>
                </a:lnTo>
                <a:lnTo>
                  <a:pt x="6858000" y="178260"/>
                </a:lnTo>
                <a:lnTo>
                  <a:pt x="7010400" y="193572"/>
                </a:lnTo>
                <a:lnTo>
                  <a:pt x="7162800" y="208865"/>
                </a:lnTo>
                <a:lnTo>
                  <a:pt x="7315200" y="224038"/>
                </a:lnTo>
                <a:lnTo>
                  <a:pt x="7467600" y="238994"/>
                </a:lnTo>
                <a:lnTo>
                  <a:pt x="7620000" y="253637"/>
                </a:lnTo>
                <a:lnTo>
                  <a:pt x="7772400" y="267871"/>
                </a:lnTo>
                <a:lnTo>
                  <a:pt x="7924800" y="281604"/>
                </a:lnTo>
                <a:lnTo>
                  <a:pt x="8077200" y="294748"/>
                </a:lnTo>
                <a:lnTo>
                  <a:pt x="8229600" y="307218"/>
                </a:lnTo>
                <a:lnTo>
                  <a:pt x="8382000" y="318934"/>
                </a:lnTo>
                <a:lnTo>
                  <a:pt x="8534400" y="329818"/>
                </a:lnTo>
                <a:lnTo>
                  <a:pt x="8686800" y="339802"/>
                </a:lnTo>
                <a:lnTo>
                  <a:pt x="8839200" y="348821"/>
                </a:lnTo>
                <a:lnTo>
                  <a:pt x="8991600" y="356815"/>
                </a:lnTo>
                <a:lnTo>
                  <a:pt x="9144000" y="363734"/>
                </a:lnTo>
                <a:lnTo>
                  <a:pt x="9296400" y="369533"/>
                </a:lnTo>
                <a:lnTo>
                  <a:pt x="9448800" y="374174"/>
                </a:lnTo>
                <a:lnTo>
                  <a:pt x="9601200" y="377628"/>
                </a:lnTo>
                <a:lnTo>
                  <a:pt x="9753600" y="379872"/>
                </a:lnTo>
                <a:lnTo>
                  <a:pt x="9906000" y="380891"/>
                </a:lnTo>
                <a:lnTo>
                  <a:pt x="10058400" y="380679"/>
                </a:lnTo>
                <a:lnTo>
                  <a:pt x="10210800" y="379237"/>
                </a:lnTo>
                <a:lnTo>
                  <a:pt x="10363200" y="376575"/>
                </a:lnTo>
                <a:lnTo>
                  <a:pt x="10515600" y="372710"/>
                </a:lnTo>
                <a:lnTo>
                  <a:pt x="10668000" y="367666"/>
                </a:lnTo>
                <a:lnTo>
                  <a:pt x="10820400" y="361477"/>
                </a:lnTo>
                <a:lnTo>
                  <a:pt x="10972800" y="354182"/>
                </a:lnTo>
                <a:lnTo>
                  <a:pt x="11125200" y="345829"/>
                </a:lnTo>
                <a:lnTo>
                  <a:pt x="11277600" y="336472"/>
                </a:lnTo>
                <a:lnTo>
                  <a:pt x="11430000" y="326170"/>
                </a:lnTo>
                <a:lnTo>
                  <a:pt x="11582400" y="314991"/>
                </a:lnTo>
                <a:lnTo>
                  <a:pt x="11734800" y="303008"/>
                </a:lnTo>
                <a:lnTo>
                  <a:pt x="11887200" y="290296"/>
                </a:lnTo>
                <a:lnTo>
                  <a:pt x="12039600" y="276939"/>
                </a:lnTo>
                <a:lnTo>
                  <a:pt x="12192000" y="263023"/>
                </a:lnTo>
                <a:lnTo>
                  <a:pt x="12192000" y="952457"/>
                </a:lnTo>
                <a:close/>
              </a:path>
            </a:pathLst>
          </a:custGeom>
          <a:solidFill>
            <a:srgbClr val="A7CDF1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638925"/>
            <a:ext cx="12192000" cy="219075"/>
          </a:xfrm>
          <a:prstGeom prst="rect">
            <a:avLst/>
          </a:prstGeom>
          <a:solidFill>
            <a:srgbClr val="A9C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238875"/>
            <a:ext cx="12192000" cy="400050"/>
          </a:xfrm>
          <a:prstGeom prst="rect">
            <a:avLst/>
          </a:prstGeom>
          <a:gradFill rotWithShape="1">
            <a:gsLst>
              <a:gs pos="0">
                <a:srgbClr val="2C6BB2"/>
              </a:gs>
              <a:gs pos="100000">
                <a:srgbClr val="7FB5E4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MI Section Bar"/>
          <p:cNvSpPr txBox="1"/>
          <p:nvPr/>
        </p:nvSpPr>
        <p:spPr>
          <a:xfrm>
            <a:off x="285750" y="6238875"/>
            <a:ext cx="3810000" cy="400050"/>
          </a:xfrm>
          <a:prstGeom prst="rect">
            <a:avLst/>
          </a:prstGeom>
          <a:noFill/>
        </p:spPr>
        <p:txBody>
          <a:bodyPr wrap="none" anchor="ctr" lIns="0" tIns="0" bIns="0">
            <a:spAutoFit/>
          </a:bodyPr>
          <a:lstStyle/>
          <a:p>
            <a:r>
              <a:rPr sz="1500" b="1">
                <a:solidFill>
                  <a:srgbClr val="FFFFFF"/>
                </a:solidFill>
                <a:latin typeface="Calibri"/>
              </a:rPr>
              <a:t>Section 2.12</a:t>
            </a:r>
          </a:p>
        </p:txBody>
      </p:sp>
      <p:pic>
        <p:nvPicPr>
          <p:cNvPr id="8" name="Picture 7" descr="fmi_logo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74320"/>
            <a:ext cx="1307592" cy="13258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14400" y="2752725"/>
            <a:ext cx="8572500" cy="3048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800" b="0">
                <a:solidFill>
                  <a:srgbClr val="0E72AE"/>
                </a:solidFill>
                <a:latin typeface="Calibri"/>
              </a:rPr>
              <a:t>Packaged Muffins Market</a:t>
            </a:r>
          </a:p>
        </p:txBody>
      </p:sp>
      <p:sp>
        <p:nvSpPr>
          <p:cNvPr id="10" name="FMI Section Title"/>
          <p:cNvSpPr txBox="1"/>
          <p:nvPr/>
        </p:nvSpPr>
        <p:spPr>
          <a:xfrm>
            <a:off x="914400" y="3095625"/>
            <a:ext cx="8572500" cy="51435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r>
              <a:rPr sz="3000" b="1">
                <a:solidFill>
                  <a:srgbClr val="0B3C8C"/>
                </a:solidFill>
                <a:latin typeface="Calibri"/>
              </a:rPr>
              <a:t>Packaging Format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781425"/>
            <a:ext cx="8458200" cy="12763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Calibri"/>
              </a:rPr>
              <a:t>➤	</a:t>
            </a:r>
            <a:r>
              <a:rPr sz="2000" b="0">
                <a:solidFill>
                  <a:srgbClr val="000000"/>
                </a:solidFill>
                <a:latin typeface="Calibri"/>
              </a:rPr>
              <a:t>Segmental</a:t>
            </a:r>
          </a:p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Calibri"/>
              </a:rPr>
              <a:t>➤	</a:t>
            </a:r>
            <a:r>
              <a:rPr sz="2000" b="0">
                <a:solidFill>
                  <a:srgbClr val="000000"/>
                </a:solidFill>
                <a:latin typeface="Calibri"/>
              </a:rPr>
              <a:t>Table (Volume &amp; Value)</a:t>
            </a:r>
          </a:p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Calibri"/>
              </a:rPr>
              <a:t>➤	</a:t>
            </a:r>
            <a:r>
              <a:rPr sz="2000" b="0">
                <a:solidFill>
                  <a:srgbClr val="000000"/>
                </a:solidFill>
                <a:latin typeface="Calibri"/>
              </a:rPr>
              <a:t>YoY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58595B"/>
                </a:solidFill>
                <a:latin typeface="Calibri"/>
              </a:rPr>
              <a:t>©2026 Future Market Insights, All Rights Reserved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3825" y="914400"/>
            <a:ext cx="3943350" cy="28575"/>
          </a:xfrm>
          <a:prstGeom prst="rect">
            <a:avLst/>
          </a:prstGeom>
          <a:solidFill>
            <a:srgbClr val="0081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24325" y="914400"/>
            <a:ext cx="3943350" cy="28575"/>
          </a:xfrm>
          <a:prstGeom prst="rect">
            <a:avLst/>
          </a:prstGeom>
          <a:solidFill>
            <a:srgbClr val="9E7E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124825" y="914400"/>
            <a:ext cx="3943350" cy="28575"/>
          </a:xfrm>
          <a:prstGeom prst="rect">
            <a:avLst/>
          </a:prstGeom>
          <a:solidFill>
            <a:srgbClr val="403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mi_logo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25" y="-205740"/>
            <a:ext cx="1307592" cy="13258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543050" y="19050"/>
            <a:ext cx="8982075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U.S. Packaged Muffins Market Segmental Analysis Packaging Format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43050" y="647700"/>
            <a:ext cx="10506075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U.S. segmental analysis by Packaging Format: growth contribution, share variance and absolute $ opportunity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620375" y="228600"/>
            <a:ext cx="1428750" cy="419100"/>
          </a:xfrm>
          <a:prstGeom prst="roundRect">
            <a:avLst>
              <a:gd name="adj" fmla="val 22000"/>
            </a:avLst>
          </a:prstGeom>
          <a:solidFill>
            <a:srgbClr val="D9E6F2"/>
          </a:solidFill>
          <a:ln w="6350">
            <a:solidFill>
              <a:srgbClr val="69B1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100" b="1">
                <a:solidFill>
                  <a:srgbClr val="0B2E4A"/>
                </a:solidFill>
                <a:latin typeface="Calibri"/>
              </a:rPr>
              <a:t>U.S.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42875" y="981075"/>
            <a:ext cx="5876925" cy="2752725"/>
          </a:xfrm>
          <a:prstGeom prst="roundRect">
            <a:avLst>
              <a:gd name="adj" fmla="val 2768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38125" y="1038225"/>
            <a:ext cx="5686425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Growth Contribution 2026 → 2036, By Packaging Format (US$ Mn)</a:t>
            </a:r>
          </a:p>
        </p:txBody>
      </p:sp>
      <p:graphicFrame>
        <p:nvGraphicFramePr>
          <p:cNvPr id="13" name="Chart 12"/>
          <p:cNvGraphicFramePr>
            <a:graphicFrameLocks noGrp="1"/>
          </p:cNvGraphicFramePr>
          <p:nvPr/>
        </p:nvGraphicFramePr>
        <p:xfrm>
          <a:off x="238125" y="1266825"/>
          <a:ext cx="5686425" cy="2409825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4" name="Rounded Rectangle 13"/>
          <p:cNvSpPr/>
          <p:nvPr/>
        </p:nvSpPr>
        <p:spPr>
          <a:xfrm>
            <a:off x="6172200" y="981075"/>
            <a:ext cx="5876925" cy="2752725"/>
          </a:xfrm>
          <a:prstGeom prst="roundRect">
            <a:avLst>
              <a:gd name="adj" fmla="val 2768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67450" y="1038225"/>
            <a:ext cx="5686425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Value Shares &amp; Variance, By Packaging Format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6181725" y="1238250"/>
          <a:ext cx="5857873" cy="228599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95617"/>
                <a:gridCol w="1040564"/>
                <a:gridCol w="1040564"/>
                <a:gridCol w="1040564"/>
                <a:gridCol w="1040564"/>
              </a:tblGrid>
              <a:tr h="246126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Packaging Format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Share 2026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Share 2036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Variance (BPS)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F-CAGR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</a:tr>
              <a:tr h="509968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Flexible packs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509968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Rigid plastic packs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</a:tr>
              <a:tr h="509968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Paperboard packs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509968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Other packaging formats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</a:tr>
            </a:tbl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6248400" y="3533775"/>
            <a:ext cx="5724525" cy="17145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100" b="0" i="1">
                <a:solidFill>
                  <a:srgbClr val="6C7A89"/>
                </a:solidFill>
                <a:latin typeface="Calibri"/>
              </a:rPr>
              <a:t>Source: FMI Analysis, 2026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42875" y="3867150"/>
            <a:ext cx="5876925" cy="2752725"/>
          </a:xfrm>
          <a:prstGeom prst="roundRect">
            <a:avLst>
              <a:gd name="adj" fmla="val 2768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38125" y="3924300"/>
            <a:ext cx="5686425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Absolute $ Opportunity, By Packaging Format (US$ Mn), between 2026–2036</a:t>
            </a:r>
          </a:p>
        </p:txBody>
      </p:sp>
      <p:graphicFrame>
        <p:nvGraphicFramePr>
          <p:cNvPr id="20" name="Chart 19"/>
          <p:cNvGraphicFramePr>
            <a:graphicFrameLocks noGrp="1"/>
          </p:cNvGraphicFramePr>
          <p:nvPr/>
        </p:nvGraphicFramePr>
        <p:xfrm>
          <a:off x="238125" y="4152900"/>
          <a:ext cx="5686425" cy="2409825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21" name="Rounded Rectangle 20"/>
          <p:cNvSpPr/>
          <p:nvPr/>
        </p:nvSpPr>
        <p:spPr>
          <a:xfrm>
            <a:off x="6172200" y="3867150"/>
            <a:ext cx="5876925" cy="2752725"/>
          </a:xfrm>
          <a:prstGeom prst="roundRect">
            <a:avLst>
              <a:gd name="adj" fmla="val 2768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67450" y="3924300"/>
            <a:ext cx="5686425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Volume Shares &amp; Variance, By Packaging Format</a:t>
            </a:r>
          </a:p>
        </p:txBody>
      </p:sp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6181725" y="4124325"/>
          <a:ext cx="5857873" cy="228599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95617"/>
                <a:gridCol w="1040564"/>
                <a:gridCol w="1040564"/>
                <a:gridCol w="1040564"/>
                <a:gridCol w="1040564"/>
              </a:tblGrid>
              <a:tr h="246126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Packaging Format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Share 2026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Share 2036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Variance (BPS)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F-CAGR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</a:tr>
              <a:tr h="509968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Flexible packs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509968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Rigid plastic packs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</a:tr>
              <a:tr h="509968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Paperboard packs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509968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Other packaging formats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</a:tr>
            </a:tbl>
          </a:graphicData>
        </a:graphic>
      </p:graphicFrame>
      <p:sp>
        <p:nvSpPr>
          <p:cNvPr id="24" name="TextBox 23"/>
          <p:cNvSpPr txBox="1"/>
          <p:nvPr/>
        </p:nvSpPr>
        <p:spPr>
          <a:xfrm>
            <a:off x="6248400" y="6419850"/>
            <a:ext cx="5724525" cy="17145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100" b="0" i="1">
                <a:solidFill>
                  <a:srgbClr val="6C7A89"/>
                </a:solidFill>
                <a:latin typeface="Calibri"/>
              </a:rPr>
              <a:t>Source: FMI Analysis, 2026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58595B"/>
                </a:solidFill>
                <a:latin typeface="Calibri"/>
              </a:rPr>
              <a:t>©2026 Future Market Insights, All Rights Reserved</a:t>
            </a:r>
          </a:p>
        </p:txBody>
      </p:sp>
      <p:pic>
        <p:nvPicPr>
          <p:cNvPr id="26" name="Picture 25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94826" y="2237234"/>
            <a:ext cx="263506" cy="383281"/>
          </a:xfrm>
          <a:prstGeom prst="rect">
            <a:avLst/>
          </a:prstGeom>
        </p:spPr>
      </p:pic>
      <p:pic>
        <p:nvPicPr>
          <p:cNvPr id="27" name="Picture 26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71780" y="2237612"/>
            <a:ext cx="366712" cy="533400"/>
          </a:xfrm>
          <a:prstGeom prst="rect">
            <a:avLst/>
          </a:prstGeom>
        </p:spPr>
      </p:pic>
      <p:pic>
        <p:nvPicPr>
          <p:cNvPr id="28" name="Picture 27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94826" y="5123309"/>
            <a:ext cx="263506" cy="383281"/>
          </a:xfrm>
          <a:prstGeom prst="rect">
            <a:avLst/>
          </a:prstGeom>
        </p:spPr>
      </p:pic>
      <p:pic>
        <p:nvPicPr>
          <p:cNvPr id="29" name="Picture 28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71780" y="5123687"/>
            <a:ext cx="366712" cy="533400"/>
          </a:xfrm>
          <a:prstGeom prst="rect">
            <a:avLst/>
          </a:prstGeom>
        </p:spPr>
      </p:pic>
      <p:sp>
        <p:nvSpPr>
          <p:cNvPr id="30" name="lockshield_13"/>
          <p:cNvSpPr/>
          <p:nvPr/>
        </p:nvSpPr>
        <p:spPr>
          <a:xfrm>
            <a:off x="238125" y="1266825"/>
            <a:ext cx="5686425" cy="2409825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lockshield_20"/>
          <p:cNvSpPr/>
          <p:nvPr/>
        </p:nvSpPr>
        <p:spPr>
          <a:xfrm>
            <a:off x="238125" y="4152900"/>
            <a:ext cx="5686425" cy="2409825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3825" y="914400"/>
            <a:ext cx="3943350" cy="28575"/>
          </a:xfrm>
          <a:prstGeom prst="rect">
            <a:avLst/>
          </a:prstGeom>
          <a:solidFill>
            <a:srgbClr val="0081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24325" y="914400"/>
            <a:ext cx="3943350" cy="28575"/>
          </a:xfrm>
          <a:prstGeom prst="rect">
            <a:avLst/>
          </a:prstGeom>
          <a:solidFill>
            <a:srgbClr val="9E7E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124825" y="914400"/>
            <a:ext cx="3943350" cy="28575"/>
          </a:xfrm>
          <a:prstGeom prst="rect">
            <a:avLst/>
          </a:prstGeom>
          <a:solidFill>
            <a:srgbClr val="403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mi_logo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25" y="-205740"/>
            <a:ext cx="1307592" cy="13258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543050" y="19050"/>
            <a:ext cx="8982075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U.S. Packaged Muffins Market Tables Packaging Format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43050" y="647700"/>
            <a:ext cx="10506075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Year-by-year volume and value of the U.S. market by Packaging Format, 2021–2036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620375" y="228600"/>
            <a:ext cx="1428750" cy="419100"/>
          </a:xfrm>
          <a:prstGeom prst="roundRect">
            <a:avLst>
              <a:gd name="adj" fmla="val 22000"/>
            </a:avLst>
          </a:prstGeom>
          <a:solidFill>
            <a:srgbClr val="D9E6F2"/>
          </a:solidFill>
          <a:ln w="6350">
            <a:solidFill>
              <a:srgbClr val="69B1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100" b="1">
                <a:solidFill>
                  <a:srgbClr val="0B2E4A"/>
                </a:solidFill>
                <a:latin typeface="Calibri"/>
              </a:rPr>
              <a:t>U.S.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42875" y="981075"/>
            <a:ext cx="11906250" cy="1952625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38125" y="1038225"/>
            <a:ext cx="1171575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U.S. Volume, By Packaging Format (MT)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152400" y="1238250"/>
          <a:ext cx="11887205" cy="148589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46439"/>
                <a:gridCol w="602398"/>
                <a:gridCol w="602398"/>
                <a:gridCol w="602398"/>
                <a:gridCol w="602398"/>
                <a:gridCol w="602398"/>
                <a:gridCol w="602398"/>
                <a:gridCol w="602398"/>
                <a:gridCol w="602398"/>
                <a:gridCol w="602398"/>
                <a:gridCol w="602398"/>
                <a:gridCol w="602398"/>
                <a:gridCol w="602398"/>
                <a:gridCol w="602398"/>
                <a:gridCol w="602398"/>
                <a:gridCol w="602398"/>
                <a:gridCol w="602398"/>
                <a:gridCol w="602398"/>
              </a:tblGrid>
              <a:tr h="246126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Packaging Format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2021A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2022A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2023A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2024A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2025A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2026E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2027F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2028F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2029F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2030F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2031F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2032F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2033F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2034F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2035F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2036F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F-CAGR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</a:tr>
              <a:tr h="247954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Flexible packs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247954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Rigid plastic packs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</a:tr>
              <a:tr h="247954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Paperboard packs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247954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Other packaging formats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</a:tr>
              <a:tr h="247954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Total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219075" y="2733675"/>
            <a:ext cx="11753850" cy="17145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100" b="0" i="1">
                <a:solidFill>
                  <a:srgbClr val="6C7A89"/>
                </a:solidFill>
                <a:latin typeface="Calibri"/>
              </a:rPr>
              <a:t>Source: FMI Analysis, 2026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42875" y="3067050"/>
            <a:ext cx="11906250" cy="1952625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38125" y="3124200"/>
            <a:ext cx="1171575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U.S. Value, By Packaging Format (US$ Mn)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152400" y="3324225"/>
          <a:ext cx="11887193" cy="148589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21397"/>
                <a:gridCol w="597988"/>
                <a:gridCol w="597988"/>
                <a:gridCol w="597988"/>
                <a:gridCol w="597988"/>
                <a:gridCol w="597988"/>
                <a:gridCol w="597988"/>
                <a:gridCol w="597988"/>
                <a:gridCol w="597988"/>
                <a:gridCol w="597988"/>
                <a:gridCol w="597988"/>
                <a:gridCol w="597988"/>
                <a:gridCol w="597988"/>
                <a:gridCol w="597988"/>
                <a:gridCol w="597988"/>
                <a:gridCol w="597988"/>
                <a:gridCol w="597988"/>
                <a:gridCol w="597988"/>
              </a:tblGrid>
              <a:tr h="246126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Packaging Format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2021A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2022A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2023A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2024A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2025A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2026E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2027F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2028F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2029F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2030F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2031F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2032F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2033F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2034F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2035F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2036F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F-CAGR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</a:tr>
              <a:tr h="247954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Flexible packs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247954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Rigid plastic packs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</a:tr>
              <a:tr h="247954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Paperboard packs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247954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Other packaging formats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</a:tr>
              <a:tr h="247954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Total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219075" y="4819650"/>
            <a:ext cx="11753850" cy="17145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100" b="0" i="1">
                <a:solidFill>
                  <a:srgbClr val="6C7A89"/>
                </a:solidFill>
                <a:latin typeface="Calibri"/>
              </a:rPr>
              <a:t>Source: FMI Analysis, 2026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58595B"/>
                </a:solidFill>
                <a:latin typeface="Calibri"/>
              </a:rPr>
              <a:t>©2026 Future Market Insights, All Rights Reserved</a:t>
            </a:r>
          </a:p>
        </p:txBody>
      </p:sp>
      <p:pic>
        <p:nvPicPr>
          <p:cNvPr id="20" name="Picture 19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2531" y="1837563"/>
            <a:ext cx="366712" cy="533400"/>
          </a:xfrm>
          <a:prstGeom prst="rect">
            <a:avLst/>
          </a:prstGeom>
        </p:spPr>
      </p:pic>
      <p:pic>
        <p:nvPicPr>
          <p:cNvPr id="21" name="Picture 20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70004" y="3923538"/>
            <a:ext cx="366712" cy="533400"/>
          </a:xfrm>
          <a:prstGeom prst="rect">
            <a:avLst/>
          </a:prstGeom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3825" y="914400"/>
            <a:ext cx="3943350" cy="28575"/>
          </a:xfrm>
          <a:prstGeom prst="rect">
            <a:avLst/>
          </a:prstGeom>
          <a:solidFill>
            <a:srgbClr val="0081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24325" y="914400"/>
            <a:ext cx="3943350" cy="28575"/>
          </a:xfrm>
          <a:prstGeom prst="rect">
            <a:avLst/>
          </a:prstGeom>
          <a:solidFill>
            <a:srgbClr val="9E7E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124825" y="914400"/>
            <a:ext cx="3943350" cy="28575"/>
          </a:xfrm>
          <a:prstGeom prst="rect">
            <a:avLst/>
          </a:prstGeom>
          <a:solidFill>
            <a:srgbClr val="403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mi_logo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25" y="-205740"/>
            <a:ext cx="1307592" cy="13258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543050" y="19050"/>
            <a:ext cx="8982075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U.S. YoY Analysis Packaging Format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43050" y="647700"/>
            <a:ext cx="10506075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U.S. year-on-year volume and value growth by Packaging Format, highlighting acceleration and slowdown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620375" y="228600"/>
            <a:ext cx="1428750" cy="419100"/>
          </a:xfrm>
          <a:prstGeom prst="roundRect">
            <a:avLst>
              <a:gd name="adj" fmla="val 22000"/>
            </a:avLst>
          </a:prstGeom>
          <a:solidFill>
            <a:srgbClr val="D9E6F2"/>
          </a:solidFill>
          <a:ln w="6350">
            <a:solidFill>
              <a:srgbClr val="69B1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100" b="1">
                <a:solidFill>
                  <a:srgbClr val="0B2E4A"/>
                </a:solidFill>
                <a:latin typeface="Calibri"/>
              </a:rPr>
              <a:t>U.S.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42875" y="981075"/>
            <a:ext cx="11906250" cy="1704975"/>
          </a:xfrm>
          <a:prstGeom prst="roundRect">
            <a:avLst>
              <a:gd name="adj" fmla="val 4469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38125" y="1038225"/>
            <a:ext cx="1171575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U.S. Volume YoY, By Packaging Format (%)  ·  </a:t>
            </a:r>
            <a:r>
              <a:rPr sz="1200" b="1">
                <a:solidFill>
                  <a:srgbClr val="2E7D32"/>
                </a:solidFill>
                <a:latin typeface="Calibri"/>
              </a:rPr>
              <a:t>▲ outpacing market  </a:t>
            </a:r>
            <a:r>
              <a:rPr sz="1200" b="1">
                <a:solidFill>
                  <a:srgbClr val="A86F00"/>
                </a:solidFill>
                <a:latin typeface="Calibri"/>
              </a:rPr>
              <a:t>▶ below market pace  </a:t>
            </a:r>
            <a:r>
              <a:rPr sz="1200" b="1">
                <a:solidFill>
                  <a:srgbClr val="E44D3A"/>
                </a:solidFill>
                <a:latin typeface="Calibri"/>
              </a:rPr>
              <a:t>▼ decline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152400" y="1238250"/>
          <a:ext cx="11887200" cy="123825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80760"/>
                <a:gridCol w="667096"/>
                <a:gridCol w="667096"/>
                <a:gridCol w="667096"/>
                <a:gridCol w="667096"/>
                <a:gridCol w="667096"/>
                <a:gridCol w="667096"/>
                <a:gridCol w="667096"/>
                <a:gridCol w="667096"/>
                <a:gridCol w="667096"/>
                <a:gridCol w="667096"/>
                <a:gridCol w="667096"/>
                <a:gridCol w="667096"/>
                <a:gridCol w="667096"/>
                <a:gridCol w="667096"/>
                <a:gridCol w="667096"/>
              </a:tblGrid>
              <a:tr h="246126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Packaging Format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2022A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2023A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2024A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2025A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2026E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2027F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2028F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2029F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2030F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2031F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2032F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2033F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2034F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2035F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2036F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</a:tr>
              <a:tr h="248031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Flexible packs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248031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Rigid plastic packs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</a:tr>
              <a:tr h="248031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Paperboard packs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248031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Other packaging formats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219075" y="2486025"/>
            <a:ext cx="11753850" cy="17145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100" b="0" i="1">
                <a:solidFill>
                  <a:srgbClr val="6C7A89"/>
                </a:solidFill>
                <a:latin typeface="Calibri"/>
              </a:rPr>
              <a:t>Source: FMI Analysis, 2026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42875" y="2819400"/>
            <a:ext cx="11906250" cy="1704975"/>
          </a:xfrm>
          <a:prstGeom prst="roundRect">
            <a:avLst>
              <a:gd name="adj" fmla="val 4469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38125" y="2876550"/>
            <a:ext cx="1171575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U.S. Value YoY, By Packaging Format (%)  ·  </a:t>
            </a:r>
            <a:r>
              <a:rPr sz="1200" b="1">
                <a:solidFill>
                  <a:srgbClr val="2E7D32"/>
                </a:solidFill>
                <a:latin typeface="Calibri"/>
              </a:rPr>
              <a:t>▲ outpacing market  </a:t>
            </a:r>
            <a:r>
              <a:rPr sz="1200" b="1">
                <a:solidFill>
                  <a:srgbClr val="A86F00"/>
                </a:solidFill>
                <a:latin typeface="Calibri"/>
              </a:rPr>
              <a:t>▶ below market pace  </a:t>
            </a:r>
            <a:r>
              <a:rPr sz="1200" b="1">
                <a:solidFill>
                  <a:srgbClr val="E44D3A"/>
                </a:solidFill>
                <a:latin typeface="Calibri"/>
              </a:rPr>
              <a:t>▼ decline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152400" y="3076575"/>
          <a:ext cx="11887200" cy="123825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80760"/>
                <a:gridCol w="667096"/>
                <a:gridCol w="667096"/>
                <a:gridCol w="667096"/>
                <a:gridCol w="667096"/>
                <a:gridCol w="667096"/>
                <a:gridCol w="667096"/>
                <a:gridCol w="667096"/>
                <a:gridCol w="667096"/>
                <a:gridCol w="667096"/>
                <a:gridCol w="667096"/>
                <a:gridCol w="667096"/>
                <a:gridCol w="667096"/>
                <a:gridCol w="667096"/>
                <a:gridCol w="667096"/>
                <a:gridCol w="667096"/>
              </a:tblGrid>
              <a:tr h="246126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Packaging Format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2022A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2023A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2024A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2025A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2026E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2027F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2028F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2029F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2030F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2031F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2032F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2033F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2034F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2035F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2036F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</a:tr>
              <a:tr h="248031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Flexible packs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248031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Rigid plastic packs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</a:tr>
              <a:tr h="248031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Paperboard packs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248031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Other packaging formats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219075" y="4324350"/>
            <a:ext cx="11753850" cy="17145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100" b="0" i="1">
                <a:solidFill>
                  <a:srgbClr val="6C7A89"/>
                </a:solidFill>
                <a:latin typeface="Calibri"/>
              </a:rPr>
              <a:t>Source: FMI Analysis, 2026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58595B"/>
                </a:solidFill>
                <a:latin typeface="Calibri"/>
              </a:rPr>
              <a:t>©2026 Future Market Insights, All Rights Reserved</a:t>
            </a:r>
          </a:p>
        </p:txBody>
      </p:sp>
      <p:pic>
        <p:nvPicPr>
          <p:cNvPr id="20" name="Picture 19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49689" y="1713738"/>
            <a:ext cx="366712" cy="533400"/>
          </a:xfrm>
          <a:prstGeom prst="rect">
            <a:avLst/>
          </a:prstGeom>
        </p:spPr>
      </p:pic>
      <p:pic>
        <p:nvPicPr>
          <p:cNvPr id="21" name="Picture 20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49689" y="3552062"/>
            <a:ext cx="366712" cy="533400"/>
          </a:xfrm>
          <a:prstGeom prst="rect">
            <a:avLst/>
          </a:prstGeom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8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F1F8FE"/>
              </a:gs>
              <a:gs pos="100000">
                <a:srgbClr val="DAEAF9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0" y="5591183"/>
            <a:ext cx="12192000" cy="1266817"/>
          </a:xfrm>
          <a:custGeom>
            <a:avLst/>
            <a:gdLst/>
            <a:ahLst/>
            <a:cxnLst/>
            <a:rect l="l" t="t" r="r" b="b"/>
            <a:pathLst>
              <a:path w="12192000" h="1266817">
                <a:moveTo>
                  <a:pt x="0" y="1266817"/>
                </a:moveTo>
                <a:lnTo>
                  <a:pt x="0" y="475605"/>
                </a:lnTo>
                <a:lnTo>
                  <a:pt x="152400" y="486239"/>
                </a:lnTo>
                <a:lnTo>
                  <a:pt x="304800" y="495887"/>
                </a:lnTo>
                <a:lnTo>
                  <a:pt x="457200" y="504505"/>
                </a:lnTo>
                <a:lnTo>
                  <a:pt x="609600" y="512056"/>
                </a:lnTo>
                <a:lnTo>
                  <a:pt x="762000" y="518505"/>
                </a:lnTo>
                <a:lnTo>
                  <a:pt x="914400" y="523824"/>
                </a:lnTo>
                <a:lnTo>
                  <a:pt x="1066800" y="527988"/>
                </a:lnTo>
                <a:lnTo>
                  <a:pt x="1219200" y="530979"/>
                </a:lnTo>
                <a:lnTo>
                  <a:pt x="1371600" y="532783"/>
                </a:lnTo>
                <a:lnTo>
                  <a:pt x="1524000" y="533392"/>
                </a:lnTo>
                <a:lnTo>
                  <a:pt x="1676400" y="532804"/>
                </a:lnTo>
                <a:lnTo>
                  <a:pt x="1828800" y="531021"/>
                </a:lnTo>
                <a:lnTo>
                  <a:pt x="1981200" y="528051"/>
                </a:lnTo>
                <a:lnTo>
                  <a:pt x="2133600" y="523907"/>
                </a:lnTo>
                <a:lnTo>
                  <a:pt x="2286000" y="518609"/>
                </a:lnTo>
                <a:lnTo>
                  <a:pt x="2438400" y="512179"/>
                </a:lnTo>
                <a:lnTo>
                  <a:pt x="2590800" y="504648"/>
                </a:lnTo>
                <a:lnTo>
                  <a:pt x="2743200" y="496047"/>
                </a:lnTo>
                <a:lnTo>
                  <a:pt x="2895600" y="486417"/>
                </a:lnTo>
                <a:lnTo>
                  <a:pt x="3048000" y="475801"/>
                </a:lnTo>
                <a:lnTo>
                  <a:pt x="3200400" y="464245"/>
                </a:lnTo>
                <a:lnTo>
                  <a:pt x="3352800" y="451803"/>
                </a:lnTo>
                <a:lnTo>
                  <a:pt x="3505200" y="438529"/>
                </a:lnTo>
                <a:lnTo>
                  <a:pt x="3657600" y="424484"/>
                </a:lnTo>
                <a:lnTo>
                  <a:pt x="3810000" y="409730"/>
                </a:lnTo>
                <a:lnTo>
                  <a:pt x="3962400" y="394334"/>
                </a:lnTo>
                <a:lnTo>
                  <a:pt x="4114800" y="378365"/>
                </a:lnTo>
                <a:lnTo>
                  <a:pt x="4267200" y="361894"/>
                </a:lnTo>
                <a:lnTo>
                  <a:pt x="4419600" y="344996"/>
                </a:lnTo>
                <a:lnTo>
                  <a:pt x="4572000" y="327746"/>
                </a:lnTo>
                <a:lnTo>
                  <a:pt x="4724400" y="310223"/>
                </a:lnTo>
                <a:lnTo>
                  <a:pt x="4876800" y="292503"/>
                </a:lnTo>
                <a:lnTo>
                  <a:pt x="5029200" y="274668"/>
                </a:lnTo>
                <a:lnTo>
                  <a:pt x="5181600" y="256797"/>
                </a:lnTo>
                <a:lnTo>
                  <a:pt x="5334000" y="238971"/>
                </a:lnTo>
                <a:lnTo>
                  <a:pt x="5486400" y="221269"/>
                </a:lnTo>
                <a:lnTo>
                  <a:pt x="5638800" y="203771"/>
                </a:lnTo>
                <a:lnTo>
                  <a:pt x="5791200" y="186555"/>
                </a:lnTo>
                <a:lnTo>
                  <a:pt x="5943600" y="169699"/>
                </a:lnTo>
                <a:lnTo>
                  <a:pt x="6096000" y="153279"/>
                </a:lnTo>
                <a:lnTo>
                  <a:pt x="6248400" y="137368"/>
                </a:lnTo>
                <a:lnTo>
                  <a:pt x="6400800" y="122038"/>
                </a:lnTo>
                <a:lnTo>
                  <a:pt x="6553200" y="107357"/>
                </a:lnTo>
                <a:lnTo>
                  <a:pt x="6705600" y="93391"/>
                </a:lnTo>
                <a:lnTo>
                  <a:pt x="6858000" y="80204"/>
                </a:lnTo>
                <a:lnTo>
                  <a:pt x="7010400" y="67854"/>
                </a:lnTo>
                <a:lnTo>
                  <a:pt x="7162800" y="56397"/>
                </a:lnTo>
                <a:lnTo>
                  <a:pt x="7315200" y="45884"/>
                </a:lnTo>
                <a:lnTo>
                  <a:pt x="7467600" y="36363"/>
                </a:lnTo>
                <a:lnTo>
                  <a:pt x="7620000" y="27876"/>
                </a:lnTo>
                <a:lnTo>
                  <a:pt x="7772400" y="20461"/>
                </a:lnTo>
                <a:lnTo>
                  <a:pt x="7924800" y="14151"/>
                </a:lnTo>
                <a:lnTo>
                  <a:pt x="8077200" y="8976"/>
                </a:lnTo>
                <a:lnTo>
                  <a:pt x="8229600" y="4958"/>
                </a:lnTo>
                <a:lnTo>
                  <a:pt x="8382000" y="2115"/>
                </a:lnTo>
                <a:lnTo>
                  <a:pt x="8534400" y="460"/>
                </a:lnTo>
                <a:lnTo>
                  <a:pt x="8686800" y="0"/>
                </a:lnTo>
                <a:lnTo>
                  <a:pt x="8839200" y="738"/>
                </a:lnTo>
                <a:lnTo>
                  <a:pt x="8991600" y="2670"/>
                </a:lnTo>
                <a:lnTo>
                  <a:pt x="9144000" y="5787"/>
                </a:lnTo>
                <a:lnTo>
                  <a:pt x="9296400" y="10076"/>
                </a:lnTo>
                <a:lnTo>
                  <a:pt x="9448800" y="15518"/>
                </a:lnTo>
                <a:lnTo>
                  <a:pt x="9601200" y="22086"/>
                </a:lnTo>
                <a:lnTo>
                  <a:pt x="9753600" y="29754"/>
                </a:lnTo>
                <a:lnTo>
                  <a:pt x="9906000" y="38485"/>
                </a:lnTo>
                <a:lnTo>
                  <a:pt x="10058400" y="48241"/>
                </a:lnTo>
                <a:lnTo>
                  <a:pt x="10210800" y="58977"/>
                </a:lnTo>
                <a:lnTo>
                  <a:pt x="10363200" y="70647"/>
                </a:lnTo>
                <a:lnTo>
                  <a:pt x="10515600" y="83196"/>
                </a:lnTo>
                <a:lnTo>
                  <a:pt x="10668000" y="96570"/>
                </a:lnTo>
                <a:lnTo>
                  <a:pt x="10820400" y="110707"/>
                </a:lnTo>
                <a:lnTo>
                  <a:pt x="10972800" y="125545"/>
                </a:lnTo>
                <a:lnTo>
                  <a:pt x="11125200" y="141016"/>
                </a:lnTo>
                <a:lnTo>
                  <a:pt x="11277600" y="157052"/>
                </a:lnTo>
                <a:lnTo>
                  <a:pt x="11430000" y="173580"/>
                </a:lnTo>
                <a:lnTo>
                  <a:pt x="11582400" y="190527"/>
                </a:lnTo>
                <a:lnTo>
                  <a:pt x="11734800" y="207815"/>
                </a:lnTo>
                <a:lnTo>
                  <a:pt x="11887200" y="225367"/>
                </a:lnTo>
                <a:lnTo>
                  <a:pt x="12039600" y="243105"/>
                </a:lnTo>
                <a:lnTo>
                  <a:pt x="12192000" y="260949"/>
                </a:lnTo>
                <a:lnTo>
                  <a:pt x="12192000" y="1266817"/>
                </a:lnTo>
                <a:close/>
              </a:path>
            </a:pathLst>
          </a:custGeom>
          <a:solidFill>
            <a:srgbClr val="C8E0F6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0" y="5905543"/>
            <a:ext cx="12192000" cy="952457"/>
          </a:xfrm>
          <a:custGeom>
            <a:avLst/>
            <a:gdLst/>
            <a:ahLst/>
            <a:cxnLst/>
            <a:rect l="l" t="t" r="r" b="b"/>
            <a:pathLst>
              <a:path w="12192000" h="952457">
                <a:moveTo>
                  <a:pt x="0" y="952457"/>
                </a:moveTo>
                <a:lnTo>
                  <a:pt x="0" y="288660"/>
                </a:lnTo>
                <a:lnTo>
                  <a:pt x="152400" y="275228"/>
                </a:lnTo>
                <a:lnTo>
                  <a:pt x="304800" y="261249"/>
                </a:lnTo>
                <a:lnTo>
                  <a:pt x="457200" y="246812"/>
                </a:lnTo>
                <a:lnTo>
                  <a:pt x="609600" y="232010"/>
                </a:lnTo>
                <a:lnTo>
                  <a:pt x="762000" y="216940"/>
                </a:lnTo>
                <a:lnTo>
                  <a:pt x="914400" y="201698"/>
                </a:lnTo>
                <a:lnTo>
                  <a:pt x="1066800" y="186384"/>
                </a:lnTo>
                <a:lnTo>
                  <a:pt x="1219200" y="171097"/>
                </a:lnTo>
                <a:lnTo>
                  <a:pt x="1371600" y="155934"/>
                </a:lnTo>
                <a:lnTo>
                  <a:pt x="1524000" y="140995"/>
                </a:lnTo>
                <a:lnTo>
                  <a:pt x="1676400" y="126375"/>
                </a:lnTo>
                <a:lnTo>
                  <a:pt x="1828800" y="112170"/>
                </a:lnTo>
                <a:lnTo>
                  <a:pt x="1981200" y="98470"/>
                </a:lnTo>
                <a:lnTo>
                  <a:pt x="2133600" y="85366"/>
                </a:lnTo>
                <a:lnTo>
                  <a:pt x="2286000" y="72940"/>
                </a:lnTo>
                <a:lnTo>
                  <a:pt x="2438400" y="61275"/>
                </a:lnTo>
                <a:lnTo>
                  <a:pt x="2590800" y="50444"/>
                </a:lnTo>
                <a:lnTo>
                  <a:pt x="2743200" y="40519"/>
                </a:lnTo>
                <a:lnTo>
                  <a:pt x="2895600" y="31563"/>
                </a:lnTo>
                <a:lnTo>
                  <a:pt x="3048000" y="23634"/>
                </a:lnTo>
                <a:lnTo>
                  <a:pt x="3200400" y="16784"/>
                </a:lnTo>
                <a:lnTo>
                  <a:pt x="3352800" y="11056"/>
                </a:lnTo>
                <a:lnTo>
                  <a:pt x="3505200" y="6489"/>
                </a:lnTo>
                <a:lnTo>
                  <a:pt x="3657600" y="3110"/>
                </a:lnTo>
                <a:lnTo>
                  <a:pt x="3810000" y="943"/>
                </a:lnTo>
                <a:lnTo>
                  <a:pt x="3962400" y="0"/>
                </a:lnTo>
                <a:lnTo>
                  <a:pt x="4114800" y="289"/>
                </a:lnTo>
                <a:lnTo>
                  <a:pt x="4267200" y="1808"/>
                </a:lnTo>
                <a:lnTo>
                  <a:pt x="4419600" y="4546"/>
                </a:lnTo>
                <a:lnTo>
                  <a:pt x="4572000" y="8485"/>
                </a:lnTo>
                <a:lnTo>
                  <a:pt x="4724400" y="13601"/>
                </a:lnTo>
                <a:lnTo>
                  <a:pt x="4876800" y="19861"/>
                </a:lnTo>
                <a:lnTo>
                  <a:pt x="5029200" y="27223"/>
                </a:lnTo>
                <a:lnTo>
                  <a:pt x="5181600" y="35641"/>
                </a:lnTo>
                <a:lnTo>
                  <a:pt x="5334000" y="45059"/>
                </a:lnTo>
                <a:lnTo>
                  <a:pt x="5486400" y="55417"/>
                </a:lnTo>
                <a:lnTo>
                  <a:pt x="5638800" y="66649"/>
                </a:lnTo>
                <a:lnTo>
                  <a:pt x="5791200" y="78680"/>
                </a:lnTo>
                <a:lnTo>
                  <a:pt x="5943600" y="91435"/>
                </a:lnTo>
                <a:lnTo>
                  <a:pt x="6096000" y="104829"/>
                </a:lnTo>
                <a:lnTo>
                  <a:pt x="6248400" y="118777"/>
                </a:lnTo>
                <a:lnTo>
                  <a:pt x="6400800" y="133188"/>
                </a:lnTo>
                <a:lnTo>
                  <a:pt x="6553200" y="147970"/>
                </a:lnTo>
                <a:lnTo>
                  <a:pt x="6705600" y="163026"/>
                </a:lnTo>
                <a:lnTo>
                  <a:pt x="6858000" y="178260"/>
                </a:lnTo>
                <a:lnTo>
                  <a:pt x="7010400" y="193572"/>
                </a:lnTo>
                <a:lnTo>
                  <a:pt x="7162800" y="208865"/>
                </a:lnTo>
                <a:lnTo>
                  <a:pt x="7315200" y="224038"/>
                </a:lnTo>
                <a:lnTo>
                  <a:pt x="7467600" y="238994"/>
                </a:lnTo>
                <a:lnTo>
                  <a:pt x="7620000" y="253637"/>
                </a:lnTo>
                <a:lnTo>
                  <a:pt x="7772400" y="267871"/>
                </a:lnTo>
                <a:lnTo>
                  <a:pt x="7924800" y="281604"/>
                </a:lnTo>
                <a:lnTo>
                  <a:pt x="8077200" y="294748"/>
                </a:lnTo>
                <a:lnTo>
                  <a:pt x="8229600" y="307218"/>
                </a:lnTo>
                <a:lnTo>
                  <a:pt x="8382000" y="318934"/>
                </a:lnTo>
                <a:lnTo>
                  <a:pt x="8534400" y="329818"/>
                </a:lnTo>
                <a:lnTo>
                  <a:pt x="8686800" y="339802"/>
                </a:lnTo>
                <a:lnTo>
                  <a:pt x="8839200" y="348821"/>
                </a:lnTo>
                <a:lnTo>
                  <a:pt x="8991600" y="356815"/>
                </a:lnTo>
                <a:lnTo>
                  <a:pt x="9144000" y="363734"/>
                </a:lnTo>
                <a:lnTo>
                  <a:pt x="9296400" y="369533"/>
                </a:lnTo>
                <a:lnTo>
                  <a:pt x="9448800" y="374174"/>
                </a:lnTo>
                <a:lnTo>
                  <a:pt x="9601200" y="377628"/>
                </a:lnTo>
                <a:lnTo>
                  <a:pt x="9753600" y="379872"/>
                </a:lnTo>
                <a:lnTo>
                  <a:pt x="9906000" y="380891"/>
                </a:lnTo>
                <a:lnTo>
                  <a:pt x="10058400" y="380679"/>
                </a:lnTo>
                <a:lnTo>
                  <a:pt x="10210800" y="379237"/>
                </a:lnTo>
                <a:lnTo>
                  <a:pt x="10363200" y="376575"/>
                </a:lnTo>
                <a:lnTo>
                  <a:pt x="10515600" y="372710"/>
                </a:lnTo>
                <a:lnTo>
                  <a:pt x="10668000" y="367666"/>
                </a:lnTo>
                <a:lnTo>
                  <a:pt x="10820400" y="361477"/>
                </a:lnTo>
                <a:lnTo>
                  <a:pt x="10972800" y="354182"/>
                </a:lnTo>
                <a:lnTo>
                  <a:pt x="11125200" y="345829"/>
                </a:lnTo>
                <a:lnTo>
                  <a:pt x="11277600" y="336472"/>
                </a:lnTo>
                <a:lnTo>
                  <a:pt x="11430000" y="326170"/>
                </a:lnTo>
                <a:lnTo>
                  <a:pt x="11582400" y="314991"/>
                </a:lnTo>
                <a:lnTo>
                  <a:pt x="11734800" y="303008"/>
                </a:lnTo>
                <a:lnTo>
                  <a:pt x="11887200" y="290296"/>
                </a:lnTo>
                <a:lnTo>
                  <a:pt x="12039600" y="276939"/>
                </a:lnTo>
                <a:lnTo>
                  <a:pt x="12192000" y="263023"/>
                </a:lnTo>
                <a:lnTo>
                  <a:pt x="12192000" y="952457"/>
                </a:lnTo>
                <a:close/>
              </a:path>
            </a:pathLst>
          </a:custGeom>
          <a:solidFill>
            <a:srgbClr val="A7CDF1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638925"/>
            <a:ext cx="12192000" cy="219075"/>
          </a:xfrm>
          <a:prstGeom prst="rect">
            <a:avLst/>
          </a:prstGeom>
          <a:solidFill>
            <a:srgbClr val="A9C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238875"/>
            <a:ext cx="12192000" cy="400050"/>
          </a:xfrm>
          <a:prstGeom prst="rect">
            <a:avLst/>
          </a:prstGeom>
          <a:gradFill rotWithShape="1">
            <a:gsLst>
              <a:gs pos="0">
                <a:srgbClr val="2C6BB2"/>
              </a:gs>
              <a:gs pos="100000">
                <a:srgbClr val="7FB5E4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MI Section Bar"/>
          <p:cNvSpPr txBox="1"/>
          <p:nvPr/>
        </p:nvSpPr>
        <p:spPr>
          <a:xfrm>
            <a:off x="285750" y="6238875"/>
            <a:ext cx="3810000" cy="400050"/>
          </a:xfrm>
          <a:prstGeom prst="rect">
            <a:avLst/>
          </a:prstGeom>
          <a:noFill/>
        </p:spPr>
        <p:txBody>
          <a:bodyPr wrap="none" anchor="ctr" lIns="0" tIns="0" bIns="0">
            <a:spAutoFit/>
          </a:bodyPr>
          <a:lstStyle/>
          <a:p>
            <a:r>
              <a:rPr sz="1500" b="1">
                <a:solidFill>
                  <a:srgbClr val="FFFFFF"/>
                </a:solidFill>
                <a:latin typeface="Calibri"/>
              </a:rPr>
              <a:t>Section 2.13</a:t>
            </a:r>
          </a:p>
        </p:txBody>
      </p:sp>
      <p:pic>
        <p:nvPicPr>
          <p:cNvPr id="8" name="Picture 7" descr="fmi_logo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74320"/>
            <a:ext cx="1307592" cy="13258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14400" y="2752725"/>
            <a:ext cx="8572500" cy="3048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800" b="0">
                <a:solidFill>
                  <a:srgbClr val="0E72AE"/>
                </a:solidFill>
                <a:latin typeface="Calibri"/>
              </a:rPr>
              <a:t>Packaged Muffins Market</a:t>
            </a:r>
          </a:p>
        </p:txBody>
      </p:sp>
      <p:sp>
        <p:nvSpPr>
          <p:cNvPr id="10" name="FMI Section Title"/>
          <p:cNvSpPr txBox="1"/>
          <p:nvPr/>
        </p:nvSpPr>
        <p:spPr>
          <a:xfrm>
            <a:off x="914400" y="3095625"/>
            <a:ext cx="8572500" cy="51435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r>
              <a:rPr sz="3000" b="1">
                <a:solidFill>
                  <a:srgbClr val="0B3C8C"/>
                </a:solidFill>
                <a:latin typeface="Calibri"/>
              </a:rPr>
              <a:t>Pack Configuration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781425"/>
            <a:ext cx="8458200" cy="12763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Calibri"/>
              </a:rPr>
              <a:t>➤	</a:t>
            </a:r>
            <a:r>
              <a:rPr sz="2000" b="0">
                <a:solidFill>
                  <a:srgbClr val="000000"/>
                </a:solidFill>
                <a:latin typeface="Calibri"/>
              </a:rPr>
              <a:t>Segmental</a:t>
            </a:r>
          </a:p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Calibri"/>
              </a:rPr>
              <a:t>➤	</a:t>
            </a:r>
            <a:r>
              <a:rPr sz="2000" b="0">
                <a:solidFill>
                  <a:srgbClr val="000000"/>
                </a:solidFill>
                <a:latin typeface="Calibri"/>
              </a:rPr>
              <a:t>Table (Volume &amp; Value)</a:t>
            </a:r>
          </a:p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Calibri"/>
              </a:rPr>
              <a:t>➤	</a:t>
            </a:r>
            <a:r>
              <a:rPr sz="2000" b="0">
                <a:solidFill>
                  <a:srgbClr val="000000"/>
                </a:solidFill>
                <a:latin typeface="Calibri"/>
              </a:rPr>
              <a:t>YoY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58595B"/>
                </a:solidFill>
                <a:latin typeface="Calibri"/>
              </a:rPr>
              <a:t>©2026 Future Market Insights, All Rights Reserved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3825" y="914400"/>
            <a:ext cx="3943350" cy="28575"/>
          </a:xfrm>
          <a:prstGeom prst="rect">
            <a:avLst/>
          </a:prstGeom>
          <a:solidFill>
            <a:srgbClr val="0081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24325" y="914400"/>
            <a:ext cx="3943350" cy="28575"/>
          </a:xfrm>
          <a:prstGeom prst="rect">
            <a:avLst/>
          </a:prstGeom>
          <a:solidFill>
            <a:srgbClr val="9E7E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124825" y="914400"/>
            <a:ext cx="3943350" cy="28575"/>
          </a:xfrm>
          <a:prstGeom prst="rect">
            <a:avLst/>
          </a:prstGeom>
          <a:solidFill>
            <a:srgbClr val="403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mi_logo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25" y="-205740"/>
            <a:ext cx="1307592" cy="13258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543050" y="19050"/>
            <a:ext cx="8982075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U.S. Packaged Muffins Market Segmental Analysis Pack Configuration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43050" y="647700"/>
            <a:ext cx="10506075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U.S. segmental analysis by Pack Configuration: growth contribution, share variance and absolute $ opportunity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620375" y="228600"/>
            <a:ext cx="1428750" cy="419100"/>
          </a:xfrm>
          <a:prstGeom prst="roundRect">
            <a:avLst>
              <a:gd name="adj" fmla="val 22000"/>
            </a:avLst>
          </a:prstGeom>
          <a:solidFill>
            <a:srgbClr val="D9E6F2"/>
          </a:solidFill>
          <a:ln w="6350">
            <a:solidFill>
              <a:srgbClr val="69B1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100" b="1">
                <a:solidFill>
                  <a:srgbClr val="0B2E4A"/>
                </a:solidFill>
                <a:latin typeface="Calibri"/>
              </a:rPr>
              <a:t>U.S.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42875" y="981075"/>
            <a:ext cx="5876925" cy="2752725"/>
          </a:xfrm>
          <a:prstGeom prst="roundRect">
            <a:avLst>
              <a:gd name="adj" fmla="val 2768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38125" y="1038225"/>
            <a:ext cx="5686425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Growth Contribution 2026 → 2036, By Pack Configuration (US$ Mn)</a:t>
            </a:r>
          </a:p>
        </p:txBody>
      </p:sp>
      <p:graphicFrame>
        <p:nvGraphicFramePr>
          <p:cNvPr id="13" name="Chart 12"/>
          <p:cNvGraphicFramePr>
            <a:graphicFrameLocks noGrp="1"/>
          </p:cNvGraphicFramePr>
          <p:nvPr/>
        </p:nvGraphicFramePr>
        <p:xfrm>
          <a:off x="238125" y="1266825"/>
          <a:ext cx="5686425" cy="2409825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4" name="Rounded Rectangle 13"/>
          <p:cNvSpPr/>
          <p:nvPr/>
        </p:nvSpPr>
        <p:spPr>
          <a:xfrm>
            <a:off x="6172200" y="981075"/>
            <a:ext cx="5876925" cy="2752725"/>
          </a:xfrm>
          <a:prstGeom prst="roundRect">
            <a:avLst>
              <a:gd name="adj" fmla="val 2768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67450" y="1038225"/>
            <a:ext cx="5686425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Value Shares &amp; Variance, By Pack Configuration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6181725" y="1238250"/>
          <a:ext cx="5857874" cy="2286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02726"/>
                <a:gridCol w="1063787"/>
                <a:gridCol w="1063787"/>
                <a:gridCol w="1063787"/>
                <a:gridCol w="1063787"/>
              </a:tblGrid>
              <a:tr h="246126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Pack Configuration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Share 2026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Share 2036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Variance (BPS)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F-CAGR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</a:tr>
              <a:tr h="679958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Single-muffin packs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679958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Multipacks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</a:tr>
              <a:tr h="679958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Bulk foodservice packs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6248400" y="3533775"/>
            <a:ext cx="5724525" cy="17145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100" b="0" i="1">
                <a:solidFill>
                  <a:srgbClr val="6C7A89"/>
                </a:solidFill>
                <a:latin typeface="Calibri"/>
              </a:rPr>
              <a:t>Source: FMI Analysis, 2026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42875" y="3867150"/>
            <a:ext cx="5876925" cy="2752725"/>
          </a:xfrm>
          <a:prstGeom prst="roundRect">
            <a:avLst>
              <a:gd name="adj" fmla="val 2768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38125" y="3924300"/>
            <a:ext cx="5686425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Absolute $ Opportunity, By Pack Configuration (US$ Mn), between 2026–2036</a:t>
            </a:r>
          </a:p>
        </p:txBody>
      </p:sp>
      <p:graphicFrame>
        <p:nvGraphicFramePr>
          <p:cNvPr id="20" name="Chart 19"/>
          <p:cNvGraphicFramePr>
            <a:graphicFrameLocks noGrp="1"/>
          </p:cNvGraphicFramePr>
          <p:nvPr/>
        </p:nvGraphicFramePr>
        <p:xfrm>
          <a:off x="238125" y="4152900"/>
          <a:ext cx="5686425" cy="2409825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21" name="Rounded Rectangle 20"/>
          <p:cNvSpPr/>
          <p:nvPr/>
        </p:nvSpPr>
        <p:spPr>
          <a:xfrm>
            <a:off x="6172200" y="3867150"/>
            <a:ext cx="5876925" cy="2752725"/>
          </a:xfrm>
          <a:prstGeom prst="roundRect">
            <a:avLst>
              <a:gd name="adj" fmla="val 2768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67450" y="3924300"/>
            <a:ext cx="5686425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Volume Shares &amp; Variance, By Pack Configuration</a:t>
            </a:r>
          </a:p>
        </p:txBody>
      </p:sp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6181725" y="4124325"/>
          <a:ext cx="5857874" cy="2286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02726"/>
                <a:gridCol w="1063787"/>
                <a:gridCol w="1063787"/>
                <a:gridCol w="1063787"/>
                <a:gridCol w="1063787"/>
              </a:tblGrid>
              <a:tr h="246126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Pack Configuration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Share 2026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Share 2036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Variance (BPS)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F-CAGR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</a:tr>
              <a:tr h="679958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Single-muffin packs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679958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Multipacks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</a:tr>
              <a:tr h="679958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Bulk foodservice packs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4" name="TextBox 23"/>
          <p:cNvSpPr txBox="1"/>
          <p:nvPr/>
        </p:nvSpPr>
        <p:spPr>
          <a:xfrm>
            <a:off x="6248400" y="6419850"/>
            <a:ext cx="5724525" cy="17145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100" b="0" i="1">
                <a:solidFill>
                  <a:srgbClr val="6C7A89"/>
                </a:solidFill>
                <a:latin typeface="Calibri"/>
              </a:rPr>
              <a:t>Source: FMI Analysis, 2026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58595B"/>
                </a:solidFill>
                <a:latin typeface="Calibri"/>
              </a:rPr>
              <a:t>©2026 Future Market Insights, All Rights Reserved</a:t>
            </a:r>
          </a:p>
        </p:txBody>
      </p:sp>
      <p:pic>
        <p:nvPicPr>
          <p:cNvPr id="26" name="Picture 25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94826" y="2237234"/>
            <a:ext cx="263506" cy="383281"/>
          </a:xfrm>
          <a:prstGeom prst="rect">
            <a:avLst/>
          </a:prstGeom>
        </p:spPr>
      </p:pic>
      <p:pic>
        <p:nvPicPr>
          <p:cNvPr id="27" name="Picture 26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25334" y="2237613"/>
            <a:ext cx="366712" cy="533400"/>
          </a:xfrm>
          <a:prstGeom prst="rect">
            <a:avLst/>
          </a:prstGeom>
        </p:spPr>
      </p:pic>
      <p:pic>
        <p:nvPicPr>
          <p:cNvPr id="28" name="Picture 27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94826" y="5123309"/>
            <a:ext cx="263506" cy="383281"/>
          </a:xfrm>
          <a:prstGeom prst="rect">
            <a:avLst/>
          </a:prstGeom>
        </p:spPr>
      </p:pic>
      <p:pic>
        <p:nvPicPr>
          <p:cNvPr id="29" name="Picture 28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25334" y="5123688"/>
            <a:ext cx="366712" cy="533400"/>
          </a:xfrm>
          <a:prstGeom prst="rect">
            <a:avLst/>
          </a:prstGeom>
        </p:spPr>
      </p:pic>
      <p:sp>
        <p:nvSpPr>
          <p:cNvPr id="30" name="lockshield_13"/>
          <p:cNvSpPr/>
          <p:nvPr/>
        </p:nvSpPr>
        <p:spPr>
          <a:xfrm>
            <a:off x="238125" y="1266825"/>
            <a:ext cx="5686425" cy="2409825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lockshield_20"/>
          <p:cNvSpPr/>
          <p:nvPr/>
        </p:nvSpPr>
        <p:spPr>
          <a:xfrm>
            <a:off x="238125" y="4152900"/>
            <a:ext cx="5686425" cy="2409825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3825" y="914400"/>
            <a:ext cx="3943350" cy="28575"/>
          </a:xfrm>
          <a:prstGeom prst="rect">
            <a:avLst/>
          </a:prstGeom>
          <a:solidFill>
            <a:srgbClr val="0081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24325" y="914400"/>
            <a:ext cx="3943350" cy="28575"/>
          </a:xfrm>
          <a:prstGeom prst="rect">
            <a:avLst/>
          </a:prstGeom>
          <a:solidFill>
            <a:srgbClr val="9E7E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124825" y="914400"/>
            <a:ext cx="3943350" cy="28575"/>
          </a:xfrm>
          <a:prstGeom prst="rect">
            <a:avLst/>
          </a:prstGeom>
          <a:solidFill>
            <a:srgbClr val="403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mi_logo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25" y="-205740"/>
            <a:ext cx="1307592" cy="13258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543050" y="19050"/>
            <a:ext cx="8982075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U.S. Packaged Muffins Market Tables Pack Configuration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43050" y="647700"/>
            <a:ext cx="10506075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Year-by-year volume and value of the U.S. market by Pack Configuration, 2021–2036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620375" y="228600"/>
            <a:ext cx="1428750" cy="419100"/>
          </a:xfrm>
          <a:prstGeom prst="roundRect">
            <a:avLst>
              <a:gd name="adj" fmla="val 22000"/>
            </a:avLst>
          </a:prstGeom>
          <a:solidFill>
            <a:srgbClr val="D9E6F2"/>
          </a:solidFill>
          <a:ln w="6350">
            <a:solidFill>
              <a:srgbClr val="69B1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100" b="1">
                <a:solidFill>
                  <a:srgbClr val="0B2E4A"/>
                </a:solidFill>
                <a:latin typeface="Calibri"/>
              </a:rPr>
              <a:t>U.S.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42875" y="981075"/>
            <a:ext cx="11906250" cy="1704975"/>
          </a:xfrm>
          <a:prstGeom prst="roundRect">
            <a:avLst>
              <a:gd name="adj" fmla="val 4469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38125" y="1038225"/>
            <a:ext cx="1171575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U.S. Volume, By Pack Configuration (MT)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152400" y="1238250"/>
          <a:ext cx="11887207" cy="123825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538338"/>
                <a:gridCol w="608757"/>
                <a:gridCol w="608757"/>
                <a:gridCol w="608757"/>
                <a:gridCol w="608757"/>
                <a:gridCol w="608757"/>
                <a:gridCol w="608757"/>
                <a:gridCol w="608757"/>
                <a:gridCol w="608757"/>
                <a:gridCol w="608757"/>
                <a:gridCol w="608757"/>
                <a:gridCol w="608757"/>
                <a:gridCol w="608757"/>
                <a:gridCol w="608757"/>
                <a:gridCol w="608757"/>
                <a:gridCol w="608757"/>
                <a:gridCol w="608757"/>
                <a:gridCol w="608757"/>
              </a:tblGrid>
              <a:tr h="246126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Pack Configuration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2021A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2022A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2023A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2024A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2025A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2026E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2027F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2028F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2029F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2030F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2031F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2032F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2033F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2034F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2035F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2036F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F-CAGR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</a:tr>
              <a:tr h="248031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Single-muffin packs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248031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Multipacks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</a:tr>
              <a:tr h="248031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Bulk foodservice packs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248031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Total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219075" y="2486025"/>
            <a:ext cx="11753850" cy="17145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100" b="0" i="1">
                <a:solidFill>
                  <a:srgbClr val="6C7A89"/>
                </a:solidFill>
                <a:latin typeface="Calibri"/>
              </a:rPr>
              <a:t>Source: FMI Analysis, 2026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42875" y="2819400"/>
            <a:ext cx="11906250" cy="1704975"/>
          </a:xfrm>
          <a:prstGeom prst="roundRect">
            <a:avLst>
              <a:gd name="adj" fmla="val 4469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38125" y="2876550"/>
            <a:ext cx="1171575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U.S. Value, By Pack Configuration (US$ Mn)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152400" y="3076575"/>
          <a:ext cx="11887195" cy="123825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09148"/>
                <a:gridCol w="604591"/>
                <a:gridCol w="604591"/>
                <a:gridCol w="604591"/>
                <a:gridCol w="604591"/>
                <a:gridCol w="604591"/>
                <a:gridCol w="604591"/>
                <a:gridCol w="604591"/>
                <a:gridCol w="604591"/>
                <a:gridCol w="604591"/>
                <a:gridCol w="604591"/>
                <a:gridCol w="604591"/>
                <a:gridCol w="604591"/>
                <a:gridCol w="604591"/>
                <a:gridCol w="604591"/>
                <a:gridCol w="604591"/>
                <a:gridCol w="604591"/>
                <a:gridCol w="604591"/>
              </a:tblGrid>
              <a:tr h="246126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Pack Configuration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2021A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2022A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2023A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2024A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2025A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2026E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2027F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2028F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2029F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2030F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2031F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2032F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2033F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2034F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2035F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2036F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F-CAGR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</a:tr>
              <a:tr h="248031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Single-muffin packs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248031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Multipacks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</a:tr>
              <a:tr h="248031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Bulk foodservice packs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248031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Total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219075" y="4324350"/>
            <a:ext cx="11753850" cy="17145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100" b="0" i="1">
                <a:solidFill>
                  <a:srgbClr val="6C7A89"/>
                </a:solidFill>
                <a:latin typeface="Calibri"/>
              </a:rPr>
              <a:t>Source: FMI Analysis, 2026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58595B"/>
                </a:solidFill>
                <a:latin typeface="Calibri"/>
              </a:rPr>
              <a:t>©2026 Future Market Insights, All Rights Reserved</a:t>
            </a:r>
          </a:p>
        </p:txBody>
      </p:sp>
      <p:pic>
        <p:nvPicPr>
          <p:cNvPr id="20" name="Picture 19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8482" y="1713738"/>
            <a:ext cx="366712" cy="533400"/>
          </a:xfrm>
          <a:prstGeom prst="rect">
            <a:avLst/>
          </a:prstGeom>
        </p:spPr>
      </p:pic>
      <p:pic>
        <p:nvPicPr>
          <p:cNvPr id="21" name="Picture 20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13881" y="3552062"/>
            <a:ext cx="366712" cy="533400"/>
          </a:xfrm>
          <a:prstGeom prst="rect">
            <a:avLst/>
          </a:prstGeom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3825" y="914400"/>
            <a:ext cx="3943350" cy="28575"/>
          </a:xfrm>
          <a:prstGeom prst="rect">
            <a:avLst/>
          </a:prstGeom>
          <a:solidFill>
            <a:srgbClr val="0081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24325" y="914400"/>
            <a:ext cx="3943350" cy="28575"/>
          </a:xfrm>
          <a:prstGeom prst="rect">
            <a:avLst/>
          </a:prstGeom>
          <a:solidFill>
            <a:srgbClr val="9E7E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124825" y="914400"/>
            <a:ext cx="3943350" cy="28575"/>
          </a:xfrm>
          <a:prstGeom prst="rect">
            <a:avLst/>
          </a:prstGeom>
          <a:solidFill>
            <a:srgbClr val="403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mi_logo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25" y="-205740"/>
            <a:ext cx="1307592" cy="13258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543050" y="19050"/>
            <a:ext cx="8982075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U.S. YoY Analysis Pack Configuration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43050" y="647700"/>
            <a:ext cx="10506075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U.S. year-on-year volume and value growth by Pack Configuration, highlighting acceleration and slowdown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620375" y="228600"/>
            <a:ext cx="1428750" cy="419100"/>
          </a:xfrm>
          <a:prstGeom prst="roundRect">
            <a:avLst>
              <a:gd name="adj" fmla="val 22000"/>
            </a:avLst>
          </a:prstGeom>
          <a:solidFill>
            <a:srgbClr val="D9E6F2"/>
          </a:solidFill>
          <a:ln w="6350">
            <a:solidFill>
              <a:srgbClr val="69B1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100" b="1">
                <a:solidFill>
                  <a:srgbClr val="0B2E4A"/>
                </a:solidFill>
                <a:latin typeface="Calibri"/>
              </a:rPr>
              <a:t>U.S.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42875" y="981075"/>
            <a:ext cx="11906250" cy="1457325"/>
          </a:xfrm>
          <a:prstGeom prst="roundRect">
            <a:avLst>
              <a:gd name="adj" fmla="val 5228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38125" y="1038225"/>
            <a:ext cx="1171575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U.S. Volume YoY, By Pack Configuration (%)  ·  </a:t>
            </a:r>
            <a:r>
              <a:rPr sz="1200" b="1">
                <a:solidFill>
                  <a:srgbClr val="2E7D32"/>
                </a:solidFill>
                <a:latin typeface="Calibri"/>
              </a:rPr>
              <a:t>▲ outpacing market  </a:t>
            </a:r>
            <a:r>
              <a:rPr sz="1200" b="1">
                <a:solidFill>
                  <a:srgbClr val="A86F00"/>
                </a:solidFill>
                <a:latin typeface="Calibri"/>
              </a:rPr>
              <a:t>▶ below market pace  </a:t>
            </a:r>
            <a:r>
              <a:rPr sz="1200" b="1">
                <a:solidFill>
                  <a:srgbClr val="E44D3A"/>
                </a:solidFill>
                <a:latin typeface="Calibri"/>
              </a:rPr>
              <a:t>▼ decline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152400" y="1238250"/>
          <a:ext cx="11887198" cy="9906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59918"/>
                <a:gridCol w="675152"/>
                <a:gridCol w="675152"/>
                <a:gridCol w="675152"/>
                <a:gridCol w="675152"/>
                <a:gridCol w="675152"/>
                <a:gridCol w="675152"/>
                <a:gridCol w="675152"/>
                <a:gridCol w="675152"/>
                <a:gridCol w="675152"/>
                <a:gridCol w="675152"/>
                <a:gridCol w="675152"/>
                <a:gridCol w="675152"/>
                <a:gridCol w="675152"/>
                <a:gridCol w="675152"/>
                <a:gridCol w="675152"/>
              </a:tblGrid>
              <a:tr h="246126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Pack Configuration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2022A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2023A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2024A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2025A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2026E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2027F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2028F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2029F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2030F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2031F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2032F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2033F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2034F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2035F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2036F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</a:tr>
              <a:tr h="248158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Single-muffin packs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248158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Multipacks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</a:tr>
              <a:tr h="248158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Bulk foodservice packs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219075" y="2238375"/>
            <a:ext cx="11753850" cy="17145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100" b="0" i="1">
                <a:solidFill>
                  <a:srgbClr val="6C7A89"/>
                </a:solidFill>
                <a:latin typeface="Calibri"/>
              </a:rPr>
              <a:t>Source: FMI Analysis, 2026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42875" y="2571750"/>
            <a:ext cx="11906250" cy="1457325"/>
          </a:xfrm>
          <a:prstGeom prst="roundRect">
            <a:avLst>
              <a:gd name="adj" fmla="val 5228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38125" y="2628900"/>
            <a:ext cx="1171575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U.S. Value YoY, By Pack Configuration (%)  ·  </a:t>
            </a:r>
            <a:r>
              <a:rPr sz="1200" b="1">
                <a:solidFill>
                  <a:srgbClr val="2E7D32"/>
                </a:solidFill>
                <a:latin typeface="Calibri"/>
              </a:rPr>
              <a:t>▲ outpacing market  </a:t>
            </a:r>
            <a:r>
              <a:rPr sz="1200" b="1">
                <a:solidFill>
                  <a:srgbClr val="A86F00"/>
                </a:solidFill>
                <a:latin typeface="Calibri"/>
              </a:rPr>
              <a:t>▶ below market pace  </a:t>
            </a:r>
            <a:r>
              <a:rPr sz="1200" b="1">
                <a:solidFill>
                  <a:srgbClr val="E44D3A"/>
                </a:solidFill>
                <a:latin typeface="Calibri"/>
              </a:rPr>
              <a:t>▼ decline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152400" y="2828925"/>
          <a:ext cx="11887198" cy="9906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59918"/>
                <a:gridCol w="675152"/>
                <a:gridCol w="675152"/>
                <a:gridCol w="675152"/>
                <a:gridCol w="675152"/>
                <a:gridCol w="675152"/>
                <a:gridCol w="675152"/>
                <a:gridCol w="675152"/>
                <a:gridCol w="675152"/>
                <a:gridCol w="675152"/>
                <a:gridCol w="675152"/>
                <a:gridCol w="675152"/>
                <a:gridCol w="675152"/>
                <a:gridCol w="675152"/>
                <a:gridCol w="675152"/>
                <a:gridCol w="675152"/>
              </a:tblGrid>
              <a:tr h="246126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Pack Configuration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2022A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2023A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2024A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2025A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2026E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2027F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2028F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2029F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2030F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2031F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2032F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2033F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2034F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2035F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2036F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</a:tr>
              <a:tr h="248158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Single-muffin packs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248158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Multipacks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</a:tr>
              <a:tr h="248158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Bulk foodservice packs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219075" y="3829050"/>
            <a:ext cx="11753850" cy="17145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100" b="0" i="1">
                <a:solidFill>
                  <a:srgbClr val="6C7A89"/>
                </a:solidFill>
                <a:latin typeface="Calibri"/>
              </a:rPr>
              <a:t>Source: FMI Analysis, 2026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58595B"/>
                </a:solidFill>
                <a:latin typeface="Calibri"/>
              </a:rPr>
              <a:t>©2026 Future Market Insights, All Rights Reserved</a:t>
            </a:r>
          </a:p>
        </p:txBody>
      </p:sp>
      <p:pic>
        <p:nvPicPr>
          <p:cNvPr id="20" name="Picture 19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9268" y="1589913"/>
            <a:ext cx="366712" cy="533400"/>
          </a:xfrm>
          <a:prstGeom prst="rect">
            <a:avLst/>
          </a:prstGeom>
        </p:spPr>
      </p:pic>
      <p:pic>
        <p:nvPicPr>
          <p:cNvPr id="21" name="Picture 20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9268" y="3180587"/>
            <a:ext cx="366712" cy="533400"/>
          </a:xfrm>
          <a:prstGeom prst="rect">
            <a:avLst/>
          </a:prstGeom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8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F1F8FE"/>
              </a:gs>
              <a:gs pos="100000">
                <a:srgbClr val="DAEAF9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0" y="5591183"/>
            <a:ext cx="12192000" cy="1266817"/>
          </a:xfrm>
          <a:custGeom>
            <a:avLst/>
            <a:gdLst/>
            <a:ahLst/>
            <a:cxnLst/>
            <a:rect l="l" t="t" r="r" b="b"/>
            <a:pathLst>
              <a:path w="12192000" h="1266817">
                <a:moveTo>
                  <a:pt x="0" y="1266817"/>
                </a:moveTo>
                <a:lnTo>
                  <a:pt x="0" y="475605"/>
                </a:lnTo>
                <a:lnTo>
                  <a:pt x="152400" y="486239"/>
                </a:lnTo>
                <a:lnTo>
                  <a:pt x="304800" y="495887"/>
                </a:lnTo>
                <a:lnTo>
                  <a:pt x="457200" y="504505"/>
                </a:lnTo>
                <a:lnTo>
                  <a:pt x="609600" y="512056"/>
                </a:lnTo>
                <a:lnTo>
                  <a:pt x="762000" y="518505"/>
                </a:lnTo>
                <a:lnTo>
                  <a:pt x="914400" y="523824"/>
                </a:lnTo>
                <a:lnTo>
                  <a:pt x="1066800" y="527988"/>
                </a:lnTo>
                <a:lnTo>
                  <a:pt x="1219200" y="530979"/>
                </a:lnTo>
                <a:lnTo>
                  <a:pt x="1371600" y="532783"/>
                </a:lnTo>
                <a:lnTo>
                  <a:pt x="1524000" y="533392"/>
                </a:lnTo>
                <a:lnTo>
                  <a:pt x="1676400" y="532804"/>
                </a:lnTo>
                <a:lnTo>
                  <a:pt x="1828800" y="531021"/>
                </a:lnTo>
                <a:lnTo>
                  <a:pt x="1981200" y="528051"/>
                </a:lnTo>
                <a:lnTo>
                  <a:pt x="2133600" y="523907"/>
                </a:lnTo>
                <a:lnTo>
                  <a:pt x="2286000" y="518609"/>
                </a:lnTo>
                <a:lnTo>
                  <a:pt x="2438400" y="512179"/>
                </a:lnTo>
                <a:lnTo>
                  <a:pt x="2590800" y="504648"/>
                </a:lnTo>
                <a:lnTo>
                  <a:pt x="2743200" y="496047"/>
                </a:lnTo>
                <a:lnTo>
                  <a:pt x="2895600" y="486417"/>
                </a:lnTo>
                <a:lnTo>
                  <a:pt x="3048000" y="475801"/>
                </a:lnTo>
                <a:lnTo>
                  <a:pt x="3200400" y="464245"/>
                </a:lnTo>
                <a:lnTo>
                  <a:pt x="3352800" y="451803"/>
                </a:lnTo>
                <a:lnTo>
                  <a:pt x="3505200" y="438529"/>
                </a:lnTo>
                <a:lnTo>
                  <a:pt x="3657600" y="424484"/>
                </a:lnTo>
                <a:lnTo>
                  <a:pt x="3810000" y="409730"/>
                </a:lnTo>
                <a:lnTo>
                  <a:pt x="3962400" y="394334"/>
                </a:lnTo>
                <a:lnTo>
                  <a:pt x="4114800" y="378365"/>
                </a:lnTo>
                <a:lnTo>
                  <a:pt x="4267200" y="361894"/>
                </a:lnTo>
                <a:lnTo>
                  <a:pt x="4419600" y="344996"/>
                </a:lnTo>
                <a:lnTo>
                  <a:pt x="4572000" y="327746"/>
                </a:lnTo>
                <a:lnTo>
                  <a:pt x="4724400" y="310223"/>
                </a:lnTo>
                <a:lnTo>
                  <a:pt x="4876800" y="292503"/>
                </a:lnTo>
                <a:lnTo>
                  <a:pt x="5029200" y="274668"/>
                </a:lnTo>
                <a:lnTo>
                  <a:pt x="5181600" y="256797"/>
                </a:lnTo>
                <a:lnTo>
                  <a:pt x="5334000" y="238971"/>
                </a:lnTo>
                <a:lnTo>
                  <a:pt x="5486400" y="221269"/>
                </a:lnTo>
                <a:lnTo>
                  <a:pt x="5638800" y="203771"/>
                </a:lnTo>
                <a:lnTo>
                  <a:pt x="5791200" y="186555"/>
                </a:lnTo>
                <a:lnTo>
                  <a:pt x="5943600" y="169699"/>
                </a:lnTo>
                <a:lnTo>
                  <a:pt x="6096000" y="153279"/>
                </a:lnTo>
                <a:lnTo>
                  <a:pt x="6248400" y="137368"/>
                </a:lnTo>
                <a:lnTo>
                  <a:pt x="6400800" y="122038"/>
                </a:lnTo>
                <a:lnTo>
                  <a:pt x="6553200" y="107357"/>
                </a:lnTo>
                <a:lnTo>
                  <a:pt x="6705600" y="93391"/>
                </a:lnTo>
                <a:lnTo>
                  <a:pt x="6858000" y="80204"/>
                </a:lnTo>
                <a:lnTo>
                  <a:pt x="7010400" y="67854"/>
                </a:lnTo>
                <a:lnTo>
                  <a:pt x="7162800" y="56397"/>
                </a:lnTo>
                <a:lnTo>
                  <a:pt x="7315200" y="45884"/>
                </a:lnTo>
                <a:lnTo>
                  <a:pt x="7467600" y="36363"/>
                </a:lnTo>
                <a:lnTo>
                  <a:pt x="7620000" y="27876"/>
                </a:lnTo>
                <a:lnTo>
                  <a:pt x="7772400" y="20461"/>
                </a:lnTo>
                <a:lnTo>
                  <a:pt x="7924800" y="14151"/>
                </a:lnTo>
                <a:lnTo>
                  <a:pt x="8077200" y="8976"/>
                </a:lnTo>
                <a:lnTo>
                  <a:pt x="8229600" y="4958"/>
                </a:lnTo>
                <a:lnTo>
                  <a:pt x="8382000" y="2115"/>
                </a:lnTo>
                <a:lnTo>
                  <a:pt x="8534400" y="460"/>
                </a:lnTo>
                <a:lnTo>
                  <a:pt x="8686800" y="0"/>
                </a:lnTo>
                <a:lnTo>
                  <a:pt x="8839200" y="738"/>
                </a:lnTo>
                <a:lnTo>
                  <a:pt x="8991600" y="2670"/>
                </a:lnTo>
                <a:lnTo>
                  <a:pt x="9144000" y="5787"/>
                </a:lnTo>
                <a:lnTo>
                  <a:pt x="9296400" y="10076"/>
                </a:lnTo>
                <a:lnTo>
                  <a:pt x="9448800" y="15518"/>
                </a:lnTo>
                <a:lnTo>
                  <a:pt x="9601200" y="22086"/>
                </a:lnTo>
                <a:lnTo>
                  <a:pt x="9753600" y="29754"/>
                </a:lnTo>
                <a:lnTo>
                  <a:pt x="9906000" y="38485"/>
                </a:lnTo>
                <a:lnTo>
                  <a:pt x="10058400" y="48241"/>
                </a:lnTo>
                <a:lnTo>
                  <a:pt x="10210800" y="58977"/>
                </a:lnTo>
                <a:lnTo>
                  <a:pt x="10363200" y="70647"/>
                </a:lnTo>
                <a:lnTo>
                  <a:pt x="10515600" y="83196"/>
                </a:lnTo>
                <a:lnTo>
                  <a:pt x="10668000" y="96570"/>
                </a:lnTo>
                <a:lnTo>
                  <a:pt x="10820400" y="110707"/>
                </a:lnTo>
                <a:lnTo>
                  <a:pt x="10972800" y="125545"/>
                </a:lnTo>
                <a:lnTo>
                  <a:pt x="11125200" y="141016"/>
                </a:lnTo>
                <a:lnTo>
                  <a:pt x="11277600" y="157052"/>
                </a:lnTo>
                <a:lnTo>
                  <a:pt x="11430000" y="173580"/>
                </a:lnTo>
                <a:lnTo>
                  <a:pt x="11582400" y="190527"/>
                </a:lnTo>
                <a:lnTo>
                  <a:pt x="11734800" y="207815"/>
                </a:lnTo>
                <a:lnTo>
                  <a:pt x="11887200" y="225367"/>
                </a:lnTo>
                <a:lnTo>
                  <a:pt x="12039600" y="243105"/>
                </a:lnTo>
                <a:lnTo>
                  <a:pt x="12192000" y="260949"/>
                </a:lnTo>
                <a:lnTo>
                  <a:pt x="12192000" y="1266817"/>
                </a:lnTo>
                <a:close/>
              </a:path>
            </a:pathLst>
          </a:custGeom>
          <a:solidFill>
            <a:srgbClr val="C8E0F6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0" y="5905543"/>
            <a:ext cx="12192000" cy="952457"/>
          </a:xfrm>
          <a:custGeom>
            <a:avLst/>
            <a:gdLst/>
            <a:ahLst/>
            <a:cxnLst/>
            <a:rect l="l" t="t" r="r" b="b"/>
            <a:pathLst>
              <a:path w="12192000" h="952457">
                <a:moveTo>
                  <a:pt x="0" y="952457"/>
                </a:moveTo>
                <a:lnTo>
                  <a:pt x="0" y="288660"/>
                </a:lnTo>
                <a:lnTo>
                  <a:pt x="152400" y="275228"/>
                </a:lnTo>
                <a:lnTo>
                  <a:pt x="304800" y="261249"/>
                </a:lnTo>
                <a:lnTo>
                  <a:pt x="457200" y="246812"/>
                </a:lnTo>
                <a:lnTo>
                  <a:pt x="609600" y="232010"/>
                </a:lnTo>
                <a:lnTo>
                  <a:pt x="762000" y="216940"/>
                </a:lnTo>
                <a:lnTo>
                  <a:pt x="914400" y="201698"/>
                </a:lnTo>
                <a:lnTo>
                  <a:pt x="1066800" y="186384"/>
                </a:lnTo>
                <a:lnTo>
                  <a:pt x="1219200" y="171097"/>
                </a:lnTo>
                <a:lnTo>
                  <a:pt x="1371600" y="155934"/>
                </a:lnTo>
                <a:lnTo>
                  <a:pt x="1524000" y="140995"/>
                </a:lnTo>
                <a:lnTo>
                  <a:pt x="1676400" y="126375"/>
                </a:lnTo>
                <a:lnTo>
                  <a:pt x="1828800" y="112170"/>
                </a:lnTo>
                <a:lnTo>
                  <a:pt x="1981200" y="98470"/>
                </a:lnTo>
                <a:lnTo>
                  <a:pt x="2133600" y="85366"/>
                </a:lnTo>
                <a:lnTo>
                  <a:pt x="2286000" y="72940"/>
                </a:lnTo>
                <a:lnTo>
                  <a:pt x="2438400" y="61275"/>
                </a:lnTo>
                <a:lnTo>
                  <a:pt x="2590800" y="50444"/>
                </a:lnTo>
                <a:lnTo>
                  <a:pt x="2743200" y="40519"/>
                </a:lnTo>
                <a:lnTo>
                  <a:pt x="2895600" y="31563"/>
                </a:lnTo>
                <a:lnTo>
                  <a:pt x="3048000" y="23634"/>
                </a:lnTo>
                <a:lnTo>
                  <a:pt x="3200400" y="16784"/>
                </a:lnTo>
                <a:lnTo>
                  <a:pt x="3352800" y="11056"/>
                </a:lnTo>
                <a:lnTo>
                  <a:pt x="3505200" y="6489"/>
                </a:lnTo>
                <a:lnTo>
                  <a:pt x="3657600" y="3110"/>
                </a:lnTo>
                <a:lnTo>
                  <a:pt x="3810000" y="943"/>
                </a:lnTo>
                <a:lnTo>
                  <a:pt x="3962400" y="0"/>
                </a:lnTo>
                <a:lnTo>
                  <a:pt x="4114800" y="289"/>
                </a:lnTo>
                <a:lnTo>
                  <a:pt x="4267200" y="1808"/>
                </a:lnTo>
                <a:lnTo>
                  <a:pt x="4419600" y="4546"/>
                </a:lnTo>
                <a:lnTo>
                  <a:pt x="4572000" y="8485"/>
                </a:lnTo>
                <a:lnTo>
                  <a:pt x="4724400" y="13601"/>
                </a:lnTo>
                <a:lnTo>
                  <a:pt x="4876800" y="19861"/>
                </a:lnTo>
                <a:lnTo>
                  <a:pt x="5029200" y="27223"/>
                </a:lnTo>
                <a:lnTo>
                  <a:pt x="5181600" y="35641"/>
                </a:lnTo>
                <a:lnTo>
                  <a:pt x="5334000" y="45059"/>
                </a:lnTo>
                <a:lnTo>
                  <a:pt x="5486400" y="55417"/>
                </a:lnTo>
                <a:lnTo>
                  <a:pt x="5638800" y="66649"/>
                </a:lnTo>
                <a:lnTo>
                  <a:pt x="5791200" y="78680"/>
                </a:lnTo>
                <a:lnTo>
                  <a:pt x="5943600" y="91435"/>
                </a:lnTo>
                <a:lnTo>
                  <a:pt x="6096000" y="104829"/>
                </a:lnTo>
                <a:lnTo>
                  <a:pt x="6248400" y="118777"/>
                </a:lnTo>
                <a:lnTo>
                  <a:pt x="6400800" y="133188"/>
                </a:lnTo>
                <a:lnTo>
                  <a:pt x="6553200" y="147970"/>
                </a:lnTo>
                <a:lnTo>
                  <a:pt x="6705600" y="163026"/>
                </a:lnTo>
                <a:lnTo>
                  <a:pt x="6858000" y="178260"/>
                </a:lnTo>
                <a:lnTo>
                  <a:pt x="7010400" y="193572"/>
                </a:lnTo>
                <a:lnTo>
                  <a:pt x="7162800" y="208865"/>
                </a:lnTo>
                <a:lnTo>
                  <a:pt x="7315200" y="224038"/>
                </a:lnTo>
                <a:lnTo>
                  <a:pt x="7467600" y="238994"/>
                </a:lnTo>
                <a:lnTo>
                  <a:pt x="7620000" y="253637"/>
                </a:lnTo>
                <a:lnTo>
                  <a:pt x="7772400" y="267871"/>
                </a:lnTo>
                <a:lnTo>
                  <a:pt x="7924800" y="281604"/>
                </a:lnTo>
                <a:lnTo>
                  <a:pt x="8077200" y="294748"/>
                </a:lnTo>
                <a:lnTo>
                  <a:pt x="8229600" y="307218"/>
                </a:lnTo>
                <a:lnTo>
                  <a:pt x="8382000" y="318934"/>
                </a:lnTo>
                <a:lnTo>
                  <a:pt x="8534400" y="329818"/>
                </a:lnTo>
                <a:lnTo>
                  <a:pt x="8686800" y="339802"/>
                </a:lnTo>
                <a:lnTo>
                  <a:pt x="8839200" y="348821"/>
                </a:lnTo>
                <a:lnTo>
                  <a:pt x="8991600" y="356815"/>
                </a:lnTo>
                <a:lnTo>
                  <a:pt x="9144000" y="363734"/>
                </a:lnTo>
                <a:lnTo>
                  <a:pt x="9296400" y="369533"/>
                </a:lnTo>
                <a:lnTo>
                  <a:pt x="9448800" y="374174"/>
                </a:lnTo>
                <a:lnTo>
                  <a:pt x="9601200" y="377628"/>
                </a:lnTo>
                <a:lnTo>
                  <a:pt x="9753600" y="379872"/>
                </a:lnTo>
                <a:lnTo>
                  <a:pt x="9906000" y="380891"/>
                </a:lnTo>
                <a:lnTo>
                  <a:pt x="10058400" y="380679"/>
                </a:lnTo>
                <a:lnTo>
                  <a:pt x="10210800" y="379237"/>
                </a:lnTo>
                <a:lnTo>
                  <a:pt x="10363200" y="376575"/>
                </a:lnTo>
                <a:lnTo>
                  <a:pt x="10515600" y="372710"/>
                </a:lnTo>
                <a:lnTo>
                  <a:pt x="10668000" y="367666"/>
                </a:lnTo>
                <a:lnTo>
                  <a:pt x="10820400" y="361477"/>
                </a:lnTo>
                <a:lnTo>
                  <a:pt x="10972800" y="354182"/>
                </a:lnTo>
                <a:lnTo>
                  <a:pt x="11125200" y="345829"/>
                </a:lnTo>
                <a:lnTo>
                  <a:pt x="11277600" y="336472"/>
                </a:lnTo>
                <a:lnTo>
                  <a:pt x="11430000" y="326170"/>
                </a:lnTo>
                <a:lnTo>
                  <a:pt x="11582400" y="314991"/>
                </a:lnTo>
                <a:lnTo>
                  <a:pt x="11734800" y="303008"/>
                </a:lnTo>
                <a:lnTo>
                  <a:pt x="11887200" y="290296"/>
                </a:lnTo>
                <a:lnTo>
                  <a:pt x="12039600" y="276939"/>
                </a:lnTo>
                <a:lnTo>
                  <a:pt x="12192000" y="263023"/>
                </a:lnTo>
                <a:lnTo>
                  <a:pt x="12192000" y="952457"/>
                </a:lnTo>
                <a:close/>
              </a:path>
            </a:pathLst>
          </a:custGeom>
          <a:solidFill>
            <a:srgbClr val="A7CDF1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638925"/>
            <a:ext cx="12192000" cy="219075"/>
          </a:xfrm>
          <a:prstGeom prst="rect">
            <a:avLst/>
          </a:prstGeom>
          <a:solidFill>
            <a:srgbClr val="A9C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238875"/>
            <a:ext cx="12192000" cy="400050"/>
          </a:xfrm>
          <a:prstGeom prst="rect">
            <a:avLst/>
          </a:prstGeom>
          <a:gradFill rotWithShape="1">
            <a:gsLst>
              <a:gs pos="0">
                <a:srgbClr val="2C6BB2"/>
              </a:gs>
              <a:gs pos="100000">
                <a:srgbClr val="7FB5E4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MI Section Bar"/>
          <p:cNvSpPr txBox="1"/>
          <p:nvPr/>
        </p:nvSpPr>
        <p:spPr>
          <a:xfrm>
            <a:off x="285750" y="6238875"/>
            <a:ext cx="3810000" cy="400050"/>
          </a:xfrm>
          <a:prstGeom prst="rect">
            <a:avLst/>
          </a:prstGeom>
          <a:noFill/>
        </p:spPr>
        <p:txBody>
          <a:bodyPr wrap="none" anchor="ctr" lIns="0" tIns="0" bIns="0">
            <a:spAutoFit/>
          </a:bodyPr>
          <a:lstStyle/>
          <a:p>
            <a:r>
              <a:rPr sz="1500" b="1">
                <a:solidFill>
                  <a:srgbClr val="FFFFFF"/>
                </a:solidFill>
                <a:latin typeface="Calibri"/>
              </a:rPr>
              <a:t>Section 2.14</a:t>
            </a:r>
          </a:p>
        </p:txBody>
      </p:sp>
      <p:pic>
        <p:nvPicPr>
          <p:cNvPr id="8" name="Picture 7" descr="fmi_logo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74320"/>
            <a:ext cx="1307592" cy="13258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14400" y="2752725"/>
            <a:ext cx="8572500" cy="3048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800" b="0">
                <a:solidFill>
                  <a:srgbClr val="0E72AE"/>
                </a:solidFill>
                <a:latin typeface="Calibri"/>
              </a:rPr>
              <a:t>Packaged Muffins Market</a:t>
            </a:r>
          </a:p>
        </p:txBody>
      </p:sp>
      <p:sp>
        <p:nvSpPr>
          <p:cNvPr id="10" name="FMI Section Title"/>
          <p:cNvSpPr txBox="1"/>
          <p:nvPr/>
        </p:nvSpPr>
        <p:spPr>
          <a:xfrm>
            <a:off x="914400" y="3095625"/>
            <a:ext cx="8572500" cy="51435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r>
              <a:rPr sz="3000" b="1">
                <a:solidFill>
                  <a:srgbClr val="0B3C8C"/>
                </a:solidFill>
                <a:latin typeface="Calibri"/>
              </a:rPr>
              <a:t>Multipack Wrapping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781425"/>
            <a:ext cx="8458200" cy="12763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Calibri"/>
              </a:rPr>
              <a:t>➤	</a:t>
            </a:r>
            <a:r>
              <a:rPr sz="2000" b="0">
                <a:solidFill>
                  <a:srgbClr val="000000"/>
                </a:solidFill>
                <a:latin typeface="Calibri"/>
              </a:rPr>
              <a:t>Segmental</a:t>
            </a:r>
          </a:p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Calibri"/>
              </a:rPr>
              <a:t>➤	</a:t>
            </a:r>
            <a:r>
              <a:rPr sz="2000" b="0">
                <a:solidFill>
                  <a:srgbClr val="000000"/>
                </a:solidFill>
                <a:latin typeface="Calibri"/>
              </a:rPr>
              <a:t>Table (Volume &amp; Value)</a:t>
            </a:r>
          </a:p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Calibri"/>
              </a:rPr>
              <a:t>➤	</a:t>
            </a:r>
            <a:r>
              <a:rPr sz="2000" b="0">
                <a:solidFill>
                  <a:srgbClr val="000000"/>
                </a:solidFill>
                <a:latin typeface="Calibri"/>
              </a:rPr>
              <a:t>YoY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58595B"/>
                </a:solidFill>
                <a:latin typeface="Calibri"/>
              </a:rPr>
              <a:t>©2026 Future Market Insights, All Rights Reserved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3825" y="914400"/>
            <a:ext cx="3943350" cy="28575"/>
          </a:xfrm>
          <a:prstGeom prst="rect">
            <a:avLst/>
          </a:prstGeom>
          <a:solidFill>
            <a:srgbClr val="0081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24325" y="914400"/>
            <a:ext cx="3943350" cy="28575"/>
          </a:xfrm>
          <a:prstGeom prst="rect">
            <a:avLst/>
          </a:prstGeom>
          <a:solidFill>
            <a:srgbClr val="9E7E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124825" y="914400"/>
            <a:ext cx="3943350" cy="28575"/>
          </a:xfrm>
          <a:prstGeom prst="rect">
            <a:avLst/>
          </a:prstGeom>
          <a:solidFill>
            <a:srgbClr val="403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mi_logo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25" y="-205740"/>
            <a:ext cx="1307592" cy="13258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543050" y="19050"/>
            <a:ext cx="8982075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U.S. Packaged Muffins Market Segmental Analysis Multipack Wrapping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43050" y="647700"/>
            <a:ext cx="10506075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U.S. segmental analysis by Multipack Wrapping: growth contribution, share variance and absolute $ opportunity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620375" y="228600"/>
            <a:ext cx="1428750" cy="419100"/>
          </a:xfrm>
          <a:prstGeom prst="roundRect">
            <a:avLst>
              <a:gd name="adj" fmla="val 22000"/>
            </a:avLst>
          </a:prstGeom>
          <a:solidFill>
            <a:srgbClr val="D9E6F2"/>
          </a:solidFill>
          <a:ln w="6350">
            <a:solidFill>
              <a:srgbClr val="69B1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100" b="1">
                <a:solidFill>
                  <a:srgbClr val="0B2E4A"/>
                </a:solidFill>
                <a:latin typeface="Calibri"/>
              </a:rPr>
              <a:t>U.S.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42875" y="981075"/>
            <a:ext cx="5876925" cy="2752725"/>
          </a:xfrm>
          <a:prstGeom prst="roundRect">
            <a:avLst>
              <a:gd name="adj" fmla="val 2768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38125" y="1038225"/>
            <a:ext cx="5686425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Growth Contribution 2026 → 2036, By Multipack Wrapping (US$ Mn)</a:t>
            </a:r>
          </a:p>
        </p:txBody>
      </p:sp>
      <p:graphicFrame>
        <p:nvGraphicFramePr>
          <p:cNvPr id="13" name="Chart 12"/>
          <p:cNvGraphicFramePr>
            <a:graphicFrameLocks noGrp="1"/>
          </p:cNvGraphicFramePr>
          <p:nvPr/>
        </p:nvGraphicFramePr>
        <p:xfrm>
          <a:off x="238125" y="1266825"/>
          <a:ext cx="5686425" cy="2409825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4" name="Rounded Rectangle 13"/>
          <p:cNvSpPr/>
          <p:nvPr/>
        </p:nvSpPr>
        <p:spPr>
          <a:xfrm>
            <a:off x="6172200" y="981075"/>
            <a:ext cx="5876925" cy="2752725"/>
          </a:xfrm>
          <a:prstGeom prst="roundRect">
            <a:avLst>
              <a:gd name="adj" fmla="val 2768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67450" y="1038225"/>
            <a:ext cx="5686425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Value Shares &amp; Variance, By Multipack Wrapping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6181725" y="1238250"/>
          <a:ext cx="5857875" cy="228599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138749"/>
                <a:gridCol w="670480"/>
                <a:gridCol w="670480"/>
                <a:gridCol w="861687"/>
                <a:gridCol w="516479"/>
              </a:tblGrid>
              <a:tr h="438912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Multipack Wrapping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Share 2026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Share 2036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Variance (BPS)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F-CAGR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</a:tr>
              <a:tr h="923543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Individually wrapped muffins within an outer pack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923543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Shared pack without individual wrapping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</a:tr>
            </a:tbl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6248400" y="3533775"/>
            <a:ext cx="5724525" cy="17145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100" b="0" i="1">
                <a:solidFill>
                  <a:srgbClr val="6C7A89"/>
                </a:solidFill>
                <a:latin typeface="Calibri"/>
              </a:rPr>
              <a:t>Source: FMI Analysis, 2026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42875" y="3867150"/>
            <a:ext cx="5876925" cy="2752725"/>
          </a:xfrm>
          <a:prstGeom prst="roundRect">
            <a:avLst>
              <a:gd name="adj" fmla="val 2768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38125" y="3924300"/>
            <a:ext cx="5686425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Absolute $ Opportunity, By Multipack Wrapping (US$ Mn), between 2026–2036</a:t>
            </a:r>
          </a:p>
        </p:txBody>
      </p:sp>
      <p:graphicFrame>
        <p:nvGraphicFramePr>
          <p:cNvPr id="20" name="Chart 19"/>
          <p:cNvGraphicFramePr>
            <a:graphicFrameLocks noGrp="1"/>
          </p:cNvGraphicFramePr>
          <p:nvPr/>
        </p:nvGraphicFramePr>
        <p:xfrm>
          <a:off x="238125" y="4152900"/>
          <a:ext cx="5686425" cy="2409825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21" name="Rounded Rectangle 20"/>
          <p:cNvSpPr/>
          <p:nvPr/>
        </p:nvSpPr>
        <p:spPr>
          <a:xfrm>
            <a:off x="6172200" y="3867150"/>
            <a:ext cx="5876925" cy="2752725"/>
          </a:xfrm>
          <a:prstGeom prst="roundRect">
            <a:avLst>
              <a:gd name="adj" fmla="val 2768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67450" y="3924300"/>
            <a:ext cx="5686425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Volume Shares &amp; Variance, By Multipack Wrapping</a:t>
            </a:r>
          </a:p>
        </p:txBody>
      </p:sp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6181725" y="4124325"/>
          <a:ext cx="5857875" cy="228599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138749"/>
                <a:gridCol w="670480"/>
                <a:gridCol w="670480"/>
                <a:gridCol w="861687"/>
                <a:gridCol w="516479"/>
              </a:tblGrid>
              <a:tr h="438912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Multipack Wrapping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Share 2026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Share 2036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Variance (BPS)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F-CAGR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</a:tr>
              <a:tr h="923543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Individually wrapped muffins within an outer pack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923543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Shared pack without individual wrapping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</a:tr>
            </a:tbl>
          </a:graphicData>
        </a:graphic>
      </p:graphicFrame>
      <p:sp>
        <p:nvSpPr>
          <p:cNvPr id="24" name="TextBox 23"/>
          <p:cNvSpPr txBox="1"/>
          <p:nvPr/>
        </p:nvSpPr>
        <p:spPr>
          <a:xfrm>
            <a:off x="6248400" y="6419850"/>
            <a:ext cx="5724525" cy="17145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100" b="0" i="1">
                <a:solidFill>
                  <a:srgbClr val="6C7A89"/>
                </a:solidFill>
                <a:latin typeface="Calibri"/>
              </a:rPr>
              <a:t>Source: FMI Analysis, 2026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58595B"/>
                </a:solidFill>
                <a:latin typeface="Calibri"/>
              </a:rPr>
              <a:t>©2026 Future Market Insights, All Rights Reserved</a:t>
            </a:r>
          </a:p>
        </p:txBody>
      </p:sp>
      <p:pic>
        <p:nvPicPr>
          <p:cNvPr id="26" name="Picture 25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94826" y="2237234"/>
            <a:ext cx="263506" cy="383281"/>
          </a:xfrm>
          <a:prstGeom prst="rect">
            <a:avLst/>
          </a:prstGeom>
        </p:spPr>
      </p:pic>
      <p:pic>
        <p:nvPicPr>
          <p:cNvPr id="27" name="Picture 26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12015" y="2360675"/>
            <a:ext cx="330041" cy="480060"/>
          </a:xfrm>
          <a:prstGeom prst="rect">
            <a:avLst/>
          </a:prstGeom>
        </p:spPr>
      </p:pic>
      <p:pic>
        <p:nvPicPr>
          <p:cNvPr id="28" name="Picture 27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94826" y="5123309"/>
            <a:ext cx="263506" cy="383281"/>
          </a:xfrm>
          <a:prstGeom prst="rect">
            <a:avLst/>
          </a:prstGeom>
        </p:spPr>
      </p:pic>
      <p:pic>
        <p:nvPicPr>
          <p:cNvPr id="29" name="Picture 28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12015" y="5246750"/>
            <a:ext cx="330041" cy="480060"/>
          </a:xfrm>
          <a:prstGeom prst="rect">
            <a:avLst/>
          </a:prstGeom>
        </p:spPr>
      </p:pic>
      <p:sp>
        <p:nvSpPr>
          <p:cNvPr id="30" name="lockshield_13"/>
          <p:cNvSpPr/>
          <p:nvPr/>
        </p:nvSpPr>
        <p:spPr>
          <a:xfrm>
            <a:off x="238125" y="1266825"/>
            <a:ext cx="5686425" cy="2409825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lockshield_20"/>
          <p:cNvSpPr/>
          <p:nvPr/>
        </p:nvSpPr>
        <p:spPr>
          <a:xfrm>
            <a:off x="238125" y="4152900"/>
            <a:ext cx="5686425" cy="2409825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3825" y="914400"/>
            <a:ext cx="3943350" cy="28575"/>
          </a:xfrm>
          <a:prstGeom prst="rect">
            <a:avLst/>
          </a:prstGeom>
          <a:solidFill>
            <a:srgbClr val="0081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24325" y="914400"/>
            <a:ext cx="3943350" cy="28575"/>
          </a:xfrm>
          <a:prstGeom prst="rect">
            <a:avLst/>
          </a:prstGeom>
          <a:solidFill>
            <a:srgbClr val="9E7E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124825" y="914400"/>
            <a:ext cx="3943350" cy="28575"/>
          </a:xfrm>
          <a:prstGeom prst="rect">
            <a:avLst/>
          </a:prstGeom>
          <a:solidFill>
            <a:srgbClr val="403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mi_logo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25" y="-205740"/>
            <a:ext cx="1307592" cy="13258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543050" y="19050"/>
            <a:ext cx="8982075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U.S. Packaged Muffins Market Tables Multipack Wrapping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43050" y="647700"/>
            <a:ext cx="10506075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Year-by-year volume and value of the U.S. market by Multipack Wrapping, 2021–2036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620375" y="228600"/>
            <a:ext cx="1428750" cy="419100"/>
          </a:xfrm>
          <a:prstGeom prst="roundRect">
            <a:avLst>
              <a:gd name="adj" fmla="val 22000"/>
            </a:avLst>
          </a:prstGeom>
          <a:solidFill>
            <a:srgbClr val="D9E6F2"/>
          </a:solidFill>
          <a:ln w="6350">
            <a:solidFill>
              <a:srgbClr val="69B1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100" b="1">
                <a:solidFill>
                  <a:srgbClr val="0B2E4A"/>
                </a:solidFill>
                <a:latin typeface="Calibri"/>
              </a:rPr>
              <a:t>U.S.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42875" y="981075"/>
            <a:ext cx="11906250" cy="1838325"/>
          </a:xfrm>
          <a:prstGeom prst="roundRect">
            <a:avLst>
              <a:gd name="adj" fmla="val 4145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38125" y="1038225"/>
            <a:ext cx="1171575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U.S. Volume, By Multipack Wrapping (MT)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152400" y="1238250"/>
          <a:ext cx="11887207" cy="13716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005795"/>
                <a:gridCol w="530662"/>
                <a:gridCol w="530662"/>
                <a:gridCol w="530662"/>
                <a:gridCol w="530662"/>
                <a:gridCol w="530662"/>
                <a:gridCol w="530662"/>
                <a:gridCol w="530662"/>
                <a:gridCol w="530662"/>
                <a:gridCol w="530662"/>
                <a:gridCol w="530662"/>
                <a:gridCol w="530662"/>
                <a:gridCol w="530662"/>
                <a:gridCol w="530662"/>
                <a:gridCol w="530662"/>
                <a:gridCol w="530662"/>
                <a:gridCol w="530662"/>
                <a:gridCol w="390820"/>
              </a:tblGrid>
              <a:tr h="438912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Multipack Wrapping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2021A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2022A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2023A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2024A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2025A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2026E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2027F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2028F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2029F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2030F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2031F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2032F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2033F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2034F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2035F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2036F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F-CAGR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E0E8EF"/>
                    </a:solidFill>
                  </a:tcPr>
                </a:tc>
              </a:tr>
              <a:tr h="439420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Individually wrapped muffins within an outer</a:t>
                      </a:r>
                      <a:endParaRPr sz="1100"/>
                    </a:p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pack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FFFFFF"/>
                    </a:solidFill>
                  </a:tcPr>
                </a:tc>
              </a:tr>
              <a:tr h="246634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Shared pack without individual wrapping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F5F8FA"/>
                    </a:solidFill>
                  </a:tcPr>
                </a:tc>
              </a:tr>
              <a:tr h="246634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Total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E0E8EF"/>
                    </a:solidFill>
                  </a:tcPr>
                </a:tc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219075" y="2619375"/>
            <a:ext cx="11753850" cy="17145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100" b="0" i="1">
                <a:solidFill>
                  <a:srgbClr val="6C7A89"/>
                </a:solidFill>
                <a:latin typeface="Calibri"/>
              </a:rPr>
              <a:t>Source: FMI Analysis, 2026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42875" y="2952750"/>
            <a:ext cx="11906250" cy="1457325"/>
          </a:xfrm>
          <a:prstGeom prst="roundRect">
            <a:avLst>
              <a:gd name="adj" fmla="val 5228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38125" y="3009900"/>
            <a:ext cx="1171575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U.S. Value, By Multipack Wrapping (US$ Mn)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152400" y="3209925"/>
          <a:ext cx="11887206" cy="9906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315725"/>
                <a:gridCol w="514876"/>
                <a:gridCol w="514876"/>
                <a:gridCol w="514876"/>
                <a:gridCol w="514876"/>
                <a:gridCol w="514876"/>
                <a:gridCol w="496739"/>
                <a:gridCol w="491557"/>
                <a:gridCol w="491557"/>
                <a:gridCol w="491557"/>
                <a:gridCol w="491557"/>
                <a:gridCol w="491557"/>
                <a:gridCol w="491557"/>
                <a:gridCol w="491557"/>
                <a:gridCol w="491557"/>
                <a:gridCol w="491557"/>
                <a:gridCol w="491557"/>
                <a:gridCol w="584792"/>
              </a:tblGrid>
              <a:tr h="246126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Multipack Wrapping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2021A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2022A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2023A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2024A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2025A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2026E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2027F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2028F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2029F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2030F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2031F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2032F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2033F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2034F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2035F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2036F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F-CAGR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</a:tr>
              <a:tr h="248158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Individually wrapped muffins within an outer pack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248158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Shared pack without individual wrapping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</a:tr>
              <a:tr h="248158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Total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219075" y="4210050"/>
            <a:ext cx="11753850" cy="17145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100" b="0" i="1">
                <a:solidFill>
                  <a:srgbClr val="6C7A89"/>
                </a:solidFill>
                <a:latin typeface="Calibri"/>
              </a:rPr>
              <a:t>Source: FMI Analysis, 2026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58595B"/>
                </a:solidFill>
                <a:latin typeface="Calibri"/>
              </a:rPr>
              <a:t>©2026 Future Market Insights, All Rights Reserved</a:t>
            </a:r>
          </a:p>
        </p:txBody>
      </p:sp>
      <p:pic>
        <p:nvPicPr>
          <p:cNvPr id="20" name="Picture 19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12211" y="1876806"/>
            <a:ext cx="366712" cy="533400"/>
          </a:xfrm>
          <a:prstGeom prst="rect">
            <a:avLst/>
          </a:prstGeom>
        </p:spPr>
      </p:pic>
      <p:pic>
        <p:nvPicPr>
          <p:cNvPr id="21" name="Picture 20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70848" y="3566835"/>
            <a:ext cx="359497" cy="522905"/>
          </a:xfrm>
          <a:prstGeom prst="rect">
            <a:avLst/>
          </a:prstGeom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3825" y="914400"/>
            <a:ext cx="3943350" cy="28575"/>
          </a:xfrm>
          <a:prstGeom prst="rect">
            <a:avLst/>
          </a:prstGeom>
          <a:solidFill>
            <a:srgbClr val="0081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24325" y="914400"/>
            <a:ext cx="3943350" cy="28575"/>
          </a:xfrm>
          <a:prstGeom prst="rect">
            <a:avLst/>
          </a:prstGeom>
          <a:solidFill>
            <a:srgbClr val="9E7E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124825" y="914400"/>
            <a:ext cx="3943350" cy="28575"/>
          </a:xfrm>
          <a:prstGeom prst="rect">
            <a:avLst/>
          </a:prstGeom>
          <a:solidFill>
            <a:srgbClr val="403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mi_logo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25" y="-205740"/>
            <a:ext cx="1307592" cy="13258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543050" y="19050"/>
            <a:ext cx="8982075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U.S. YoY Analysis Multipack Wrapping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43050" y="647700"/>
            <a:ext cx="10506075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U.S. year-on-year volume and value growth by Multipack Wrapping, highlighting acceleration and slowdown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620375" y="228600"/>
            <a:ext cx="1428750" cy="419100"/>
          </a:xfrm>
          <a:prstGeom prst="roundRect">
            <a:avLst>
              <a:gd name="adj" fmla="val 22000"/>
            </a:avLst>
          </a:prstGeom>
          <a:solidFill>
            <a:srgbClr val="D9E6F2"/>
          </a:solidFill>
          <a:ln w="6350">
            <a:solidFill>
              <a:srgbClr val="69B1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100" b="1">
                <a:solidFill>
                  <a:srgbClr val="0B2E4A"/>
                </a:solidFill>
                <a:latin typeface="Calibri"/>
              </a:rPr>
              <a:t>U.S.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42875" y="981075"/>
            <a:ext cx="11906250" cy="1209675"/>
          </a:xfrm>
          <a:prstGeom prst="roundRect">
            <a:avLst>
              <a:gd name="adj" fmla="val 6299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38125" y="1038225"/>
            <a:ext cx="1171575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U.S. Volume YoY, By Multipack Wrapping (%)  ·  </a:t>
            </a:r>
            <a:r>
              <a:rPr sz="1200" b="1">
                <a:solidFill>
                  <a:srgbClr val="2E7D32"/>
                </a:solidFill>
                <a:latin typeface="Calibri"/>
              </a:rPr>
              <a:t>▲ outpacing market  </a:t>
            </a:r>
            <a:r>
              <a:rPr sz="1200" b="1">
                <a:solidFill>
                  <a:srgbClr val="A86F00"/>
                </a:solidFill>
                <a:latin typeface="Calibri"/>
              </a:rPr>
              <a:t>▶ below market pace  </a:t>
            </a:r>
            <a:r>
              <a:rPr sz="1200" b="1">
                <a:solidFill>
                  <a:srgbClr val="E44D3A"/>
                </a:solidFill>
                <a:latin typeface="Calibri"/>
              </a:rPr>
              <a:t>▼ decline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152400" y="1238250"/>
          <a:ext cx="11887204" cy="74294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211714"/>
                <a:gridCol w="578366"/>
                <a:gridCol w="578366"/>
                <a:gridCol w="578366"/>
                <a:gridCol w="578366"/>
                <a:gridCol w="578366"/>
                <a:gridCol w="578366"/>
                <a:gridCol w="578366"/>
                <a:gridCol w="578366"/>
                <a:gridCol w="578366"/>
                <a:gridCol w="578366"/>
                <a:gridCol w="578366"/>
                <a:gridCol w="578366"/>
                <a:gridCol w="578366"/>
                <a:gridCol w="578366"/>
                <a:gridCol w="578366"/>
              </a:tblGrid>
              <a:tr h="246126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Multipack Wrapping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2022A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2023A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2024A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2025A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2026E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2027F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2028F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2029F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2030F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2031F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2032F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2033F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2034F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2035F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2036F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</a:tr>
              <a:tr h="248411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Individually wrapped muffins within an outer pack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248411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Shared pack without individual wrapping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219075" y="1990725"/>
            <a:ext cx="11753850" cy="17145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100" b="0" i="1">
                <a:solidFill>
                  <a:srgbClr val="6C7A89"/>
                </a:solidFill>
                <a:latin typeface="Calibri"/>
              </a:rPr>
              <a:t>Source: FMI Analysis, 2026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42875" y="2324100"/>
            <a:ext cx="11906250" cy="1209675"/>
          </a:xfrm>
          <a:prstGeom prst="roundRect">
            <a:avLst>
              <a:gd name="adj" fmla="val 6299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38125" y="2381250"/>
            <a:ext cx="1171575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U.S. Value YoY, By Multipack Wrapping (%)  ·  </a:t>
            </a:r>
            <a:r>
              <a:rPr sz="1200" b="1">
                <a:solidFill>
                  <a:srgbClr val="2E7D32"/>
                </a:solidFill>
                <a:latin typeface="Calibri"/>
              </a:rPr>
              <a:t>▲ outpacing market  </a:t>
            </a:r>
            <a:r>
              <a:rPr sz="1200" b="1">
                <a:solidFill>
                  <a:srgbClr val="A86F00"/>
                </a:solidFill>
                <a:latin typeface="Calibri"/>
              </a:rPr>
              <a:t>▶ below market pace  </a:t>
            </a:r>
            <a:r>
              <a:rPr sz="1200" b="1">
                <a:solidFill>
                  <a:srgbClr val="E44D3A"/>
                </a:solidFill>
                <a:latin typeface="Calibri"/>
              </a:rPr>
              <a:t>▼ decline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152400" y="2581275"/>
          <a:ext cx="11887204" cy="74294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211714"/>
                <a:gridCol w="578366"/>
                <a:gridCol w="578366"/>
                <a:gridCol w="578366"/>
                <a:gridCol w="578366"/>
                <a:gridCol w="578366"/>
                <a:gridCol w="578366"/>
                <a:gridCol w="578366"/>
                <a:gridCol w="578366"/>
                <a:gridCol w="578366"/>
                <a:gridCol w="578366"/>
                <a:gridCol w="578366"/>
                <a:gridCol w="578366"/>
                <a:gridCol w="578366"/>
                <a:gridCol w="578366"/>
                <a:gridCol w="578366"/>
              </a:tblGrid>
              <a:tr h="246126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Multipack Wrapping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2022A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2023A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2024A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2025A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2026E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2027F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2028F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2029F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2030F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2031F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2032F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2033F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2034F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2035F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2036F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</a:tr>
              <a:tr h="248411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Individually wrapped muffins within an outer pack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248411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Shared pack without individual wrapping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219075" y="3333750"/>
            <a:ext cx="11753850" cy="17145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100" b="0" i="1">
                <a:solidFill>
                  <a:srgbClr val="6C7A89"/>
                </a:solidFill>
                <a:latin typeface="Calibri"/>
              </a:rPr>
              <a:t>Source: FMI Analysis, 2026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58595B"/>
                </a:solidFill>
                <a:latin typeface="Calibri"/>
              </a:rPr>
              <a:t>©2026 Future Market Insights, All Rights Reserved</a:t>
            </a:r>
          </a:p>
        </p:txBody>
      </p:sp>
      <p:pic>
        <p:nvPicPr>
          <p:cNvPr id="20" name="Picture 19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33838" y="1482090"/>
            <a:ext cx="330041" cy="480060"/>
          </a:xfrm>
          <a:prstGeom prst="rect">
            <a:avLst/>
          </a:prstGeom>
        </p:spPr>
      </p:pic>
      <p:pic>
        <p:nvPicPr>
          <p:cNvPr id="21" name="Picture 20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33838" y="2825115"/>
            <a:ext cx="330041" cy="480060"/>
          </a:xfrm>
          <a:prstGeom prst="rect">
            <a:avLst/>
          </a:prstGeom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8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F1F8FE"/>
              </a:gs>
              <a:gs pos="100000">
                <a:srgbClr val="DAEAF9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0" y="5591183"/>
            <a:ext cx="12192000" cy="1266817"/>
          </a:xfrm>
          <a:custGeom>
            <a:avLst/>
            <a:gdLst/>
            <a:ahLst/>
            <a:cxnLst/>
            <a:rect l="l" t="t" r="r" b="b"/>
            <a:pathLst>
              <a:path w="12192000" h="1266817">
                <a:moveTo>
                  <a:pt x="0" y="1266817"/>
                </a:moveTo>
                <a:lnTo>
                  <a:pt x="0" y="475605"/>
                </a:lnTo>
                <a:lnTo>
                  <a:pt x="152400" y="486239"/>
                </a:lnTo>
                <a:lnTo>
                  <a:pt x="304800" y="495887"/>
                </a:lnTo>
                <a:lnTo>
                  <a:pt x="457200" y="504505"/>
                </a:lnTo>
                <a:lnTo>
                  <a:pt x="609600" y="512056"/>
                </a:lnTo>
                <a:lnTo>
                  <a:pt x="762000" y="518505"/>
                </a:lnTo>
                <a:lnTo>
                  <a:pt x="914400" y="523824"/>
                </a:lnTo>
                <a:lnTo>
                  <a:pt x="1066800" y="527988"/>
                </a:lnTo>
                <a:lnTo>
                  <a:pt x="1219200" y="530979"/>
                </a:lnTo>
                <a:lnTo>
                  <a:pt x="1371600" y="532783"/>
                </a:lnTo>
                <a:lnTo>
                  <a:pt x="1524000" y="533392"/>
                </a:lnTo>
                <a:lnTo>
                  <a:pt x="1676400" y="532804"/>
                </a:lnTo>
                <a:lnTo>
                  <a:pt x="1828800" y="531021"/>
                </a:lnTo>
                <a:lnTo>
                  <a:pt x="1981200" y="528051"/>
                </a:lnTo>
                <a:lnTo>
                  <a:pt x="2133600" y="523907"/>
                </a:lnTo>
                <a:lnTo>
                  <a:pt x="2286000" y="518609"/>
                </a:lnTo>
                <a:lnTo>
                  <a:pt x="2438400" y="512179"/>
                </a:lnTo>
                <a:lnTo>
                  <a:pt x="2590800" y="504648"/>
                </a:lnTo>
                <a:lnTo>
                  <a:pt x="2743200" y="496047"/>
                </a:lnTo>
                <a:lnTo>
                  <a:pt x="2895600" y="486417"/>
                </a:lnTo>
                <a:lnTo>
                  <a:pt x="3048000" y="475801"/>
                </a:lnTo>
                <a:lnTo>
                  <a:pt x="3200400" y="464245"/>
                </a:lnTo>
                <a:lnTo>
                  <a:pt x="3352800" y="451803"/>
                </a:lnTo>
                <a:lnTo>
                  <a:pt x="3505200" y="438529"/>
                </a:lnTo>
                <a:lnTo>
                  <a:pt x="3657600" y="424484"/>
                </a:lnTo>
                <a:lnTo>
                  <a:pt x="3810000" y="409730"/>
                </a:lnTo>
                <a:lnTo>
                  <a:pt x="3962400" y="394334"/>
                </a:lnTo>
                <a:lnTo>
                  <a:pt x="4114800" y="378365"/>
                </a:lnTo>
                <a:lnTo>
                  <a:pt x="4267200" y="361894"/>
                </a:lnTo>
                <a:lnTo>
                  <a:pt x="4419600" y="344996"/>
                </a:lnTo>
                <a:lnTo>
                  <a:pt x="4572000" y="327746"/>
                </a:lnTo>
                <a:lnTo>
                  <a:pt x="4724400" y="310223"/>
                </a:lnTo>
                <a:lnTo>
                  <a:pt x="4876800" y="292503"/>
                </a:lnTo>
                <a:lnTo>
                  <a:pt x="5029200" y="274668"/>
                </a:lnTo>
                <a:lnTo>
                  <a:pt x="5181600" y="256797"/>
                </a:lnTo>
                <a:lnTo>
                  <a:pt x="5334000" y="238971"/>
                </a:lnTo>
                <a:lnTo>
                  <a:pt x="5486400" y="221269"/>
                </a:lnTo>
                <a:lnTo>
                  <a:pt x="5638800" y="203771"/>
                </a:lnTo>
                <a:lnTo>
                  <a:pt x="5791200" y="186555"/>
                </a:lnTo>
                <a:lnTo>
                  <a:pt x="5943600" y="169699"/>
                </a:lnTo>
                <a:lnTo>
                  <a:pt x="6096000" y="153279"/>
                </a:lnTo>
                <a:lnTo>
                  <a:pt x="6248400" y="137368"/>
                </a:lnTo>
                <a:lnTo>
                  <a:pt x="6400800" y="122038"/>
                </a:lnTo>
                <a:lnTo>
                  <a:pt x="6553200" y="107357"/>
                </a:lnTo>
                <a:lnTo>
                  <a:pt x="6705600" y="93391"/>
                </a:lnTo>
                <a:lnTo>
                  <a:pt x="6858000" y="80204"/>
                </a:lnTo>
                <a:lnTo>
                  <a:pt x="7010400" y="67854"/>
                </a:lnTo>
                <a:lnTo>
                  <a:pt x="7162800" y="56397"/>
                </a:lnTo>
                <a:lnTo>
                  <a:pt x="7315200" y="45884"/>
                </a:lnTo>
                <a:lnTo>
                  <a:pt x="7467600" y="36363"/>
                </a:lnTo>
                <a:lnTo>
                  <a:pt x="7620000" y="27876"/>
                </a:lnTo>
                <a:lnTo>
                  <a:pt x="7772400" y="20461"/>
                </a:lnTo>
                <a:lnTo>
                  <a:pt x="7924800" y="14151"/>
                </a:lnTo>
                <a:lnTo>
                  <a:pt x="8077200" y="8976"/>
                </a:lnTo>
                <a:lnTo>
                  <a:pt x="8229600" y="4958"/>
                </a:lnTo>
                <a:lnTo>
                  <a:pt x="8382000" y="2115"/>
                </a:lnTo>
                <a:lnTo>
                  <a:pt x="8534400" y="460"/>
                </a:lnTo>
                <a:lnTo>
                  <a:pt x="8686800" y="0"/>
                </a:lnTo>
                <a:lnTo>
                  <a:pt x="8839200" y="738"/>
                </a:lnTo>
                <a:lnTo>
                  <a:pt x="8991600" y="2670"/>
                </a:lnTo>
                <a:lnTo>
                  <a:pt x="9144000" y="5787"/>
                </a:lnTo>
                <a:lnTo>
                  <a:pt x="9296400" y="10076"/>
                </a:lnTo>
                <a:lnTo>
                  <a:pt x="9448800" y="15518"/>
                </a:lnTo>
                <a:lnTo>
                  <a:pt x="9601200" y="22086"/>
                </a:lnTo>
                <a:lnTo>
                  <a:pt x="9753600" y="29754"/>
                </a:lnTo>
                <a:lnTo>
                  <a:pt x="9906000" y="38485"/>
                </a:lnTo>
                <a:lnTo>
                  <a:pt x="10058400" y="48241"/>
                </a:lnTo>
                <a:lnTo>
                  <a:pt x="10210800" y="58977"/>
                </a:lnTo>
                <a:lnTo>
                  <a:pt x="10363200" y="70647"/>
                </a:lnTo>
                <a:lnTo>
                  <a:pt x="10515600" y="83196"/>
                </a:lnTo>
                <a:lnTo>
                  <a:pt x="10668000" y="96570"/>
                </a:lnTo>
                <a:lnTo>
                  <a:pt x="10820400" y="110707"/>
                </a:lnTo>
                <a:lnTo>
                  <a:pt x="10972800" y="125545"/>
                </a:lnTo>
                <a:lnTo>
                  <a:pt x="11125200" y="141016"/>
                </a:lnTo>
                <a:lnTo>
                  <a:pt x="11277600" y="157052"/>
                </a:lnTo>
                <a:lnTo>
                  <a:pt x="11430000" y="173580"/>
                </a:lnTo>
                <a:lnTo>
                  <a:pt x="11582400" y="190527"/>
                </a:lnTo>
                <a:lnTo>
                  <a:pt x="11734800" y="207815"/>
                </a:lnTo>
                <a:lnTo>
                  <a:pt x="11887200" y="225367"/>
                </a:lnTo>
                <a:lnTo>
                  <a:pt x="12039600" y="243105"/>
                </a:lnTo>
                <a:lnTo>
                  <a:pt x="12192000" y="260949"/>
                </a:lnTo>
                <a:lnTo>
                  <a:pt x="12192000" y="1266817"/>
                </a:lnTo>
                <a:close/>
              </a:path>
            </a:pathLst>
          </a:custGeom>
          <a:solidFill>
            <a:srgbClr val="C8E0F6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0" y="5905543"/>
            <a:ext cx="12192000" cy="952457"/>
          </a:xfrm>
          <a:custGeom>
            <a:avLst/>
            <a:gdLst/>
            <a:ahLst/>
            <a:cxnLst/>
            <a:rect l="l" t="t" r="r" b="b"/>
            <a:pathLst>
              <a:path w="12192000" h="952457">
                <a:moveTo>
                  <a:pt x="0" y="952457"/>
                </a:moveTo>
                <a:lnTo>
                  <a:pt x="0" y="288660"/>
                </a:lnTo>
                <a:lnTo>
                  <a:pt x="152400" y="275228"/>
                </a:lnTo>
                <a:lnTo>
                  <a:pt x="304800" y="261249"/>
                </a:lnTo>
                <a:lnTo>
                  <a:pt x="457200" y="246812"/>
                </a:lnTo>
                <a:lnTo>
                  <a:pt x="609600" y="232010"/>
                </a:lnTo>
                <a:lnTo>
                  <a:pt x="762000" y="216940"/>
                </a:lnTo>
                <a:lnTo>
                  <a:pt x="914400" y="201698"/>
                </a:lnTo>
                <a:lnTo>
                  <a:pt x="1066800" y="186384"/>
                </a:lnTo>
                <a:lnTo>
                  <a:pt x="1219200" y="171097"/>
                </a:lnTo>
                <a:lnTo>
                  <a:pt x="1371600" y="155934"/>
                </a:lnTo>
                <a:lnTo>
                  <a:pt x="1524000" y="140995"/>
                </a:lnTo>
                <a:lnTo>
                  <a:pt x="1676400" y="126375"/>
                </a:lnTo>
                <a:lnTo>
                  <a:pt x="1828800" y="112170"/>
                </a:lnTo>
                <a:lnTo>
                  <a:pt x="1981200" y="98470"/>
                </a:lnTo>
                <a:lnTo>
                  <a:pt x="2133600" y="85366"/>
                </a:lnTo>
                <a:lnTo>
                  <a:pt x="2286000" y="72940"/>
                </a:lnTo>
                <a:lnTo>
                  <a:pt x="2438400" y="61275"/>
                </a:lnTo>
                <a:lnTo>
                  <a:pt x="2590800" y="50444"/>
                </a:lnTo>
                <a:lnTo>
                  <a:pt x="2743200" y="40519"/>
                </a:lnTo>
                <a:lnTo>
                  <a:pt x="2895600" y="31563"/>
                </a:lnTo>
                <a:lnTo>
                  <a:pt x="3048000" y="23634"/>
                </a:lnTo>
                <a:lnTo>
                  <a:pt x="3200400" y="16784"/>
                </a:lnTo>
                <a:lnTo>
                  <a:pt x="3352800" y="11056"/>
                </a:lnTo>
                <a:lnTo>
                  <a:pt x="3505200" y="6489"/>
                </a:lnTo>
                <a:lnTo>
                  <a:pt x="3657600" y="3110"/>
                </a:lnTo>
                <a:lnTo>
                  <a:pt x="3810000" y="943"/>
                </a:lnTo>
                <a:lnTo>
                  <a:pt x="3962400" y="0"/>
                </a:lnTo>
                <a:lnTo>
                  <a:pt x="4114800" y="289"/>
                </a:lnTo>
                <a:lnTo>
                  <a:pt x="4267200" y="1808"/>
                </a:lnTo>
                <a:lnTo>
                  <a:pt x="4419600" y="4546"/>
                </a:lnTo>
                <a:lnTo>
                  <a:pt x="4572000" y="8485"/>
                </a:lnTo>
                <a:lnTo>
                  <a:pt x="4724400" y="13601"/>
                </a:lnTo>
                <a:lnTo>
                  <a:pt x="4876800" y="19861"/>
                </a:lnTo>
                <a:lnTo>
                  <a:pt x="5029200" y="27223"/>
                </a:lnTo>
                <a:lnTo>
                  <a:pt x="5181600" y="35641"/>
                </a:lnTo>
                <a:lnTo>
                  <a:pt x="5334000" y="45059"/>
                </a:lnTo>
                <a:lnTo>
                  <a:pt x="5486400" y="55417"/>
                </a:lnTo>
                <a:lnTo>
                  <a:pt x="5638800" y="66649"/>
                </a:lnTo>
                <a:lnTo>
                  <a:pt x="5791200" y="78680"/>
                </a:lnTo>
                <a:lnTo>
                  <a:pt x="5943600" y="91435"/>
                </a:lnTo>
                <a:lnTo>
                  <a:pt x="6096000" y="104829"/>
                </a:lnTo>
                <a:lnTo>
                  <a:pt x="6248400" y="118777"/>
                </a:lnTo>
                <a:lnTo>
                  <a:pt x="6400800" y="133188"/>
                </a:lnTo>
                <a:lnTo>
                  <a:pt x="6553200" y="147970"/>
                </a:lnTo>
                <a:lnTo>
                  <a:pt x="6705600" y="163026"/>
                </a:lnTo>
                <a:lnTo>
                  <a:pt x="6858000" y="178260"/>
                </a:lnTo>
                <a:lnTo>
                  <a:pt x="7010400" y="193572"/>
                </a:lnTo>
                <a:lnTo>
                  <a:pt x="7162800" y="208865"/>
                </a:lnTo>
                <a:lnTo>
                  <a:pt x="7315200" y="224038"/>
                </a:lnTo>
                <a:lnTo>
                  <a:pt x="7467600" y="238994"/>
                </a:lnTo>
                <a:lnTo>
                  <a:pt x="7620000" y="253637"/>
                </a:lnTo>
                <a:lnTo>
                  <a:pt x="7772400" y="267871"/>
                </a:lnTo>
                <a:lnTo>
                  <a:pt x="7924800" y="281604"/>
                </a:lnTo>
                <a:lnTo>
                  <a:pt x="8077200" y="294748"/>
                </a:lnTo>
                <a:lnTo>
                  <a:pt x="8229600" y="307218"/>
                </a:lnTo>
                <a:lnTo>
                  <a:pt x="8382000" y="318934"/>
                </a:lnTo>
                <a:lnTo>
                  <a:pt x="8534400" y="329818"/>
                </a:lnTo>
                <a:lnTo>
                  <a:pt x="8686800" y="339802"/>
                </a:lnTo>
                <a:lnTo>
                  <a:pt x="8839200" y="348821"/>
                </a:lnTo>
                <a:lnTo>
                  <a:pt x="8991600" y="356815"/>
                </a:lnTo>
                <a:lnTo>
                  <a:pt x="9144000" y="363734"/>
                </a:lnTo>
                <a:lnTo>
                  <a:pt x="9296400" y="369533"/>
                </a:lnTo>
                <a:lnTo>
                  <a:pt x="9448800" y="374174"/>
                </a:lnTo>
                <a:lnTo>
                  <a:pt x="9601200" y="377628"/>
                </a:lnTo>
                <a:lnTo>
                  <a:pt x="9753600" y="379872"/>
                </a:lnTo>
                <a:lnTo>
                  <a:pt x="9906000" y="380891"/>
                </a:lnTo>
                <a:lnTo>
                  <a:pt x="10058400" y="380679"/>
                </a:lnTo>
                <a:lnTo>
                  <a:pt x="10210800" y="379237"/>
                </a:lnTo>
                <a:lnTo>
                  <a:pt x="10363200" y="376575"/>
                </a:lnTo>
                <a:lnTo>
                  <a:pt x="10515600" y="372710"/>
                </a:lnTo>
                <a:lnTo>
                  <a:pt x="10668000" y="367666"/>
                </a:lnTo>
                <a:lnTo>
                  <a:pt x="10820400" y="361477"/>
                </a:lnTo>
                <a:lnTo>
                  <a:pt x="10972800" y="354182"/>
                </a:lnTo>
                <a:lnTo>
                  <a:pt x="11125200" y="345829"/>
                </a:lnTo>
                <a:lnTo>
                  <a:pt x="11277600" y="336472"/>
                </a:lnTo>
                <a:lnTo>
                  <a:pt x="11430000" y="326170"/>
                </a:lnTo>
                <a:lnTo>
                  <a:pt x="11582400" y="314991"/>
                </a:lnTo>
                <a:lnTo>
                  <a:pt x="11734800" y="303008"/>
                </a:lnTo>
                <a:lnTo>
                  <a:pt x="11887200" y="290296"/>
                </a:lnTo>
                <a:lnTo>
                  <a:pt x="12039600" y="276939"/>
                </a:lnTo>
                <a:lnTo>
                  <a:pt x="12192000" y="263023"/>
                </a:lnTo>
                <a:lnTo>
                  <a:pt x="12192000" y="952457"/>
                </a:lnTo>
                <a:close/>
              </a:path>
            </a:pathLst>
          </a:custGeom>
          <a:solidFill>
            <a:srgbClr val="A7CDF1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638925"/>
            <a:ext cx="12192000" cy="219075"/>
          </a:xfrm>
          <a:prstGeom prst="rect">
            <a:avLst/>
          </a:prstGeom>
          <a:solidFill>
            <a:srgbClr val="A9C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238875"/>
            <a:ext cx="12192000" cy="400050"/>
          </a:xfrm>
          <a:prstGeom prst="rect">
            <a:avLst/>
          </a:prstGeom>
          <a:gradFill rotWithShape="1">
            <a:gsLst>
              <a:gs pos="0">
                <a:srgbClr val="2C6BB2"/>
              </a:gs>
              <a:gs pos="100000">
                <a:srgbClr val="7FB5E4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MI Section Bar"/>
          <p:cNvSpPr txBox="1"/>
          <p:nvPr/>
        </p:nvSpPr>
        <p:spPr>
          <a:xfrm>
            <a:off x="285750" y="6238875"/>
            <a:ext cx="3810000" cy="400050"/>
          </a:xfrm>
          <a:prstGeom prst="rect">
            <a:avLst/>
          </a:prstGeom>
          <a:noFill/>
        </p:spPr>
        <p:txBody>
          <a:bodyPr wrap="none" anchor="ctr" lIns="0" tIns="0" bIns="0">
            <a:spAutoFit/>
          </a:bodyPr>
          <a:lstStyle/>
          <a:p>
            <a:r>
              <a:rPr sz="1500" b="1">
                <a:solidFill>
                  <a:srgbClr val="FFFFFF"/>
                </a:solidFill>
                <a:latin typeface="Calibri"/>
              </a:rPr>
              <a:t>Section 2.15</a:t>
            </a:r>
          </a:p>
        </p:txBody>
      </p:sp>
      <p:pic>
        <p:nvPicPr>
          <p:cNvPr id="8" name="Picture 7" descr="fmi_logo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74320"/>
            <a:ext cx="1307592" cy="13258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14400" y="2752725"/>
            <a:ext cx="8572500" cy="3048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800" b="0">
                <a:solidFill>
                  <a:srgbClr val="0E72AE"/>
                </a:solidFill>
                <a:latin typeface="Calibri"/>
              </a:rPr>
              <a:t>Packaged Muffins Market</a:t>
            </a:r>
          </a:p>
        </p:txBody>
      </p:sp>
      <p:sp>
        <p:nvSpPr>
          <p:cNvPr id="10" name="FMI Section Title"/>
          <p:cNvSpPr txBox="1"/>
          <p:nvPr/>
        </p:nvSpPr>
        <p:spPr>
          <a:xfrm>
            <a:off x="914400" y="3095625"/>
            <a:ext cx="8572500" cy="51435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r>
              <a:rPr sz="3000" b="1">
                <a:solidFill>
                  <a:srgbClr val="0B3C8C"/>
                </a:solidFill>
                <a:latin typeface="Calibri"/>
              </a:rPr>
              <a:t>Price Positioning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781425"/>
            <a:ext cx="8458200" cy="12763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Calibri"/>
              </a:rPr>
              <a:t>➤	</a:t>
            </a:r>
            <a:r>
              <a:rPr sz="2000" b="0">
                <a:solidFill>
                  <a:srgbClr val="000000"/>
                </a:solidFill>
                <a:latin typeface="Calibri"/>
              </a:rPr>
              <a:t>Segmental</a:t>
            </a:r>
          </a:p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Calibri"/>
              </a:rPr>
              <a:t>➤	</a:t>
            </a:r>
            <a:r>
              <a:rPr sz="2000" b="0">
                <a:solidFill>
                  <a:srgbClr val="000000"/>
                </a:solidFill>
                <a:latin typeface="Calibri"/>
              </a:rPr>
              <a:t>Table (Volume &amp; Value)</a:t>
            </a:r>
          </a:p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Calibri"/>
              </a:rPr>
              <a:t>➤	</a:t>
            </a:r>
            <a:r>
              <a:rPr sz="2000" b="0">
                <a:solidFill>
                  <a:srgbClr val="000000"/>
                </a:solidFill>
                <a:latin typeface="Calibri"/>
              </a:rPr>
              <a:t>YoY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58595B"/>
                </a:solidFill>
                <a:latin typeface="Calibri"/>
              </a:rPr>
              <a:t>©2026 Future Market Insights, All Rights Reserved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3825" y="914400"/>
            <a:ext cx="3943350" cy="28575"/>
          </a:xfrm>
          <a:prstGeom prst="rect">
            <a:avLst/>
          </a:prstGeom>
          <a:solidFill>
            <a:srgbClr val="0081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24325" y="914400"/>
            <a:ext cx="3943350" cy="28575"/>
          </a:xfrm>
          <a:prstGeom prst="rect">
            <a:avLst/>
          </a:prstGeom>
          <a:solidFill>
            <a:srgbClr val="9E7E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124825" y="914400"/>
            <a:ext cx="3943350" cy="28575"/>
          </a:xfrm>
          <a:prstGeom prst="rect">
            <a:avLst/>
          </a:prstGeom>
          <a:solidFill>
            <a:srgbClr val="403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mi_logo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25" y="-205740"/>
            <a:ext cx="1307592" cy="13258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543050" y="19050"/>
            <a:ext cx="8982075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U.S. Packaged Muffins Market Segmental Analysis Price Positioning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43050" y="647700"/>
            <a:ext cx="10506075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U.S. segmental analysis by Price Positioning: growth contribution, share variance and absolute $ opportunity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620375" y="228600"/>
            <a:ext cx="1428750" cy="419100"/>
          </a:xfrm>
          <a:prstGeom prst="roundRect">
            <a:avLst>
              <a:gd name="adj" fmla="val 22000"/>
            </a:avLst>
          </a:prstGeom>
          <a:solidFill>
            <a:srgbClr val="D9E6F2"/>
          </a:solidFill>
          <a:ln w="6350">
            <a:solidFill>
              <a:srgbClr val="69B1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100" b="1">
                <a:solidFill>
                  <a:srgbClr val="0B2E4A"/>
                </a:solidFill>
                <a:latin typeface="Calibri"/>
              </a:rPr>
              <a:t>U.S.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42875" y="981075"/>
            <a:ext cx="5876925" cy="2752725"/>
          </a:xfrm>
          <a:prstGeom prst="roundRect">
            <a:avLst>
              <a:gd name="adj" fmla="val 2768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38125" y="1038225"/>
            <a:ext cx="5686425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Growth Contribution 2026 → 2036, By Price Positioning (US$ Mn)</a:t>
            </a:r>
          </a:p>
        </p:txBody>
      </p:sp>
      <p:graphicFrame>
        <p:nvGraphicFramePr>
          <p:cNvPr id="13" name="Chart 12"/>
          <p:cNvGraphicFramePr>
            <a:graphicFrameLocks noGrp="1"/>
          </p:cNvGraphicFramePr>
          <p:nvPr/>
        </p:nvGraphicFramePr>
        <p:xfrm>
          <a:off x="238125" y="1266825"/>
          <a:ext cx="5686425" cy="2409825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4" name="Rounded Rectangle 13"/>
          <p:cNvSpPr/>
          <p:nvPr/>
        </p:nvSpPr>
        <p:spPr>
          <a:xfrm>
            <a:off x="6172200" y="981075"/>
            <a:ext cx="5876925" cy="2752725"/>
          </a:xfrm>
          <a:prstGeom prst="roundRect">
            <a:avLst>
              <a:gd name="adj" fmla="val 2768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67450" y="1038225"/>
            <a:ext cx="5686425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Value Shares &amp; Variance, By Price Positioning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6181725" y="1238250"/>
          <a:ext cx="5857874" cy="228599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03982"/>
                <a:gridCol w="1013473"/>
                <a:gridCol w="1013473"/>
                <a:gridCol w="1013473"/>
                <a:gridCol w="1013473"/>
              </a:tblGrid>
              <a:tr h="246126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Price Positioning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Share 2026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Share 2036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Variance (BPS)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F-CAGR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</a:tr>
              <a:tr h="509968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Economy / value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509968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Mid-range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</a:tr>
              <a:tr h="509968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Premium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509968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Super-premium / speciality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</a:tr>
            </a:tbl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6248400" y="3533775"/>
            <a:ext cx="5724525" cy="17145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100" b="0" i="1">
                <a:solidFill>
                  <a:srgbClr val="6C7A89"/>
                </a:solidFill>
                <a:latin typeface="Calibri"/>
              </a:rPr>
              <a:t>Source: FMI Analysis, 2026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42875" y="3867150"/>
            <a:ext cx="5876925" cy="2752725"/>
          </a:xfrm>
          <a:prstGeom prst="roundRect">
            <a:avLst>
              <a:gd name="adj" fmla="val 2768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38125" y="3924300"/>
            <a:ext cx="5686425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Absolute $ Opportunity, By Price Positioning (US$ Mn), between 2026–2036</a:t>
            </a:r>
          </a:p>
        </p:txBody>
      </p:sp>
      <p:graphicFrame>
        <p:nvGraphicFramePr>
          <p:cNvPr id="20" name="Chart 19"/>
          <p:cNvGraphicFramePr>
            <a:graphicFrameLocks noGrp="1"/>
          </p:cNvGraphicFramePr>
          <p:nvPr/>
        </p:nvGraphicFramePr>
        <p:xfrm>
          <a:off x="238125" y="4152900"/>
          <a:ext cx="5686425" cy="2409825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21" name="Rounded Rectangle 20"/>
          <p:cNvSpPr/>
          <p:nvPr/>
        </p:nvSpPr>
        <p:spPr>
          <a:xfrm>
            <a:off x="6172200" y="3867150"/>
            <a:ext cx="5876925" cy="2752725"/>
          </a:xfrm>
          <a:prstGeom prst="roundRect">
            <a:avLst>
              <a:gd name="adj" fmla="val 2768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67450" y="3924300"/>
            <a:ext cx="5686425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Volume Shares &amp; Variance, By Price Positioning</a:t>
            </a:r>
          </a:p>
        </p:txBody>
      </p:sp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6181725" y="4124325"/>
          <a:ext cx="5857874" cy="228599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03982"/>
                <a:gridCol w="1013473"/>
                <a:gridCol w="1013473"/>
                <a:gridCol w="1013473"/>
                <a:gridCol w="1013473"/>
              </a:tblGrid>
              <a:tr h="246126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Price Positioning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Share 2026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Share 2036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Variance (BPS)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F-CAGR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</a:tr>
              <a:tr h="509968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Economy / value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509968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Mid-range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</a:tr>
              <a:tr h="509968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Premium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509968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Super-premium / speciality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</a:tr>
            </a:tbl>
          </a:graphicData>
        </a:graphic>
      </p:graphicFrame>
      <p:sp>
        <p:nvSpPr>
          <p:cNvPr id="24" name="TextBox 23"/>
          <p:cNvSpPr txBox="1"/>
          <p:nvPr/>
        </p:nvSpPr>
        <p:spPr>
          <a:xfrm>
            <a:off x="6248400" y="6419850"/>
            <a:ext cx="5724525" cy="17145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100" b="0" i="1">
                <a:solidFill>
                  <a:srgbClr val="6C7A89"/>
                </a:solidFill>
                <a:latin typeface="Calibri"/>
              </a:rPr>
              <a:t>Source: FMI Analysis, 2026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58595B"/>
                </a:solidFill>
                <a:latin typeface="Calibri"/>
              </a:rPr>
              <a:t>©2026 Future Market Insights, All Rights Reserved</a:t>
            </a:r>
          </a:p>
        </p:txBody>
      </p:sp>
      <p:pic>
        <p:nvPicPr>
          <p:cNvPr id="26" name="Picture 25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94826" y="2237234"/>
            <a:ext cx="263506" cy="383281"/>
          </a:xfrm>
          <a:prstGeom prst="rect">
            <a:avLst/>
          </a:prstGeom>
        </p:spPr>
      </p:pic>
      <p:pic>
        <p:nvPicPr>
          <p:cNvPr id="27" name="Picture 26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25963" y="2237612"/>
            <a:ext cx="366712" cy="533400"/>
          </a:xfrm>
          <a:prstGeom prst="rect">
            <a:avLst/>
          </a:prstGeom>
        </p:spPr>
      </p:pic>
      <p:pic>
        <p:nvPicPr>
          <p:cNvPr id="28" name="Picture 27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94826" y="5123309"/>
            <a:ext cx="263506" cy="383281"/>
          </a:xfrm>
          <a:prstGeom prst="rect">
            <a:avLst/>
          </a:prstGeom>
        </p:spPr>
      </p:pic>
      <p:pic>
        <p:nvPicPr>
          <p:cNvPr id="29" name="Picture 28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25963" y="5123687"/>
            <a:ext cx="366712" cy="533400"/>
          </a:xfrm>
          <a:prstGeom prst="rect">
            <a:avLst/>
          </a:prstGeom>
        </p:spPr>
      </p:pic>
      <p:sp>
        <p:nvSpPr>
          <p:cNvPr id="30" name="lockshield_13"/>
          <p:cNvSpPr/>
          <p:nvPr/>
        </p:nvSpPr>
        <p:spPr>
          <a:xfrm>
            <a:off x="238125" y="1266825"/>
            <a:ext cx="5686425" cy="2409825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lockshield_20"/>
          <p:cNvSpPr/>
          <p:nvPr/>
        </p:nvSpPr>
        <p:spPr>
          <a:xfrm>
            <a:off x="238125" y="4152900"/>
            <a:ext cx="5686425" cy="2409825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3825" y="914400"/>
            <a:ext cx="3943350" cy="28575"/>
          </a:xfrm>
          <a:prstGeom prst="rect">
            <a:avLst/>
          </a:prstGeom>
          <a:solidFill>
            <a:srgbClr val="0081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24325" y="914400"/>
            <a:ext cx="3943350" cy="28575"/>
          </a:xfrm>
          <a:prstGeom prst="rect">
            <a:avLst/>
          </a:prstGeom>
          <a:solidFill>
            <a:srgbClr val="9E7E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124825" y="914400"/>
            <a:ext cx="3943350" cy="28575"/>
          </a:xfrm>
          <a:prstGeom prst="rect">
            <a:avLst/>
          </a:prstGeom>
          <a:solidFill>
            <a:srgbClr val="403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mi_logo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25" y="-205740"/>
            <a:ext cx="1307592" cy="13258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543050" y="19050"/>
            <a:ext cx="8982075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U.S. Packaged Muffins Market Tables Price Positioning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43050" y="647700"/>
            <a:ext cx="10506075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Year-by-year volume and value of the U.S. market by Price Positioning, 2021–2036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620375" y="228600"/>
            <a:ext cx="1428750" cy="419100"/>
          </a:xfrm>
          <a:prstGeom prst="roundRect">
            <a:avLst>
              <a:gd name="adj" fmla="val 22000"/>
            </a:avLst>
          </a:prstGeom>
          <a:solidFill>
            <a:srgbClr val="D9E6F2"/>
          </a:solidFill>
          <a:ln w="6350">
            <a:solidFill>
              <a:srgbClr val="69B1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100" b="1">
                <a:solidFill>
                  <a:srgbClr val="0B2E4A"/>
                </a:solidFill>
                <a:latin typeface="Calibri"/>
              </a:rPr>
              <a:t>U.S.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42875" y="981075"/>
            <a:ext cx="11906250" cy="1952625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38125" y="1038225"/>
            <a:ext cx="1171575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U.S. Volume, By Price Positioning (MT)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152400" y="1238250"/>
          <a:ext cx="11887201" cy="148589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75771"/>
                <a:gridCol w="594790"/>
                <a:gridCol w="594790"/>
                <a:gridCol w="594790"/>
                <a:gridCol w="594790"/>
                <a:gridCol w="594790"/>
                <a:gridCol w="594790"/>
                <a:gridCol w="594790"/>
                <a:gridCol w="594790"/>
                <a:gridCol w="594790"/>
                <a:gridCol w="594790"/>
                <a:gridCol w="594790"/>
                <a:gridCol w="594790"/>
                <a:gridCol w="594790"/>
                <a:gridCol w="594790"/>
                <a:gridCol w="594790"/>
                <a:gridCol w="594790"/>
                <a:gridCol w="594790"/>
              </a:tblGrid>
              <a:tr h="246126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Price Positioning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2021A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2022A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2023A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2024A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2025A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2026E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2027F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2028F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2029F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2030F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2031F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2032F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2033F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2034F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2035F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2036F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F-CAGR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</a:tr>
              <a:tr h="247954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Economy / value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247954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Mid-range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</a:tr>
              <a:tr h="247954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Premium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247954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Super-premium / speciality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</a:tr>
              <a:tr h="247954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Total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219075" y="2733675"/>
            <a:ext cx="11753850" cy="17145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100" b="0" i="1">
                <a:solidFill>
                  <a:srgbClr val="6C7A89"/>
                </a:solidFill>
                <a:latin typeface="Calibri"/>
              </a:rPr>
              <a:t>Source: FMI Analysis, 2026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42875" y="3067050"/>
            <a:ext cx="11906250" cy="1952625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38125" y="3124200"/>
            <a:ext cx="1171575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U.S. Value, By Price Positioning (US$ Mn)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152400" y="3324225"/>
          <a:ext cx="11887199" cy="148589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55550"/>
                <a:gridCol w="590097"/>
                <a:gridCol w="590097"/>
                <a:gridCol w="590097"/>
                <a:gridCol w="590097"/>
                <a:gridCol w="590097"/>
                <a:gridCol w="590097"/>
                <a:gridCol w="590097"/>
                <a:gridCol w="590097"/>
                <a:gridCol w="590097"/>
                <a:gridCol w="590097"/>
                <a:gridCol w="590097"/>
                <a:gridCol w="590097"/>
                <a:gridCol w="590097"/>
                <a:gridCol w="590097"/>
                <a:gridCol w="590097"/>
                <a:gridCol w="590097"/>
                <a:gridCol w="590097"/>
              </a:tblGrid>
              <a:tr h="246126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Price Positioning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2021A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2022A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2023A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2024A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2025A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2026E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2027F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2028F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2029F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2030F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2031F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2032F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2033F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2034F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2035F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2036F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F-CAGR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</a:tr>
              <a:tr h="247954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Economy / value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247954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Mid-range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</a:tr>
              <a:tr h="247954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Premium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247954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Super-premium / speciality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</a:tr>
              <a:tr h="247954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Total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219075" y="4819650"/>
            <a:ext cx="11753850" cy="17145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100" b="0" i="1">
                <a:solidFill>
                  <a:srgbClr val="6C7A89"/>
                </a:solidFill>
                <a:latin typeface="Calibri"/>
              </a:rPr>
              <a:t>Source: FMI Analysis, 2026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58595B"/>
                </a:solidFill>
                <a:latin typeface="Calibri"/>
              </a:rPr>
              <a:t>©2026 Future Market Insights, All Rights Reserved</a:t>
            </a:r>
          </a:p>
        </p:txBody>
      </p:sp>
      <p:pic>
        <p:nvPicPr>
          <p:cNvPr id="20" name="Picture 19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97196" y="1837563"/>
            <a:ext cx="366712" cy="533400"/>
          </a:xfrm>
          <a:prstGeom prst="rect">
            <a:avLst/>
          </a:prstGeom>
        </p:spPr>
      </p:pic>
      <p:pic>
        <p:nvPicPr>
          <p:cNvPr id="21" name="Picture 20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37084" y="3923538"/>
            <a:ext cx="366712" cy="533400"/>
          </a:xfrm>
          <a:prstGeom prst="rect">
            <a:avLst/>
          </a:prstGeom>
        </p:spPr>
      </p:pic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3825" y="914400"/>
            <a:ext cx="3943350" cy="28575"/>
          </a:xfrm>
          <a:prstGeom prst="rect">
            <a:avLst/>
          </a:prstGeom>
          <a:solidFill>
            <a:srgbClr val="0081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24325" y="914400"/>
            <a:ext cx="3943350" cy="28575"/>
          </a:xfrm>
          <a:prstGeom prst="rect">
            <a:avLst/>
          </a:prstGeom>
          <a:solidFill>
            <a:srgbClr val="9E7E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124825" y="914400"/>
            <a:ext cx="3943350" cy="28575"/>
          </a:xfrm>
          <a:prstGeom prst="rect">
            <a:avLst/>
          </a:prstGeom>
          <a:solidFill>
            <a:srgbClr val="403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mi_logo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25" y="-205740"/>
            <a:ext cx="1307592" cy="13258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543050" y="19050"/>
            <a:ext cx="8982075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U.S. YoY Analysis Price Positioning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43050" y="647700"/>
            <a:ext cx="10506075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U.S. year-on-year volume and value growth by Price Positioning, highlighting acceleration and slowdown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620375" y="228600"/>
            <a:ext cx="1428750" cy="419100"/>
          </a:xfrm>
          <a:prstGeom prst="roundRect">
            <a:avLst>
              <a:gd name="adj" fmla="val 22000"/>
            </a:avLst>
          </a:prstGeom>
          <a:solidFill>
            <a:srgbClr val="D9E6F2"/>
          </a:solidFill>
          <a:ln w="6350">
            <a:solidFill>
              <a:srgbClr val="69B1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100" b="1">
                <a:solidFill>
                  <a:srgbClr val="0B2E4A"/>
                </a:solidFill>
                <a:latin typeface="Calibri"/>
              </a:rPr>
              <a:t>U.S.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42875" y="981075"/>
            <a:ext cx="11906250" cy="1704975"/>
          </a:xfrm>
          <a:prstGeom prst="roundRect">
            <a:avLst>
              <a:gd name="adj" fmla="val 4469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38125" y="1038225"/>
            <a:ext cx="1171575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U.S. Volume YoY, By Price Positioning (%)  ·  </a:t>
            </a:r>
            <a:r>
              <a:rPr sz="1200" b="1">
                <a:solidFill>
                  <a:srgbClr val="2E7D32"/>
                </a:solidFill>
                <a:latin typeface="Calibri"/>
              </a:rPr>
              <a:t>▲ outpacing market  </a:t>
            </a:r>
            <a:r>
              <a:rPr sz="1200" b="1">
                <a:solidFill>
                  <a:srgbClr val="A86F00"/>
                </a:solidFill>
                <a:latin typeface="Calibri"/>
              </a:rPr>
              <a:t>▶ below market pace  </a:t>
            </a:r>
            <a:r>
              <a:rPr sz="1200" b="1">
                <a:solidFill>
                  <a:srgbClr val="E44D3A"/>
                </a:solidFill>
                <a:latin typeface="Calibri"/>
              </a:rPr>
              <a:t>▼ decline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152400" y="1238250"/>
          <a:ext cx="11887203" cy="123825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901628"/>
                <a:gridCol w="665705"/>
                <a:gridCol w="665705"/>
                <a:gridCol w="665705"/>
                <a:gridCol w="665705"/>
                <a:gridCol w="665705"/>
                <a:gridCol w="665705"/>
                <a:gridCol w="665705"/>
                <a:gridCol w="665705"/>
                <a:gridCol w="665705"/>
                <a:gridCol w="665705"/>
                <a:gridCol w="665705"/>
                <a:gridCol w="665705"/>
                <a:gridCol w="665705"/>
                <a:gridCol w="665705"/>
                <a:gridCol w="665705"/>
              </a:tblGrid>
              <a:tr h="246126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Price Positioning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2022A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2023A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2024A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2025A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2026E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2027F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2028F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2029F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2030F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2031F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2032F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2033F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2034F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2035F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2036F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</a:tr>
              <a:tr h="248031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Economy / value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248031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Mid-range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</a:tr>
              <a:tr h="248031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Premium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248031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Super-premium / speciality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219075" y="2486025"/>
            <a:ext cx="11753850" cy="17145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100" b="0" i="1">
                <a:solidFill>
                  <a:srgbClr val="6C7A89"/>
                </a:solidFill>
                <a:latin typeface="Calibri"/>
              </a:rPr>
              <a:t>Source: FMI Analysis, 2026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42875" y="2819400"/>
            <a:ext cx="11906250" cy="1704975"/>
          </a:xfrm>
          <a:prstGeom prst="roundRect">
            <a:avLst>
              <a:gd name="adj" fmla="val 4469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38125" y="2876550"/>
            <a:ext cx="1171575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U.S. Value YoY, By Price Positioning (%)  ·  </a:t>
            </a:r>
            <a:r>
              <a:rPr sz="1200" b="1">
                <a:solidFill>
                  <a:srgbClr val="2E7D32"/>
                </a:solidFill>
                <a:latin typeface="Calibri"/>
              </a:rPr>
              <a:t>▲ outpacing market  </a:t>
            </a:r>
            <a:r>
              <a:rPr sz="1200" b="1">
                <a:solidFill>
                  <a:srgbClr val="A86F00"/>
                </a:solidFill>
                <a:latin typeface="Calibri"/>
              </a:rPr>
              <a:t>▶ below market pace  </a:t>
            </a:r>
            <a:r>
              <a:rPr sz="1200" b="1">
                <a:solidFill>
                  <a:srgbClr val="E44D3A"/>
                </a:solidFill>
                <a:latin typeface="Calibri"/>
              </a:rPr>
              <a:t>▼ decline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152400" y="3076575"/>
          <a:ext cx="11887194" cy="123825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24859"/>
                <a:gridCol w="657489"/>
                <a:gridCol w="657489"/>
                <a:gridCol w="657489"/>
                <a:gridCol w="657489"/>
                <a:gridCol w="657489"/>
                <a:gridCol w="657489"/>
                <a:gridCol w="657489"/>
                <a:gridCol w="657489"/>
                <a:gridCol w="657489"/>
                <a:gridCol w="657489"/>
                <a:gridCol w="657489"/>
                <a:gridCol w="657489"/>
                <a:gridCol w="657489"/>
                <a:gridCol w="657489"/>
                <a:gridCol w="657489"/>
              </a:tblGrid>
              <a:tr h="246126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Price Positioning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2022A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2023A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2024A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2025A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2026E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2027F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2028F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2029F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2030F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2031F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2032F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2033F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2034F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2035F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2036F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</a:tr>
              <a:tr h="248031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Economy / value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248031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Mid-range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</a:tr>
              <a:tr h="248031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Premium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248031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Super-premium / speciality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219075" y="4324350"/>
            <a:ext cx="11753850" cy="17145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100" b="0" i="1">
                <a:solidFill>
                  <a:srgbClr val="6C7A89"/>
                </a:solidFill>
                <a:latin typeface="Calibri"/>
              </a:rPr>
              <a:t>Source: FMI Analysis, 2026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58595B"/>
                </a:solidFill>
                <a:latin typeface="Calibri"/>
              </a:rPr>
              <a:t>©2026 Future Market Insights, All Rights Reserved</a:t>
            </a:r>
          </a:p>
        </p:txBody>
      </p:sp>
      <p:pic>
        <p:nvPicPr>
          <p:cNvPr id="20" name="Picture 19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60125" y="1713738"/>
            <a:ext cx="366712" cy="533400"/>
          </a:xfrm>
          <a:prstGeom prst="rect">
            <a:avLst/>
          </a:prstGeom>
        </p:spPr>
      </p:pic>
      <p:pic>
        <p:nvPicPr>
          <p:cNvPr id="21" name="Picture 20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21736" y="3552062"/>
            <a:ext cx="366712" cy="533400"/>
          </a:xfrm>
          <a:prstGeom prst="rect">
            <a:avLst/>
          </a:prstGeom>
        </p:spPr>
      </p:pic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8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F1F8FE"/>
              </a:gs>
              <a:gs pos="100000">
                <a:srgbClr val="DAEAF9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0" y="5591183"/>
            <a:ext cx="12192000" cy="1266817"/>
          </a:xfrm>
          <a:custGeom>
            <a:avLst/>
            <a:gdLst/>
            <a:ahLst/>
            <a:cxnLst/>
            <a:rect l="l" t="t" r="r" b="b"/>
            <a:pathLst>
              <a:path w="12192000" h="1266817">
                <a:moveTo>
                  <a:pt x="0" y="1266817"/>
                </a:moveTo>
                <a:lnTo>
                  <a:pt x="0" y="475605"/>
                </a:lnTo>
                <a:lnTo>
                  <a:pt x="152400" y="486239"/>
                </a:lnTo>
                <a:lnTo>
                  <a:pt x="304800" y="495887"/>
                </a:lnTo>
                <a:lnTo>
                  <a:pt x="457200" y="504505"/>
                </a:lnTo>
                <a:lnTo>
                  <a:pt x="609600" y="512056"/>
                </a:lnTo>
                <a:lnTo>
                  <a:pt x="762000" y="518505"/>
                </a:lnTo>
                <a:lnTo>
                  <a:pt x="914400" y="523824"/>
                </a:lnTo>
                <a:lnTo>
                  <a:pt x="1066800" y="527988"/>
                </a:lnTo>
                <a:lnTo>
                  <a:pt x="1219200" y="530979"/>
                </a:lnTo>
                <a:lnTo>
                  <a:pt x="1371600" y="532783"/>
                </a:lnTo>
                <a:lnTo>
                  <a:pt x="1524000" y="533392"/>
                </a:lnTo>
                <a:lnTo>
                  <a:pt x="1676400" y="532804"/>
                </a:lnTo>
                <a:lnTo>
                  <a:pt x="1828800" y="531021"/>
                </a:lnTo>
                <a:lnTo>
                  <a:pt x="1981200" y="528051"/>
                </a:lnTo>
                <a:lnTo>
                  <a:pt x="2133600" y="523907"/>
                </a:lnTo>
                <a:lnTo>
                  <a:pt x="2286000" y="518609"/>
                </a:lnTo>
                <a:lnTo>
                  <a:pt x="2438400" y="512179"/>
                </a:lnTo>
                <a:lnTo>
                  <a:pt x="2590800" y="504648"/>
                </a:lnTo>
                <a:lnTo>
                  <a:pt x="2743200" y="496047"/>
                </a:lnTo>
                <a:lnTo>
                  <a:pt x="2895600" y="486417"/>
                </a:lnTo>
                <a:lnTo>
                  <a:pt x="3048000" y="475801"/>
                </a:lnTo>
                <a:lnTo>
                  <a:pt x="3200400" y="464245"/>
                </a:lnTo>
                <a:lnTo>
                  <a:pt x="3352800" y="451803"/>
                </a:lnTo>
                <a:lnTo>
                  <a:pt x="3505200" y="438529"/>
                </a:lnTo>
                <a:lnTo>
                  <a:pt x="3657600" y="424484"/>
                </a:lnTo>
                <a:lnTo>
                  <a:pt x="3810000" y="409730"/>
                </a:lnTo>
                <a:lnTo>
                  <a:pt x="3962400" y="394334"/>
                </a:lnTo>
                <a:lnTo>
                  <a:pt x="4114800" y="378365"/>
                </a:lnTo>
                <a:lnTo>
                  <a:pt x="4267200" y="361894"/>
                </a:lnTo>
                <a:lnTo>
                  <a:pt x="4419600" y="344996"/>
                </a:lnTo>
                <a:lnTo>
                  <a:pt x="4572000" y="327746"/>
                </a:lnTo>
                <a:lnTo>
                  <a:pt x="4724400" y="310223"/>
                </a:lnTo>
                <a:lnTo>
                  <a:pt x="4876800" y="292503"/>
                </a:lnTo>
                <a:lnTo>
                  <a:pt x="5029200" y="274668"/>
                </a:lnTo>
                <a:lnTo>
                  <a:pt x="5181600" y="256797"/>
                </a:lnTo>
                <a:lnTo>
                  <a:pt x="5334000" y="238971"/>
                </a:lnTo>
                <a:lnTo>
                  <a:pt x="5486400" y="221269"/>
                </a:lnTo>
                <a:lnTo>
                  <a:pt x="5638800" y="203771"/>
                </a:lnTo>
                <a:lnTo>
                  <a:pt x="5791200" y="186555"/>
                </a:lnTo>
                <a:lnTo>
                  <a:pt x="5943600" y="169699"/>
                </a:lnTo>
                <a:lnTo>
                  <a:pt x="6096000" y="153279"/>
                </a:lnTo>
                <a:lnTo>
                  <a:pt x="6248400" y="137368"/>
                </a:lnTo>
                <a:lnTo>
                  <a:pt x="6400800" y="122038"/>
                </a:lnTo>
                <a:lnTo>
                  <a:pt x="6553200" y="107357"/>
                </a:lnTo>
                <a:lnTo>
                  <a:pt x="6705600" y="93391"/>
                </a:lnTo>
                <a:lnTo>
                  <a:pt x="6858000" y="80204"/>
                </a:lnTo>
                <a:lnTo>
                  <a:pt x="7010400" y="67854"/>
                </a:lnTo>
                <a:lnTo>
                  <a:pt x="7162800" y="56397"/>
                </a:lnTo>
                <a:lnTo>
                  <a:pt x="7315200" y="45884"/>
                </a:lnTo>
                <a:lnTo>
                  <a:pt x="7467600" y="36363"/>
                </a:lnTo>
                <a:lnTo>
                  <a:pt x="7620000" y="27876"/>
                </a:lnTo>
                <a:lnTo>
                  <a:pt x="7772400" y="20461"/>
                </a:lnTo>
                <a:lnTo>
                  <a:pt x="7924800" y="14151"/>
                </a:lnTo>
                <a:lnTo>
                  <a:pt x="8077200" y="8976"/>
                </a:lnTo>
                <a:lnTo>
                  <a:pt x="8229600" y="4958"/>
                </a:lnTo>
                <a:lnTo>
                  <a:pt x="8382000" y="2115"/>
                </a:lnTo>
                <a:lnTo>
                  <a:pt x="8534400" y="460"/>
                </a:lnTo>
                <a:lnTo>
                  <a:pt x="8686800" y="0"/>
                </a:lnTo>
                <a:lnTo>
                  <a:pt x="8839200" y="738"/>
                </a:lnTo>
                <a:lnTo>
                  <a:pt x="8991600" y="2670"/>
                </a:lnTo>
                <a:lnTo>
                  <a:pt x="9144000" y="5787"/>
                </a:lnTo>
                <a:lnTo>
                  <a:pt x="9296400" y="10076"/>
                </a:lnTo>
                <a:lnTo>
                  <a:pt x="9448800" y="15518"/>
                </a:lnTo>
                <a:lnTo>
                  <a:pt x="9601200" y="22086"/>
                </a:lnTo>
                <a:lnTo>
                  <a:pt x="9753600" y="29754"/>
                </a:lnTo>
                <a:lnTo>
                  <a:pt x="9906000" y="38485"/>
                </a:lnTo>
                <a:lnTo>
                  <a:pt x="10058400" y="48241"/>
                </a:lnTo>
                <a:lnTo>
                  <a:pt x="10210800" y="58977"/>
                </a:lnTo>
                <a:lnTo>
                  <a:pt x="10363200" y="70647"/>
                </a:lnTo>
                <a:lnTo>
                  <a:pt x="10515600" y="83196"/>
                </a:lnTo>
                <a:lnTo>
                  <a:pt x="10668000" y="96570"/>
                </a:lnTo>
                <a:lnTo>
                  <a:pt x="10820400" y="110707"/>
                </a:lnTo>
                <a:lnTo>
                  <a:pt x="10972800" y="125545"/>
                </a:lnTo>
                <a:lnTo>
                  <a:pt x="11125200" y="141016"/>
                </a:lnTo>
                <a:lnTo>
                  <a:pt x="11277600" y="157052"/>
                </a:lnTo>
                <a:lnTo>
                  <a:pt x="11430000" y="173580"/>
                </a:lnTo>
                <a:lnTo>
                  <a:pt x="11582400" y="190527"/>
                </a:lnTo>
                <a:lnTo>
                  <a:pt x="11734800" y="207815"/>
                </a:lnTo>
                <a:lnTo>
                  <a:pt x="11887200" y="225367"/>
                </a:lnTo>
                <a:lnTo>
                  <a:pt x="12039600" y="243105"/>
                </a:lnTo>
                <a:lnTo>
                  <a:pt x="12192000" y="260949"/>
                </a:lnTo>
                <a:lnTo>
                  <a:pt x="12192000" y="1266817"/>
                </a:lnTo>
                <a:close/>
              </a:path>
            </a:pathLst>
          </a:custGeom>
          <a:solidFill>
            <a:srgbClr val="C8E0F6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0" y="5905543"/>
            <a:ext cx="12192000" cy="952457"/>
          </a:xfrm>
          <a:custGeom>
            <a:avLst/>
            <a:gdLst/>
            <a:ahLst/>
            <a:cxnLst/>
            <a:rect l="l" t="t" r="r" b="b"/>
            <a:pathLst>
              <a:path w="12192000" h="952457">
                <a:moveTo>
                  <a:pt x="0" y="952457"/>
                </a:moveTo>
                <a:lnTo>
                  <a:pt x="0" y="288660"/>
                </a:lnTo>
                <a:lnTo>
                  <a:pt x="152400" y="275228"/>
                </a:lnTo>
                <a:lnTo>
                  <a:pt x="304800" y="261249"/>
                </a:lnTo>
                <a:lnTo>
                  <a:pt x="457200" y="246812"/>
                </a:lnTo>
                <a:lnTo>
                  <a:pt x="609600" y="232010"/>
                </a:lnTo>
                <a:lnTo>
                  <a:pt x="762000" y="216940"/>
                </a:lnTo>
                <a:lnTo>
                  <a:pt x="914400" y="201698"/>
                </a:lnTo>
                <a:lnTo>
                  <a:pt x="1066800" y="186384"/>
                </a:lnTo>
                <a:lnTo>
                  <a:pt x="1219200" y="171097"/>
                </a:lnTo>
                <a:lnTo>
                  <a:pt x="1371600" y="155934"/>
                </a:lnTo>
                <a:lnTo>
                  <a:pt x="1524000" y="140995"/>
                </a:lnTo>
                <a:lnTo>
                  <a:pt x="1676400" y="126375"/>
                </a:lnTo>
                <a:lnTo>
                  <a:pt x="1828800" y="112170"/>
                </a:lnTo>
                <a:lnTo>
                  <a:pt x="1981200" y="98470"/>
                </a:lnTo>
                <a:lnTo>
                  <a:pt x="2133600" y="85366"/>
                </a:lnTo>
                <a:lnTo>
                  <a:pt x="2286000" y="72940"/>
                </a:lnTo>
                <a:lnTo>
                  <a:pt x="2438400" y="61275"/>
                </a:lnTo>
                <a:lnTo>
                  <a:pt x="2590800" y="50444"/>
                </a:lnTo>
                <a:lnTo>
                  <a:pt x="2743200" y="40519"/>
                </a:lnTo>
                <a:lnTo>
                  <a:pt x="2895600" y="31563"/>
                </a:lnTo>
                <a:lnTo>
                  <a:pt x="3048000" y="23634"/>
                </a:lnTo>
                <a:lnTo>
                  <a:pt x="3200400" y="16784"/>
                </a:lnTo>
                <a:lnTo>
                  <a:pt x="3352800" y="11056"/>
                </a:lnTo>
                <a:lnTo>
                  <a:pt x="3505200" y="6489"/>
                </a:lnTo>
                <a:lnTo>
                  <a:pt x="3657600" y="3110"/>
                </a:lnTo>
                <a:lnTo>
                  <a:pt x="3810000" y="943"/>
                </a:lnTo>
                <a:lnTo>
                  <a:pt x="3962400" y="0"/>
                </a:lnTo>
                <a:lnTo>
                  <a:pt x="4114800" y="289"/>
                </a:lnTo>
                <a:lnTo>
                  <a:pt x="4267200" y="1808"/>
                </a:lnTo>
                <a:lnTo>
                  <a:pt x="4419600" y="4546"/>
                </a:lnTo>
                <a:lnTo>
                  <a:pt x="4572000" y="8485"/>
                </a:lnTo>
                <a:lnTo>
                  <a:pt x="4724400" y="13601"/>
                </a:lnTo>
                <a:lnTo>
                  <a:pt x="4876800" y="19861"/>
                </a:lnTo>
                <a:lnTo>
                  <a:pt x="5029200" y="27223"/>
                </a:lnTo>
                <a:lnTo>
                  <a:pt x="5181600" y="35641"/>
                </a:lnTo>
                <a:lnTo>
                  <a:pt x="5334000" y="45059"/>
                </a:lnTo>
                <a:lnTo>
                  <a:pt x="5486400" y="55417"/>
                </a:lnTo>
                <a:lnTo>
                  <a:pt x="5638800" y="66649"/>
                </a:lnTo>
                <a:lnTo>
                  <a:pt x="5791200" y="78680"/>
                </a:lnTo>
                <a:lnTo>
                  <a:pt x="5943600" y="91435"/>
                </a:lnTo>
                <a:lnTo>
                  <a:pt x="6096000" y="104829"/>
                </a:lnTo>
                <a:lnTo>
                  <a:pt x="6248400" y="118777"/>
                </a:lnTo>
                <a:lnTo>
                  <a:pt x="6400800" y="133188"/>
                </a:lnTo>
                <a:lnTo>
                  <a:pt x="6553200" y="147970"/>
                </a:lnTo>
                <a:lnTo>
                  <a:pt x="6705600" y="163026"/>
                </a:lnTo>
                <a:lnTo>
                  <a:pt x="6858000" y="178260"/>
                </a:lnTo>
                <a:lnTo>
                  <a:pt x="7010400" y="193572"/>
                </a:lnTo>
                <a:lnTo>
                  <a:pt x="7162800" y="208865"/>
                </a:lnTo>
                <a:lnTo>
                  <a:pt x="7315200" y="224038"/>
                </a:lnTo>
                <a:lnTo>
                  <a:pt x="7467600" y="238994"/>
                </a:lnTo>
                <a:lnTo>
                  <a:pt x="7620000" y="253637"/>
                </a:lnTo>
                <a:lnTo>
                  <a:pt x="7772400" y="267871"/>
                </a:lnTo>
                <a:lnTo>
                  <a:pt x="7924800" y="281604"/>
                </a:lnTo>
                <a:lnTo>
                  <a:pt x="8077200" y="294748"/>
                </a:lnTo>
                <a:lnTo>
                  <a:pt x="8229600" y="307218"/>
                </a:lnTo>
                <a:lnTo>
                  <a:pt x="8382000" y="318934"/>
                </a:lnTo>
                <a:lnTo>
                  <a:pt x="8534400" y="329818"/>
                </a:lnTo>
                <a:lnTo>
                  <a:pt x="8686800" y="339802"/>
                </a:lnTo>
                <a:lnTo>
                  <a:pt x="8839200" y="348821"/>
                </a:lnTo>
                <a:lnTo>
                  <a:pt x="8991600" y="356815"/>
                </a:lnTo>
                <a:lnTo>
                  <a:pt x="9144000" y="363734"/>
                </a:lnTo>
                <a:lnTo>
                  <a:pt x="9296400" y="369533"/>
                </a:lnTo>
                <a:lnTo>
                  <a:pt x="9448800" y="374174"/>
                </a:lnTo>
                <a:lnTo>
                  <a:pt x="9601200" y="377628"/>
                </a:lnTo>
                <a:lnTo>
                  <a:pt x="9753600" y="379872"/>
                </a:lnTo>
                <a:lnTo>
                  <a:pt x="9906000" y="380891"/>
                </a:lnTo>
                <a:lnTo>
                  <a:pt x="10058400" y="380679"/>
                </a:lnTo>
                <a:lnTo>
                  <a:pt x="10210800" y="379237"/>
                </a:lnTo>
                <a:lnTo>
                  <a:pt x="10363200" y="376575"/>
                </a:lnTo>
                <a:lnTo>
                  <a:pt x="10515600" y="372710"/>
                </a:lnTo>
                <a:lnTo>
                  <a:pt x="10668000" y="367666"/>
                </a:lnTo>
                <a:lnTo>
                  <a:pt x="10820400" y="361477"/>
                </a:lnTo>
                <a:lnTo>
                  <a:pt x="10972800" y="354182"/>
                </a:lnTo>
                <a:lnTo>
                  <a:pt x="11125200" y="345829"/>
                </a:lnTo>
                <a:lnTo>
                  <a:pt x="11277600" y="336472"/>
                </a:lnTo>
                <a:lnTo>
                  <a:pt x="11430000" y="326170"/>
                </a:lnTo>
                <a:lnTo>
                  <a:pt x="11582400" y="314991"/>
                </a:lnTo>
                <a:lnTo>
                  <a:pt x="11734800" y="303008"/>
                </a:lnTo>
                <a:lnTo>
                  <a:pt x="11887200" y="290296"/>
                </a:lnTo>
                <a:lnTo>
                  <a:pt x="12039600" y="276939"/>
                </a:lnTo>
                <a:lnTo>
                  <a:pt x="12192000" y="263023"/>
                </a:lnTo>
                <a:lnTo>
                  <a:pt x="12192000" y="952457"/>
                </a:lnTo>
                <a:close/>
              </a:path>
            </a:pathLst>
          </a:custGeom>
          <a:solidFill>
            <a:srgbClr val="A7CDF1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638925"/>
            <a:ext cx="12192000" cy="219075"/>
          </a:xfrm>
          <a:prstGeom prst="rect">
            <a:avLst/>
          </a:prstGeom>
          <a:solidFill>
            <a:srgbClr val="A9C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238875"/>
            <a:ext cx="12192000" cy="400050"/>
          </a:xfrm>
          <a:prstGeom prst="rect">
            <a:avLst/>
          </a:prstGeom>
          <a:gradFill rotWithShape="1">
            <a:gsLst>
              <a:gs pos="0">
                <a:srgbClr val="2C6BB2"/>
              </a:gs>
              <a:gs pos="100000">
                <a:srgbClr val="7FB5E4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MI Section Bar"/>
          <p:cNvSpPr txBox="1"/>
          <p:nvPr/>
        </p:nvSpPr>
        <p:spPr>
          <a:xfrm>
            <a:off x="285750" y="6238875"/>
            <a:ext cx="3810000" cy="400050"/>
          </a:xfrm>
          <a:prstGeom prst="rect">
            <a:avLst/>
          </a:prstGeom>
          <a:noFill/>
        </p:spPr>
        <p:txBody>
          <a:bodyPr wrap="none" anchor="ctr" lIns="0" tIns="0" bIns="0">
            <a:spAutoFit/>
          </a:bodyPr>
          <a:lstStyle/>
          <a:p>
            <a:r>
              <a:rPr sz="1500" b="1">
                <a:solidFill>
                  <a:srgbClr val="FFFFFF"/>
                </a:solidFill>
                <a:latin typeface="Calibri"/>
              </a:rPr>
              <a:t>Section 2.16</a:t>
            </a:r>
          </a:p>
        </p:txBody>
      </p:sp>
      <p:pic>
        <p:nvPicPr>
          <p:cNvPr id="8" name="Picture 7" descr="fmi_logo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74320"/>
            <a:ext cx="1307592" cy="13258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14400" y="2752725"/>
            <a:ext cx="8572500" cy="3048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800" b="0">
                <a:solidFill>
                  <a:srgbClr val="0E72AE"/>
                </a:solidFill>
                <a:latin typeface="Calibri"/>
              </a:rPr>
              <a:t>Packaged Muffins Market</a:t>
            </a:r>
          </a:p>
        </p:txBody>
      </p:sp>
      <p:sp>
        <p:nvSpPr>
          <p:cNvPr id="10" name="FMI Section Title"/>
          <p:cNvSpPr txBox="1"/>
          <p:nvPr/>
        </p:nvSpPr>
        <p:spPr>
          <a:xfrm>
            <a:off x="914400" y="3095625"/>
            <a:ext cx="8572500" cy="51435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r>
              <a:rPr sz="3000" b="1">
                <a:solidFill>
                  <a:srgbClr val="0B3C8C"/>
                </a:solidFill>
                <a:latin typeface="Calibri"/>
              </a:rPr>
              <a:t>Brand Ownership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781425"/>
            <a:ext cx="8458200" cy="12763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Calibri"/>
              </a:rPr>
              <a:t>➤	</a:t>
            </a:r>
            <a:r>
              <a:rPr sz="2000" b="0">
                <a:solidFill>
                  <a:srgbClr val="000000"/>
                </a:solidFill>
                <a:latin typeface="Calibri"/>
              </a:rPr>
              <a:t>Segmental</a:t>
            </a:r>
          </a:p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Calibri"/>
              </a:rPr>
              <a:t>➤	</a:t>
            </a:r>
            <a:r>
              <a:rPr sz="2000" b="0">
                <a:solidFill>
                  <a:srgbClr val="000000"/>
                </a:solidFill>
                <a:latin typeface="Calibri"/>
              </a:rPr>
              <a:t>Table (Volume &amp; Value)</a:t>
            </a:r>
          </a:p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Calibri"/>
              </a:rPr>
              <a:t>➤	</a:t>
            </a:r>
            <a:r>
              <a:rPr sz="2000" b="0">
                <a:solidFill>
                  <a:srgbClr val="000000"/>
                </a:solidFill>
                <a:latin typeface="Calibri"/>
              </a:rPr>
              <a:t>YoY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58595B"/>
                </a:solidFill>
                <a:latin typeface="Calibri"/>
              </a:rPr>
              <a:t>©2026 Future Market Insights, All Rights Reserved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3825" y="914400"/>
            <a:ext cx="3943350" cy="28575"/>
          </a:xfrm>
          <a:prstGeom prst="rect">
            <a:avLst/>
          </a:prstGeom>
          <a:solidFill>
            <a:srgbClr val="0081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24325" y="914400"/>
            <a:ext cx="3943350" cy="28575"/>
          </a:xfrm>
          <a:prstGeom prst="rect">
            <a:avLst/>
          </a:prstGeom>
          <a:solidFill>
            <a:srgbClr val="9E7E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124825" y="914400"/>
            <a:ext cx="3943350" cy="28575"/>
          </a:xfrm>
          <a:prstGeom prst="rect">
            <a:avLst/>
          </a:prstGeom>
          <a:solidFill>
            <a:srgbClr val="403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mi_logo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25" y="-205740"/>
            <a:ext cx="1307592" cy="13258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543050" y="19050"/>
            <a:ext cx="8982075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U.S. Packaged Muffins Market Segmental Analysis Brand Ownership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43050" y="647700"/>
            <a:ext cx="10506075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U.S. segmental analysis by Brand Ownership: growth contribution, share variance and absolute $ opportunity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620375" y="228600"/>
            <a:ext cx="1428750" cy="419100"/>
          </a:xfrm>
          <a:prstGeom prst="roundRect">
            <a:avLst>
              <a:gd name="adj" fmla="val 22000"/>
            </a:avLst>
          </a:prstGeom>
          <a:solidFill>
            <a:srgbClr val="D9E6F2"/>
          </a:solidFill>
          <a:ln w="6350">
            <a:solidFill>
              <a:srgbClr val="69B1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100" b="1">
                <a:solidFill>
                  <a:srgbClr val="0B2E4A"/>
                </a:solidFill>
                <a:latin typeface="Calibri"/>
              </a:rPr>
              <a:t>U.S.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42875" y="981075"/>
            <a:ext cx="5876925" cy="2752725"/>
          </a:xfrm>
          <a:prstGeom prst="roundRect">
            <a:avLst>
              <a:gd name="adj" fmla="val 2768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38125" y="1038225"/>
            <a:ext cx="5686425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Growth Contribution 2026 → 2036, By Brand Ownership (US$ Mn)</a:t>
            </a:r>
          </a:p>
        </p:txBody>
      </p:sp>
      <p:graphicFrame>
        <p:nvGraphicFramePr>
          <p:cNvPr id="13" name="Chart 12"/>
          <p:cNvGraphicFramePr>
            <a:graphicFrameLocks noGrp="1"/>
          </p:cNvGraphicFramePr>
          <p:nvPr/>
        </p:nvGraphicFramePr>
        <p:xfrm>
          <a:off x="238125" y="1266825"/>
          <a:ext cx="5686425" cy="2409825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4" name="Rounded Rectangle 13"/>
          <p:cNvSpPr/>
          <p:nvPr/>
        </p:nvSpPr>
        <p:spPr>
          <a:xfrm>
            <a:off x="6172200" y="981075"/>
            <a:ext cx="5876925" cy="2752725"/>
          </a:xfrm>
          <a:prstGeom prst="roundRect">
            <a:avLst>
              <a:gd name="adj" fmla="val 2768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67450" y="1038225"/>
            <a:ext cx="5686425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Value Shares &amp; Variance, By Brand Ownership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6181725" y="1238250"/>
          <a:ext cx="5857875" cy="2286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938315"/>
                <a:gridCol w="979890"/>
                <a:gridCol w="979890"/>
                <a:gridCol w="979890"/>
                <a:gridCol w="979890"/>
              </a:tblGrid>
              <a:tr h="246126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Brand Ownership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Share 2026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Share 2036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Variance (BPS)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F-CAGR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</a:tr>
              <a:tr h="679958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Manufacturer brands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679958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Retailer private labels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</a:tr>
              <a:tr h="679958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Foodservice / operator brands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6248400" y="3533775"/>
            <a:ext cx="5724525" cy="17145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100" b="0" i="1">
                <a:solidFill>
                  <a:srgbClr val="6C7A89"/>
                </a:solidFill>
                <a:latin typeface="Calibri"/>
              </a:rPr>
              <a:t>Source: FMI Analysis, 2026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42875" y="3867150"/>
            <a:ext cx="5876925" cy="2752725"/>
          </a:xfrm>
          <a:prstGeom prst="roundRect">
            <a:avLst>
              <a:gd name="adj" fmla="val 2768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38125" y="3924300"/>
            <a:ext cx="5686425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Absolute $ Opportunity, By Brand Ownership (US$ Mn), between 2026–2036</a:t>
            </a:r>
          </a:p>
        </p:txBody>
      </p:sp>
      <p:graphicFrame>
        <p:nvGraphicFramePr>
          <p:cNvPr id="20" name="Chart 19"/>
          <p:cNvGraphicFramePr>
            <a:graphicFrameLocks noGrp="1"/>
          </p:cNvGraphicFramePr>
          <p:nvPr/>
        </p:nvGraphicFramePr>
        <p:xfrm>
          <a:off x="238125" y="4152900"/>
          <a:ext cx="5686425" cy="2409825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21" name="Rounded Rectangle 20"/>
          <p:cNvSpPr/>
          <p:nvPr/>
        </p:nvSpPr>
        <p:spPr>
          <a:xfrm>
            <a:off x="6172200" y="3867150"/>
            <a:ext cx="5876925" cy="2752725"/>
          </a:xfrm>
          <a:prstGeom prst="roundRect">
            <a:avLst>
              <a:gd name="adj" fmla="val 2768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67450" y="3924300"/>
            <a:ext cx="5686425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Volume Shares &amp; Variance, By Brand Ownership</a:t>
            </a:r>
          </a:p>
        </p:txBody>
      </p:sp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6181725" y="4124325"/>
          <a:ext cx="5857875" cy="2286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938315"/>
                <a:gridCol w="979890"/>
                <a:gridCol w="979890"/>
                <a:gridCol w="979890"/>
                <a:gridCol w="979890"/>
              </a:tblGrid>
              <a:tr h="246126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Brand Ownership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Share 2026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Share 2036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Variance (BPS)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F-CAGR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</a:tr>
              <a:tr h="679958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Manufacturer brands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679958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Retailer private labels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</a:tr>
              <a:tr h="679958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Foodservice / operator brands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4" name="TextBox 23"/>
          <p:cNvSpPr txBox="1"/>
          <p:nvPr/>
        </p:nvSpPr>
        <p:spPr>
          <a:xfrm>
            <a:off x="6248400" y="6419850"/>
            <a:ext cx="5724525" cy="17145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100" b="0" i="1">
                <a:solidFill>
                  <a:srgbClr val="6C7A89"/>
                </a:solidFill>
                <a:latin typeface="Calibri"/>
              </a:rPr>
              <a:t>Source: FMI Analysis, 2026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58595B"/>
                </a:solidFill>
                <a:latin typeface="Calibri"/>
              </a:rPr>
              <a:t>©2026 Future Market Insights, All Rights Reserved</a:t>
            </a:r>
          </a:p>
        </p:txBody>
      </p:sp>
      <p:pic>
        <p:nvPicPr>
          <p:cNvPr id="26" name="Picture 25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94826" y="2237234"/>
            <a:ext cx="263506" cy="383281"/>
          </a:xfrm>
          <a:prstGeom prst="rect">
            <a:avLst/>
          </a:prstGeom>
        </p:spPr>
      </p:pic>
      <p:pic>
        <p:nvPicPr>
          <p:cNvPr id="27" name="Picture 26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93130" y="2237613"/>
            <a:ext cx="366712" cy="533400"/>
          </a:xfrm>
          <a:prstGeom prst="rect">
            <a:avLst/>
          </a:prstGeom>
        </p:spPr>
      </p:pic>
      <p:pic>
        <p:nvPicPr>
          <p:cNvPr id="28" name="Picture 27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94826" y="5123309"/>
            <a:ext cx="263506" cy="383281"/>
          </a:xfrm>
          <a:prstGeom prst="rect">
            <a:avLst/>
          </a:prstGeom>
        </p:spPr>
      </p:pic>
      <p:pic>
        <p:nvPicPr>
          <p:cNvPr id="29" name="Picture 28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93130" y="5123688"/>
            <a:ext cx="366712" cy="533400"/>
          </a:xfrm>
          <a:prstGeom prst="rect">
            <a:avLst/>
          </a:prstGeom>
        </p:spPr>
      </p:pic>
      <p:sp>
        <p:nvSpPr>
          <p:cNvPr id="30" name="lockshield_13"/>
          <p:cNvSpPr/>
          <p:nvPr/>
        </p:nvSpPr>
        <p:spPr>
          <a:xfrm>
            <a:off x="238125" y="1266825"/>
            <a:ext cx="5686425" cy="2409825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lockshield_20"/>
          <p:cNvSpPr/>
          <p:nvPr/>
        </p:nvSpPr>
        <p:spPr>
          <a:xfrm>
            <a:off x="238125" y="4152900"/>
            <a:ext cx="5686425" cy="2409825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3825" y="914400"/>
            <a:ext cx="3943350" cy="28575"/>
          </a:xfrm>
          <a:prstGeom prst="rect">
            <a:avLst/>
          </a:prstGeom>
          <a:solidFill>
            <a:srgbClr val="0081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24325" y="914400"/>
            <a:ext cx="3943350" cy="28575"/>
          </a:xfrm>
          <a:prstGeom prst="rect">
            <a:avLst/>
          </a:prstGeom>
          <a:solidFill>
            <a:srgbClr val="9E7E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124825" y="914400"/>
            <a:ext cx="3943350" cy="28575"/>
          </a:xfrm>
          <a:prstGeom prst="rect">
            <a:avLst/>
          </a:prstGeom>
          <a:solidFill>
            <a:srgbClr val="403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mi_logo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25" y="-205740"/>
            <a:ext cx="1307592" cy="13258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543050" y="19050"/>
            <a:ext cx="8982075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U.S. Packaged Muffins Market Tables Brand Ownership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43050" y="647700"/>
            <a:ext cx="10506075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Year-by-year volume and value of the U.S. market by Brand Ownership, 2021–2036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620375" y="228600"/>
            <a:ext cx="1428750" cy="419100"/>
          </a:xfrm>
          <a:prstGeom prst="roundRect">
            <a:avLst>
              <a:gd name="adj" fmla="val 22000"/>
            </a:avLst>
          </a:prstGeom>
          <a:solidFill>
            <a:srgbClr val="D9E6F2"/>
          </a:solidFill>
          <a:ln w="6350">
            <a:solidFill>
              <a:srgbClr val="69B1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100" b="1">
                <a:solidFill>
                  <a:srgbClr val="0B2E4A"/>
                </a:solidFill>
                <a:latin typeface="Calibri"/>
              </a:rPr>
              <a:t>U.S.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42875" y="981075"/>
            <a:ext cx="11906250" cy="1704975"/>
          </a:xfrm>
          <a:prstGeom prst="roundRect">
            <a:avLst>
              <a:gd name="adj" fmla="val 4469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38125" y="1038225"/>
            <a:ext cx="1171575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U.S. Volume, By Brand Ownership (MT)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152400" y="1238250"/>
          <a:ext cx="11887195" cy="123825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941124"/>
                <a:gridCol w="585063"/>
                <a:gridCol w="585063"/>
                <a:gridCol w="585063"/>
                <a:gridCol w="585063"/>
                <a:gridCol w="585063"/>
                <a:gridCol w="585063"/>
                <a:gridCol w="585063"/>
                <a:gridCol w="585063"/>
                <a:gridCol w="585063"/>
                <a:gridCol w="585063"/>
                <a:gridCol w="585063"/>
                <a:gridCol w="585063"/>
                <a:gridCol w="585063"/>
                <a:gridCol w="585063"/>
                <a:gridCol w="585063"/>
                <a:gridCol w="585063"/>
                <a:gridCol w="585063"/>
              </a:tblGrid>
              <a:tr h="246126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Brand Ownership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2021A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2022A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2023A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2024A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2025A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2026E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2027F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2028F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2029F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2030F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2031F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2032F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2033F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2034F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2035F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2036F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F-CAGR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</a:tr>
              <a:tr h="248031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Manufacturer brands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248031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Retailer private labels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</a:tr>
              <a:tr h="248031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Foodservice / operator brands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248031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Total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219075" y="2486025"/>
            <a:ext cx="11753850" cy="17145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100" b="0" i="1">
                <a:solidFill>
                  <a:srgbClr val="6C7A89"/>
                </a:solidFill>
                <a:latin typeface="Calibri"/>
              </a:rPr>
              <a:t>Source: FMI Analysis, 2026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42875" y="2819400"/>
            <a:ext cx="11906250" cy="1704975"/>
          </a:xfrm>
          <a:prstGeom prst="roundRect">
            <a:avLst>
              <a:gd name="adj" fmla="val 4469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38125" y="2876550"/>
            <a:ext cx="1171575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U.S. Value, By Brand Ownership (US$ Mn)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152400" y="3076575"/>
          <a:ext cx="11887200" cy="123825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26843"/>
                <a:gridCol w="580021"/>
                <a:gridCol w="580021"/>
                <a:gridCol w="580021"/>
                <a:gridCol w="580021"/>
                <a:gridCol w="580021"/>
                <a:gridCol w="580021"/>
                <a:gridCol w="580021"/>
                <a:gridCol w="580021"/>
                <a:gridCol w="580021"/>
                <a:gridCol w="580021"/>
                <a:gridCol w="580021"/>
                <a:gridCol w="580021"/>
                <a:gridCol w="580021"/>
                <a:gridCol w="580021"/>
                <a:gridCol w="580021"/>
                <a:gridCol w="580021"/>
                <a:gridCol w="580021"/>
              </a:tblGrid>
              <a:tr h="246126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Brand Ownership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2021A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2022A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2023A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2024A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2025A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2026E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2027F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2028F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2029F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2030F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2031F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2032F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2033F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2034F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2035F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2036F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F-CAGR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</a:tr>
              <a:tr h="248031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Manufacturer brands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248031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Retailer private labels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</a:tr>
              <a:tr h="248031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Foodservice / operator brands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248031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Total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219075" y="4324350"/>
            <a:ext cx="11753850" cy="17145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100" b="0" i="1">
                <a:solidFill>
                  <a:srgbClr val="6C7A89"/>
                </a:solidFill>
                <a:latin typeface="Calibri"/>
              </a:rPr>
              <a:t>Source: FMI Analysis, 2026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58595B"/>
                </a:solidFill>
                <a:latin typeface="Calibri"/>
              </a:rPr>
              <a:t>©2026 Future Market Insights, All Rights Reserved</a:t>
            </a:r>
          </a:p>
        </p:txBody>
      </p:sp>
      <p:pic>
        <p:nvPicPr>
          <p:cNvPr id="20" name="Picture 19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79869" y="1713738"/>
            <a:ext cx="366712" cy="533399"/>
          </a:xfrm>
          <a:prstGeom prst="rect">
            <a:avLst/>
          </a:prstGeom>
        </p:spPr>
      </p:pic>
      <p:pic>
        <p:nvPicPr>
          <p:cNvPr id="21" name="Picture 20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22731" y="3552062"/>
            <a:ext cx="366712" cy="533400"/>
          </a:xfrm>
          <a:prstGeom prst="rect">
            <a:avLst/>
          </a:prstGeom>
        </p:spPr>
      </p:pic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3825" y="914400"/>
            <a:ext cx="3943350" cy="28575"/>
          </a:xfrm>
          <a:prstGeom prst="rect">
            <a:avLst/>
          </a:prstGeom>
          <a:solidFill>
            <a:srgbClr val="0081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24325" y="914400"/>
            <a:ext cx="3943350" cy="28575"/>
          </a:xfrm>
          <a:prstGeom prst="rect">
            <a:avLst/>
          </a:prstGeom>
          <a:solidFill>
            <a:srgbClr val="9E7E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124825" y="914400"/>
            <a:ext cx="3943350" cy="28575"/>
          </a:xfrm>
          <a:prstGeom prst="rect">
            <a:avLst/>
          </a:prstGeom>
          <a:solidFill>
            <a:srgbClr val="403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mi_logo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25" y="-205740"/>
            <a:ext cx="1307592" cy="13258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543050" y="19050"/>
            <a:ext cx="8982075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U.S. YoY Analysis Brand Ownership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43050" y="647700"/>
            <a:ext cx="10506075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U.S. year-on-year volume and value growth by Brand Ownership, highlighting acceleration and slowdown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620375" y="228600"/>
            <a:ext cx="1428750" cy="419100"/>
          </a:xfrm>
          <a:prstGeom prst="roundRect">
            <a:avLst>
              <a:gd name="adj" fmla="val 22000"/>
            </a:avLst>
          </a:prstGeom>
          <a:solidFill>
            <a:srgbClr val="D9E6F2"/>
          </a:solidFill>
          <a:ln w="6350">
            <a:solidFill>
              <a:srgbClr val="69B1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100" b="1">
                <a:solidFill>
                  <a:srgbClr val="0B2E4A"/>
                </a:solidFill>
                <a:latin typeface="Calibri"/>
              </a:rPr>
              <a:t>U.S.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42875" y="981075"/>
            <a:ext cx="11906250" cy="1457325"/>
          </a:xfrm>
          <a:prstGeom prst="roundRect">
            <a:avLst>
              <a:gd name="adj" fmla="val 5228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38125" y="1038225"/>
            <a:ext cx="1171575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U.S. Volume YoY, By Brand Ownership (%)  ·  </a:t>
            </a:r>
            <a:r>
              <a:rPr sz="1200" b="1">
                <a:solidFill>
                  <a:srgbClr val="2E7D32"/>
                </a:solidFill>
                <a:latin typeface="Calibri"/>
              </a:rPr>
              <a:t>▲ outpacing market  </a:t>
            </a:r>
            <a:r>
              <a:rPr sz="1200" b="1">
                <a:solidFill>
                  <a:srgbClr val="A86F00"/>
                </a:solidFill>
                <a:latin typeface="Calibri"/>
              </a:rPr>
              <a:t>▶ below market pace  </a:t>
            </a:r>
            <a:r>
              <a:rPr sz="1200" b="1">
                <a:solidFill>
                  <a:srgbClr val="E44D3A"/>
                </a:solidFill>
                <a:latin typeface="Calibri"/>
              </a:rPr>
              <a:t>▼ decline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152400" y="1238250"/>
          <a:ext cx="11887196" cy="9906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208341"/>
                <a:gridCol w="645257"/>
                <a:gridCol w="645257"/>
                <a:gridCol w="645257"/>
                <a:gridCol w="645257"/>
                <a:gridCol w="645257"/>
                <a:gridCol w="645257"/>
                <a:gridCol w="645257"/>
                <a:gridCol w="645257"/>
                <a:gridCol w="645257"/>
                <a:gridCol w="645257"/>
                <a:gridCol w="645257"/>
                <a:gridCol w="645257"/>
                <a:gridCol w="645257"/>
                <a:gridCol w="645257"/>
                <a:gridCol w="645257"/>
              </a:tblGrid>
              <a:tr h="246126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Brand Ownership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2022A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2023A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2024A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2025A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2026E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2027F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2028F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2029F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2030F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2031F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2032F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2033F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2034F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2035F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2036F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</a:tr>
              <a:tr h="248158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Manufacturer brands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248158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Retailer private labels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</a:tr>
              <a:tr h="248158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Foodservice / operator brands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219075" y="2238375"/>
            <a:ext cx="11753850" cy="17145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100" b="0" i="1">
                <a:solidFill>
                  <a:srgbClr val="6C7A89"/>
                </a:solidFill>
                <a:latin typeface="Calibri"/>
              </a:rPr>
              <a:t>Source: FMI Analysis, 2026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42875" y="2571750"/>
            <a:ext cx="11906250" cy="1457325"/>
          </a:xfrm>
          <a:prstGeom prst="roundRect">
            <a:avLst>
              <a:gd name="adj" fmla="val 5228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38125" y="2628900"/>
            <a:ext cx="1171575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U.S. Value YoY, By Brand Ownership (%)  ·  </a:t>
            </a:r>
            <a:r>
              <a:rPr sz="1200" b="1">
                <a:solidFill>
                  <a:srgbClr val="2E7D32"/>
                </a:solidFill>
                <a:latin typeface="Calibri"/>
              </a:rPr>
              <a:t>▲ outpacing market  </a:t>
            </a:r>
            <a:r>
              <a:rPr sz="1200" b="1">
                <a:solidFill>
                  <a:srgbClr val="A86F00"/>
                </a:solidFill>
                <a:latin typeface="Calibri"/>
              </a:rPr>
              <a:t>▶ below market pace  </a:t>
            </a:r>
            <a:r>
              <a:rPr sz="1200" b="1">
                <a:solidFill>
                  <a:srgbClr val="E44D3A"/>
                </a:solidFill>
                <a:latin typeface="Calibri"/>
              </a:rPr>
              <a:t>▼ decline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152400" y="2828925"/>
          <a:ext cx="11887196" cy="9906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208341"/>
                <a:gridCol w="645257"/>
                <a:gridCol w="645257"/>
                <a:gridCol w="645257"/>
                <a:gridCol w="645257"/>
                <a:gridCol w="645257"/>
                <a:gridCol w="645257"/>
                <a:gridCol w="645257"/>
                <a:gridCol w="645257"/>
                <a:gridCol w="645257"/>
                <a:gridCol w="645257"/>
                <a:gridCol w="645257"/>
                <a:gridCol w="645257"/>
                <a:gridCol w="645257"/>
                <a:gridCol w="645257"/>
                <a:gridCol w="645257"/>
              </a:tblGrid>
              <a:tr h="246126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Brand Ownership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2022A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2023A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2024A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2025A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2026E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2027F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2028F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2029F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2030F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2031F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2032F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2033F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2034F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2035F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2036F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</a:tr>
              <a:tr h="248158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Manufacturer brands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248158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Retailer private labels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</a:tr>
              <a:tr h="248158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Foodservice / operator brands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219075" y="3829050"/>
            <a:ext cx="11753850" cy="17145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100" b="0" i="1">
                <a:solidFill>
                  <a:srgbClr val="6C7A89"/>
                </a:solidFill>
                <a:latin typeface="Calibri"/>
              </a:rPr>
              <a:t>Source: FMI Analysis, 2026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58595B"/>
                </a:solidFill>
                <a:latin typeface="Calibri"/>
              </a:rPr>
              <a:t>©2026 Future Market Insights, All Rights Reserved</a:t>
            </a:r>
          </a:p>
        </p:txBody>
      </p:sp>
      <p:pic>
        <p:nvPicPr>
          <p:cNvPr id="20" name="Picture 19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13478" y="1589913"/>
            <a:ext cx="366712" cy="533400"/>
          </a:xfrm>
          <a:prstGeom prst="rect">
            <a:avLst/>
          </a:prstGeom>
        </p:spPr>
      </p:pic>
      <p:pic>
        <p:nvPicPr>
          <p:cNvPr id="21" name="Picture 20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13478" y="3180587"/>
            <a:ext cx="366712" cy="533400"/>
          </a:xfrm>
          <a:prstGeom prst="rect">
            <a:avLst/>
          </a:prstGeom>
        </p:spPr>
      </p:pic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8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F1F8FE"/>
              </a:gs>
              <a:gs pos="100000">
                <a:srgbClr val="DAEAF9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0" y="5591183"/>
            <a:ext cx="12192000" cy="1266817"/>
          </a:xfrm>
          <a:custGeom>
            <a:avLst/>
            <a:gdLst/>
            <a:ahLst/>
            <a:cxnLst/>
            <a:rect l="l" t="t" r="r" b="b"/>
            <a:pathLst>
              <a:path w="12192000" h="1266817">
                <a:moveTo>
                  <a:pt x="0" y="1266817"/>
                </a:moveTo>
                <a:lnTo>
                  <a:pt x="0" y="475605"/>
                </a:lnTo>
                <a:lnTo>
                  <a:pt x="152400" y="486239"/>
                </a:lnTo>
                <a:lnTo>
                  <a:pt x="304800" y="495887"/>
                </a:lnTo>
                <a:lnTo>
                  <a:pt x="457200" y="504505"/>
                </a:lnTo>
                <a:lnTo>
                  <a:pt x="609600" y="512056"/>
                </a:lnTo>
                <a:lnTo>
                  <a:pt x="762000" y="518505"/>
                </a:lnTo>
                <a:lnTo>
                  <a:pt x="914400" y="523824"/>
                </a:lnTo>
                <a:lnTo>
                  <a:pt x="1066800" y="527988"/>
                </a:lnTo>
                <a:lnTo>
                  <a:pt x="1219200" y="530979"/>
                </a:lnTo>
                <a:lnTo>
                  <a:pt x="1371600" y="532783"/>
                </a:lnTo>
                <a:lnTo>
                  <a:pt x="1524000" y="533392"/>
                </a:lnTo>
                <a:lnTo>
                  <a:pt x="1676400" y="532804"/>
                </a:lnTo>
                <a:lnTo>
                  <a:pt x="1828800" y="531021"/>
                </a:lnTo>
                <a:lnTo>
                  <a:pt x="1981200" y="528051"/>
                </a:lnTo>
                <a:lnTo>
                  <a:pt x="2133600" y="523907"/>
                </a:lnTo>
                <a:lnTo>
                  <a:pt x="2286000" y="518609"/>
                </a:lnTo>
                <a:lnTo>
                  <a:pt x="2438400" y="512179"/>
                </a:lnTo>
                <a:lnTo>
                  <a:pt x="2590800" y="504648"/>
                </a:lnTo>
                <a:lnTo>
                  <a:pt x="2743200" y="496047"/>
                </a:lnTo>
                <a:lnTo>
                  <a:pt x="2895600" y="486417"/>
                </a:lnTo>
                <a:lnTo>
                  <a:pt x="3048000" y="475801"/>
                </a:lnTo>
                <a:lnTo>
                  <a:pt x="3200400" y="464245"/>
                </a:lnTo>
                <a:lnTo>
                  <a:pt x="3352800" y="451803"/>
                </a:lnTo>
                <a:lnTo>
                  <a:pt x="3505200" y="438529"/>
                </a:lnTo>
                <a:lnTo>
                  <a:pt x="3657600" y="424484"/>
                </a:lnTo>
                <a:lnTo>
                  <a:pt x="3810000" y="409730"/>
                </a:lnTo>
                <a:lnTo>
                  <a:pt x="3962400" y="394334"/>
                </a:lnTo>
                <a:lnTo>
                  <a:pt x="4114800" y="378365"/>
                </a:lnTo>
                <a:lnTo>
                  <a:pt x="4267200" y="361894"/>
                </a:lnTo>
                <a:lnTo>
                  <a:pt x="4419600" y="344996"/>
                </a:lnTo>
                <a:lnTo>
                  <a:pt x="4572000" y="327746"/>
                </a:lnTo>
                <a:lnTo>
                  <a:pt x="4724400" y="310223"/>
                </a:lnTo>
                <a:lnTo>
                  <a:pt x="4876800" y="292503"/>
                </a:lnTo>
                <a:lnTo>
                  <a:pt x="5029200" y="274668"/>
                </a:lnTo>
                <a:lnTo>
                  <a:pt x="5181600" y="256797"/>
                </a:lnTo>
                <a:lnTo>
                  <a:pt x="5334000" y="238971"/>
                </a:lnTo>
                <a:lnTo>
                  <a:pt x="5486400" y="221269"/>
                </a:lnTo>
                <a:lnTo>
                  <a:pt x="5638800" y="203771"/>
                </a:lnTo>
                <a:lnTo>
                  <a:pt x="5791200" y="186555"/>
                </a:lnTo>
                <a:lnTo>
                  <a:pt x="5943600" y="169699"/>
                </a:lnTo>
                <a:lnTo>
                  <a:pt x="6096000" y="153279"/>
                </a:lnTo>
                <a:lnTo>
                  <a:pt x="6248400" y="137368"/>
                </a:lnTo>
                <a:lnTo>
                  <a:pt x="6400800" y="122038"/>
                </a:lnTo>
                <a:lnTo>
                  <a:pt x="6553200" y="107357"/>
                </a:lnTo>
                <a:lnTo>
                  <a:pt x="6705600" y="93391"/>
                </a:lnTo>
                <a:lnTo>
                  <a:pt x="6858000" y="80204"/>
                </a:lnTo>
                <a:lnTo>
                  <a:pt x="7010400" y="67854"/>
                </a:lnTo>
                <a:lnTo>
                  <a:pt x="7162800" y="56397"/>
                </a:lnTo>
                <a:lnTo>
                  <a:pt x="7315200" y="45884"/>
                </a:lnTo>
                <a:lnTo>
                  <a:pt x="7467600" y="36363"/>
                </a:lnTo>
                <a:lnTo>
                  <a:pt x="7620000" y="27876"/>
                </a:lnTo>
                <a:lnTo>
                  <a:pt x="7772400" y="20461"/>
                </a:lnTo>
                <a:lnTo>
                  <a:pt x="7924800" y="14151"/>
                </a:lnTo>
                <a:lnTo>
                  <a:pt x="8077200" y="8976"/>
                </a:lnTo>
                <a:lnTo>
                  <a:pt x="8229600" y="4958"/>
                </a:lnTo>
                <a:lnTo>
                  <a:pt x="8382000" y="2115"/>
                </a:lnTo>
                <a:lnTo>
                  <a:pt x="8534400" y="460"/>
                </a:lnTo>
                <a:lnTo>
                  <a:pt x="8686800" y="0"/>
                </a:lnTo>
                <a:lnTo>
                  <a:pt x="8839200" y="738"/>
                </a:lnTo>
                <a:lnTo>
                  <a:pt x="8991600" y="2670"/>
                </a:lnTo>
                <a:lnTo>
                  <a:pt x="9144000" y="5787"/>
                </a:lnTo>
                <a:lnTo>
                  <a:pt x="9296400" y="10076"/>
                </a:lnTo>
                <a:lnTo>
                  <a:pt x="9448800" y="15518"/>
                </a:lnTo>
                <a:lnTo>
                  <a:pt x="9601200" y="22086"/>
                </a:lnTo>
                <a:lnTo>
                  <a:pt x="9753600" y="29754"/>
                </a:lnTo>
                <a:lnTo>
                  <a:pt x="9906000" y="38485"/>
                </a:lnTo>
                <a:lnTo>
                  <a:pt x="10058400" y="48241"/>
                </a:lnTo>
                <a:lnTo>
                  <a:pt x="10210800" y="58977"/>
                </a:lnTo>
                <a:lnTo>
                  <a:pt x="10363200" y="70647"/>
                </a:lnTo>
                <a:lnTo>
                  <a:pt x="10515600" y="83196"/>
                </a:lnTo>
                <a:lnTo>
                  <a:pt x="10668000" y="96570"/>
                </a:lnTo>
                <a:lnTo>
                  <a:pt x="10820400" y="110707"/>
                </a:lnTo>
                <a:lnTo>
                  <a:pt x="10972800" y="125545"/>
                </a:lnTo>
                <a:lnTo>
                  <a:pt x="11125200" y="141016"/>
                </a:lnTo>
                <a:lnTo>
                  <a:pt x="11277600" y="157052"/>
                </a:lnTo>
                <a:lnTo>
                  <a:pt x="11430000" y="173580"/>
                </a:lnTo>
                <a:lnTo>
                  <a:pt x="11582400" y="190527"/>
                </a:lnTo>
                <a:lnTo>
                  <a:pt x="11734800" y="207815"/>
                </a:lnTo>
                <a:lnTo>
                  <a:pt x="11887200" y="225367"/>
                </a:lnTo>
                <a:lnTo>
                  <a:pt x="12039600" y="243105"/>
                </a:lnTo>
                <a:lnTo>
                  <a:pt x="12192000" y="260949"/>
                </a:lnTo>
                <a:lnTo>
                  <a:pt x="12192000" y="1266817"/>
                </a:lnTo>
                <a:close/>
              </a:path>
            </a:pathLst>
          </a:custGeom>
          <a:solidFill>
            <a:srgbClr val="C8E0F6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0" y="5905543"/>
            <a:ext cx="12192000" cy="952457"/>
          </a:xfrm>
          <a:custGeom>
            <a:avLst/>
            <a:gdLst/>
            <a:ahLst/>
            <a:cxnLst/>
            <a:rect l="l" t="t" r="r" b="b"/>
            <a:pathLst>
              <a:path w="12192000" h="952457">
                <a:moveTo>
                  <a:pt x="0" y="952457"/>
                </a:moveTo>
                <a:lnTo>
                  <a:pt x="0" y="288660"/>
                </a:lnTo>
                <a:lnTo>
                  <a:pt x="152400" y="275228"/>
                </a:lnTo>
                <a:lnTo>
                  <a:pt x="304800" y="261249"/>
                </a:lnTo>
                <a:lnTo>
                  <a:pt x="457200" y="246812"/>
                </a:lnTo>
                <a:lnTo>
                  <a:pt x="609600" y="232010"/>
                </a:lnTo>
                <a:lnTo>
                  <a:pt x="762000" y="216940"/>
                </a:lnTo>
                <a:lnTo>
                  <a:pt x="914400" y="201698"/>
                </a:lnTo>
                <a:lnTo>
                  <a:pt x="1066800" y="186384"/>
                </a:lnTo>
                <a:lnTo>
                  <a:pt x="1219200" y="171097"/>
                </a:lnTo>
                <a:lnTo>
                  <a:pt x="1371600" y="155934"/>
                </a:lnTo>
                <a:lnTo>
                  <a:pt x="1524000" y="140995"/>
                </a:lnTo>
                <a:lnTo>
                  <a:pt x="1676400" y="126375"/>
                </a:lnTo>
                <a:lnTo>
                  <a:pt x="1828800" y="112170"/>
                </a:lnTo>
                <a:lnTo>
                  <a:pt x="1981200" y="98470"/>
                </a:lnTo>
                <a:lnTo>
                  <a:pt x="2133600" y="85366"/>
                </a:lnTo>
                <a:lnTo>
                  <a:pt x="2286000" y="72940"/>
                </a:lnTo>
                <a:lnTo>
                  <a:pt x="2438400" y="61275"/>
                </a:lnTo>
                <a:lnTo>
                  <a:pt x="2590800" y="50444"/>
                </a:lnTo>
                <a:lnTo>
                  <a:pt x="2743200" y="40519"/>
                </a:lnTo>
                <a:lnTo>
                  <a:pt x="2895600" y="31563"/>
                </a:lnTo>
                <a:lnTo>
                  <a:pt x="3048000" y="23634"/>
                </a:lnTo>
                <a:lnTo>
                  <a:pt x="3200400" y="16784"/>
                </a:lnTo>
                <a:lnTo>
                  <a:pt x="3352800" y="11056"/>
                </a:lnTo>
                <a:lnTo>
                  <a:pt x="3505200" y="6489"/>
                </a:lnTo>
                <a:lnTo>
                  <a:pt x="3657600" y="3110"/>
                </a:lnTo>
                <a:lnTo>
                  <a:pt x="3810000" y="943"/>
                </a:lnTo>
                <a:lnTo>
                  <a:pt x="3962400" y="0"/>
                </a:lnTo>
                <a:lnTo>
                  <a:pt x="4114800" y="289"/>
                </a:lnTo>
                <a:lnTo>
                  <a:pt x="4267200" y="1808"/>
                </a:lnTo>
                <a:lnTo>
                  <a:pt x="4419600" y="4546"/>
                </a:lnTo>
                <a:lnTo>
                  <a:pt x="4572000" y="8485"/>
                </a:lnTo>
                <a:lnTo>
                  <a:pt x="4724400" y="13601"/>
                </a:lnTo>
                <a:lnTo>
                  <a:pt x="4876800" y="19861"/>
                </a:lnTo>
                <a:lnTo>
                  <a:pt x="5029200" y="27223"/>
                </a:lnTo>
                <a:lnTo>
                  <a:pt x="5181600" y="35641"/>
                </a:lnTo>
                <a:lnTo>
                  <a:pt x="5334000" y="45059"/>
                </a:lnTo>
                <a:lnTo>
                  <a:pt x="5486400" y="55417"/>
                </a:lnTo>
                <a:lnTo>
                  <a:pt x="5638800" y="66649"/>
                </a:lnTo>
                <a:lnTo>
                  <a:pt x="5791200" y="78680"/>
                </a:lnTo>
                <a:lnTo>
                  <a:pt x="5943600" y="91435"/>
                </a:lnTo>
                <a:lnTo>
                  <a:pt x="6096000" y="104829"/>
                </a:lnTo>
                <a:lnTo>
                  <a:pt x="6248400" y="118777"/>
                </a:lnTo>
                <a:lnTo>
                  <a:pt x="6400800" y="133188"/>
                </a:lnTo>
                <a:lnTo>
                  <a:pt x="6553200" y="147970"/>
                </a:lnTo>
                <a:lnTo>
                  <a:pt x="6705600" y="163026"/>
                </a:lnTo>
                <a:lnTo>
                  <a:pt x="6858000" y="178260"/>
                </a:lnTo>
                <a:lnTo>
                  <a:pt x="7010400" y="193572"/>
                </a:lnTo>
                <a:lnTo>
                  <a:pt x="7162800" y="208865"/>
                </a:lnTo>
                <a:lnTo>
                  <a:pt x="7315200" y="224038"/>
                </a:lnTo>
                <a:lnTo>
                  <a:pt x="7467600" y="238994"/>
                </a:lnTo>
                <a:lnTo>
                  <a:pt x="7620000" y="253637"/>
                </a:lnTo>
                <a:lnTo>
                  <a:pt x="7772400" y="267871"/>
                </a:lnTo>
                <a:lnTo>
                  <a:pt x="7924800" y="281604"/>
                </a:lnTo>
                <a:lnTo>
                  <a:pt x="8077200" y="294748"/>
                </a:lnTo>
                <a:lnTo>
                  <a:pt x="8229600" y="307218"/>
                </a:lnTo>
                <a:lnTo>
                  <a:pt x="8382000" y="318934"/>
                </a:lnTo>
                <a:lnTo>
                  <a:pt x="8534400" y="329818"/>
                </a:lnTo>
                <a:lnTo>
                  <a:pt x="8686800" y="339802"/>
                </a:lnTo>
                <a:lnTo>
                  <a:pt x="8839200" y="348821"/>
                </a:lnTo>
                <a:lnTo>
                  <a:pt x="8991600" y="356815"/>
                </a:lnTo>
                <a:lnTo>
                  <a:pt x="9144000" y="363734"/>
                </a:lnTo>
                <a:lnTo>
                  <a:pt x="9296400" y="369533"/>
                </a:lnTo>
                <a:lnTo>
                  <a:pt x="9448800" y="374174"/>
                </a:lnTo>
                <a:lnTo>
                  <a:pt x="9601200" y="377628"/>
                </a:lnTo>
                <a:lnTo>
                  <a:pt x="9753600" y="379872"/>
                </a:lnTo>
                <a:lnTo>
                  <a:pt x="9906000" y="380891"/>
                </a:lnTo>
                <a:lnTo>
                  <a:pt x="10058400" y="380679"/>
                </a:lnTo>
                <a:lnTo>
                  <a:pt x="10210800" y="379237"/>
                </a:lnTo>
                <a:lnTo>
                  <a:pt x="10363200" y="376575"/>
                </a:lnTo>
                <a:lnTo>
                  <a:pt x="10515600" y="372710"/>
                </a:lnTo>
                <a:lnTo>
                  <a:pt x="10668000" y="367666"/>
                </a:lnTo>
                <a:lnTo>
                  <a:pt x="10820400" y="361477"/>
                </a:lnTo>
                <a:lnTo>
                  <a:pt x="10972800" y="354182"/>
                </a:lnTo>
                <a:lnTo>
                  <a:pt x="11125200" y="345829"/>
                </a:lnTo>
                <a:lnTo>
                  <a:pt x="11277600" y="336472"/>
                </a:lnTo>
                <a:lnTo>
                  <a:pt x="11430000" y="326170"/>
                </a:lnTo>
                <a:lnTo>
                  <a:pt x="11582400" y="314991"/>
                </a:lnTo>
                <a:lnTo>
                  <a:pt x="11734800" y="303008"/>
                </a:lnTo>
                <a:lnTo>
                  <a:pt x="11887200" y="290296"/>
                </a:lnTo>
                <a:lnTo>
                  <a:pt x="12039600" y="276939"/>
                </a:lnTo>
                <a:lnTo>
                  <a:pt x="12192000" y="263023"/>
                </a:lnTo>
                <a:lnTo>
                  <a:pt x="12192000" y="952457"/>
                </a:lnTo>
                <a:close/>
              </a:path>
            </a:pathLst>
          </a:custGeom>
          <a:solidFill>
            <a:srgbClr val="A7CDF1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638925"/>
            <a:ext cx="12192000" cy="219075"/>
          </a:xfrm>
          <a:prstGeom prst="rect">
            <a:avLst/>
          </a:prstGeom>
          <a:solidFill>
            <a:srgbClr val="A9C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238875"/>
            <a:ext cx="12192000" cy="400050"/>
          </a:xfrm>
          <a:prstGeom prst="rect">
            <a:avLst/>
          </a:prstGeom>
          <a:gradFill rotWithShape="1">
            <a:gsLst>
              <a:gs pos="0">
                <a:srgbClr val="2C6BB2"/>
              </a:gs>
              <a:gs pos="100000">
                <a:srgbClr val="7FB5E4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MI Section Bar"/>
          <p:cNvSpPr txBox="1"/>
          <p:nvPr/>
        </p:nvSpPr>
        <p:spPr>
          <a:xfrm>
            <a:off x="285750" y="6238875"/>
            <a:ext cx="3810000" cy="400050"/>
          </a:xfrm>
          <a:prstGeom prst="rect">
            <a:avLst/>
          </a:prstGeom>
          <a:noFill/>
        </p:spPr>
        <p:txBody>
          <a:bodyPr wrap="none" anchor="ctr" lIns="0" tIns="0" bIns="0">
            <a:spAutoFit/>
          </a:bodyPr>
          <a:lstStyle/>
          <a:p>
            <a:r>
              <a:rPr sz="1500" b="1">
                <a:solidFill>
                  <a:srgbClr val="FFFFFF"/>
                </a:solidFill>
                <a:latin typeface="Calibri"/>
              </a:rPr>
              <a:t>Section 2.17</a:t>
            </a:r>
          </a:p>
        </p:txBody>
      </p:sp>
      <p:pic>
        <p:nvPicPr>
          <p:cNvPr id="8" name="Picture 7" descr="fmi_logo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74320"/>
            <a:ext cx="1307592" cy="13258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14400" y="2752725"/>
            <a:ext cx="8572500" cy="3048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800" b="0">
                <a:solidFill>
                  <a:srgbClr val="0E72AE"/>
                </a:solidFill>
                <a:latin typeface="Calibri"/>
              </a:rPr>
              <a:t>Packaged Muffins Market</a:t>
            </a:r>
          </a:p>
        </p:txBody>
      </p:sp>
      <p:sp>
        <p:nvSpPr>
          <p:cNvPr id="10" name="FMI Section Title"/>
          <p:cNvSpPr txBox="1"/>
          <p:nvPr/>
        </p:nvSpPr>
        <p:spPr>
          <a:xfrm>
            <a:off x="914400" y="3095625"/>
            <a:ext cx="8572500" cy="51435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r>
              <a:rPr sz="3000" b="1">
                <a:solidFill>
                  <a:srgbClr val="0B3C8C"/>
                </a:solidFill>
                <a:latin typeface="Calibri"/>
              </a:rPr>
              <a:t>Sales Channel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781425"/>
            <a:ext cx="8458200" cy="12763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Calibri"/>
              </a:rPr>
              <a:t>➤	</a:t>
            </a:r>
            <a:r>
              <a:rPr sz="2000" b="0">
                <a:solidFill>
                  <a:srgbClr val="000000"/>
                </a:solidFill>
                <a:latin typeface="Calibri"/>
              </a:rPr>
              <a:t>Segmental</a:t>
            </a:r>
          </a:p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Calibri"/>
              </a:rPr>
              <a:t>➤	</a:t>
            </a:r>
            <a:r>
              <a:rPr sz="2000" b="0">
                <a:solidFill>
                  <a:srgbClr val="000000"/>
                </a:solidFill>
                <a:latin typeface="Calibri"/>
              </a:rPr>
              <a:t>Table (Volume &amp; Value)</a:t>
            </a:r>
          </a:p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Calibri"/>
              </a:rPr>
              <a:t>➤	</a:t>
            </a:r>
            <a:r>
              <a:rPr sz="2000" b="0">
                <a:solidFill>
                  <a:srgbClr val="000000"/>
                </a:solidFill>
                <a:latin typeface="Calibri"/>
              </a:rPr>
              <a:t>YoY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58595B"/>
                </a:solidFill>
                <a:latin typeface="Calibri"/>
              </a:rPr>
              <a:t>©2026 Future Market Insights, All Rights Reserved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3825" y="914400"/>
            <a:ext cx="3943350" cy="28575"/>
          </a:xfrm>
          <a:prstGeom prst="rect">
            <a:avLst/>
          </a:prstGeom>
          <a:solidFill>
            <a:srgbClr val="0081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24325" y="914400"/>
            <a:ext cx="3943350" cy="28575"/>
          </a:xfrm>
          <a:prstGeom prst="rect">
            <a:avLst/>
          </a:prstGeom>
          <a:solidFill>
            <a:srgbClr val="9E7E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124825" y="914400"/>
            <a:ext cx="3943350" cy="28575"/>
          </a:xfrm>
          <a:prstGeom prst="rect">
            <a:avLst/>
          </a:prstGeom>
          <a:solidFill>
            <a:srgbClr val="403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mi_logo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25" y="-205740"/>
            <a:ext cx="1307592" cy="13258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543050" y="19050"/>
            <a:ext cx="8982075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U.S. Packaged Muffins Market Segmental Analysis Sales Channel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43050" y="647700"/>
            <a:ext cx="10506075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U.S. segmental analysis by Sales Channel: growth contribution, share variance and absolute $ opportunity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620375" y="228600"/>
            <a:ext cx="1428750" cy="419100"/>
          </a:xfrm>
          <a:prstGeom prst="roundRect">
            <a:avLst>
              <a:gd name="adj" fmla="val 22000"/>
            </a:avLst>
          </a:prstGeom>
          <a:solidFill>
            <a:srgbClr val="D9E6F2"/>
          </a:solidFill>
          <a:ln w="6350">
            <a:solidFill>
              <a:srgbClr val="69B1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100" b="1">
                <a:solidFill>
                  <a:srgbClr val="0B2E4A"/>
                </a:solidFill>
                <a:latin typeface="Calibri"/>
              </a:rPr>
              <a:t>U.S.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42875" y="981075"/>
            <a:ext cx="5876925" cy="2752725"/>
          </a:xfrm>
          <a:prstGeom prst="roundRect">
            <a:avLst>
              <a:gd name="adj" fmla="val 2768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38125" y="1038225"/>
            <a:ext cx="5686425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Growth Contribution 2026 → 2036, By Sales Channel (US$ Mn)</a:t>
            </a:r>
          </a:p>
        </p:txBody>
      </p:sp>
      <p:graphicFrame>
        <p:nvGraphicFramePr>
          <p:cNvPr id="13" name="Chart 12"/>
          <p:cNvGraphicFramePr>
            <a:graphicFrameLocks noGrp="1"/>
          </p:cNvGraphicFramePr>
          <p:nvPr/>
        </p:nvGraphicFramePr>
        <p:xfrm>
          <a:off x="238125" y="1266825"/>
          <a:ext cx="5686425" cy="2409825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4" name="Rounded Rectangle 13"/>
          <p:cNvSpPr/>
          <p:nvPr/>
        </p:nvSpPr>
        <p:spPr>
          <a:xfrm>
            <a:off x="6172200" y="981075"/>
            <a:ext cx="5876925" cy="2752725"/>
          </a:xfrm>
          <a:prstGeom prst="roundRect">
            <a:avLst>
              <a:gd name="adj" fmla="val 2768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67450" y="1038225"/>
            <a:ext cx="5686425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Value Shares &amp; Variance, By Sales Channel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6181725" y="1238250"/>
          <a:ext cx="5857875" cy="2286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79903"/>
                <a:gridCol w="994493"/>
                <a:gridCol w="994493"/>
                <a:gridCol w="994493"/>
                <a:gridCol w="994493"/>
              </a:tblGrid>
              <a:tr h="246126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Sales Channel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Share 2026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Share 2036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Variance (BPS)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F-CAGR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</a:tr>
              <a:tr h="679958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Retail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679958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Foodservice and institutional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</a:tr>
              <a:tr h="679958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Vending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6248400" y="3533775"/>
            <a:ext cx="5724525" cy="17145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100" b="0" i="1">
                <a:solidFill>
                  <a:srgbClr val="6C7A89"/>
                </a:solidFill>
                <a:latin typeface="Calibri"/>
              </a:rPr>
              <a:t>Source: FMI Analysis, 2026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42875" y="3867150"/>
            <a:ext cx="5876925" cy="2752725"/>
          </a:xfrm>
          <a:prstGeom prst="roundRect">
            <a:avLst>
              <a:gd name="adj" fmla="val 2768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38125" y="3924300"/>
            <a:ext cx="5686425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Absolute $ Opportunity, By Sales Channel (US$ Mn), between 2026–2036</a:t>
            </a:r>
          </a:p>
        </p:txBody>
      </p:sp>
      <p:graphicFrame>
        <p:nvGraphicFramePr>
          <p:cNvPr id="20" name="Chart 19"/>
          <p:cNvGraphicFramePr>
            <a:graphicFrameLocks noGrp="1"/>
          </p:cNvGraphicFramePr>
          <p:nvPr/>
        </p:nvGraphicFramePr>
        <p:xfrm>
          <a:off x="238125" y="4152900"/>
          <a:ext cx="5686425" cy="2409825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21" name="Rounded Rectangle 20"/>
          <p:cNvSpPr/>
          <p:nvPr/>
        </p:nvSpPr>
        <p:spPr>
          <a:xfrm>
            <a:off x="6172200" y="3867150"/>
            <a:ext cx="5876925" cy="2752725"/>
          </a:xfrm>
          <a:prstGeom prst="roundRect">
            <a:avLst>
              <a:gd name="adj" fmla="val 2768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67450" y="3924300"/>
            <a:ext cx="5686425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Volume Shares &amp; Variance, By Sales Channel</a:t>
            </a:r>
          </a:p>
        </p:txBody>
      </p:sp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6181725" y="4124325"/>
          <a:ext cx="5857875" cy="2286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79903"/>
                <a:gridCol w="994493"/>
                <a:gridCol w="994493"/>
                <a:gridCol w="994493"/>
                <a:gridCol w="994493"/>
              </a:tblGrid>
              <a:tr h="246126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Sales Channel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Share 2026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Share 2036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Variance (BPS)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F-CAGR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</a:tr>
              <a:tr h="679958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Retail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679958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Foodservice and institutional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</a:tr>
              <a:tr h="679958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Vending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4" name="TextBox 23"/>
          <p:cNvSpPr txBox="1"/>
          <p:nvPr/>
        </p:nvSpPr>
        <p:spPr>
          <a:xfrm>
            <a:off x="6248400" y="6419850"/>
            <a:ext cx="5724525" cy="17145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100" b="0" i="1">
                <a:solidFill>
                  <a:srgbClr val="6C7A89"/>
                </a:solidFill>
                <a:latin typeface="Calibri"/>
              </a:rPr>
              <a:t>Source: FMI Analysis, 2026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58595B"/>
                </a:solidFill>
                <a:latin typeface="Calibri"/>
              </a:rPr>
              <a:t>©2026 Future Market Insights, All Rights Reserved</a:t>
            </a:r>
          </a:p>
        </p:txBody>
      </p:sp>
      <p:pic>
        <p:nvPicPr>
          <p:cNvPr id="26" name="Picture 25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94826" y="2237234"/>
            <a:ext cx="263506" cy="383281"/>
          </a:xfrm>
          <a:prstGeom prst="rect">
            <a:avLst/>
          </a:prstGeom>
        </p:spPr>
      </p:pic>
      <p:pic>
        <p:nvPicPr>
          <p:cNvPr id="27" name="Picture 26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63924" y="2237613"/>
            <a:ext cx="366712" cy="533400"/>
          </a:xfrm>
          <a:prstGeom prst="rect">
            <a:avLst/>
          </a:prstGeom>
        </p:spPr>
      </p:pic>
      <p:pic>
        <p:nvPicPr>
          <p:cNvPr id="28" name="Picture 27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94826" y="5123309"/>
            <a:ext cx="263506" cy="383281"/>
          </a:xfrm>
          <a:prstGeom prst="rect">
            <a:avLst/>
          </a:prstGeom>
        </p:spPr>
      </p:pic>
      <p:pic>
        <p:nvPicPr>
          <p:cNvPr id="29" name="Picture 28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63924" y="5123688"/>
            <a:ext cx="366712" cy="533400"/>
          </a:xfrm>
          <a:prstGeom prst="rect">
            <a:avLst/>
          </a:prstGeom>
        </p:spPr>
      </p:pic>
      <p:sp>
        <p:nvSpPr>
          <p:cNvPr id="30" name="lockshield_13"/>
          <p:cNvSpPr/>
          <p:nvPr/>
        </p:nvSpPr>
        <p:spPr>
          <a:xfrm>
            <a:off x="238125" y="1266825"/>
            <a:ext cx="5686425" cy="2409825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lockshield_20"/>
          <p:cNvSpPr/>
          <p:nvPr/>
        </p:nvSpPr>
        <p:spPr>
          <a:xfrm>
            <a:off x="238125" y="4152900"/>
            <a:ext cx="5686425" cy="2409825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3825" y="914400"/>
            <a:ext cx="3943350" cy="28575"/>
          </a:xfrm>
          <a:prstGeom prst="rect">
            <a:avLst/>
          </a:prstGeom>
          <a:solidFill>
            <a:srgbClr val="0081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24325" y="914400"/>
            <a:ext cx="3943350" cy="28575"/>
          </a:xfrm>
          <a:prstGeom prst="rect">
            <a:avLst/>
          </a:prstGeom>
          <a:solidFill>
            <a:srgbClr val="9E7E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124825" y="914400"/>
            <a:ext cx="3943350" cy="28575"/>
          </a:xfrm>
          <a:prstGeom prst="rect">
            <a:avLst/>
          </a:prstGeom>
          <a:solidFill>
            <a:srgbClr val="403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mi_logo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25" y="-205740"/>
            <a:ext cx="1307592" cy="13258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543050" y="19050"/>
            <a:ext cx="8982075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U.S. Packaged Muffins Market Tables Sales Channel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43050" y="647700"/>
            <a:ext cx="10506075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Year-by-year volume and value of the U.S. market by Sales Channel, 2021–2036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620375" y="228600"/>
            <a:ext cx="1428750" cy="419100"/>
          </a:xfrm>
          <a:prstGeom prst="roundRect">
            <a:avLst>
              <a:gd name="adj" fmla="val 22000"/>
            </a:avLst>
          </a:prstGeom>
          <a:solidFill>
            <a:srgbClr val="D9E6F2"/>
          </a:solidFill>
          <a:ln w="6350">
            <a:solidFill>
              <a:srgbClr val="69B1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100" b="1">
                <a:solidFill>
                  <a:srgbClr val="0B2E4A"/>
                </a:solidFill>
                <a:latin typeface="Calibri"/>
              </a:rPr>
              <a:t>U.S.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42875" y="981075"/>
            <a:ext cx="11906250" cy="1704975"/>
          </a:xfrm>
          <a:prstGeom prst="roundRect">
            <a:avLst>
              <a:gd name="adj" fmla="val 4469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38125" y="1038225"/>
            <a:ext cx="1171575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U.S. Volume, By Sales Channel (MT)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152400" y="1238250"/>
          <a:ext cx="11887202" cy="123825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68524"/>
                <a:gridCol w="589334"/>
                <a:gridCol w="589334"/>
                <a:gridCol w="589334"/>
                <a:gridCol w="589334"/>
                <a:gridCol w="589334"/>
                <a:gridCol w="589334"/>
                <a:gridCol w="589334"/>
                <a:gridCol w="589334"/>
                <a:gridCol w="589334"/>
                <a:gridCol w="589334"/>
                <a:gridCol w="589334"/>
                <a:gridCol w="589334"/>
                <a:gridCol w="589334"/>
                <a:gridCol w="589334"/>
                <a:gridCol w="589334"/>
                <a:gridCol w="589334"/>
                <a:gridCol w="589334"/>
              </a:tblGrid>
              <a:tr h="246126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Sales Channel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2021A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2022A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2023A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2024A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2025A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2026E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2027F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2028F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2029F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2030F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2031F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2032F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2033F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2034F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2035F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2036F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F-CAGR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</a:tr>
              <a:tr h="248031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Retail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248031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Foodservice and institutional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</a:tr>
              <a:tr h="248031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Vending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248031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Total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219075" y="2486025"/>
            <a:ext cx="11753850" cy="17145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100" b="0" i="1">
                <a:solidFill>
                  <a:srgbClr val="6C7A89"/>
                </a:solidFill>
                <a:latin typeface="Calibri"/>
              </a:rPr>
              <a:t>Source: FMI Analysis, 2026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42875" y="2819400"/>
            <a:ext cx="11906250" cy="1704975"/>
          </a:xfrm>
          <a:prstGeom prst="roundRect">
            <a:avLst>
              <a:gd name="adj" fmla="val 4469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38125" y="2876550"/>
            <a:ext cx="1171575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U.S. Value, By Sales Channel (US$ Mn)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152400" y="3076575"/>
          <a:ext cx="11887197" cy="123825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951666"/>
                <a:gridCol w="584443"/>
                <a:gridCol w="584443"/>
                <a:gridCol w="584443"/>
                <a:gridCol w="584443"/>
                <a:gridCol w="584443"/>
                <a:gridCol w="584443"/>
                <a:gridCol w="584443"/>
                <a:gridCol w="584443"/>
                <a:gridCol w="584443"/>
                <a:gridCol w="584443"/>
                <a:gridCol w="584443"/>
                <a:gridCol w="584443"/>
                <a:gridCol w="584443"/>
                <a:gridCol w="584443"/>
                <a:gridCol w="584443"/>
                <a:gridCol w="584443"/>
                <a:gridCol w="584443"/>
              </a:tblGrid>
              <a:tr h="246126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Sales Channel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2021A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2022A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2023A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2024A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2025A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2026E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2027F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2028F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2029F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2030F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2031F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2032F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2033F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2034F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2035F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2036F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F-CAGR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</a:tr>
              <a:tr h="248031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Retail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248031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Foodservice and institutional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</a:tr>
              <a:tr h="248031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Vending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248031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Total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219075" y="4324350"/>
            <a:ext cx="11753850" cy="17145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100" b="0" i="1">
                <a:solidFill>
                  <a:srgbClr val="6C7A89"/>
                </a:solidFill>
                <a:latin typeface="Calibri"/>
              </a:rPr>
              <a:t>Source: FMI Analysis, 2026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58595B"/>
                </a:solidFill>
                <a:latin typeface="Calibri"/>
              </a:rPr>
              <a:t>©2026 Future Market Insights, All Rights Reserved</a:t>
            </a:r>
          </a:p>
        </p:txBody>
      </p:sp>
      <p:pic>
        <p:nvPicPr>
          <p:cNvPr id="20" name="Picture 19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43572" y="1713738"/>
            <a:ext cx="366712" cy="533400"/>
          </a:xfrm>
          <a:prstGeom prst="rect">
            <a:avLst/>
          </a:prstGeom>
        </p:spPr>
      </p:pic>
      <p:pic>
        <p:nvPicPr>
          <p:cNvPr id="21" name="Picture 20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85141" y="3552062"/>
            <a:ext cx="366712" cy="533400"/>
          </a:xfrm>
          <a:prstGeom prst="rect">
            <a:avLst/>
          </a:prstGeom>
        </p:spPr>
      </p:pic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3825" y="914400"/>
            <a:ext cx="3943350" cy="28575"/>
          </a:xfrm>
          <a:prstGeom prst="rect">
            <a:avLst/>
          </a:prstGeom>
          <a:solidFill>
            <a:srgbClr val="0081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24325" y="914400"/>
            <a:ext cx="3943350" cy="28575"/>
          </a:xfrm>
          <a:prstGeom prst="rect">
            <a:avLst/>
          </a:prstGeom>
          <a:solidFill>
            <a:srgbClr val="9E7E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124825" y="914400"/>
            <a:ext cx="3943350" cy="28575"/>
          </a:xfrm>
          <a:prstGeom prst="rect">
            <a:avLst/>
          </a:prstGeom>
          <a:solidFill>
            <a:srgbClr val="403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mi_logo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25" y="-205740"/>
            <a:ext cx="1307592" cy="13258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543050" y="19050"/>
            <a:ext cx="8982075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U.S. YoY Analysis Sales Channel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43050" y="647700"/>
            <a:ext cx="10506075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U.S. year-on-year volume and value growth by Sales Channel, highlighting acceleration and slowdown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620375" y="228600"/>
            <a:ext cx="1428750" cy="419100"/>
          </a:xfrm>
          <a:prstGeom prst="roundRect">
            <a:avLst>
              <a:gd name="adj" fmla="val 22000"/>
            </a:avLst>
          </a:prstGeom>
          <a:solidFill>
            <a:srgbClr val="D9E6F2"/>
          </a:solidFill>
          <a:ln w="6350">
            <a:solidFill>
              <a:srgbClr val="69B1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100" b="1">
                <a:solidFill>
                  <a:srgbClr val="0B2E4A"/>
                </a:solidFill>
                <a:latin typeface="Calibri"/>
              </a:rPr>
              <a:t>U.S.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42875" y="981075"/>
            <a:ext cx="11906250" cy="1457325"/>
          </a:xfrm>
          <a:prstGeom prst="roundRect">
            <a:avLst>
              <a:gd name="adj" fmla="val 5228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38125" y="1038225"/>
            <a:ext cx="1171575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U.S. Volume YoY, By Sales Channel (%)  ·  </a:t>
            </a:r>
            <a:r>
              <a:rPr sz="1200" b="1">
                <a:solidFill>
                  <a:srgbClr val="2E7D32"/>
                </a:solidFill>
                <a:latin typeface="Calibri"/>
              </a:rPr>
              <a:t>▲ outpacing market  </a:t>
            </a:r>
            <a:r>
              <a:rPr sz="1200" b="1">
                <a:solidFill>
                  <a:srgbClr val="A86F00"/>
                </a:solidFill>
                <a:latin typeface="Calibri"/>
              </a:rPr>
              <a:t>▶ below market pace  </a:t>
            </a:r>
            <a:r>
              <a:rPr sz="1200" b="1">
                <a:solidFill>
                  <a:srgbClr val="E44D3A"/>
                </a:solidFill>
                <a:latin typeface="Calibri"/>
              </a:rPr>
              <a:t>▼ decline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152400" y="1238250"/>
          <a:ext cx="11887200" cy="9906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27885"/>
                <a:gridCol w="650621"/>
                <a:gridCol w="650621"/>
                <a:gridCol w="650621"/>
                <a:gridCol w="650621"/>
                <a:gridCol w="650621"/>
                <a:gridCol w="650621"/>
                <a:gridCol w="650621"/>
                <a:gridCol w="650621"/>
                <a:gridCol w="650621"/>
                <a:gridCol w="650621"/>
                <a:gridCol w="650621"/>
                <a:gridCol w="650621"/>
                <a:gridCol w="650621"/>
                <a:gridCol w="650621"/>
                <a:gridCol w="650621"/>
              </a:tblGrid>
              <a:tr h="246126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Sales Channel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2022A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2023A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2024A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2025A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2026E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2027F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2028F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2029F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2030F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2031F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2032F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2033F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2034F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2035F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2036F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</a:tr>
              <a:tr h="248158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Retail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248158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Foodservice and institutional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</a:tr>
              <a:tr h="248158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Vending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219075" y="2238375"/>
            <a:ext cx="11753850" cy="17145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100" b="0" i="1">
                <a:solidFill>
                  <a:srgbClr val="6C7A89"/>
                </a:solidFill>
                <a:latin typeface="Calibri"/>
              </a:rPr>
              <a:t>Source: FMI Analysis, 2026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42875" y="2571750"/>
            <a:ext cx="11906250" cy="1457325"/>
          </a:xfrm>
          <a:prstGeom prst="roundRect">
            <a:avLst>
              <a:gd name="adj" fmla="val 5228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38125" y="2628900"/>
            <a:ext cx="1171575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U.S. Value YoY, By Sales Channel (%)  ·  </a:t>
            </a:r>
            <a:r>
              <a:rPr sz="1200" b="1">
                <a:solidFill>
                  <a:srgbClr val="2E7D32"/>
                </a:solidFill>
                <a:latin typeface="Calibri"/>
              </a:rPr>
              <a:t>▲ outpacing market  </a:t>
            </a:r>
            <a:r>
              <a:rPr sz="1200" b="1">
                <a:solidFill>
                  <a:srgbClr val="A86F00"/>
                </a:solidFill>
                <a:latin typeface="Calibri"/>
              </a:rPr>
              <a:t>▶ below market pace  </a:t>
            </a:r>
            <a:r>
              <a:rPr sz="1200" b="1">
                <a:solidFill>
                  <a:srgbClr val="E44D3A"/>
                </a:solidFill>
                <a:latin typeface="Calibri"/>
              </a:rPr>
              <a:t>▼ decline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152400" y="2828925"/>
          <a:ext cx="11887200" cy="9906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27885"/>
                <a:gridCol w="650621"/>
                <a:gridCol w="650621"/>
                <a:gridCol w="650621"/>
                <a:gridCol w="650621"/>
                <a:gridCol w="650621"/>
                <a:gridCol w="650621"/>
                <a:gridCol w="650621"/>
                <a:gridCol w="650621"/>
                <a:gridCol w="650621"/>
                <a:gridCol w="650621"/>
                <a:gridCol w="650621"/>
                <a:gridCol w="650621"/>
                <a:gridCol w="650621"/>
                <a:gridCol w="650621"/>
                <a:gridCol w="650621"/>
              </a:tblGrid>
              <a:tr h="246126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Sales Channel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2022A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2023A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2024A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2025A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2026E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2027F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2028F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2029F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2030F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2031F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2032F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2033F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2034F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2035F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2036F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</a:tr>
              <a:tr h="248158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Retail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248158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Foodservice and institutional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</a:tr>
              <a:tr h="248158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Vending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219075" y="3829050"/>
            <a:ext cx="11753850" cy="17145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100" b="0" i="1">
                <a:solidFill>
                  <a:srgbClr val="6C7A89"/>
                </a:solidFill>
                <a:latin typeface="Calibri"/>
              </a:rPr>
              <a:t>Source: FMI Analysis, 2026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58595B"/>
                </a:solidFill>
                <a:latin typeface="Calibri"/>
              </a:rPr>
              <a:t>©2026 Future Market Insights, All Rights Reserved</a:t>
            </a:r>
          </a:p>
        </p:txBody>
      </p:sp>
      <p:pic>
        <p:nvPicPr>
          <p:cNvPr id="20" name="Picture 19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73252" y="1589913"/>
            <a:ext cx="366712" cy="533400"/>
          </a:xfrm>
          <a:prstGeom prst="rect">
            <a:avLst/>
          </a:prstGeom>
        </p:spPr>
      </p:pic>
      <p:pic>
        <p:nvPicPr>
          <p:cNvPr id="21" name="Picture 20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73252" y="3180587"/>
            <a:ext cx="366712" cy="5334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70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3D85C6"/>
      </a:accent1>
      <a:accent2>
        <a:srgbClr val="9E7E0A"/>
      </a:accent2>
      <a:accent3>
        <a:srgbClr val="40315E"/>
      </a:accent3>
      <a:accent4>
        <a:srgbClr val="008189"/>
      </a:accent4>
      <a:accent5>
        <a:srgbClr val="A35313"/>
      </a:accent5>
      <a:accent6>
        <a:srgbClr val="5F5F5F"/>
      </a:accent6>
      <a:hlink>
        <a:srgbClr val="5F5F5F"/>
      </a:hlink>
      <a:folHlink>
        <a:srgbClr val="919191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